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2"/>
  </p:notesMasterIdLst>
  <p:sldIdLst>
    <p:sldId id="603" r:id="rId2"/>
    <p:sldId id="1054" r:id="rId3"/>
    <p:sldId id="1056" r:id="rId4"/>
    <p:sldId id="980" r:id="rId5"/>
    <p:sldId id="1072" r:id="rId6"/>
    <p:sldId id="1063" r:id="rId7"/>
    <p:sldId id="1055" r:id="rId8"/>
    <p:sldId id="1064" r:id="rId9"/>
    <p:sldId id="981" r:id="rId10"/>
    <p:sldId id="979" r:id="rId11"/>
    <p:sldId id="1071" r:id="rId12"/>
    <p:sldId id="1074" r:id="rId13"/>
    <p:sldId id="1000" r:id="rId14"/>
    <p:sldId id="985" r:id="rId15"/>
    <p:sldId id="1018" r:id="rId16"/>
    <p:sldId id="1001" r:id="rId17"/>
    <p:sldId id="1053" r:id="rId18"/>
    <p:sldId id="1037" r:id="rId19"/>
    <p:sldId id="987" r:id="rId20"/>
    <p:sldId id="938" r:id="rId21"/>
    <p:sldId id="1023" r:id="rId22"/>
    <p:sldId id="988" r:id="rId23"/>
    <p:sldId id="1038" r:id="rId24"/>
    <p:sldId id="1039" r:id="rId25"/>
    <p:sldId id="1073" r:id="rId26"/>
    <p:sldId id="1066" r:id="rId27"/>
    <p:sldId id="1067" r:id="rId28"/>
    <p:sldId id="1040" r:id="rId29"/>
    <p:sldId id="1020" r:id="rId30"/>
    <p:sldId id="1069" r:id="rId31"/>
    <p:sldId id="1068" r:id="rId32"/>
    <p:sldId id="1079" r:id="rId33"/>
    <p:sldId id="1080" r:id="rId34"/>
    <p:sldId id="1032" r:id="rId35"/>
    <p:sldId id="1057" r:id="rId36"/>
    <p:sldId id="1059" r:id="rId37"/>
    <p:sldId id="1075" r:id="rId38"/>
    <p:sldId id="1078" r:id="rId39"/>
    <p:sldId id="1060" r:id="rId40"/>
    <p:sldId id="1070" r:id="rId41"/>
    <p:sldId id="1030" r:id="rId42"/>
    <p:sldId id="1035" r:id="rId43"/>
    <p:sldId id="1076" r:id="rId44"/>
    <p:sldId id="1003" r:id="rId45"/>
    <p:sldId id="1005" r:id="rId46"/>
    <p:sldId id="1006" r:id="rId47"/>
    <p:sldId id="1007" r:id="rId48"/>
    <p:sldId id="1045" r:id="rId49"/>
    <p:sldId id="1049" r:id="rId50"/>
    <p:sldId id="1047" r:id="rId51"/>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16" charset="-128"/>
        <a:cs typeface="+mn-cs"/>
      </a:defRPr>
    </a:lvl5pPr>
    <a:lvl6pPr marL="2286000" algn="l" defTabSz="914400" rtl="0" eaLnBrk="1" latinLnBrk="0" hangingPunct="1">
      <a:defRPr sz="2400" kern="1200">
        <a:solidFill>
          <a:schemeClr val="tx1"/>
        </a:solidFill>
        <a:latin typeface="Arial" charset="0"/>
        <a:ea typeface="ＭＳ Ｐゴシック" pitchFamily="116" charset="-128"/>
        <a:cs typeface="+mn-cs"/>
      </a:defRPr>
    </a:lvl6pPr>
    <a:lvl7pPr marL="2743200" algn="l" defTabSz="914400" rtl="0" eaLnBrk="1" latinLnBrk="0" hangingPunct="1">
      <a:defRPr sz="2400" kern="1200">
        <a:solidFill>
          <a:schemeClr val="tx1"/>
        </a:solidFill>
        <a:latin typeface="Arial" charset="0"/>
        <a:ea typeface="ＭＳ Ｐゴシック" pitchFamily="116" charset="-128"/>
        <a:cs typeface="+mn-cs"/>
      </a:defRPr>
    </a:lvl7pPr>
    <a:lvl8pPr marL="3200400" algn="l" defTabSz="914400" rtl="0" eaLnBrk="1" latinLnBrk="0" hangingPunct="1">
      <a:defRPr sz="2400" kern="1200">
        <a:solidFill>
          <a:schemeClr val="tx1"/>
        </a:solidFill>
        <a:latin typeface="Arial" charset="0"/>
        <a:ea typeface="ＭＳ Ｐゴシック" pitchFamily="116" charset="-128"/>
        <a:cs typeface="+mn-cs"/>
      </a:defRPr>
    </a:lvl8pPr>
    <a:lvl9pPr marL="3657600" algn="l" defTabSz="914400" rtl="0" eaLnBrk="1" latinLnBrk="0" hangingPunct="1">
      <a:defRPr sz="2400" kern="1200">
        <a:solidFill>
          <a:schemeClr val="tx1"/>
        </a:solidFill>
        <a:latin typeface="Arial" charset="0"/>
        <a:ea typeface="ＭＳ Ｐゴシック" pitchFamily="116"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0000FF"/>
    <a:srgbClr val="33CC33"/>
    <a:srgbClr val="993366"/>
    <a:srgbClr val="003399"/>
    <a:srgbClr val="CCCC00"/>
    <a:srgbClr val="9900FF"/>
    <a:srgbClr val="FF0000"/>
    <a:srgbClr val="FF33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2" autoAdjust="0"/>
    <p:restoredTop sz="70496" autoAdjust="0"/>
  </p:normalViewPr>
  <p:slideViewPr>
    <p:cSldViewPr snapToGrid="0">
      <p:cViewPr varScale="1">
        <p:scale>
          <a:sx n="58" d="100"/>
          <a:sy n="58" d="100"/>
        </p:scale>
        <p:origin x="854" y="53"/>
      </p:cViewPr>
      <p:guideLst>
        <p:guide orient="horz" pos="2160"/>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6432"/>
    </p:cViewPr>
  </p:sorterViewPr>
  <p:notesViewPr>
    <p:cSldViewPr snapToGrid="0">
      <p:cViewPr varScale="1">
        <p:scale>
          <a:sx n="39" d="100"/>
          <a:sy n="39" d="100"/>
        </p:scale>
        <p:origin x="2240" y="5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12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9F30534E-9FB8-46AE-8E3B-5675B268AE6A}" type="slidenum">
              <a:rPr lang="en-US"/>
              <a:pPr/>
              <a:t>‹#›</a:t>
            </a:fld>
            <a:endParaRPr lang="en-US"/>
          </a:p>
        </p:txBody>
      </p:sp>
    </p:spTree>
    <p:extLst>
      <p:ext uri="{BB962C8B-B14F-4D97-AF65-F5344CB8AC3E}">
        <p14:creationId xmlns:p14="http://schemas.microsoft.com/office/powerpoint/2010/main" val="391361881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ＭＳ Ｐゴシック" pitchFamily="116" charset="-128"/>
        <a:cs typeface="+mn-cs"/>
      </a:defRPr>
    </a:lvl1pPr>
    <a:lvl2pPr marL="457200" algn="l" rtl="0" fontAlgn="base">
      <a:spcBef>
        <a:spcPct val="30000"/>
      </a:spcBef>
      <a:spcAft>
        <a:spcPct val="0"/>
      </a:spcAft>
      <a:defRPr sz="1200" kern="1200">
        <a:solidFill>
          <a:schemeClr val="tx1"/>
        </a:solidFill>
        <a:latin typeface="Arial" charset="0"/>
        <a:ea typeface="ＭＳ Ｐゴシック" pitchFamily="116" charset="-128"/>
        <a:cs typeface="+mn-cs"/>
      </a:defRPr>
    </a:lvl2pPr>
    <a:lvl3pPr marL="914400" algn="l" rtl="0" fontAlgn="base">
      <a:spcBef>
        <a:spcPct val="30000"/>
      </a:spcBef>
      <a:spcAft>
        <a:spcPct val="0"/>
      </a:spcAft>
      <a:defRPr sz="1200" kern="1200">
        <a:solidFill>
          <a:schemeClr val="tx1"/>
        </a:solidFill>
        <a:latin typeface="Arial" charset="0"/>
        <a:ea typeface="ＭＳ Ｐゴシック" pitchFamily="116" charset="-128"/>
        <a:cs typeface="+mn-cs"/>
      </a:defRPr>
    </a:lvl3pPr>
    <a:lvl4pPr marL="1371600" algn="l" rtl="0" fontAlgn="base">
      <a:spcBef>
        <a:spcPct val="30000"/>
      </a:spcBef>
      <a:spcAft>
        <a:spcPct val="0"/>
      </a:spcAft>
      <a:defRPr sz="1200" kern="1200">
        <a:solidFill>
          <a:schemeClr val="tx1"/>
        </a:solidFill>
        <a:latin typeface="Arial" charset="0"/>
        <a:ea typeface="ＭＳ Ｐゴシック" pitchFamily="116" charset="-128"/>
        <a:cs typeface="+mn-cs"/>
      </a:defRPr>
    </a:lvl4pPr>
    <a:lvl5pPr marL="1828800" algn="l" rtl="0" fontAlgn="base">
      <a:spcBef>
        <a:spcPct val="30000"/>
      </a:spcBef>
      <a:spcAft>
        <a:spcPct val="0"/>
      </a:spcAft>
      <a:defRPr sz="1200" kern="1200">
        <a:solidFill>
          <a:schemeClr val="tx1"/>
        </a:solidFill>
        <a:latin typeface="Arial" charset="0"/>
        <a:ea typeface="ＭＳ Ｐゴシック" pitchFamily="11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381000" y="685800"/>
            <a:ext cx="6096000" cy="3429000"/>
          </a:xfrm>
          <a:ln/>
        </p:spPr>
      </p:sp>
      <p:sp>
        <p:nvSpPr>
          <p:cNvPr id="6147" name="Rectangle 3"/>
          <p:cNvSpPr>
            <a:spLocks noGrp="1" noChangeArrowheads="1"/>
          </p:cNvSpPr>
          <p:nvPr>
            <p:ph type="body" idx="1"/>
          </p:nvPr>
        </p:nvSpPr>
        <p:spPr/>
        <p:txBody>
          <a:bodyPr/>
          <a:lstStyle/>
          <a:p>
            <a:r>
              <a:rPr lang="en-US" dirty="0"/>
              <a:t>Welcome back, everyone. Let me remind you of the best way to get the most out of this course. First, make sure you read the assigned chapter before each lecture. Join the lecture with the preview in mind and listen carefully.  Ask if you have questions proactively. Afterward, work through the homework and revisit the material again. This layered approach — reading, watching, listening, asking, practicing — really helps deepen your understanding.</a:t>
            </a:r>
          </a:p>
          <a:p>
            <a:endParaRPr lang="en-US" dirty="0"/>
          </a:p>
          <a:p>
            <a:r>
              <a:rPr lang="en-US" dirty="0"/>
              <a:t>Today, we’re going to explore a very powerful concept in signal processing: the </a:t>
            </a:r>
            <a:r>
              <a:rPr lang="en-US" b="1" dirty="0"/>
              <a:t>Fourier series</a:t>
            </a:r>
            <a:r>
              <a:rPr lang="en-US" dirty="0"/>
              <a:t>. This topic takes us a step beyond convolution, both in complexity and in importance. It’s a bit more challenging, but it’s absolutely central to many applications in engineering, physics, and medical imaging. So, I’ll do my best to break it down and highlight the key ideas so that you can follow along with confidence.</a:t>
            </a:r>
          </a:p>
          <a:p>
            <a:r>
              <a:rPr lang="en-US" dirty="0"/>
              <a:t>Let’s get started.</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74559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Seems like we are going as per our schedule.</a:t>
            </a:r>
          </a:p>
          <a:p>
            <a:endParaRPr lang="en-US" dirty="0"/>
          </a:p>
          <a:p>
            <a:r>
              <a:rPr lang="en-US" dirty="0"/>
              <a:t>In some courses or textbooks, you might be handed a formula for Fourier analysis and told to apply it mechanically. And sure — you might be able to follow the steps, plug in numbers, and get the right answer. But that kind of approach often leaves you without a real understanding of what’s happening under the hood.</a:t>
            </a:r>
          </a:p>
          <a:p>
            <a:endParaRPr lang="en-US" dirty="0"/>
          </a:p>
          <a:p>
            <a:r>
              <a:rPr lang="en-US" dirty="0"/>
              <a:t>Here, we’re going to do things differently. Instead of just giving you the equations, we’ll take the time to explore the </a:t>
            </a:r>
            <a:r>
              <a:rPr lang="en-US" i="1" dirty="0"/>
              <a:t>why</a:t>
            </a:r>
            <a:r>
              <a:rPr lang="en-US" dirty="0"/>
              <a:t> and </a:t>
            </a:r>
            <a:r>
              <a:rPr lang="en-US" i="1" dirty="0"/>
              <a:t>how</a:t>
            </a:r>
            <a:r>
              <a:rPr lang="en-US" dirty="0"/>
              <a:t> behind them. What does the Fourier series represent? Why does it work? And how does it help us understand complex signals?</a:t>
            </a:r>
          </a:p>
          <a:p>
            <a:endParaRPr lang="en-US" dirty="0"/>
          </a:p>
          <a:p>
            <a:r>
              <a:rPr lang="en-US" dirty="0"/>
              <a:t>This deeper understanding is especially important in a field like medical imaging, where you’re not just solving math problems — you’re working with real-world data that affects real people. So, our goal is not just to teach you the tools, but to help you develop a solid intuition for how and why they work.</a:t>
            </a:r>
          </a:p>
          <a:p>
            <a:endParaRPr lang="en-US" dirty="0"/>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a:t>
            </a:fld>
            <a:endParaRPr lang="en-US"/>
          </a:p>
        </p:txBody>
      </p:sp>
    </p:spTree>
    <p:extLst>
      <p:ext uri="{BB962C8B-B14F-4D97-AF65-F5344CB8AC3E}">
        <p14:creationId xmlns:p14="http://schemas.microsoft.com/office/powerpoint/2010/main" val="1639945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 me share what I hope you'll take away from this lecture. We’re going to approach the Fourier series from a geometric perspective, starting with the idea of </a:t>
            </a:r>
            <a:r>
              <a:rPr lang="en-US" b="1" dirty="0"/>
              <a:t>high-dimensional space</a:t>
            </a:r>
            <a:r>
              <a:rPr lang="en-US" dirty="0"/>
              <a:t>. This means thinking about vectors, angles, distances, and inner products — not just in two or three dimensions, but in spaces with many dimensions.</a:t>
            </a:r>
          </a:p>
          <a:p>
            <a:endParaRPr lang="en-US" dirty="0"/>
          </a:p>
          <a:p>
            <a:r>
              <a:rPr lang="en-US" dirty="0"/>
              <a:t>When we combine all of these geometric tools, we begin to see Fourier series and Fourier transforms not as abstract formulas, but as structured transformations — transformations that have a </a:t>
            </a:r>
            <a:r>
              <a:rPr lang="en-US" b="1" dirty="0"/>
              <a:t>clear geometric interpretation</a:t>
            </a:r>
            <a:r>
              <a:rPr lang="en-US" dirty="0"/>
              <a:t>.</a:t>
            </a:r>
          </a:p>
          <a:p>
            <a:endParaRPr lang="en-US" dirty="0"/>
          </a:p>
          <a:p>
            <a:r>
              <a:rPr lang="en-US" dirty="0"/>
              <a:t>And that’s powerful. Because once you can </a:t>
            </a:r>
            <a:r>
              <a:rPr lang="en-US" b="1" dirty="0"/>
              <a:t>visualize</a:t>
            </a:r>
            <a:r>
              <a:rPr lang="en-US" dirty="0"/>
              <a:t> what’s going on, everything becomes more intuitive. You not only understand the formulas better, but you also remember them more easily. You know what each term is doing. You’re no longer just running code or solving equations without knowing why they work. You can see the big picture. In our last lecture, we talked about </a:t>
            </a:r>
            <a:r>
              <a:rPr lang="en-US" b="1" dirty="0"/>
              <a:t>linear systems</a:t>
            </a:r>
            <a:r>
              <a:rPr lang="en-US" dirty="0"/>
              <a:t> and their behavior in both continuous and discrete settings. </a:t>
            </a:r>
          </a:p>
          <a:p>
            <a:endParaRPr lang="en-US" dirty="0"/>
          </a:p>
          <a:p>
            <a:r>
              <a:rPr lang="en-US" dirty="0"/>
              <a:t>We introduced </a:t>
            </a:r>
            <a:r>
              <a:rPr lang="en-US" b="1" dirty="0"/>
              <a:t>convolution</a:t>
            </a:r>
            <a:r>
              <a:rPr lang="en-US" dirty="0"/>
              <a:t> and briefly touched on concepts such as the </a:t>
            </a:r>
            <a:r>
              <a:rPr lang="en-US" b="1" dirty="0"/>
              <a:t>inner product</a:t>
            </a:r>
            <a:r>
              <a:rPr lang="en-US" dirty="0"/>
              <a:t> and </a:t>
            </a:r>
            <a:r>
              <a:rPr lang="en-US" b="1" dirty="0"/>
              <a:t>cross-correlation</a:t>
            </a:r>
            <a:r>
              <a:rPr lang="en-US" dirty="0"/>
              <a:t>. Some of you might have found those connections a bit abstract, and that’s completely normal at first. But today, we’ll start bringing those pieces together, using geometry as our guide.</a:t>
            </a:r>
          </a:p>
          <a:p>
            <a:r>
              <a:rPr lang="en-US" dirty="0"/>
              <a:t>Let’s dive in.</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a:t>
            </a:fld>
            <a:endParaRPr lang="en-US"/>
          </a:p>
        </p:txBody>
      </p:sp>
    </p:spTree>
    <p:extLst>
      <p:ext uri="{BB962C8B-B14F-4D97-AF65-F5344CB8AC3E}">
        <p14:creationId xmlns:p14="http://schemas.microsoft.com/office/powerpoint/2010/main" val="470877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talk about a foundational concept that underpins much of what we’re doing — the inner product, also known as the dot product.</a:t>
            </a:r>
          </a:p>
          <a:p>
            <a:endParaRPr lang="en-US" dirty="0"/>
          </a:p>
          <a:p>
            <a:r>
              <a:rPr lang="en-US" dirty="0"/>
              <a:t>Suppose you have two vectors, A and B. The inner product is calculated by pairing each element of vector A with the corresponding element of vector B, multiplying those pairs, and then summing the results.</a:t>
            </a:r>
          </a:p>
          <a:p>
            <a:endParaRPr lang="en-US" dirty="0"/>
          </a:p>
          <a:p>
            <a:r>
              <a:rPr lang="en-US" dirty="0"/>
              <a:t>In mathematical terms, if vector A has components A1 through An, and vector B has components B1 through Bn, then the inner product of A and B is the sum from </a:t>
            </a:r>
            <a:r>
              <a:rPr lang="en-US" dirty="0" err="1"/>
              <a:t>i</a:t>
            </a:r>
            <a:r>
              <a:rPr lang="en-US" dirty="0"/>
              <a:t> equals 1 to n of Ai times Bi.</a:t>
            </a:r>
          </a:p>
          <a:p>
            <a:endParaRPr lang="en-US" dirty="0"/>
          </a:p>
          <a:p>
            <a:r>
              <a:rPr lang="en-US" dirty="0"/>
              <a:t>Let’s look at an example. Take vector A as 1, 3, negative 5, and vector B as 4, negative 2, negative 1.</a:t>
            </a:r>
          </a:p>
          <a:p>
            <a:endParaRPr lang="en-US" dirty="0"/>
          </a:p>
          <a:p>
            <a:r>
              <a:rPr lang="en-US" dirty="0"/>
              <a:t>We compute the inner product as follows:</a:t>
            </a:r>
            <a:br>
              <a:rPr lang="en-US" dirty="0"/>
            </a:br>
            <a:r>
              <a:rPr lang="en-US" dirty="0"/>
              <a:t>One times four, plus</a:t>
            </a:r>
            <a:br>
              <a:rPr lang="en-US" dirty="0"/>
            </a:br>
            <a:r>
              <a:rPr lang="en-US" dirty="0"/>
              <a:t>three times negative two, plus</a:t>
            </a:r>
            <a:br>
              <a:rPr lang="en-US" dirty="0"/>
            </a:br>
            <a:r>
              <a:rPr lang="en-US" dirty="0"/>
              <a:t>negative five times negative one.</a:t>
            </a:r>
          </a:p>
          <a:p>
            <a:r>
              <a:rPr lang="en-US" dirty="0"/>
              <a:t>That gives us 4 minus 6 plus 5, which equals 3.</a:t>
            </a:r>
          </a:p>
          <a:p>
            <a:endParaRPr lang="en-US" dirty="0"/>
          </a:p>
          <a:p>
            <a:r>
              <a:rPr lang="en-US" dirty="0"/>
              <a:t>Now, why is this important? Because when we perform convolution or cross-correlation, we are essentially performing inner products — over and over again. Each time we slide one signal over another and compute the inner product, we generate one output value.</a:t>
            </a:r>
          </a:p>
          <a:p>
            <a:r>
              <a:rPr lang="en-US" dirty="0"/>
              <a:t>This is exactly how matched filtering works in radar systems. When an incoming signal — such as an echo from an aircraft — aligns with a known pattern, the inner product reaches its peak, making it possible to detect the target.</a:t>
            </a:r>
          </a:p>
          <a:p>
            <a:endParaRPr lang="en-US" dirty="0"/>
          </a:p>
          <a:p>
            <a:r>
              <a:rPr lang="en-US" dirty="0"/>
              <a:t>From the perspective of linear systems, cross-correlation involves flipping and shifting one signal, and then computing a whole series of inner products. The result becomes the output response of a shift-invariant system. So understanding inner products is not just helpful — it’s essential.</a:t>
            </a:r>
          </a:p>
          <a:p>
            <a:endParaRPr lang="en-US" dirty="0"/>
          </a:p>
          <a:p>
            <a:r>
              <a:rPr lang="en-US" dirty="0"/>
              <a:t>There’s also a beautiful geometric interpretation. The inner product of two vectors equals the product of their magnitudes multiplied by the cosine of the angle between them.</a:t>
            </a:r>
          </a:p>
          <a:p>
            <a:endParaRPr lang="en-US" dirty="0"/>
          </a:p>
          <a:p>
            <a:r>
              <a:rPr lang="en-US" dirty="0"/>
              <a:t>In other words, the dot product of A and B equals the norm of A times the norm of B times cosine theta — where theta is the angle between the two vectors.</a:t>
            </a:r>
          </a:p>
          <a:p>
            <a:endParaRPr lang="en-US" dirty="0"/>
          </a:p>
          <a:p>
            <a:r>
              <a:rPr lang="en-US" dirty="0"/>
              <a:t>So, if the vectors point in the same direction, the angle is zero, and cosine of zero is one — giving you the maximum value.</a:t>
            </a:r>
          </a:p>
          <a:p>
            <a:r>
              <a:rPr lang="en-US" dirty="0"/>
              <a:t>If the vectors are orthogonal — that is, they are at 90 degrees — then cosine theta is zero, and so is the inner product.</a:t>
            </a:r>
          </a:p>
          <a:p>
            <a:endParaRPr lang="en-US" dirty="0"/>
          </a:p>
          <a:p>
            <a:r>
              <a:rPr lang="en-US" dirty="0"/>
              <a:t>And here’s something really elegant: if you take the inner product of a vector with itself, you get the square of its length. That means the magnitude of a vector can be defined as the square root of its inner product with itself.</a:t>
            </a:r>
          </a:p>
          <a:p>
            <a:endParaRPr lang="en-US" dirty="0"/>
          </a:p>
          <a:p>
            <a:r>
              <a:rPr lang="en-US" dirty="0"/>
              <a:t>In summary, the inner product captures three things at once — length, angle, and alignment — all in a single operation. And that makes it the foundation for everything we’ll do with Fourier series.</a:t>
            </a:r>
          </a:p>
          <a:p>
            <a:endParaRPr lang="en-US" dirty="0"/>
          </a:p>
          <a:p>
            <a:r>
              <a:rPr lang="en-US" dirty="0"/>
              <a:t>Here’s another way to think about it — by drawing a biological analogy.</a:t>
            </a:r>
          </a:p>
          <a:p>
            <a:endParaRPr lang="en-US" dirty="0"/>
          </a:p>
          <a:p>
            <a:r>
              <a:rPr lang="en-US" dirty="0"/>
              <a:t>Think of the </a:t>
            </a:r>
            <a:r>
              <a:rPr lang="en-US" b="1" dirty="0"/>
              <a:t>inner product</a:t>
            </a:r>
            <a:r>
              <a:rPr lang="en-US" dirty="0"/>
              <a:t> like the base pairing in DNA. Just as DNA sequences are built from matched pairs of bases — adenine with thymine, guanine with cytosine — our inner product is built by matching one element from vector A with one from vector B. Each matched pair contributes to the total result.</a:t>
            </a:r>
          </a:p>
          <a:p>
            <a:r>
              <a:rPr lang="en-US" dirty="0"/>
              <a:t>And just like those base pairings carry the essential instructions for life, this mathematical pairing carries the structural foundation for data analysis. The overall sum of those matched pairs — the inner product — gives us meaningful information about the relationship between two datasets or signals.</a:t>
            </a:r>
          </a:p>
          <a:p>
            <a:endParaRPr lang="en-US" dirty="0"/>
          </a:p>
          <a:p>
            <a:r>
              <a:rPr lang="en-US" dirty="0"/>
              <a:t>In many ways, you can think of the inner product as the </a:t>
            </a:r>
            <a:r>
              <a:rPr lang="en-US" b="1" dirty="0"/>
              <a:t>DNA of data science</a:t>
            </a:r>
            <a:r>
              <a:rPr lang="en-US" dirty="0"/>
              <a:t>. It’s what lets us quantify similarity, compute distances, analyze angles, and perform transformations. We’ll keep coming back to this idea throughout the course, so keep it in mind as we go deeper into Fourier theory.</a:t>
            </a:r>
          </a:p>
        </p:txBody>
      </p:sp>
      <p:sp>
        <p:nvSpPr>
          <p:cNvPr id="4" name="Slide Number Placeholder 3"/>
          <p:cNvSpPr>
            <a:spLocks noGrp="1"/>
          </p:cNvSpPr>
          <p:nvPr>
            <p:ph type="sldNum" sz="quarter" idx="5"/>
          </p:nvPr>
        </p:nvSpPr>
        <p:spPr/>
        <p:txBody>
          <a:bodyPr/>
          <a:lstStyle/>
          <a:p>
            <a:fld id="{9F30534E-9FB8-46AE-8E3B-5675B268AE6A}" type="slidenum">
              <a:rPr lang="en-US" smtClean="0"/>
              <a:pPr/>
              <a:t>4</a:t>
            </a:fld>
            <a:endParaRPr lang="en-US"/>
          </a:p>
        </p:txBody>
      </p:sp>
    </p:spTree>
    <p:extLst>
      <p:ext uri="{BB962C8B-B14F-4D97-AF65-F5344CB8AC3E}">
        <p14:creationId xmlns:p14="http://schemas.microsoft.com/office/powerpoint/2010/main" val="1524450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revisit the concept of a shift-invariant linear system, which we introduced earlier in the course. This diagram gives us a step-by-step breakdown of how such systems behave — and how the inner product plays a central role.</a:t>
            </a:r>
          </a:p>
          <a:p>
            <a:endParaRPr lang="en-US" dirty="0"/>
          </a:p>
          <a:p>
            <a:r>
              <a:rPr lang="en-US" dirty="0"/>
              <a:t>Here’s the key idea: once you're given the impulse response of a system — that is, how it reacts to a single impulse — and you know the system is both linear and shift-invariant, then you can compute the system’s output for any input signal.</a:t>
            </a:r>
          </a:p>
          <a:p>
            <a:r>
              <a:rPr lang="en-US" dirty="0"/>
              <a:t>This is exactly where convolution comes into play.</a:t>
            </a:r>
          </a:p>
          <a:p>
            <a:endParaRPr lang="en-US" dirty="0"/>
          </a:p>
          <a:p>
            <a:r>
              <a:rPr lang="en-US" dirty="0"/>
              <a:t>As shown in the diagram, the input signal x of n can be represented as a weighted sum of shifted delta functions.</a:t>
            </a:r>
            <a:br>
              <a:rPr lang="en-US" dirty="0"/>
            </a:br>
            <a:r>
              <a:rPr lang="en-US" dirty="0"/>
              <a:t>That is, x of n equals the sum over k, from negative infinity to infinity, of x of k times delta of n minus k.</a:t>
            </a:r>
          </a:p>
          <a:p>
            <a:endParaRPr lang="en-US" dirty="0"/>
          </a:p>
          <a:p>
            <a:r>
              <a:rPr lang="en-US" dirty="0"/>
              <a:t>Now, for each of those shifted deltas — delta of n minus k — the system responds with a shifted impulse response:</a:t>
            </a:r>
            <a:br>
              <a:rPr lang="en-US" dirty="0"/>
            </a:br>
            <a:r>
              <a:rPr lang="en-US" dirty="0"/>
              <a:t>h of n minus k.</a:t>
            </a:r>
          </a:p>
          <a:p>
            <a:r>
              <a:rPr lang="en-US" dirty="0"/>
              <a:t>And this response is scaled by the input value at that shift, which is x of k.</a:t>
            </a:r>
          </a:p>
          <a:p>
            <a:endParaRPr lang="en-US" dirty="0"/>
          </a:p>
          <a:p>
            <a:r>
              <a:rPr lang="en-US" dirty="0"/>
              <a:t>So what do we do next?</a:t>
            </a:r>
          </a:p>
          <a:p>
            <a:br>
              <a:rPr lang="en-US" dirty="0"/>
            </a:br>
            <a:r>
              <a:rPr lang="en-US" dirty="0"/>
              <a:t>We add up all those scaled responses. The result is:</a:t>
            </a:r>
            <a:br>
              <a:rPr lang="en-US" dirty="0"/>
            </a:br>
            <a:r>
              <a:rPr lang="en-US" dirty="0"/>
              <a:t>x of n equals the sum over k, from minus infinity to infinity, of x of k times h of n minus k.</a:t>
            </a:r>
          </a:p>
          <a:p>
            <a:r>
              <a:rPr lang="en-US" dirty="0"/>
              <a:t>That’s the standard convolution formula.</a:t>
            </a:r>
          </a:p>
          <a:p>
            <a:endParaRPr lang="en-US" dirty="0"/>
          </a:p>
          <a:p>
            <a:r>
              <a:rPr lang="en-US" dirty="0"/>
              <a:t>But here’s what’s really important:</a:t>
            </a:r>
            <a:br>
              <a:rPr lang="en-US" dirty="0"/>
            </a:br>
            <a:r>
              <a:rPr lang="en-US" dirty="0"/>
              <a:t>When you compute the convolution at a particular time n, you are essentially performing an inner product.</a:t>
            </a:r>
          </a:p>
          <a:p>
            <a:r>
              <a:rPr lang="en-US" dirty="0"/>
              <a:t>You take the input signal and the flipped, shifted impulse response — multiply them element by element — and sum the result.</a:t>
            </a:r>
          </a:p>
          <a:p>
            <a:br>
              <a:rPr lang="en-US" dirty="0"/>
            </a:br>
            <a:r>
              <a:rPr lang="en-US" dirty="0"/>
              <a:t>This process is just like computing the dot product of two vectors.</a:t>
            </a:r>
          </a:p>
          <a:p>
            <a:r>
              <a:rPr lang="en-US" dirty="0"/>
              <a:t>This same concept is used in matched filtering — like in radar signal processing.</a:t>
            </a:r>
          </a:p>
          <a:p>
            <a:br>
              <a:rPr lang="en-US" dirty="0"/>
            </a:br>
            <a:r>
              <a:rPr lang="en-US" dirty="0"/>
              <a:t>In this process, we take a known pattern — which we refer to as the filter — and slide it across the incoming signal.</a:t>
            </a:r>
            <a:br>
              <a:rPr lang="en-US" dirty="0"/>
            </a:br>
            <a:r>
              <a:rPr lang="en-US" dirty="0"/>
              <a:t>When the filter aligns well with a portion of the signal, the inner product reaches a maximum value.</a:t>
            </a:r>
            <a:br>
              <a:rPr lang="en-US" dirty="0"/>
            </a:br>
            <a:r>
              <a:rPr lang="en-US" dirty="0"/>
              <a:t>This peak indicates that a strong match has been detected.</a:t>
            </a:r>
          </a:p>
          <a:p>
            <a:endParaRPr lang="en-US" dirty="0"/>
          </a:p>
          <a:p>
            <a:r>
              <a:rPr lang="en-US" dirty="0"/>
              <a:t>Whether we call it convolution or cross-correlation, the operation always boils down to computing inner products.</a:t>
            </a:r>
          </a:p>
          <a:p>
            <a:r>
              <a:rPr lang="en-US" dirty="0"/>
              <a:t>So once again, the inner product isn’t just a nice-to-have mathematical idea.</a:t>
            </a:r>
            <a:br>
              <a:rPr lang="en-US" dirty="0"/>
            </a:br>
            <a:r>
              <a:rPr lang="en-US" dirty="0"/>
              <a:t>It is the fundamental engine behind convolution, filtering, correlation, and soon, our study of Fourier analysis.</a:t>
            </a:r>
          </a:p>
        </p:txBody>
      </p:sp>
      <p:sp>
        <p:nvSpPr>
          <p:cNvPr id="4" name="Slide Number Placeholder 3"/>
          <p:cNvSpPr>
            <a:spLocks noGrp="1"/>
          </p:cNvSpPr>
          <p:nvPr>
            <p:ph type="sldNum" sz="quarter" idx="5"/>
          </p:nvPr>
        </p:nvSpPr>
        <p:spPr/>
        <p:txBody>
          <a:bodyPr/>
          <a:lstStyle/>
          <a:p>
            <a:fld id="{9F30534E-9FB8-46AE-8E3B-5675B268AE6A}" type="slidenum">
              <a:rPr lang="en-US" smtClean="0"/>
              <a:pPr/>
              <a:t>5</a:t>
            </a:fld>
            <a:endParaRPr lang="en-US"/>
          </a:p>
        </p:txBody>
      </p:sp>
    </p:spTree>
    <p:extLst>
      <p:ext uri="{BB962C8B-B14F-4D97-AF65-F5344CB8AC3E}">
        <p14:creationId xmlns:p14="http://schemas.microsoft.com/office/powerpoint/2010/main" val="691925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take a step back and look at the inner product from a geometric perspective. This viewpoint helps us build strong intuition, especially as we move into higher dimensions.</a:t>
            </a:r>
          </a:p>
          <a:p>
            <a:endParaRPr lang="en-US" dirty="0"/>
          </a:p>
          <a:p>
            <a:r>
              <a:rPr lang="en-US" dirty="0"/>
              <a:t>Start by imagining two-dimensional space. You have a vector A, which we can think of as a point in that space. Now, add another non-zero vector, let’s call it vector B. Along with the zero vector — that’s the origin — these two define a straight line. This line contains all the scalar multiples of vector B. In other words, the line L of k equals k times vector B, where k is any real number.</a:t>
            </a:r>
          </a:p>
          <a:p>
            <a:endParaRPr lang="en-US" dirty="0"/>
          </a:p>
          <a:p>
            <a:r>
              <a:rPr lang="en-US" dirty="0"/>
              <a:t>Now here’s the key idea: we want to project vector A onto that line. In other words, we want to find the point on the line that’s closest to vector A. Mathematically, this means finding the value of k that minimizes the distance between vector A and k times vector B.</a:t>
            </a:r>
          </a:p>
          <a:p>
            <a:endParaRPr lang="en-US" dirty="0"/>
          </a:p>
          <a:p>
            <a:r>
              <a:rPr lang="en-US" dirty="0"/>
              <a:t>The expression shown here represents that squared distance. It’s written as the sum, from </a:t>
            </a:r>
            <a:r>
              <a:rPr lang="en-US" dirty="0" err="1"/>
              <a:t>i</a:t>
            </a:r>
            <a:r>
              <a:rPr lang="en-US" dirty="0"/>
              <a:t> equals 1 to N, of the square of the quantity ai minus k times bi. That’s essentially the Euclidean distance, squared — but applied component-wise in vector form.</a:t>
            </a:r>
          </a:p>
          <a:p>
            <a:endParaRPr lang="en-US" dirty="0"/>
          </a:p>
          <a:p>
            <a:r>
              <a:rPr lang="en-US" dirty="0"/>
              <a:t>This is an extension of the classic distance formula you saw in high school geometry: the square root of x one minus x two squared, plus y one minus y two squared. But now, we’re doing it in higher dimensions.</a:t>
            </a:r>
          </a:p>
          <a:p>
            <a:endParaRPr lang="en-US" dirty="0"/>
          </a:p>
          <a:p>
            <a:r>
              <a:rPr lang="en-US" dirty="0"/>
              <a:t>To minimize the distance, we take the derivative of that squared distance with respect to k, set it to zero, and solve for k. When we do that, we arrive at this important formula:</a:t>
            </a:r>
          </a:p>
          <a:p>
            <a:r>
              <a:rPr lang="en-US" dirty="0"/>
              <a:t>k equals the inner product of vector A and vector B, divided by the squared norm of vector B.</a:t>
            </a:r>
            <a:br>
              <a:rPr lang="en-US" dirty="0"/>
            </a:br>
            <a:endParaRPr lang="en-US" dirty="0"/>
          </a:p>
          <a:p>
            <a:r>
              <a:rPr lang="en-US" dirty="0"/>
              <a:t>That gives us the scaling factor for the projection.</a:t>
            </a:r>
            <a:br>
              <a:rPr lang="en-US" dirty="0"/>
            </a:br>
            <a:r>
              <a:rPr lang="en-US" dirty="0"/>
              <a:t>And then, the distance from the origin to the projected point is:</a:t>
            </a:r>
          </a:p>
          <a:p>
            <a:r>
              <a:rPr lang="en-US" dirty="0"/>
              <a:t>D equals A dot B, divided by the norm of B.</a:t>
            </a:r>
          </a:p>
          <a:p>
            <a:br>
              <a:rPr lang="en-US" dirty="0"/>
            </a:br>
            <a:r>
              <a:rPr lang="en-US" dirty="0"/>
              <a:t>This leads us back to a central identity in geometry:</a:t>
            </a:r>
          </a:p>
          <a:p>
            <a:r>
              <a:rPr lang="en-US" dirty="0"/>
              <a:t>A dot B equals the length of A times the length of B times the cosine of theta, where theta is the angle between the two vectors.</a:t>
            </a:r>
          </a:p>
          <a:p>
            <a:r>
              <a:rPr lang="en-US" dirty="0"/>
              <a:t>So what does this all mean geometrically?</a:t>
            </a:r>
          </a:p>
          <a:p>
            <a:endParaRPr lang="en-US" dirty="0"/>
          </a:p>
          <a:p>
            <a:r>
              <a:rPr lang="en-US" dirty="0"/>
              <a:t>The inner product tells us how much of vector A lies in the direction of vector B.</a:t>
            </a:r>
            <a:br>
              <a:rPr lang="en-US" dirty="0"/>
            </a:br>
            <a:r>
              <a:rPr lang="en-US" dirty="0"/>
              <a:t>It’s the projection of A onto B, scaled by how aligned the two are — and that alignment is captured by the cosine of the angle.</a:t>
            </a:r>
          </a:p>
          <a:p>
            <a:r>
              <a:rPr lang="en-US" dirty="0"/>
              <a:t>If A and B are orthogonal — that means they’re at a ninety-degree angle — then the cosine is zero, and so is the inner product.</a:t>
            </a:r>
            <a:br>
              <a:rPr lang="en-US" dirty="0"/>
            </a:br>
            <a:r>
              <a:rPr lang="en-US" dirty="0"/>
              <a:t>But if they point in the same direction, the cosine is one, and the projection is at its maximum.</a:t>
            </a:r>
          </a:p>
          <a:p>
            <a:endParaRPr lang="en-US" dirty="0"/>
          </a:p>
          <a:p>
            <a:r>
              <a:rPr lang="en-US" dirty="0"/>
              <a:t>So this isn’t just an abstract formula. It gives us a powerful visual interpretation of what the inner product is really doing — measuring alignment.</a:t>
            </a:r>
          </a:p>
          <a:p>
            <a:r>
              <a:rPr lang="en-US" dirty="0"/>
              <a:t>And this interpretation extends naturally into higher dimensions, which makes it especially useful as we transition into Fourier series.</a:t>
            </a:r>
          </a:p>
        </p:txBody>
      </p:sp>
      <p:sp>
        <p:nvSpPr>
          <p:cNvPr id="4" name="Slide Number Placeholder 3"/>
          <p:cNvSpPr>
            <a:spLocks noGrp="1"/>
          </p:cNvSpPr>
          <p:nvPr>
            <p:ph type="sldNum" sz="quarter" idx="5"/>
          </p:nvPr>
        </p:nvSpPr>
        <p:spPr/>
        <p:txBody>
          <a:bodyPr/>
          <a:lstStyle/>
          <a:p>
            <a:fld id="{9F30534E-9FB8-46AE-8E3B-5675B268AE6A}" type="slidenum">
              <a:rPr lang="en-US" smtClean="0"/>
              <a:pPr/>
              <a:t>6</a:t>
            </a:fld>
            <a:endParaRPr lang="en-US"/>
          </a:p>
        </p:txBody>
      </p:sp>
    </p:spTree>
    <p:extLst>
      <p:ext uri="{BB962C8B-B14F-4D97-AF65-F5344CB8AC3E}">
        <p14:creationId xmlns:p14="http://schemas.microsoft.com/office/powerpoint/2010/main" val="3965226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turn our attention to a very important and elegant result in linear algebra and geometry — the </a:t>
            </a:r>
            <a:r>
              <a:rPr lang="en-US" b="1" dirty="0"/>
              <a:t>Cauchy–Schwarz inequality</a:t>
            </a:r>
            <a:r>
              <a:rPr lang="en-US" dirty="0"/>
              <a:t>.</a:t>
            </a:r>
          </a:p>
          <a:p>
            <a:endParaRPr lang="en-US" dirty="0"/>
          </a:p>
          <a:p>
            <a:r>
              <a:rPr lang="en-US" dirty="0"/>
              <a:t>If you haven’t yet walked through the proof of this inequality, I encourage you to do so. It’s not just a theoretical result — it’s a tool that offers deep insight into how vectors relate to each other.</a:t>
            </a:r>
          </a:p>
          <a:p>
            <a:endParaRPr lang="en-US" dirty="0"/>
          </a:p>
          <a:p>
            <a:r>
              <a:rPr lang="en-US" dirty="0"/>
              <a:t>Now, the inequality is written here in both summation and vector form.</a:t>
            </a:r>
          </a:p>
          <a:p>
            <a:r>
              <a:rPr lang="en-US" dirty="0"/>
              <a:t>You can see here.</a:t>
            </a:r>
          </a:p>
          <a:p>
            <a:endParaRPr lang="en-US" dirty="0"/>
          </a:p>
          <a:p>
            <a:r>
              <a:rPr lang="en-US" dirty="0"/>
              <a:t>In vector form, we write:</a:t>
            </a:r>
            <a:br>
              <a:rPr lang="en-US" dirty="0"/>
            </a:br>
            <a:r>
              <a:rPr lang="en-US" dirty="0"/>
              <a:t>The absolute value of a dot b is less than or equal to the norm of a times the norm of b.</a:t>
            </a:r>
          </a:p>
          <a:p>
            <a:endParaRPr lang="en-US" dirty="0"/>
          </a:p>
          <a:p>
            <a:r>
              <a:rPr lang="en-US" dirty="0"/>
              <a:t>In plain terms, if you take the dot product of two vectors, its value will always be smaller than or equal to the product of their magnitudes.</a:t>
            </a:r>
          </a:p>
          <a:p>
            <a:br>
              <a:rPr lang="en-US" dirty="0"/>
            </a:br>
            <a:r>
              <a:rPr lang="en-US" dirty="0"/>
              <a:t>Equality holds only when one vector is a scalar multiple of the other — in other words, when the vectors are perfectly aligned.</a:t>
            </a:r>
          </a:p>
          <a:p>
            <a:endParaRPr lang="en-US" dirty="0"/>
          </a:p>
          <a:p>
            <a:r>
              <a:rPr lang="en-US" dirty="0"/>
              <a:t>To make this more concrete, let’s consider the two-dimensional version:</a:t>
            </a:r>
            <a:br>
              <a:rPr lang="en-US" dirty="0"/>
            </a:br>
            <a:r>
              <a:rPr lang="en-US" dirty="0"/>
              <a:t>The quantity </a:t>
            </a:r>
            <a:r>
              <a:rPr lang="en-US" b="1" dirty="0"/>
              <a:t>a squared plus b squared</a:t>
            </a:r>
            <a:r>
              <a:rPr lang="en-US" dirty="0"/>
              <a:t>, multiplied by </a:t>
            </a:r>
            <a:r>
              <a:rPr lang="en-US" b="1" dirty="0"/>
              <a:t>c squared plus d squared</a:t>
            </a:r>
            <a:r>
              <a:rPr lang="en-US" dirty="0"/>
              <a:t>, is greater than or equal to the square of </a:t>
            </a:r>
            <a:r>
              <a:rPr lang="en-US" b="1" dirty="0"/>
              <a:t>a times c plus b times d</a:t>
            </a:r>
            <a:r>
              <a:rPr lang="en-US" dirty="0"/>
              <a:t>.</a:t>
            </a:r>
          </a:p>
          <a:p>
            <a:endParaRPr lang="en-US" dirty="0"/>
          </a:p>
          <a:p>
            <a:r>
              <a:rPr lang="en-US" dirty="0"/>
              <a:t>This is a specific case of the inequality and shows how it works with actual vector components.</a:t>
            </a:r>
          </a:p>
          <a:p>
            <a:r>
              <a:rPr lang="en-US" dirty="0"/>
              <a:t>Now, how do we prove it?</a:t>
            </a:r>
          </a:p>
          <a:p>
            <a:endParaRPr lang="en-US" dirty="0"/>
          </a:p>
          <a:p>
            <a:r>
              <a:rPr lang="en-US" dirty="0"/>
              <a:t>A typical approach involves setting up a quadratic expression that includes both vectors and a variable, x.</a:t>
            </a:r>
            <a:br>
              <a:rPr lang="en-US" dirty="0"/>
            </a:br>
            <a:r>
              <a:rPr lang="en-US" dirty="0"/>
              <a:t>We write the sum over </a:t>
            </a:r>
            <a:r>
              <a:rPr lang="en-US" i="1" dirty="0" err="1"/>
              <a:t>i</a:t>
            </a:r>
            <a:r>
              <a:rPr lang="en-US" dirty="0"/>
              <a:t> of the square of the quantity </a:t>
            </a:r>
            <a:r>
              <a:rPr lang="en-US" b="1" dirty="0"/>
              <a:t>aᵢ times x plus bᵢ</a:t>
            </a:r>
            <a:r>
              <a:rPr lang="en-US" dirty="0"/>
              <a:t>.</a:t>
            </a:r>
            <a:br>
              <a:rPr lang="en-US" dirty="0"/>
            </a:br>
            <a:r>
              <a:rPr lang="en-US" dirty="0"/>
              <a:t>This can also be written as the sum of </a:t>
            </a:r>
            <a:r>
              <a:rPr lang="en-US" b="1" dirty="0"/>
              <a:t>aᵢ squared</a:t>
            </a:r>
            <a:r>
              <a:rPr lang="en-US" dirty="0"/>
              <a:t>, multiplied by the square of </a:t>
            </a:r>
            <a:r>
              <a:rPr lang="en-US" b="1" dirty="0"/>
              <a:t>x plus bᵢ divided by aᵢ</a:t>
            </a:r>
            <a:br>
              <a:rPr lang="en-US" dirty="0"/>
            </a:br>
            <a:endParaRPr lang="en-US" dirty="0"/>
          </a:p>
          <a:p>
            <a:r>
              <a:rPr lang="en-US" dirty="0"/>
              <a:t>We set this whole expression equal to zero and solve the resulting quadratic equation.</a:t>
            </a:r>
          </a:p>
          <a:p>
            <a:r>
              <a:rPr lang="en-US" dirty="0"/>
              <a:t>This works because the square of a real quantity is always non-negative, so the sum equals zero only when all terms vanish.</a:t>
            </a:r>
            <a:br>
              <a:rPr lang="en-US" dirty="0"/>
            </a:br>
            <a:r>
              <a:rPr lang="en-US" dirty="0"/>
              <a:t>That only happens when the vectors are linearly dependent — and that’s what gives us the equality condition.</a:t>
            </a:r>
          </a:p>
          <a:p>
            <a:r>
              <a:rPr lang="en-US" dirty="0"/>
              <a:t>Now, let’s connect this back to geometry. Remember from the last slide, the inner product of two vectors equals the product of their magnitudes times the cosine of the angle between them.</a:t>
            </a:r>
          </a:p>
          <a:p>
            <a:br>
              <a:rPr lang="en-US" dirty="0"/>
            </a:br>
            <a:r>
              <a:rPr lang="en-US" dirty="0"/>
              <a:t>That is:</a:t>
            </a:r>
            <a:br>
              <a:rPr lang="en-US" dirty="0"/>
            </a:br>
            <a:r>
              <a:rPr lang="en-US" dirty="0"/>
              <a:t>A dot B equals the norm of A times the norm of B times cosine theta.</a:t>
            </a:r>
          </a:p>
          <a:p>
            <a:r>
              <a:rPr lang="en-US" dirty="0"/>
              <a:t>Since cosine of theta is always between negative one and one, the dot product can never exceed the product of the magnitudes.</a:t>
            </a:r>
            <a:br>
              <a:rPr lang="en-US" dirty="0"/>
            </a:br>
            <a:r>
              <a:rPr lang="en-US" dirty="0"/>
              <a:t>That’s the geometric heart of the Cauchy–Schwarz inequality.</a:t>
            </a:r>
          </a:p>
          <a:p>
            <a:endParaRPr lang="en-US" dirty="0"/>
          </a:p>
          <a:p>
            <a:r>
              <a:rPr lang="en-US" dirty="0"/>
              <a:t>So this isn’t just an algebraic result — it’s a powerful guarantee about how closely two vectors can align.</a:t>
            </a:r>
          </a:p>
          <a:p>
            <a:r>
              <a:rPr lang="en-US" dirty="0"/>
              <a:t>And as we move into Fourier analysis, this principle plays a crucial role in how we represent signals, enforce orthogonality, and ensure numerical stability.</a:t>
            </a:r>
          </a:p>
          <a:p>
            <a:r>
              <a:rPr lang="en-US" dirty="0"/>
              <a:t>So keep this inequality in mind — we’ll revisit it again when we start working with basis functions and Fourier coefficients.</a:t>
            </a:r>
          </a:p>
        </p:txBody>
      </p:sp>
      <p:sp>
        <p:nvSpPr>
          <p:cNvPr id="4" name="Slide Number Placeholder 3"/>
          <p:cNvSpPr>
            <a:spLocks noGrp="1"/>
          </p:cNvSpPr>
          <p:nvPr>
            <p:ph type="sldNum" sz="quarter" idx="5"/>
          </p:nvPr>
        </p:nvSpPr>
        <p:spPr/>
        <p:txBody>
          <a:bodyPr/>
          <a:lstStyle/>
          <a:p>
            <a:fld id="{9F30534E-9FB8-46AE-8E3B-5675B268AE6A}" type="slidenum">
              <a:rPr lang="en-US" smtClean="0"/>
              <a:pPr/>
              <a:t>7</a:t>
            </a:fld>
            <a:endParaRPr lang="en-US"/>
          </a:p>
        </p:txBody>
      </p:sp>
    </p:spTree>
    <p:extLst>
      <p:ext uri="{BB962C8B-B14F-4D97-AF65-F5344CB8AC3E}">
        <p14:creationId xmlns:p14="http://schemas.microsoft.com/office/powerpoint/2010/main" val="1978293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return to the Cauchy–Schwarz inequality, but this time through a more intuitive, geometric lens.</a:t>
            </a:r>
          </a:p>
          <a:p>
            <a:r>
              <a:rPr lang="en-US" dirty="0"/>
              <a:t>Earlier, we explored the algebraic version. Now, let’s visualize what it really means. </a:t>
            </a:r>
          </a:p>
          <a:p>
            <a:endParaRPr lang="en-US" dirty="0"/>
          </a:p>
          <a:p>
            <a:r>
              <a:rPr lang="en-US" dirty="0"/>
              <a:t>Imagine two vectors, A and B, drawn as arrows in space. The inner product between them — also called the dot product — can be expressed as:</a:t>
            </a:r>
          </a:p>
          <a:p>
            <a:br>
              <a:rPr lang="en-US" dirty="0"/>
            </a:br>
            <a:r>
              <a:rPr lang="en-US" dirty="0"/>
              <a:t>A dot B equals norm of A times norm of B times cosine of the angle theta between them.</a:t>
            </a:r>
          </a:p>
          <a:p>
            <a:r>
              <a:rPr lang="en-US" dirty="0"/>
              <a:t>Now, keep in mind: cosine theta is always between minus one and plus one. So unless theta is exactly zero degrees — which means the vectors are pointing in the exact same direction — the inner product is always strictly less than the product of the magnitudes. That’s why the inequality holds.</a:t>
            </a:r>
          </a:p>
          <a:p>
            <a:r>
              <a:rPr lang="en-US" dirty="0"/>
              <a:t>But what about equality? </a:t>
            </a:r>
          </a:p>
          <a:p>
            <a:endParaRPr lang="en-US" dirty="0"/>
          </a:p>
          <a:p>
            <a:r>
              <a:rPr lang="en-US" dirty="0"/>
              <a:t>Well, equality happens when cosine theta is equal to one. In other words, when theta equals zero. Geometrically, that means vector A lies perfectly along the line defined by vector B. One vector is simply a scaled version of the other.</a:t>
            </a:r>
          </a:p>
          <a:p>
            <a:endParaRPr lang="en-US" dirty="0"/>
          </a:p>
          <a:p>
            <a:r>
              <a:rPr lang="en-US" dirty="0"/>
              <a:t>In mathematical terms, we say:</a:t>
            </a:r>
            <a:br>
              <a:rPr lang="en-US" dirty="0"/>
            </a:br>
            <a:r>
              <a:rPr lang="en-US" dirty="0"/>
              <a:t>bi divided by ai equals c, for all values of </a:t>
            </a:r>
            <a:r>
              <a:rPr lang="en-US" dirty="0" err="1"/>
              <a:t>i</a:t>
            </a:r>
            <a:r>
              <a:rPr lang="en-US" dirty="0"/>
              <a:t>.</a:t>
            </a:r>
          </a:p>
          <a:p>
            <a:br>
              <a:rPr lang="en-US" dirty="0"/>
            </a:br>
            <a:r>
              <a:rPr lang="en-US" dirty="0"/>
              <a:t>This means each component of B is a constant multiple of the corresponding component of A.</a:t>
            </a:r>
          </a:p>
          <a:p>
            <a:r>
              <a:rPr lang="en-US" dirty="0"/>
              <a:t>That constant, c, tells us how much we stretch or shrink vector A to get to vector B. When that relationship holds for every component, the two vectors are not only aligned — they are perfectly aligned, differing only in length.</a:t>
            </a:r>
          </a:p>
          <a:p>
            <a:r>
              <a:rPr lang="en-US" dirty="0"/>
              <a:t>This concept is extremely useful in signal processing. Take matched filtering, for example. Imagine you transmit a radar pulse. That pulse travels, reflects off an object — say, an airplane — and comes back. Because of factors like distance or material type, the return signal may be delayed or weakened, but its shape stays the same.</a:t>
            </a:r>
          </a:p>
          <a:p>
            <a:endParaRPr lang="en-US" dirty="0"/>
          </a:p>
          <a:p>
            <a:r>
              <a:rPr lang="en-US" dirty="0"/>
              <a:t>So how do we detect it?</a:t>
            </a:r>
          </a:p>
          <a:p>
            <a:r>
              <a:rPr lang="en-US" dirty="0"/>
              <a:t>We use cross-correlation. That means we slide the known signal over the incoming data and measure how similar they are. When the alignment is strongest — that is, when the cross-correlation reaches its peak — the two signals are most similar in shape.</a:t>
            </a:r>
          </a:p>
          <a:p>
            <a:r>
              <a:rPr lang="en-US" dirty="0"/>
              <a:t>This is where the Cauchy–Schwarz inequality comes in. When two signals align perfectly, their inner product is maximized. Cosine theta approaches one. That tells us: these vectors — or signals — are almost perfectly matched.</a:t>
            </a:r>
          </a:p>
          <a:p>
            <a:endParaRPr lang="en-US" dirty="0"/>
          </a:p>
          <a:p>
            <a:r>
              <a:rPr lang="en-US" dirty="0"/>
              <a:t>So this triangle diagram isn't just a piece of geometry. It’s a powerful mental image that shows how the inner product captures alignment. And equality — the case when the inequality becomes an equality — only happens when vectors point exactly in the same direction. Whether you're in two dimensions, three dimensions, or even much higher-dimensional space — the story remains the same.</a:t>
            </a:r>
          </a:p>
          <a:p>
            <a:r>
              <a:rPr lang="en-US" dirty="0"/>
              <a:t>That’s the geometric heart of the Cauchy–Schwarz inequality.</a:t>
            </a:r>
          </a:p>
        </p:txBody>
      </p:sp>
      <p:sp>
        <p:nvSpPr>
          <p:cNvPr id="4" name="Slide Number Placeholder 3"/>
          <p:cNvSpPr>
            <a:spLocks noGrp="1"/>
          </p:cNvSpPr>
          <p:nvPr>
            <p:ph type="sldNum" sz="quarter" idx="5"/>
          </p:nvPr>
        </p:nvSpPr>
        <p:spPr/>
        <p:txBody>
          <a:bodyPr/>
          <a:lstStyle/>
          <a:p>
            <a:fld id="{9F30534E-9FB8-46AE-8E3B-5675B268AE6A}" type="slidenum">
              <a:rPr lang="en-US" smtClean="0"/>
              <a:pPr/>
              <a:t>8</a:t>
            </a:fld>
            <a:endParaRPr lang="en-US"/>
          </a:p>
        </p:txBody>
      </p:sp>
    </p:spTree>
    <p:extLst>
      <p:ext uri="{BB962C8B-B14F-4D97-AF65-F5344CB8AC3E}">
        <p14:creationId xmlns:p14="http://schemas.microsoft.com/office/powerpoint/2010/main" val="2482753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take everything we’ve learned so far and generalize it to </a:t>
            </a:r>
            <a:r>
              <a:rPr lang="en-US" b="1" dirty="0"/>
              <a:t>n-dimensional space</a:t>
            </a:r>
            <a:r>
              <a:rPr lang="en-US" dirty="0"/>
              <a:t> — what we call “R n,” or more formally, </a:t>
            </a:r>
            <a:r>
              <a:rPr lang="en-US" b="1" dirty="0"/>
              <a:t>R superscript n</a:t>
            </a:r>
            <a:r>
              <a:rPr lang="en-US" dirty="0"/>
              <a:t>.</a:t>
            </a:r>
          </a:p>
          <a:p>
            <a:r>
              <a:rPr lang="en-US" dirty="0"/>
              <a:t>Suppose we have two vectors:</a:t>
            </a:r>
            <a:br>
              <a:rPr lang="en-US" dirty="0"/>
            </a:br>
            <a:r>
              <a:rPr lang="en-US" b="1" dirty="0"/>
              <a:t>Vector V</a:t>
            </a:r>
            <a:r>
              <a:rPr lang="en-US" dirty="0"/>
              <a:t> has components </a:t>
            </a:r>
            <a:r>
              <a:rPr lang="en-US" i="1" dirty="0"/>
              <a:t>v </a:t>
            </a:r>
            <a:r>
              <a:rPr lang="en-US" i="1" dirty="0" err="1"/>
              <a:t>i</a:t>
            </a:r>
            <a:r>
              <a:rPr lang="en-US" dirty="0"/>
              <a:t>,</a:t>
            </a:r>
            <a:br>
              <a:rPr lang="en-US" dirty="0"/>
            </a:br>
            <a:r>
              <a:rPr lang="en-US" dirty="0"/>
              <a:t>and </a:t>
            </a:r>
            <a:r>
              <a:rPr lang="en-US" b="1" dirty="0"/>
              <a:t>vector W</a:t>
            </a:r>
            <a:r>
              <a:rPr lang="en-US" dirty="0"/>
              <a:t> has components </a:t>
            </a:r>
            <a:r>
              <a:rPr lang="en-US" i="1" dirty="0"/>
              <a:t>w </a:t>
            </a:r>
            <a:r>
              <a:rPr lang="en-US" i="1" dirty="0" err="1"/>
              <a:t>i</a:t>
            </a:r>
            <a:r>
              <a:rPr lang="en-US" dirty="0"/>
              <a:t>.</a:t>
            </a:r>
          </a:p>
          <a:p>
            <a:endParaRPr lang="en-US" dirty="0"/>
          </a:p>
          <a:p>
            <a:r>
              <a:rPr lang="en-US" dirty="0"/>
              <a:t>These indices — the little </a:t>
            </a:r>
            <a:r>
              <a:rPr lang="en-US" i="1" dirty="0" err="1"/>
              <a:t>i</a:t>
            </a:r>
            <a:r>
              <a:rPr lang="en-US" dirty="0"/>
              <a:t> — run from 1 to </a:t>
            </a:r>
            <a:r>
              <a:rPr lang="en-US" i="1" dirty="0"/>
              <a:t>n</a:t>
            </a:r>
            <a:r>
              <a:rPr lang="en-US" dirty="0"/>
              <a:t>, where </a:t>
            </a:r>
            <a:r>
              <a:rPr lang="en-US" i="1" dirty="0"/>
              <a:t>n</a:t>
            </a:r>
            <a:r>
              <a:rPr lang="en-US" dirty="0"/>
              <a:t> is the number of dimensions.</a:t>
            </a:r>
            <a:br>
              <a:rPr lang="en-US" dirty="0"/>
            </a:br>
            <a:r>
              <a:rPr lang="en-US" dirty="0"/>
              <a:t>So V and W are points in high-dimensional space.</a:t>
            </a:r>
            <a:br>
              <a:rPr lang="en-US" dirty="0"/>
            </a:br>
            <a:r>
              <a:rPr lang="en-US" dirty="0"/>
              <a:t>But just like in two or three dimensions, we can still calculate the distance between them.</a:t>
            </a:r>
          </a:p>
          <a:p>
            <a:endParaRPr lang="en-US" dirty="0"/>
          </a:p>
          <a:p>
            <a:r>
              <a:rPr lang="en-US" dirty="0"/>
              <a:t>That distance is given by this formula:</a:t>
            </a:r>
            <a:br>
              <a:rPr lang="en-US" dirty="0"/>
            </a:br>
            <a:r>
              <a:rPr lang="en-US" b="1" dirty="0"/>
              <a:t>D squared of V and W</a:t>
            </a:r>
            <a:r>
              <a:rPr lang="en-US" dirty="0"/>
              <a:t> equals the sum over </a:t>
            </a:r>
            <a:r>
              <a:rPr lang="en-US" i="1" dirty="0" err="1"/>
              <a:t>i</a:t>
            </a:r>
            <a:r>
              <a:rPr lang="en-US" dirty="0"/>
              <a:t> of </a:t>
            </a:r>
            <a:r>
              <a:rPr lang="en-US" b="1" dirty="0"/>
              <a:t>v </a:t>
            </a:r>
            <a:r>
              <a:rPr lang="en-US" b="1" dirty="0" err="1"/>
              <a:t>i</a:t>
            </a:r>
            <a:r>
              <a:rPr lang="en-US" b="1" dirty="0"/>
              <a:t> minus w </a:t>
            </a:r>
            <a:r>
              <a:rPr lang="en-US" b="1" dirty="0" err="1"/>
              <a:t>i</a:t>
            </a:r>
            <a:r>
              <a:rPr lang="en-US" dirty="0"/>
              <a:t>, squared.</a:t>
            </a:r>
          </a:p>
          <a:p>
            <a:r>
              <a:rPr lang="en-US" dirty="0"/>
              <a:t>This is just a generalization of the Pythagorean theorem.</a:t>
            </a:r>
          </a:p>
          <a:p>
            <a:br>
              <a:rPr lang="en-US" dirty="0"/>
            </a:br>
            <a:r>
              <a:rPr lang="en-US" dirty="0"/>
              <a:t>In two dimensions, it gives the diagonal of a square.</a:t>
            </a:r>
            <a:br>
              <a:rPr lang="en-US" dirty="0"/>
            </a:br>
            <a:r>
              <a:rPr lang="en-US" dirty="0"/>
              <a:t>In three dimensions, it gives the diagonal of a cube.</a:t>
            </a:r>
            <a:br>
              <a:rPr lang="en-US" dirty="0"/>
            </a:br>
            <a:r>
              <a:rPr lang="en-US" dirty="0"/>
              <a:t>In </a:t>
            </a:r>
            <a:r>
              <a:rPr lang="en-US" i="1" dirty="0"/>
              <a:t>n</a:t>
            </a:r>
            <a:r>
              <a:rPr lang="en-US" dirty="0"/>
              <a:t> dimensions, it gives the straight-line — or </a:t>
            </a:r>
            <a:r>
              <a:rPr lang="en-US" b="1" dirty="0"/>
              <a:t>Euclidean</a:t>
            </a:r>
            <a:r>
              <a:rPr lang="en-US" dirty="0"/>
              <a:t> — distance between two points.</a:t>
            </a:r>
          </a:p>
          <a:p>
            <a:endParaRPr lang="en-US" dirty="0"/>
          </a:p>
          <a:p>
            <a:r>
              <a:rPr lang="en-US" dirty="0"/>
              <a:t>Next, let’s talk about </a:t>
            </a:r>
            <a:r>
              <a:rPr lang="en-US" b="1" dirty="0"/>
              <a:t>projection</a:t>
            </a:r>
            <a:r>
              <a:rPr lang="en-US" dirty="0"/>
              <a:t> — projecting one vector onto the line defined by the other.</a:t>
            </a:r>
            <a:br>
              <a:rPr lang="en-US" dirty="0"/>
            </a:br>
            <a:r>
              <a:rPr lang="en-US" dirty="0"/>
              <a:t>For instance, we can project vector V onto the direction of vector W.</a:t>
            </a:r>
            <a:br>
              <a:rPr lang="en-US" dirty="0"/>
            </a:br>
            <a:r>
              <a:rPr lang="en-US" dirty="0"/>
              <a:t>To do this, we find the scalar value </a:t>
            </a:r>
            <a:r>
              <a:rPr lang="en-US" i="1" dirty="0"/>
              <a:t>k</a:t>
            </a:r>
            <a:r>
              <a:rPr lang="en-US" dirty="0"/>
              <a:t> that minimizes the distance between V and the scaled version of W.</a:t>
            </a:r>
          </a:p>
          <a:p>
            <a:r>
              <a:rPr lang="en-US" dirty="0"/>
              <a:t>Mathematically, that means minimizing the squared distance —</a:t>
            </a:r>
            <a:br>
              <a:rPr lang="en-US" dirty="0"/>
            </a:br>
            <a:r>
              <a:rPr lang="en-US" dirty="0"/>
              <a:t>the sum over </a:t>
            </a:r>
            <a:r>
              <a:rPr lang="en-US" i="1" dirty="0" err="1"/>
              <a:t>i</a:t>
            </a:r>
            <a:r>
              <a:rPr lang="en-US" dirty="0"/>
              <a:t> of </a:t>
            </a:r>
            <a:r>
              <a:rPr lang="en-US" b="1" dirty="0"/>
              <a:t>v </a:t>
            </a:r>
            <a:r>
              <a:rPr lang="en-US" b="1" dirty="0" err="1"/>
              <a:t>i</a:t>
            </a:r>
            <a:r>
              <a:rPr lang="en-US" b="1" dirty="0"/>
              <a:t> minus k times w </a:t>
            </a:r>
            <a:r>
              <a:rPr lang="en-US" b="1" dirty="0" err="1"/>
              <a:t>i</a:t>
            </a:r>
            <a:r>
              <a:rPr lang="en-US" dirty="0"/>
              <a:t>, squared.</a:t>
            </a:r>
          </a:p>
          <a:p>
            <a:endParaRPr lang="en-US" dirty="0"/>
          </a:p>
          <a:p>
            <a:r>
              <a:rPr lang="en-US" dirty="0"/>
              <a:t>The optimal value of </a:t>
            </a:r>
            <a:r>
              <a:rPr lang="en-US" i="1" dirty="0"/>
              <a:t>k</a:t>
            </a:r>
            <a:r>
              <a:rPr lang="en-US" dirty="0"/>
              <a:t> — the one that minimizes that distance — is given by:</a:t>
            </a:r>
            <a:br>
              <a:rPr lang="en-US" dirty="0"/>
            </a:br>
            <a:r>
              <a:rPr lang="en-US" b="1" dirty="0"/>
              <a:t>k equals V dot W, over the norm of W squared</a:t>
            </a:r>
            <a:r>
              <a:rPr lang="en-US" dirty="0"/>
              <a:t>.</a:t>
            </a:r>
          </a:p>
          <a:p>
            <a:r>
              <a:rPr lang="en-US" dirty="0"/>
              <a:t>This result comes directly from taking the derivative of the squared distance with respect to </a:t>
            </a:r>
            <a:r>
              <a:rPr lang="en-US" i="1" dirty="0"/>
              <a:t>k</a:t>
            </a:r>
            <a:r>
              <a:rPr lang="en-US" dirty="0"/>
              <a:t>,</a:t>
            </a:r>
            <a:br>
              <a:rPr lang="en-US" dirty="0"/>
            </a:br>
            <a:r>
              <a:rPr lang="en-US" dirty="0"/>
              <a:t>setting it equal to zero, and solving.</a:t>
            </a:r>
            <a:br>
              <a:rPr lang="en-US" dirty="0"/>
            </a:br>
            <a:r>
              <a:rPr lang="en-US" dirty="0"/>
              <a:t>And look what appears naturally in the formula: the </a:t>
            </a:r>
            <a:r>
              <a:rPr lang="en-US" b="1" dirty="0"/>
              <a:t>dot product</a:t>
            </a:r>
            <a:r>
              <a:rPr lang="en-US" dirty="0"/>
              <a:t>, or </a:t>
            </a:r>
            <a:r>
              <a:rPr lang="en-US" b="1" dirty="0"/>
              <a:t>inner product</a:t>
            </a:r>
            <a:r>
              <a:rPr lang="en-US" dirty="0"/>
              <a:t>.</a:t>
            </a:r>
            <a:br>
              <a:rPr lang="en-US" dirty="0"/>
            </a:br>
            <a:r>
              <a:rPr lang="en-US" dirty="0"/>
              <a:t>So this isn’t a random definition — it’s rooted in geometry.</a:t>
            </a:r>
          </a:p>
          <a:p>
            <a:r>
              <a:rPr lang="en-US" dirty="0"/>
              <a:t>That brings us to another essential concept: </a:t>
            </a:r>
            <a:r>
              <a:rPr lang="en-US" b="1" dirty="0"/>
              <a:t>angle and orthogonality</a:t>
            </a:r>
            <a:r>
              <a:rPr lang="en-US" dirty="0"/>
              <a:t>.</a:t>
            </a:r>
          </a:p>
          <a:p>
            <a:endParaRPr lang="en-US" dirty="0"/>
          </a:p>
          <a:p>
            <a:r>
              <a:rPr lang="en-US" dirty="0"/>
              <a:t>We can also express the inner product as:</a:t>
            </a:r>
            <a:br>
              <a:rPr lang="en-US" dirty="0"/>
            </a:br>
            <a:r>
              <a:rPr lang="en-US" b="1" dirty="0"/>
              <a:t>V dot W equals norm of V times norm of W times cosine theta</a:t>
            </a:r>
            <a:r>
              <a:rPr lang="en-US" dirty="0"/>
              <a:t> —</a:t>
            </a:r>
            <a:br>
              <a:rPr lang="en-US" dirty="0"/>
            </a:br>
            <a:r>
              <a:rPr lang="en-US" dirty="0"/>
              <a:t>where </a:t>
            </a:r>
            <a:r>
              <a:rPr lang="en-US" i="1" dirty="0"/>
              <a:t>theta</a:t>
            </a:r>
            <a:r>
              <a:rPr lang="en-US" dirty="0"/>
              <a:t> is the angle between the two vectors.</a:t>
            </a:r>
          </a:p>
          <a:p>
            <a:r>
              <a:rPr lang="en-US" dirty="0"/>
              <a:t>So when </a:t>
            </a:r>
            <a:r>
              <a:rPr lang="en-US" i="1" dirty="0"/>
              <a:t>theta</a:t>
            </a:r>
            <a:r>
              <a:rPr lang="en-US" dirty="0"/>
              <a:t> equals 90 degrees, cosine </a:t>
            </a:r>
            <a:r>
              <a:rPr lang="en-US" i="1" dirty="0"/>
              <a:t>theta</a:t>
            </a:r>
            <a:r>
              <a:rPr lang="en-US" dirty="0"/>
              <a:t> is zero, and the inner product is zero.</a:t>
            </a:r>
            <a:br>
              <a:rPr lang="en-US" dirty="0"/>
            </a:br>
            <a:r>
              <a:rPr lang="en-US" dirty="0"/>
              <a:t>That’s the condition for </a:t>
            </a:r>
            <a:r>
              <a:rPr lang="en-US" b="1" dirty="0"/>
              <a:t>orthogonality</a:t>
            </a:r>
            <a:r>
              <a:rPr lang="en-US" dirty="0"/>
              <a:t> — when vectors are perpendicular.</a:t>
            </a:r>
          </a:p>
          <a:p>
            <a:endParaRPr lang="en-US" dirty="0"/>
          </a:p>
          <a:p>
            <a:r>
              <a:rPr lang="en-US" dirty="0"/>
              <a:t>Even in R n — in any number of dimensions — the inner product continues to define </a:t>
            </a:r>
            <a:r>
              <a:rPr lang="en-US" b="1" dirty="0"/>
              <a:t>distance</a:t>
            </a:r>
            <a:r>
              <a:rPr lang="en-US" dirty="0"/>
              <a:t>, </a:t>
            </a:r>
            <a:r>
              <a:rPr lang="en-US" b="1" dirty="0"/>
              <a:t>projection</a:t>
            </a:r>
            <a:r>
              <a:rPr lang="en-US" dirty="0"/>
              <a:t>, </a:t>
            </a:r>
            <a:r>
              <a:rPr lang="en-US" b="1" dirty="0"/>
              <a:t>angle</a:t>
            </a:r>
            <a:r>
              <a:rPr lang="en-US" dirty="0"/>
              <a:t>, and </a:t>
            </a:r>
            <a:r>
              <a:rPr lang="en-US" b="1" dirty="0"/>
              <a:t>orthogonality</a:t>
            </a:r>
            <a:r>
              <a:rPr lang="en-US" dirty="0"/>
              <a:t>.</a:t>
            </a:r>
            <a:br>
              <a:rPr lang="en-US" dirty="0"/>
            </a:br>
            <a:r>
              <a:rPr lang="en-US" dirty="0"/>
              <a:t>These aren’t just abstract mathematical ideas.</a:t>
            </a:r>
            <a:br>
              <a:rPr lang="en-US" dirty="0"/>
            </a:br>
            <a:r>
              <a:rPr lang="en-US" dirty="0"/>
              <a:t>They are the foundation for understanding how high-dimensional geometry works.</a:t>
            </a:r>
            <a:br>
              <a:rPr lang="en-US" dirty="0"/>
            </a:br>
            <a:r>
              <a:rPr lang="en-US" dirty="0"/>
              <a:t>And they’re essential tools in areas like </a:t>
            </a:r>
            <a:r>
              <a:rPr lang="en-US" b="1" dirty="0"/>
              <a:t>signal analysis</a:t>
            </a:r>
            <a:r>
              <a:rPr lang="en-US" dirty="0"/>
              <a:t>, </a:t>
            </a:r>
            <a:r>
              <a:rPr lang="en-US" b="1" dirty="0"/>
              <a:t>data science</a:t>
            </a:r>
            <a:r>
              <a:rPr lang="en-US" dirty="0"/>
              <a:t>, and </a:t>
            </a:r>
            <a:r>
              <a:rPr lang="en-US" b="1" dirty="0"/>
              <a:t>machine learning</a:t>
            </a:r>
            <a:r>
              <a:rPr lang="en-US" dirty="0"/>
              <a:t>.</a:t>
            </a:r>
          </a:p>
          <a:p>
            <a:r>
              <a:rPr lang="en-US" dirty="0"/>
              <a:t>Finally, don’t forget about </a:t>
            </a:r>
            <a:r>
              <a:rPr lang="en-US" b="1" dirty="0"/>
              <a:t>basis and dimensionality</a:t>
            </a:r>
            <a:r>
              <a:rPr lang="en-US" dirty="0"/>
              <a:t>.</a:t>
            </a:r>
          </a:p>
          <a:p>
            <a:br>
              <a:rPr lang="en-US" dirty="0"/>
            </a:br>
            <a:r>
              <a:rPr lang="en-US" dirty="0"/>
              <a:t>In two dimensions, you need two basis vectors — usually along the x and y axes.</a:t>
            </a:r>
            <a:br>
              <a:rPr lang="en-US" dirty="0"/>
            </a:br>
            <a:r>
              <a:rPr lang="en-US" dirty="0"/>
              <a:t>In </a:t>
            </a:r>
            <a:r>
              <a:rPr lang="en-US" i="1" dirty="0"/>
              <a:t>n</a:t>
            </a:r>
            <a:r>
              <a:rPr lang="en-US" dirty="0"/>
              <a:t>-dimensional space, you need </a:t>
            </a:r>
            <a:r>
              <a:rPr lang="en-US" i="1" dirty="0"/>
              <a:t>n</a:t>
            </a:r>
            <a:r>
              <a:rPr lang="en-US" dirty="0"/>
              <a:t> basis vectors to describe any direction or position fully.</a:t>
            </a:r>
          </a:p>
          <a:p>
            <a:r>
              <a:rPr lang="en-US" dirty="0"/>
              <a:t>And in our upcoming discussion of </a:t>
            </a:r>
            <a:r>
              <a:rPr lang="en-US" b="1" dirty="0"/>
              <a:t>Fourier series</a:t>
            </a:r>
            <a:r>
              <a:rPr lang="en-US" dirty="0"/>
              <a:t>, we’ll see how basis functions let us express complex signals as combinations of simple building blocks — just like coordinates in R n.</a:t>
            </a:r>
          </a:p>
        </p:txBody>
      </p:sp>
      <p:sp>
        <p:nvSpPr>
          <p:cNvPr id="4" name="Slide Number Placeholder 3"/>
          <p:cNvSpPr>
            <a:spLocks noGrp="1"/>
          </p:cNvSpPr>
          <p:nvPr>
            <p:ph type="sldNum" sz="quarter" idx="10"/>
          </p:nvPr>
        </p:nvSpPr>
        <p:spPr/>
        <p:txBody>
          <a:bodyPr/>
          <a:lstStyle/>
          <a:p>
            <a:fld id="{9F30534E-9FB8-46AE-8E3B-5675B268AE6A}" type="slidenum">
              <a:rPr lang="en-US" smtClean="0"/>
              <a:pPr/>
              <a:t>9</a:t>
            </a:fld>
            <a:endParaRPr lang="en-US"/>
          </a:p>
        </p:txBody>
      </p:sp>
    </p:spTree>
    <p:extLst>
      <p:ext uri="{BB962C8B-B14F-4D97-AF65-F5344CB8AC3E}">
        <p14:creationId xmlns:p14="http://schemas.microsoft.com/office/powerpoint/2010/main" val="2999472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focus on a familiar and intuitive case — three-dimensional space.</a:t>
            </a:r>
            <a:br>
              <a:rPr lang="en-US" dirty="0"/>
            </a:br>
            <a:r>
              <a:rPr lang="en-US" dirty="0"/>
              <a:t>This diagram provides a clear geometric visualization that many of you have likely encountered before.</a:t>
            </a:r>
          </a:p>
          <a:p>
            <a:r>
              <a:rPr lang="en-US" dirty="0"/>
              <a:t>We’re looking at a vector — let’s call it vector A — situated in three-dimensional space.</a:t>
            </a:r>
            <a:br>
              <a:rPr lang="en-US" dirty="0"/>
            </a:br>
            <a:r>
              <a:rPr lang="en-US" dirty="0"/>
              <a:t>You can think of vector A as an arrow pointing from the origin to some point in space.</a:t>
            </a:r>
            <a:br>
              <a:rPr lang="en-US" dirty="0"/>
            </a:br>
            <a:endParaRPr lang="en-US" dirty="0"/>
          </a:p>
          <a:p>
            <a:r>
              <a:rPr lang="en-US" dirty="0"/>
              <a:t>Alternatively, you can think of it simply as a collection of coordinates.</a:t>
            </a:r>
          </a:p>
          <a:p>
            <a:r>
              <a:rPr lang="en-US" dirty="0"/>
              <a:t>Either way, vector A is completely described by its three components —</a:t>
            </a:r>
            <a:br>
              <a:rPr lang="en-US" dirty="0"/>
            </a:br>
            <a:r>
              <a:rPr lang="en-US" dirty="0"/>
              <a:t>x A, y A, and z A —</a:t>
            </a:r>
            <a:br>
              <a:rPr lang="en-US" dirty="0"/>
            </a:br>
            <a:r>
              <a:rPr lang="en-US" dirty="0"/>
              <a:t>which correspond to its projections along the x, y, and z axes.</a:t>
            </a:r>
          </a:p>
          <a:p>
            <a:endParaRPr lang="en-US" dirty="0"/>
          </a:p>
          <a:p>
            <a:r>
              <a:rPr lang="en-US" dirty="0"/>
              <a:t>Now, here’s the key idea:</a:t>
            </a:r>
            <a:br>
              <a:rPr lang="en-US" dirty="0"/>
            </a:br>
            <a:r>
              <a:rPr lang="en-US" dirty="0"/>
              <a:t>Each of these components represents how much vector A "points" in the direction of one of the coordinate axes.</a:t>
            </a:r>
          </a:p>
          <a:p>
            <a:r>
              <a:rPr lang="en-US" dirty="0"/>
              <a:t>If you project vector A onto the x-axis, you get x A.</a:t>
            </a:r>
            <a:br>
              <a:rPr lang="en-US" dirty="0"/>
            </a:br>
            <a:r>
              <a:rPr lang="en-US" dirty="0"/>
              <a:t>Project it onto the y-axis, and you get y A.</a:t>
            </a:r>
            <a:br>
              <a:rPr lang="en-US" dirty="0"/>
            </a:br>
            <a:r>
              <a:rPr lang="en-US" dirty="0"/>
              <a:t>Project it onto the z-axis, and you get z A.</a:t>
            </a:r>
          </a:p>
          <a:p>
            <a:r>
              <a:rPr lang="en-US" dirty="0"/>
              <a:t>This method of description is based on an </a:t>
            </a:r>
            <a:r>
              <a:rPr lang="en-US" b="1" dirty="0"/>
              <a:t>orthogonal basis</a:t>
            </a:r>
            <a:r>
              <a:rPr lang="en-US" dirty="0"/>
              <a:t>,</a:t>
            </a:r>
            <a:br>
              <a:rPr lang="en-US" dirty="0"/>
            </a:br>
            <a:r>
              <a:rPr lang="en-US" dirty="0"/>
              <a:t>which simply means the axes are all perpendicular to each other —</a:t>
            </a:r>
            <a:br>
              <a:rPr lang="en-US" dirty="0"/>
            </a:br>
            <a:r>
              <a:rPr lang="en-US" dirty="0"/>
              <a:t>at right angles.</a:t>
            </a:r>
          </a:p>
          <a:p>
            <a:r>
              <a:rPr lang="en-US" dirty="0"/>
              <a:t>And here’s the important part:</a:t>
            </a:r>
            <a:br>
              <a:rPr lang="en-US" dirty="0"/>
            </a:br>
            <a:r>
              <a:rPr lang="en-US" dirty="0"/>
              <a:t>If you know x A, y A, and z A,</a:t>
            </a:r>
            <a:br>
              <a:rPr lang="en-US" dirty="0"/>
            </a:br>
            <a:r>
              <a:rPr lang="en-US" dirty="0"/>
              <a:t>you have everything you need to reconstruct the entire vector A.</a:t>
            </a:r>
          </a:p>
          <a:p>
            <a:r>
              <a:rPr lang="en-US" dirty="0"/>
              <a:t>That’s because vector A is just the sum of its three projections —</a:t>
            </a:r>
            <a:br>
              <a:rPr lang="en-US" dirty="0"/>
            </a:br>
            <a:r>
              <a:rPr lang="en-US" dirty="0"/>
              <a:t>each one scaled by a unit vector in the x, y, or z direction.</a:t>
            </a:r>
          </a:p>
          <a:p>
            <a:endParaRPr lang="en-US" dirty="0"/>
          </a:p>
          <a:p>
            <a:r>
              <a:rPr lang="en-US" dirty="0"/>
              <a:t>Mathematically, we write:</a:t>
            </a:r>
            <a:br>
              <a:rPr lang="en-US" dirty="0"/>
            </a:br>
            <a:r>
              <a:rPr lang="en-US" dirty="0"/>
              <a:t>vector A equals</a:t>
            </a:r>
            <a:br>
              <a:rPr lang="en-US" dirty="0"/>
            </a:br>
            <a:r>
              <a:rPr lang="en-US" dirty="0"/>
              <a:t>x A times </a:t>
            </a:r>
            <a:r>
              <a:rPr lang="en-US" dirty="0" err="1"/>
              <a:t>i</a:t>
            </a:r>
            <a:r>
              <a:rPr lang="en-US" dirty="0"/>
              <a:t>-hat,</a:t>
            </a:r>
            <a:br>
              <a:rPr lang="en-US" dirty="0"/>
            </a:br>
            <a:r>
              <a:rPr lang="en-US" dirty="0"/>
              <a:t>plus y A times j-hat,</a:t>
            </a:r>
            <a:br>
              <a:rPr lang="en-US" dirty="0"/>
            </a:br>
            <a:r>
              <a:rPr lang="en-US" dirty="0"/>
              <a:t>plus z A times k-hat.</a:t>
            </a:r>
          </a:p>
          <a:p>
            <a:r>
              <a:rPr lang="en-US" dirty="0"/>
              <a:t>Here, </a:t>
            </a:r>
            <a:r>
              <a:rPr lang="en-US" dirty="0" err="1"/>
              <a:t>i</a:t>
            </a:r>
            <a:r>
              <a:rPr lang="en-US" dirty="0"/>
              <a:t>-hat is the unit vector along the x-axis,</a:t>
            </a:r>
            <a:br>
              <a:rPr lang="en-US" dirty="0"/>
            </a:br>
            <a:r>
              <a:rPr lang="en-US" dirty="0"/>
              <a:t>j-hat is the unit vector along the y-axis,</a:t>
            </a:r>
            <a:br>
              <a:rPr lang="en-US" dirty="0"/>
            </a:br>
            <a:r>
              <a:rPr lang="en-US" dirty="0"/>
              <a:t>and k-hat is the unit vector along the z-axis.</a:t>
            </a:r>
          </a:p>
          <a:p>
            <a:r>
              <a:rPr lang="en-US" dirty="0"/>
              <a:t>This idea generalizes beautifully to higher dimensions.</a:t>
            </a:r>
            <a:br>
              <a:rPr lang="en-US" dirty="0"/>
            </a:br>
            <a:r>
              <a:rPr lang="en-US" dirty="0"/>
              <a:t>Instead of working with x, y, and z,</a:t>
            </a:r>
            <a:br>
              <a:rPr lang="en-US" dirty="0"/>
            </a:br>
            <a:r>
              <a:rPr lang="en-US" dirty="0"/>
              <a:t>you’ll have more axes — more basis directions —</a:t>
            </a:r>
            <a:br>
              <a:rPr lang="en-US" dirty="0"/>
            </a:br>
            <a:r>
              <a:rPr lang="en-US" dirty="0"/>
              <a:t>but the principle stays the same.</a:t>
            </a:r>
          </a:p>
          <a:p>
            <a:r>
              <a:rPr lang="en-US" dirty="0"/>
              <a:t>And here’s where this becomes really exciting:</a:t>
            </a:r>
            <a:br>
              <a:rPr lang="en-US" dirty="0"/>
            </a:br>
            <a:endParaRPr lang="en-US" dirty="0"/>
          </a:p>
          <a:p>
            <a:r>
              <a:rPr lang="en-US" dirty="0"/>
              <a:t>In Fourier analysis, we do something very similar,</a:t>
            </a:r>
            <a:br>
              <a:rPr lang="en-US" dirty="0"/>
            </a:br>
            <a:r>
              <a:rPr lang="en-US" dirty="0"/>
              <a:t>but instead of projecting onto spatial axes,</a:t>
            </a:r>
            <a:br>
              <a:rPr lang="en-US" dirty="0"/>
            </a:br>
            <a:r>
              <a:rPr lang="en-US" dirty="0"/>
              <a:t>we project onto a set of basis functions —</a:t>
            </a:r>
            <a:br>
              <a:rPr lang="en-US" dirty="0"/>
            </a:br>
            <a:r>
              <a:rPr lang="en-US" dirty="0"/>
              <a:t>like sine and cosine waves.</a:t>
            </a:r>
          </a:p>
          <a:p>
            <a:r>
              <a:rPr lang="en-US" dirty="0"/>
              <a:t>So, what you’re seeing here in 3D</a:t>
            </a:r>
            <a:br>
              <a:rPr lang="en-US" dirty="0"/>
            </a:br>
            <a:r>
              <a:rPr lang="en-US" dirty="0"/>
              <a:t>is not just about vectors in space.</a:t>
            </a:r>
            <a:br>
              <a:rPr lang="en-US" dirty="0"/>
            </a:br>
            <a:r>
              <a:rPr lang="en-US" dirty="0"/>
              <a:t>It’s the same foundational idea that lets us</a:t>
            </a:r>
            <a:br>
              <a:rPr lang="en-US" dirty="0"/>
            </a:br>
            <a:r>
              <a:rPr lang="en-US" dirty="0"/>
              <a:t>analyze and reconstruct complex signals</a:t>
            </a:r>
            <a:br>
              <a:rPr lang="en-US" dirty="0"/>
            </a:br>
            <a:r>
              <a:rPr lang="en-US" dirty="0"/>
              <a:t>in the frequency domain.</a:t>
            </a:r>
          </a:p>
          <a:p>
            <a:r>
              <a:rPr lang="en-US" dirty="0"/>
              <a:t>Understanding this orthogonal representation</a:t>
            </a:r>
            <a:br>
              <a:rPr lang="en-US" dirty="0"/>
            </a:br>
            <a:r>
              <a:rPr lang="en-US" dirty="0"/>
              <a:t>sets us up perfectly for the world of Fourier series.</a:t>
            </a:r>
          </a:p>
        </p:txBody>
      </p:sp>
      <p:sp>
        <p:nvSpPr>
          <p:cNvPr id="4" name="Slide Number Placeholder 3"/>
          <p:cNvSpPr>
            <a:spLocks noGrp="1"/>
          </p:cNvSpPr>
          <p:nvPr>
            <p:ph type="sldNum" sz="quarter" idx="5"/>
          </p:nvPr>
        </p:nvSpPr>
        <p:spPr/>
        <p:txBody>
          <a:bodyPr/>
          <a:lstStyle/>
          <a:p>
            <a:fld id="{9F30534E-9FB8-46AE-8E3B-5675B268AE6A}" type="slidenum">
              <a:rPr lang="en-US" smtClean="0"/>
              <a:pPr/>
              <a:t>10</a:t>
            </a:fld>
            <a:endParaRPr lang="en-US"/>
          </a:p>
        </p:txBody>
      </p:sp>
    </p:spTree>
    <p:extLst>
      <p:ext uri="{BB962C8B-B14F-4D97-AF65-F5344CB8AC3E}">
        <p14:creationId xmlns:p14="http://schemas.microsoft.com/office/powerpoint/2010/main" val="1180034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Previously, we saw how a vector in three-dimensional space can be represented using its projections onto the x, y, and z axes. Now, let’s extend this same idea to n-dimensional space — using orthogonal basis vectors to represent any arbitrary vector.</a:t>
            </a:r>
          </a:p>
          <a:p>
            <a:br>
              <a:rPr lang="en-US" dirty="0"/>
            </a:br>
            <a:r>
              <a:rPr lang="en-US" dirty="0"/>
              <a:t>Let’s quickly review the 3D case first.</a:t>
            </a:r>
            <a:br>
              <a:rPr lang="en-US" dirty="0"/>
            </a:br>
            <a:r>
              <a:rPr lang="en-US" dirty="0"/>
              <a:t>We have three standard unit vectors: along the x-axis, e x equals the vector 1, 0, 0, along the y-axis, e y equals 0, 1, 0, and along the z-axis, e z equals 0, 0, 1.</a:t>
            </a:r>
            <a:br>
              <a:rPr lang="en-US" dirty="0"/>
            </a:br>
            <a:r>
              <a:rPr lang="en-US" dirty="0"/>
              <a:t>Any 3D vector — let’s say vector v — with components x, y, and z, can be written as a weighted sum of these basis vectors.</a:t>
            </a:r>
            <a:br>
              <a:rPr lang="en-US" dirty="0"/>
            </a:br>
            <a:r>
              <a:rPr lang="en-US" dirty="0"/>
              <a:t>So, we write: vector v equals v dot e x times e x, plus v dot e y times e y, plus v dot e z times e z.</a:t>
            </a:r>
            <a:br>
              <a:rPr lang="en-US" dirty="0"/>
            </a:br>
            <a:r>
              <a:rPr lang="en-US" dirty="0"/>
              <a:t>Each of these terms represents the projection of vector v onto one of the coordinate directions. Because our basis vectors are orthogonal and of unit length, we don’t need to normalize — the inner product directly gives us the component in that direction.</a:t>
            </a:r>
          </a:p>
          <a:p>
            <a:endParaRPr lang="en-US" dirty="0"/>
          </a:p>
          <a:p>
            <a:r>
              <a:rPr lang="en-US" dirty="0"/>
              <a:t>Now let’s generalize to n dimensions.</a:t>
            </a:r>
            <a:br>
              <a:rPr lang="en-US" dirty="0"/>
            </a:br>
            <a:r>
              <a:rPr lang="en-US" dirty="0"/>
              <a:t>Suppose we have a vector — we’ll call it vector W — that lives in n-dimensional space. We can express this vector as a linear combination of n orthonormal basis vectors, denoted as e n, where n runs from 1 to capital N.</a:t>
            </a:r>
            <a:br>
              <a:rPr lang="en-US" dirty="0"/>
            </a:br>
            <a:r>
              <a:rPr lang="en-US" dirty="0"/>
              <a:t>The formula looks like this: vector W equals the sum from n equals 1 to capital N of W dot e n times e n.</a:t>
            </a:r>
          </a:p>
          <a:p>
            <a:endParaRPr lang="en-US" dirty="0"/>
          </a:p>
          <a:p>
            <a:r>
              <a:rPr lang="en-US" dirty="0"/>
              <a:t>In words, for each basis direction e n, we project W onto that direction by computing the inner product W dot e n. That gives us the scalar coefficient for that direction. Then we scale e n by that coefficient and sum everything together.</a:t>
            </a:r>
            <a:br>
              <a:rPr lang="en-US" dirty="0"/>
            </a:br>
            <a:endParaRPr lang="en-US" dirty="0"/>
          </a:p>
          <a:p>
            <a:r>
              <a:rPr lang="en-US" dirty="0"/>
              <a:t>This is a very powerful idea: you can express any vector — no matter how high the dimension — as a sum of projections onto orthonormal basis vectors.</a:t>
            </a:r>
            <a:br>
              <a:rPr lang="en-US" dirty="0"/>
            </a:br>
            <a:r>
              <a:rPr lang="en-US" dirty="0"/>
              <a:t>And what’s even more powerful is that those basis vectors don’t have to be just the standard coordinate axes.</a:t>
            </a:r>
            <a:br>
              <a:rPr lang="en-US" dirty="0"/>
            </a:br>
            <a:r>
              <a:rPr lang="en-US" dirty="0"/>
              <a:t>They could be sine and cosine functions, as we use in Fourier series. Or they could be eigenvectors in principal component analysis. Or wavelets, or anything else — as long as they are orthonormal.</a:t>
            </a:r>
            <a:br>
              <a:rPr lang="en-US" dirty="0"/>
            </a:br>
            <a:r>
              <a:rPr lang="en-US" dirty="0"/>
              <a:t>So what we’ve described on this slide is the general framework of orthogonal representation in n-dimensional space. It’s the core mathematical idea that underpins many tools in signal processing, data analysis, and machine learning.</a:t>
            </a:r>
          </a:p>
        </p:txBody>
      </p:sp>
      <p:sp>
        <p:nvSpPr>
          <p:cNvPr id="4" name="Slide Number Placeholder 3"/>
          <p:cNvSpPr>
            <a:spLocks noGrp="1"/>
          </p:cNvSpPr>
          <p:nvPr>
            <p:ph type="sldNum" sz="quarter" idx="5"/>
          </p:nvPr>
        </p:nvSpPr>
        <p:spPr/>
        <p:txBody>
          <a:bodyPr/>
          <a:lstStyle/>
          <a:p>
            <a:fld id="{9F30534E-9FB8-46AE-8E3B-5675B268AE6A}" type="slidenum">
              <a:rPr lang="en-US" smtClean="0"/>
              <a:pPr/>
              <a:t>11</a:t>
            </a:fld>
            <a:endParaRPr lang="en-US"/>
          </a:p>
        </p:txBody>
      </p:sp>
    </p:spTree>
    <p:extLst>
      <p:ext uri="{BB962C8B-B14F-4D97-AF65-F5344CB8AC3E}">
        <p14:creationId xmlns:p14="http://schemas.microsoft.com/office/powerpoint/2010/main" val="853317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here’s a very important point — and one that’s often overlooked.</a:t>
            </a:r>
            <a:br>
              <a:rPr lang="en-US" dirty="0"/>
            </a:br>
            <a:r>
              <a:rPr lang="en-US" dirty="0"/>
              <a:t>A basis is not unique.</a:t>
            </a:r>
          </a:p>
          <a:p>
            <a:endParaRPr lang="en-US" dirty="0"/>
          </a:p>
          <a:p>
            <a:r>
              <a:rPr lang="en-US" dirty="0"/>
              <a:t>Let’s begin with a simple analogy in two-dimensional space.</a:t>
            </a:r>
            <a:br>
              <a:rPr lang="en-US" dirty="0"/>
            </a:br>
            <a:r>
              <a:rPr lang="en-US" dirty="0"/>
              <a:t>In most problems, we use the standard coordinate system — with one unit vector along the x-axis and one along the y-axis.</a:t>
            </a:r>
            <a:br>
              <a:rPr lang="en-US" dirty="0"/>
            </a:br>
            <a:r>
              <a:rPr lang="en-US" dirty="0"/>
              <a:t>In that system, the basis vectors are: 1, 0 for the x-direction, and 0, 1 for the y-direction.</a:t>
            </a:r>
          </a:p>
          <a:p>
            <a:r>
              <a:rPr lang="en-US" dirty="0"/>
              <a:t>But now imagine we rotate the coordinate system by some angle — let’s call it phi.</a:t>
            </a:r>
            <a:br>
              <a:rPr lang="en-US" dirty="0"/>
            </a:br>
            <a:endParaRPr lang="en-US" dirty="0"/>
          </a:p>
          <a:p>
            <a:r>
              <a:rPr lang="en-US" dirty="0"/>
              <a:t>After this rotation, we have a new set of axes — shown in red on the diagram.</a:t>
            </a:r>
            <a:br>
              <a:rPr lang="en-US" dirty="0"/>
            </a:br>
            <a:r>
              <a:rPr lang="en-US" dirty="0"/>
              <a:t>These new axes define a new basis, one that’s rotated by the angle phi.</a:t>
            </a:r>
            <a:br>
              <a:rPr lang="en-US" dirty="0"/>
            </a:br>
            <a:r>
              <a:rPr lang="en-US" dirty="0"/>
              <a:t>And here’s the key: this rotated basis is just as valid as the original one.</a:t>
            </a:r>
          </a:p>
          <a:p>
            <a:r>
              <a:rPr lang="en-US" dirty="0"/>
              <a:t>Every point in the plane can still be represented using the new basis.</a:t>
            </a:r>
            <a:br>
              <a:rPr lang="en-US" dirty="0"/>
            </a:br>
            <a:r>
              <a:rPr lang="en-US" dirty="0"/>
              <a:t>The point hasn’t moved — only the coordinate system has changed.</a:t>
            </a:r>
            <a:br>
              <a:rPr lang="en-US" dirty="0"/>
            </a:br>
            <a:r>
              <a:rPr lang="en-US" dirty="0"/>
              <a:t>So the coordinates of the point relative to the new axes will be different, but the underlying geometry is the same.</a:t>
            </a:r>
          </a:p>
          <a:p>
            <a:r>
              <a:rPr lang="en-US" dirty="0"/>
              <a:t>Mathematically, the new coordinates, which we’ll call x-prime and y-prime, are computed from the original coordinates x and y using this rotation:</a:t>
            </a:r>
            <a:br>
              <a:rPr lang="en-US" dirty="0"/>
            </a:br>
            <a:r>
              <a:rPr lang="en-US" dirty="0"/>
              <a:t>x-prime equals x times cosine phi, plus y times sine phi.</a:t>
            </a:r>
            <a:br>
              <a:rPr lang="en-US" dirty="0"/>
            </a:br>
            <a:r>
              <a:rPr lang="en-US" dirty="0"/>
              <a:t>y-prime equals negative x times sine phi, plus y times cosine phi.</a:t>
            </a:r>
          </a:p>
          <a:p>
            <a:endParaRPr lang="en-US" dirty="0"/>
          </a:p>
          <a:p>
            <a:r>
              <a:rPr lang="en-US" dirty="0"/>
              <a:t>In matrix form, this looks like:</a:t>
            </a:r>
            <a:br>
              <a:rPr lang="en-US" dirty="0"/>
            </a:br>
            <a:r>
              <a:rPr lang="en-US" dirty="0" err="1"/>
              <a:t>opcosine</a:t>
            </a:r>
            <a:r>
              <a:rPr lang="en-US" dirty="0"/>
              <a:t> phi, sine phi; negative sine phi, cosine phi,</a:t>
            </a:r>
          </a:p>
          <a:p>
            <a:r>
              <a:rPr lang="en-US" dirty="0"/>
              <a:t>This is a classic rotation matrix — it rotates vectors by an angle phi in the plane.</a:t>
            </a:r>
          </a:p>
          <a:p>
            <a:r>
              <a:rPr lang="en-US" dirty="0"/>
              <a:t>And this concept generalizes beautifully.</a:t>
            </a:r>
            <a:br>
              <a:rPr lang="en-US" dirty="0"/>
            </a:br>
            <a:r>
              <a:rPr lang="en-US" dirty="0"/>
              <a:t>In three dimensions, you can rotate about the x-axis, the y-axis, or the z-axis, producing new orthogonal bases in each case.</a:t>
            </a:r>
            <a:br>
              <a:rPr lang="en-US" dirty="0"/>
            </a:br>
            <a:r>
              <a:rPr lang="en-US" dirty="0"/>
              <a:t>You can also use combinations of these rotations — just like the lower diagram shows — rotating around alpha, beta, and gamma angles.</a:t>
            </a:r>
          </a:p>
          <a:p>
            <a:r>
              <a:rPr lang="en-US" dirty="0"/>
              <a:t>And in n-dimensional space, the same principle applies.</a:t>
            </a:r>
            <a:br>
              <a:rPr lang="en-US" dirty="0"/>
            </a:br>
            <a:endParaRPr lang="en-US" dirty="0"/>
          </a:p>
          <a:p>
            <a:r>
              <a:rPr lang="en-US" dirty="0"/>
              <a:t>So what’s the takeaway?</a:t>
            </a:r>
            <a:br>
              <a:rPr lang="en-US" dirty="0"/>
            </a:br>
            <a:r>
              <a:rPr lang="en-US" dirty="0"/>
              <a:t>The basis you choose to describe vectors is not fixed.</a:t>
            </a:r>
            <a:br>
              <a:rPr lang="en-US" dirty="0"/>
            </a:br>
            <a:r>
              <a:rPr lang="en-US" dirty="0"/>
              <a:t>You can rotate it, change it, or switch to one that better fits the problem.</a:t>
            </a:r>
            <a:br>
              <a:rPr lang="en-US" dirty="0"/>
            </a:br>
            <a:r>
              <a:rPr lang="en-US" dirty="0"/>
              <a:t>This is especially useful in Fourier analysis, where we don’t just rotate axes — we build entirely new bases, like sine and cosine functions, to describe signals more effectively.</a:t>
            </a:r>
          </a:p>
          <a:p>
            <a:r>
              <a:rPr lang="en-US" dirty="0"/>
              <a:t>So while the geometry remains unchanged, the coordinate description of a point — or a signal — depends on the basis you choose.</a:t>
            </a:r>
            <a:br>
              <a:rPr lang="en-US" dirty="0"/>
            </a:br>
            <a:r>
              <a:rPr lang="en-US" dirty="0"/>
              <a:t>That’s the power of flexible, non-unique bases in linear algebra and signal processing.</a:t>
            </a:r>
          </a:p>
        </p:txBody>
      </p:sp>
      <p:sp>
        <p:nvSpPr>
          <p:cNvPr id="4" name="Slide Number Placeholder 3"/>
          <p:cNvSpPr>
            <a:spLocks noGrp="1"/>
          </p:cNvSpPr>
          <p:nvPr>
            <p:ph type="sldNum" sz="quarter" idx="5"/>
          </p:nvPr>
        </p:nvSpPr>
        <p:spPr/>
        <p:txBody>
          <a:bodyPr/>
          <a:lstStyle/>
          <a:p>
            <a:fld id="{9F30534E-9FB8-46AE-8E3B-5675B268AE6A}" type="slidenum">
              <a:rPr lang="en-US" smtClean="0"/>
              <a:pPr/>
              <a:t>12</a:t>
            </a:fld>
            <a:endParaRPr lang="en-US"/>
          </a:p>
        </p:txBody>
      </p:sp>
    </p:spTree>
    <p:extLst>
      <p:ext uri="{BB962C8B-B14F-4D97-AF65-F5344CB8AC3E}">
        <p14:creationId xmlns:p14="http://schemas.microsoft.com/office/powerpoint/2010/main" val="2197144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step back and summarize what we’ve built so far — the formal structure of a vector space, especially in R-n, that is, n-dimensional real space.</a:t>
            </a:r>
            <a:br>
              <a:rPr lang="en-US" dirty="0"/>
            </a:br>
            <a:r>
              <a:rPr lang="en-US" dirty="0"/>
              <a:t>A vector in this space is just an ordered list of n numbers.</a:t>
            </a:r>
          </a:p>
          <a:p>
            <a:br>
              <a:rPr lang="en-US" dirty="0"/>
            </a:br>
            <a:r>
              <a:rPr lang="en-US" dirty="0"/>
              <a:t>For example, we could define vector v as: v equals v1, v2, and so on, up to </a:t>
            </a:r>
            <a:r>
              <a:rPr lang="en-US" dirty="0" err="1"/>
              <a:t>vn.</a:t>
            </a:r>
            <a:br>
              <a:rPr lang="en-US" dirty="0"/>
            </a:br>
            <a:r>
              <a:rPr lang="en-US" dirty="0"/>
              <a:t>And similarly, another vector w would be: w equals w1, w2, all the way to </a:t>
            </a:r>
            <a:r>
              <a:rPr lang="en-US" dirty="0" err="1"/>
              <a:t>wn</a:t>
            </a:r>
            <a:r>
              <a:rPr lang="en-US" dirty="0"/>
              <a:t>.</a:t>
            </a:r>
          </a:p>
          <a:p>
            <a:r>
              <a:rPr lang="en-US" dirty="0"/>
              <a:t>Now, the inner product of these two vectors is written as:</a:t>
            </a:r>
            <a:br>
              <a:rPr lang="en-US" dirty="0"/>
            </a:br>
            <a:r>
              <a:rPr lang="en-US" dirty="0"/>
              <a:t>v dot w equals v1 times w1, plus v2 times w2, plus all the way up to </a:t>
            </a:r>
            <a:r>
              <a:rPr lang="en-US" dirty="0" err="1"/>
              <a:t>vn</a:t>
            </a:r>
            <a:r>
              <a:rPr lang="en-US" dirty="0"/>
              <a:t> times </a:t>
            </a:r>
            <a:r>
              <a:rPr lang="en-US" dirty="0" err="1"/>
              <a:t>wn</a:t>
            </a:r>
            <a:r>
              <a:rPr lang="en-US" dirty="0"/>
              <a:t>.</a:t>
            </a:r>
          </a:p>
          <a:p>
            <a:endParaRPr lang="en-US" dirty="0"/>
          </a:p>
          <a:p>
            <a:r>
              <a:rPr lang="en-US" dirty="0"/>
              <a:t>This formula isn’t arbitrary. It’s grounded in both geometric intuition and practical applications — including signal detection and system analysis. But geometrically, it gives us the clearest picture of how vectors interact.</a:t>
            </a:r>
          </a:p>
          <a:p>
            <a:r>
              <a:rPr lang="en-US" dirty="0"/>
              <a:t>For example, if we take the inner product of a vector with itself, we get: v dot v equals the sum of the squares of its components. That is: v1 squared plus v2 squared, and so on, up to </a:t>
            </a:r>
            <a:r>
              <a:rPr lang="en-US" dirty="0" err="1"/>
              <a:t>vn</a:t>
            </a:r>
            <a:r>
              <a:rPr lang="en-US" dirty="0"/>
              <a:t> squared. Which is simply the squared length of the vector — or the norm squared. </a:t>
            </a:r>
          </a:p>
          <a:p>
            <a:endParaRPr lang="en-US" dirty="0"/>
          </a:p>
          <a:p>
            <a:r>
              <a:rPr lang="en-US" dirty="0"/>
              <a:t>So we write: v dot v equals double bar v double bar squared.</a:t>
            </a:r>
          </a:p>
          <a:p>
            <a:r>
              <a:rPr lang="en-US" dirty="0"/>
              <a:t>This gives us the magnitude of a vector, which is fundamental to defining distance, angle, and orthogonality — even in very high-dimensional spaces.</a:t>
            </a:r>
          </a:p>
          <a:p>
            <a:r>
              <a:rPr lang="en-US" dirty="0"/>
              <a:t>Now, let’s talk about basis.</a:t>
            </a:r>
            <a:br>
              <a:rPr lang="en-US" dirty="0"/>
            </a:br>
            <a:r>
              <a:rPr lang="en-US" dirty="0"/>
              <a:t>In R-n, we use what’s called the natural basis. These are vectors of length one that point along each coordinate direction.</a:t>
            </a:r>
            <a:br>
              <a:rPr lang="en-US" dirty="0"/>
            </a:br>
            <a:r>
              <a:rPr lang="en-US" dirty="0"/>
              <a:t>So we define:</a:t>
            </a:r>
            <a:br>
              <a:rPr lang="en-US" dirty="0"/>
            </a:br>
            <a:r>
              <a:rPr lang="en-US" dirty="0"/>
              <a:t>e1 as 1, 0, 0, and so on,</a:t>
            </a:r>
            <a:br>
              <a:rPr lang="en-US" dirty="0"/>
            </a:br>
            <a:r>
              <a:rPr lang="en-US" dirty="0"/>
              <a:t>e2 as 0, 1, 0, and so on,</a:t>
            </a:r>
            <a:br>
              <a:rPr lang="en-US" dirty="0"/>
            </a:br>
            <a:r>
              <a:rPr lang="en-US" dirty="0"/>
              <a:t>and so on, up to </a:t>
            </a:r>
            <a:r>
              <a:rPr lang="en-US" dirty="0" err="1"/>
              <a:t>en</a:t>
            </a:r>
            <a:r>
              <a:rPr lang="en-US" dirty="0"/>
              <a:t>, which is 0, 0, and finally 1.</a:t>
            </a:r>
          </a:p>
          <a:p>
            <a:endParaRPr lang="en-US" dirty="0"/>
          </a:p>
          <a:p>
            <a:r>
              <a:rPr lang="en-US" dirty="0"/>
              <a:t>Each of these vectors is orthogonal to the others, meaning their inner product is zero unless you're comparing a vector with itself.</a:t>
            </a:r>
          </a:p>
          <a:p>
            <a:r>
              <a:rPr lang="en-US" dirty="0"/>
              <a:t>So any vector v can be written as a linear combination of these basis vectors. That is: v equals v1 times e1, plus v2 times e2, all the way up to </a:t>
            </a:r>
            <a:r>
              <a:rPr lang="en-US" dirty="0" err="1"/>
              <a:t>vn</a:t>
            </a:r>
            <a:r>
              <a:rPr lang="en-US" dirty="0"/>
              <a:t> times </a:t>
            </a:r>
            <a:r>
              <a:rPr lang="en-US" dirty="0" err="1"/>
              <a:t>en</a:t>
            </a:r>
            <a:r>
              <a:rPr lang="en-US" dirty="0"/>
              <a:t>.</a:t>
            </a:r>
          </a:p>
          <a:p>
            <a:r>
              <a:rPr lang="en-US" dirty="0"/>
              <a:t>And how do we get each of these coefficients?</a:t>
            </a:r>
          </a:p>
          <a:p>
            <a:br>
              <a:rPr lang="en-US" dirty="0"/>
            </a:br>
            <a:r>
              <a:rPr lang="en-US" dirty="0"/>
              <a:t>Simple — by taking the inner product of v with the corresponding basis vector. So we say: v dot ek equals </a:t>
            </a:r>
            <a:r>
              <a:rPr lang="en-US" dirty="0" err="1"/>
              <a:t>vk</a:t>
            </a:r>
            <a:r>
              <a:rPr lang="en-US" dirty="0"/>
              <a:t>.</a:t>
            </a:r>
          </a:p>
          <a:p>
            <a:r>
              <a:rPr lang="en-US" dirty="0"/>
              <a:t>This structure — combining orthogonality, projection, and basis expansion — gives us a clean and consistent framework for working with any dimensional space. Whether we’re dealing with 3D vectors in physics, or a hundred-dimensional space in data analysis, the math works the same way.</a:t>
            </a:r>
          </a:p>
          <a:p>
            <a:r>
              <a:rPr lang="en-US" dirty="0"/>
              <a:t>And beneath it all is a visual, geometric idea: projecting, aligning, and reconstructing using components along axes.</a:t>
            </a:r>
            <a:br>
              <a:rPr lang="en-US" dirty="0"/>
            </a:br>
            <a:r>
              <a:rPr lang="en-US" dirty="0"/>
              <a:t>That’s the foundation of vector spaces.</a:t>
            </a:r>
          </a:p>
        </p:txBody>
      </p:sp>
      <p:sp>
        <p:nvSpPr>
          <p:cNvPr id="4" name="Slide Number Placeholder 3"/>
          <p:cNvSpPr>
            <a:spLocks noGrp="1"/>
          </p:cNvSpPr>
          <p:nvPr>
            <p:ph type="sldNum" sz="quarter" idx="5"/>
          </p:nvPr>
        </p:nvSpPr>
        <p:spPr/>
        <p:txBody>
          <a:bodyPr/>
          <a:lstStyle/>
          <a:p>
            <a:fld id="{9F30534E-9FB8-46AE-8E3B-5675B268AE6A}" type="slidenum">
              <a:rPr lang="en-US" smtClean="0"/>
              <a:pPr/>
              <a:t>13</a:t>
            </a:fld>
            <a:endParaRPr lang="en-US"/>
          </a:p>
        </p:txBody>
      </p:sp>
    </p:spTree>
    <p:extLst>
      <p:ext uri="{BB962C8B-B14F-4D97-AF65-F5344CB8AC3E}">
        <p14:creationId xmlns:p14="http://schemas.microsoft.com/office/powerpoint/2010/main" val="701370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close this section with a powerful and elegant idea — something that ties everything we’ve learned so far into a single, intuitive picture.</a:t>
            </a:r>
            <a:br>
              <a:rPr lang="en-US" dirty="0"/>
            </a:br>
            <a:r>
              <a:rPr lang="en-US" dirty="0"/>
              <a:t>Every vector is a point.</a:t>
            </a:r>
            <a:br>
              <a:rPr lang="en-US" dirty="0"/>
            </a:br>
            <a:r>
              <a:rPr lang="en-US" dirty="0"/>
              <a:t>That’s right — a vector isn’t just a list of numbers. It represents a location in space.</a:t>
            </a:r>
          </a:p>
          <a:p>
            <a:endParaRPr lang="en-US" dirty="0"/>
          </a:p>
          <a:p>
            <a:r>
              <a:rPr lang="en-US" dirty="0"/>
              <a:t>For example, in two-dimensional space, a vector with components x and y — written as x, y — can be seen as a point on the plane.</a:t>
            </a:r>
            <a:br>
              <a:rPr lang="en-US" dirty="0"/>
            </a:br>
            <a:r>
              <a:rPr lang="en-US" dirty="0"/>
              <a:t>If this vector has unit length — meaning its magnitude is one — then it lies on the unit circle.</a:t>
            </a:r>
            <a:br>
              <a:rPr lang="en-US" dirty="0"/>
            </a:br>
            <a:r>
              <a:rPr lang="en-US" dirty="0"/>
              <a:t>As you move around that circle, each position corresponds to a different vector, but all with the same length.</a:t>
            </a:r>
          </a:p>
          <a:p>
            <a:r>
              <a:rPr lang="en-US" dirty="0"/>
              <a:t>Now in three dimensions, the same idea holds.</a:t>
            </a:r>
            <a:br>
              <a:rPr lang="en-US" dirty="0"/>
            </a:br>
            <a:r>
              <a:rPr lang="en-US" dirty="0"/>
              <a:t>A unit-length vector becomes a point on the surface of a unit sphere.</a:t>
            </a:r>
            <a:br>
              <a:rPr lang="en-US" dirty="0"/>
            </a:br>
            <a:r>
              <a:rPr lang="en-US" dirty="0"/>
              <a:t>Again, the magnitude is one, but the direction can vary.</a:t>
            </a:r>
            <a:br>
              <a:rPr lang="en-US" dirty="0"/>
            </a:br>
            <a:r>
              <a:rPr lang="en-US" dirty="0"/>
              <a:t>And every point on the sphere represents a different vector of unit length.</a:t>
            </a:r>
          </a:p>
          <a:p>
            <a:r>
              <a:rPr lang="en-US" dirty="0"/>
              <a:t>This concept scales beautifully to higher dimensions.</a:t>
            </a:r>
          </a:p>
          <a:p>
            <a:br>
              <a:rPr lang="en-US" dirty="0"/>
            </a:br>
            <a:r>
              <a:rPr lang="en-US" dirty="0"/>
              <a:t>In general, if we’re in n-dimensional space, the collection of all vectors of the same length — say, length r — forms an n-sphere.</a:t>
            </a:r>
          </a:p>
          <a:p>
            <a:r>
              <a:rPr lang="en-US" dirty="0"/>
              <a:t>Mathematically, we write this as: S n equals open curly brace x in R n plus 1, such that double bar x double bar equals r close curly brace.</a:t>
            </a:r>
          </a:p>
          <a:p>
            <a:r>
              <a:rPr lang="en-US" dirty="0"/>
              <a:t>This simply means: we’re gathering all the vectors that are at a fixed distance r from the origin.</a:t>
            </a:r>
            <a:br>
              <a:rPr lang="en-US" dirty="0"/>
            </a:br>
            <a:r>
              <a:rPr lang="en-US" dirty="0"/>
              <a:t>Each of these vectors is also a point in space.</a:t>
            </a:r>
            <a:br>
              <a:rPr lang="en-US" dirty="0"/>
            </a:br>
            <a:r>
              <a:rPr lang="en-US" dirty="0"/>
              <a:t>They all have the same magnitude — r — but different directions.</a:t>
            </a:r>
          </a:p>
          <a:p>
            <a:r>
              <a:rPr lang="en-US" dirty="0"/>
              <a:t>So geometrically, a vector is just a point, and when we fix the length of these vectors, they trace out meaningful shapes like circles in 2D, spheres in 3D, or hyperspheres in higher dimensions.</a:t>
            </a:r>
          </a:p>
          <a:p>
            <a:endParaRPr lang="en-US" dirty="0"/>
          </a:p>
          <a:p>
            <a:r>
              <a:rPr lang="en-US" dirty="0"/>
              <a:t>This perspective becomes especially important as we move forward into signal processing and functional spaces, where even functions can be treated like vectors — and those vectors live in infinite-dimensional spaces.</a:t>
            </a:r>
          </a:p>
          <a:p>
            <a:r>
              <a:rPr lang="en-US" dirty="0"/>
              <a:t>But the core idea doesn’t change.</a:t>
            </a:r>
            <a:br>
              <a:rPr lang="en-US" dirty="0"/>
            </a:br>
            <a:r>
              <a:rPr lang="en-US" dirty="0"/>
              <a:t>A vector is a point. A point is a vector.</a:t>
            </a:r>
            <a:br>
              <a:rPr lang="en-US" dirty="0"/>
            </a:br>
            <a:r>
              <a:rPr lang="en-US" dirty="0"/>
              <a:t>And the same geometry that applies to physical space applies to abstract spaces as well — including the ones we’ll encounter next in our study of Fourier series.</a:t>
            </a:r>
          </a:p>
        </p:txBody>
      </p:sp>
      <p:sp>
        <p:nvSpPr>
          <p:cNvPr id="4" name="Slide Number Placeholder 3"/>
          <p:cNvSpPr>
            <a:spLocks noGrp="1"/>
          </p:cNvSpPr>
          <p:nvPr>
            <p:ph type="sldNum" sz="quarter" idx="5"/>
          </p:nvPr>
        </p:nvSpPr>
        <p:spPr/>
        <p:txBody>
          <a:bodyPr/>
          <a:lstStyle/>
          <a:p>
            <a:fld id="{9F30534E-9FB8-46AE-8E3B-5675B268AE6A}" type="slidenum">
              <a:rPr lang="en-US" smtClean="0"/>
              <a:pPr/>
              <a:t>14</a:t>
            </a:fld>
            <a:endParaRPr lang="en-US"/>
          </a:p>
        </p:txBody>
      </p:sp>
    </p:spTree>
    <p:extLst>
      <p:ext uri="{BB962C8B-B14F-4D97-AF65-F5344CB8AC3E}">
        <p14:creationId xmlns:p14="http://schemas.microsoft.com/office/powerpoint/2010/main" val="18193149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take the next big step in our journey —</a:t>
            </a:r>
            <a:br>
              <a:rPr lang="en-US" dirty="0"/>
            </a:br>
            <a:r>
              <a:rPr lang="en-US" dirty="0"/>
              <a:t>a </a:t>
            </a:r>
            <a:r>
              <a:rPr lang="en-US" b="1" dirty="0"/>
              <a:t>function</a:t>
            </a:r>
            <a:r>
              <a:rPr lang="en-US" dirty="0"/>
              <a:t> can actually be treated like a </a:t>
            </a:r>
            <a:r>
              <a:rPr lang="en-US" b="1" dirty="0"/>
              <a:t>vector</a:t>
            </a:r>
            <a:r>
              <a:rPr lang="en-US" dirty="0"/>
              <a:t>.</a:t>
            </a:r>
          </a:p>
          <a:p>
            <a:endParaRPr lang="en-US" dirty="0"/>
          </a:p>
          <a:p>
            <a:r>
              <a:rPr lang="en-US" dirty="0"/>
              <a:t>Now, when you first think about a function — for example, y equals f of x —</a:t>
            </a:r>
            <a:br>
              <a:rPr lang="en-US" dirty="0"/>
            </a:br>
            <a:r>
              <a:rPr lang="en-US" dirty="0"/>
              <a:t>You can imagine a smooth curve on a graph.</a:t>
            </a:r>
            <a:br>
              <a:rPr lang="en-US" dirty="0"/>
            </a:br>
            <a:r>
              <a:rPr lang="en-US" dirty="0"/>
              <a:t>As x changes, you get a continuous stream of y-values,</a:t>
            </a:r>
            <a:br>
              <a:rPr lang="en-US" dirty="0"/>
            </a:br>
            <a:r>
              <a:rPr lang="en-US" dirty="0"/>
              <a:t>and these values trace out a flowing shape across the domain.</a:t>
            </a:r>
          </a:p>
          <a:p>
            <a:r>
              <a:rPr lang="en-US" dirty="0"/>
              <a:t>That’s the classical view — a function as a curve.</a:t>
            </a:r>
          </a:p>
          <a:p>
            <a:br>
              <a:rPr lang="en-US" dirty="0"/>
            </a:br>
            <a:r>
              <a:rPr lang="en-US" dirty="0"/>
              <a:t>But here’s a shift in perspective that changes everything.</a:t>
            </a:r>
          </a:p>
          <a:p>
            <a:r>
              <a:rPr lang="en-US" dirty="0"/>
              <a:t>Suppose you </a:t>
            </a:r>
            <a:r>
              <a:rPr lang="en-US" b="1" dirty="0"/>
              <a:t>discretize</a:t>
            </a:r>
            <a:r>
              <a:rPr lang="en-US" dirty="0"/>
              <a:t> the function.</a:t>
            </a:r>
            <a:br>
              <a:rPr lang="en-US" dirty="0"/>
            </a:br>
            <a:r>
              <a:rPr lang="en-US" dirty="0"/>
              <a:t>That means instead of considering every possible x,</a:t>
            </a:r>
            <a:br>
              <a:rPr lang="en-US" dirty="0"/>
            </a:br>
            <a:r>
              <a:rPr lang="en-US" dirty="0"/>
              <a:t>you just pick a few specific values:</a:t>
            </a:r>
            <a:br>
              <a:rPr lang="en-US" dirty="0"/>
            </a:br>
            <a:r>
              <a:rPr lang="en-US" dirty="0"/>
              <a:t>x 1, x 2, all the way to x n.</a:t>
            </a:r>
          </a:p>
          <a:p>
            <a:r>
              <a:rPr lang="en-US" dirty="0"/>
              <a:t>At each of these points, you compute the function:</a:t>
            </a:r>
            <a:br>
              <a:rPr lang="en-US" dirty="0"/>
            </a:br>
            <a:r>
              <a:rPr lang="en-US" dirty="0"/>
              <a:t>f of x 1, f of x 2, and so on, up to f of x n.</a:t>
            </a:r>
          </a:p>
          <a:p>
            <a:r>
              <a:rPr lang="en-US" dirty="0"/>
              <a:t>And now you have a finite list of numbers.</a:t>
            </a:r>
            <a:br>
              <a:rPr lang="en-US" dirty="0"/>
            </a:br>
            <a:r>
              <a:rPr lang="en-US" dirty="0"/>
              <a:t>Those function values — can be written as a </a:t>
            </a:r>
            <a:r>
              <a:rPr lang="en-US" b="1" dirty="0"/>
              <a:t>vector</a:t>
            </a:r>
            <a:r>
              <a:rPr lang="en-US" dirty="0"/>
              <a:t>.</a:t>
            </a:r>
            <a:br>
              <a:rPr lang="en-US" dirty="0"/>
            </a:br>
            <a:r>
              <a:rPr lang="en-US" dirty="0"/>
              <a:t>Each value becomes one </a:t>
            </a:r>
            <a:r>
              <a:rPr lang="en-US" b="1" dirty="0"/>
              <a:t>component</a:t>
            </a:r>
            <a:r>
              <a:rPr lang="en-US" dirty="0"/>
              <a:t> of that vector.</a:t>
            </a:r>
          </a:p>
          <a:p>
            <a:endParaRPr lang="en-US" dirty="0"/>
          </a:p>
          <a:p>
            <a:r>
              <a:rPr lang="en-US" dirty="0"/>
              <a:t>In the diagram here, you see a red curve — that’s the original function —</a:t>
            </a:r>
            <a:br>
              <a:rPr lang="en-US" dirty="0"/>
            </a:br>
            <a:r>
              <a:rPr lang="en-US" dirty="0"/>
              <a:t>and below it, green bars showing sample values.</a:t>
            </a:r>
            <a:br>
              <a:rPr lang="en-US" dirty="0"/>
            </a:br>
            <a:r>
              <a:rPr lang="en-US" dirty="0"/>
              <a:t>If we sample the function at 7 locations,</a:t>
            </a:r>
            <a:br>
              <a:rPr lang="en-US" dirty="0"/>
            </a:br>
            <a:r>
              <a:rPr lang="en-US" dirty="0"/>
              <a:t>we can think of those 7 values as a 7-dimensional vector.</a:t>
            </a:r>
          </a:p>
          <a:p>
            <a:r>
              <a:rPr lang="en-US" dirty="0"/>
              <a:t>Take more samples — say 700, or 7 million —</a:t>
            </a:r>
            <a:br>
              <a:rPr lang="en-US" dirty="0"/>
            </a:br>
            <a:r>
              <a:rPr lang="en-US" dirty="0"/>
              <a:t>and the dimension of the vector simply increases.</a:t>
            </a:r>
            <a:br>
              <a:rPr lang="en-US" dirty="0"/>
            </a:br>
            <a:r>
              <a:rPr lang="en-US" dirty="0"/>
              <a:t>But conceptually, it’s still just a point in some high-dimensional space.</a:t>
            </a:r>
          </a:p>
          <a:p>
            <a:endParaRPr lang="en-US" dirty="0"/>
          </a:p>
          <a:p>
            <a:r>
              <a:rPr lang="en-US" dirty="0"/>
              <a:t>So here’s the key idea:</a:t>
            </a:r>
            <a:br>
              <a:rPr lang="en-US" dirty="0"/>
            </a:br>
            <a:r>
              <a:rPr lang="en-US" dirty="0"/>
              <a:t>a </a:t>
            </a:r>
            <a:r>
              <a:rPr lang="en-US" b="1" dirty="0"/>
              <a:t>function is just a vector</a:t>
            </a:r>
            <a:r>
              <a:rPr lang="en-US" dirty="0"/>
              <a:t> — possibly a very high-dimensional one.</a:t>
            </a:r>
            <a:br>
              <a:rPr lang="en-US" dirty="0"/>
            </a:br>
            <a:r>
              <a:rPr lang="en-US" dirty="0"/>
              <a:t>And that means we can apply </a:t>
            </a:r>
            <a:r>
              <a:rPr lang="en-US" b="1" dirty="0"/>
              <a:t>all the tools of vector analysis</a:t>
            </a:r>
            <a:r>
              <a:rPr lang="en-US" dirty="0"/>
              <a:t> to functions.</a:t>
            </a:r>
            <a:br>
              <a:rPr lang="en-US" dirty="0"/>
            </a:br>
            <a:r>
              <a:rPr lang="en-US" dirty="0"/>
              <a:t>We can talk about the </a:t>
            </a:r>
            <a:r>
              <a:rPr lang="en-US" b="1" dirty="0"/>
              <a:t>length</a:t>
            </a:r>
            <a:r>
              <a:rPr lang="en-US" dirty="0"/>
              <a:t> of a function,</a:t>
            </a:r>
            <a:br>
              <a:rPr lang="en-US" dirty="0"/>
            </a:br>
            <a:r>
              <a:rPr lang="en-US" dirty="0"/>
              <a:t>we can </a:t>
            </a:r>
            <a:r>
              <a:rPr lang="en-US" b="1" dirty="0"/>
              <a:t>project</a:t>
            </a:r>
            <a:r>
              <a:rPr lang="en-US" dirty="0"/>
              <a:t> one function onto another,</a:t>
            </a:r>
            <a:br>
              <a:rPr lang="en-US" dirty="0"/>
            </a:br>
            <a:r>
              <a:rPr lang="en-US" dirty="0"/>
              <a:t>and we can compute </a:t>
            </a:r>
            <a:r>
              <a:rPr lang="en-US" b="1" dirty="0"/>
              <a:t>angles</a:t>
            </a:r>
            <a:r>
              <a:rPr lang="en-US" dirty="0"/>
              <a:t> between functions,</a:t>
            </a:r>
            <a:br>
              <a:rPr lang="en-US" dirty="0"/>
            </a:br>
            <a:r>
              <a:rPr lang="en-US" dirty="0"/>
              <a:t>just like we did with ordinary vectors in R-n.</a:t>
            </a:r>
          </a:p>
          <a:p>
            <a:r>
              <a:rPr lang="en-US" dirty="0"/>
              <a:t>This insight is exactly what powers </a:t>
            </a:r>
            <a:r>
              <a:rPr lang="en-US" b="1" dirty="0"/>
              <a:t>Fourier analysis</a:t>
            </a:r>
            <a:r>
              <a:rPr lang="en-US" dirty="0"/>
              <a:t>.</a:t>
            </a:r>
            <a:br>
              <a:rPr lang="en-US" dirty="0"/>
            </a:br>
            <a:r>
              <a:rPr lang="en-US" dirty="0"/>
              <a:t>In a Fourier series, we project a function onto a set of orthogonal basis functions —</a:t>
            </a:r>
            <a:br>
              <a:rPr lang="en-US" dirty="0"/>
            </a:br>
            <a:r>
              <a:rPr lang="en-US" dirty="0"/>
              <a:t>functions like sine and cosine —</a:t>
            </a:r>
            <a:br>
              <a:rPr lang="en-US" dirty="0"/>
            </a:br>
            <a:r>
              <a:rPr lang="en-US" dirty="0"/>
              <a:t>just as we projected ordinary vectors onto coordinate axes.</a:t>
            </a:r>
          </a:p>
          <a:p>
            <a:endParaRPr lang="en-US" dirty="0"/>
          </a:p>
          <a:p>
            <a:r>
              <a:rPr lang="en-US" dirty="0"/>
              <a:t>So let me leave you with this big takeaway:</a:t>
            </a:r>
          </a:p>
          <a:p>
            <a:r>
              <a:rPr lang="en-US" dirty="0"/>
              <a:t>If a </a:t>
            </a:r>
            <a:r>
              <a:rPr lang="en-US" b="1" dirty="0"/>
              <a:t>vector is a point</a:t>
            </a:r>
            <a:r>
              <a:rPr lang="en-US" dirty="0"/>
              <a:t>,</a:t>
            </a:r>
            <a:br>
              <a:rPr lang="en-US" dirty="0"/>
            </a:br>
            <a:r>
              <a:rPr lang="en-US" dirty="0"/>
              <a:t>and a </a:t>
            </a:r>
            <a:r>
              <a:rPr lang="en-US" b="1" dirty="0"/>
              <a:t>function is a vector</a:t>
            </a:r>
            <a:r>
              <a:rPr lang="en-US" dirty="0"/>
              <a:t>,</a:t>
            </a:r>
            <a:br>
              <a:rPr lang="en-US" dirty="0"/>
            </a:br>
            <a:r>
              <a:rPr lang="en-US" dirty="0"/>
              <a:t>then a </a:t>
            </a:r>
            <a:r>
              <a:rPr lang="en-US" b="1" dirty="0"/>
              <a:t>function is also a point</a:t>
            </a:r>
            <a:r>
              <a:rPr lang="en-US" dirty="0"/>
              <a:t> —</a:t>
            </a:r>
            <a:br>
              <a:rPr lang="en-US" dirty="0"/>
            </a:br>
            <a:r>
              <a:rPr lang="en-US" dirty="0"/>
              <a:t>a point living in a high-dimensional function space.</a:t>
            </a:r>
          </a:p>
          <a:p>
            <a:r>
              <a:rPr lang="en-US" dirty="0"/>
              <a:t>That’s the foundation of what we’ll build next —</a:t>
            </a:r>
            <a:br>
              <a:rPr lang="en-US" dirty="0"/>
            </a:br>
            <a:r>
              <a:rPr lang="en-US" dirty="0"/>
              <a:t>representing and analyzing functions using the powerful language of vectors.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15</a:t>
            </a:fld>
            <a:endParaRPr lang="en-US"/>
          </a:p>
        </p:txBody>
      </p:sp>
    </p:spTree>
    <p:extLst>
      <p:ext uri="{BB962C8B-B14F-4D97-AF65-F5344CB8AC3E}">
        <p14:creationId xmlns:p14="http://schemas.microsoft.com/office/powerpoint/2010/main" val="1716245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We’ve talked a lot about vectors — and how to compute their inner product</a:t>
            </a:r>
            <a:br>
              <a:rPr lang="en-US" dirty="0"/>
            </a:br>
            <a:r>
              <a:rPr lang="en-US" dirty="0"/>
              <a:t>by multiplying corresponding components and then adding them up.</a:t>
            </a:r>
            <a:br>
              <a:rPr lang="en-US" dirty="0"/>
            </a:br>
            <a:r>
              <a:rPr lang="en-US" dirty="0"/>
              <a:t>That’s the basic operation in vector space.</a:t>
            </a:r>
          </a:p>
          <a:p>
            <a:endParaRPr lang="en-US" dirty="0"/>
          </a:p>
          <a:p>
            <a:r>
              <a:rPr lang="en-US" dirty="0"/>
              <a:t>Mathematically, for vectors A and B, the inner product is written as:</a:t>
            </a:r>
            <a:br>
              <a:rPr lang="en-US" dirty="0"/>
            </a:br>
            <a:r>
              <a:rPr lang="en-US" dirty="0"/>
              <a:t>A dot B equals the sum from </a:t>
            </a:r>
            <a:r>
              <a:rPr lang="en-US" dirty="0" err="1"/>
              <a:t>i</a:t>
            </a:r>
            <a:r>
              <a:rPr lang="en-US" dirty="0"/>
              <a:t> equals minus infinity to infinity</a:t>
            </a:r>
            <a:br>
              <a:rPr lang="en-US" dirty="0"/>
            </a:br>
            <a:r>
              <a:rPr lang="en-US" dirty="0"/>
              <a:t>of a </a:t>
            </a:r>
            <a:r>
              <a:rPr lang="en-US" dirty="0" err="1"/>
              <a:t>i</a:t>
            </a:r>
            <a:r>
              <a:rPr lang="en-US" dirty="0"/>
              <a:t> times b </a:t>
            </a:r>
            <a:r>
              <a:rPr lang="en-US" dirty="0" err="1"/>
              <a:t>i</a:t>
            </a:r>
            <a:r>
              <a:rPr lang="en-US" dirty="0"/>
              <a:t>.</a:t>
            </a:r>
          </a:p>
          <a:p>
            <a:endParaRPr lang="en-US" dirty="0"/>
          </a:p>
          <a:p>
            <a:r>
              <a:rPr lang="en-US" dirty="0"/>
              <a:t>Now, let’s extend this idea to </a:t>
            </a:r>
            <a:r>
              <a:rPr lang="en-US" b="1" dirty="0"/>
              <a:t>functions</a:t>
            </a:r>
            <a:r>
              <a:rPr lang="en-US" dirty="0"/>
              <a:t>.</a:t>
            </a:r>
            <a:br>
              <a:rPr lang="en-US" dirty="0"/>
            </a:br>
            <a:r>
              <a:rPr lang="en-US" dirty="0"/>
              <a:t>In functional space, instead of dealing with discrete components,</a:t>
            </a:r>
            <a:br>
              <a:rPr lang="en-US" dirty="0"/>
            </a:br>
            <a:r>
              <a:rPr lang="en-US" dirty="0"/>
              <a:t>we’re dealing with continuous values defined over time or space.</a:t>
            </a:r>
          </a:p>
          <a:p>
            <a:r>
              <a:rPr lang="en-US" dirty="0"/>
              <a:t>So, instead of a summation, we use an </a:t>
            </a:r>
            <a:r>
              <a:rPr lang="en-US" b="1" dirty="0"/>
              <a:t>integral</a:t>
            </a:r>
            <a:r>
              <a:rPr lang="en-US" dirty="0"/>
              <a:t>.</a:t>
            </a:r>
            <a:br>
              <a:rPr lang="en-US" dirty="0"/>
            </a:br>
            <a:r>
              <a:rPr lang="en-US" dirty="0"/>
              <a:t>The inner product of two functions, A of t and B of t, is defined as the integral from minus infinity to infinity</a:t>
            </a:r>
            <a:br>
              <a:rPr lang="en-US" dirty="0"/>
            </a:br>
            <a:r>
              <a:rPr lang="en-US" dirty="0"/>
              <a:t>of A of t times B of t, d t.</a:t>
            </a:r>
          </a:p>
          <a:p>
            <a:r>
              <a:rPr lang="en-US" dirty="0"/>
              <a:t>That’s our functional equivalent of the vector dot product.</a:t>
            </a:r>
            <a:br>
              <a:rPr lang="en-US" dirty="0"/>
            </a:br>
            <a:r>
              <a:rPr lang="en-US" dirty="0"/>
              <a:t>The interpretation is exactly the same:</a:t>
            </a:r>
            <a:br>
              <a:rPr lang="en-US" dirty="0"/>
            </a:br>
            <a:r>
              <a:rPr lang="en-US" dirty="0"/>
              <a:t>we’re measuring how much two signals </a:t>
            </a:r>
            <a:r>
              <a:rPr lang="en-US" b="1" dirty="0"/>
              <a:t>align</a:t>
            </a:r>
            <a:r>
              <a:rPr lang="en-US" dirty="0"/>
              <a:t> —</a:t>
            </a:r>
            <a:br>
              <a:rPr lang="en-US" dirty="0"/>
            </a:br>
            <a:r>
              <a:rPr lang="en-US" dirty="0"/>
              <a:t>whether they point in similar directions in an infinite-dimensional space.</a:t>
            </a:r>
          </a:p>
          <a:p>
            <a:endParaRPr lang="en-US" dirty="0"/>
          </a:p>
          <a:p>
            <a:r>
              <a:rPr lang="en-US" dirty="0"/>
              <a:t>Now here comes the big question:</a:t>
            </a:r>
            <a:br>
              <a:rPr lang="en-US" dirty="0"/>
            </a:br>
            <a:r>
              <a:rPr lang="en-US" b="1" dirty="0"/>
              <a:t>Can we find a basis for functions</a:t>
            </a:r>
            <a:r>
              <a:rPr lang="en-US" dirty="0"/>
              <a:t>, just like we do in vector spaces?</a:t>
            </a:r>
          </a:p>
          <a:p>
            <a:r>
              <a:rPr lang="en-US" dirty="0"/>
              <a:t>And the answer is yes.</a:t>
            </a:r>
            <a:br>
              <a:rPr lang="en-US" dirty="0"/>
            </a:br>
            <a:r>
              <a:rPr lang="en-US" dirty="0"/>
              <a:t>One powerful basis uses something called the </a:t>
            </a:r>
            <a:r>
              <a:rPr lang="en-US" b="1" dirty="0"/>
              <a:t>Dirac delta function</a:t>
            </a:r>
            <a:r>
              <a:rPr lang="en-US" dirty="0"/>
              <a:t> —</a:t>
            </a:r>
            <a:br>
              <a:rPr lang="en-US" dirty="0"/>
            </a:br>
            <a:r>
              <a:rPr lang="en-US" dirty="0"/>
              <a:t>written as delta of x minus a.</a:t>
            </a:r>
          </a:p>
          <a:p>
            <a:endParaRPr lang="en-US" dirty="0"/>
          </a:p>
          <a:p>
            <a:r>
              <a:rPr lang="en-US" dirty="0"/>
              <a:t>Let me explain.</a:t>
            </a:r>
          </a:p>
          <a:p>
            <a:r>
              <a:rPr lang="en-US" dirty="0"/>
              <a:t>There’s a key identity in signal processing that says:</a:t>
            </a:r>
            <a:br>
              <a:rPr lang="en-US" dirty="0"/>
            </a:br>
            <a:r>
              <a:rPr lang="en-US" dirty="0"/>
              <a:t>f of t equals the integral from minus infinity to infinity</a:t>
            </a:r>
            <a:br>
              <a:rPr lang="en-US" dirty="0"/>
            </a:br>
            <a:r>
              <a:rPr lang="en-US" dirty="0"/>
              <a:t>of delta of tau minus t, times f of tau, d tau.</a:t>
            </a:r>
          </a:p>
          <a:p>
            <a:endParaRPr lang="en-US" dirty="0"/>
          </a:p>
          <a:p>
            <a:r>
              <a:rPr lang="en-US" dirty="0"/>
              <a:t>What does this mean?</a:t>
            </a:r>
          </a:p>
          <a:p>
            <a:r>
              <a:rPr lang="en-US" dirty="0"/>
              <a:t>Well, the delta function is like a mathematical spike —</a:t>
            </a:r>
            <a:br>
              <a:rPr lang="en-US" dirty="0"/>
            </a:br>
            <a:r>
              <a:rPr lang="en-US" dirty="0"/>
              <a:t>It’s zero everywhere, except at a single point.</a:t>
            </a:r>
            <a:br>
              <a:rPr lang="en-US" dirty="0"/>
            </a:br>
            <a:r>
              <a:rPr lang="en-US" dirty="0"/>
              <a:t>So when we multiply f of tau by delta of tau minus t,</a:t>
            </a:r>
            <a:br>
              <a:rPr lang="en-US" dirty="0"/>
            </a:br>
            <a:r>
              <a:rPr lang="en-US" dirty="0"/>
              <a:t>We’re isolating the value of f right at tau equals t.</a:t>
            </a:r>
            <a:br>
              <a:rPr lang="en-US" dirty="0"/>
            </a:br>
            <a:r>
              <a:rPr lang="en-US" dirty="0"/>
              <a:t>And by integrating over all tau, we’re reconstructing the full function</a:t>
            </a:r>
            <a:br>
              <a:rPr lang="en-US" dirty="0"/>
            </a:br>
            <a:r>
              <a:rPr lang="en-US" dirty="0"/>
              <a:t>by sweeping this spike across the domain.</a:t>
            </a:r>
          </a:p>
          <a:p>
            <a:r>
              <a:rPr lang="en-US" dirty="0"/>
              <a:t>Think of it this way:</a:t>
            </a:r>
            <a:br>
              <a:rPr lang="en-US" dirty="0"/>
            </a:br>
            <a:r>
              <a:rPr lang="en-US" dirty="0"/>
              <a:t>each delta function — centered at a point a —</a:t>
            </a:r>
            <a:br>
              <a:rPr lang="en-US" dirty="0"/>
            </a:br>
            <a:r>
              <a:rPr lang="en-US" dirty="0"/>
              <a:t>acts like a </a:t>
            </a:r>
            <a:r>
              <a:rPr lang="en-US" b="1" dirty="0"/>
              <a:t>basis vector</a:t>
            </a:r>
            <a:r>
              <a:rPr lang="en-US" dirty="0"/>
              <a:t>.</a:t>
            </a:r>
            <a:br>
              <a:rPr lang="en-US" dirty="0"/>
            </a:br>
            <a:r>
              <a:rPr lang="en-US" dirty="0"/>
              <a:t>And each one is scaled by f of a —</a:t>
            </a:r>
            <a:br>
              <a:rPr lang="en-US" dirty="0"/>
            </a:br>
            <a:r>
              <a:rPr lang="en-US" dirty="0"/>
              <a:t>the value of the function at that location.</a:t>
            </a:r>
          </a:p>
          <a:p>
            <a:r>
              <a:rPr lang="en-US" dirty="0"/>
              <a:t>This is just like saying:</a:t>
            </a:r>
            <a:br>
              <a:rPr lang="en-US" dirty="0"/>
            </a:br>
            <a:r>
              <a:rPr lang="en-US" dirty="0"/>
              <a:t>v equals v one times e one plus v two times e two, and so on.</a:t>
            </a:r>
          </a:p>
          <a:p>
            <a:r>
              <a:rPr lang="en-US" dirty="0"/>
              <a:t>So yes, even in this continuous, infinite-dimensional space,</a:t>
            </a:r>
            <a:br>
              <a:rPr lang="en-US" dirty="0"/>
            </a:br>
            <a:r>
              <a:rPr lang="en-US" dirty="0"/>
              <a:t>we’re still using the same principle:</a:t>
            </a:r>
            <a:br>
              <a:rPr lang="en-US" dirty="0"/>
            </a:br>
            <a:r>
              <a:rPr lang="en-US" b="1" dirty="0"/>
              <a:t>Basis functions times coefficients gives you the full object.</a:t>
            </a:r>
            <a:endParaRPr lang="en-US" dirty="0"/>
          </a:p>
          <a:p>
            <a:r>
              <a:rPr lang="en-US" dirty="0"/>
              <a:t>And this paves the way for what’s coming next —</a:t>
            </a:r>
            <a:br>
              <a:rPr lang="en-US" dirty="0"/>
            </a:br>
            <a:r>
              <a:rPr lang="en-US" dirty="0"/>
              <a:t>Fourier series, where instead of spikes,</a:t>
            </a:r>
            <a:br>
              <a:rPr lang="en-US" dirty="0"/>
            </a:br>
            <a:r>
              <a:rPr lang="en-US" dirty="0"/>
              <a:t>we’ll use smooth, oscillating waves as our basis functions.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16</a:t>
            </a:fld>
            <a:endParaRPr lang="en-US"/>
          </a:p>
        </p:txBody>
      </p:sp>
    </p:spTree>
    <p:extLst>
      <p:ext uri="{BB962C8B-B14F-4D97-AF65-F5344CB8AC3E}">
        <p14:creationId xmlns:p14="http://schemas.microsoft.com/office/powerpoint/2010/main" val="39978048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revisit a powerful concept —</a:t>
            </a:r>
            <a:br>
              <a:rPr lang="en-US" dirty="0"/>
            </a:br>
            <a:r>
              <a:rPr lang="en-US" dirty="0"/>
              <a:t>representing a function as a </a:t>
            </a:r>
            <a:r>
              <a:rPr lang="en-US" b="1" dirty="0"/>
              <a:t>sum of impulses</a:t>
            </a:r>
            <a:r>
              <a:rPr lang="en-US" dirty="0"/>
              <a:t>.</a:t>
            </a:r>
          </a:p>
          <a:p>
            <a:r>
              <a:rPr lang="en-US" dirty="0"/>
              <a:t>Here’s the idea:</a:t>
            </a:r>
            <a:br>
              <a:rPr lang="en-US" dirty="0"/>
            </a:br>
            <a:r>
              <a:rPr lang="en-US" dirty="0"/>
              <a:t>Instead of describing a function as one smooth continuous curve,</a:t>
            </a:r>
            <a:br>
              <a:rPr lang="en-US" dirty="0"/>
            </a:br>
            <a:r>
              <a:rPr lang="en-US" dirty="0"/>
              <a:t>we break it down into a series of </a:t>
            </a:r>
            <a:r>
              <a:rPr lang="en-US" b="1" dirty="0"/>
              <a:t>impulses</a:t>
            </a:r>
            <a:r>
              <a:rPr lang="en-US" dirty="0"/>
              <a:t>, or spikes.</a:t>
            </a:r>
          </a:p>
          <a:p>
            <a:r>
              <a:rPr lang="en-US" dirty="0"/>
              <a:t>Each impulse is a </a:t>
            </a:r>
            <a:r>
              <a:rPr lang="en-US" b="1" dirty="0"/>
              <a:t>shifted delta function</a:t>
            </a:r>
            <a:r>
              <a:rPr lang="en-US" dirty="0"/>
              <a:t> —</a:t>
            </a:r>
            <a:br>
              <a:rPr lang="en-US" dirty="0"/>
            </a:br>
            <a:r>
              <a:rPr lang="en-US" dirty="0"/>
              <a:t>meaning, a very narrow spike placed at a specific time location.</a:t>
            </a:r>
          </a:p>
          <a:p>
            <a:br>
              <a:rPr lang="en-US" dirty="0"/>
            </a:br>
            <a:r>
              <a:rPr lang="en-US" dirty="0"/>
              <a:t>We scale each spike by the height of the function at that point.</a:t>
            </a:r>
            <a:br>
              <a:rPr lang="en-US" dirty="0"/>
            </a:br>
            <a:r>
              <a:rPr lang="en-US" dirty="0"/>
              <a:t>In other words, the amplitude of the spike equals the value of f of t</a:t>
            </a:r>
            <a:br>
              <a:rPr lang="en-US" dirty="0"/>
            </a:br>
            <a:r>
              <a:rPr lang="en-US" dirty="0"/>
              <a:t>at that specific time t.</a:t>
            </a:r>
          </a:p>
          <a:p>
            <a:r>
              <a:rPr lang="en-US" dirty="0"/>
              <a:t>So we’re essentially saying:</a:t>
            </a:r>
            <a:br>
              <a:rPr lang="en-US" dirty="0"/>
            </a:br>
            <a:r>
              <a:rPr lang="en-US" dirty="0"/>
              <a:t>f of t equals the sum of delta functions,</a:t>
            </a:r>
            <a:br>
              <a:rPr lang="en-US" dirty="0"/>
            </a:br>
            <a:r>
              <a:rPr lang="en-US" dirty="0"/>
              <a:t>each multiplied by f at that location.</a:t>
            </a:r>
          </a:p>
          <a:p>
            <a:endParaRPr lang="en-US" dirty="0"/>
          </a:p>
          <a:p>
            <a:r>
              <a:rPr lang="en-US" dirty="0"/>
              <a:t>Look at the diagram.</a:t>
            </a:r>
            <a:br>
              <a:rPr lang="en-US" dirty="0"/>
            </a:br>
            <a:r>
              <a:rPr lang="en-US" dirty="0"/>
              <a:t>The smooth gray curve represents the original function,</a:t>
            </a:r>
            <a:br>
              <a:rPr lang="en-US" dirty="0"/>
            </a:br>
            <a:r>
              <a:rPr lang="en-US" dirty="0"/>
              <a:t>and the red arrows show the delta spikes.</a:t>
            </a:r>
            <a:br>
              <a:rPr lang="en-US" dirty="0"/>
            </a:br>
            <a:r>
              <a:rPr lang="en-US" dirty="0"/>
              <a:t>Each spike points straight up, and its height</a:t>
            </a:r>
            <a:br>
              <a:rPr lang="en-US" dirty="0"/>
            </a:br>
            <a:r>
              <a:rPr lang="en-US" dirty="0"/>
              <a:t>matches the value of the function at that moment.</a:t>
            </a:r>
          </a:p>
          <a:p>
            <a:endParaRPr lang="en-US" dirty="0"/>
          </a:p>
          <a:p>
            <a:r>
              <a:rPr lang="en-US" dirty="0"/>
              <a:t>Now, if you add all of these </a:t>
            </a:r>
            <a:r>
              <a:rPr lang="en-US" b="1" dirty="0"/>
              <a:t>weighted impulses</a:t>
            </a:r>
            <a:r>
              <a:rPr lang="en-US" dirty="0"/>
              <a:t> together —</a:t>
            </a:r>
            <a:br>
              <a:rPr lang="en-US" dirty="0"/>
            </a:br>
            <a:r>
              <a:rPr lang="en-US" dirty="0"/>
              <a:t>you recover the entire shape of the original function.</a:t>
            </a:r>
          </a:p>
          <a:p>
            <a:r>
              <a:rPr lang="en-US" dirty="0"/>
              <a:t>This construction gives us a complete basis in one dimension.</a:t>
            </a:r>
            <a:br>
              <a:rPr lang="en-US" dirty="0"/>
            </a:br>
            <a:r>
              <a:rPr lang="en-US" dirty="0"/>
              <a:t>And we can take this idea further.</a:t>
            </a:r>
          </a:p>
          <a:p>
            <a:r>
              <a:rPr lang="en-US" dirty="0"/>
              <a:t>In two dimensions, we use impulses defined over x and y.</a:t>
            </a:r>
            <a:br>
              <a:rPr lang="en-US" dirty="0"/>
            </a:br>
            <a:r>
              <a:rPr lang="en-US" dirty="0"/>
              <a:t>Think of image pixels — each pixel acts like a 2D delta function,</a:t>
            </a:r>
            <a:br>
              <a:rPr lang="en-US" dirty="0"/>
            </a:br>
            <a:r>
              <a:rPr lang="en-US" dirty="0"/>
              <a:t>placed at a specific location and scaled by intensity.</a:t>
            </a:r>
          </a:p>
          <a:p>
            <a:r>
              <a:rPr lang="en-US" dirty="0"/>
              <a:t>In three dimensions — like with medical images or 3D scans —</a:t>
            </a:r>
            <a:br>
              <a:rPr lang="en-US" dirty="0"/>
            </a:br>
            <a:r>
              <a:rPr lang="en-US" dirty="0"/>
              <a:t>we build the signal from tiny volume elements, or voxels.</a:t>
            </a:r>
            <a:br>
              <a:rPr lang="en-US" dirty="0"/>
            </a:br>
            <a:r>
              <a:rPr lang="en-US" dirty="0"/>
              <a:t>Each voxel is just an impulse located at some point in 3D space,</a:t>
            </a:r>
            <a:br>
              <a:rPr lang="en-US" dirty="0"/>
            </a:br>
            <a:r>
              <a:rPr lang="en-US" dirty="0"/>
              <a:t>scaled by the value of the function there.</a:t>
            </a:r>
          </a:p>
          <a:p>
            <a:endParaRPr lang="en-US" dirty="0"/>
          </a:p>
          <a:p>
            <a:r>
              <a:rPr lang="en-US" dirty="0"/>
              <a:t>So no matter the dimensionality —</a:t>
            </a:r>
            <a:br>
              <a:rPr lang="en-US" dirty="0"/>
            </a:br>
            <a:r>
              <a:rPr lang="en-US" dirty="0"/>
              <a:t>one D, two D, or three D —</a:t>
            </a:r>
            <a:br>
              <a:rPr lang="en-US" dirty="0"/>
            </a:br>
            <a:r>
              <a:rPr lang="en-US" dirty="0"/>
              <a:t>you can think of a signal, image, or volume</a:t>
            </a:r>
            <a:br>
              <a:rPr lang="en-US" dirty="0"/>
            </a:br>
            <a:r>
              <a:rPr lang="en-US" dirty="0"/>
              <a:t>as being built from a </a:t>
            </a:r>
            <a:r>
              <a:rPr lang="en-US" b="1" dirty="0"/>
              <a:t>grid of impulses</a:t>
            </a:r>
            <a:r>
              <a:rPr lang="en-US" dirty="0"/>
              <a:t>.</a:t>
            </a:r>
          </a:p>
          <a:p>
            <a:r>
              <a:rPr lang="en-US" dirty="0"/>
              <a:t>Each impulse contributes a small piece of the whole.</a:t>
            </a:r>
            <a:br>
              <a:rPr lang="en-US" dirty="0"/>
            </a:br>
            <a:r>
              <a:rPr lang="en-US" dirty="0"/>
              <a:t>And together, they form the complete function.</a:t>
            </a:r>
          </a:p>
          <a:p>
            <a:r>
              <a:rPr lang="en-US" dirty="0"/>
              <a:t>That’s the power of thinking in terms of delta functions —</a:t>
            </a:r>
            <a:br>
              <a:rPr lang="en-US" dirty="0"/>
            </a:br>
            <a:r>
              <a:rPr lang="en-US" dirty="0"/>
              <a:t>they give us a clean, mathematical way to build up</a:t>
            </a:r>
            <a:br>
              <a:rPr lang="en-US" dirty="0"/>
            </a:br>
            <a:r>
              <a:rPr lang="en-US" dirty="0"/>
              <a:t>any function from the ground up, piece by piece.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17</a:t>
            </a:fld>
            <a:endParaRPr lang="en-US"/>
          </a:p>
        </p:txBody>
      </p:sp>
    </p:spTree>
    <p:extLst>
      <p:ext uri="{BB962C8B-B14F-4D97-AF65-F5344CB8AC3E}">
        <p14:creationId xmlns:p14="http://schemas.microsoft.com/office/powerpoint/2010/main" val="151039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impulse-based thinking becomes especially useful when we move into the world of </a:t>
            </a:r>
            <a:r>
              <a:rPr lang="en-US" b="1" dirty="0"/>
              <a:t>digital imaging</a:t>
            </a:r>
            <a:r>
              <a:rPr lang="en-US" dirty="0"/>
              <a:t>.</a:t>
            </a:r>
          </a:p>
          <a:p>
            <a:r>
              <a:rPr lang="en-US" dirty="0"/>
              <a:t>When you capture a picture, what you really get is a </a:t>
            </a:r>
            <a:r>
              <a:rPr lang="en-US" b="1" dirty="0"/>
              <a:t>grid of pixels</a:t>
            </a:r>
            <a:r>
              <a:rPr lang="en-US" dirty="0"/>
              <a:t> — discrete samples of brightness or intensity at specific locations. Each pixel can be thought of as a weighted impulse. A brighter pixel contributes more to the image, a darker pixel contributes less. And when the pixel size gets smaller and smaller — approaching zero — you begin to approach the continuous version: the </a:t>
            </a:r>
            <a:r>
              <a:rPr lang="en-US" b="1" dirty="0"/>
              <a:t>delta function</a:t>
            </a:r>
            <a:r>
              <a:rPr lang="en-US" dirty="0"/>
              <a:t>.</a:t>
            </a:r>
          </a:p>
          <a:p>
            <a:endParaRPr lang="en-US" dirty="0"/>
          </a:p>
          <a:p>
            <a:r>
              <a:rPr lang="en-US" dirty="0"/>
              <a:t>So in this view, an entire image is just a </a:t>
            </a:r>
            <a:r>
              <a:rPr lang="en-US" b="1" dirty="0"/>
              <a:t>sum of impulses</a:t>
            </a:r>
            <a:r>
              <a:rPr lang="en-US" dirty="0"/>
              <a:t>, one per pixel, weighted by intensity.</a:t>
            </a:r>
          </a:p>
          <a:p>
            <a:r>
              <a:rPr lang="en-US" dirty="0"/>
              <a:t>And this isn’t limited to 2D images.</a:t>
            </a:r>
          </a:p>
          <a:p>
            <a:endParaRPr lang="en-US" dirty="0"/>
          </a:p>
          <a:p>
            <a:r>
              <a:rPr lang="en-US" dirty="0"/>
              <a:t>In 3D medical imaging, for example, we deal with </a:t>
            </a:r>
            <a:r>
              <a:rPr lang="en-US" b="1" dirty="0"/>
              <a:t>voxels</a:t>
            </a:r>
            <a:r>
              <a:rPr lang="en-US" dirty="0"/>
              <a:t> — volume elements — which are essentially 3D pixels. Again, each voxel corresponds to an impulse in space.</a:t>
            </a:r>
          </a:p>
          <a:p>
            <a:r>
              <a:rPr lang="en-US" dirty="0"/>
              <a:t>Whether it’s a 1D signal, a 2D image, or a 3D volume, we can represent the data using impulse-like basis functions. That’s one perspective.</a:t>
            </a:r>
          </a:p>
          <a:p>
            <a:r>
              <a:rPr lang="en-US" dirty="0"/>
              <a:t>But there’s another view — just as powerful — and that involves </a:t>
            </a:r>
            <a:r>
              <a:rPr lang="en-US" b="1" dirty="0"/>
              <a:t>sinusoidal basis functions</a:t>
            </a:r>
            <a:r>
              <a:rPr lang="en-US" dirty="0"/>
              <a: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18</a:t>
            </a:fld>
            <a:endParaRPr lang="en-US"/>
          </a:p>
        </p:txBody>
      </p:sp>
    </p:spTree>
    <p:extLst>
      <p:ext uri="{BB962C8B-B14F-4D97-AF65-F5344CB8AC3E}">
        <p14:creationId xmlns:p14="http://schemas.microsoft.com/office/powerpoint/2010/main" val="967174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Sine and cosine waves show up everywhere in nature —</a:t>
            </a:r>
            <a:br>
              <a:rPr lang="en-US" dirty="0"/>
            </a:br>
            <a:r>
              <a:rPr lang="en-US" dirty="0"/>
              <a:t>and there's a beautiful reason for that.</a:t>
            </a:r>
            <a:br>
              <a:rPr lang="en-US" dirty="0"/>
            </a:br>
            <a:r>
              <a:rPr lang="en-US" dirty="0"/>
              <a:t>They arise </a:t>
            </a:r>
            <a:r>
              <a:rPr lang="en-US" b="1" dirty="0"/>
              <a:t>naturally from circular motion</a:t>
            </a:r>
            <a:r>
              <a:rPr lang="en-US" dirty="0"/>
              <a:t>.</a:t>
            </a:r>
          </a:p>
          <a:p>
            <a:r>
              <a:rPr lang="en-US" dirty="0"/>
              <a:t>Let’s take a simple example.</a:t>
            </a:r>
          </a:p>
          <a:p>
            <a:br>
              <a:rPr lang="en-US" dirty="0"/>
            </a:br>
            <a:r>
              <a:rPr lang="en-US" dirty="0"/>
              <a:t>Imagine a point moving in a perfect circle —</a:t>
            </a:r>
            <a:br>
              <a:rPr lang="en-US" dirty="0"/>
            </a:br>
            <a:r>
              <a:rPr lang="en-US" dirty="0"/>
              <a:t>like the moon orbiting the Earth at constant speed.</a:t>
            </a:r>
          </a:p>
          <a:p>
            <a:endParaRPr lang="en-US" dirty="0"/>
          </a:p>
          <a:p>
            <a:r>
              <a:rPr lang="en-US" dirty="0"/>
              <a:t>Now, if you shine a light on that motion</a:t>
            </a:r>
            <a:br>
              <a:rPr lang="en-US" dirty="0"/>
            </a:br>
            <a:r>
              <a:rPr lang="en-US" dirty="0"/>
              <a:t>and watch the shadow it casts onto a flat surface —</a:t>
            </a:r>
            <a:br>
              <a:rPr lang="en-US" dirty="0"/>
            </a:br>
            <a:r>
              <a:rPr lang="en-US" dirty="0"/>
              <a:t>say, the x-axis —</a:t>
            </a:r>
            <a:br>
              <a:rPr lang="en-US" dirty="0"/>
            </a:br>
            <a:r>
              <a:rPr lang="en-US" dirty="0"/>
              <a:t>what do you get?</a:t>
            </a:r>
          </a:p>
          <a:p>
            <a:r>
              <a:rPr lang="en-US" dirty="0"/>
              <a:t>You get a sine wave.</a:t>
            </a:r>
          </a:p>
          <a:p>
            <a:r>
              <a:rPr lang="en-US" dirty="0"/>
              <a:t>That’s right —</a:t>
            </a:r>
            <a:br>
              <a:rPr lang="en-US" dirty="0"/>
            </a:br>
            <a:r>
              <a:rPr lang="en-US" dirty="0"/>
              <a:t>as the point moves around the circle,</a:t>
            </a:r>
            <a:br>
              <a:rPr lang="en-US" dirty="0"/>
            </a:br>
            <a:r>
              <a:rPr lang="en-US" dirty="0"/>
              <a:t>its horizontal position follows a smooth wave.</a:t>
            </a:r>
            <a:br>
              <a:rPr lang="en-US" dirty="0"/>
            </a:br>
            <a:r>
              <a:rPr lang="en-US" dirty="0"/>
              <a:t>That’s sine.</a:t>
            </a:r>
          </a:p>
          <a:p>
            <a:r>
              <a:rPr lang="en-US" dirty="0"/>
              <a:t>And if you project onto the y-axis instead,</a:t>
            </a:r>
            <a:br>
              <a:rPr lang="en-US" dirty="0"/>
            </a:br>
            <a:r>
              <a:rPr lang="en-US" dirty="0"/>
              <a:t>you get a cosine wave.</a:t>
            </a:r>
          </a:p>
          <a:p>
            <a:endParaRPr lang="en-US" dirty="0"/>
          </a:p>
          <a:p>
            <a:r>
              <a:rPr lang="en-US" dirty="0"/>
              <a:t>So these waveforms — sine and cosine —</a:t>
            </a:r>
            <a:br>
              <a:rPr lang="en-US" dirty="0"/>
            </a:br>
            <a:r>
              <a:rPr lang="en-US" dirty="0"/>
              <a:t>are really just the shadows of circular motion.</a:t>
            </a:r>
          </a:p>
          <a:p>
            <a:r>
              <a:rPr lang="en-US" dirty="0"/>
              <a:t>That’s a profound idea.</a:t>
            </a:r>
          </a:p>
          <a:p>
            <a:br>
              <a:rPr lang="en-US" dirty="0"/>
            </a:br>
            <a:r>
              <a:rPr lang="en-US" dirty="0"/>
              <a:t>It tells us that sine and cosine functions</a:t>
            </a:r>
            <a:br>
              <a:rPr lang="en-US" dirty="0"/>
            </a:br>
            <a:r>
              <a:rPr lang="en-US" dirty="0"/>
              <a:t>aren’t just mathematical inventions —</a:t>
            </a:r>
            <a:br>
              <a:rPr lang="en-US" dirty="0"/>
            </a:br>
            <a:r>
              <a:rPr lang="en-US" dirty="0"/>
              <a:t>they’re </a:t>
            </a:r>
            <a:r>
              <a:rPr lang="en-US" b="1" dirty="0"/>
              <a:t>embedded in the geometry and physics of the real world</a:t>
            </a:r>
            <a:r>
              <a:rPr lang="en-US" dirty="0"/>
              <a:t>.</a:t>
            </a:r>
          </a:p>
          <a:p>
            <a:r>
              <a:rPr lang="en-US" dirty="0"/>
              <a:t>They describe how things rotate, how waves travel,</a:t>
            </a:r>
            <a:br>
              <a:rPr lang="en-US" dirty="0"/>
            </a:br>
            <a:r>
              <a:rPr lang="en-US" dirty="0"/>
              <a:t>how springs vibrate, how light and sound move.</a:t>
            </a:r>
          </a:p>
          <a:p>
            <a:r>
              <a:rPr lang="en-US" dirty="0"/>
              <a:t>And because of this,</a:t>
            </a:r>
            <a:br>
              <a:rPr lang="en-US" dirty="0"/>
            </a:br>
            <a:r>
              <a:rPr lang="en-US" dirty="0"/>
              <a:t>sine and cosine waves form the foundation of something</a:t>
            </a:r>
            <a:br>
              <a:rPr lang="en-US" dirty="0"/>
            </a:br>
            <a:r>
              <a:rPr lang="en-US" dirty="0"/>
              <a:t>we’ll explore in depth — the </a:t>
            </a:r>
            <a:r>
              <a:rPr lang="en-US" b="1" dirty="0"/>
              <a:t>Fourier series</a:t>
            </a:r>
            <a:r>
              <a:rPr lang="en-US" dirty="0"/>
              <a:t>.</a:t>
            </a:r>
          </a:p>
          <a:p>
            <a:endParaRPr lang="en-US" dirty="0"/>
          </a:p>
          <a:p>
            <a:r>
              <a:rPr lang="en-US" dirty="0"/>
              <a:t>So far, we’ve seen two major ways to represent functions:</a:t>
            </a:r>
          </a:p>
          <a:p>
            <a:r>
              <a:rPr lang="en-US" dirty="0"/>
              <a:t>First, as a </a:t>
            </a:r>
            <a:r>
              <a:rPr lang="en-US" b="1" dirty="0"/>
              <a:t>sum of impulses</a:t>
            </a:r>
            <a:r>
              <a:rPr lang="en-US" dirty="0"/>
              <a:t> —</a:t>
            </a:r>
            <a:br>
              <a:rPr lang="en-US" dirty="0"/>
            </a:br>
            <a:r>
              <a:rPr lang="en-US" dirty="0"/>
              <a:t>like tiny samples or pixel points in space.</a:t>
            </a:r>
          </a:p>
          <a:p>
            <a:r>
              <a:rPr lang="en-US" dirty="0"/>
              <a:t>And now, as a </a:t>
            </a:r>
            <a:r>
              <a:rPr lang="en-US" b="1" dirty="0"/>
              <a:t>sum of sinusoids</a:t>
            </a:r>
            <a:r>
              <a:rPr lang="en-US" dirty="0"/>
              <a:t> —</a:t>
            </a:r>
            <a:br>
              <a:rPr lang="en-US" dirty="0"/>
            </a:br>
            <a:r>
              <a:rPr lang="en-US" dirty="0"/>
              <a:t>waves that capture how a signal behaves across frequencies.</a:t>
            </a:r>
          </a:p>
          <a:p>
            <a:r>
              <a:rPr lang="en-US" dirty="0"/>
              <a:t>Both perspectives are incredibly powerful.</a:t>
            </a:r>
            <a:br>
              <a:rPr lang="en-US" dirty="0"/>
            </a:br>
            <a:r>
              <a:rPr lang="en-US" dirty="0"/>
              <a:t>They help us describe, analyze, and reconstruct data</a:t>
            </a:r>
            <a:br>
              <a:rPr lang="en-US" dirty="0"/>
            </a:br>
            <a:r>
              <a:rPr lang="en-US" dirty="0"/>
              <a:t>in ways that are both mathematically precise and physically meaningful.</a:t>
            </a:r>
          </a:p>
          <a:p>
            <a:endParaRPr lang="en-US" dirty="0"/>
          </a:p>
          <a:p>
            <a:r>
              <a:rPr lang="en-US" dirty="0"/>
              <a:t>In the next section, we’ll dive into how</a:t>
            </a:r>
            <a:br>
              <a:rPr lang="en-US" dirty="0"/>
            </a:br>
            <a:r>
              <a:rPr lang="en-US" dirty="0"/>
              <a:t>these sine and cosine functions can be used</a:t>
            </a:r>
            <a:br>
              <a:rPr lang="en-US" dirty="0"/>
            </a:br>
            <a:r>
              <a:rPr lang="en-US" dirty="0"/>
              <a:t>as a basis to build any function you like —</a:t>
            </a:r>
            <a:br>
              <a:rPr lang="en-US" dirty="0"/>
            </a:br>
            <a:r>
              <a:rPr lang="en-US" dirty="0"/>
              <a:t>just like we built vectors from orthogonal components.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19</a:t>
            </a:fld>
            <a:endParaRPr lang="en-US"/>
          </a:p>
        </p:txBody>
      </p:sp>
    </p:spTree>
    <p:extLst>
      <p:ext uri="{BB962C8B-B14F-4D97-AF65-F5344CB8AC3E}">
        <p14:creationId xmlns:p14="http://schemas.microsoft.com/office/powerpoint/2010/main" val="14319236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take a closer look at the sinusoidal basis — especially the sine and cosine functions.</a:t>
            </a:r>
          </a:p>
          <a:p>
            <a:endParaRPr lang="en-US" dirty="0"/>
          </a:p>
          <a:p>
            <a:r>
              <a:rPr lang="en-US" dirty="0"/>
              <a:t>In the plot, the red curve represents the sine of x — written as sine x — and the green curve shows the cosine of x.</a:t>
            </a:r>
          </a:p>
          <a:p>
            <a:r>
              <a:rPr lang="en-US" dirty="0"/>
              <a:t>There’s a key difference in their symmetry. Cosine is an even function. That means if you reflect it across the vertical axis — the y-axis — it stays the same. In other words, the cosine of negative x equals the cosine of x.</a:t>
            </a:r>
          </a:p>
          <a:p>
            <a:endParaRPr lang="en-US" dirty="0"/>
          </a:p>
          <a:p>
            <a:r>
              <a:rPr lang="en-US" dirty="0"/>
              <a:t>Sine, on the other hand, is an odd function. That means it’s symmetric about the origin. So the sine of negative x equals the negative sine of x.</a:t>
            </a:r>
          </a:p>
          <a:p>
            <a:r>
              <a:rPr lang="en-US" dirty="0"/>
              <a:t>But here’s something subtle. Whether a function is “even” or “odd” actually depends on where you place the origin. If you shift your coordinate system, the symmetry can change. So this classification is based on our point of view — not an absolute property of the function.</a:t>
            </a:r>
          </a:p>
          <a:p>
            <a:endParaRPr lang="en-US" dirty="0"/>
          </a:p>
          <a:p>
            <a:r>
              <a:rPr lang="en-US" dirty="0"/>
              <a:t>Now here’s the deeper idea: sine and cosine functions together form an orthogonal basis. That means you can use them to represent any reasonable function — just like we previously used delta functions or unit vectors.</a:t>
            </a:r>
          </a:p>
          <a:p>
            <a:r>
              <a:rPr lang="en-US" dirty="0"/>
              <a:t>This sets the stage for a powerful idea: instead of expressing a function as a sum of impulses, like a series of spikes, we can express it as a sum of waves — smooth, continuous, sinusoidal components.</a:t>
            </a:r>
          </a:p>
          <a:p>
            <a:r>
              <a:rPr lang="en-US" dirty="0"/>
              <a:t>And that’s exactly what we’ll explore next through the lens of the Fourier series.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20</a:t>
            </a:fld>
            <a:endParaRPr lang="en-US"/>
          </a:p>
        </p:txBody>
      </p:sp>
    </p:spTree>
    <p:extLst>
      <p:ext uri="{BB962C8B-B14F-4D97-AF65-F5344CB8AC3E}">
        <p14:creationId xmlns:p14="http://schemas.microsoft.com/office/powerpoint/2010/main" val="4123524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representation makes that idea visual and intuitive.</a:t>
            </a:r>
          </a:p>
          <a:p>
            <a:endParaRPr lang="en-US" dirty="0"/>
          </a:p>
          <a:p>
            <a:r>
              <a:rPr lang="en-US" dirty="0"/>
              <a:t>Here, each person is holding a different sine wave — each wave has a different frequency or amplitude. When we add these waves together, we get a more complex waveform — something that might look jagged, or smooth, or anything in between.</a:t>
            </a:r>
          </a:p>
          <a:p>
            <a:endParaRPr lang="en-US" dirty="0"/>
          </a:p>
          <a:p>
            <a:r>
              <a:rPr lang="en-US" dirty="0"/>
              <a:t>And this is the foundation of </a:t>
            </a:r>
            <a:r>
              <a:rPr lang="en-US" b="1" dirty="0"/>
              <a:t>the Fourier series</a:t>
            </a:r>
            <a:r>
              <a:rPr lang="en-US" dirty="0"/>
              <a:t>. It tells us that </a:t>
            </a:r>
            <a:r>
              <a:rPr lang="en-US" b="1" dirty="0"/>
              <a:t>any reasonable function</a:t>
            </a:r>
            <a:r>
              <a:rPr lang="en-US" dirty="0"/>
              <a:t> — smooth or sharp — can be represented as a weighted sum of sine and cosine waves. These sinusoidal components differ in frequency, phase, and amplitude. But together, they can recreate signals of almost any shape.</a:t>
            </a:r>
          </a:p>
          <a:p>
            <a:endParaRPr lang="en-US" dirty="0"/>
          </a:p>
          <a:p>
            <a:r>
              <a:rPr lang="en-US" dirty="0"/>
              <a:t>So, just like we saw earlier that a function could be built from </a:t>
            </a:r>
            <a:r>
              <a:rPr lang="en-US" b="1" dirty="0"/>
              <a:t>impulses</a:t>
            </a:r>
            <a:r>
              <a:rPr lang="en-US" dirty="0"/>
              <a:t>, here we’re seeing that a function can also be built from </a:t>
            </a:r>
            <a:r>
              <a:rPr lang="en-US" b="1" dirty="0"/>
              <a:t>waves</a:t>
            </a:r>
            <a:r>
              <a:rPr lang="en-US" dirty="0"/>
              <a:t>. These are two complementary viewpoints — both valid, both powerful.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21</a:t>
            </a:fld>
            <a:endParaRPr lang="en-US"/>
          </a:p>
        </p:txBody>
      </p:sp>
    </p:spTree>
    <p:extLst>
      <p:ext uri="{BB962C8B-B14F-4D97-AF65-F5344CB8AC3E}">
        <p14:creationId xmlns:p14="http://schemas.microsoft.com/office/powerpoint/2010/main" val="17437496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bring this idea to life with a demonstration.</a:t>
            </a:r>
          </a:p>
          <a:p>
            <a:endParaRPr lang="en-US" dirty="0"/>
          </a:p>
          <a:p>
            <a:r>
              <a:rPr lang="en-US" dirty="0"/>
              <a:t>What you’re seeing here is called </a:t>
            </a:r>
            <a:r>
              <a:rPr lang="en-US" b="1" dirty="0"/>
              <a:t>spectral synthesis</a:t>
            </a:r>
            <a:r>
              <a:rPr lang="en-US" dirty="0"/>
              <a:t> — it’s the process of reconstructing a function by adding together sine and cosine waves.</a:t>
            </a:r>
          </a:p>
          <a:p>
            <a:r>
              <a:rPr lang="en-US" dirty="0"/>
              <a:t>The red curve represents the signal or shape we want to recreate. Under the hood, we’re combining multiple sinusoidal components — each one a wave with its own frequency and amplitude.</a:t>
            </a:r>
          </a:p>
          <a:p>
            <a:r>
              <a:rPr lang="en-US" dirty="0"/>
              <a:t>As we begin, the approximation looks rough. But as we add more and more sine and cosine terms — especially ones with higher frequencies — the red curve starts to take shape. We can even mimic sharp edges or jumps, like you see in square waves, just by stacking enough high-frequency components together.</a:t>
            </a:r>
          </a:p>
          <a:p>
            <a:r>
              <a:rPr lang="en-US" dirty="0"/>
              <a:t>Here’s what’s important: each sine or cosine wave contributes a specific amount to the final signal. That amount is determined by its amplitude. If we were to graph those contributions — with frequency on the x-axis and amplitude on the y-axis — we’d get what’s known as the </a:t>
            </a:r>
            <a:r>
              <a:rPr lang="en-US" b="1" dirty="0"/>
              <a:t>Fourier spectrum</a:t>
            </a:r>
            <a:r>
              <a:rPr lang="en-US" dirty="0"/>
              <a:t>.</a:t>
            </a:r>
          </a:p>
          <a:p>
            <a:endParaRPr lang="en-US" dirty="0"/>
          </a:p>
          <a:p>
            <a:r>
              <a:rPr lang="en-US" dirty="0"/>
              <a:t>Think of it as the signal’s fingerprint. It tells us exactly how much of each frequency is present in the original function.</a:t>
            </a:r>
          </a:p>
          <a:p>
            <a:endParaRPr lang="en-US" dirty="0"/>
          </a:p>
          <a:p>
            <a:r>
              <a:rPr lang="en-US" dirty="0"/>
              <a:t>This is the core idea behind </a:t>
            </a:r>
            <a:r>
              <a:rPr lang="en-US" b="1" dirty="0"/>
              <a:t>one-dimensional Fourier analysis</a:t>
            </a:r>
            <a:r>
              <a:rPr lang="en-US" dirty="0"/>
              <a:t>. But it doesn’t stop there. We can extend the same concept to two-dimensional signals, like images — and even to three dimensions, when we’re working with volumes.</a:t>
            </a:r>
          </a:p>
          <a:p>
            <a:r>
              <a:rPr lang="en-US" dirty="0"/>
              <a:t>So what begins as a sum of simple waves turns out to be a powerful way of analyzing and reconstructing complex signals in any dimension.</a:t>
            </a:r>
          </a:p>
        </p:txBody>
      </p:sp>
      <p:sp>
        <p:nvSpPr>
          <p:cNvPr id="4" name="Slide Number Placeholder 3"/>
          <p:cNvSpPr>
            <a:spLocks noGrp="1"/>
          </p:cNvSpPr>
          <p:nvPr>
            <p:ph type="sldNum" sz="quarter" idx="5"/>
          </p:nvPr>
        </p:nvSpPr>
        <p:spPr/>
        <p:txBody>
          <a:bodyPr/>
          <a:lstStyle/>
          <a:p>
            <a:fld id="{9F30534E-9FB8-46AE-8E3B-5675B268AE6A}" type="slidenum">
              <a:rPr lang="en-US" smtClean="0"/>
              <a:pPr/>
              <a:t>22</a:t>
            </a:fld>
            <a:endParaRPr lang="en-US"/>
          </a:p>
        </p:txBody>
      </p:sp>
    </p:spTree>
    <p:extLst>
      <p:ext uri="{BB962C8B-B14F-4D97-AF65-F5344CB8AC3E}">
        <p14:creationId xmlns:p14="http://schemas.microsoft.com/office/powerpoint/2010/main" val="42325050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see what happens when we take everything we’ve learned and apply it to </a:t>
            </a:r>
            <a:r>
              <a:rPr lang="en-US" b="1" dirty="0"/>
              <a:t>two-dimensional signals</a:t>
            </a:r>
            <a:r>
              <a:rPr lang="en-US" dirty="0"/>
              <a:t> — like images.</a:t>
            </a:r>
          </a:p>
          <a:p>
            <a:endParaRPr lang="en-US" dirty="0"/>
          </a:p>
          <a:p>
            <a:r>
              <a:rPr lang="en-US" dirty="0"/>
              <a:t>Here we have a famous example — a grayscale portrait of </a:t>
            </a:r>
            <a:r>
              <a:rPr lang="en-US" b="1" dirty="0"/>
              <a:t>Albert Einstein</a:t>
            </a:r>
            <a:r>
              <a:rPr lang="en-US" dirty="0"/>
              <a:t>. At first glance, it seems complex and highly detailed. But if we perform </a:t>
            </a:r>
            <a:r>
              <a:rPr lang="en-US" b="1" dirty="0"/>
              <a:t>2D Fourier analysis</a:t>
            </a:r>
            <a:r>
              <a:rPr lang="en-US" dirty="0"/>
              <a:t>, something remarkable happens: we can decompose this image into a collection of </a:t>
            </a:r>
            <a:r>
              <a:rPr lang="en-US" b="1" dirty="0"/>
              <a:t>smooth, sinusoidal wave patterns</a:t>
            </a:r>
            <a:r>
              <a:rPr lang="en-US" dirty="0"/>
              <a:t>.</a:t>
            </a:r>
          </a:p>
          <a:p>
            <a:endParaRPr lang="en-US" dirty="0"/>
          </a:p>
          <a:p>
            <a:r>
              <a:rPr lang="en-US" dirty="0"/>
              <a:t>In the middle panel, you see the </a:t>
            </a:r>
            <a:r>
              <a:rPr lang="en-US" b="1" dirty="0"/>
              <a:t>amplitude spectrum</a:t>
            </a:r>
            <a:r>
              <a:rPr lang="en-US" dirty="0"/>
              <a:t> — this tells us how much of each frequency is present in the image. Frequencies closer to the center are low — representing broad, smooth changes. As you move outward, the frequencies get higher — capturing fine details and edges.</a:t>
            </a:r>
          </a:p>
          <a:p>
            <a:r>
              <a:rPr lang="en-US" dirty="0"/>
              <a:t>On the right, you see an example of one such component: a </a:t>
            </a:r>
            <a:r>
              <a:rPr lang="en-US" b="1" dirty="0"/>
              <a:t>2D sinusoidal wave</a:t>
            </a:r>
            <a:r>
              <a:rPr lang="en-US" dirty="0"/>
              <a:t>. These are like ripples in water, traveling in various directions — horizontal, vertical, diagonal — and at different frequencies.</a:t>
            </a:r>
          </a:p>
          <a:p>
            <a:endParaRPr lang="en-US" dirty="0"/>
          </a:p>
          <a:p>
            <a:r>
              <a:rPr lang="en-US" dirty="0"/>
              <a:t>Now if we zoom out, we can think of an image as a </a:t>
            </a:r>
            <a:r>
              <a:rPr lang="en-US" b="1" dirty="0"/>
              <a:t>sum of many such 2D waves</a:t>
            </a:r>
            <a:r>
              <a:rPr lang="en-US" dirty="0"/>
              <a:t>. That’s what the grid of small tiles on the bottom left represents — each one is a different sinusoidal basis function. Some capture coarse patterns; others capture fine textures.</a:t>
            </a:r>
          </a:p>
          <a:p>
            <a:r>
              <a:rPr lang="en-US" dirty="0"/>
              <a:t>As we adjust the </a:t>
            </a:r>
            <a:r>
              <a:rPr lang="en-US" b="1" dirty="0"/>
              <a:t>amplitudes</a:t>
            </a:r>
            <a:r>
              <a:rPr lang="en-US" dirty="0"/>
              <a:t> and </a:t>
            </a:r>
            <a:r>
              <a:rPr lang="en-US" b="1" dirty="0"/>
              <a:t>phases</a:t>
            </a:r>
            <a:r>
              <a:rPr lang="en-US" dirty="0"/>
              <a:t> of these sinusoidal components just right — and add them all together — we </a:t>
            </a:r>
            <a:r>
              <a:rPr lang="en-US" b="1" dirty="0"/>
              <a:t>reconstruct the original image</a:t>
            </a:r>
            <a:r>
              <a:rPr lang="en-US" dirty="0"/>
              <a:t>.</a:t>
            </a:r>
          </a:p>
          <a:p>
            <a:r>
              <a:rPr lang="en-US" dirty="0"/>
              <a:t>This is the essence of </a:t>
            </a:r>
            <a:r>
              <a:rPr lang="en-US" b="1" dirty="0"/>
              <a:t>Fourier analysis</a:t>
            </a:r>
            <a:r>
              <a:rPr lang="en-US" dirty="0"/>
              <a:t> in two dimensions:</a:t>
            </a:r>
            <a:br>
              <a:rPr lang="en-US" dirty="0"/>
            </a:br>
            <a:endParaRPr lang="en-US" dirty="0"/>
          </a:p>
          <a:p>
            <a:r>
              <a:rPr lang="en-US" dirty="0"/>
              <a:t>We take a complex image, and represent it using simple, smooth building blocks. The result is a completely new way to think about images — not as pixels, but as combinations of spatial frequencies.</a:t>
            </a:r>
          </a:p>
          <a:p>
            <a:r>
              <a:rPr lang="en-US" dirty="0"/>
              <a:t>And this approach is not limited to images of Einstein. It works for </a:t>
            </a:r>
            <a:r>
              <a:rPr lang="en-US" b="1" dirty="0"/>
              <a:t>any image</a:t>
            </a:r>
            <a:r>
              <a:rPr lang="en-US" dirty="0"/>
              <a:t> — medical scans, photographs, microscopy, and beyond. That’s why Fourier methods are so foundational in signal processing, image analysis, and modern AI.</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23</a:t>
            </a:fld>
            <a:endParaRPr lang="en-US"/>
          </a:p>
        </p:txBody>
      </p:sp>
    </p:spTree>
    <p:extLst>
      <p:ext uri="{BB962C8B-B14F-4D97-AF65-F5344CB8AC3E}">
        <p14:creationId xmlns:p14="http://schemas.microsoft.com/office/powerpoint/2010/main" val="3989999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moment to reflect on something deeper — a principle that reaches beyond signal processing and touches the foundations of physics and information itself.</a:t>
            </a:r>
          </a:p>
          <a:p>
            <a:endParaRPr lang="en-US" dirty="0"/>
          </a:p>
          <a:p>
            <a:r>
              <a:rPr lang="en-US" dirty="0"/>
              <a:t>In physics, we talk about the </a:t>
            </a:r>
            <a:r>
              <a:rPr lang="en-US" b="1" dirty="0"/>
              <a:t>wave-particle duality</a:t>
            </a:r>
            <a:r>
              <a:rPr lang="en-US" dirty="0"/>
              <a:t> — the idea that entities like photons and electrons exhibit both particle-like and wave-like behavior. Depending on how you observe them, they might act like tiny particles... or spread out like waves.</a:t>
            </a:r>
          </a:p>
          <a:p>
            <a:r>
              <a:rPr lang="en-US" dirty="0"/>
              <a:t>Interestingly, we see a similar duality in </a:t>
            </a:r>
            <a:r>
              <a:rPr lang="en-US" b="1" dirty="0"/>
              <a:t>information science</a:t>
            </a:r>
            <a:r>
              <a:rPr lang="en-US" dirty="0"/>
              <a:t>.</a:t>
            </a:r>
          </a:p>
          <a:p>
            <a:endParaRPr lang="en-US" dirty="0"/>
          </a:p>
          <a:p>
            <a:r>
              <a:rPr lang="en-US" dirty="0"/>
              <a:t>On one side, we have the </a:t>
            </a:r>
            <a:r>
              <a:rPr lang="en-US" b="1" dirty="0"/>
              <a:t>particle view</a:t>
            </a:r>
            <a:r>
              <a:rPr lang="en-US" dirty="0"/>
              <a:t>: information as discrete units — like pixels in an image, impulses in a signal, or delta functions in a mathematical model. This is the pixel-by-pixel, sample-by-sample perspective. It's granular and local.</a:t>
            </a:r>
          </a:p>
          <a:p>
            <a:r>
              <a:rPr lang="en-US" dirty="0"/>
              <a:t>On the other side, we have the </a:t>
            </a:r>
            <a:r>
              <a:rPr lang="en-US" b="1" dirty="0"/>
              <a:t>wave view</a:t>
            </a:r>
            <a:r>
              <a:rPr lang="en-US" dirty="0"/>
              <a:t>: information described in terms of global, smooth, continuous oscillations — sinusoidal waves of varying frequency, amplitude, and phase. This perspective captures structure across space or time — the big picture.</a:t>
            </a:r>
          </a:p>
          <a:p>
            <a:endParaRPr lang="en-US" dirty="0"/>
          </a:p>
          <a:p>
            <a:r>
              <a:rPr lang="en-US" dirty="0"/>
              <a:t>So when we represent a function — or an image, or a signal — we can choose either perspective.</a:t>
            </a:r>
          </a:p>
          <a:p>
            <a:r>
              <a:rPr lang="en-US" dirty="0"/>
              <a:t>Using </a:t>
            </a:r>
            <a:r>
              <a:rPr lang="en-US" b="1" dirty="0"/>
              <a:t>delta functions</a:t>
            </a:r>
            <a:r>
              <a:rPr lang="en-US" dirty="0"/>
              <a:t> or </a:t>
            </a:r>
            <a:r>
              <a:rPr lang="en-US" b="1" dirty="0"/>
              <a:t>impulses</a:t>
            </a:r>
            <a:r>
              <a:rPr lang="en-US" dirty="0"/>
              <a:t>, we build the signal by assembling localized pieces — one sharp component at a time.</a:t>
            </a:r>
          </a:p>
          <a:p>
            <a:r>
              <a:rPr lang="en-US" dirty="0"/>
              <a:t>Using </a:t>
            </a:r>
            <a:r>
              <a:rPr lang="en-US" b="1" dirty="0"/>
              <a:t>sinusoidal functions</a:t>
            </a:r>
            <a:r>
              <a:rPr lang="en-US" dirty="0"/>
              <a:t>, we build it using smooth, periodic waveforms that span the domain.</a:t>
            </a:r>
          </a:p>
          <a:p>
            <a:r>
              <a:rPr lang="en-US" dirty="0"/>
              <a:t>Both approaches are valid. In fact, they are mathematically equivalent when used with the right basis. </a:t>
            </a:r>
          </a:p>
          <a:p>
            <a:r>
              <a:rPr lang="en-US" dirty="0"/>
              <a:t>And this is the central idea of today’s lecture:</a:t>
            </a:r>
            <a:br>
              <a:rPr lang="en-US" dirty="0"/>
            </a:br>
            <a:endParaRPr lang="en-US" dirty="0"/>
          </a:p>
          <a:p>
            <a:r>
              <a:rPr lang="en-US" dirty="0"/>
              <a:t>A function can be viewed as a </a:t>
            </a:r>
            <a:r>
              <a:rPr lang="en-US" b="1" dirty="0"/>
              <a:t>vector</a:t>
            </a:r>
            <a:r>
              <a:rPr lang="en-US" dirty="0"/>
              <a:t> in a high-dimensional space — and depending on our basis, we can represent that function in </a:t>
            </a:r>
            <a:r>
              <a:rPr lang="en-US" b="1" dirty="0"/>
              <a:t>many different ways</a:t>
            </a:r>
            <a:r>
              <a:rPr lang="en-US" dirty="0"/>
              <a:t>.</a:t>
            </a:r>
          </a:p>
          <a:p>
            <a:r>
              <a:rPr lang="en-US" dirty="0"/>
              <a:t>You can think of a delta basis: where each basis function is an impulse at a specific location.</a:t>
            </a:r>
          </a:p>
          <a:p>
            <a:r>
              <a:rPr lang="en-US" dirty="0"/>
              <a:t>Or a sinusoidal basis: where each basis function is a sine or cosine wave with a different frequency.</a:t>
            </a:r>
          </a:p>
          <a:p>
            <a:r>
              <a:rPr lang="en-US" dirty="0"/>
              <a:t>These are just two different coordinate systems for the same space — and by projecting the function onto the basis elements, we retrieve coefficients that let us reconstruct the original signal as a </a:t>
            </a:r>
            <a:r>
              <a:rPr lang="en-US" b="1" dirty="0"/>
              <a:t>linear combination</a:t>
            </a:r>
            <a:r>
              <a:rPr lang="en-US" dirty="0"/>
              <a:t>.</a:t>
            </a:r>
          </a:p>
          <a:p>
            <a:endParaRPr lang="en-US" dirty="0"/>
          </a:p>
          <a:p>
            <a:r>
              <a:rPr lang="en-US" dirty="0"/>
              <a:t>So in summary:</a:t>
            </a:r>
            <a:br>
              <a:rPr lang="en-US" dirty="0"/>
            </a:br>
            <a:r>
              <a:rPr lang="en-US" dirty="0"/>
              <a:t>The delta basis gives us a </a:t>
            </a:r>
            <a:r>
              <a:rPr lang="en-US" b="1" dirty="0"/>
              <a:t>particle-like</a:t>
            </a:r>
            <a:r>
              <a:rPr lang="en-US" dirty="0"/>
              <a:t> view.</a:t>
            </a:r>
            <a:br>
              <a:rPr lang="en-US" dirty="0"/>
            </a:br>
            <a:r>
              <a:rPr lang="en-US" dirty="0"/>
              <a:t>The sinusoidal basis gives us a </a:t>
            </a:r>
            <a:r>
              <a:rPr lang="en-US" b="1" dirty="0"/>
              <a:t>wave-like</a:t>
            </a:r>
            <a:r>
              <a:rPr lang="en-US" dirty="0"/>
              <a:t> view.</a:t>
            </a:r>
            <a:br>
              <a:rPr lang="en-US" dirty="0"/>
            </a:br>
            <a:r>
              <a:rPr lang="en-US" dirty="0"/>
              <a:t>And both help us understand information from complementary perspectives.</a:t>
            </a:r>
          </a:p>
          <a:p>
            <a:endParaRPr lang="en-US" dirty="0"/>
          </a:p>
          <a:p>
            <a:r>
              <a:rPr lang="en-US" dirty="0"/>
              <a:t>This concludes the first part of our discussion — building intuition through geometry and representation.</a:t>
            </a:r>
          </a:p>
          <a:p>
            <a:r>
              <a:rPr lang="en-US" dirty="0"/>
              <a:t>In the second half, we’ll go deeper into </a:t>
            </a:r>
            <a:r>
              <a:rPr lang="en-US" b="1" dirty="0"/>
              <a:t>Fourier series</a:t>
            </a:r>
            <a:r>
              <a:rPr lang="en-US" dirty="0"/>
              <a:t>, where we work with </a:t>
            </a:r>
            <a:r>
              <a:rPr lang="en-US" b="1" dirty="0"/>
              <a:t>periodic functions</a:t>
            </a:r>
            <a:r>
              <a:rPr lang="en-US" dirty="0"/>
              <a:t>, and learn how to express them precisely in terms of sine and cosine components. We’ll take a short break now — about ten minutes — and then dive right into the math.</a:t>
            </a:r>
          </a:p>
          <a:p>
            <a:r>
              <a:rPr lang="en-US" dirty="0"/>
              <a:t>See you shortly.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24</a:t>
            </a:fld>
            <a:endParaRPr lang="en-US"/>
          </a:p>
        </p:txBody>
      </p:sp>
    </p:spTree>
    <p:extLst>
      <p:ext uri="{BB962C8B-B14F-4D97-AF65-F5344CB8AC3E}">
        <p14:creationId xmlns:p14="http://schemas.microsoft.com/office/powerpoint/2010/main" val="3260703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begin our exploration of Fourier series by focusing on a special class of functions: </a:t>
            </a:r>
            <a:r>
              <a:rPr lang="en-US" b="1" dirty="0"/>
              <a:t>periodic functions</a:t>
            </a:r>
            <a:r>
              <a:rPr lang="en-US" dirty="0"/>
              <a:t>.</a:t>
            </a:r>
          </a:p>
          <a:p>
            <a:r>
              <a:rPr lang="en-US" dirty="0"/>
              <a:t>A periodic function is one that repeats itself over and over again at regular intervals. Formally, we say that a function </a:t>
            </a:r>
            <a:r>
              <a:rPr lang="en-US" b="1" dirty="0"/>
              <a:t>f of x</a:t>
            </a:r>
            <a:r>
              <a:rPr lang="en-US" dirty="0"/>
              <a:t> is periodic if there exists a value — which we call the </a:t>
            </a:r>
            <a:r>
              <a:rPr lang="en-US" b="1" dirty="0"/>
              <a:t>period</a:t>
            </a:r>
            <a:r>
              <a:rPr lang="en-US" dirty="0"/>
              <a:t>, and usually denote with capital </a:t>
            </a:r>
            <a:r>
              <a:rPr lang="en-US" b="1" dirty="0"/>
              <a:t>P</a:t>
            </a:r>
            <a:r>
              <a:rPr lang="en-US" dirty="0"/>
              <a:t> — such that:</a:t>
            </a:r>
          </a:p>
          <a:p>
            <a:r>
              <a:rPr lang="en-US" b="1" dirty="0"/>
              <a:t>f of x plus P equals f of x</a:t>
            </a:r>
            <a:r>
              <a:rPr lang="en-US" dirty="0"/>
              <a:t>, for all values of x.</a:t>
            </a:r>
          </a:p>
          <a:p>
            <a:r>
              <a:rPr lang="en-US" dirty="0"/>
              <a:t>This repeating behavior is what allows us to use the Fourier series to represent such functions.</a:t>
            </a:r>
          </a:p>
          <a:p>
            <a:r>
              <a:rPr lang="en-US" dirty="0"/>
              <a:t>Take a look at the top plot in this slide. It shows a one-dimensional example of a periodic function. It doesn't need to be a perfect sine or cosine wave — the key idea is that it </a:t>
            </a:r>
            <a:r>
              <a:rPr lang="en-US" b="1" dirty="0"/>
              <a:t>repeats exactly</a:t>
            </a:r>
            <a:r>
              <a:rPr lang="en-US" dirty="0"/>
              <a:t> after a fixed horizontal interval. In this case, that interval is </a:t>
            </a:r>
            <a:r>
              <a:rPr lang="en-US" b="1" dirty="0"/>
              <a:t>P</a:t>
            </a:r>
            <a:r>
              <a:rPr lang="en-US" dirty="0"/>
              <a:t> units.</a:t>
            </a:r>
          </a:p>
          <a:p>
            <a:endParaRPr lang="en-US" dirty="0"/>
          </a:p>
          <a:p>
            <a:r>
              <a:rPr lang="en-US" dirty="0"/>
              <a:t>Now look at the image below it. That’s a real-world example — a two-dimensional periodic pattern. Patterns like this are common in materials science, digital imaging, or even textures. You can see how the structure repeats itself in both the horizontal and vertical directions — that’s </a:t>
            </a:r>
            <a:r>
              <a:rPr lang="en-US" b="1" dirty="0"/>
              <a:t>spatial periodicity</a:t>
            </a:r>
            <a:r>
              <a:rPr lang="en-US" dirty="0"/>
              <a:t> in two dimensions.</a:t>
            </a:r>
          </a:p>
          <a:p>
            <a:r>
              <a:rPr lang="en-US" dirty="0"/>
              <a:t>So what is our goal?</a:t>
            </a:r>
          </a:p>
          <a:p>
            <a:endParaRPr lang="en-US" dirty="0"/>
          </a:p>
          <a:p>
            <a:r>
              <a:rPr lang="en-US" dirty="0"/>
              <a:t>We want to understand how </a:t>
            </a:r>
            <a:r>
              <a:rPr lang="en-US" b="1" dirty="0"/>
              <a:t>any periodic function</a:t>
            </a:r>
            <a:r>
              <a:rPr lang="en-US" dirty="0"/>
              <a:t> — no matter how smooth, jagged, or irregular — can be </a:t>
            </a:r>
            <a:r>
              <a:rPr lang="en-US" b="1" dirty="0"/>
              <a:t>represented as a sum of sine and cosine waves</a:t>
            </a:r>
            <a:r>
              <a:rPr lang="en-US" dirty="0"/>
              <a:t>.</a:t>
            </a:r>
          </a:p>
          <a:p>
            <a:r>
              <a:rPr lang="en-US" dirty="0"/>
              <a:t>This is the heart of the Fourier series. Even if a function looks complicated, we can rebuild it precisely by combining a collection of smooth sinusoidal waves — each with its own frequency, amplitude, and phase.</a:t>
            </a:r>
          </a:p>
          <a:p>
            <a:endParaRPr lang="en-US" dirty="0"/>
          </a:p>
          <a:p>
            <a:r>
              <a:rPr lang="en-US" dirty="0"/>
              <a:t>And here’s the beautiful part:</a:t>
            </a:r>
            <a:br>
              <a:rPr lang="en-US" dirty="0"/>
            </a:br>
            <a:r>
              <a:rPr lang="en-US" dirty="0"/>
              <a:t>If we get </a:t>
            </a:r>
            <a:r>
              <a:rPr lang="en-US" b="1" dirty="0"/>
              <a:t>just one period</a:t>
            </a:r>
            <a:r>
              <a:rPr lang="en-US" dirty="0"/>
              <a:t> of the function right, the rest of the function falls into place, because it's simply repetition.</a:t>
            </a:r>
          </a:p>
          <a:p>
            <a:r>
              <a:rPr lang="en-US" dirty="0"/>
              <a:t>So moving forward, we’ll first focus on periodic functions in </a:t>
            </a:r>
            <a:r>
              <a:rPr lang="en-US" b="1" dirty="0"/>
              <a:t>one dimension</a:t>
            </a:r>
            <a:r>
              <a:rPr lang="en-US" dirty="0"/>
              <a:t>. We’ll go through the math, develop the intuition, and build the full Fourier series representation. Then, once we understand that, we’ll extend the same ideas to </a:t>
            </a:r>
            <a:r>
              <a:rPr lang="en-US" b="1" dirty="0"/>
              <a:t>two-dimensional cases</a:t>
            </a:r>
            <a:r>
              <a:rPr lang="en-US" dirty="0"/>
              <a:t>, and even </a:t>
            </a:r>
            <a:r>
              <a:rPr lang="en-US" b="1" dirty="0"/>
              <a:t>three dimensions</a:t>
            </a:r>
            <a:r>
              <a:rPr lang="en-US" dirty="0"/>
              <a:t> — which is especially useful for signals, images, and medical data.</a:t>
            </a:r>
          </a:p>
          <a:p>
            <a:r>
              <a:rPr lang="en-US" dirty="0"/>
              <a:t>Let’s now dive into the mathematics and see how it all comes together.</a:t>
            </a:r>
          </a:p>
        </p:txBody>
      </p:sp>
      <p:sp>
        <p:nvSpPr>
          <p:cNvPr id="4" name="Slide Number Placeholder 3"/>
          <p:cNvSpPr>
            <a:spLocks noGrp="1"/>
          </p:cNvSpPr>
          <p:nvPr>
            <p:ph type="sldNum" sz="quarter" idx="5"/>
          </p:nvPr>
        </p:nvSpPr>
        <p:spPr/>
        <p:txBody>
          <a:bodyPr/>
          <a:lstStyle/>
          <a:p>
            <a:fld id="{9F30534E-9FB8-46AE-8E3B-5675B268AE6A}" type="slidenum">
              <a:rPr lang="en-US" smtClean="0"/>
              <a:pPr/>
              <a:t>25</a:t>
            </a:fld>
            <a:endParaRPr lang="en-US"/>
          </a:p>
        </p:txBody>
      </p:sp>
    </p:spTree>
    <p:extLst>
      <p:ext uri="{BB962C8B-B14F-4D97-AF65-F5344CB8AC3E}">
        <p14:creationId xmlns:p14="http://schemas.microsoft.com/office/powerpoint/2010/main" val="23250943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take the next step and define the </a:t>
            </a:r>
            <a:r>
              <a:rPr lang="en-US" b="1" dirty="0"/>
              <a:t>Fourier series</a:t>
            </a:r>
            <a:r>
              <a:rPr lang="en-US" dirty="0"/>
              <a:t> more precisely.</a:t>
            </a:r>
          </a:p>
          <a:p>
            <a:endParaRPr lang="en-US" dirty="0"/>
          </a:p>
          <a:p>
            <a:r>
              <a:rPr lang="en-US" dirty="0"/>
              <a:t>To keep things simple — and without losing any generality — we’ll start with a function defined over the interval from 0 to 1. We call this the </a:t>
            </a:r>
            <a:r>
              <a:rPr lang="en-US" b="1" dirty="0"/>
              <a:t>unit period</a:t>
            </a:r>
            <a:r>
              <a:rPr lang="en-US" dirty="0"/>
              <a:t>. The key assumption here is that the function </a:t>
            </a:r>
            <a:r>
              <a:rPr lang="en-US" b="1" dirty="0"/>
              <a:t>repeats every unit interval</a:t>
            </a:r>
            <a:r>
              <a:rPr lang="en-US" dirty="0"/>
              <a:t>. So if we understand what the function does between 0 and 1, we automatically understand it from 1 to 2, 2 to 3, and even from negative 1 to 0.</a:t>
            </a:r>
          </a:p>
          <a:p>
            <a:endParaRPr lang="en-US" dirty="0"/>
          </a:p>
          <a:p>
            <a:r>
              <a:rPr lang="en-US" dirty="0"/>
              <a:t>Later, we’ll generalize to other periods — like from 0 to capital T, or from negative T over 2 to positive T over 2. But for now, let’s build our intuition using this simpler interval.</a:t>
            </a:r>
          </a:p>
          <a:p>
            <a:endParaRPr lang="en-US" dirty="0"/>
          </a:p>
          <a:p>
            <a:r>
              <a:rPr lang="en-US" dirty="0"/>
              <a:t>So, what kinds of functions are we considering here?</a:t>
            </a:r>
          </a:p>
          <a:p>
            <a:r>
              <a:rPr lang="en-US" dirty="0"/>
              <a:t>We’re working with </a:t>
            </a:r>
            <a:r>
              <a:rPr lang="en-US" b="1" dirty="0"/>
              <a:t>real-valued functions</a:t>
            </a:r>
            <a:r>
              <a:rPr lang="en-US" dirty="0"/>
              <a:t> that are </a:t>
            </a:r>
            <a:r>
              <a:rPr lang="en-US" b="1" dirty="0"/>
              <a:t>square-integrable</a:t>
            </a:r>
            <a:r>
              <a:rPr lang="en-US" dirty="0"/>
              <a:t> — that means when you square the function and integrate it over the interval from 0 to 1, the result is finite. If that integral blows up to infinity, the function is too wild, and we can’t represent it with a Fourier series. But if it’s finite, then the function behaves well enough for our purposes.</a:t>
            </a:r>
          </a:p>
          <a:p>
            <a:endParaRPr lang="en-US" dirty="0"/>
          </a:p>
          <a:p>
            <a:r>
              <a:rPr lang="en-US" dirty="0"/>
              <a:t>Mathematically, we say such functions belong to the space </a:t>
            </a:r>
            <a:r>
              <a:rPr lang="en-US" b="1" dirty="0"/>
              <a:t>L square of zero to one</a:t>
            </a:r>
            <a:r>
              <a:rPr lang="en-US" dirty="0"/>
              <a:t> — that’s the set of square-integrable functions over the interval from 0 to 1. This is a </a:t>
            </a:r>
            <a:r>
              <a:rPr lang="en-US" b="1" dirty="0"/>
              <a:t>Hilbert space</a:t>
            </a:r>
            <a:r>
              <a:rPr lang="en-US" dirty="0"/>
              <a:t>, meaning we can treat functions like vectors in an infinite-dimensional space.</a:t>
            </a:r>
          </a:p>
          <a:p>
            <a:r>
              <a:rPr lang="en-US" dirty="0"/>
              <a:t>And just like vectors have a basis, functions in this space also have an </a:t>
            </a:r>
            <a:r>
              <a:rPr lang="en-US" b="1" dirty="0"/>
              <a:t>orthonormal basis</a:t>
            </a:r>
            <a:r>
              <a:rPr lang="en-US" dirty="0"/>
              <a:t>.</a:t>
            </a:r>
          </a:p>
          <a:p>
            <a:r>
              <a:rPr lang="en-US" dirty="0"/>
              <a:t>What does that basis look like?</a:t>
            </a:r>
          </a:p>
          <a:p>
            <a:endParaRPr lang="en-US" dirty="0"/>
          </a:p>
          <a:p>
            <a:r>
              <a:rPr lang="en-US" dirty="0"/>
              <a:t>It turns out the basis consists of the constant function 1, plus an infinite family of sine and cosine functions:</a:t>
            </a:r>
          </a:p>
          <a:p>
            <a:r>
              <a:rPr lang="en-US" dirty="0"/>
              <a:t>Square root of 2 times cosine of 2 pi n t</a:t>
            </a:r>
          </a:p>
          <a:p>
            <a:r>
              <a:rPr lang="en-US" dirty="0"/>
              <a:t>Square root of 2 times sine of 2 pi n t</a:t>
            </a:r>
            <a:br>
              <a:rPr lang="en-US" dirty="0"/>
            </a:br>
            <a:r>
              <a:rPr lang="en-US" dirty="0"/>
              <a:t>for </a:t>
            </a:r>
            <a:r>
              <a:rPr lang="en-US" b="1" dirty="0"/>
              <a:t>n equals 1, 2, 3, and so on</a:t>
            </a:r>
            <a:r>
              <a:rPr lang="en-US" dirty="0"/>
              <a:t>.</a:t>
            </a:r>
          </a:p>
          <a:p>
            <a:r>
              <a:rPr lang="en-US" dirty="0"/>
              <a:t>The factor of square root 2 ensures that each function has </a:t>
            </a:r>
            <a:r>
              <a:rPr lang="en-US" b="1" dirty="0"/>
              <a:t>unit length</a:t>
            </a:r>
            <a:r>
              <a:rPr lang="en-US" dirty="0"/>
              <a:t> — meaning, its inner product with itself equals 1. That’s what makes the basis orthonormal.</a:t>
            </a:r>
          </a:p>
          <a:p>
            <a:endParaRPr lang="en-US" dirty="0"/>
          </a:p>
          <a:p>
            <a:r>
              <a:rPr lang="en-US" dirty="0"/>
              <a:t>So here’s the big idea:</a:t>
            </a:r>
          </a:p>
          <a:p>
            <a:r>
              <a:rPr lang="en-US" b="1" dirty="0"/>
              <a:t>Any square-integrable function over the interval 0 to 1 can be expressed as a sum of these basis functions.</a:t>
            </a:r>
            <a:br>
              <a:rPr lang="en-US" dirty="0"/>
            </a:br>
            <a:r>
              <a:rPr lang="en-US" dirty="0"/>
              <a:t>And this sum is called the </a:t>
            </a:r>
            <a:r>
              <a:rPr lang="en-US" b="1" dirty="0"/>
              <a:t>Fourier series</a:t>
            </a:r>
            <a:r>
              <a:rPr lang="en-US" dirty="0"/>
              <a:t>.</a:t>
            </a:r>
          </a:p>
          <a:p>
            <a:r>
              <a:rPr lang="en-US" dirty="0"/>
              <a:t>Mathematically, we write:</a:t>
            </a:r>
          </a:p>
          <a:p>
            <a:r>
              <a:rPr lang="en-US" dirty="0"/>
              <a:t>f of t equals a naught over two,</a:t>
            </a:r>
            <a:br>
              <a:rPr lang="en-US" dirty="0"/>
            </a:br>
            <a:r>
              <a:rPr lang="en-US" dirty="0"/>
              <a:t>plus the summation over n of a n times cosine of 2 pi n t,</a:t>
            </a:r>
            <a:br>
              <a:rPr lang="en-US" dirty="0"/>
            </a:br>
            <a:r>
              <a:rPr lang="en-US" dirty="0"/>
              <a:t>plus the summation over n of b n times sine of 2 pi n t.</a:t>
            </a:r>
          </a:p>
          <a:p>
            <a:endParaRPr lang="en-US" dirty="0"/>
          </a:p>
          <a:p>
            <a:r>
              <a:rPr lang="en-US" dirty="0"/>
              <a:t>So, what do all these parts mean?</a:t>
            </a:r>
          </a:p>
          <a:p>
            <a:r>
              <a:rPr lang="en-US" dirty="0"/>
              <a:t>First, </a:t>
            </a:r>
            <a:r>
              <a:rPr lang="en-US" b="1" dirty="0"/>
              <a:t>a naught</a:t>
            </a:r>
            <a:r>
              <a:rPr lang="en-US" dirty="0"/>
              <a:t> is called the DC component. It represents the </a:t>
            </a:r>
            <a:r>
              <a:rPr lang="en-US" b="1" dirty="0"/>
              <a:t>average value</a:t>
            </a:r>
            <a:r>
              <a:rPr lang="en-US" dirty="0"/>
              <a:t> of the function over one period.</a:t>
            </a:r>
          </a:p>
          <a:p>
            <a:r>
              <a:rPr lang="en-US" dirty="0"/>
              <a:t>The </a:t>
            </a:r>
            <a:r>
              <a:rPr lang="en-US" b="1" dirty="0"/>
              <a:t>a n</a:t>
            </a:r>
            <a:r>
              <a:rPr lang="en-US" dirty="0"/>
              <a:t> coefficients are multiplied by cosine terms. These describe the </a:t>
            </a:r>
            <a:r>
              <a:rPr lang="en-US" b="1" dirty="0"/>
              <a:t>even, symmetric</a:t>
            </a:r>
            <a:r>
              <a:rPr lang="en-US" dirty="0"/>
              <a:t> parts of the function.</a:t>
            </a:r>
          </a:p>
          <a:p>
            <a:r>
              <a:rPr lang="en-US" dirty="0"/>
              <a:t>And the </a:t>
            </a:r>
            <a:r>
              <a:rPr lang="en-US" b="1" dirty="0"/>
              <a:t>b n</a:t>
            </a:r>
            <a:r>
              <a:rPr lang="en-US" dirty="0"/>
              <a:t> coefficients go with the sine terms. They capture the </a:t>
            </a:r>
            <a:r>
              <a:rPr lang="en-US" b="1" dirty="0"/>
              <a:t>odd, asymmetric</a:t>
            </a:r>
            <a:r>
              <a:rPr lang="en-US" dirty="0"/>
              <a:t> parts of the function.</a:t>
            </a:r>
          </a:p>
          <a:p>
            <a:r>
              <a:rPr lang="en-US" dirty="0"/>
              <a:t>In essence, what we’re doing is splitting the function into </a:t>
            </a:r>
            <a:r>
              <a:rPr lang="en-US" b="1" dirty="0"/>
              <a:t>symmetrical and asymmetrical patterns</a:t>
            </a:r>
            <a:r>
              <a:rPr lang="en-US" dirty="0"/>
              <a:t>, using sines and cosines as building blocks. This is what makes the Fourier series so elegant — it expresses any periodic function as a mix of smooth, familiar waveforms.</a:t>
            </a:r>
          </a:p>
          <a:p>
            <a:endParaRPr lang="en-US" dirty="0"/>
          </a:p>
          <a:p>
            <a:r>
              <a:rPr lang="en-US" dirty="0"/>
              <a:t>Now, each of these coefficients can be computed using </a:t>
            </a:r>
            <a:r>
              <a:rPr lang="en-US" b="1" dirty="0"/>
              <a:t>inner products</a:t>
            </a:r>
            <a:r>
              <a:rPr lang="en-US" dirty="0"/>
              <a:t>, which we'll define using integrals in the next slide.</a:t>
            </a:r>
          </a:p>
          <a:p>
            <a:r>
              <a:rPr lang="en-US" dirty="0"/>
              <a:t>But conceptually, this is just like decomposing a vector into components — except now we're working with continuous functions in an </a:t>
            </a:r>
            <a:r>
              <a:rPr lang="en-US" b="1" dirty="0"/>
              <a:t>infinite-dimensional space</a:t>
            </a:r>
            <a:r>
              <a:rPr lang="en-US" dirty="0"/>
              <a:t>, using smooth sine and cosine waves as our basis.</a:t>
            </a:r>
          </a:p>
          <a:p>
            <a:r>
              <a:rPr lang="en-US" dirty="0"/>
              <a:t>And that’s the beauty of the Fourier series:</a:t>
            </a:r>
            <a:br>
              <a:rPr lang="en-US" dirty="0"/>
            </a:br>
            <a:r>
              <a:rPr lang="en-US" dirty="0"/>
              <a:t>Rather than reconstructing a function using spikes or samples, we rebuild it by </a:t>
            </a:r>
            <a:r>
              <a:rPr lang="en-US" b="1" dirty="0"/>
              <a:t>layering together simple waveforms</a:t>
            </a:r>
            <a:r>
              <a:rPr lang="en-US" dirty="0"/>
              <a:t>.</a:t>
            </a:r>
          </a:p>
          <a:p>
            <a:r>
              <a:rPr lang="en-US" dirty="0"/>
              <a:t>This is the core principle of Fourier analysis:</a:t>
            </a:r>
            <a:br>
              <a:rPr lang="en-US" dirty="0"/>
            </a:br>
            <a:r>
              <a:rPr lang="en-US" b="1" dirty="0"/>
              <a:t>Break down the complex using the simple.</a:t>
            </a:r>
            <a:br>
              <a:rPr lang="en-US" dirty="0"/>
            </a:br>
            <a:r>
              <a:rPr lang="en-US" dirty="0"/>
              <a:t>Use a family of smooth waves to represent arbitrary structure.</a:t>
            </a:r>
          </a:p>
          <a:p>
            <a:r>
              <a:rPr lang="en-US" dirty="0"/>
              <a:t>Next, let’s see how to actually compute those coefficients.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26</a:t>
            </a:fld>
            <a:endParaRPr lang="en-US"/>
          </a:p>
        </p:txBody>
      </p:sp>
    </p:spTree>
    <p:extLst>
      <p:ext uri="{BB962C8B-B14F-4D97-AF65-F5344CB8AC3E}">
        <p14:creationId xmlns:p14="http://schemas.microsoft.com/office/powerpoint/2010/main" val="18865192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take a closer look at something we claimed earlier — that the set of sine and cosine functions, together with the constant function, form what we call an </a:t>
            </a:r>
            <a:r>
              <a:rPr lang="en-US" b="1" dirty="0"/>
              <a:t>orthonormal basis</a:t>
            </a:r>
            <a:r>
              <a:rPr lang="en-US" dirty="0"/>
              <a:t>.</a:t>
            </a:r>
          </a:p>
          <a:p>
            <a:endParaRPr lang="en-US" dirty="0"/>
          </a:p>
          <a:p>
            <a:r>
              <a:rPr lang="en-US" dirty="0"/>
              <a:t>Now, this idea might sound a bit abstract at first. But if we break it down, it’s very intuitive.</a:t>
            </a:r>
          </a:p>
          <a:p>
            <a:r>
              <a:rPr lang="en-US" dirty="0"/>
              <a:t>In the world of regular vectors — say, in two or three dimensions — we say vectors are orthogonal if they’re at right angles to each other. And if each one also has a length of one, we call them orthonormal.</a:t>
            </a:r>
          </a:p>
          <a:p>
            <a:r>
              <a:rPr lang="en-US" dirty="0"/>
              <a:t>The same idea applies in function space. But instead of using a dot product like we do for regular vectors, we use something called an </a:t>
            </a:r>
            <a:r>
              <a:rPr lang="en-US" b="1" dirty="0"/>
              <a:t>inner product</a:t>
            </a:r>
            <a:r>
              <a:rPr lang="en-US" dirty="0"/>
              <a:t> — which is defined using an integral. This inner product helps us measure both length and angle between functions.</a:t>
            </a:r>
          </a:p>
          <a:p>
            <a:endParaRPr lang="en-US" dirty="0"/>
          </a:p>
          <a:p>
            <a:r>
              <a:rPr lang="en-US" dirty="0"/>
              <a:t>Let’s walk through the specific relationships shown here.</a:t>
            </a:r>
          </a:p>
          <a:p>
            <a:r>
              <a:rPr lang="en-US" dirty="0"/>
              <a:t>First, the constant function — just the number one — has unit length. That means if we take its inner product with itself, we get one. So it’s normalized.</a:t>
            </a:r>
          </a:p>
          <a:p>
            <a:r>
              <a:rPr lang="en-US" dirty="0"/>
              <a:t>Now let’s see what happens when we compare the constant function with a cosine or a sine function. If we take the inner product of the constant with cosine of two pi times n times t, we get zero — for any positive integer n. The same is true for sine.</a:t>
            </a:r>
          </a:p>
          <a:p>
            <a:endParaRPr lang="en-US" dirty="0"/>
          </a:p>
          <a:p>
            <a:r>
              <a:rPr lang="en-US" dirty="0"/>
              <a:t>Why does this happen? Well, cosine and sine both oscillate above and below the horizontal axis, and over a full cycle, the positive and negative areas cancel out. So when you compare either of them with the constant, the result is zero — meaning they’re orthogonal.</a:t>
            </a:r>
          </a:p>
          <a:p>
            <a:endParaRPr lang="en-US" dirty="0"/>
          </a:p>
          <a:p>
            <a:r>
              <a:rPr lang="en-US" dirty="0"/>
              <a:t>Next, let’s compare sine and cosine functions with each other. Say, cosine of two pi times m times t and sine of two pi times n times t. Regardless of which frequencies m and n we choose, their inner product is zero. So sine and cosine are always orthogonal to each other.</a:t>
            </a:r>
          </a:p>
          <a:p>
            <a:endParaRPr lang="en-US" dirty="0"/>
          </a:p>
          <a:p>
            <a:r>
              <a:rPr lang="en-US" dirty="0"/>
              <a:t>Now here’s where it gets a bit more subtle.</a:t>
            </a:r>
          </a:p>
          <a:p>
            <a:r>
              <a:rPr lang="en-US" dirty="0"/>
              <a:t>If we compare cosine functions with other cosine functions — or sine with sine — the result depends on the frequencies.</a:t>
            </a:r>
          </a:p>
          <a:p>
            <a:r>
              <a:rPr lang="en-US" dirty="0"/>
              <a:t>If the frequencies are different, meaning m is not equal to n, the inner product is zero. They’re orthogonal.</a:t>
            </a:r>
          </a:p>
          <a:p>
            <a:r>
              <a:rPr lang="en-US" dirty="0"/>
              <a:t>But if the frequencies match — so m equals n — the inner product is one-half. That means the functions are not quite unit-length yet. They’re orthogonal but not normalized.</a:t>
            </a:r>
          </a:p>
          <a:p>
            <a:endParaRPr lang="en-US" dirty="0"/>
          </a:p>
          <a:p>
            <a:r>
              <a:rPr lang="en-US" dirty="0"/>
              <a:t>To fix that, we just scale the sine and cosine functions by the square root of two. Then, their inner product with themselves becomes exactly one, making the whole set orthonormal.</a:t>
            </a:r>
          </a:p>
          <a:p>
            <a:r>
              <a:rPr lang="en-US" dirty="0"/>
              <a:t>So here’s the big picture: we now have a set of functions — the constant, sine waves, and cosine waves — that are all mutually perpendicular and have unit length. Together, they form a complete orthonormal basis.</a:t>
            </a:r>
          </a:p>
          <a:p>
            <a:endParaRPr lang="en-US" dirty="0"/>
          </a:p>
          <a:p>
            <a:r>
              <a:rPr lang="en-US" dirty="0"/>
              <a:t>And once we have this basis, we can represent any periodic function as a combination of these building blocks. That combination is what we call the </a:t>
            </a:r>
            <a:r>
              <a:rPr lang="en-US" b="1" dirty="0"/>
              <a:t>Fourier series</a:t>
            </a:r>
            <a:r>
              <a:rPr lang="en-US" dirty="0"/>
              <a:t>, and the weights we use — the Fourier coefficients — tell us how much of each wave is present in the function.</a:t>
            </a:r>
          </a:p>
          <a:p>
            <a:r>
              <a:rPr lang="en-US" dirty="0"/>
              <a:t>Next, we’ll explore how to actually compute those coefficients using integrals.</a:t>
            </a:r>
          </a:p>
          <a:p>
            <a:r>
              <a:rPr lang="en-US" dirty="0"/>
              <a:t>Let’s keep going.</a:t>
            </a:r>
          </a:p>
        </p:txBody>
      </p:sp>
      <p:sp>
        <p:nvSpPr>
          <p:cNvPr id="4" name="Slide Number Placeholder 3"/>
          <p:cNvSpPr>
            <a:spLocks noGrp="1"/>
          </p:cNvSpPr>
          <p:nvPr>
            <p:ph type="sldNum" sz="quarter" idx="5"/>
          </p:nvPr>
        </p:nvSpPr>
        <p:spPr/>
        <p:txBody>
          <a:bodyPr/>
          <a:lstStyle/>
          <a:p>
            <a:fld id="{9F30534E-9FB8-46AE-8E3B-5675B268AE6A}" type="slidenum">
              <a:rPr lang="en-US" smtClean="0"/>
              <a:pPr/>
              <a:t>27</a:t>
            </a:fld>
            <a:endParaRPr lang="en-US"/>
          </a:p>
        </p:txBody>
      </p:sp>
    </p:spTree>
    <p:extLst>
      <p:ext uri="{BB962C8B-B14F-4D97-AF65-F5344CB8AC3E}">
        <p14:creationId xmlns:p14="http://schemas.microsoft.com/office/powerpoint/2010/main" val="37753373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 that, let’s talk about harmonics — a term you’ve probably heard in music, physics, or signal processing. In the context of Fourier series, </a:t>
            </a:r>
            <a:r>
              <a:rPr lang="en-US" b="1" dirty="0"/>
              <a:t>harmonics</a:t>
            </a:r>
            <a:r>
              <a:rPr lang="en-US" dirty="0"/>
              <a:t> refer to these beautifully smooth sinusoidal components, each oscillating at a different frequency.</a:t>
            </a:r>
          </a:p>
          <a:p>
            <a:r>
              <a:rPr lang="en-US" dirty="0"/>
              <a:t>Let’s unpack that.</a:t>
            </a:r>
          </a:p>
          <a:p>
            <a:endParaRPr lang="en-US" dirty="0"/>
          </a:p>
          <a:p>
            <a:r>
              <a:rPr lang="en-US" dirty="0"/>
              <a:t>The red curve you see here is the </a:t>
            </a:r>
            <a:r>
              <a:rPr lang="en-US" b="1" dirty="0"/>
              <a:t>first harmonic</a:t>
            </a:r>
            <a:r>
              <a:rPr lang="en-US" dirty="0"/>
              <a:t>, or the fundamental frequency. It completes exactly one full oscillation over the interval from 0 to 1. This is what we call the </a:t>
            </a:r>
            <a:r>
              <a:rPr lang="en-US" b="1" dirty="0"/>
              <a:t>n equals 1</a:t>
            </a:r>
            <a:r>
              <a:rPr lang="en-US" dirty="0"/>
              <a:t> term in the Fourier series.</a:t>
            </a:r>
          </a:p>
          <a:p>
            <a:r>
              <a:rPr lang="en-US" dirty="0"/>
              <a:t>Now move down to the blue curve — that’s the </a:t>
            </a:r>
            <a:r>
              <a:rPr lang="en-US" b="1" dirty="0"/>
              <a:t>second harmonic</a:t>
            </a:r>
            <a:r>
              <a:rPr lang="en-US" dirty="0"/>
              <a:t>, where n equals 2. It oscillates twice as fast — so you get two full cycles in the same interval.</a:t>
            </a:r>
          </a:p>
          <a:p>
            <a:r>
              <a:rPr lang="en-US" dirty="0"/>
              <a:t>Then the green one, with </a:t>
            </a:r>
            <a:r>
              <a:rPr lang="en-US" b="1" dirty="0"/>
              <a:t>n equals 3</a:t>
            </a:r>
            <a:r>
              <a:rPr lang="en-US" dirty="0"/>
              <a:t>, completes three full oscillations, and so on. As you move further down the harmonic ladder — to n equals 4, n equal 5, and beyond — the frequency keeps increasing, and the wave becomes more and more tightly packed.</a:t>
            </a:r>
          </a:p>
          <a:p>
            <a:endParaRPr lang="en-US" dirty="0"/>
          </a:p>
          <a:p>
            <a:r>
              <a:rPr lang="en-US" dirty="0"/>
              <a:t>This is the key idea behind the Fourier series: </a:t>
            </a:r>
            <a:r>
              <a:rPr lang="en-US" b="1" dirty="0"/>
              <a:t>you build complex functions using simple, smooth building blocks</a:t>
            </a:r>
            <a:r>
              <a:rPr lang="en-US" dirty="0"/>
              <a:t>. And those blocks are just sine and cosine waves with integer frequencies.</a:t>
            </a:r>
          </a:p>
          <a:p>
            <a:r>
              <a:rPr lang="en-US" dirty="0"/>
              <a:t>Here’s something subtle but very important: look at how all these harmonic components start and end at the same value — specifically, at zero. Not only that, but their </a:t>
            </a:r>
            <a:r>
              <a:rPr lang="en-US" b="1" dirty="0"/>
              <a:t>rate of change</a:t>
            </a:r>
            <a:r>
              <a:rPr lang="en-US" dirty="0"/>
              <a:t> — or slope — at the beginning and end is also smoothly matched. That’s what allows them to blend so seamlessly when we stack them.</a:t>
            </a:r>
          </a:p>
          <a:p>
            <a:endParaRPr lang="en-US" dirty="0"/>
          </a:p>
          <a:p>
            <a:r>
              <a:rPr lang="en-US" dirty="0"/>
              <a:t>Why does this matter?</a:t>
            </a:r>
          </a:p>
          <a:p>
            <a:r>
              <a:rPr lang="en-US" dirty="0"/>
              <a:t>Because when you’re representing a </a:t>
            </a:r>
            <a:r>
              <a:rPr lang="en-US" b="1" dirty="0"/>
              <a:t>periodic function</a:t>
            </a:r>
            <a:r>
              <a:rPr lang="en-US" dirty="0"/>
              <a:t>, you want the end of one period to flow naturally into the start of the next. If there’s a mismatch — either in value or in slope — you get a jump, or a kink, which breaks the smoothness of the function. The harmonics are special because they ensure everything lines up perfectly — not just in position, but in motion.</a:t>
            </a:r>
          </a:p>
          <a:p>
            <a:endParaRPr lang="en-US" dirty="0"/>
          </a:p>
          <a:p>
            <a:r>
              <a:rPr lang="en-US" dirty="0"/>
              <a:t>That’s why we call these functions </a:t>
            </a:r>
            <a:r>
              <a:rPr lang="en-US" i="1" dirty="0"/>
              <a:t>harmonic</a:t>
            </a:r>
            <a:r>
              <a:rPr lang="en-US" dirty="0"/>
              <a:t>. They don’t just oscillate — they </a:t>
            </a:r>
            <a:r>
              <a:rPr lang="en-US" b="1" dirty="0"/>
              <a:t>cooperate</a:t>
            </a:r>
            <a:r>
              <a:rPr lang="en-US" dirty="0"/>
              <a:t>. And together, they can mimic anything from a square wave to the shape of a human voice, as long as you choose the right amplitudes and phases.</a:t>
            </a:r>
          </a:p>
          <a:p>
            <a:r>
              <a:rPr lang="en-US" dirty="0"/>
              <a:t>This is the genius of Fourier’s insight: no matter how jagged or irregular a periodic signal may appear, you can always think of it as being composed of pure tones — harmonics — each contributing its rhythm to the total pattern.</a:t>
            </a:r>
          </a:p>
          <a:p>
            <a:r>
              <a:rPr lang="en-US" dirty="0"/>
              <a:t>Alright, now that we've built some intuition about harmonics, let's move on to the mathematical tools that allow us to compute their coefficients precisely.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28</a:t>
            </a:fld>
            <a:endParaRPr lang="en-US"/>
          </a:p>
        </p:txBody>
      </p:sp>
    </p:spTree>
    <p:extLst>
      <p:ext uri="{BB962C8B-B14F-4D97-AF65-F5344CB8AC3E}">
        <p14:creationId xmlns:p14="http://schemas.microsoft.com/office/powerpoint/2010/main" val="11793675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Alright, let’s take a closer look at how the Fourier series works over one complete cycle — that is, over the interval from zero to one.</a:t>
            </a:r>
          </a:p>
          <a:p>
            <a:r>
              <a:rPr lang="en-US" dirty="0"/>
              <a:t>As we’ve discussed, any well-behaved function on this interval — meaning it’s square-integrable — can be broken down into three types of components.</a:t>
            </a:r>
          </a:p>
          <a:p>
            <a:r>
              <a:rPr lang="en-US" dirty="0"/>
              <a:t>First, we have what’s called the </a:t>
            </a:r>
            <a:r>
              <a:rPr lang="en-US" b="1" dirty="0"/>
              <a:t>DC component</a:t>
            </a:r>
            <a:r>
              <a:rPr lang="en-US" dirty="0"/>
              <a:t> — written as “a naught divided by two.”</a:t>
            </a:r>
          </a:p>
          <a:p>
            <a:br>
              <a:rPr lang="en-US" dirty="0"/>
            </a:br>
            <a:r>
              <a:rPr lang="en-US" dirty="0"/>
              <a:t>This term represents the average value of the function across the interval. It’s constant — it doesn’t vary or oscillate. You can think of it as the baseline level. For example, in an image, this might represent the overall brightness. In audio, it could be the steady background hum.</a:t>
            </a:r>
          </a:p>
          <a:p>
            <a:endParaRPr lang="en-US" dirty="0"/>
          </a:p>
          <a:p>
            <a:r>
              <a:rPr lang="en-US" dirty="0"/>
              <a:t>Then we have the </a:t>
            </a:r>
            <a:r>
              <a:rPr lang="en-US" b="1" dirty="0"/>
              <a:t>even parts</a:t>
            </a:r>
            <a:r>
              <a:rPr lang="en-US" dirty="0"/>
              <a:t> — these are built using </a:t>
            </a:r>
            <a:r>
              <a:rPr lang="en-US" b="1" dirty="0"/>
              <a:t>cosine waves</a:t>
            </a:r>
            <a:r>
              <a:rPr lang="en-US" dirty="0"/>
              <a:t>.</a:t>
            </a:r>
            <a:br>
              <a:rPr lang="en-US" dirty="0"/>
            </a:br>
            <a:r>
              <a:rPr lang="en-US" dirty="0"/>
              <a:t>Each term looks like “a n times cosine of two pi n t,” where n is a positive integer: one, two, three, and so on.</a:t>
            </a:r>
            <a:br>
              <a:rPr lang="en-US" dirty="0"/>
            </a:br>
            <a:r>
              <a:rPr lang="en-US" dirty="0"/>
              <a:t>Cosine is symmetric — if you flip it left to right, it looks exactly the same. That’s why we call these even components — they preserve that mirror-like symmetry.</a:t>
            </a:r>
          </a:p>
          <a:p>
            <a:r>
              <a:rPr lang="en-US" dirty="0"/>
              <a:t>Next come the </a:t>
            </a:r>
            <a:r>
              <a:rPr lang="en-US" b="1" dirty="0"/>
              <a:t>odd parts</a:t>
            </a:r>
            <a:r>
              <a:rPr lang="en-US" dirty="0"/>
              <a:t> — and these use </a:t>
            </a:r>
            <a:r>
              <a:rPr lang="en-US" b="1" dirty="0"/>
              <a:t>sine waves</a:t>
            </a:r>
            <a:r>
              <a:rPr lang="en-US" dirty="0"/>
              <a:t>.</a:t>
            </a:r>
            <a:br>
              <a:rPr lang="en-US" dirty="0"/>
            </a:br>
            <a:r>
              <a:rPr lang="en-US" dirty="0"/>
              <a:t>Each term is of the form “b n times sine of two pi n t.”</a:t>
            </a:r>
            <a:br>
              <a:rPr lang="en-US" dirty="0"/>
            </a:br>
            <a:r>
              <a:rPr lang="en-US" dirty="0"/>
              <a:t>Unlike cosine, sine flips sign when you reflect it, so it captures the antisymmetric — or odd — behavior of the function.</a:t>
            </a:r>
          </a:p>
          <a:p>
            <a:r>
              <a:rPr lang="en-US" dirty="0"/>
              <a:t>So to sum up:</a:t>
            </a:r>
            <a:br>
              <a:rPr lang="en-US" dirty="0"/>
            </a:br>
            <a:r>
              <a:rPr lang="en-US" dirty="0"/>
              <a:t>We build the full function using a constant term, plus a sum of cosine waves for the even part, and a sum of sine waves for the odd part. All of these components are weighted by their respective coefficients — a naught, a n, and b n.</a:t>
            </a:r>
          </a:p>
          <a:p>
            <a:endParaRPr lang="en-US" dirty="0"/>
          </a:p>
          <a:p>
            <a:r>
              <a:rPr lang="en-US" dirty="0"/>
              <a:t>And here’s the elegant part:</a:t>
            </a:r>
            <a:br>
              <a:rPr lang="en-US" dirty="0"/>
            </a:br>
            <a:r>
              <a:rPr lang="en-US" dirty="0"/>
              <a:t>Because we’re working with periodic functions, once you’ve reconstructed the signal over that one interval — from zero to one — the rest of the function just repeats automatically. It’s like tiling the pattern across the entire line.</a:t>
            </a:r>
          </a:p>
          <a:p>
            <a:endParaRPr lang="en-US" dirty="0"/>
          </a:p>
          <a:p>
            <a:r>
              <a:rPr lang="en-US" dirty="0"/>
              <a:t>You can see that idea illustrated in the image at the bottom of the slide.</a:t>
            </a:r>
            <a:br>
              <a:rPr lang="en-US" dirty="0"/>
            </a:br>
            <a:r>
              <a:rPr lang="en-US" dirty="0"/>
              <a:t>The red waveform shows the reconstructed signal, and the lighter blue curves are the sine and cosine waves that contribute to it. When combined properly, they match the shape of the original function — and then extend it periodically to the left and right.</a:t>
            </a:r>
          </a:p>
          <a:p>
            <a:r>
              <a:rPr lang="en-US" dirty="0"/>
              <a:t>This kind of decomposition isn’t just theoretical — it has real meaning.</a:t>
            </a:r>
          </a:p>
          <a:p>
            <a:r>
              <a:rPr lang="en-US" dirty="0"/>
              <a:t>That constant term may represent a background level.</a:t>
            </a:r>
          </a:p>
          <a:p>
            <a:r>
              <a:rPr lang="en-US" dirty="0"/>
              <a:t>The even parts can capture symmetric patterns in your data.</a:t>
            </a:r>
          </a:p>
          <a:p>
            <a:r>
              <a:rPr lang="en-US" dirty="0"/>
              <a:t>And the odd parts can highlight asymmetries, like sharp edges or sudden transitions.</a:t>
            </a:r>
          </a:p>
          <a:p>
            <a:endParaRPr lang="en-US" dirty="0"/>
          </a:p>
          <a:p>
            <a:r>
              <a:rPr lang="en-US" dirty="0"/>
              <a:t>So the Fourier series gives us a powerful, structured way to describe a function using just smooth, well-behaved waves — each one tied to a specific frequency and type of symmetry.</a:t>
            </a:r>
          </a:p>
          <a:p>
            <a:r>
              <a:rPr lang="en-US" dirty="0"/>
              <a:t>Alright, now let’s move on and see how we can </a:t>
            </a:r>
            <a:r>
              <a:rPr lang="en-US" b="1" dirty="0"/>
              <a:t>compute</a:t>
            </a:r>
            <a:r>
              <a:rPr lang="en-US" dirty="0"/>
              <a:t> these coefficients — the values of a naught, a n, and b n — using projection. That’s coming next.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29</a:t>
            </a:fld>
            <a:endParaRPr lang="en-US"/>
          </a:p>
        </p:txBody>
      </p:sp>
    </p:spTree>
    <p:extLst>
      <p:ext uri="{BB962C8B-B14F-4D97-AF65-F5344CB8AC3E}">
        <p14:creationId xmlns:p14="http://schemas.microsoft.com/office/powerpoint/2010/main" val="29527637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Before that, here’s a really elegant and surprisingly powerful idea in mathematical analysis — something that’s often overlooked, but incredibly useful in practice.</a:t>
            </a:r>
          </a:p>
          <a:p>
            <a:r>
              <a:rPr lang="en-US" dirty="0"/>
              <a:t>No matter what function you're dealing with — call it </a:t>
            </a:r>
            <a:r>
              <a:rPr lang="en-US" b="1" dirty="0"/>
              <a:t>f of x</a:t>
            </a:r>
            <a:r>
              <a:rPr lang="en-US" dirty="0"/>
              <a:t> — you can always split it into </a:t>
            </a:r>
            <a:r>
              <a:rPr lang="en-US" b="1" dirty="0"/>
              <a:t>two parts</a:t>
            </a:r>
            <a:r>
              <a:rPr lang="en-US" dirty="0"/>
              <a:t>:</a:t>
            </a:r>
            <a:br>
              <a:rPr lang="en-US" dirty="0"/>
            </a:br>
            <a:r>
              <a:rPr lang="en-US" dirty="0"/>
              <a:t>an </a:t>
            </a:r>
            <a:r>
              <a:rPr lang="en-US" b="1" dirty="0"/>
              <a:t>even part</a:t>
            </a:r>
            <a:r>
              <a:rPr lang="en-US" dirty="0"/>
              <a:t>, and an </a:t>
            </a:r>
            <a:r>
              <a:rPr lang="en-US" b="1" dirty="0"/>
              <a:t>odd part</a:t>
            </a:r>
            <a:r>
              <a:rPr lang="en-US" dirty="0"/>
              <a:t>.</a:t>
            </a:r>
          </a:p>
          <a:p>
            <a:endParaRPr lang="en-US" dirty="0"/>
          </a:p>
          <a:p>
            <a:r>
              <a:rPr lang="en-US" dirty="0"/>
              <a:t>And here’s how that works.</a:t>
            </a:r>
          </a:p>
          <a:p>
            <a:r>
              <a:rPr lang="en-US" dirty="0"/>
              <a:t>We define the </a:t>
            </a:r>
            <a:r>
              <a:rPr lang="en-US" b="1" dirty="0"/>
              <a:t>even part</a:t>
            </a:r>
            <a:r>
              <a:rPr lang="en-US" dirty="0"/>
              <a:t>, denoted </a:t>
            </a:r>
            <a:r>
              <a:rPr lang="en-US" b="1" dirty="0"/>
              <a:t>f e of x</a:t>
            </a:r>
            <a:r>
              <a:rPr lang="en-US" dirty="0"/>
              <a:t>, as</a:t>
            </a:r>
            <a:br>
              <a:rPr lang="en-US" dirty="0"/>
            </a:br>
            <a:r>
              <a:rPr lang="en-US" dirty="0"/>
              <a:t>“f of x plus f of negative x, all divided by two.”</a:t>
            </a:r>
          </a:p>
          <a:p>
            <a:r>
              <a:rPr lang="en-US" dirty="0"/>
              <a:t>Mathematically, that’s:</a:t>
            </a:r>
            <a:br>
              <a:rPr lang="en-US" dirty="0"/>
            </a:br>
            <a:r>
              <a:rPr lang="en-US" b="1" dirty="0"/>
              <a:t>f e of x equals one-half times the sum of f of x and f of minus x.</a:t>
            </a:r>
            <a:endParaRPr lang="en-US" dirty="0"/>
          </a:p>
          <a:p>
            <a:r>
              <a:rPr lang="en-US" dirty="0"/>
              <a:t>If you plug in negative x into this expression, you’ll get:</a:t>
            </a:r>
            <a:br>
              <a:rPr lang="en-US" dirty="0"/>
            </a:br>
            <a:r>
              <a:rPr lang="en-US" b="1" dirty="0"/>
              <a:t>f e of minus x equals one-half times f of minus x plus f of x</a:t>
            </a:r>
            <a:r>
              <a:rPr lang="en-US" dirty="0"/>
              <a:t> —</a:t>
            </a:r>
            <a:br>
              <a:rPr lang="en-US" dirty="0"/>
            </a:br>
            <a:r>
              <a:rPr lang="en-US" dirty="0"/>
              <a:t>which is exactly the same as </a:t>
            </a:r>
            <a:r>
              <a:rPr lang="en-US" b="1" dirty="0"/>
              <a:t>f e of x</a:t>
            </a:r>
            <a:r>
              <a:rPr lang="en-US" dirty="0"/>
              <a:t>.</a:t>
            </a:r>
            <a:br>
              <a:rPr lang="en-US" dirty="0"/>
            </a:br>
            <a:r>
              <a:rPr lang="en-US" dirty="0"/>
              <a:t>So this part is symmetric — it satisfies the condition of an even function.</a:t>
            </a:r>
          </a:p>
          <a:p>
            <a:endParaRPr lang="en-US" dirty="0"/>
          </a:p>
          <a:p>
            <a:r>
              <a:rPr lang="en-US" dirty="0"/>
              <a:t>Then, we define the </a:t>
            </a:r>
            <a:r>
              <a:rPr lang="en-US" b="1" dirty="0"/>
              <a:t>odd part</a:t>
            </a:r>
            <a:r>
              <a:rPr lang="en-US" dirty="0"/>
              <a:t>, written as </a:t>
            </a:r>
            <a:r>
              <a:rPr lang="en-US" b="1" dirty="0"/>
              <a:t>f o of x</a:t>
            </a:r>
            <a:r>
              <a:rPr lang="en-US" dirty="0"/>
              <a:t>,</a:t>
            </a:r>
            <a:br>
              <a:rPr lang="en-US" dirty="0"/>
            </a:br>
            <a:r>
              <a:rPr lang="en-US" dirty="0"/>
              <a:t>by subtracting instead of adding. So you get:</a:t>
            </a:r>
            <a:br>
              <a:rPr lang="en-US" dirty="0"/>
            </a:br>
            <a:r>
              <a:rPr lang="en-US" b="1" dirty="0"/>
              <a:t>f o of x equals one-half times f of x minus f of negative x.</a:t>
            </a:r>
            <a:endParaRPr lang="en-US" dirty="0"/>
          </a:p>
          <a:p>
            <a:r>
              <a:rPr lang="en-US" dirty="0"/>
              <a:t>Now, if you evaluate this at negative x, you’ll find that:</a:t>
            </a:r>
            <a:br>
              <a:rPr lang="en-US" dirty="0"/>
            </a:br>
            <a:r>
              <a:rPr lang="en-US" b="1" dirty="0"/>
              <a:t>f o of negative x equals negative f o of x.</a:t>
            </a:r>
            <a:br>
              <a:rPr lang="en-US" dirty="0"/>
            </a:br>
            <a:r>
              <a:rPr lang="en-US" dirty="0"/>
              <a:t>That’s the signature of an odd function — it’s antisymmetric about the origin.</a:t>
            </a:r>
          </a:p>
          <a:p>
            <a:endParaRPr lang="en-US" dirty="0"/>
          </a:p>
          <a:p>
            <a:r>
              <a:rPr lang="en-US" dirty="0"/>
              <a:t>So here’s the beauty:</a:t>
            </a:r>
            <a:br>
              <a:rPr lang="en-US" dirty="0"/>
            </a:br>
            <a:r>
              <a:rPr lang="en-US" b="1" dirty="0"/>
              <a:t>Every function</a:t>
            </a:r>
            <a:r>
              <a:rPr lang="en-US" dirty="0"/>
              <a:t>, no matter how it looks, can be written as the </a:t>
            </a:r>
            <a:r>
              <a:rPr lang="en-US" b="1" dirty="0"/>
              <a:t>sum of its even and odd parts</a:t>
            </a:r>
            <a:r>
              <a:rPr lang="en-US" dirty="0"/>
              <a:t>.</a:t>
            </a:r>
          </a:p>
          <a:p>
            <a:r>
              <a:rPr lang="en-US" dirty="0"/>
              <a:t>In other words,</a:t>
            </a:r>
            <a:br>
              <a:rPr lang="en-US" dirty="0"/>
            </a:br>
            <a:r>
              <a:rPr lang="en-US" b="1" dirty="0"/>
              <a:t>f of x equals f e of x plus f o of x.</a:t>
            </a:r>
            <a:endParaRPr lang="en-US" dirty="0"/>
          </a:p>
          <a:p>
            <a:r>
              <a:rPr lang="en-US" dirty="0"/>
              <a:t>This is a </a:t>
            </a:r>
            <a:r>
              <a:rPr lang="en-US" b="1" dirty="0"/>
              <a:t>universal decomposition</a:t>
            </a:r>
            <a:r>
              <a:rPr lang="en-US" dirty="0"/>
              <a:t> — and it's not just a neat identity.</a:t>
            </a:r>
            <a:br>
              <a:rPr lang="en-US" dirty="0"/>
            </a:br>
            <a:endParaRPr lang="en-US" dirty="0"/>
          </a:p>
          <a:p>
            <a:r>
              <a:rPr lang="en-US" dirty="0"/>
              <a:t>It plays a critical role in understanding </a:t>
            </a:r>
            <a:r>
              <a:rPr lang="en-US" b="1" dirty="0"/>
              <a:t>symmetry</a:t>
            </a:r>
            <a:r>
              <a:rPr lang="en-US" dirty="0"/>
              <a:t> in signals, especially in </a:t>
            </a:r>
            <a:r>
              <a:rPr lang="en-US" b="1" dirty="0"/>
              <a:t>Fourier analysis</a:t>
            </a:r>
            <a:r>
              <a:rPr lang="en-US" dirty="0"/>
              <a:t>, where even and odd functions relate directly to cosine and sine components, respectively.</a:t>
            </a:r>
          </a:p>
          <a:p>
            <a:r>
              <a:rPr lang="en-US" dirty="0"/>
              <a:t>So remember this trick.</a:t>
            </a:r>
            <a:br>
              <a:rPr lang="en-US" dirty="0"/>
            </a:br>
            <a:r>
              <a:rPr lang="en-US" dirty="0"/>
              <a:t>Whenever you’re working with a function — especially in signal processing or image analysis — it’s often helpful to ask:</a:t>
            </a:r>
            <a:br>
              <a:rPr lang="en-US" dirty="0"/>
            </a:br>
            <a:r>
              <a:rPr lang="en-US" dirty="0"/>
              <a:t>What’s its even part? What’s its odd part?</a:t>
            </a:r>
            <a:br>
              <a:rPr lang="en-US" dirty="0"/>
            </a:br>
            <a:r>
              <a:rPr lang="en-US" dirty="0"/>
              <a:t>And how can we take advantage of that symmetry?</a:t>
            </a:r>
          </a:p>
          <a:p>
            <a:r>
              <a:rPr lang="en-US" dirty="0"/>
              <a:t>We’ll put this idea to use shortly when we calculate the Fourier coefficients.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30</a:t>
            </a:fld>
            <a:endParaRPr lang="en-US"/>
          </a:p>
        </p:txBody>
      </p:sp>
    </p:spTree>
    <p:extLst>
      <p:ext uri="{BB962C8B-B14F-4D97-AF65-F5344CB8AC3E}">
        <p14:creationId xmlns:p14="http://schemas.microsoft.com/office/powerpoint/2010/main" val="37386105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that we understand the structure of the Fourier series — with its constant term, cosine terms, and sine terms — the next question is:</a:t>
            </a:r>
            <a:br>
              <a:rPr lang="en-US" dirty="0"/>
            </a:br>
            <a:endParaRPr lang="en-US" dirty="0"/>
          </a:p>
          <a:p>
            <a:r>
              <a:rPr lang="en-US" b="1" dirty="0"/>
              <a:t>How do we actually calculate the coefficients?</a:t>
            </a:r>
            <a:endParaRPr lang="en-US" dirty="0"/>
          </a:p>
          <a:p>
            <a:r>
              <a:rPr lang="en-US" dirty="0"/>
              <a:t>These coefficients — which we call </a:t>
            </a:r>
            <a:r>
              <a:rPr lang="en-US" b="1" dirty="0"/>
              <a:t>a n</a:t>
            </a:r>
            <a:r>
              <a:rPr lang="en-US" dirty="0"/>
              <a:t> and </a:t>
            </a:r>
            <a:r>
              <a:rPr lang="en-US" b="1" dirty="0"/>
              <a:t>b n</a:t>
            </a:r>
            <a:r>
              <a:rPr lang="en-US" dirty="0"/>
              <a:t> — are essential.</a:t>
            </a:r>
            <a:br>
              <a:rPr lang="en-US" dirty="0"/>
            </a:br>
            <a:r>
              <a:rPr lang="en-US" dirty="0"/>
              <a:t>They tell us exactly how much of each sine or cosine function we need in order to construct the original function.</a:t>
            </a:r>
            <a:br>
              <a:rPr lang="en-US" dirty="0"/>
            </a:br>
            <a:r>
              <a:rPr lang="en-US" dirty="0"/>
              <a:t>Think of them like weights — how much of each frequency should be included in our series.</a:t>
            </a:r>
          </a:p>
          <a:p>
            <a:r>
              <a:rPr lang="en-US" dirty="0"/>
              <a:t>So, how do we find them?</a:t>
            </a:r>
          </a:p>
          <a:p>
            <a:endParaRPr lang="en-US" dirty="0"/>
          </a:p>
          <a:p>
            <a:r>
              <a:rPr lang="en-US" dirty="0"/>
              <a:t>The answer is beautifully simple — we use </a:t>
            </a:r>
            <a:r>
              <a:rPr lang="en-US" b="1" dirty="0"/>
              <a:t>inner products</a:t>
            </a:r>
            <a:r>
              <a:rPr lang="en-US" dirty="0"/>
              <a:t>.</a:t>
            </a:r>
          </a:p>
          <a:p>
            <a:r>
              <a:rPr lang="en-US" dirty="0"/>
              <a:t>Remember our earlier discussion: in vector spaces, you can isolate the contribution of a basis vector by projecting onto it.</a:t>
            </a:r>
            <a:br>
              <a:rPr lang="en-US" dirty="0"/>
            </a:br>
            <a:r>
              <a:rPr lang="en-US" dirty="0"/>
              <a:t>The same logic applies here in the world of functions.</a:t>
            </a:r>
            <a:br>
              <a:rPr lang="en-US" dirty="0"/>
            </a:br>
            <a:r>
              <a:rPr lang="en-US" dirty="0"/>
              <a:t>Because sine and cosine functions are </a:t>
            </a:r>
            <a:r>
              <a:rPr lang="en-US" b="1" dirty="0"/>
              <a:t>orthogonal</a:t>
            </a:r>
            <a:r>
              <a:rPr lang="en-US" dirty="0"/>
              <a:t>, we can project the function onto each basis element to extract the corresponding coefficient.</a:t>
            </a:r>
          </a:p>
          <a:p>
            <a:endParaRPr lang="en-US" dirty="0"/>
          </a:p>
          <a:p>
            <a:r>
              <a:rPr lang="en-US" dirty="0"/>
              <a:t>Let’s look at this process in the context of the unit interval — from zero to one.</a:t>
            </a:r>
          </a:p>
          <a:p>
            <a:r>
              <a:rPr lang="en-US" dirty="0"/>
              <a:t>First, to get the </a:t>
            </a:r>
            <a:r>
              <a:rPr lang="en-US" b="1" dirty="0"/>
              <a:t>a </a:t>
            </a:r>
            <a:r>
              <a:rPr lang="en-US" dirty="0"/>
              <a:t>naught coefficient — that’s the DC or constant component —</a:t>
            </a:r>
            <a:br>
              <a:rPr lang="en-US" dirty="0"/>
            </a:br>
            <a:r>
              <a:rPr lang="en-US" dirty="0"/>
              <a:t>we take the inner product of </a:t>
            </a:r>
            <a:r>
              <a:rPr lang="en-US" b="1" dirty="0"/>
              <a:t>f of t</a:t>
            </a:r>
            <a:r>
              <a:rPr lang="en-US" dirty="0"/>
              <a:t> with the constant function </a:t>
            </a:r>
            <a:r>
              <a:rPr lang="en-US" b="1" dirty="0"/>
              <a:t>1</a:t>
            </a:r>
            <a:r>
              <a:rPr lang="en-US" dirty="0"/>
              <a:t>.</a:t>
            </a:r>
          </a:p>
          <a:p>
            <a:endParaRPr lang="en-US" dirty="0"/>
          </a:p>
          <a:p>
            <a:r>
              <a:rPr lang="en-US" dirty="0"/>
              <a:t>This gives us:</a:t>
            </a:r>
          </a:p>
          <a:p>
            <a:r>
              <a:rPr lang="en-US" b="1" dirty="0"/>
              <a:t>a </a:t>
            </a:r>
            <a:r>
              <a:rPr lang="en-US" dirty="0"/>
              <a:t>naught</a:t>
            </a:r>
            <a:r>
              <a:rPr lang="en-US" b="1" dirty="0"/>
              <a:t> over 2 equals the integral from 0 to 1 of f of t d t.</a:t>
            </a:r>
            <a:endParaRPr lang="en-US" dirty="0"/>
          </a:p>
          <a:p>
            <a:r>
              <a:rPr lang="en-US" dirty="0"/>
              <a:t>So, it’s just the average value of the function over that interval.</a:t>
            </a:r>
          </a:p>
          <a:p>
            <a:r>
              <a:rPr lang="en-US" dirty="0"/>
              <a:t>Next, for the cosine coefficients, </a:t>
            </a:r>
            <a:r>
              <a:rPr lang="en-US" b="1" dirty="0"/>
              <a:t>a n</a:t>
            </a:r>
            <a:r>
              <a:rPr lang="en-US" dirty="0"/>
              <a:t>,</a:t>
            </a:r>
            <a:br>
              <a:rPr lang="en-US" dirty="0"/>
            </a:br>
            <a:r>
              <a:rPr lang="en-US" dirty="0"/>
              <a:t>we multiply </a:t>
            </a:r>
            <a:r>
              <a:rPr lang="en-US" b="1" dirty="0"/>
              <a:t>f of t</a:t>
            </a:r>
            <a:r>
              <a:rPr lang="en-US" dirty="0"/>
              <a:t> by </a:t>
            </a:r>
            <a:r>
              <a:rPr lang="en-US" b="1" dirty="0"/>
              <a:t>the cosine of 2 pi n t</a:t>
            </a:r>
            <a:r>
              <a:rPr lang="en-US" dirty="0"/>
              <a:t>, and integrate over the interval from 0 to 1.</a:t>
            </a:r>
            <a:br>
              <a:rPr lang="en-US" dirty="0"/>
            </a:br>
            <a:r>
              <a:rPr lang="en-US" dirty="0"/>
              <a:t>Then, we multiply the result by 2.</a:t>
            </a:r>
          </a:p>
          <a:p>
            <a:endParaRPr lang="en-US" dirty="0"/>
          </a:p>
          <a:p>
            <a:r>
              <a:rPr lang="en-US" dirty="0"/>
              <a:t>So we have:</a:t>
            </a:r>
          </a:p>
          <a:p>
            <a:r>
              <a:rPr lang="en-US" b="1" dirty="0"/>
              <a:t>a n equals 2 times the integral from 0 to 1 of f of t times cosine of 2 pi n t, d t.</a:t>
            </a:r>
            <a:endParaRPr lang="en-US" dirty="0"/>
          </a:p>
          <a:p>
            <a:r>
              <a:rPr lang="en-US" dirty="0"/>
              <a:t>In the same way, to compute the sine coefficients, </a:t>
            </a:r>
            <a:r>
              <a:rPr lang="en-US" b="1" dirty="0"/>
              <a:t>b n</a:t>
            </a:r>
            <a:r>
              <a:rPr lang="en-US" dirty="0"/>
              <a:t>,</a:t>
            </a:r>
            <a:br>
              <a:rPr lang="en-US" dirty="0"/>
            </a:br>
            <a:r>
              <a:rPr lang="en-US" dirty="0"/>
              <a:t>we do the same thing — but using sine instead of cosine.</a:t>
            </a:r>
          </a:p>
          <a:p>
            <a:endParaRPr lang="en-US" dirty="0"/>
          </a:p>
          <a:p>
            <a:r>
              <a:rPr lang="en-US" dirty="0"/>
              <a:t>So the formula is:</a:t>
            </a:r>
          </a:p>
          <a:p>
            <a:r>
              <a:rPr lang="en-US" b="1" dirty="0"/>
              <a:t>b n equals 2 times the integral from 0 to 1 of f of t times sine of 2 pi n t, d t.</a:t>
            </a:r>
            <a:endParaRPr lang="en-US" dirty="0"/>
          </a:p>
          <a:p>
            <a:r>
              <a:rPr lang="en-US" dirty="0"/>
              <a:t>And that’s it.</a:t>
            </a:r>
          </a:p>
          <a:p>
            <a:r>
              <a:rPr lang="en-US" dirty="0"/>
              <a:t>Each coefficient is computed by projecting the function onto its corresponding basis function — either constant, cosine, or sine.</a:t>
            </a:r>
          </a:p>
          <a:p>
            <a:r>
              <a:rPr lang="en-US" dirty="0"/>
              <a:t>This is the beauty of </a:t>
            </a:r>
            <a:r>
              <a:rPr lang="en-US" b="1" dirty="0"/>
              <a:t>orthogonality</a:t>
            </a:r>
            <a:r>
              <a:rPr lang="en-US" dirty="0"/>
              <a:t>:</a:t>
            </a:r>
            <a:br>
              <a:rPr lang="en-US" dirty="0"/>
            </a:br>
            <a:r>
              <a:rPr lang="en-US" dirty="0"/>
              <a:t>Each projection is independent of the others. So we can break the function into clean, non-overlapping components.</a:t>
            </a:r>
          </a:p>
          <a:p>
            <a:r>
              <a:rPr lang="en-US" dirty="0"/>
              <a:t>It’s like using X, Y, and Z axes in 3D space to describe a vector — but here we’re in an </a:t>
            </a:r>
            <a:r>
              <a:rPr lang="en-US" b="1" dirty="0"/>
              <a:t>infinite-dimensional space</a:t>
            </a:r>
            <a:r>
              <a:rPr lang="en-US" dirty="0"/>
              <a:t>, and our axes are made of smooth waveforms.</a:t>
            </a:r>
          </a:p>
          <a:p>
            <a:r>
              <a:rPr lang="en-US" dirty="0"/>
              <a:t>Now that we know how to compute these coefficients, we’re ready to apply Fourier series to real examples — and see how they reconstruct signals, even sharp or irregular ones, using only smooth sine and cosine waves.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31</a:t>
            </a:fld>
            <a:endParaRPr lang="en-US"/>
          </a:p>
        </p:txBody>
      </p:sp>
    </p:spTree>
    <p:extLst>
      <p:ext uri="{BB962C8B-B14F-4D97-AF65-F5344CB8AC3E}">
        <p14:creationId xmlns:p14="http://schemas.microsoft.com/office/powerpoint/2010/main" val="146597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walk through a concrete example to see how Fourier coefficients are actually computed in practice.</a:t>
            </a:r>
          </a:p>
          <a:p>
            <a:endParaRPr lang="en-US" dirty="0"/>
          </a:p>
          <a:p>
            <a:r>
              <a:rPr lang="en-US" dirty="0"/>
              <a:t>Suppose you’re interested in finding a particular coefficient from the Fourier series — let’s say the coefficient </a:t>
            </a:r>
            <a:r>
              <a:rPr lang="en-US" b="1" dirty="0"/>
              <a:t>b 3</a:t>
            </a:r>
            <a:r>
              <a:rPr lang="en-US" dirty="0"/>
              <a:t>.</a:t>
            </a:r>
            <a:br>
              <a:rPr lang="en-US" dirty="0"/>
            </a:br>
            <a:r>
              <a:rPr lang="en-US" dirty="0"/>
              <a:t>This is the number that scales the sine term with frequency 3 — in other words, </a:t>
            </a:r>
            <a:r>
              <a:rPr lang="en-US" b="1" dirty="0"/>
              <a:t>sine of 2 pi times 3 t</a:t>
            </a:r>
            <a:r>
              <a:rPr lang="en-US" dirty="0"/>
              <a:t>.</a:t>
            </a:r>
          </a:p>
          <a:p>
            <a:endParaRPr lang="en-US" dirty="0"/>
          </a:p>
          <a:p>
            <a:r>
              <a:rPr lang="en-US" dirty="0"/>
              <a:t>So the question is:</a:t>
            </a:r>
            <a:br>
              <a:rPr lang="en-US" dirty="0"/>
            </a:br>
            <a:r>
              <a:rPr lang="en-US" dirty="0"/>
              <a:t>How much of this specific sine wave is present in the function </a:t>
            </a:r>
            <a:r>
              <a:rPr lang="en-US" b="1" dirty="0"/>
              <a:t>f of t</a:t>
            </a:r>
            <a:r>
              <a:rPr lang="en-US" dirty="0"/>
              <a:t>?</a:t>
            </a:r>
          </a:p>
          <a:p>
            <a:r>
              <a:rPr lang="en-US" dirty="0"/>
              <a:t>To answer this, we use a technique we've now seen several times — the </a:t>
            </a:r>
            <a:r>
              <a:rPr lang="en-US" b="1" dirty="0"/>
              <a:t>inner product</a:t>
            </a:r>
            <a:r>
              <a:rPr lang="en-US" dirty="0"/>
              <a:t>.</a:t>
            </a:r>
          </a:p>
          <a:p>
            <a:endParaRPr lang="en-US" dirty="0"/>
          </a:p>
          <a:p>
            <a:r>
              <a:rPr lang="en-US" dirty="0"/>
              <a:t>Here’s what we do:</a:t>
            </a:r>
            <a:br>
              <a:rPr lang="en-US" dirty="0"/>
            </a:br>
            <a:r>
              <a:rPr lang="en-US" dirty="0"/>
              <a:t>We take the inner product of </a:t>
            </a:r>
            <a:r>
              <a:rPr lang="en-US" b="1" dirty="0"/>
              <a:t>f of t</a:t>
            </a:r>
            <a:r>
              <a:rPr lang="en-US" dirty="0"/>
              <a:t> with </a:t>
            </a:r>
            <a:r>
              <a:rPr lang="en-US" b="1" dirty="0"/>
              <a:t>sine of 2 pi times 3 t</a:t>
            </a:r>
            <a:r>
              <a:rPr lang="en-US" dirty="0"/>
              <a:t>.</a:t>
            </a:r>
          </a:p>
          <a:p>
            <a:r>
              <a:rPr lang="en-US" dirty="0"/>
              <a:t>Now keep in mind — this sine function is one of our basis elements.</a:t>
            </a:r>
            <a:br>
              <a:rPr lang="en-US" dirty="0"/>
            </a:br>
            <a:r>
              <a:rPr lang="en-US" dirty="0"/>
              <a:t>It’s a fixed, known waveform. The function </a:t>
            </a:r>
            <a:r>
              <a:rPr lang="en-US" b="1" dirty="0"/>
              <a:t>f of t</a:t>
            </a:r>
            <a:r>
              <a:rPr lang="en-US" dirty="0"/>
              <a:t> is the one we’re analyzing.</a:t>
            </a:r>
            <a:br>
              <a:rPr lang="en-US" dirty="0"/>
            </a:br>
            <a:r>
              <a:rPr lang="en-US" dirty="0"/>
              <a:t>And because the basis functions are </a:t>
            </a:r>
            <a:r>
              <a:rPr lang="en-US" b="1" dirty="0"/>
              <a:t>orthonormal</a:t>
            </a:r>
            <a:r>
              <a:rPr lang="en-US" dirty="0"/>
              <a:t>, a wonderful thing happens:</a:t>
            </a:r>
          </a:p>
          <a:p>
            <a:endParaRPr lang="en-US" dirty="0"/>
          </a:p>
          <a:p>
            <a:r>
              <a:rPr lang="en-US" dirty="0"/>
              <a:t>When we take this inner product, it acts like a </a:t>
            </a:r>
            <a:r>
              <a:rPr lang="en-US" b="1" dirty="0"/>
              <a:t>filter</a:t>
            </a:r>
            <a:r>
              <a:rPr lang="en-US" dirty="0"/>
              <a:t>.</a:t>
            </a:r>
          </a:p>
          <a:p>
            <a:r>
              <a:rPr lang="en-US" dirty="0"/>
              <a:t>It scans across the entire Fourier series of </a:t>
            </a:r>
            <a:r>
              <a:rPr lang="en-US" b="1" dirty="0"/>
              <a:t>f of t</a:t>
            </a:r>
            <a:r>
              <a:rPr lang="en-US" dirty="0"/>
              <a:t>, and picks out just the piece that exactly matches </a:t>
            </a:r>
            <a:r>
              <a:rPr lang="en-US" b="1" dirty="0"/>
              <a:t>sine of 2 pi times 3 t</a:t>
            </a:r>
            <a:r>
              <a:rPr lang="en-US" dirty="0"/>
              <a:t>.</a:t>
            </a:r>
          </a:p>
          <a:p>
            <a:r>
              <a:rPr lang="en-US" dirty="0"/>
              <a:t>All the other terms — the constant term, the cosine terms, and the sine terms with different frequencies like</a:t>
            </a:r>
            <a:br>
              <a:rPr lang="en-US" dirty="0"/>
            </a:br>
            <a:r>
              <a:rPr lang="en-US" b="1" dirty="0"/>
              <a:t>sine of 2 pi t</a:t>
            </a:r>
            <a:r>
              <a:rPr lang="en-US" dirty="0"/>
              <a:t>, or </a:t>
            </a:r>
            <a:r>
              <a:rPr lang="en-US" b="1" dirty="0"/>
              <a:t>sine of 2 pi times 2 t</a:t>
            </a:r>
            <a:r>
              <a:rPr lang="en-US" dirty="0"/>
              <a:t>, or </a:t>
            </a:r>
            <a:r>
              <a:rPr lang="en-US" b="1" dirty="0"/>
              <a:t>sine of 2 pi times 4 t</a:t>
            </a:r>
            <a:r>
              <a:rPr lang="en-US" dirty="0"/>
              <a:t> —</a:t>
            </a:r>
            <a:br>
              <a:rPr lang="en-US" dirty="0"/>
            </a:br>
            <a:r>
              <a:rPr lang="en-US" dirty="0"/>
              <a:t>all of those vanish. Their inner products are zero, because they’re orthogonal to </a:t>
            </a:r>
            <a:r>
              <a:rPr lang="en-US" b="1" dirty="0"/>
              <a:t>sine of 2 pi times 3 t</a:t>
            </a:r>
            <a:r>
              <a:rPr lang="en-US" dirty="0"/>
              <a:t>.</a:t>
            </a:r>
          </a:p>
          <a:p>
            <a:r>
              <a:rPr lang="en-US" dirty="0"/>
              <a:t>The only term that survives is the one we care about — the one that involves </a:t>
            </a:r>
            <a:r>
              <a:rPr lang="en-US" b="1" dirty="0"/>
              <a:t>b 3</a:t>
            </a:r>
            <a:r>
              <a:rPr lang="en-US" dirty="0"/>
              <a:t>.</a:t>
            </a:r>
          </a:p>
          <a:p>
            <a:r>
              <a:rPr lang="en-US" dirty="0"/>
              <a:t>So this inner product tells us, precisely and cleanly, what </a:t>
            </a:r>
            <a:r>
              <a:rPr lang="en-US" b="1" dirty="0"/>
              <a:t>b 3</a:t>
            </a:r>
            <a:r>
              <a:rPr lang="en-US" dirty="0"/>
              <a:t> must be.</a:t>
            </a:r>
          </a:p>
          <a:p>
            <a:r>
              <a:rPr lang="en-US" dirty="0"/>
              <a:t>And this isn’t just a lucky trick.</a:t>
            </a:r>
            <a:br>
              <a:rPr lang="en-US" dirty="0"/>
            </a:br>
            <a:endParaRPr lang="en-US" dirty="0"/>
          </a:p>
          <a:p>
            <a:r>
              <a:rPr lang="en-US" dirty="0"/>
              <a:t>It’s a fundamental feature of the Fourier basis —</a:t>
            </a:r>
            <a:br>
              <a:rPr lang="en-US" dirty="0"/>
            </a:br>
            <a:r>
              <a:rPr lang="en-US" b="1" dirty="0"/>
              <a:t>Orthogonality</a:t>
            </a:r>
            <a:r>
              <a:rPr lang="en-US" dirty="0"/>
              <a:t> ensures that each coefficient can be extracted independently, with no interference from the others.</a:t>
            </a:r>
          </a:p>
          <a:p>
            <a:r>
              <a:rPr lang="en-US" dirty="0"/>
              <a:t>In short:</a:t>
            </a:r>
            <a:br>
              <a:rPr lang="en-US" dirty="0"/>
            </a:br>
            <a:r>
              <a:rPr lang="en-US" dirty="0"/>
              <a:t>To find any Fourier coefficient — whether it’s </a:t>
            </a:r>
            <a:r>
              <a:rPr lang="en-US" b="1" dirty="0"/>
              <a:t>a n</a:t>
            </a:r>
            <a:r>
              <a:rPr lang="en-US" dirty="0"/>
              <a:t> or </a:t>
            </a:r>
            <a:r>
              <a:rPr lang="en-US" b="1" dirty="0"/>
              <a:t>b n</a:t>
            </a:r>
            <a:r>
              <a:rPr lang="en-US" dirty="0"/>
              <a:t> —</a:t>
            </a:r>
            <a:br>
              <a:rPr lang="en-US" dirty="0"/>
            </a:br>
            <a:r>
              <a:rPr lang="en-US" dirty="0"/>
              <a:t>You simply </a:t>
            </a:r>
            <a:r>
              <a:rPr lang="en-US" b="1" dirty="0"/>
              <a:t>project the function onto the corresponding sine or cosine basis function</a:t>
            </a:r>
            <a:r>
              <a:rPr lang="en-US" dirty="0"/>
              <a:t>.</a:t>
            </a:r>
            <a:br>
              <a:rPr lang="en-US" dirty="0"/>
            </a:br>
            <a:r>
              <a:rPr lang="en-US" dirty="0"/>
              <a:t>That’s it.</a:t>
            </a:r>
          </a:p>
          <a:p>
            <a:r>
              <a:rPr lang="en-US" dirty="0"/>
              <a:t>And this is what makes the Fourier series so powerful.</a:t>
            </a:r>
            <a:br>
              <a:rPr lang="en-US" dirty="0"/>
            </a:br>
            <a:r>
              <a:rPr lang="en-US" dirty="0"/>
              <a:t>It gives us a systematic, elegant way to peel apart the frequency content of a signal — one layer at a time.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32</a:t>
            </a:fld>
            <a:endParaRPr lang="en-US"/>
          </a:p>
        </p:txBody>
      </p:sp>
    </p:spTree>
    <p:extLst>
      <p:ext uri="{BB962C8B-B14F-4D97-AF65-F5344CB8AC3E}">
        <p14:creationId xmlns:p14="http://schemas.microsoft.com/office/powerpoint/2010/main" val="2080029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now practically apply this idea — focusing specifically on how we calculate individual Fourier coefficients.</a:t>
            </a:r>
          </a:p>
          <a:p>
            <a:endParaRPr lang="en-US" dirty="0"/>
          </a:p>
          <a:p>
            <a:r>
              <a:rPr lang="en-US" dirty="0"/>
              <a:t>Suppose we want to compute the coefficient </a:t>
            </a:r>
            <a:r>
              <a:rPr lang="en-US" b="1" dirty="0"/>
              <a:t>b3</a:t>
            </a:r>
            <a:r>
              <a:rPr lang="en-US" dirty="0"/>
              <a:t> from the Fourier series of some known function — say </a:t>
            </a:r>
            <a:r>
              <a:rPr lang="en-US" b="1" dirty="0"/>
              <a:t>f of t</a:t>
            </a:r>
            <a:r>
              <a:rPr lang="en-US" dirty="0"/>
              <a:t>.</a:t>
            </a:r>
          </a:p>
          <a:p>
            <a:r>
              <a:rPr lang="en-US" dirty="0"/>
              <a:t>What exactly do we do?</a:t>
            </a:r>
          </a:p>
          <a:p>
            <a:r>
              <a:rPr lang="en-US" dirty="0"/>
              <a:t>Well, we take the sine function, </a:t>
            </a:r>
            <a:r>
              <a:rPr lang="en-US" b="1" dirty="0"/>
              <a:t>sine of 2 pi times 3 t</a:t>
            </a:r>
            <a:r>
              <a:rPr lang="en-US" dirty="0"/>
              <a:t>, which is one of our orthonormal basis functions, and we compute its inner product with </a:t>
            </a:r>
            <a:r>
              <a:rPr lang="en-US" b="1" dirty="0"/>
              <a:t>f of t</a:t>
            </a:r>
            <a:r>
              <a:rPr lang="en-US" dirty="0"/>
              <a:t>.</a:t>
            </a:r>
            <a:br>
              <a:rPr lang="en-US" dirty="0"/>
            </a:br>
            <a:r>
              <a:rPr lang="en-US" dirty="0"/>
              <a:t>That means we integrate the product of </a:t>
            </a:r>
            <a:r>
              <a:rPr lang="en-US" b="1" dirty="0"/>
              <a:t>f of t</a:t>
            </a:r>
            <a:r>
              <a:rPr lang="en-US" dirty="0"/>
              <a:t> and </a:t>
            </a:r>
            <a:r>
              <a:rPr lang="en-US" b="1" dirty="0"/>
              <a:t>sine of 2 pi times 3 t</a:t>
            </a:r>
            <a:r>
              <a:rPr lang="en-US" dirty="0"/>
              <a:t> over the interval from 0 to 1.</a:t>
            </a:r>
          </a:p>
          <a:p>
            <a:r>
              <a:rPr lang="en-US" dirty="0"/>
              <a:t>That’s it.</a:t>
            </a:r>
            <a:br>
              <a:rPr lang="en-US" dirty="0"/>
            </a:br>
            <a:endParaRPr lang="en-US" dirty="0"/>
          </a:p>
          <a:p>
            <a:r>
              <a:rPr lang="en-US" dirty="0"/>
              <a:t>The result of this integral is exactly the value of </a:t>
            </a:r>
            <a:r>
              <a:rPr lang="en-US" b="1" dirty="0"/>
              <a:t>b 3</a:t>
            </a:r>
            <a:r>
              <a:rPr lang="en-US" dirty="0"/>
              <a:t>.</a:t>
            </a:r>
            <a:br>
              <a:rPr lang="en-US" dirty="0"/>
            </a:br>
            <a:r>
              <a:rPr lang="en-US" dirty="0"/>
              <a:t>No guessing. No curve fitting. Just a clean calculation using integration.</a:t>
            </a:r>
          </a:p>
          <a:p>
            <a:r>
              <a:rPr lang="en-US" dirty="0"/>
              <a:t>And this same approach works for any other sine coefficient.</a:t>
            </a:r>
            <a:br>
              <a:rPr lang="en-US" dirty="0"/>
            </a:br>
            <a:r>
              <a:rPr lang="en-US" dirty="0"/>
              <a:t>To compute </a:t>
            </a:r>
            <a:r>
              <a:rPr lang="en-US" b="1" dirty="0"/>
              <a:t>b n</a:t>
            </a:r>
            <a:r>
              <a:rPr lang="en-US" dirty="0"/>
              <a:t>, you use </a:t>
            </a:r>
            <a:r>
              <a:rPr lang="en-US" b="1" dirty="0"/>
              <a:t>the sine of 2 pi n t</a:t>
            </a:r>
            <a:r>
              <a:rPr lang="en-US" dirty="0"/>
              <a:t> as your basis function, multiply it by </a:t>
            </a:r>
            <a:r>
              <a:rPr lang="en-US" b="1" dirty="0"/>
              <a:t>f of t</a:t>
            </a:r>
            <a:r>
              <a:rPr lang="en-US" dirty="0"/>
              <a:t>, and integrate from 0 to 1.</a:t>
            </a:r>
          </a:p>
          <a:p>
            <a:r>
              <a:rPr lang="en-US" dirty="0"/>
              <a:t>The same logic applies to the cosine coefficients — the </a:t>
            </a:r>
            <a:r>
              <a:rPr lang="en-US" b="1" dirty="0"/>
              <a:t>a n</a:t>
            </a:r>
            <a:r>
              <a:rPr lang="en-US" dirty="0"/>
              <a:t> terms.</a:t>
            </a:r>
            <a:br>
              <a:rPr lang="en-US" dirty="0"/>
            </a:br>
            <a:r>
              <a:rPr lang="en-US" dirty="0"/>
              <a:t>To find those, you simply take </a:t>
            </a:r>
            <a:r>
              <a:rPr lang="en-US" b="1" dirty="0"/>
              <a:t>f of t</a:t>
            </a:r>
            <a:r>
              <a:rPr lang="en-US" dirty="0"/>
              <a:t> and compute its inner product with </a:t>
            </a:r>
            <a:r>
              <a:rPr lang="en-US" b="1" dirty="0"/>
              <a:t>cosine of 2 pi n t</a:t>
            </a:r>
            <a:r>
              <a:rPr lang="en-US" dirty="0"/>
              <a:t>.</a:t>
            </a:r>
            <a:br>
              <a:rPr lang="en-US" dirty="0"/>
            </a:br>
            <a:r>
              <a:rPr lang="en-US" dirty="0"/>
              <a:t>Each integral gives you one specific Fourier coefficient.</a:t>
            </a:r>
          </a:p>
          <a:p>
            <a:endParaRPr lang="en-US" dirty="0"/>
          </a:p>
          <a:p>
            <a:r>
              <a:rPr lang="en-US" dirty="0"/>
              <a:t>Now why does this work so beautifully?</a:t>
            </a:r>
          </a:p>
          <a:p>
            <a:r>
              <a:rPr lang="en-US" dirty="0"/>
              <a:t>It’s all thanks to the </a:t>
            </a:r>
            <a:r>
              <a:rPr lang="en-US" b="1" dirty="0"/>
              <a:t>orthonormality</a:t>
            </a:r>
            <a:r>
              <a:rPr lang="en-US" dirty="0"/>
              <a:t> of the sine and cosine functions.</a:t>
            </a:r>
          </a:p>
          <a:p>
            <a:r>
              <a:rPr lang="en-US" dirty="0"/>
              <a:t>When we take an inner product between </a:t>
            </a:r>
            <a:r>
              <a:rPr lang="en-US" b="1" dirty="0"/>
              <a:t>f of t</a:t>
            </a:r>
            <a:r>
              <a:rPr lang="en-US" dirty="0"/>
              <a:t> and any basis function — say, </a:t>
            </a:r>
            <a:r>
              <a:rPr lang="en-US" b="1" dirty="0"/>
              <a:t>sine of 2 pi times 3 t</a:t>
            </a:r>
            <a:r>
              <a:rPr lang="en-US" dirty="0"/>
              <a:t> —</a:t>
            </a:r>
            <a:br>
              <a:rPr lang="en-US" dirty="0"/>
            </a:br>
            <a:r>
              <a:rPr lang="en-US" dirty="0"/>
              <a:t>only the matching sine term in the Fourier expansion contributes to the result.</a:t>
            </a:r>
            <a:br>
              <a:rPr lang="en-US" dirty="0"/>
            </a:br>
            <a:endParaRPr lang="en-US" dirty="0"/>
          </a:p>
          <a:p>
            <a:r>
              <a:rPr lang="en-US" dirty="0"/>
              <a:t>All the other basis functions — like the cosines, or sine terms with different frequencies — are orthogonal to this one,</a:t>
            </a:r>
            <a:br>
              <a:rPr lang="en-US" dirty="0"/>
            </a:br>
            <a:r>
              <a:rPr lang="en-US" dirty="0"/>
              <a:t>so their inner products are zero and they vanish from the computation.</a:t>
            </a:r>
          </a:p>
          <a:p>
            <a:r>
              <a:rPr lang="en-US" dirty="0"/>
              <a:t>This is exactly like projecting a vector in three-dimensional space.</a:t>
            </a:r>
            <a:br>
              <a:rPr lang="en-US" dirty="0"/>
            </a:br>
            <a:endParaRPr lang="en-US" dirty="0"/>
          </a:p>
          <a:p>
            <a:r>
              <a:rPr lang="en-US" dirty="0"/>
              <a:t>If you want the x-component of a vector, you project it onto the x-axis.</a:t>
            </a:r>
            <a:br>
              <a:rPr lang="en-US" dirty="0"/>
            </a:br>
            <a:r>
              <a:rPr lang="en-US" dirty="0"/>
              <a:t>For the y-component, you project onto the y-axis.</a:t>
            </a:r>
            <a:br>
              <a:rPr lang="en-US" dirty="0"/>
            </a:br>
            <a:r>
              <a:rPr lang="en-US" dirty="0"/>
              <a:t>Same idea here — but now, instead of axes, we have sine and cosine waves.</a:t>
            </a:r>
            <a:br>
              <a:rPr lang="en-US" dirty="0"/>
            </a:br>
            <a:r>
              <a:rPr lang="en-US" dirty="0"/>
              <a:t>And instead of finite dimensions, we’re working in an </a:t>
            </a:r>
            <a:r>
              <a:rPr lang="en-US" b="1" dirty="0"/>
              <a:t>infinite-dimensional</a:t>
            </a:r>
            <a:r>
              <a:rPr lang="en-US" dirty="0"/>
              <a:t> function space.</a:t>
            </a:r>
          </a:p>
          <a:p>
            <a:r>
              <a:rPr lang="en-US" dirty="0"/>
              <a:t>So again, orthonormality makes everything work cleanly.</a:t>
            </a:r>
            <a:br>
              <a:rPr lang="en-US" dirty="0"/>
            </a:br>
            <a:r>
              <a:rPr lang="en-US" dirty="0"/>
              <a:t>It gives us a precise, mathematical way to </a:t>
            </a:r>
            <a:r>
              <a:rPr lang="en-US" b="1" dirty="0"/>
              <a:t>extract each component</a:t>
            </a:r>
            <a:r>
              <a:rPr lang="en-US" dirty="0"/>
              <a:t> of a function in the Fourier basis.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33</a:t>
            </a:fld>
            <a:endParaRPr lang="en-US"/>
          </a:p>
        </p:txBody>
      </p:sp>
    </p:spTree>
    <p:extLst>
      <p:ext uri="{BB962C8B-B14F-4D97-AF65-F5344CB8AC3E}">
        <p14:creationId xmlns:p14="http://schemas.microsoft.com/office/powerpoint/2010/main" val="1582778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we arrive at a full summary of the </a:t>
            </a:r>
            <a:r>
              <a:rPr lang="en-US" b="1" dirty="0"/>
              <a:t>real form</a:t>
            </a:r>
            <a:r>
              <a:rPr lang="en-US" dirty="0"/>
              <a:t> of the Fourier series.</a:t>
            </a:r>
          </a:p>
          <a:p>
            <a:r>
              <a:rPr lang="en-US" dirty="0"/>
              <a:t>What we’ve seen so far is that many well-behaved functions — especially those that are continuous and square-integrable — can be expressed as a </a:t>
            </a:r>
            <a:r>
              <a:rPr lang="en-US" b="1" dirty="0"/>
              <a:t>weighted sum of sine and cosine waves</a:t>
            </a:r>
            <a:r>
              <a:rPr lang="en-US" dirty="0"/>
              <a:t>.</a:t>
            </a:r>
            <a:br>
              <a:rPr lang="en-US" dirty="0"/>
            </a:br>
            <a:r>
              <a:rPr lang="en-US" dirty="0"/>
              <a:t>And this formula at the top captures that structure precisely.</a:t>
            </a:r>
          </a:p>
          <a:p>
            <a:endParaRPr lang="en-US" dirty="0"/>
          </a:p>
          <a:p>
            <a:r>
              <a:rPr lang="en-US" dirty="0"/>
              <a:t>We start with the function </a:t>
            </a:r>
            <a:r>
              <a:rPr lang="en-US" b="1" dirty="0"/>
              <a:t>f of t</a:t>
            </a:r>
            <a:r>
              <a:rPr lang="en-US" dirty="0"/>
              <a:t>.</a:t>
            </a:r>
            <a:br>
              <a:rPr lang="en-US" dirty="0"/>
            </a:br>
            <a:r>
              <a:rPr lang="en-US" dirty="0"/>
              <a:t>Then we write it as the sum of three components:</a:t>
            </a:r>
          </a:p>
          <a:p>
            <a:r>
              <a:rPr lang="en-US" dirty="0"/>
              <a:t>First, the </a:t>
            </a:r>
            <a:r>
              <a:rPr lang="en-US" b="1" dirty="0"/>
              <a:t>DC component</a:t>
            </a:r>
            <a:r>
              <a:rPr lang="en-US" dirty="0"/>
              <a:t>, which is </a:t>
            </a:r>
            <a:r>
              <a:rPr lang="en-US" b="1" dirty="0"/>
              <a:t>a naught over 2</a:t>
            </a:r>
            <a:r>
              <a:rPr lang="en-US" dirty="0"/>
              <a:t>. That’s the constant or average value of the function — the non-oscillating part.</a:t>
            </a:r>
          </a:p>
          <a:p>
            <a:r>
              <a:rPr lang="en-US" dirty="0"/>
              <a:t>Next comes the </a:t>
            </a:r>
            <a:r>
              <a:rPr lang="en-US" b="1" dirty="0"/>
              <a:t>cosine sum</a:t>
            </a:r>
            <a:r>
              <a:rPr lang="en-US" dirty="0"/>
              <a:t>, where each term involves a coefficient </a:t>
            </a:r>
            <a:r>
              <a:rPr lang="en-US" b="1" dirty="0"/>
              <a:t>a n</a:t>
            </a:r>
            <a:r>
              <a:rPr lang="en-US" dirty="0"/>
              <a:t> times </a:t>
            </a:r>
            <a:r>
              <a:rPr lang="en-US" b="1" dirty="0"/>
              <a:t>cosine of 2 pi n t</a:t>
            </a:r>
            <a:r>
              <a:rPr lang="en-US" dirty="0"/>
              <a:t>.</a:t>
            </a:r>
          </a:p>
          <a:p>
            <a:r>
              <a:rPr lang="en-US" dirty="0"/>
              <a:t>And finally, we have the </a:t>
            </a:r>
            <a:r>
              <a:rPr lang="en-US" b="1" dirty="0"/>
              <a:t>sine sum</a:t>
            </a:r>
            <a:r>
              <a:rPr lang="en-US" dirty="0"/>
              <a:t>, where each term includes </a:t>
            </a:r>
            <a:r>
              <a:rPr lang="en-US" b="1" dirty="0"/>
              <a:t>b n</a:t>
            </a:r>
            <a:r>
              <a:rPr lang="en-US" dirty="0"/>
              <a:t> times </a:t>
            </a:r>
            <a:r>
              <a:rPr lang="en-US" b="1" dirty="0"/>
              <a:t>sine of 2 pi n t</a:t>
            </a:r>
            <a:r>
              <a:rPr lang="en-US" dirty="0"/>
              <a:t>.</a:t>
            </a:r>
          </a:p>
          <a:p>
            <a:r>
              <a:rPr lang="en-US" dirty="0"/>
              <a:t>These coefficients — </a:t>
            </a:r>
            <a:r>
              <a:rPr lang="en-US" b="1" dirty="0"/>
              <a:t>a naught</a:t>
            </a:r>
            <a:r>
              <a:rPr lang="en-US" dirty="0"/>
              <a:t>, </a:t>
            </a:r>
            <a:r>
              <a:rPr lang="en-US" b="1" dirty="0"/>
              <a:t>a n</a:t>
            </a:r>
            <a:r>
              <a:rPr lang="en-US" dirty="0"/>
              <a:t>, and </a:t>
            </a:r>
            <a:r>
              <a:rPr lang="en-US" b="1" baseline="0" dirty="0"/>
              <a:t>b</a:t>
            </a:r>
            <a:r>
              <a:rPr lang="en-US" b="1" dirty="0"/>
              <a:t> n</a:t>
            </a:r>
            <a:r>
              <a:rPr lang="en-US" dirty="0"/>
              <a:t> — are what determine how much of each sine or cosine wave contributes to the reconstruction of </a:t>
            </a:r>
            <a:r>
              <a:rPr lang="en-US" b="1" dirty="0"/>
              <a:t>f of t</a:t>
            </a:r>
            <a:r>
              <a:rPr lang="en-US" dirty="0"/>
              <a:t>.</a:t>
            </a:r>
          </a:p>
          <a:p>
            <a:r>
              <a:rPr lang="en-US" dirty="0"/>
              <a:t>So how do we find them?</a:t>
            </a:r>
          </a:p>
          <a:p>
            <a:endParaRPr lang="en-US" dirty="0"/>
          </a:p>
          <a:p>
            <a:r>
              <a:rPr lang="en-US" dirty="0"/>
              <a:t>Well, we already know the answer from earlier in the lecture: we compute </a:t>
            </a:r>
            <a:r>
              <a:rPr lang="en-US" b="1" dirty="0"/>
              <a:t>inner products</a:t>
            </a:r>
            <a:r>
              <a:rPr lang="en-US" dirty="0"/>
              <a:t>.</a:t>
            </a:r>
            <a:br>
              <a:rPr lang="en-US" dirty="0"/>
            </a:br>
            <a:r>
              <a:rPr lang="en-US" dirty="0"/>
              <a:t>That is, we take the integral of the product of our function </a:t>
            </a:r>
            <a:r>
              <a:rPr lang="en-US" b="1" dirty="0"/>
              <a:t>f of t</a:t>
            </a:r>
            <a:r>
              <a:rPr lang="en-US" dirty="0"/>
              <a:t> with each basis function, over the interval from 0 to 1.</a:t>
            </a:r>
          </a:p>
          <a:p>
            <a:r>
              <a:rPr lang="en-US" dirty="0"/>
              <a:t>For the constant term, </a:t>
            </a:r>
            <a:r>
              <a:rPr lang="en-US" b="1" dirty="0"/>
              <a:t>a naught over 2</a:t>
            </a:r>
            <a:r>
              <a:rPr lang="en-US" dirty="0"/>
              <a:t>, we simply integrate </a:t>
            </a:r>
            <a:r>
              <a:rPr lang="en-US" b="1" dirty="0"/>
              <a:t>f of t</a:t>
            </a:r>
            <a:r>
              <a:rPr lang="en-US" dirty="0"/>
              <a:t> from 0 to 1.</a:t>
            </a:r>
          </a:p>
          <a:p>
            <a:r>
              <a:rPr lang="en-US" dirty="0"/>
              <a:t>To get </a:t>
            </a:r>
            <a:r>
              <a:rPr lang="en-US" b="1" dirty="0"/>
              <a:t>a n</a:t>
            </a:r>
            <a:r>
              <a:rPr lang="en-US" dirty="0"/>
              <a:t>, we multiply </a:t>
            </a:r>
            <a:r>
              <a:rPr lang="en-US" b="1" dirty="0"/>
              <a:t>f of t</a:t>
            </a:r>
            <a:r>
              <a:rPr lang="en-US" dirty="0"/>
              <a:t> by </a:t>
            </a:r>
            <a:r>
              <a:rPr lang="en-US" b="1" dirty="0"/>
              <a:t>the cosine of 2 pi n t</a:t>
            </a:r>
            <a:r>
              <a:rPr lang="en-US" dirty="0"/>
              <a:t> and integrate.</a:t>
            </a:r>
          </a:p>
          <a:p>
            <a:r>
              <a:rPr lang="en-US" dirty="0"/>
              <a:t>For </a:t>
            </a:r>
            <a:r>
              <a:rPr lang="en-US" b="1" dirty="0"/>
              <a:t>b n</a:t>
            </a:r>
            <a:r>
              <a:rPr lang="en-US" dirty="0"/>
              <a:t>, we do the same with </a:t>
            </a:r>
            <a:r>
              <a:rPr lang="en-US" b="1" dirty="0"/>
              <a:t>the sine of 2 pi n t</a:t>
            </a:r>
            <a:r>
              <a:rPr lang="en-US" dirty="0"/>
              <a:t>.</a:t>
            </a:r>
          </a:p>
          <a:p>
            <a:endParaRPr lang="en-US" dirty="0"/>
          </a:p>
          <a:p>
            <a:r>
              <a:rPr lang="en-US" dirty="0"/>
              <a:t>Once you have these values, you plug them back into the series.</a:t>
            </a:r>
            <a:br>
              <a:rPr lang="en-US" dirty="0"/>
            </a:br>
            <a:r>
              <a:rPr lang="en-US" dirty="0"/>
              <a:t>And when you sum it all up — the constants, the cosines, and the sines — you recreate your original function, or at least approximate it very closely.</a:t>
            </a:r>
          </a:p>
          <a:p>
            <a:r>
              <a:rPr lang="en-US" dirty="0"/>
              <a:t>It’s almost magical.</a:t>
            </a:r>
            <a:br>
              <a:rPr lang="en-US" dirty="0"/>
            </a:br>
            <a:r>
              <a:rPr lang="en-US" dirty="0"/>
              <a:t>You could be working with a smooth parabola, or a sharp triangular wave, or even a jagged, piecewise function — and yet, you can reconstruct it entirely using just sine and cosine waves. That’s the power of the Fourier series.</a:t>
            </a:r>
          </a:p>
          <a:p>
            <a:endParaRPr lang="en-US" dirty="0"/>
          </a:p>
          <a:p>
            <a:r>
              <a:rPr lang="en-US" dirty="0"/>
              <a:t>Now, remember earlier in the course we looked at functions in terms of discrete particles or impulses — like pixel-based representations. That gave us a kind of </a:t>
            </a:r>
            <a:r>
              <a:rPr lang="en-US" b="1" dirty="0"/>
              <a:t>particle view</a:t>
            </a:r>
            <a:r>
              <a:rPr lang="en-US" dirty="0"/>
              <a:t> of functions.</a:t>
            </a:r>
          </a:p>
          <a:p>
            <a:r>
              <a:rPr lang="en-US" dirty="0"/>
              <a:t>But this approach gives us a </a:t>
            </a:r>
            <a:r>
              <a:rPr lang="en-US" b="1" dirty="0"/>
              <a:t>wave-based view</a:t>
            </a:r>
            <a:r>
              <a:rPr lang="en-US" dirty="0"/>
              <a:t> — continuous, smooth, and grounded in frequency content.</a:t>
            </a:r>
          </a:p>
          <a:p>
            <a:r>
              <a:rPr lang="en-US" dirty="0"/>
              <a:t>Both are valid. And each is powerful in its own context.</a:t>
            </a:r>
          </a:p>
          <a:p>
            <a:endParaRPr lang="en-US" dirty="0"/>
          </a:p>
          <a:p>
            <a:r>
              <a:rPr lang="en-US" dirty="0"/>
              <a:t>But here’s a question worth asking:</a:t>
            </a:r>
            <a:br>
              <a:rPr lang="en-US" dirty="0"/>
            </a:br>
            <a:r>
              <a:rPr lang="en-US" b="1" dirty="0"/>
              <a:t>Why would we ever want to use the complex form of the Fourier series?</a:t>
            </a:r>
            <a:endParaRPr lang="en-US" dirty="0"/>
          </a:p>
          <a:p>
            <a:r>
              <a:rPr lang="en-US" dirty="0"/>
              <a:t>Well, look at this real version. It’s elegant, yes — but it involves </a:t>
            </a:r>
            <a:r>
              <a:rPr lang="en-US" b="1" dirty="0"/>
              <a:t>three separate types of terms</a:t>
            </a:r>
            <a:r>
              <a:rPr lang="en-US" dirty="0"/>
              <a:t>: one for the DC component, one for cosine, and one for sine.</a:t>
            </a:r>
          </a:p>
          <a:p>
            <a:r>
              <a:rPr lang="en-US" dirty="0"/>
              <a:t>By switching to the </a:t>
            </a:r>
            <a:r>
              <a:rPr lang="en-US" b="1" dirty="0"/>
              <a:t>complex form</a:t>
            </a:r>
            <a:r>
              <a:rPr lang="en-US" dirty="0"/>
              <a:t>, we can merge all of this into a </a:t>
            </a:r>
            <a:r>
              <a:rPr lang="en-US" b="1" dirty="0"/>
              <a:t>single sum</a:t>
            </a:r>
            <a:r>
              <a:rPr lang="en-US" dirty="0"/>
              <a:t> using </a:t>
            </a:r>
            <a:r>
              <a:rPr lang="en-US" b="1" dirty="0"/>
              <a:t>Euler’s formula,</a:t>
            </a:r>
            <a:r>
              <a:rPr lang="en-US" dirty="0"/>
              <a:t> where complex exponentials capture both sine and cosine behavior simultaneously.</a:t>
            </a:r>
          </a:p>
          <a:p>
            <a:r>
              <a:rPr lang="en-US" dirty="0"/>
              <a:t>This makes the whole formulation more compact and symmetrical.</a:t>
            </a:r>
            <a:br>
              <a:rPr lang="en-US" dirty="0"/>
            </a:br>
            <a:endParaRPr lang="en-US" dirty="0"/>
          </a:p>
          <a:p>
            <a:r>
              <a:rPr lang="en-US" dirty="0"/>
              <a:t>The math becomes cleaner. The algebra gets easier. And in engineering applications, it often leads to more efficient computations.</a:t>
            </a:r>
          </a:p>
          <a:p>
            <a:r>
              <a:rPr lang="en-US" dirty="0"/>
              <a:t>So while the real form gives us intuitive clarity, the complex form offers analytical elegance.</a:t>
            </a:r>
          </a:p>
          <a:p>
            <a:r>
              <a:rPr lang="en-US" dirty="0"/>
              <a:t>That’s exactly where we’re headed next.</a:t>
            </a:r>
          </a:p>
          <a:p>
            <a:r>
              <a:rPr lang="en-US" dirty="0"/>
              <a:t>Let’s now explore how complex numbers help us take the Fourier series to the next level.</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34</a:t>
            </a:fld>
            <a:endParaRPr lang="en-US"/>
          </a:p>
        </p:txBody>
      </p:sp>
    </p:spTree>
    <p:extLst>
      <p:ext uri="{BB962C8B-B14F-4D97-AF65-F5344CB8AC3E}">
        <p14:creationId xmlns:p14="http://schemas.microsoft.com/office/powerpoint/2010/main" val="1657075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take a step into the world of </a:t>
            </a:r>
            <a:r>
              <a:rPr lang="en-US" b="1" dirty="0"/>
              <a:t>complex numbers</a:t>
            </a:r>
            <a:r>
              <a:rPr lang="en-US" dirty="0"/>
              <a:t>, because they offer a beautifully compact and powerful way to handle Fourier analysis.</a:t>
            </a:r>
          </a:p>
          <a:p>
            <a:endParaRPr lang="en-US" dirty="0"/>
          </a:p>
          <a:p>
            <a:r>
              <a:rPr lang="en-US" dirty="0"/>
              <a:t>We begin with something that might feel a little strange at first — the definition of the </a:t>
            </a:r>
            <a:r>
              <a:rPr lang="en-US" b="1" dirty="0"/>
              <a:t>imaginary unit</a:t>
            </a:r>
            <a:r>
              <a:rPr lang="en-US" dirty="0"/>
              <a:t>, denoted by the letter </a:t>
            </a:r>
            <a:r>
              <a:rPr lang="en-US" i="1" dirty="0" err="1"/>
              <a:t>i</a:t>
            </a:r>
            <a:r>
              <a:rPr lang="en-US" dirty="0"/>
              <a:t>.</a:t>
            </a:r>
            <a:br>
              <a:rPr lang="en-US" dirty="0"/>
            </a:br>
            <a:endParaRPr lang="en-US" dirty="0"/>
          </a:p>
          <a:p>
            <a:r>
              <a:rPr lang="en-US" dirty="0"/>
              <a:t>By definition, </a:t>
            </a:r>
            <a:r>
              <a:rPr lang="en-US" i="1" dirty="0" err="1"/>
              <a:t>i</a:t>
            </a:r>
            <a:r>
              <a:rPr lang="en-US" i="1" dirty="0"/>
              <a:t> squared</a:t>
            </a:r>
            <a:r>
              <a:rPr lang="en-US" dirty="0"/>
              <a:t> equals </a:t>
            </a:r>
            <a:r>
              <a:rPr lang="en-US" b="1" dirty="0"/>
              <a:t>negative one</a:t>
            </a:r>
            <a:r>
              <a:rPr lang="en-US" dirty="0"/>
              <a:t>. That is:</a:t>
            </a:r>
          </a:p>
          <a:p>
            <a:r>
              <a:rPr lang="en-US" i="1" dirty="0" err="1"/>
              <a:t>i</a:t>
            </a:r>
            <a:r>
              <a:rPr lang="en-US" i="1" dirty="0"/>
              <a:t> squared equals minus one.</a:t>
            </a:r>
          </a:p>
          <a:p>
            <a:endParaRPr lang="en-US" dirty="0"/>
          </a:p>
          <a:p>
            <a:r>
              <a:rPr lang="en-US" dirty="0"/>
              <a:t>Now, this seems counterintuitive, right? Because in the world of real numbers, squaring anything always gives you something non-negative. But here, we're stepping beyond the real line, into a new dimension — one that allows us to define numbers that include this imaginary unit.</a:t>
            </a:r>
          </a:p>
          <a:p>
            <a:r>
              <a:rPr lang="en-US" dirty="0"/>
              <a:t>And that opens the door to </a:t>
            </a:r>
            <a:r>
              <a:rPr lang="en-US" b="1" dirty="0"/>
              <a:t>complex numbers</a:t>
            </a:r>
            <a:r>
              <a:rPr lang="en-US" dirty="0"/>
              <a:t>.</a:t>
            </a:r>
          </a:p>
          <a:p>
            <a:r>
              <a:rPr lang="en-US" dirty="0"/>
              <a:t>A complex number, typically written as </a:t>
            </a:r>
            <a:r>
              <a:rPr lang="en-US" b="1" dirty="0"/>
              <a:t>z</a:t>
            </a:r>
            <a:r>
              <a:rPr lang="en-US" dirty="0"/>
              <a:t>, is defined as:</a:t>
            </a:r>
          </a:p>
          <a:p>
            <a:r>
              <a:rPr lang="en-US" b="1" dirty="0"/>
              <a:t>z = x plus </a:t>
            </a:r>
            <a:r>
              <a:rPr lang="en-US" b="1" dirty="0" err="1"/>
              <a:t>i</a:t>
            </a:r>
            <a:r>
              <a:rPr lang="en-US" b="1" dirty="0"/>
              <a:t> times y</a:t>
            </a:r>
            <a:r>
              <a:rPr lang="en-US" dirty="0"/>
              <a:t>,</a:t>
            </a:r>
          </a:p>
          <a:p>
            <a:r>
              <a:rPr lang="en-US" dirty="0"/>
              <a:t>where </a:t>
            </a:r>
            <a:r>
              <a:rPr lang="en-US" i="1" dirty="0"/>
              <a:t>x</a:t>
            </a:r>
            <a:r>
              <a:rPr lang="en-US" dirty="0"/>
              <a:t> is the </a:t>
            </a:r>
            <a:r>
              <a:rPr lang="en-US" b="1" dirty="0"/>
              <a:t>real part</a:t>
            </a:r>
            <a:r>
              <a:rPr lang="en-US" dirty="0"/>
              <a:t>, and </a:t>
            </a:r>
            <a:r>
              <a:rPr lang="en-US" i="1" dirty="0"/>
              <a:t>y</a:t>
            </a:r>
            <a:r>
              <a:rPr lang="en-US" dirty="0"/>
              <a:t> is the </a:t>
            </a:r>
            <a:r>
              <a:rPr lang="en-US" b="1" dirty="0"/>
              <a:t>imaginary part</a:t>
            </a:r>
            <a:r>
              <a:rPr lang="en-US" dirty="0"/>
              <a:t>.</a:t>
            </a:r>
            <a:br>
              <a:rPr lang="en-US" dirty="0"/>
            </a:br>
            <a:r>
              <a:rPr lang="en-US" dirty="0"/>
              <a:t>Geometrically, you can think of this as a point on the complex plane — with </a:t>
            </a:r>
            <a:r>
              <a:rPr lang="en-US" i="1" dirty="0"/>
              <a:t>x</a:t>
            </a:r>
            <a:r>
              <a:rPr lang="en-US" dirty="0"/>
              <a:t> on the horizontal axis and </a:t>
            </a:r>
            <a:r>
              <a:rPr lang="en-US" i="1" dirty="0"/>
              <a:t>y</a:t>
            </a:r>
            <a:r>
              <a:rPr lang="en-US" dirty="0"/>
              <a:t> on the vertical axis.</a:t>
            </a:r>
          </a:p>
          <a:p>
            <a:r>
              <a:rPr lang="en-US" dirty="0"/>
              <a:t>Now, for every complex number, we can define something called its </a:t>
            </a:r>
            <a:r>
              <a:rPr lang="en-US" b="1" dirty="0"/>
              <a:t>conjugate</a:t>
            </a:r>
            <a:r>
              <a:rPr lang="en-US" dirty="0"/>
              <a:t>.</a:t>
            </a:r>
            <a:br>
              <a:rPr lang="en-US" dirty="0"/>
            </a:br>
            <a:r>
              <a:rPr lang="en-US" dirty="0"/>
              <a:t>If </a:t>
            </a:r>
            <a:r>
              <a:rPr lang="en-US" b="1" dirty="0"/>
              <a:t>z</a:t>
            </a:r>
            <a:r>
              <a:rPr lang="en-US" dirty="0"/>
              <a:t> is </a:t>
            </a:r>
            <a:r>
              <a:rPr lang="en-US" b="1" dirty="0"/>
              <a:t>x plus </a:t>
            </a:r>
            <a:r>
              <a:rPr lang="en-US" b="1" dirty="0" err="1"/>
              <a:t>i</a:t>
            </a:r>
            <a:r>
              <a:rPr lang="en-US" b="1" dirty="0"/>
              <a:t> times y</a:t>
            </a:r>
            <a:r>
              <a:rPr lang="en-US" dirty="0"/>
              <a:t>, then the conjugate of </a:t>
            </a:r>
            <a:r>
              <a:rPr lang="en-US" b="1" dirty="0"/>
              <a:t>z</a:t>
            </a:r>
            <a:r>
              <a:rPr lang="en-US" dirty="0"/>
              <a:t>, written with a bar over it, is:</a:t>
            </a:r>
          </a:p>
          <a:p>
            <a:r>
              <a:rPr lang="en-US" b="1" dirty="0"/>
              <a:t>x minus I times y</a:t>
            </a:r>
            <a:r>
              <a:rPr lang="en-US" dirty="0"/>
              <a:t>.</a:t>
            </a:r>
          </a:p>
          <a:p>
            <a:endParaRPr lang="en-US" dirty="0"/>
          </a:p>
          <a:p>
            <a:r>
              <a:rPr lang="en-US" dirty="0"/>
              <a:t>This is like flipping the point across the real axis — mirroring it vertically.</a:t>
            </a:r>
          </a:p>
          <a:p>
            <a:r>
              <a:rPr lang="en-US" dirty="0"/>
              <a:t>Now, let’s look at how we add and multiply complex numbers.</a:t>
            </a:r>
            <a:br>
              <a:rPr lang="en-US" dirty="0"/>
            </a:br>
            <a:r>
              <a:rPr lang="en-US" dirty="0"/>
              <a:t>The rules are very similar to regular algebra — you just have to remember that </a:t>
            </a:r>
            <a:r>
              <a:rPr lang="en-US" b="1" dirty="0" err="1"/>
              <a:t>i</a:t>
            </a:r>
            <a:r>
              <a:rPr lang="en-US" b="1" dirty="0"/>
              <a:t> squared is negative one</a:t>
            </a:r>
            <a:r>
              <a:rPr lang="en-US" dirty="0"/>
              <a:t>. That’s the only twist.</a:t>
            </a:r>
          </a:p>
          <a:p>
            <a:r>
              <a:rPr lang="en-US" dirty="0"/>
              <a:t>So, for instance, if we add two complex numbers, we just add their real parts and their imaginary parts separately.</a:t>
            </a:r>
            <a:br>
              <a:rPr lang="en-US" dirty="0"/>
            </a:br>
            <a:r>
              <a:rPr lang="en-US" dirty="0"/>
              <a:t>If we multiply them, we expand the product just like you would with binomials — but we substitute </a:t>
            </a:r>
            <a:r>
              <a:rPr lang="en-US" b="1" dirty="0" err="1"/>
              <a:t>i</a:t>
            </a:r>
            <a:r>
              <a:rPr lang="en-US" b="1" dirty="0"/>
              <a:t> squared with minus one</a:t>
            </a:r>
            <a:r>
              <a:rPr lang="en-US" dirty="0"/>
              <a:t> when it appears.</a:t>
            </a:r>
          </a:p>
          <a:p>
            <a:r>
              <a:rPr lang="en-US" dirty="0"/>
              <a:t>From here, we can also </a:t>
            </a:r>
            <a:r>
              <a:rPr lang="en-US" b="1" dirty="0"/>
              <a:t>extract</a:t>
            </a:r>
            <a:r>
              <a:rPr lang="en-US" dirty="0"/>
              <a:t> the real and imaginary parts of a complex number using its conjugate:</a:t>
            </a:r>
          </a:p>
          <a:p>
            <a:r>
              <a:rPr lang="en-US" dirty="0"/>
              <a:t>The </a:t>
            </a:r>
            <a:r>
              <a:rPr lang="en-US" b="1" dirty="0"/>
              <a:t>real part</a:t>
            </a:r>
            <a:r>
              <a:rPr lang="en-US" dirty="0"/>
              <a:t> is the average of the number and its conjugate — that’s </a:t>
            </a:r>
            <a:r>
              <a:rPr lang="en-US" b="1" dirty="0"/>
              <a:t>z plus z bar divided by two</a:t>
            </a:r>
            <a:r>
              <a:rPr lang="en-US" dirty="0"/>
              <a:t>.</a:t>
            </a:r>
          </a:p>
          <a:p>
            <a:r>
              <a:rPr lang="en-US" dirty="0"/>
              <a:t>The </a:t>
            </a:r>
            <a:r>
              <a:rPr lang="en-US" b="1" dirty="0"/>
              <a:t>imaginary part</a:t>
            </a:r>
            <a:r>
              <a:rPr lang="en-US" dirty="0"/>
              <a:t> is the difference between the number and its conjugate, divided by </a:t>
            </a:r>
            <a:r>
              <a:rPr lang="en-US" b="1" dirty="0"/>
              <a:t>2 </a:t>
            </a:r>
            <a:r>
              <a:rPr lang="en-US" b="1" dirty="0" err="1"/>
              <a:t>i</a:t>
            </a:r>
            <a:r>
              <a:rPr lang="en-US" dirty="0"/>
              <a:t>.</a:t>
            </a:r>
          </a:p>
          <a:p>
            <a:endParaRPr lang="en-US" dirty="0"/>
          </a:p>
          <a:p>
            <a:r>
              <a:rPr lang="en-US" dirty="0"/>
              <a:t>Now, you might be wondering — how does all this tie back to </a:t>
            </a:r>
            <a:r>
              <a:rPr lang="en-US" b="1" dirty="0"/>
              <a:t>Fourier analysis</a:t>
            </a:r>
            <a:r>
              <a:rPr lang="en-US" dirty="0"/>
              <a:t>?</a:t>
            </a:r>
          </a:p>
          <a:p>
            <a:r>
              <a:rPr lang="en-US" dirty="0"/>
              <a:t>Well, just as we defined </a:t>
            </a:r>
            <a:r>
              <a:rPr lang="en-US" b="1" dirty="0"/>
              <a:t>inner products</a:t>
            </a:r>
            <a:r>
              <a:rPr lang="en-US" dirty="0"/>
              <a:t> for real-valued functions, we can do the same for </a:t>
            </a:r>
            <a:r>
              <a:rPr lang="en-US" b="1" dirty="0"/>
              <a:t>complex-valued functions</a:t>
            </a:r>
            <a:r>
              <a:rPr lang="en-US" dirty="0"/>
              <a:t>.</a:t>
            </a:r>
            <a:br>
              <a:rPr lang="en-US" dirty="0"/>
            </a:br>
            <a:r>
              <a:rPr lang="en-US" dirty="0"/>
              <a:t>And when we do, we often need to deal with </a:t>
            </a:r>
            <a:r>
              <a:rPr lang="en-US" b="1" dirty="0"/>
              <a:t>conjugates inside integrals</a:t>
            </a:r>
            <a:r>
              <a:rPr lang="en-US" dirty="0"/>
              <a:t>.</a:t>
            </a:r>
          </a:p>
          <a:p>
            <a:endParaRPr lang="en-US" dirty="0"/>
          </a:p>
          <a:p>
            <a:r>
              <a:rPr lang="en-US" dirty="0"/>
              <a:t>Here’s the rule:</a:t>
            </a:r>
            <a:br>
              <a:rPr lang="en-US" dirty="0"/>
            </a:br>
            <a:r>
              <a:rPr lang="en-US" dirty="0"/>
              <a:t>If you take the complex conjugate of an integral — say, the integral of </a:t>
            </a:r>
            <a:r>
              <a:rPr lang="en-US" b="1" dirty="0"/>
              <a:t>f of t times g of t</a:t>
            </a:r>
            <a:r>
              <a:rPr lang="en-US" dirty="0"/>
              <a:t> — that’s equal to the integral of </a:t>
            </a:r>
            <a:r>
              <a:rPr lang="en-US" b="1" dirty="0"/>
              <a:t>f conjugate times g conjugate</a:t>
            </a:r>
            <a:r>
              <a:rPr lang="en-US" dirty="0"/>
              <a:t>.</a:t>
            </a:r>
          </a:p>
          <a:p>
            <a:r>
              <a:rPr lang="en-US" dirty="0"/>
              <a:t>This is especially important when we compute </a:t>
            </a:r>
            <a:r>
              <a:rPr lang="en-US" b="1" dirty="0"/>
              <a:t>energy</a:t>
            </a:r>
            <a:r>
              <a:rPr lang="en-US" dirty="0"/>
              <a:t>, </a:t>
            </a:r>
            <a:r>
              <a:rPr lang="en-US" b="1" dirty="0"/>
              <a:t>projection</a:t>
            </a:r>
            <a:r>
              <a:rPr lang="en-US" dirty="0"/>
              <a:t>, or </a:t>
            </a:r>
            <a:r>
              <a:rPr lang="en-US" b="1" dirty="0"/>
              <a:t>coefficients</a:t>
            </a:r>
            <a:r>
              <a:rPr lang="en-US" dirty="0"/>
              <a:t> in complex signal spaces.</a:t>
            </a:r>
          </a:p>
          <a:p>
            <a:endParaRPr lang="en-US" dirty="0"/>
          </a:p>
          <a:p>
            <a:r>
              <a:rPr lang="en-US" dirty="0"/>
              <a:t>Also, in engineering and physics, we frequently use the </a:t>
            </a:r>
            <a:r>
              <a:rPr lang="en-US" b="1" dirty="0"/>
              <a:t>star notation</a:t>
            </a:r>
            <a:r>
              <a:rPr lang="en-US" dirty="0"/>
              <a:t> — an asterisk — to indicate conjugation. So if you see a star on the outside of an integral, that means we’re conjugating the whole result.</a:t>
            </a:r>
            <a:br>
              <a:rPr lang="en-US" dirty="0"/>
            </a:br>
            <a:r>
              <a:rPr lang="en-US" dirty="0"/>
              <a:t>Likewise, when it’s applied to the functions inside, it means we're conjugating those functions individually.</a:t>
            </a:r>
          </a:p>
          <a:p>
            <a:r>
              <a:rPr lang="en-US" dirty="0"/>
              <a:t>So why go through all of this?</a:t>
            </a:r>
          </a:p>
          <a:p>
            <a:r>
              <a:rPr lang="en-US" dirty="0"/>
              <a:t>Because working with complex numbers — especially when combined with </a:t>
            </a:r>
            <a:r>
              <a:rPr lang="en-US" b="1" dirty="0"/>
              <a:t>Euler’s formula</a:t>
            </a:r>
            <a:r>
              <a:rPr lang="en-US" dirty="0"/>
              <a:t>, which we’ll see shortly — allows us to </a:t>
            </a:r>
            <a:r>
              <a:rPr lang="en-US" b="1" dirty="0"/>
              <a:t>unify sine and cosine</a:t>
            </a:r>
            <a:r>
              <a:rPr lang="en-US" dirty="0"/>
              <a:t> into a single, elegant expression. That’s a huge simplification.</a:t>
            </a:r>
          </a:p>
          <a:p>
            <a:endParaRPr lang="en-US" dirty="0"/>
          </a:p>
          <a:p>
            <a:r>
              <a:rPr lang="en-US" dirty="0"/>
              <a:t>And that’s the real power of this approach:</a:t>
            </a:r>
            <a:br>
              <a:rPr lang="en-US" dirty="0"/>
            </a:br>
            <a:r>
              <a:rPr lang="en-US" b="1" dirty="0"/>
              <a:t>Cleaner math, fewer terms, and deeper symmetry.</a:t>
            </a:r>
            <a:endParaRPr lang="en-US" dirty="0"/>
          </a:p>
          <a:p>
            <a:r>
              <a:rPr lang="en-US" dirty="0"/>
              <a:t>So with that, we’re now ready to look at the </a:t>
            </a:r>
            <a:r>
              <a:rPr lang="en-US" b="1" dirty="0"/>
              <a:t>complex form of the Fourier series</a:t>
            </a:r>
            <a:r>
              <a:rPr lang="en-US" dirty="0"/>
              <a:t>, which brings everything we've learned into one compact representation.</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35</a:t>
            </a:fld>
            <a:endParaRPr lang="en-US"/>
          </a:p>
        </p:txBody>
      </p:sp>
    </p:spTree>
    <p:extLst>
      <p:ext uri="{BB962C8B-B14F-4D97-AF65-F5344CB8AC3E}">
        <p14:creationId xmlns:p14="http://schemas.microsoft.com/office/powerpoint/2010/main" val="35154270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 we work with </a:t>
            </a:r>
            <a:r>
              <a:rPr lang="en-US" b="1" dirty="0"/>
              <a:t>complex numbers</a:t>
            </a:r>
            <a:r>
              <a:rPr lang="en-US" dirty="0"/>
              <a:t>, there are two very common ways to describe them:</a:t>
            </a:r>
            <a:br>
              <a:rPr lang="en-US" dirty="0"/>
            </a:br>
            <a:r>
              <a:rPr lang="en-US" dirty="0"/>
              <a:t>the </a:t>
            </a:r>
            <a:r>
              <a:rPr lang="en-US" b="1" dirty="0"/>
              <a:t>Cartesian form</a:t>
            </a:r>
            <a:r>
              <a:rPr lang="en-US" dirty="0"/>
              <a:t> and the </a:t>
            </a:r>
            <a:r>
              <a:rPr lang="en-US" b="1" dirty="0"/>
              <a:t>polar form</a:t>
            </a:r>
            <a:r>
              <a:rPr lang="en-US" dirty="0"/>
              <a:t>.</a:t>
            </a:r>
            <a:br>
              <a:rPr lang="en-US" dirty="0"/>
            </a:br>
            <a:r>
              <a:rPr lang="en-US" dirty="0"/>
              <a:t>Both are fully equivalent, and they each offer a different way of thinking about the same quantity.</a:t>
            </a:r>
          </a:p>
          <a:p>
            <a:endParaRPr lang="en-US" dirty="0"/>
          </a:p>
          <a:p>
            <a:r>
              <a:rPr lang="en-US" dirty="0"/>
              <a:t>Let’s begin with the Cartesian form. This is what we’ve seen already:</a:t>
            </a:r>
            <a:br>
              <a:rPr lang="en-US" dirty="0"/>
            </a:br>
            <a:r>
              <a:rPr lang="en-US" dirty="0"/>
              <a:t>A complex number is written as </a:t>
            </a:r>
            <a:r>
              <a:rPr lang="en-US" b="1" dirty="0"/>
              <a:t>x plus </a:t>
            </a:r>
            <a:r>
              <a:rPr lang="en-US" b="1" dirty="0" err="1"/>
              <a:t>i</a:t>
            </a:r>
            <a:r>
              <a:rPr lang="en-US" b="1" dirty="0"/>
              <a:t> times y</a:t>
            </a:r>
            <a:r>
              <a:rPr lang="en-US" dirty="0"/>
              <a:t>, where </a:t>
            </a:r>
            <a:r>
              <a:rPr lang="en-US" i="1" dirty="0"/>
              <a:t>x</a:t>
            </a:r>
            <a:r>
              <a:rPr lang="en-US" dirty="0"/>
              <a:t> is the </a:t>
            </a:r>
            <a:r>
              <a:rPr lang="en-US" b="1" dirty="0"/>
              <a:t>real part</a:t>
            </a:r>
            <a:r>
              <a:rPr lang="en-US" dirty="0"/>
              <a:t>, and </a:t>
            </a:r>
            <a:r>
              <a:rPr lang="en-US" i="1" dirty="0"/>
              <a:t>y</a:t>
            </a:r>
            <a:r>
              <a:rPr lang="en-US" dirty="0"/>
              <a:t> is the </a:t>
            </a:r>
            <a:r>
              <a:rPr lang="en-US" b="1" dirty="0"/>
              <a:t>imaginary part</a:t>
            </a:r>
            <a:r>
              <a:rPr lang="en-US" dirty="0"/>
              <a:t>.</a:t>
            </a:r>
            <a:br>
              <a:rPr lang="en-US" dirty="0"/>
            </a:br>
            <a:r>
              <a:rPr lang="en-US" dirty="0"/>
              <a:t>So we’re essentially giving the horizontal and vertical coordinates of a point in the complex plane — just like specifying a location on a map.</a:t>
            </a:r>
          </a:p>
          <a:p>
            <a:endParaRPr lang="en-US" dirty="0"/>
          </a:p>
          <a:p>
            <a:r>
              <a:rPr lang="en-US" dirty="0"/>
              <a:t>Now, in engineering, we often replace the symbol </a:t>
            </a:r>
            <a:r>
              <a:rPr lang="en-US" i="1" dirty="0" err="1"/>
              <a:t>i</a:t>
            </a:r>
            <a:r>
              <a:rPr lang="en-US" dirty="0"/>
              <a:t> with </a:t>
            </a:r>
            <a:r>
              <a:rPr lang="en-US" i="1" dirty="0"/>
              <a:t>j</a:t>
            </a:r>
            <a:r>
              <a:rPr lang="en-US" dirty="0"/>
              <a:t> to represent the imaginary unit. This is purely to avoid confusion — because in electrical engineering, </a:t>
            </a:r>
            <a:r>
              <a:rPr lang="en-US" i="1" dirty="0" err="1"/>
              <a:t>i</a:t>
            </a:r>
            <a:r>
              <a:rPr lang="en-US" dirty="0"/>
              <a:t> is usually reserved for current.</a:t>
            </a:r>
            <a:br>
              <a:rPr lang="en-US" dirty="0"/>
            </a:br>
            <a:r>
              <a:rPr lang="en-US" dirty="0"/>
              <a:t>But mathematically, </a:t>
            </a:r>
            <a:r>
              <a:rPr lang="en-US" i="1" dirty="0" err="1"/>
              <a:t>i</a:t>
            </a:r>
            <a:r>
              <a:rPr lang="en-US" dirty="0"/>
              <a:t> and </a:t>
            </a:r>
            <a:r>
              <a:rPr lang="en-US" i="1" dirty="0"/>
              <a:t>j</a:t>
            </a:r>
            <a:r>
              <a:rPr lang="en-US" dirty="0"/>
              <a:t> mean the same thing: they both satisfy the fundamental property that </a:t>
            </a:r>
            <a:r>
              <a:rPr lang="en-US" b="1" dirty="0" err="1"/>
              <a:t>i</a:t>
            </a:r>
            <a:r>
              <a:rPr lang="en-US" b="1" dirty="0"/>
              <a:t> squared equals negative one</a:t>
            </a:r>
            <a:r>
              <a:rPr lang="en-US" dirty="0"/>
              <a:t>.</a:t>
            </a:r>
          </a:p>
          <a:p>
            <a:r>
              <a:rPr lang="en-US" dirty="0"/>
              <a:t>The other way to describe a complex number is through </a:t>
            </a:r>
            <a:r>
              <a:rPr lang="en-US" b="1" dirty="0"/>
              <a:t>polar coordinates</a:t>
            </a:r>
            <a:r>
              <a:rPr lang="en-US" dirty="0"/>
              <a:t>.</a:t>
            </a:r>
            <a:br>
              <a:rPr lang="en-US" dirty="0"/>
            </a:br>
            <a:r>
              <a:rPr lang="en-US" dirty="0"/>
              <a:t>Instead of saying how far right and up the point is, we describe the number by its </a:t>
            </a:r>
            <a:r>
              <a:rPr lang="en-US" b="1" dirty="0"/>
              <a:t>magnitude</a:t>
            </a:r>
            <a:r>
              <a:rPr lang="en-US" dirty="0"/>
              <a:t> and </a:t>
            </a:r>
            <a:r>
              <a:rPr lang="en-US" b="1" dirty="0"/>
              <a:t>angle</a:t>
            </a:r>
            <a:r>
              <a:rPr lang="en-US" dirty="0"/>
              <a:t>.</a:t>
            </a:r>
          </a:p>
          <a:p>
            <a:r>
              <a:rPr lang="en-US" dirty="0"/>
              <a:t>So what does that mean?</a:t>
            </a:r>
          </a:p>
          <a:p>
            <a:endParaRPr lang="en-US" dirty="0"/>
          </a:p>
          <a:p>
            <a:r>
              <a:rPr lang="en-US" dirty="0"/>
              <a:t>We draw a line from the origin to the point — that’s the complex number — and call its length </a:t>
            </a:r>
            <a:r>
              <a:rPr lang="en-US" b="1" dirty="0"/>
              <a:t>r</a:t>
            </a:r>
            <a:r>
              <a:rPr lang="en-US" dirty="0"/>
              <a:t>. That’s the magnitude, or modulus, and it’s calculated using the Pythagorean theorem:</a:t>
            </a:r>
            <a:br>
              <a:rPr lang="en-US" dirty="0"/>
            </a:br>
            <a:r>
              <a:rPr lang="en-US" b="1" dirty="0"/>
              <a:t>r equals the square root of x squared plus y squared</a:t>
            </a:r>
            <a:r>
              <a:rPr lang="en-US" dirty="0"/>
              <a:t>.</a:t>
            </a:r>
            <a:br>
              <a:rPr lang="en-US" dirty="0"/>
            </a:br>
            <a:r>
              <a:rPr lang="en-US" dirty="0"/>
              <a:t>This is also written as the absolute value of z.</a:t>
            </a:r>
          </a:p>
          <a:p>
            <a:endParaRPr lang="en-US" dirty="0"/>
          </a:p>
          <a:p>
            <a:r>
              <a:rPr lang="en-US" dirty="0"/>
              <a:t>Next, we describe the </a:t>
            </a:r>
            <a:r>
              <a:rPr lang="en-US" b="1" dirty="0"/>
              <a:t>angle</a:t>
            </a:r>
            <a:r>
              <a:rPr lang="en-US" dirty="0"/>
              <a:t> that line makes with the positive real axis.</a:t>
            </a:r>
            <a:br>
              <a:rPr lang="en-US" dirty="0"/>
            </a:br>
            <a:r>
              <a:rPr lang="en-US" dirty="0"/>
              <a:t>That angle is called </a:t>
            </a:r>
            <a:r>
              <a:rPr lang="en-US" b="1" dirty="0"/>
              <a:t>theta</a:t>
            </a:r>
            <a:r>
              <a:rPr lang="en-US" dirty="0"/>
              <a:t>, and we compute it as the </a:t>
            </a:r>
            <a:r>
              <a:rPr lang="en-US" b="1" dirty="0"/>
              <a:t>inverse tangent of y over x</a:t>
            </a:r>
            <a:r>
              <a:rPr lang="en-US" dirty="0"/>
              <a:t>.</a:t>
            </a:r>
            <a:br>
              <a:rPr lang="en-US" dirty="0"/>
            </a:br>
            <a:r>
              <a:rPr lang="en-US" dirty="0"/>
              <a:t>So now, we have two pieces: </a:t>
            </a:r>
            <a:r>
              <a:rPr lang="en-US" i="1" dirty="0"/>
              <a:t>r</a:t>
            </a:r>
            <a:r>
              <a:rPr lang="en-US" dirty="0"/>
              <a:t> and </a:t>
            </a:r>
            <a:r>
              <a:rPr lang="en-US" i="1" dirty="0"/>
              <a:t>theta</a:t>
            </a:r>
            <a:r>
              <a:rPr lang="en-US" dirty="0"/>
              <a:t> — the magnitude and direction.</a:t>
            </a:r>
          </a:p>
          <a:p>
            <a:r>
              <a:rPr lang="en-US" dirty="0"/>
              <a:t>With that, we can now express the same complex number in polar form.</a:t>
            </a:r>
          </a:p>
          <a:p>
            <a:r>
              <a:rPr lang="en-US" dirty="0"/>
              <a:t>In place of </a:t>
            </a:r>
            <a:r>
              <a:rPr lang="en-US" b="1" dirty="0"/>
              <a:t>x plus </a:t>
            </a:r>
            <a:r>
              <a:rPr lang="en-US" b="1" dirty="0" err="1"/>
              <a:t>i</a:t>
            </a:r>
            <a:r>
              <a:rPr lang="en-US" b="1" dirty="0"/>
              <a:t> y</a:t>
            </a:r>
            <a:r>
              <a:rPr lang="en-US" dirty="0"/>
              <a:t>, we write:</a:t>
            </a:r>
          </a:p>
          <a:p>
            <a:r>
              <a:rPr lang="en-US" b="1" dirty="0"/>
              <a:t>r times cosine theta plus </a:t>
            </a:r>
            <a:r>
              <a:rPr lang="en-US" b="1" dirty="0" err="1"/>
              <a:t>i</a:t>
            </a:r>
            <a:r>
              <a:rPr lang="en-US" b="1" dirty="0"/>
              <a:t> times r sine theta</a:t>
            </a:r>
            <a:r>
              <a:rPr lang="en-US" dirty="0"/>
              <a:t>.</a:t>
            </a:r>
            <a:br>
              <a:rPr lang="en-US" dirty="0"/>
            </a:br>
            <a:r>
              <a:rPr lang="en-US" dirty="0"/>
              <a:t>Or, factoring out the r:</a:t>
            </a:r>
            <a:br>
              <a:rPr lang="en-US" dirty="0"/>
            </a:br>
            <a:r>
              <a:rPr lang="en-US" b="1" dirty="0"/>
              <a:t>r times the quantity cosine theta plus </a:t>
            </a:r>
            <a:r>
              <a:rPr lang="en-US" b="1" dirty="0" err="1"/>
              <a:t>i</a:t>
            </a:r>
            <a:r>
              <a:rPr lang="en-US" b="1" dirty="0"/>
              <a:t> sine theta</a:t>
            </a:r>
            <a:r>
              <a:rPr lang="en-US" dirty="0"/>
              <a:t>.</a:t>
            </a:r>
          </a:p>
          <a:p>
            <a:endParaRPr lang="en-US" dirty="0"/>
          </a:p>
          <a:p>
            <a:r>
              <a:rPr lang="en-US" dirty="0"/>
              <a:t>This is the foundation for something beautiful: </a:t>
            </a:r>
            <a:r>
              <a:rPr lang="en-US" b="1" dirty="0"/>
              <a:t>Euler’s formula</a:t>
            </a:r>
            <a:r>
              <a:rPr lang="en-US" dirty="0"/>
              <a:t>, which we’ll talk about in the next slide.</a:t>
            </a:r>
            <a:br>
              <a:rPr lang="en-US" dirty="0"/>
            </a:br>
            <a:r>
              <a:rPr lang="en-US" dirty="0"/>
              <a:t>Euler discovered that </a:t>
            </a:r>
            <a:r>
              <a:rPr lang="en-US" b="1" dirty="0"/>
              <a:t>cosine theta plus </a:t>
            </a:r>
            <a:r>
              <a:rPr lang="en-US" b="1" dirty="0" err="1"/>
              <a:t>i</a:t>
            </a:r>
            <a:r>
              <a:rPr lang="en-US" b="1" dirty="0"/>
              <a:t> sine theta</a:t>
            </a:r>
            <a:r>
              <a:rPr lang="en-US" dirty="0"/>
              <a:t> is equal to </a:t>
            </a:r>
            <a:r>
              <a:rPr lang="en-US" b="1" dirty="0"/>
              <a:t>e to the </a:t>
            </a:r>
            <a:r>
              <a:rPr lang="en-US" b="1" dirty="0" err="1"/>
              <a:t>i</a:t>
            </a:r>
            <a:r>
              <a:rPr lang="en-US" b="1" dirty="0"/>
              <a:t> theta</a:t>
            </a:r>
            <a:r>
              <a:rPr lang="en-US" dirty="0"/>
              <a:t> — giving us a powerful exponential representation of complex numbers.</a:t>
            </a:r>
          </a:p>
          <a:p>
            <a:r>
              <a:rPr lang="en-US" dirty="0"/>
              <a:t>Before we leave this slide, here’s one more important result:</a:t>
            </a:r>
            <a:br>
              <a:rPr lang="en-US" dirty="0"/>
            </a:br>
            <a:r>
              <a:rPr lang="en-US" dirty="0"/>
              <a:t>If you multiply a complex number by its </a:t>
            </a:r>
            <a:r>
              <a:rPr lang="en-US" b="1" dirty="0"/>
              <a:t>conjugate</a:t>
            </a:r>
            <a:r>
              <a:rPr lang="en-US" dirty="0"/>
              <a:t> — in other words, </a:t>
            </a:r>
            <a:r>
              <a:rPr lang="en-US" b="1" dirty="0"/>
              <a:t>z times z bar</a:t>
            </a:r>
            <a:r>
              <a:rPr lang="en-US" dirty="0"/>
              <a:t> — you get a purely </a:t>
            </a:r>
            <a:r>
              <a:rPr lang="en-US" b="1" dirty="0"/>
              <a:t>real number</a:t>
            </a:r>
            <a:r>
              <a:rPr lang="en-US" dirty="0"/>
              <a:t>.</a:t>
            </a:r>
          </a:p>
          <a:p>
            <a:endParaRPr lang="en-US" dirty="0"/>
          </a:p>
          <a:p>
            <a:r>
              <a:rPr lang="en-US" dirty="0"/>
              <a:t>Let’s walk through it:</a:t>
            </a:r>
            <a:br>
              <a:rPr lang="en-US" dirty="0"/>
            </a:br>
            <a:r>
              <a:rPr lang="en-US" b="1" dirty="0"/>
              <a:t>z is x plus </a:t>
            </a:r>
            <a:r>
              <a:rPr lang="en-US" b="1" dirty="0" err="1"/>
              <a:t>i</a:t>
            </a:r>
            <a:r>
              <a:rPr lang="en-US" b="1" dirty="0"/>
              <a:t> y</a:t>
            </a:r>
            <a:r>
              <a:rPr lang="en-US" dirty="0"/>
              <a:t>, and its conjugate is </a:t>
            </a:r>
            <a:r>
              <a:rPr lang="en-US" b="1" dirty="0"/>
              <a:t>x minus </a:t>
            </a:r>
            <a:r>
              <a:rPr lang="en-US" b="1" dirty="0" err="1"/>
              <a:t>i</a:t>
            </a:r>
            <a:r>
              <a:rPr lang="en-US" b="1" dirty="0"/>
              <a:t> y</a:t>
            </a:r>
            <a:r>
              <a:rPr lang="en-US" dirty="0"/>
              <a:t>.</a:t>
            </a:r>
            <a:br>
              <a:rPr lang="en-US" dirty="0"/>
            </a:br>
            <a:r>
              <a:rPr lang="en-US" dirty="0"/>
              <a:t>When you multiply them together, you get </a:t>
            </a:r>
            <a:r>
              <a:rPr lang="en-US" b="1" dirty="0"/>
              <a:t>x squared plus y squared</a:t>
            </a:r>
            <a:r>
              <a:rPr lang="en-US" dirty="0"/>
              <a:t>, which is just </a:t>
            </a:r>
            <a:r>
              <a:rPr lang="en-US" b="1" dirty="0"/>
              <a:t>the magnitude squared</a:t>
            </a:r>
            <a:r>
              <a:rPr lang="en-US" dirty="0"/>
              <a:t>.</a:t>
            </a:r>
          </a:p>
          <a:p>
            <a:r>
              <a:rPr lang="en-US" dirty="0"/>
              <a:t>This shows that the </a:t>
            </a:r>
            <a:r>
              <a:rPr lang="en-US" b="1" dirty="0"/>
              <a:t>conjugate</a:t>
            </a:r>
            <a:r>
              <a:rPr lang="en-US" dirty="0"/>
              <a:t> cancels out the imaginary part, leaving only a real value — something very useful in analysis and signal processing.</a:t>
            </a:r>
          </a:p>
          <a:p>
            <a:r>
              <a:rPr lang="en-US" dirty="0"/>
              <a:t>So just like vectors, complex numbers let us switch back and forth between rectangular and polar systems.</a:t>
            </a:r>
            <a:br>
              <a:rPr lang="en-US" dirty="0"/>
            </a:br>
            <a:endParaRPr lang="en-US" dirty="0"/>
          </a:p>
          <a:p>
            <a:r>
              <a:rPr lang="en-US" dirty="0"/>
              <a:t>Each form brings its own advantages, and we’ll soon see how this flexibility pays off — especially when we start rewriting Fourier series using </a:t>
            </a:r>
            <a:r>
              <a:rPr lang="en-US" b="1" dirty="0"/>
              <a:t>complex exponentials</a:t>
            </a:r>
            <a:r>
              <a:rPr lang="en-US" dirty="0"/>
              <a:t>.</a:t>
            </a:r>
          </a:p>
          <a:p>
            <a:r>
              <a:rPr lang="en-US" dirty="0"/>
              <a:t>Let’s move to Euler’s formula and take this further.</a:t>
            </a:r>
          </a:p>
          <a:p>
            <a:endParaRPr lang="en-US" dirty="0"/>
          </a:p>
        </p:txBody>
      </p:sp>
      <p:sp>
        <p:nvSpPr>
          <p:cNvPr id="4" name="Slide Number Placeholder 3"/>
          <p:cNvSpPr>
            <a:spLocks noGrp="1"/>
          </p:cNvSpPr>
          <p:nvPr>
            <p:ph type="sldNum" sz="quarter" idx="10"/>
          </p:nvPr>
        </p:nvSpPr>
        <p:spPr/>
        <p:txBody>
          <a:bodyPr/>
          <a:lstStyle/>
          <a:p>
            <a:fld id="{9F30534E-9FB8-46AE-8E3B-5675B268AE6A}" type="slidenum">
              <a:rPr lang="en-US" smtClean="0"/>
              <a:pPr/>
              <a:t>36</a:t>
            </a:fld>
            <a:endParaRPr lang="en-US"/>
          </a:p>
        </p:txBody>
      </p:sp>
    </p:spTree>
    <p:extLst>
      <p:ext uri="{BB962C8B-B14F-4D97-AF65-F5344CB8AC3E}">
        <p14:creationId xmlns:p14="http://schemas.microsoft.com/office/powerpoint/2010/main" val="26915324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far, we’ve been casually treating the inner product as a simple dot product — point-by-point multiplication followed by a sum. That works just fine when we’re dealing with real-valued vectors.</a:t>
            </a:r>
          </a:p>
          <a:p>
            <a:r>
              <a:rPr lang="en-US" dirty="0"/>
              <a:t>But when we step into complex vector spaces, things get a bit more subtle. In particular, we have to be careful with how we define the inner product. In the complex world, it’s not enough to just multiply and add — we also need to take the </a:t>
            </a:r>
            <a:r>
              <a:rPr lang="en-US" b="1" dirty="0"/>
              <a:t>complex conjugate</a:t>
            </a:r>
            <a:r>
              <a:rPr lang="en-US" dirty="0"/>
              <a:t> of one of the vectors before doing so.</a:t>
            </a:r>
          </a:p>
          <a:p>
            <a:r>
              <a:rPr lang="en-US" dirty="0"/>
              <a:t>Let’s break this down with a simple example.</a:t>
            </a:r>
          </a:p>
          <a:p>
            <a:endParaRPr lang="en-US" dirty="0"/>
          </a:p>
          <a:p>
            <a:r>
              <a:rPr lang="en-US" dirty="0"/>
              <a:t>Suppose we have two complex vectors. Let’s call them </a:t>
            </a:r>
            <a:r>
              <a:rPr lang="en-US" b="1" dirty="0"/>
              <a:t>X</a:t>
            </a:r>
            <a:r>
              <a:rPr lang="en-US" dirty="0"/>
              <a:t> and </a:t>
            </a:r>
            <a:r>
              <a:rPr lang="en-US" b="1" dirty="0"/>
              <a:t>Y</a:t>
            </a:r>
            <a:r>
              <a:rPr lang="en-US" dirty="0"/>
              <a:t>.</a:t>
            </a:r>
          </a:p>
          <a:p>
            <a:r>
              <a:rPr lang="en-US" dirty="0"/>
              <a:t>Vector X has two components:</a:t>
            </a:r>
            <a:br>
              <a:rPr lang="en-US" dirty="0"/>
            </a:br>
            <a:r>
              <a:rPr lang="en-US" dirty="0"/>
              <a:t>the first is </a:t>
            </a:r>
            <a:r>
              <a:rPr lang="en-US" i="1" dirty="0"/>
              <a:t>a one plus b one times </a:t>
            </a:r>
            <a:r>
              <a:rPr lang="en-US" i="1" dirty="0" err="1"/>
              <a:t>i</a:t>
            </a:r>
            <a:r>
              <a:rPr lang="en-US" dirty="0"/>
              <a:t>,</a:t>
            </a:r>
            <a:br>
              <a:rPr lang="en-US" dirty="0"/>
            </a:br>
            <a:r>
              <a:rPr lang="en-US" dirty="0"/>
              <a:t>and the second is </a:t>
            </a:r>
            <a:r>
              <a:rPr lang="en-US" i="1" dirty="0"/>
              <a:t>a two plus b two times </a:t>
            </a:r>
            <a:r>
              <a:rPr lang="en-US" i="1" dirty="0" err="1"/>
              <a:t>i</a:t>
            </a:r>
            <a:r>
              <a:rPr lang="en-US" dirty="0"/>
              <a:t>.</a:t>
            </a:r>
          </a:p>
          <a:p>
            <a:r>
              <a:rPr lang="en-US" dirty="0"/>
              <a:t>Similarly, vector Y has components:</a:t>
            </a:r>
            <a:br>
              <a:rPr lang="en-US" dirty="0"/>
            </a:br>
            <a:r>
              <a:rPr lang="en-US" i="1" dirty="0"/>
              <a:t>c one plus d one times </a:t>
            </a:r>
            <a:r>
              <a:rPr lang="en-US" i="1" dirty="0" err="1"/>
              <a:t>i</a:t>
            </a:r>
            <a:r>
              <a:rPr lang="en-US" dirty="0"/>
              <a:t>,</a:t>
            </a:r>
            <a:br>
              <a:rPr lang="en-US" dirty="0"/>
            </a:br>
            <a:r>
              <a:rPr lang="en-US" dirty="0"/>
              <a:t>and </a:t>
            </a:r>
            <a:r>
              <a:rPr lang="en-US" i="1" dirty="0"/>
              <a:t>c two plus d two times </a:t>
            </a:r>
            <a:r>
              <a:rPr lang="en-US" i="1" dirty="0" err="1"/>
              <a:t>i</a:t>
            </a:r>
            <a:r>
              <a:rPr lang="en-US" dirty="0"/>
              <a:t>.</a:t>
            </a:r>
          </a:p>
          <a:p>
            <a:r>
              <a:rPr lang="en-US" dirty="0"/>
              <a:t>Now, how do we compute the length of vector X?</a:t>
            </a:r>
          </a:p>
          <a:p>
            <a:br>
              <a:rPr lang="en-US" dirty="0"/>
            </a:br>
            <a:r>
              <a:rPr lang="en-US" dirty="0"/>
              <a:t>In complex space, we use the sum of the squared magnitudes of each component. So the magnitude of X is the square root of</a:t>
            </a:r>
            <a:br>
              <a:rPr lang="en-US" dirty="0"/>
            </a:br>
            <a:r>
              <a:rPr lang="en-US" i="1" dirty="0"/>
              <a:t>a one squared plus b one squared plus a two squared plus b two squared.</a:t>
            </a:r>
            <a:endParaRPr lang="en-US" dirty="0"/>
          </a:p>
          <a:p>
            <a:r>
              <a:rPr lang="en-US" dirty="0"/>
              <a:t>We do the same for vector Y — square the real and imaginary parts of each component, add them up, and then take the square root.</a:t>
            </a:r>
          </a:p>
          <a:p>
            <a:endParaRPr lang="en-US" dirty="0"/>
          </a:p>
          <a:p>
            <a:r>
              <a:rPr lang="en-US" dirty="0"/>
              <a:t>Now, here’s the key idea.</a:t>
            </a:r>
          </a:p>
          <a:p>
            <a:r>
              <a:rPr lang="en-US" dirty="0"/>
              <a:t>If these two complex vectors — X and Y — are orthogonal, and we add them together to form a new vector Z, we expect the squared length of Z to equal the squared length of X plus the squared length of Y. That’s just the Pythagorean theorem in vector space.</a:t>
            </a:r>
          </a:p>
          <a:p>
            <a:r>
              <a:rPr lang="en-US" dirty="0"/>
              <a:t>But for that identity to hold, one critical condition must be met:</a:t>
            </a:r>
            <a:br>
              <a:rPr lang="en-US" dirty="0"/>
            </a:br>
            <a:r>
              <a:rPr lang="en-US" dirty="0"/>
              <a:t>the </a:t>
            </a:r>
            <a:r>
              <a:rPr lang="en-US" b="1" dirty="0"/>
              <a:t>cross-term</a:t>
            </a:r>
            <a:r>
              <a:rPr lang="en-US" dirty="0"/>
              <a:t> — the inner product between X and Y — must vanish. In other words, the inner product between X and Y has to be zero.</a:t>
            </a:r>
          </a:p>
          <a:p>
            <a:r>
              <a:rPr lang="en-US" dirty="0"/>
              <a:t>And this is where the complex conjugate becomes important.</a:t>
            </a:r>
          </a:p>
          <a:p>
            <a:endParaRPr lang="en-US" dirty="0"/>
          </a:p>
          <a:p>
            <a:r>
              <a:rPr lang="en-US" dirty="0"/>
              <a:t>In real vector spaces, we just take the dot product. But in complex spaces, we define the inner product as:</a:t>
            </a:r>
            <a:br>
              <a:rPr lang="en-US" dirty="0"/>
            </a:br>
            <a:r>
              <a:rPr lang="en-US" b="1" dirty="0"/>
              <a:t>X dot Y conjugate.</a:t>
            </a:r>
            <a:endParaRPr lang="en-US" dirty="0"/>
          </a:p>
          <a:p>
            <a:r>
              <a:rPr lang="en-US" dirty="0"/>
              <a:t>That means, we keep vector X as it is, and we take the complex conjugate of each component of Y before multiplying.</a:t>
            </a:r>
          </a:p>
          <a:p>
            <a:r>
              <a:rPr lang="en-US" dirty="0"/>
              <a:t>This adjustment ensures that everything works out mathematically:</a:t>
            </a:r>
            <a:br>
              <a:rPr lang="en-US" dirty="0"/>
            </a:br>
            <a:r>
              <a:rPr lang="en-US" dirty="0"/>
              <a:t>we preserve orthogonality, we maintain proper lengths, and we uphold the geometry of the space.</a:t>
            </a:r>
          </a:p>
          <a:p>
            <a:r>
              <a:rPr lang="en-US" dirty="0"/>
              <a:t>So, whenever we’re working with complex vectors — in signal processing, in quantum mechanics, or in Fourier analysis — this conjugation step is absolutely essential.</a:t>
            </a:r>
          </a:p>
          <a:p>
            <a:endParaRPr lang="en-US" dirty="0"/>
          </a:p>
          <a:p>
            <a:r>
              <a:rPr lang="en-US" dirty="0"/>
              <a:t>Now, don’t worry about memorizing the formulas. That’s why I added this green bubble here — it’s just a reminder that this is more about understanding the concept than remembering every detail.</a:t>
            </a:r>
          </a:p>
          <a:p>
            <a:r>
              <a:rPr lang="en-US" dirty="0"/>
              <a:t>Once you internalize this idea — that conjugation is needed to define meaningful inner products in complex space — everything that follows, including the complex form of the Fourier series, will feel much more natural.</a:t>
            </a:r>
          </a:p>
          <a:p>
            <a:r>
              <a:rPr lang="en-US" dirty="0"/>
              <a:t>Let’s now move forward and apply this idea in the Fourier domain.</a:t>
            </a:r>
          </a:p>
        </p:txBody>
      </p:sp>
      <p:sp>
        <p:nvSpPr>
          <p:cNvPr id="4" name="Slide Number Placeholder 3"/>
          <p:cNvSpPr>
            <a:spLocks noGrp="1"/>
          </p:cNvSpPr>
          <p:nvPr>
            <p:ph type="sldNum" sz="quarter" idx="5"/>
          </p:nvPr>
        </p:nvSpPr>
        <p:spPr/>
        <p:txBody>
          <a:bodyPr/>
          <a:lstStyle/>
          <a:p>
            <a:fld id="{9F30534E-9FB8-46AE-8E3B-5675B268AE6A}" type="slidenum">
              <a:rPr lang="en-US" smtClean="0"/>
              <a:pPr/>
              <a:t>37</a:t>
            </a:fld>
            <a:endParaRPr lang="en-US"/>
          </a:p>
        </p:txBody>
      </p:sp>
    </p:spTree>
    <p:extLst>
      <p:ext uri="{BB962C8B-B14F-4D97-AF65-F5344CB8AC3E}">
        <p14:creationId xmlns:p14="http://schemas.microsoft.com/office/powerpoint/2010/main" val="19159444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that we’ve introduced the concept of inner products for complex vectors, let’s take a closer look at how the definition actually works — and more importantly, why it includes a conjugate.</a:t>
            </a:r>
          </a:p>
          <a:p>
            <a:endParaRPr lang="en-US" dirty="0"/>
          </a:p>
          <a:p>
            <a:r>
              <a:rPr lang="en-US" dirty="0"/>
              <a:t>In a real-valued vector space, things are simple. You multiply corresponding components and sum the results. But in a complex space, if we follow that same rule — just multiplying and summing — we may end up with a complex number. And that’s a problem, because when we’re measuring things like length, or comparing angles between vectors, we need real values.</a:t>
            </a:r>
          </a:p>
          <a:p>
            <a:endParaRPr lang="en-US" dirty="0"/>
          </a:p>
          <a:p>
            <a:r>
              <a:rPr lang="en-US" dirty="0"/>
              <a:t>So here’s what we do instead.</a:t>
            </a:r>
          </a:p>
          <a:p>
            <a:r>
              <a:rPr lang="en-US" dirty="0"/>
              <a:t>We define the inner product of two complex-valued functions, let’s say </a:t>
            </a:r>
            <a:r>
              <a:rPr lang="en-US" i="1" dirty="0"/>
              <a:t>f of t</a:t>
            </a:r>
            <a:r>
              <a:rPr lang="en-US" dirty="0"/>
              <a:t> and </a:t>
            </a:r>
            <a:r>
              <a:rPr lang="en-US" i="1" dirty="0"/>
              <a:t>g of t</a:t>
            </a:r>
            <a:r>
              <a:rPr lang="en-US" dirty="0"/>
              <a:t>, by integrating the product of </a:t>
            </a:r>
            <a:r>
              <a:rPr lang="en-US" i="1" dirty="0"/>
              <a:t>f of t</a:t>
            </a:r>
            <a:r>
              <a:rPr lang="en-US" dirty="0"/>
              <a:t> and the complex conjugate of </a:t>
            </a:r>
            <a:r>
              <a:rPr lang="en-US" i="1" dirty="0"/>
              <a:t>g of t</a:t>
            </a:r>
            <a:r>
              <a:rPr lang="en-US" dirty="0"/>
              <a:t>.</a:t>
            </a:r>
          </a:p>
          <a:p>
            <a:r>
              <a:rPr lang="en-US" dirty="0"/>
              <a:t>Symbolically, we write:</a:t>
            </a:r>
            <a:br>
              <a:rPr lang="en-US" dirty="0"/>
            </a:br>
            <a:r>
              <a:rPr lang="en-US" b="1" dirty="0"/>
              <a:t>⟨f of t, g of t⟩ equals the integral from minus infinity to infinity of f of t times g star of t, d t.</a:t>
            </a:r>
            <a:endParaRPr lang="en-US" dirty="0"/>
          </a:p>
          <a:p>
            <a:endParaRPr lang="en-US" dirty="0"/>
          </a:p>
          <a:p>
            <a:r>
              <a:rPr lang="en-US" dirty="0"/>
              <a:t>That’s our general definition. But often, we work over a specific interval — for example, from zero to one. In that case, we write:</a:t>
            </a:r>
            <a:br>
              <a:rPr lang="en-US" dirty="0"/>
            </a:br>
            <a:r>
              <a:rPr lang="en-US" b="1" dirty="0"/>
              <a:t>⟨f of t, g of t⟩ equals the integral from 0 to 1 of f of t times g star of t, d t.</a:t>
            </a:r>
            <a:endParaRPr lang="en-US" dirty="0"/>
          </a:p>
          <a:p>
            <a:endParaRPr lang="en-US" dirty="0"/>
          </a:p>
          <a:p>
            <a:r>
              <a:rPr lang="en-US" dirty="0"/>
              <a:t>Now, why is this conjugation so important?</a:t>
            </a:r>
          </a:p>
          <a:p>
            <a:r>
              <a:rPr lang="en-US" dirty="0"/>
              <a:t>Well, imagine taking the inner product of a function with itself. We’d expect that result to be real and non-negative — something that represents the square of the function’s length or its energy. But without the conjugate, we might get a complex number, which doesn’t make physical sense in that context.</a:t>
            </a:r>
          </a:p>
          <a:p>
            <a:r>
              <a:rPr lang="en-US" dirty="0"/>
              <a:t>The conjugate takes care of that. It ensures the phase — or directional twist — of the complex function is canceled out. What’s left is the amplitude — the magnitude — and that’s what we care about when computing lengths or measuring how much two functions align.</a:t>
            </a:r>
          </a:p>
          <a:p>
            <a:endParaRPr lang="en-US" dirty="0"/>
          </a:p>
          <a:p>
            <a:r>
              <a:rPr lang="en-US" dirty="0"/>
              <a:t>Another way to see this is: the conjugate helps us ignore the phase and focus purely on the size or strength of the signal.</a:t>
            </a:r>
          </a:p>
          <a:p>
            <a:r>
              <a:rPr lang="en-US" dirty="0"/>
              <a:t>So this isn’t just a technical tweak — it’s what makes the geometry of complex spaces work. Thanks to the conjugate, we preserve all the essential properties:</a:t>
            </a:r>
            <a:br>
              <a:rPr lang="en-US" dirty="0"/>
            </a:br>
            <a:r>
              <a:rPr lang="en-US" dirty="0"/>
              <a:t>orthogonality, projection, the norm — and more.</a:t>
            </a:r>
          </a:p>
          <a:p>
            <a:r>
              <a:rPr lang="en-US" dirty="0"/>
              <a:t>So when we say two complex-valued functions are orthogonal, we mean that their inner product — </a:t>
            </a:r>
            <a:r>
              <a:rPr lang="en-US" b="1" dirty="0"/>
              <a:t>including the conjugate</a:t>
            </a:r>
            <a:r>
              <a:rPr lang="en-US" dirty="0"/>
              <a:t> — is zero. That’s the complex equivalent of vectors being at right angles.</a:t>
            </a:r>
          </a:p>
          <a:p>
            <a:r>
              <a:rPr lang="en-US" dirty="0"/>
              <a:t>This is why conjugates appear everywhere in Fourier analysis and other areas involving complex functions. They ensure consistency and meaning across the entire framework.</a:t>
            </a:r>
          </a:p>
          <a:p>
            <a:endParaRPr lang="en-US" dirty="0"/>
          </a:p>
          <a:p>
            <a:r>
              <a:rPr lang="en-US" dirty="0"/>
              <a:t>So, to summarize:</a:t>
            </a:r>
            <a:br>
              <a:rPr lang="en-US" dirty="0"/>
            </a:br>
            <a:r>
              <a:rPr lang="en-US" dirty="0"/>
              <a:t>In complex function spaces, an inner product is defined using </a:t>
            </a:r>
            <a:r>
              <a:rPr lang="en-US" b="1" dirty="0"/>
              <a:t>integration with conjugation</a:t>
            </a:r>
            <a:r>
              <a:rPr lang="en-US" dirty="0"/>
              <a:t>.</a:t>
            </a:r>
            <a:br>
              <a:rPr lang="en-US" dirty="0"/>
            </a:br>
            <a:r>
              <a:rPr lang="en-US" dirty="0"/>
              <a:t>That’s the key idea — and it makes everything else fall neatly into place.</a:t>
            </a:r>
          </a:p>
          <a:p>
            <a:r>
              <a:rPr lang="en-US" dirty="0"/>
              <a:t>Up next, we’ll use this inner product to compute the </a:t>
            </a:r>
            <a:r>
              <a:rPr lang="en-US" b="1" dirty="0"/>
              <a:t>complex Fourier coefficients</a:t>
            </a:r>
            <a:r>
              <a:rPr lang="en-US" dirty="0"/>
              <a:t>.</a:t>
            </a:r>
          </a:p>
          <a:p>
            <a:r>
              <a:rPr lang="en-US" dirty="0"/>
              <a:t>Let’s move forward.</a:t>
            </a:r>
          </a:p>
        </p:txBody>
      </p:sp>
      <p:sp>
        <p:nvSpPr>
          <p:cNvPr id="4" name="Slide Number Placeholder 3"/>
          <p:cNvSpPr>
            <a:spLocks noGrp="1"/>
          </p:cNvSpPr>
          <p:nvPr>
            <p:ph type="sldNum" sz="quarter" idx="5"/>
          </p:nvPr>
        </p:nvSpPr>
        <p:spPr/>
        <p:txBody>
          <a:bodyPr/>
          <a:lstStyle/>
          <a:p>
            <a:fld id="{9F30534E-9FB8-46AE-8E3B-5675B268AE6A}" type="slidenum">
              <a:rPr lang="en-US" smtClean="0"/>
              <a:pPr/>
              <a:t>38</a:t>
            </a:fld>
            <a:endParaRPr lang="en-US"/>
          </a:p>
        </p:txBody>
      </p:sp>
    </p:spTree>
    <p:extLst>
      <p:ext uri="{BB962C8B-B14F-4D97-AF65-F5344CB8AC3E}">
        <p14:creationId xmlns:p14="http://schemas.microsoft.com/office/powerpoint/2010/main" val="26766633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All right, now that we've got a solid understanding of complex numbers, let’s talk about one of the most beautiful and powerful results in mathematics—</a:t>
            </a:r>
            <a:r>
              <a:rPr lang="en-US" b="1" dirty="0"/>
              <a:t>Euler’s Formula</a:t>
            </a:r>
            <a:r>
              <a:rPr lang="en-US" dirty="0"/>
              <a:t>.</a:t>
            </a:r>
          </a:p>
          <a:p>
            <a:endParaRPr lang="en-US" dirty="0"/>
          </a:p>
          <a:p>
            <a:r>
              <a:rPr lang="en-US" dirty="0"/>
              <a:t>Let’s start with the exponential function. You might remember that the exponential of a number can be written as an infinite series. For any complex number z, we can write:</a:t>
            </a:r>
          </a:p>
          <a:p>
            <a:r>
              <a:rPr lang="en-US" dirty="0"/>
              <a:t>“</a:t>
            </a:r>
            <a:r>
              <a:rPr lang="en-US" b="1" dirty="0"/>
              <a:t>e to the z</a:t>
            </a:r>
            <a:r>
              <a:rPr lang="en-US" dirty="0"/>
              <a:t> equals one, plus z over one factorial, plus z squared over two factorial, plus z cubed over three factorial, and so on.”</a:t>
            </a:r>
          </a:p>
          <a:p>
            <a:r>
              <a:rPr lang="en-US" dirty="0"/>
              <a:t>In math terms, that’s:</a:t>
            </a:r>
          </a:p>
          <a:p>
            <a:r>
              <a:rPr lang="en-US" dirty="0"/>
              <a:t>  </a:t>
            </a:r>
            <a:r>
              <a:rPr lang="en-US" b="1" dirty="0"/>
              <a:t>e to the z equals the sum from n equals zero to infinity of z to the n over n factorial.</a:t>
            </a:r>
            <a:endParaRPr lang="en-US" dirty="0"/>
          </a:p>
          <a:p>
            <a:r>
              <a:rPr lang="en-US" dirty="0"/>
              <a:t>This series works not only for real numbers, but also for complex numbers. And that’s important.</a:t>
            </a:r>
          </a:p>
          <a:p>
            <a:r>
              <a:rPr lang="en-US" dirty="0"/>
              <a:t>How do we know this infinite sum still makes sense when z is complex? Well, there’s something called the </a:t>
            </a:r>
            <a:r>
              <a:rPr lang="en-US" b="1" dirty="0"/>
              <a:t>ratio test</a:t>
            </a:r>
            <a:r>
              <a:rPr lang="en-US" dirty="0"/>
              <a:t>, which shows that this series converges no matter what complex number we use. In other words, it always gives a valid result. That’s why we can define </a:t>
            </a:r>
            <a:r>
              <a:rPr lang="en-US" b="1" dirty="0"/>
              <a:t>e to the z</a:t>
            </a:r>
            <a:r>
              <a:rPr lang="en-US" dirty="0"/>
              <a:t> for any complex number z. That’s a big deal.</a:t>
            </a:r>
          </a:p>
          <a:p>
            <a:endParaRPr lang="en-US" dirty="0"/>
          </a:p>
          <a:p>
            <a:r>
              <a:rPr lang="en-US" dirty="0"/>
              <a:t>Now, here’s where things get really exciting.</a:t>
            </a:r>
          </a:p>
          <a:p>
            <a:r>
              <a:rPr lang="en-US" dirty="0"/>
              <a:t>What if we plug in a </a:t>
            </a:r>
            <a:r>
              <a:rPr lang="en-US" b="1" dirty="0"/>
              <a:t>purely imaginary number</a:t>
            </a:r>
            <a:r>
              <a:rPr lang="en-US" dirty="0"/>
              <a:t>, like </a:t>
            </a:r>
            <a:r>
              <a:rPr lang="en-US" b="1" dirty="0" err="1"/>
              <a:t>i</a:t>
            </a:r>
            <a:r>
              <a:rPr lang="en-US" b="1" dirty="0"/>
              <a:t> times theta</a:t>
            </a:r>
            <a:r>
              <a:rPr lang="en-US" dirty="0"/>
              <a:t>, into this exponential?</a:t>
            </a:r>
          </a:p>
          <a:p>
            <a:r>
              <a:rPr lang="en-US" dirty="0"/>
              <a:t>It turns out that:</a:t>
            </a:r>
          </a:p>
          <a:p>
            <a:r>
              <a:rPr lang="en-US" dirty="0"/>
              <a:t>  </a:t>
            </a:r>
            <a:r>
              <a:rPr lang="en-US" b="1" dirty="0"/>
              <a:t>e to the </a:t>
            </a:r>
            <a:r>
              <a:rPr lang="en-US" b="1" dirty="0" err="1"/>
              <a:t>i</a:t>
            </a:r>
            <a:r>
              <a:rPr lang="en-US" b="1" dirty="0"/>
              <a:t> theta equals cosine theta plus </a:t>
            </a:r>
            <a:r>
              <a:rPr lang="en-US" b="1" dirty="0" err="1"/>
              <a:t>i</a:t>
            </a:r>
            <a:r>
              <a:rPr lang="en-US" b="1" dirty="0"/>
              <a:t> times sine theta.</a:t>
            </a:r>
            <a:endParaRPr lang="en-US" dirty="0"/>
          </a:p>
          <a:p>
            <a:r>
              <a:rPr lang="en-US" dirty="0"/>
              <a:t>That’s Euler’s formula.</a:t>
            </a:r>
          </a:p>
          <a:p>
            <a:endParaRPr lang="en-US" dirty="0"/>
          </a:p>
          <a:p>
            <a:r>
              <a:rPr lang="en-US" dirty="0"/>
              <a:t>This equation is incredibly elegant. It shows how exponential functions and trigonometric functions—two ideas that seem totally different—are actually deeply connected.</a:t>
            </a:r>
          </a:p>
          <a:p>
            <a:r>
              <a:rPr lang="en-US" dirty="0"/>
              <a:t>And here’s something even more useful. If you rearrange Euler’s formula a bit, you can write cosine and sine in terms of complex exponentials.</a:t>
            </a:r>
          </a:p>
          <a:p>
            <a:endParaRPr lang="en-US" dirty="0"/>
          </a:p>
          <a:p>
            <a:r>
              <a:rPr lang="en-US" dirty="0"/>
              <a:t>Specifically:</a:t>
            </a:r>
          </a:p>
          <a:p>
            <a:r>
              <a:rPr lang="en-US" dirty="0"/>
              <a:t>  </a:t>
            </a:r>
            <a:r>
              <a:rPr lang="en-US" b="1" dirty="0"/>
              <a:t>Cosine theta equals e to the </a:t>
            </a:r>
            <a:r>
              <a:rPr lang="en-US" b="1" dirty="0" err="1"/>
              <a:t>i</a:t>
            </a:r>
            <a:r>
              <a:rPr lang="en-US" b="1" dirty="0"/>
              <a:t> theta plus e to the minus </a:t>
            </a:r>
            <a:r>
              <a:rPr lang="en-US" b="1" dirty="0" err="1"/>
              <a:t>i</a:t>
            </a:r>
            <a:r>
              <a:rPr lang="en-US" b="1" dirty="0"/>
              <a:t> theta, divided by two.</a:t>
            </a:r>
            <a:endParaRPr lang="en-US" dirty="0"/>
          </a:p>
          <a:p>
            <a:r>
              <a:rPr lang="en-US" dirty="0"/>
              <a:t>  </a:t>
            </a:r>
            <a:r>
              <a:rPr lang="en-US" b="1" dirty="0"/>
              <a:t>Sine theta equals e to the </a:t>
            </a:r>
            <a:r>
              <a:rPr lang="en-US" b="1" dirty="0" err="1"/>
              <a:t>i</a:t>
            </a:r>
            <a:r>
              <a:rPr lang="en-US" b="1" dirty="0"/>
              <a:t> theta minus e to the minus </a:t>
            </a:r>
            <a:r>
              <a:rPr lang="en-US" b="1" dirty="0" err="1"/>
              <a:t>i</a:t>
            </a:r>
            <a:r>
              <a:rPr lang="en-US" b="1" dirty="0"/>
              <a:t> theta, divided by two </a:t>
            </a:r>
            <a:r>
              <a:rPr lang="en-US" b="1" dirty="0" err="1"/>
              <a:t>i</a:t>
            </a:r>
            <a:r>
              <a:rPr lang="en-US" b="1" dirty="0"/>
              <a:t>.</a:t>
            </a:r>
            <a:endParaRPr lang="en-US" dirty="0"/>
          </a:p>
          <a:p>
            <a:r>
              <a:rPr lang="en-US" dirty="0"/>
              <a:t>These two identities are incredibly helpful, especially in signal processing and Fourier analysis. They let us replace sines and cosines with exponentials, which makes the math much cleaner and often easier to compute.</a:t>
            </a:r>
          </a:p>
          <a:p>
            <a:endParaRPr lang="en-US" dirty="0"/>
          </a:p>
          <a:p>
            <a:r>
              <a:rPr lang="en-US" dirty="0"/>
              <a:t>So to sum up:</a:t>
            </a:r>
          </a:p>
          <a:p>
            <a:r>
              <a:rPr lang="en-US" dirty="0"/>
              <a:t>Euler’s formula is a bridge between the world of waves—like sine and cosine—and the world of exponentials. And as we’ll see next, that bridge is exactly what we need to rewrite the Fourier series in a compact, exponential form.</a:t>
            </a:r>
          </a:p>
          <a:p>
            <a:r>
              <a:rPr lang="en-US" dirty="0"/>
              <a:t>Let’s move forward and take a look at that next.</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39</a:t>
            </a:fld>
            <a:endParaRPr lang="en-US"/>
          </a:p>
        </p:txBody>
      </p:sp>
    </p:spTree>
    <p:extLst>
      <p:ext uri="{BB962C8B-B14F-4D97-AF65-F5344CB8AC3E}">
        <p14:creationId xmlns:p14="http://schemas.microsoft.com/office/powerpoint/2010/main" val="40348241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that we’ve built up our understanding of Euler’s formula, we’re ready to transition from the real form of the Fourier series to the complex form.</a:t>
            </a:r>
          </a:p>
          <a:p>
            <a:endParaRPr lang="en-US" dirty="0"/>
          </a:p>
          <a:p>
            <a:r>
              <a:rPr lang="en-US" dirty="0"/>
              <a:t>Let me start by reminding you of the real version. For a periodic function, f of t, we can write it as:</a:t>
            </a:r>
          </a:p>
          <a:p>
            <a:r>
              <a:rPr lang="en-US" dirty="0"/>
              <a:t>  "a zero divided by two, plus the sum over n of a n times cosine of two pi n t, plus b n times sine of two pi n t."</a:t>
            </a:r>
          </a:p>
          <a:p>
            <a:r>
              <a:rPr lang="en-US" dirty="0"/>
              <a:t>That’s the standard real Fourier series form. We’ve seen that it works well, but it requires us to carry around both sine and cosine terms—and two separate sets of coefficients.</a:t>
            </a:r>
          </a:p>
          <a:p>
            <a:endParaRPr lang="en-US" dirty="0"/>
          </a:p>
          <a:p>
            <a:r>
              <a:rPr lang="en-US" dirty="0"/>
              <a:t>Now here’s the trick: using Euler’s formula, we can rewrite sine and cosine using complex exponentials.</a:t>
            </a:r>
          </a:p>
          <a:p>
            <a:r>
              <a:rPr lang="en-US" dirty="0"/>
              <a:t>For example, cosine of two pi n t becomes:</a:t>
            </a:r>
          </a:p>
          <a:p>
            <a:r>
              <a:rPr lang="en-US" dirty="0"/>
              <a:t>  "e to the power </a:t>
            </a:r>
            <a:r>
              <a:rPr lang="en-US" dirty="0" err="1"/>
              <a:t>i</a:t>
            </a:r>
            <a:r>
              <a:rPr lang="en-US" dirty="0"/>
              <a:t> times two pi n t, plus e to the power negative </a:t>
            </a:r>
            <a:r>
              <a:rPr lang="en-US" dirty="0" err="1"/>
              <a:t>i</a:t>
            </a:r>
            <a:r>
              <a:rPr lang="en-US" dirty="0"/>
              <a:t> times two pi n t, all divided by two."</a:t>
            </a:r>
          </a:p>
          <a:p>
            <a:r>
              <a:rPr lang="en-US" dirty="0"/>
              <a:t>And sine of two pi n t becomes:</a:t>
            </a:r>
          </a:p>
          <a:p>
            <a:r>
              <a:rPr lang="en-US" dirty="0"/>
              <a:t>  "e to the </a:t>
            </a:r>
            <a:r>
              <a:rPr lang="en-US" dirty="0" err="1"/>
              <a:t>i</a:t>
            </a:r>
            <a:r>
              <a:rPr lang="en-US" dirty="0"/>
              <a:t> two pi n t, minus e to the negative </a:t>
            </a:r>
            <a:r>
              <a:rPr lang="en-US" dirty="0" err="1"/>
              <a:t>i</a:t>
            </a:r>
            <a:r>
              <a:rPr lang="en-US" dirty="0"/>
              <a:t> two pi n t, all divided by two </a:t>
            </a:r>
            <a:r>
              <a:rPr lang="en-US" dirty="0" err="1"/>
              <a:t>i</a:t>
            </a:r>
            <a:r>
              <a:rPr lang="en-US" dirty="0"/>
              <a:t>."</a:t>
            </a:r>
          </a:p>
          <a:p>
            <a:endParaRPr lang="en-US" dirty="0"/>
          </a:p>
          <a:p>
            <a:r>
              <a:rPr lang="en-US" dirty="0"/>
              <a:t>So what’s the point of doing this?</a:t>
            </a:r>
          </a:p>
          <a:p>
            <a:r>
              <a:rPr lang="en-US" dirty="0"/>
              <a:t>Well, once we’ve written everything in terms of exponentials, we can merge the sine and cosine parts into one unified expression. Everything now becomes a sum of complex exponentials—no separate sine and cosine terms needed.</a:t>
            </a:r>
          </a:p>
          <a:p>
            <a:endParaRPr lang="en-US" dirty="0"/>
          </a:p>
          <a:p>
            <a:r>
              <a:rPr lang="en-US" dirty="0"/>
              <a:t>Even more interesting, these exponential functions—like e to the </a:t>
            </a:r>
            <a:r>
              <a:rPr lang="en-US" dirty="0" err="1"/>
              <a:t>i</a:t>
            </a:r>
            <a:r>
              <a:rPr lang="en-US" dirty="0"/>
              <a:t> two pi n t—where n is any integer, actually form an </a:t>
            </a:r>
            <a:r>
              <a:rPr lang="en-US" b="1" dirty="0"/>
              <a:t>orthonormal basis</a:t>
            </a:r>
            <a:r>
              <a:rPr lang="en-US" dirty="0"/>
              <a:t>.</a:t>
            </a:r>
          </a:p>
          <a:p>
            <a:r>
              <a:rPr lang="en-US" dirty="0"/>
              <a:t>That means: each function has unit length, and all the functions are mutually orthogonal. If you take the inner product of e to the </a:t>
            </a:r>
            <a:r>
              <a:rPr lang="en-US" dirty="0" err="1"/>
              <a:t>i</a:t>
            </a:r>
            <a:r>
              <a:rPr lang="en-US" dirty="0"/>
              <a:t> two pi m t and e to the </a:t>
            </a:r>
            <a:r>
              <a:rPr lang="en-US" dirty="0" err="1"/>
              <a:t>i</a:t>
            </a:r>
            <a:r>
              <a:rPr lang="en-US" dirty="0"/>
              <a:t> two pi n t, the result is:</a:t>
            </a:r>
          </a:p>
          <a:p>
            <a:r>
              <a:rPr lang="en-US" dirty="0"/>
              <a:t>  "one, if m equals n; and zero, if m is not equal to n."</a:t>
            </a:r>
          </a:p>
          <a:p>
            <a:r>
              <a:rPr lang="en-US" dirty="0"/>
              <a:t>This elegant structure is one of the biggest reasons we prefer the complex form in many applications. It makes the math cleaner, the derivations simpler, and the overall representation more compact.</a:t>
            </a:r>
          </a:p>
          <a:p>
            <a:endParaRPr lang="en-US" dirty="0"/>
          </a:p>
          <a:p>
            <a:r>
              <a:rPr lang="en-US" dirty="0"/>
              <a:t>So in summary: by converting sine and cosine into exponentials using Euler’s identity, we arrive at a cleaner and more powerful way to express Fourier series. And this sets the stage for everything that follows in frequency analysis and Fourier transforms.</a:t>
            </a:r>
          </a:p>
          <a:p>
            <a:r>
              <a:rPr lang="en-US" dirty="0"/>
              <a:t>Coming up next, we’ll write down the full complex form of the Fourier series.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40</a:t>
            </a:fld>
            <a:endParaRPr lang="en-US"/>
          </a:p>
        </p:txBody>
      </p:sp>
    </p:spTree>
    <p:extLst>
      <p:ext uri="{BB962C8B-B14F-4D97-AF65-F5344CB8AC3E}">
        <p14:creationId xmlns:p14="http://schemas.microsoft.com/office/powerpoint/2010/main" val="17782412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moment now to fully understand what we mean by an orthonormal basis, especially when we’re working with complex exponentials.</a:t>
            </a:r>
          </a:p>
          <a:p>
            <a:endParaRPr lang="en-US" dirty="0"/>
          </a:p>
          <a:p>
            <a:r>
              <a:rPr lang="en-US" dirty="0"/>
              <a:t>We define a family of functions—denoted e n of t—where each function is written as:</a:t>
            </a:r>
            <a:br>
              <a:rPr lang="en-US" dirty="0"/>
            </a:br>
            <a:r>
              <a:rPr lang="en-US" dirty="0"/>
              <a:t>  "e to the power two pi </a:t>
            </a:r>
            <a:r>
              <a:rPr lang="en-US" dirty="0" err="1"/>
              <a:t>i</a:t>
            </a:r>
            <a:r>
              <a:rPr lang="en-US" dirty="0"/>
              <a:t> n t."</a:t>
            </a:r>
            <a:br>
              <a:rPr lang="en-US" dirty="0"/>
            </a:br>
            <a:r>
              <a:rPr lang="en-US" dirty="0"/>
              <a:t>Here, n is any integer, and t is in the interval from zero to one.</a:t>
            </a:r>
            <a:br>
              <a:rPr lang="en-US" dirty="0"/>
            </a:br>
            <a:endParaRPr lang="en-US" dirty="0"/>
          </a:p>
          <a:p>
            <a:r>
              <a:rPr lang="en-US" dirty="0"/>
              <a:t>Now, to confirm that these functions actually form an orthonormal basis, we’ll compute the inner product between two of them. Let’s say we have e n t and e m t, and n is not equal to m.</a:t>
            </a:r>
          </a:p>
          <a:p>
            <a:r>
              <a:rPr lang="en-US" dirty="0"/>
              <a:t>Since we’re in a complex function space, remember that we have to conjugate the second function when we compute the inner product.</a:t>
            </a:r>
            <a:br>
              <a:rPr lang="en-US" dirty="0"/>
            </a:br>
            <a:r>
              <a:rPr lang="en-US" dirty="0"/>
              <a:t>So, the inner product between e n and e m is:</a:t>
            </a:r>
            <a:br>
              <a:rPr lang="en-US" dirty="0"/>
            </a:br>
            <a:r>
              <a:rPr lang="en-US" dirty="0"/>
              <a:t>  "The integral from zero to one of e to the two pi </a:t>
            </a:r>
            <a:r>
              <a:rPr lang="en-US" dirty="0" err="1"/>
              <a:t>i</a:t>
            </a:r>
            <a:r>
              <a:rPr lang="en-US" dirty="0"/>
              <a:t> n t, times the complex conjugate of e to the two pi </a:t>
            </a:r>
            <a:r>
              <a:rPr lang="en-US" dirty="0" err="1"/>
              <a:t>i</a:t>
            </a:r>
            <a:r>
              <a:rPr lang="en-US" dirty="0"/>
              <a:t> m t."</a:t>
            </a:r>
            <a:br>
              <a:rPr lang="en-US" dirty="0"/>
            </a:br>
            <a:endParaRPr lang="en-US" dirty="0"/>
          </a:p>
          <a:p>
            <a:r>
              <a:rPr lang="en-US" dirty="0"/>
              <a:t>Now, taking the conjugate of an exponential just flips the sign in the exponent. So this product becomes:</a:t>
            </a:r>
            <a:br>
              <a:rPr lang="en-US" dirty="0"/>
            </a:br>
            <a:r>
              <a:rPr lang="en-US" dirty="0"/>
              <a:t>  "e to the power two pi </a:t>
            </a:r>
            <a:r>
              <a:rPr lang="en-US" dirty="0" err="1"/>
              <a:t>i</a:t>
            </a:r>
            <a:r>
              <a:rPr lang="en-US" dirty="0"/>
              <a:t> times the quantity n minus m, all times t."</a:t>
            </a:r>
            <a:br>
              <a:rPr lang="en-US" dirty="0"/>
            </a:br>
            <a:r>
              <a:rPr lang="en-US" dirty="0"/>
              <a:t>We’re now integrating this from zero to one.</a:t>
            </a:r>
            <a:br>
              <a:rPr lang="en-US" dirty="0"/>
            </a:br>
            <a:r>
              <a:rPr lang="en-US" dirty="0"/>
              <a:t>What happens?</a:t>
            </a:r>
          </a:p>
          <a:p>
            <a:r>
              <a:rPr lang="en-US" dirty="0"/>
              <a:t>Well, if n is not equal to m, this exponential is rotating in the complex plane over the entire interval, and the total contribution over one period averages out to zero.</a:t>
            </a:r>
            <a:br>
              <a:rPr lang="en-US" dirty="0"/>
            </a:br>
            <a:r>
              <a:rPr lang="en-US" dirty="0"/>
              <a:t>So, in that case, the inner product is zero. This confirms that the functions are orthogonal when n and m are different.</a:t>
            </a:r>
            <a:br>
              <a:rPr lang="en-US" dirty="0"/>
            </a:br>
            <a:endParaRPr lang="en-US" dirty="0"/>
          </a:p>
          <a:p>
            <a:endParaRPr lang="en-US" dirty="0"/>
          </a:p>
          <a:p>
            <a:r>
              <a:rPr lang="en-US" dirty="0"/>
              <a:t>Now, what if n equals m?</a:t>
            </a:r>
            <a:br>
              <a:rPr lang="en-US" dirty="0"/>
            </a:br>
            <a:r>
              <a:rPr lang="en-US" dirty="0"/>
              <a:t>Then the exponent becomes zero, so we’re simply integrating the constant function one, from zero to one. That gives us a value of one.</a:t>
            </a:r>
            <a:br>
              <a:rPr lang="en-US" dirty="0"/>
            </a:br>
            <a:r>
              <a:rPr lang="en-US" dirty="0"/>
              <a:t>So this confirms that the functions are normalized when n equals m.</a:t>
            </a:r>
            <a:br>
              <a:rPr lang="en-US" dirty="0"/>
            </a:br>
            <a:r>
              <a:rPr lang="en-US" dirty="0"/>
              <a:t>Putting both of these observations together, we have the classic orthonormality condition:</a:t>
            </a:r>
            <a:br>
              <a:rPr lang="en-US" dirty="0"/>
            </a:br>
            <a:r>
              <a:rPr lang="en-US" dirty="0"/>
              <a:t>  "The inner product of e n and e m is equal to one if n equals m, and zero otherwise."</a:t>
            </a:r>
            <a:br>
              <a:rPr lang="en-US" dirty="0"/>
            </a:br>
            <a:r>
              <a:rPr lang="en-US" dirty="0"/>
              <a:t>That’s exactly what we expect from an orthonormal basis.</a:t>
            </a:r>
          </a:p>
          <a:p>
            <a:endParaRPr lang="en-US" dirty="0"/>
          </a:p>
          <a:p>
            <a:r>
              <a:rPr lang="en-US" dirty="0"/>
              <a:t>These complex exponential functions form the mathematical backbone of the Fourier series. Each function is like a “building block” that carries a particular frequency, and together they allow us to represent almost any function on the interval from zero to one.</a:t>
            </a:r>
            <a:br>
              <a:rPr lang="en-US" dirty="0"/>
            </a:br>
            <a:r>
              <a:rPr lang="en-US" dirty="0"/>
              <a:t>This structure is elegant, efficient, and deeply powerful.</a:t>
            </a:r>
            <a:br>
              <a:rPr lang="en-US" dirty="0"/>
            </a:br>
            <a:r>
              <a:rPr lang="en-US" dirty="0"/>
              <a:t>And in the next step, we’ll use these building blocks to express the complex form of the Fourier series.</a:t>
            </a:r>
          </a:p>
        </p:txBody>
      </p:sp>
      <p:sp>
        <p:nvSpPr>
          <p:cNvPr id="4" name="Slide Number Placeholder 3"/>
          <p:cNvSpPr>
            <a:spLocks noGrp="1"/>
          </p:cNvSpPr>
          <p:nvPr>
            <p:ph type="sldNum" sz="quarter" idx="5"/>
          </p:nvPr>
        </p:nvSpPr>
        <p:spPr/>
        <p:txBody>
          <a:bodyPr/>
          <a:lstStyle/>
          <a:p>
            <a:fld id="{9F30534E-9FB8-46AE-8E3B-5675B268AE6A}" type="slidenum">
              <a:rPr lang="en-US" smtClean="0"/>
              <a:pPr/>
              <a:t>41</a:t>
            </a:fld>
            <a:endParaRPr lang="en-US"/>
          </a:p>
        </p:txBody>
      </p:sp>
    </p:spTree>
    <p:extLst>
      <p:ext uri="{BB962C8B-B14F-4D97-AF65-F5344CB8AC3E}">
        <p14:creationId xmlns:p14="http://schemas.microsoft.com/office/powerpoint/2010/main" val="7450643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that we’ve built the full foundation, we’re finally ready to write down the complex form of the Fourier series.</a:t>
            </a:r>
            <a:br>
              <a:rPr lang="en-US" dirty="0"/>
            </a:br>
            <a:r>
              <a:rPr lang="en-US" dirty="0"/>
              <a:t>Instead of expressing our function f of t using separate sine and cosine terms, we now use complex exponentials as the basis functions. And the result is both beautiful and powerful.</a:t>
            </a:r>
            <a:br>
              <a:rPr lang="en-US" dirty="0"/>
            </a:br>
            <a:r>
              <a:rPr lang="en-US" dirty="0"/>
              <a:t>We write:</a:t>
            </a:r>
            <a:br>
              <a:rPr lang="en-US" dirty="0"/>
            </a:br>
            <a:r>
              <a:rPr lang="en-US" dirty="0"/>
              <a:t>"f of t equals the sum, from n equals negative infinity to positive infinity, of c n times e to the power </a:t>
            </a:r>
            <a:r>
              <a:rPr lang="en-US" dirty="0" err="1"/>
              <a:t>i</a:t>
            </a:r>
            <a:r>
              <a:rPr lang="en-US" dirty="0"/>
              <a:t> two pi n t."</a:t>
            </a:r>
            <a:br>
              <a:rPr lang="en-US" dirty="0"/>
            </a:br>
            <a:r>
              <a:rPr lang="en-US" dirty="0"/>
              <a:t>So here, each term in the sum is a complex sinusoid at frequency n. And the corresponding coefficient, c n, tells us how much of that frequency is present in the signal.</a:t>
            </a:r>
            <a:br>
              <a:rPr lang="en-US" dirty="0"/>
            </a:br>
            <a:endParaRPr lang="en-US" dirty="0"/>
          </a:p>
          <a:p>
            <a:r>
              <a:rPr lang="en-US" dirty="0"/>
              <a:t>Now, how do we find each coefficient?</a:t>
            </a:r>
            <a:br>
              <a:rPr lang="en-US" dirty="0"/>
            </a:br>
            <a:r>
              <a:rPr lang="en-US" dirty="0"/>
              <a:t>Because our basis functions are orthonormal, we can isolate any one coefficient simply by taking the inner product of f with the exponential function e to the </a:t>
            </a:r>
            <a:r>
              <a:rPr lang="en-US" dirty="0" err="1"/>
              <a:t>i</a:t>
            </a:r>
            <a:r>
              <a:rPr lang="en-US" dirty="0"/>
              <a:t> two pi n t. That gives us:</a:t>
            </a:r>
            <a:br>
              <a:rPr lang="en-US" dirty="0"/>
            </a:br>
            <a:r>
              <a:rPr lang="en-US" dirty="0"/>
              <a:t>"c n equals the inner product of f of t and e to the </a:t>
            </a:r>
            <a:r>
              <a:rPr lang="en-US" dirty="0" err="1"/>
              <a:t>i</a:t>
            </a:r>
            <a:r>
              <a:rPr lang="en-US" dirty="0"/>
              <a:t> two pi n t,"</a:t>
            </a:r>
            <a:br>
              <a:rPr lang="en-US" dirty="0"/>
            </a:br>
            <a:r>
              <a:rPr lang="en-US" dirty="0"/>
              <a:t>"which equals the integral from zero to one of f of t times e to the negative </a:t>
            </a:r>
            <a:r>
              <a:rPr lang="en-US" dirty="0" err="1"/>
              <a:t>i</a:t>
            </a:r>
            <a:r>
              <a:rPr lang="en-US" dirty="0"/>
              <a:t> two pi n t, with respect to t."</a:t>
            </a:r>
            <a:br>
              <a:rPr lang="en-US" dirty="0"/>
            </a:br>
            <a:r>
              <a:rPr lang="en-US" dirty="0"/>
              <a:t>Notice here that minus sign in the exponent. That comes from taking the complex conjugate inside the inner product.</a:t>
            </a:r>
            <a:br>
              <a:rPr lang="en-US" dirty="0"/>
            </a:br>
            <a:r>
              <a:rPr lang="en-US" dirty="0"/>
              <a:t>This formula is incredibly useful—it gives us a direct way to compute each coefficient without interference from the others.</a:t>
            </a:r>
            <a:br>
              <a:rPr lang="en-US" dirty="0"/>
            </a:br>
            <a:endParaRPr lang="en-US" dirty="0"/>
          </a:p>
          <a:p>
            <a:r>
              <a:rPr lang="en-US" dirty="0"/>
              <a:t>Now, if you recall the real Fourier series with cosine and sine terms, and if you rewrite cosine and sine using Euler’s formulas, and substitute them back into the real series, you’ll get the same expression—but now in terms of complex exponentials.</a:t>
            </a:r>
            <a:br>
              <a:rPr lang="en-US" dirty="0"/>
            </a:br>
            <a:r>
              <a:rPr lang="en-US" dirty="0"/>
              <a:t>And the coefficients come out as:</a:t>
            </a:r>
            <a:br>
              <a:rPr lang="en-US" dirty="0"/>
            </a:br>
            <a:r>
              <a:rPr lang="en-US" dirty="0"/>
              <a:t>For non-zero n,</a:t>
            </a:r>
            <a:br>
              <a:rPr lang="en-US" dirty="0"/>
            </a:br>
            <a:r>
              <a:rPr lang="en-US" dirty="0"/>
              <a:t>"c n equals a n over two, minus </a:t>
            </a:r>
            <a:r>
              <a:rPr lang="en-US" dirty="0" err="1"/>
              <a:t>i</a:t>
            </a:r>
            <a:r>
              <a:rPr lang="en-US" dirty="0"/>
              <a:t> times b n over two."</a:t>
            </a:r>
            <a:br>
              <a:rPr lang="en-US" dirty="0"/>
            </a:br>
            <a:r>
              <a:rPr lang="en-US" dirty="0"/>
              <a:t>For n equals zero,</a:t>
            </a:r>
            <a:br>
              <a:rPr lang="en-US" dirty="0"/>
            </a:br>
            <a:r>
              <a:rPr lang="en-US" dirty="0"/>
              <a:t>"c zero equals a zero over two."</a:t>
            </a:r>
            <a:br>
              <a:rPr lang="en-US" dirty="0"/>
            </a:br>
            <a:endParaRPr lang="en-US" dirty="0"/>
          </a:p>
          <a:p>
            <a:r>
              <a:rPr lang="en-US" dirty="0"/>
              <a:t>So the complex coefficients still capture the exact same information as a n, b n, and a naught—but now in a more compact and unified form.</a:t>
            </a:r>
            <a:br>
              <a:rPr lang="en-US" dirty="0"/>
            </a:br>
            <a:r>
              <a:rPr lang="en-US" dirty="0"/>
              <a:t>And finally, if your function f of t is real-valued, then the Fourier coefficients have a special property called conjugate symmetry. That is:</a:t>
            </a:r>
            <a:br>
              <a:rPr lang="en-US" dirty="0"/>
            </a:br>
            <a:r>
              <a:rPr lang="en-US" dirty="0"/>
              <a:t>"The complex conjugate of c n equals c negative n."</a:t>
            </a:r>
            <a:br>
              <a:rPr lang="en-US" dirty="0"/>
            </a:br>
            <a:r>
              <a:rPr lang="en-US" dirty="0"/>
              <a:t>This symmetry ensures that when you sum the exponentials—both positive and negative frequencies—the imaginary parts cancel out, and you’re left with a real-valued function.</a:t>
            </a:r>
            <a:br>
              <a:rPr lang="en-US" dirty="0"/>
            </a:br>
            <a:endParaRPr lang="en-US" dirty="0"/>
          </a:p>
          <a:p>
            <a:r>
              <a:rPr lang="en-US" dirty="0"/>
              <a:t>So to summarize, this complex form of the Fourier series gives us a cleaner expression, easier computation, and a deeper insight into the structure of signals. It’s no surprise this form is central in many areas, from signal processing to quantum mechanics.</a:t>
            </a:r>
            <a:br>
              <a:rPr lang="en-US" dirty="0"/>
            </a:br>
            <a:r>
              <a:rPr lang="en-US" dirty="0"/>
              <a:t>Next, we’ll build on this to explore how these complex exponentials serve as building blocks for signal decomposition and frequency-domain analysis.</a:t>
            </a:r>
          </a:p>
        </p:txBody>
      </p:sp>
      <p:sp>
        <p:nvSpPr>
          <p:cNvPr id="4" name="Slide Number Placeholder 3"/>
          <p:cNvSpPr>
            <a:spLocks noGrp="1"/>
          </p:cNvSpPr>
          <p:nvPr>
            <p:ph type="sldNum" sz="quarter" idx="5"/>
          </p:nvPr>
        </p:nvSpPr>
        <p:spPr/>
        <p:txBody>
          <a:bodyPr/>
          <a:lstStyle/>
          <a:p>
            <a:fld id="{9F30534E-9FB8-46AE-8E3B-5675B268AE6A}" type="slidenum">
              <a:rPr lang="en-US" smtClean="0"/>
              <a:pPr/>
              <a:t>42</a:t>
            </a:fld>
            <a:endParaRPr lang="en-US"/>
          </a:p>
        </p:txBody>
      </p:sp>
    </p:spTree>
    <p:extLst>
      <p:ext uri="{BB962C8B-B14F-4D97-AF65-F5344CB8AC3E}">
        <p14:creationId xmlns:p14="http://schemas.microsoft.com/office/powerpoint/2010/main" val="39986637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step back now and try to visualize everything we've been talking about.</a:t>
            </a:r>
          </a:p>
          <a:p>
            <a:r>
              <a:rPr lang="en-US" dirty="0"/>
              <a:t>When we say we’re representing a function using a Fourier series, what does that mean? </a:t>
            </a:r>
          </a:p>
          <a:p>
            <a:endParaRPr lang="en-US" dirty="0"/>
          </a:p>
          <a:p>
            <a:r>
              <a:rPr lang="en-US" dirty="0"/>
              <a:t>Well, it means we’re placing that function inside a kind of infinite-dimensional space. Each dimension in this space corresponds to a different basis function—just like in three-dimensional space, where we have the x, y, and z axes.</a:t>
            </a:r>
          </a:p>
          <a:p>
            <a:r>
              <a:rPr lang="en-US" dirty="0"/>
              <a:t>On the left side of this slide, you see the </a:t>
            </a:r>
            <a:r>
              <a:rPr lang="en-US" b="1" dirty="0"/>
              <a:t>real basis</a:t>
            </a:r>
            <a:r>
              <a:rPr lang="en-US" dirty="0"/>
              <a:t>. These are made up of the constant function 1, the cosine functions like cosine of 2 pi m t, and the sine functions like sine of 2 pi n t. These real functions are all </a:t>
            </a:r>
            <a:r>
              <a:rPr lang="en-US" b="1" dirty="0"/>
              <a:t>orthonormal</a:t>
            </a:r>
            <a:r>
              <a:rPr lang="en-US" dirty="0"/>
              <a:t>, and together, they span the space of all square-integrable periodic functions.</a:t>
            </a:r>
          </a:p>
          <a:p>
            <a:endParaRPr lang="en-US" dirty="0"/>
          </a:p>
          <a:p>
            <a:r>
              <a:rPr lang="en-US" dirty="0"/>
              <a:t>Now notice the red arrow labeled f of t. That red arrow represents a function. And just like any vector in 3D space, we can express this function as a sum of its components in each direction. But in our case, the directions are sine, cosine, and the constant function.</a:t>
            </a:r>
          </a:p>
          <a:p>
            <a:r>
              <a:rPr lang="en-US" dirty="0"/>
              <a:t>To figure out how much of each component is present, we project the function onto each basis function. That’s exactly what we’re doing when we compute the Fourier coefficients. We're just asking: how much of cosine is in this signal? How much of sine? And so on.</a:t>
            </a:r>
          </a:p>
          <a:p>
            <a:endParaRPr lang="en-US" dirty="0"/>
          </a:p>
          <a:p>
            <a:r>
              <a:rPr lang="en-US" dirty="0"/>
              <a:t>Now look at the right-hand diagram. It shows the same idea, but using a </a:t>
            </a:r>
            <a:r>
              <a:rPr lang="en-US" b="1" dirty="0"/>
              <a:t>complex basis</a:t>
            </a:r>
            <a:r>
              <a:rPr lang="en-US" dirty="0"/>
              <a:t> instead. Here, the directions are complex exponentials like e to the </a:t>
            </a:r>
            <a:r>
              <a:rPr lang="en-US" dirty="0" err="1"/>
              <a:t>i</a:t>
            </a:r>
            <a:r>
              <a:rPr lang="en-US" dirty="0"/>
              <a:t> 2 pi n t. These complex exponentials are also orthonormal and form a complete basis in the complex function space.</a:t>
            </a:r>
          </a:p>
          <a:p>
            <a:r>
              <a:rPr lang="en-US" dirty="0"/>
              <a:t>The red arrow here, labeled g of t, could represent the same function as f of t. But now, it’s decomposed using complex components instead of sines and cosines.</a:t>
            </a:r>
          </a:p>
          <a:p>
            <a:r>
              <a:rPr lang="en-US" dirty="0"/>
              <a:t>So whether we use real functions or complex exponentials, the concept is the same: we're decomposing a function into its “directional” components in function space—just like how you decompose a 3D vector into its x, y, and z parts.</a:t>
            </a:r>
          </a:p>
          <a:p>
            <a:endParaRPr lang="en-US" dirty="0"/>
          </a:p>
          <a:p>
            <a:r>
              <a:rPr lang="en-US" dirty="0"/>
              <a:t>This visualization helps us see Fourier series not just as a bunch of formulas—but as a geometric idea. A function is a vector, and we’re expressing it as a sum of basis vectors.</a:t>
            </a:r>
          </a:p>
          <a:p>
            <a:r>
              <a:rPr lang="en-US" dirty="0"/>
              <a:t>This is the heart of Fourier analysis.</a:t>
            </a:r>
          </a:p>
          <a:p>
            <a:r>
              <a:rPr lang="en-US" dirty="0"/>
              <a:t>Next, let’s take a look at some concrete examples to see how this actually plays out in practice.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43</a:t>
            </a:fld>
            <a:endParaRPr lang="en-US"/>
          </a:p>
        </p:txBody>
      </p:sp>
    </p:spTree>
    <p:extLst>
      <p:ext uri="{BB962C8B-B14F-4D97-AF65-F5344CB8AC3E}">
        <p14:creationId xmlns:p14="http://schemas.microsoft.com/office/powerpoint/2010/main" val="20268000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wrap up this lecture by exploring a concrete and classic example: the square wave.</a:t>
            </a:r>
          </a:p>
          <a:p>
            <a:r>
              <a:rPr lang="en-US" dirty="0"/>
              <a:t>What you see here is a periodic function, one that flips back and forth between two constant values—a positive one and a negative one.</a:t>
            </a:r>
          </a:p>
          <a:p>
            <a:endParaRPr lang="en-US" dirty="0"/>
          </a:p>
          <a:p>
            <a:r>
              <a:rPr lang="en-US" dirty="0"/>
              <a:t>Let’s walk through the structure.</a:t>
            </a:r>
          </a:p>
          <a:p>
            <a:r>
              <a:rPr lang="en-US" dirty="0"/>
              <a:t>From time t equals zero up to one-half, the function holds steady at plus one. Then, from one-half to one, it suddenly drops to minus one. After that, the pattern repeats. And again. And again. This continues infinitely in both directions along the time axis.</a:t>
            </a:r>
          </a:p>
          <a:p>
            <a:r>
              <a:rPr lang="en-US" dirty="0"/>
              <a:t>So overall, this is a piecewise function. Within each period, it's constant in two segments, with an abrupt jump at the halfway point. And because it repeats every unit of time, we say it has a </a:t>
            </a:r>
            <a:r>
              <a:rPr lang="en-US" b="1" dirty="0"/>
              <a:t>period of one</a:t>
            </a:r>
            <a:r>
              <a:rPr lang="en-US" dirty="0"/>
              <a:t>.</a:t>
            </a:r>
          </a:p>
          <a:p>
            <a:endParaRPr lang="en-US" dirty="0"/>
          </a:p>
          <a:p>
            <a:r>
              <a:rPr lang="en-US" dirty="0"/>
              <a:t>Now, at first glance, you might think, “This function is too rough for sine and cosine to handle.” It has sharp edges, and it jumps suddenly. But that’s where the power of Fourier analysis shines.</a:t>
            </a:r>
          </a:p>
          <a:p>
            <a:r>
              <a:rPr lang="en-US" dirty="0"/>
              <a:t>Even though the square wave is not smooth, we can still represent it as a sum of smooth, continuous sinusoids. It’s exactly this kind of jumpy, discontinuous behavior that makes the square wave such a great test case for the Fourier series.</a:t>
            </a:r>
          </a:p>
          <a:p>
            <a:endParaRPr lang="en-US" dirty="0"/>
          </a:p>
          <a:p>
            <a:r>
              <a:rPr lang="en-US" dirty="0"/>
              <a:t>You’ll soon see that we can approximate the square wave by adding up enough sine components. And the more terms we include, the closer the sum will come to capturing that sharp transition from plus one to minus one.</a:t>
            </a:r>
          </a:p>
          <a:p>
            <a:r>
              <a:rPr lang="en-US" dirty="0"/>
              <a:t>This example will also reveal an interesting phenomenon known as the </a:t>
            </a:r>
            <a:r>
              <a:rPr lang="en-US" b="1" dirty="0"/>
              <a:t>Gibbs effect</a:t>
            </a:r>
            <a:r>
              <a:rPr lang="en-US" dirty="0"/>
              <a:t>, which we’ll talk about next.</a:t>
            </a:r>
          </a:p>
          <a:p>
            <a:r>
              <a:rPr lang="en-US" dirty="0"/>
              <a:t>But for now, just keep in mind: even for a simple-looking function like this square wave, Fourier series gives us a powerful and systematic way to build it up—using only smooth building blocks.</a:t>
            </a:r>
          </a:p>
          <a:p>
            <a:endParaRPr lang="en-US" dirty="0"/>
          </a:p>
          <a:p>
            <a:r>
              <a:rPr lang="en-US" dirty="0"/>
              <a:t>So now let’s take the next step and compute the Fourier coefficients for our square wave.</a:t>
            </a:r>
          </a:p>
          <a:p>
            <a:endParaRPr lang="en-US" dirty="0"/>
          </a:p>
          <a:p>
            <a:r>
              <a:rPr lang="en-US" dirty="0"/>
              <a:t>As we saw before, the square wave alternates between plus one and minus one over each period. From zero to one-half, it’s plus one. From one-half to one, it drops to minus one. And this pattern repeats every unit interval.</a:t>
            </a:r>
          </a:p>
          <a:p>
            <a:endParaRPr lang="en-US" dirty="0"/>
          </a:p>
          <a:p>
            <a:r>
              <a:rPr lang="en-US" dirty="0"/>
              <a:t>Now, we begin with the zeroth Fourier coefficient. This represents the average value of the function over one period. But notice: for every positive bump, there’s a negative one of equal size. So the total area above the axis cancels out the area below. That means the average value is zero.</a:t>
            </a:r>
          </a:p>
          <a:p>
            <a:r>
              <a:rPr lang="en-US" dirty="0"/>
              <a:t>So, the zeroth term disappears.</a:t>
            </a:r>
          </a:p>
          <a:p>
            <a:endParaRPr lang="en-US" dirty="0"/>
          </a:p>
          <a:p>
            <a:r>
              <a:rPr lang="en-US" dirty="0"/>
              <a:t>Next, we compute the other Fourier coefficients, often denoted by f-hat of n. These are obtained by taking the inner product of the function with the complex exponential </a:t>
            </a:r>
            <a:r>
              <a:rPr lang="en-US" b="1" dirty="0"/>
              <a:t>e to the negative 2 pi i n t</a:t>
            </a:r>
            <a:r>
              <a:rPr lang="en-US" dirty="0"/>
              <a:t>.</a:t>
            </a:r>
          </a:p>
          <a:p>
            <a:r>
              <a:rPr lang="en-US" dirty="0"/>
              <a:t>Since our square wave has two constant segments, we split the integral into two parts: one from 0 to one-half, where the function equals plus one, and one from one-half to 1, where the function equals minus one.</a:t>
            </a:r>
          </a:p>
          <a:p>
            <a:r>
              <a:rPr lang="en-US" dirty="0"/>
              <a:t>We integrate </a:t>
            </a:r>
            <a:r>
              <a:rPr lang="en-US" b="1" dirty="0"/>
              <a:t>e to the negative 2 pi i n t</a:t>
            </a:r>
            <a:r>
              <a:rPr lang="en-US" dirty="0"/>
              <a:t> over each of these intervals, then subtract them.</a:t>
            </a:r>
          </a:p>
          <a:p>
            <a:endParaRPr lang="en-US" dirty="0"/>
          </a:p>
          <a:p>
            <a:r>
              <a:rPr lang="en-US" dirty="0"/>
              <a:t>After doing the math, we arrive at this compact expression:</a:t>
            </a:r>
          </a:p>
          <a:p>
            <a:r>
              <a:rPr lang="en-US" b="1" dirty="0"/>
              <a:t>F hat n equals to 1 over pi i n times the quantity 1 minus e to the negative pi i n.</a:t>
            </a:r>
          </a:p>
          <a:p>
            <a:endParaRPr lang="en-US" dirty="0"/>
          </a:p>
          <a:p>
            <a:r>
              <a:rPr lang="en-US" dirty="0"/>
              <a:t>Now this is an elegant formula. It tells us exactly how strong each frequency component is. For each integer value of n—not equal to zero—we get a corresponding complex exponential that contributes to building up the square wave.</a:t>
            </a:r>
          </a:p>
          <a:p>
            <a:endParaRPr lang="en-US" dirty="0"/>
          </a:p>
          <a:p>
            <a:r>
              <a:rPr lang="en-US" dirty="0"/>
              <a:t>And so, we write the full Fourier series as an infinite sum of these terms. That is, summing over all non-zero values of n:</a:t>
            </a:r>
          </a:p>
          <a:p>
            <a:r>
              <a:rPr lang="en-US" b="1" dirty="0"/>
              <a:t>The sum of 1 over pi i n times 1 minus e to the negative pi i n times e to the 2 pi i n t</a:t>
            </a:r>
            <a:endParaRPr lang="en-US" dirty="0"/>
          </a:p>
          <a:p>
            <a:r>
              <a:rPr lang="en-US" dirty="0"/>
              <a:t>Each of these exponential functions corresponds to a specific frequency, and each coefficient tells us how much of that frequency is present in the signal.</a:t>
            </a:r>
          </a:p>
          <a:p>
            <a:r>
              <a:rPr lang="en-US" dirty="0"/>
              <a:t>On the next slide, we’ll further simplify this result and begin to see the pattern more clearly—especially for odd harmonics.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44</a:t>
            </a:fld>
            <a:endParaRPr lang="en-US"/>
          </a:p>
        </p:txBody>
      </p:sp>
    </p:spTree>
    <p:extLst>
      <p:ext uri="{BB962C8B-B14F-4D97-AF65-F5344CB8AC3E}">
        <p14:creationId xmlns:p14="http://schemas.microsoft.com/office/powerpoint/2010/main" val="2228395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let’s simplify the Fourier series we derived for the square wave.</a:t>
            </a:r>
          </a:p>
          <a:p>
            <a:r>
              <a:rPr lang="en-US" dirty="0"/>
              <a:t>Earlier, we saw that the Fourier coefficients involved a term like “1 minus e to the negative pi </a:t>
            </a:r>
            <a:r>
              <a:rPr lang="en-US" dirty="0" err="1"/>
              <a:t>i</a:t>
            </a:r>
            <a:r>
              <a:rPr lang="en-US" dirty="0"/>
              <a:t> n.” Let’s think carefully about that. What happens when </a:t>
            </a:r>
            <a:r>
              <a:rPr lang="en-US" b="1" dirty="0"/>
              <a:t>n</a:t>
            </a:r>
            <a:r>
              <a:rPr lang="en-US" dirty="0"/>
              <a:t> is even?</a:t>
            </a:r>
          </a:p>
          <a:p>
            <a:endParaRPr lang="en-US" dirty="0"/>
          </a:p>
          <a:p>
            <a:r>
              <a:rPr lang="en-US" dirty="0"/>
              <a:t>Well, if you plug in an even number, this expression becomes zero. That means: all even-numbered terms in the series disappear completely. On the other hand, when </a:t>
            </a:r>
            <a:r>
              <a:rPr lang="en-US" b="1" dirty="0"/>
              <a:t>n</a:t>
            </a:r>
            <a:r>
              <a:rPr lang="en-US" dirty="0"/>
              <a:t> is odd, this term evaluates to two.</a:t>
            </a:r>
          </a:p>
          <a:p>
            <a:r>
              <a:rPr lang="en-US" dirty="0"/>
              <a:t>So what does this tell us? It tells us that the square wave is made up only of </a:t>
            </a:r>
            <a:r>
              <a:rPr lang="en-US" b="1" dirty="0"/>
              <a:t>odd harmonics</a:t>
            </a:r>
            <a:r>
              <a:rPr lang="en-US" dirty="0"/>
              <a:t>. That is, only the sine waves whose frequencies are odd multiples of the base frequency will appear in the final expression.</a:t>
            </a:r>
          </a:p>
          <a:p>
            <a:r>
              <a:rPr lang="en-US" dirty="0"/>
              <a:t>With this insight, we rewrite the series, summing over only the odd values of </a:t>
            </a:r>
            <a:r>
              <a:rPr lang="en-US" b="1" dirty="0"/>
              <a:t>n</a:t>
            </a:r>
            <a:r>
              <a:rPr lang="en-US" dirty="0"/>
              <a:t>. And since the numerator is just 2 now, the coefficient simplifies to </a:t>
            </a:r>
            <a:r>
              <a:rPr lang="en-US" b="1" dirty="0"/>
              <a:t>2 over pi </a:t>
            </a:r>
            <a:r>
              <a:rPr lang="en-US" b="1" dirty="0" err="1"/>
              <a:t>i</a:t>
            </a:r>
            <a:r>
              <a:rPr lang="en-US" b="1" dirty="0"/>
              <a:t> n</a:t>
            </a:r>
            <a:r>
              <a:rPr lang="en-US" dirty="0"/>
              <a:t>, multiplied by </a:t>
            </a:r>
            <a:r>
              <a:rPr lang="en-US" b="1" dirty="0"/>
              <a:t>e to the 2 pi </a:t>
            </a:r>
            <a:r>
              <a:rPr lang="en-US" b="1" dirty="0" err="1"/>
              <a:t>i</a:t>
            </a:r>
            <a:r>
              <a:rPr lang="en-US" b="1" dirty="0"/>
              <a:t> n t</a:t>
            </a:r>
            <a:r>
              <a:rPr lang="en-US" dirty="0"/>
              <a:t>.</a:t>
            </a:r>
          </a:p>
          <a:p>
            <a:endParaRPr lang="en-US" dirty="0"/>
          </a:p>
          <a:p>
            <a:r>
              <a:rPr lang="en-US" dirty="0"/>
              <a:t>Now we go one step further. We combine the terms for </a:t>
            </a:r>
            <a:r>
              <a:rPr lang="en-US" b="1" dirty="0"/>
              <a:t>plus n</a:t>
            </a:r>
            <a:r>
              <a:rPr lang="en-US" dirty="0"/>
              <a:t> and </a:t>
            </a:r>
            <a:r>
              <a:rPr lang="en-US" b="1" dirty="0"/>
              <a:t>minus n</a:t>
            </a:r>
            <a:r>
              <a:rPr lang="en-US" dirty="0"/>
              <a:t>. When we do that and apply Euler’s identity again, something beautiful happens. The sum of </a:t>
            </a:r>
            <a:r>
              <a:rPr lang="en-US" b="1" dirty="0"/>
              <a:t>e to the </a:t>
            </a:r>
            <a:r>
              <a:rPr lang="en-US" b="1" dirty="0" err="1"/>
              <a:t>i</a:t>
            </a:r>
            <a:r>
              <a:rPr lang="en-US" b="1" dirty="0"/>
              <a:t> theta</a:t>
            </a:r>
            <a:r>
              <a:rPr lang="en-US" dirty="0"/>
              <a:t> and </a:t>
            </a:r>
            <a:r>
              <a:rPr lang="en-US" b="1" dirty="0"/>
              <a:t>e to the negative </a:t>
            </a:r>
            <a:r>
              <a:rPr lang="en-US" b="1" dirty="0" err="1"/>
              <a:t>i</a:t>
            </a:r>
            <a:r>
              <a:rPr lang="en-US" b="1" dirty="0"/>
              <a:t> theta</a:t>
            </a:r>
            <a:r>
              <a:rPr lang="en-US" dirty="0"/>
              <a:t> becomes a sine function. Specifically:</a:t>
            </a:r>
          </a:p>
          <a:p>
            <a:r>
              <a:rPr lang="en-US" b="1" dirty="0"/>
              <a:t>e to the 2 pi </a:t>
            </a:r>
            <a:r>
              <a:rPr lang="en-US" b="1" dirty="0" err="1"/>
              <a:t>i</a:t>
            </a:r>
            <a:r>
              <a:rPr lang="en-US" b="1" dirty="0"/>
              <a:t> n t minus e to the minus 2 pi </a:t>
            </a:r>
            <a:r>
              <a:rPr lang="en-US" b="1" dirty="0" err="1"/>
              <a:t>i</a:t>
            </a:r>
            <a:r>
              <a:rPr lang="en-US" b="1" dirty="0"/>
              <a:t> n t equals 2 </a:t>
            </a:r>
            <a:r>
              <a:rPr lang="en-US" b="1" dirty="0" err="1"/>
              <a:t>i</a:t>
            </a:r>
            <a:r>
              <a:rPr lang="en-US" b="1" dirty="0"/>
              <a:t> times sine of 2 pi n t</a:t>
            </a:r>
            <a:endParaRPr lang="en-US" dirty="0"/>
          </a:p>
          <a:p>
            <a:r>
              <a:rPr lang="en-US" dirty="0"/>
              <a:t>So now, our series, which originally looked complex and full of exponentials, becomes a clean sine series.</a:t>
            </a:r>
          </a:p>
          <a:p>
            <a:r>
              <a:rPr lang="en-US" dirty="0"/>
              <a:t>We make one last substitution. Since we’re only keeping odd values of </a:t>
            </a:r>
            <a:r>
              <a:rPr lang="en-US" b="1" dirty="0"/>
              <a:t>n</a:t>
            </a:r>
            <a:r>
              <a:rPr lang="en-US" dirty="0"/>
              <a:t>, we can write </a:t>
            </a:r>
            <a:r>
              <a:rPr lang="en-US" b="1" dirty="0"/>
              <a:t>n</a:t>
            </a:r>
            <a:r>
              <a:rPr lang="en-US" dirty="0"/>
              <a:t> as </a:t>
            </a:r>
            <a:r>
              <a:rPr lang="en-US" b="1" dirty="0"/>
              <a:t>2 k plus 1</a:t>
            </a:r>
            <a:r>
              <a:rPr lang="en-US" dirty="0"/>
              <a:t>, where </a:t>
            </a:r>
            <a:r>
              <a:rPr lang="en-US" b="1" dirty="0"/>
              <a:t>k</a:t>
            </a:r>
            <a:r>
              <a:rPr lang="en-US" dirty="0"/>
              <a:t> runs from zero to infinity.</a:t>
            </a:r>
          </a:p>
          <a:p>
            <a:endParaRPr lang="en-US" dirty="0"/>
          </a:p>
          <a:p>
            <a:r>
              <a:rPr lang="en-US" dirty="0"/>
              <a:t>This gives us the final, elegant result:</a:t>
            </a:r>
          </a:p>
          <a:p>
            <a:r>
              <a:rPr lang="en-US" b="1" dirty="0"/>
              <a:t>f of t equals 4 over pi, times the sum from k equals 0 to infinity, of 1 over 2 k plus 1, times sine of 2 pi times 2 k plus 1 t</a:t>
            </a:r>
            <a:endParaRPr lang="en-US" dirty="0"/>
          </a:p>
          <a:p>
            <a:r>
              <a:rPr lang="en-US" dirty="0"/>
              <a:t>This is the Fourier series for the square wave.</a:t>
            </a:r>
          </a:p>
          <a:p>
            <a:endParaRPr lang="en-US" dirty="0"/>
          </a:p>
          <a:p>
            <a:r>
              <a:rPr lang="en-US" dirty="0"/>
              <a:t>Notice how only </a:t>
            </a:r>
            <a:r>
              <a:rPr lang="en-US" b="1" dirty="0"/>
              <a:t>sine terms</a:t>
            </a:r>
            <a:r>
              <a:rPr lang="en-US" dirty="0"/>
              <a:t> appear. That makes perfect sense, because the square wave is an </a:t>
            </a:r>
            <a:r>
              <a:rPr lang="en-US" b="1" dirty="0"/>
              <a:t>odd function</a:t>
            </a:r>
            <a:r>
              <a:rPr lang="en-US" dirty="0"/>
              <a:t>—it’s symmetric around the origin. And in Fourier analysis, odd functions naturally expand into sine terms, just like even functions expand into cosines.</a:t>
            </a:r>
          </a:p>
          <a:p>
            <a:r>
              <a:rPr lang="en-US" dirty="0"/>
              <a:t>This result is not only beautiful but also extremely useful. It tells us exactly how to build a square wave by layering together the right sine waves, each scaled just right.</a:t>
            </a:r>
          </a:p>
          <a:p>
            <a:r>
              <a:rPr lang="en-US" dirty="0"/>
              <a:t>Let’s go on and see what this looks like when we actually approximate the square wave with a few of these terms.</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45</a:t>
            </a:fld>
            <a:endParaRPr lang="en-US"/>
          </a:p>
        </p:txBody>
      </p:sp>
    </p:spTree>
    <p:extLst>
      <p:ext uri="{BB962C8B-B14F-4D97-AF65-F5344CB8AC3E}">
        <p14:creationId xmlns:p14="http://schemas.microsoft.com/office/powerpoint/2010/main" val="3147733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Let’s take a moment now to understand what happens when we approximate a function using only a </a:t>
            </a:r>
            <a:r>
              <a:rPr lang="en-US" b="1" dirty="0"/>
              <a:t>finite</a:t>
            </a:r>
            <a:r>
              <a:rPr lang="en-US" dirty="0"/>
              <a:t> number of Fourier terms.</a:t>
            </a:r>
          </a:p>
          <a:p>
            <a:r>
              <a:rPr lang="en-US" dirty="0"/>
              <a:t>In theory, the Fourier series uses infinitely many sine or complex exponential terms to exactly reconstruct the original function. But in practice, we can only sum up a limited number of them. So what does that mean?</a:t>
            </a:r>
          </a:p>
          <a:p>
            <a:endParaRPr lang="en-US" dirty="0"/>
          </a:p>
          <a:p>
            <a:r>
              <a:rPr lang="en-US" dirty="0"/>
              <a:t>Well, in regions where the function is smooth and continuous, like in the middle of a flat section of the square wave, the approximation is excellent. The series follows the shape of the function very closely, and the error becomes negligible as we include more terms.</a:t>
            </a:r>
          </a:p>
          <a:p>
            <a:r>
              <a:rPr lang="en-US" dirty="0"/>
              <a:t>But notice what happens at the discontinuities—those sudden jumps where the function goes from 1 to 1. That’s where the series begins to struggle.</a:t>
            </a:r>
          </a:p>
          <a:p>
            <a:endParaRPr lang="en-US" dirty="0"/>
          </a:p>
          <a:p>
            <a:r>
              <a:rPr lang="en-US" dirty="0"/>
              <a:t>If you look at the plot here, you’ll see a ripple near each jump. These ripples don’t go away even if we add more and more terms. This phenomenon is known as the </a:t>
            </a:r>
            <a:r>
              <a:rPr lang="en-US" b="1" dirty="0"/>
              <a:t>Gibbs phenomenon</a:t>
            </a:r>
            <a:r>
              <a:rPr lang="en-US" dirty="0"/>
              <a:t>, and we’ll explore it in detail shortly.</a:t>
            </a:r>
          </a:p>
          <a:p>
            <a:r>
              <a:rPr lang="en-US" dirty="0"/>
              <a:t>For now, focus on what the formula in the blue box is telling us. It describes the value that the Fourier series converges to at each point </a:t>
            </a:r>
            <a:r>
              <a:rPr lang="en-US" b="1" dirty="0"/>
              <a:t>x</a:t>
            </a:r>
            <a:r>
              <a:rPr lang="en-US" dirty="0"/>
              <a:t>.</a:t>
            </a:r>
          </a:p>
          <a:p>
            <a:r>
              <a:rPr lang="en-US" dirty="0"/>
              <a:t>If the function </a:t>
            </a:r>
            <a:r>
              <a:rPr lang="en-US" b="1" dirty="0"/>
              <a:t>f of x</a:t>
            </a:r>
            <a:r>
              <a:rPr lang="en-US" dirty="0"/>
              <a:t> is continuous at that point, then the Fourier series converges to </a:t>
            </a:r>
            <a:r>
              <a:rPr lang="en-US" b="1" dirty="0"/>
              <a:t>f of x</a:t>
            </a:r>
            <a:r>
              <a:rPr lang="en-US" dirty="0"/>
              <a:t>. That’s simple enough.</a:t>
            </a:r>
          </a:p>
          <a:p>
            <a:r>
              <a:rPr lang="en-US" dirty="0"/>
              <a:t>But if the function is </a:t>
            </a:r>
            <a:r>
              <a:rPr lang="en-US" b="1" dirty="0"/>
              <a:t>discontinuous</a:t>
            </a:r>
            <a:r>
              <a:rPr lang="en-US" dirty="0"/>
              <a:t>, then the series converges to the </a:t>
            </a:r>
            <a:r>
              <a:rPr lang="en-US" b="1" dirty="0"/>
              <a:t>average of the left-hand and right-hand limits</a:t>
            </a:r>
            <a:r>
              <a:rPr lang="en-US" dirty="0"/>
              <a:t>. Mathematically, that means:</a:t>
            </a:r>
          </a:p>
          <a:p>
            <a:r>
              <a:rPr lang="en-US" b="1" dirty="0"/>
              <a:t>S of x equals one-half times f of x from the left, plus f of x from the right</a:t>
            </a:r>
            <a:endParaRPr lang="en-US" dirty="0"/>
          </a:p>
          <a:p>
            <a:endParaRPr lang="en-US" dirty="0"/>
          </a:p>
          <a:p>
            <a:r>
              <a:rPr lang="en-US" dirty="0"/>
              <a:t>So the series doesn’t “miss” the function entirely at the jump—it just lands at the midpoint. This is a subtle but important point: the Fourier series always converges to </a:t>
            </a:r>
            <a:r>
              <a:rPr lang="en-US" b="1" dirty="0"/>
              <a:t>something</a:t>
            </a:r>
            <a:r>
              <a:rPr lang="en-US" dirty="0"/>
              <a:t>, and that something is precisely defined.</a:t>
            </a:r>
          </a:p>
          <a:p>
            <a:r>
              <a:rPr lang="en-US" dirty="0"/>
              <a:t>In summary, finite Fourier series work very well across most of the domain, but they introduce oscillations and errors around jumps. That’s an inherent limitation of this type of approximation—and next, we’ll give this behavior a name and look more closely at its mathematical structure.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46</a:t>
            </a:fld>
            <a:endParaRPr lang="en-US"/>
          </a:p>
        </p:txBody>
      </p:sp>
    </p:spTree>
    <p:extLst>
      <p:ext uri="{BB962C8B-B14F-4D97-AF65-F5344CB8AC3E}">
        <p14:creationId xmlns:p14="http://schemas.microsoft.com/office/powerpoint/2010/main" val="19790920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Now here’s something truly fascinating—and unavoidable—when working with Fourier series. It’s known as the </a:t>
            </a:r>
            <a:r>
              <a:rPr lang="en-US" b="1" dirty="0"/>
              <a:t>Gibbs effect</a:t>
            </a:r>
            <a:r>
              <a:rPr lang="en-US" dirty="0"/>
              <a:t>.</a:t>
            </a:r>
          </a:p>
          <a:p>
            <a:endParaRPr lang="en-US" dirty="0"/>
          </a:p>
          <a:p>
            <a:r>
              <a:rPr lang="en-US" dirty="0"/>
              <a:t>Let’s revisit what we saw on the previous slide. When we try to approximate a function with a sudden jump, like our square wave, the Fourier series doesn’t quite nail the jump. Instead, it creates an </a:t>
            </a:r>
            <a:r>
              <a:rPr lang="en-US" b="1" dirty="0"/>
              <a:t>oscillatory overshoot</a:t>
            </a:r>
            <a:r>
              <a:rPr lang="en-US" dirty="0"/>
              <a:t> near the point of discontinuity. You can see these ripples in the red-highlighted regions on this plot.</a:t>
            </a:r>
          </a:p>
          <a:p>
            <a:endParaRPr lang="en-US" dirty="0"/>
          </a:p>
          <a:p>
            <a:r>
              <a:rPr lang="en-US" dirty="0"/>
              <a:t>What’s important to understand here is that this overshoot doesn’t disappear—even if we use hundreds or thousands of terms. Yes, the oscillations become more tightly packed, clustering closer to the jump. But the </a:t>
            </a:r>
            <a:r>
              <a:rPr lang="en-US" b="1" dirty="0"/>
              <a:t>height of the overshoot</a:t>
            </a:r>
            <a:r>
              <a:rPr lang="en-US" dirty="0"/>
              <a:t>—the peak error—</a:t>
            </a:r>
            <a:r>
              <a:rPr lang="en-US" b="1" dirty="0"/>
              <a:t>does not go away</a:t>
            </a:r>
            <a:r>
              <a:rPr lang="en-US" dirty="0"/>
              <a:t>.</a:t>
            </a:r>
          </a:p>
          <a:p>
            <a:r>
              <a:rPr lang="en-US" dirty="0"/>
              <a:t>It approaches a fixed value—about </a:t>
            </a:r>
            <a:r>
              <a:rPr lang="en-US" b="1" dirty="0"/>
              <a:t>9 percent</a:t>
            </a:r>
            <a:r>
              <a:rPr lang="en-US" dirty="0"/>
              <a:t> of the jump in the function. That’s the defining feature of the Gibbs effect.</a:t>
            </a:r>
          </a:p>
          <a:p>
            <a:endParaRPr lang="en-US" dirty="0"/>
          </a:p>
          <a:p>
            <a:r>
              <a:rPr lang="en-US" dirty="0"/>
              <a:t>So why does this happen? Well, the Fourier series is built from smooth, continuous waves—like sines and cosines or complex exponentials. But when we try to represent a sharp edge—a discontinuity—using only smooth components, we hit a fundamental limit. There’s no perfect way to form a step out of waves.</a:t>
            </a:r>
          </a:p>
          <a:p>
            <a:r>
              <a:rPr lang="en-US" dirty="0"/>
              <a:t>This mismatch creates those persistent ripples. It’s not a bug in the method—it’s a deep mathematical truth.</a:t>
            </a:r>
          </a:p>
          <a:p>
            <a:endParaRPr lang="en-US" dirty="0"/>
          </a:p>
          <a:p>
            <a:r>
              <a:rPr lang="en-US" dirty="0"/>
              <a:t>So even though the Fourier approximation converges pointwise almost everywhere, and even in the sense of least squares, </a:t>
            </a:r>
            <a:r>
              <a:rPr lang="en-US" b="1" dirty="0"/>
              <a:t>it never perfectly resolves a jump</a:t>
            </a:r>
            <a:r>
              <a:rPr lang="en-US" dirty="0"/>
              <a:t>. This is especially important in applications like signal processing or image reconstruction, where sharp edges and sudden transitions often appear.</a:t>
            </a:r>
          </a:p>
          <a:p>
            <a:r>
              <a:rPr lang="en-US" dirty="0"/>
              <a:t>The takeaway is: when you see these ringing effects around edges in a Fourier approximation, you're witnessing the Gibbs effect in action.</a:t>
            </a:r>
          </a:p>
          <a:p>
            <a:r>
              <a:rPr lang="en-US" dirty="0"/>
              <a:t>Let’s now bring all this together with a final reflection on what we’ve learned from the square wave example.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47</a:t>
            </a:fld>
            <a:endParaRPr lang="en-US"/>
          </a:p>
        </p:txBody>
      </p:sp>
    </p:spTree>
    <p:extLst>
      <p:ext uri="{BB962C8B-B14F-4D97-AF65-F5344CB8AC3E}">
        <p14:creationId xmlns:p14="http://schemas.microsoft.com/office/powerpoint/2010/main" val="31609422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far, we’ve assumed that the function we’re analyzing is periodic with a period of one. But in real applications, that’s not always the case. The period might be two, five, or even some irrational number like pi. So how do we handle that?</a:t>
            </a:r>
          </a:p>
          <a:p>
            <a:endParaRPr lang="en-US" dirty="0"/>
          </a:p>
          <a:p>
            <a:r>
              <a:rPr lang="en-US" dirty="0"/>
              <a:t>It turns out the Fourier series still works perfectly—we just need to adjust our formula to account for the actual period, which we’ll call capital T.</a:t>
            </a:r>
          </a:p>
          <a:p>
            <a:r>
              <a:rPr lang="en-US" dirty="0"/>
              <a:t>The idea is simple: we scale the time variable by dividing it by T. That way, we bring the problem back into a familiar form—similar to what we did when the period was one.</a:t>
            </a:r>
          </a:p>
          <a:p>
            <a:endParaRPr lang="en-US" dirty="0"/>
          </a:p>
          <a:p>
            <a:r>
              <a:rPr lang="en-US" dirty="0"/>
              <a:t>So the Fourier series becomes:</a:t>
            </a:r>
          </a:p>
          <a:p>
            <a:r>
              <a:rPr lang="en-US" b="1" dirty="0"/>
              <a:t>f of t equals the sum over all n from negative infinity to infinity of c n times e to the power </a:t>
            </a:r>
            <a:r>
              <a:rPr lang="en-US" b="1" dirty="0" err="1"/>
              <a:t>i</a:t>
            </a:r>
            <a:r>
              <a:rPr lang="en-US" b="1" dirty="0"/>
              <a:t> 2 pi n t over T.</a:t>
            </a:r>
            <a:endParaRPr lang="en-US" dirty="0"/>
          </a:p>
          <a:p>
            <a:endParaRPr lang="en-US" dirty="0"/>
          </a:p>
          <a:p>
            <a:r>
              <a:rPr lang="en-US" dirty="0"/>
              <a:t>Let me say that again more slowly:</a:t>
            </a:r>
          </a:p>
          <a:p>
            <a:r>
              <a:rPr lang="en-US" dirty="0"/>
              <a:t>We write the function f of t as the sum of c n times e raised to the power </a:t>
            </a:r>
            <a:r>
              <a:rPr lang="en-US" dirty="0" err="1"/>
              <a:t>i</a:t>
            </a:r>
            <a:r>
              <a:rPr lang="en-US" dirty="0"/>
              <a:t> times two pi times n times t divided by T.</a:t>
            </a:r>
          </a:p>
          <a:p>
            <a:r>
              <a:rPr lang="en-US" dirty="0"/>
              <a:t>Now what about the coefficients?</a:t>
            </a:r>
          </a:p>
          <a:p>
            <a:r>
              <a:rPr lang="en-US" dirty="0"/>
              <a:t>We compute c n using an integral over one full period. And we have two equivalent options for that:</a:t>
            </a:r>
          </a:p>
          <a:p>
            <a:endParaRPr lang="en-US" dirty="0"/>
          </a:p>
          <a:p>
            <a:r>
              <a:rPr lang="en-US" dirty="0"/>
              <a:t>First option:</a:t>
            </a:r>
          </a:p>
          <a:p>
            <a:r>
              <a:rPr lang="en-US" b="1" dirty="0"/>
              <a:t>c n equals one over T times the integral from zero to capital T of f of t times e to the power negative </a:t>
            </a:r>
            <a:r>
              <a:rPr lang="en-US" b="1" dirty="0" err="1"/>
              <a:t>i</a:t>
            </a:r>
            <a:r>
              <a:rPr lang="en-US" b="1" dirty="0"/>
              <a:t> 2 pi n t over T, integrated with respect to t.</a:t>
            </a:r>
            <a:endParaRPr lang="en-US" dirty="0"/>
          </a:p>
          <a:p>
            <a:r>
              <a:rPr lang="en-US" dirty="0"/>
              <a:t>Or, second option:</a:t>
            </a:r>
          </a:p>
          <a:p>
            <a:r>
              <a:rPr lang="en-US" b="1" dirty="0"/>
              <a:t>c n equals one over T times the integral from negative T over 2 to positive T over 2 of f of t times e to the power negative </a:t>
            </a:r>
            <a:r>
              <a:rPr lang="en-US" b="1" dirty="0" err="1"/>
              <a:t>i</a:t>
            </a:r>
            <a:r>
              <a:rPr lang="en-US" b="1" dirty="0"/>
              <a:t> 2 pi n t over T, again integrated with respect to t.</a:t>
            </a:r>
          </a:p>
          <a:p>
            <a:endParaRPr lang="en-US" dirty="0"/>
          </a:p>
          <a:p>
            <a:r>
              <a:rPr lang="en-US" dirty="0"/>
              <a:t>Either form works. The only difference is the range of integration—whether you go from zero to T or from minus T over 2 to plus T over 2.</a:t>
            </a:r>
          </a:p>
          <a:p>
            <a:endParaRPr lang="en-US" dirty="0"/>
          </a:p>
          <a:p>
            <a:r>
              <a:rPr lang="en-US" dirty="0"/>
              <a:t>So what’s the takeaway?</a:t>
            </a:r>
          </a:p>
          <a:p>
            <a:r>
              <a:rPr lang="en-US" dirty="0"/>
              <a:t>This is just a change of variable. We're scaling time so that the period becomes one, applying all our previous results, and then scaling back.</a:t>
            </a:r>
          </a:p>
          <a:p>
            <a:endParaRPr lang="en-US" dirty="0"/>
          </a:p>
          <a:p>
            <a:r>
              <a:rPr lang="en-US" dirty="0"/>
              <a:t>This gives us a general version of the Fourier series that works for any period—not just the special case where the period is one.</a:t>
            </a:r>
          </a:p>
          <a:p>
            <a:r>
              <a:rPr lang="en-US" dirty="0"/>
              <a:t>And this flexibility is exactly what makes the Fourier series so powerful. It adapts easily to the structure of whatever signal you're analyzing.</a:t>
            </a:r>
          </a:p>
          <a:p>
            <a:r>
              <a:rPr lang="en-US" dirty="0"/>
              <a:t>Up next, we’ll take this idea even further and connect it to the Fourier transform, which is what happens when the period becomes infinitely large.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48</a:t>
            </a:fld>
            <a:endParaRPr lang="en-US"/>
          </a:p>
        </p:txBody>
      </p:sp>
    </p:spTree>
    <p:extLst>
      <p:ext uri="{BB962C8B-B14F-4D97-AF65-F5344CB8AC3E}">
        <p14:creationId xmlns:p14="http://schemas.microsoft.com/office/powerpoint/2010/main" val="15986227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Up to this point, everything we’ve talked about has been in one dimension. But in real-world applications—especially in imaging—we usually work with two-dimensional data. Think about a photograph, a CT slice, or an MRI frame. These are functions of two variables, not just one.</a:t>
            </a:r>
          </a:p>
          <a:p>
            <a:r>
              <a:rPr lang="en-US" dirty="0"/>
              <a:t>So, does the Fourier series still apply? Absolutely. In fact, the transition to two dimensions is very smooth and intuitive.</a:t>
            </a:r>
          </a:p>
          <a:p>
            <a:endParaRPr lang="en-US" dirty="0"/>
          </a:p>
          <a:p>
            <a:r>
              <a:rPr lang="en-US" dirty="0"/>
              <a:t>Let’s start with the formula at the top. This is the </a:t>
            </a:r>
            <a:r>
              <a:rPr lang="en-US" b="1" dirty="0"/>
              <a:t>2D Fourier transform</a:t>
            </a:r>
            <a:r>
              <a:rPr lang="en-US" dirty="0"/>
              <a:t>, or more precisely, the 2D discrete Fourier series. It converts a spatial domain function into a frequency domain representation.</a:t>
            </a:r>
          </a:p>
          <a:p>
            <a:endParaRPr lang="en-US" dirty="0"/>
          </a:p>
          <a:p>
            <a:r>
              <a:rPr lang="en-US" dirty="0"/>
              <a:t>We begin with a function f of m and n. Here, m and n are the spatial coordinates, like pixel row and column indices.</a:t>
            </a:r>
          </a:p>
          <a:p>
            <a:r>
              <a:rPr lang="en-US" dirty="0"/>
              <a:t>Then we compute </a:t>
            </a:r>
            <a:r>
              <a:rPr lang="en-US" b="1" dirty="0"/>
              <a:t>the capital F of x and y</a:t>
            </a:r>
            <a:r>
              <a:rPr lang="en-US" dirty="0"/>
              <a:t>, which is the frequency-domain representation of the image. We get it using a double summation—from m equals 0 to M minus 1, and from n equals 0 to N minus 1.</a:t>
            </a:r>
          </a:p>
          <a:p>
            <a:r>
              <a:rPr lang="en-US" dirty="0"/>
              <a:t>Each term in the sum includes </a:t>
            </a:r>
            <a:r>
              <a:rPr lang="en-US" b="1" dirty="0"/>
              <a:t>f of m and n</a:t>
            </a:r>
            <a:r>
              <a:rPr lang="en-US" dirty="0"/>
              <a:t>, multiplied by a complex exponential:</a:t>
            </a:r>
            <a:br>
              <a:rPr lang="en-US" dirty="0"/>
            </a:br>
            <a:r>
              <a:rPr lang="en-US" b="1" dirty="0"/>
              <a:t>e to the power negative j 2 pi times x times m over M plus y times n over N.</a:t>
            </a:r>
            <a:endParaRPr lang="en-US" dirty="0"/>
          </a:p>
          <a:p>
            <a:r>
              <a:rPr lang="en-US" dirty="0"/>
              <a:t>This is just the 2D extension of what we did before in 1D—now applied along both spatial directions.</a:t>
            </a:r>
          </a:p>
          <a:p>
            <a:endParaRPr lang="en-US" dirty="0"/>
          </a:p>
          <a:p>
            <a:r>
              <a:rPr lang="en-US" dirty="0"/>
              <a:t>Next, let’s look at the inverse transform—the formula at the bottom.</a:t>
            </a:r>
          </a:p>
          <a:p>
            <a:r>
              <a:rPr lang="en-US" dirty="0"/>
              <a:t>Here, we reconstruct the original image, </a:t>
            </a:r>
            <a:r>
              <a:rPr lang="en-US" b="1" dirty="0"/>
              <a:t>f of m and n</a:t>
            </a:r>
            <a:r>
              <a:rPr lang="en-US" dirty="0"/>
              <a:t>, from its frequency components, </a:t>
            </a:r>
            <a:r>
              <a:rPr lang="en-US" b="1" dirty="0"/>
              <a:t>F of x and y</a:t>
            </a:r>
            <a:r>
              <a:rPr lang="en-US" dirty="0"/>
              <a:t>. Again, we use a double summation ranging from 0 to M minus 1 and N minus 1.</a:t>
            </a:r>
          </a:p>
          <a:p>
            <a:r>
              <a:rPr lang="en-US" dirty="0"/>
              <a:t>And we add a normalization factor of </a:t>
            </a:r>
            <a:r>
              <a:rPr lang="en-US" b="1" dirty="0"/>
              <a:t>1 divided by M times N</a:t>
            </a:r>
            <a:r>
              <a:rPr lang="en-US" dirty="0"/>
              <a:t>.</a:t>
            </a:r>
          </a:p>
          <a:p>
            <a:r>
              <a:rPr lang="en-US" dirty="0"/>
              <a:t>The exponential now becomes:</a:t>
            </a:r>
            <a:br>
              <a:rPr lang="en-US" dirty="0"/>
            </a:br>
            <a:r>
              <a:rPr lang="en-US" b="1" dirty="0"/>
              <a:t>e to the power positive j 2 pi times x times m over M plus y times n over N.</a:t>
            </a:r>
          </a:p>
          <a:p>
            <a:endParaRPr lang="en-US" dirty="0"/>
          </a:p>
          <a:p>
            <a:r>
              <a:rPr lang="en-US" dirty="0"/>
              <a:t>So once again, we’re projecting onto a set of complex exponential basis functions—just like in the 1D case, but now expanded to two dimensions.</a:t>
            </a:r>
          </a:p>
          <a:p>
            <a:r>
              <a:rPr lang="en-US" dirty="0"/>
              <a:t>This idea even extends naturally to three dimensions, which is useful for things like volumetric imaging, 3D scans, or dynamic time-sequence data in medical imaging.</a:t>
            </a:r>
          </a:p>
          <a:p>
            <a:endParaRPr lang="en-US" dirty="0"/>
          </a:p>
          <a:p>
            <a:r>
              <a:rPr lang="en-US" dirty="0"/>
              <a:t>So to summarize: the 2D Fourier series gives us a powerful way to analyze images in terms of spatial frequencies. It's conceptually the same as the 1D case—just applied in two directions simultaneously.</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49</a:t>
            </a:fld>
            <a:endParaRPr lang="en-US"/>
          </a:p>
        </p:txBody>
      </p:sp>
    </p:spTree>
    <p:extLst>
      <p:ext uri="{BB962C8B-B14F-4D97-AF65-F5344CB8AC3E}">
        <p14:creationId xmlns:p14="http://schemas.microsoft.com/office/powerpoint/2010/main" val="11730053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this brings us to your homework assignment.</a:t>
            </a:r>
          </a:p>
          <a:p>
            <a:endParaRPr lang="en-US" dirty="0"/>
          </a:p>
          <a:p>
            <a:r>
              <a:rPr lang="en-US" dirty="0"/>
              <a:t>First, I’d like you to derive the formulas for the Fourier series coefficients using real-valued notation—just like we discussed today. Go through the reasoning step by step, and try to develop some familiarity with the structure of these expressions. Think of it as reinforcing what we’ve covered, not just repeating it.</a:t>
            </a:r>
          </a:p>
          <a:p>
            <a:r>
              <a:rPr lang="en-US" dirty="0"/>
              <a:t>Second, watch the YouTube video linked here, and use it as a guide to implement the square wave example we worked through. This will give you hands-on experience with how the Fourier series behaves—especially when approximating functions with sharp transitions. </a:t>
            </a:r>
          </a:p>
          <a:p>
            <a:endParaRPr lang="en-US" dirty="0"/>
          </a:p>
          <a:p>
            <a:r>
              <a:rPr lang="en-US" dirty="0"/>
              <a:t>This topic is a bit more involved than convolution, so I recommend reviewing the lecture carefully. But if you get the hang of it, you’ll find the transition to the Fourier transform much smoother in the next lecture.</a:t>
            </a:r>
          </a:p>
          <a:p>
            <a:r>
              <a:rPr lang="en-US" dirty="0"/>
              <a:t>Good luck—and see you next time.</a:t>
            </a:r>
          </a:p>
          <a:p>
            <a:endParaRPr lang="en-US" dirty="0"/>
          </a:p>
        </p:txBody>
      </p:sp>
      <p:sp>
        <p:nvSpPr>
          <p:cNvPr id="4" name="Slide Number Placeholder 3"/>
          <p:cNvSpPr>
            <a:spLocks noGrp="1"/>
          </p:cNvSpPr>
          <p:nvPr>
            <p:ph type="sldNum" sz="quarter" idx="5"/>
          </p:nvPr>
        </p:nvSpPr>
        <p:spPr/>
        <p:txBody>
          <a:bodyPr/>
          <a:lstStyle/>
          <a:p>
            <a:fld id="{9F30534E-9FB8-46AE-8E3B-5675B268AE6A}" type="slidenum">
              <a:rPr lang="en-US" smtClean="0"/>
              <a:pPr/>
              <a:t>50</a:t>
            </a:fld>
            <a:endParaRPr lang="en-US"/>
          </a:p>
        </p:txBody>
      </p:sp>
    </p:spTree>
    <p:extLst>
      <p:ext uri="{BB962C8B-B14F-4D97-AF65-F5344CB8AC3E}">
        <p14:creationId xmlns:p14="http://schemas.microsoft.com/office/powerpoint/2010/main" val="551110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endParaRPr lang="en-US" sz="2400"/>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endParaRPr lang="en-US" sz="2400"/>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endParaRPr lang="en-US" sz="2400"/>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endParaRPr lang="en-US" sz="2400"/>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endParaRPr 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sz="2800" b="1"/>
            </a:lvl1pPr>
          </a:lstStyle>
          <a:p>
            <a:pPr lvl="0"/>
            <a:r>
              <a:rPr lang="en-US" dirty="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42551609-7012-4524-8F91-CAEC89A8DA26}" type="slidenum">
              <a:rPr lang="en-US"/>
              <a:pPr/>
              <a:t>‹#›</a:t>
            </a:fld>
            <a:endParaRPr 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EC38EB37-9F67-488F-AFCB-318363D4DA79}" type="slidenum">
              <a:rPr lang="en-US"/>
              <a:pPr/>
              <a:t>‹#›</a:t>
            </a:fld>
            <a:endParaRPr lang="en-US">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fld id="{325EC937-4EEB-42FF-9745-F8ECC712C67B}" type="slidenum">
              <a:rPr lang="en-US"/>
              <a:pPr/>
              <a:t>‹#›</a:t>
            </a:fld>
            <a:endParaRPr lang="en-US">
              <a:solidFill>
                <a:schemeClr val="tx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fld id="{26E09F27-08E5-47E1-9081-CDEF6FA99715}" type="slidenum">
              <a:rPr lang="en-US"/>
              <a:pPr/>
              <a:t>‹#›</a:t>
            </a:fld>
            <a:endParaRPr lang="en-US">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fld id="{CC251E47-B223-48F4-A299-CE4A766087D6}" type="slidenum">
              <a:rPr lang="en-US"/>
              <a:pPr/>
              <a:t>‹#›</a:t>
            </a:fld>
            <a:endParaRPr lang="en-US">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5BB27830-E813-4D5B-BECC-EB4E76333BEB}" type="slidenum">
              <a:rPr lang="en-US"/>
              <a:pPr/>
              <a:t>‹#›</a:t>
            </a:fld>
            <a:endParaRPr lang="en-US">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fld id="{8950E5CE-EF1E-495C-8D34-E9307ADFFB20}" type="slidenum">
              <a:rPr lang="en-US"/>
              <a:pPr/>
              <a:t>‹#›</a:t>
            </a:fld>
            <a:endParaRPr lang="en-US">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EDA7D03F-0D9F-4D6E-A9DA-DA22B08C88FB}" type="slidenum">
              <a:rPr lang="en-US"/>
              <a:pPr/>
              <a:t>‹#›</a:t>
            </a:fld>
            <a:endParaRPr lang="en-US">
              <a:solidFill>
                <a:schemeClr val="tx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fld id="{5D488692-0FB6-433E-9CFB-08D03A34DD8A}" type="slidenum">
              <a:rPr lang="en-US"/>
              <a:pPr/>
              <a:t>‹#›</a:t>
            </a:fld>
            <a:endParaRPr lang="en-US">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endParaRPr lang="en-US" sz="2400"/>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endParaRPr lang="en-US" sz="2400"/>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endParaRPr 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oleObject" Target="../embeddings/oleObject3.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hyperlink" Target="http://www.google.com/url?sa=i&amp;rct=j&amp;q=&amp;esrc=s&amp;frm=1&amp;source=images&amp;cd=&amp;cad=rja&amp;docid=2BIZt-NWIhUB5M&amp;tbnid=WC1hfJ0ArOEJsM:&amp;ved=0CAUQjRw&amp;url=http://biblumliteraria.blogspot.com/2012_03_11_archive.html&amp;ei=H9ksUq25JMLD4AO3i4GwCw&amp;bvm=bv.51773540,d.dmg&amp;psig=AFQjCNEttqry9jOx7ObwzhKBRHylUFVwow&amp;ust=1378757209043556"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ccp14.ac.uk/ccp/web-mirrors/klaus_eichele_software/klaus/nmr/conventions/euler/euler.ht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oleObject" Target="../embeddings/oleObject7.bin"/><Relationship Id="rId4" Type="http://schemas.openxmlformats.org/officeDocument/2006/relationships/image" Target="../media/image35.wmf"/></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1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62.wmf"/><Relationship Id="rId5" Type="http://schemas.openxmlformats.org/officeDocument/2006/relationships/oleObject" Target="../embeddings/oleObject10.bin"/><Relationship Id="rId4" Type="http://schemas.openxmlformats.org/officeDocument/2006/relationships/image" Target="../media/image61.wmf"/><Relationship Id="rId9" Type="http://schemas.openxmlformats.org/officeDocument/2006/relationships/image" Target="../media/image9.png"/></Relationships>
</file>

<file path=ppt/slides/_rels/slide3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3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gif"/><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9"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39.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8" Type="http://schemas.openxmlformats.org/officeDocument/2006/relationships/image" Target="../media/image91.wmf"/><Relationship Id="rId13" Type="http://schemas.openxmlformats.org/officeDocument/2006/relationships/oleObject" Target="../embeddings/oleObject17.bin"/><Relationship Id="rId18" Type="http://schemas.openxmlformats.org/officeDocument/2006/relationships/image" Target="../media/image96.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93.wmf"/><Relationship Id="rId17" Type="http://schemas.openxmlformats.org/officeDocument/2006/relationships/oleObject" Target="../embeddings/oleObject19.bin"/><Relationship Id="rId2" Type="http://schemas.openxmlformats.org/officeDocument/2006/relationships/notesSlide" Target="../notesSlides/notesSlide43.xml"/><Relationship Id="rId16" Type="http://schemas.openxmlformats.org/officeDocument/2006/relationships/image" Target="../media/image95.wmf"/><Relationship Id="rId1" Type="http://schemas.openxmlformats.org/officeDocument/2006/relationships/slideLayout" Target="../slideLayouts/slideLayout7.xml"/><Relationship Id="rId6" Type="http://schemas.openxmlformats.org/officeDocument/2006/relationships/image" Target="../media/image90.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92.wmf"/><Relationship Id="rId4" Type="http://schemas.openxmlformats.org/officeDocument/2006/relationships/image" Target="../media/image89.wmf"/><Relationship Id="rId9" Type="http://schemas.openxmlformats.org/officeDocument/2006/relationships/oleObject" Target="../embeddings/oleObject15.bin"/><Relationship Id="rId14" Type="http://schemas.openxmlformats.org/officeDocument/2006/relationships/image" Target="../media/image94.wmf"/></Relationships>
</file>

<file path=ppt/slides/_rels/slide4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101.png"/></Relationships>
</file>

<file path=ppt/slides/_rels/slide4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49.xml.rels><?xml version="1.0" encoding="UTF-8" standalone="yes"?>
<Relationships xmlns="http://schemas.openxmlformats.org/package/2006/relationships"><Relationship Id="rId3" Type="http://schemas.openxmlformats.org/officeDocument/2006/relationships/image" Target="../media/image104.gi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www.youtube.com/watch?v=05jUkVtIwVs"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4896962"/>
            <a:ext cx="9144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0"/>
              </a:spcBef>
              <a:spcAft>
                <a:spcPts val="300"/>
              </a:spcAft>
            </a:pPr>
            <a:r>
              <a:rPr lang="en-US" sz="2400" dirty="0">
                <a:solidFill>
                  <a:schemeClr val="tx1"/>
                </a:solidFill>
              </a:rPr>
              <a:t>38655 BMED-2300-02</a:t>
            </a:r>
          </a:p>
          <a:p>
            <a:pPr algn="ctr">
              <a:lnSpc>
                <a:spcPct val="80000"/>
              </a:lnSpc>
              <a:spcBef>
                <a:spcPts val="600"/>
              </a:spcBef>
              <a:spcAft>
                <a:spcPts val="600"/>
              </a:spcAft>
            </a:pPr>
            <a:r>
              <a:rPr lang="en-US" sz="4400" b="1" dirty="0">
                <a:solidFill>
                  <a:schemeClr val="tx1"/>
                </a:solidFill>
              </a:rPr>
              <a:t>Lecture 5: Fourier Series</a:t>
            </a:r>
          </a:p>
          <a:p>
            <a:pPr algn="ctr">
              <a:lnSpc>
                <a:spcPct val="80000"/>
              </a:lnSpc>
              <a:spcBef>
                <a:spcPts val="0"/>
              </a:spcBef>
              <a:spcAft>
                <a:spcPts val="300"/>
              </a:spcAft>
            </a:pPr>
            <a:r>
              <a:rPr lang="en-US" sz="2400" dirty="0">
                <a:solidFill>
                  <a:schemeClr val="tx1"/>
                </a:solidFill>
              </a:rPr>
              <a:t>Ge Wang, PhD</a:t>
            </a:r>
          </a:p>
          <a:p>
            <a:pPr algn="ctr">
              <a:lnSpc>
                <a:spcPct val="80000"/>
              </a:lnSpc>
              <a:spcBef>
                <a:spcPts val="0"/>
              </a:spcBef>
              <a:spcAft>
                <a:spcPts val="300"/>
              </a:spcAft>
            </a:pPr>
            <a:r>
              <a:rPr lang="en-US" sz="2400" dirty="0">
                <a:solidFill>
                  <a:schemeClr val="tx1"/>
                </a:solidFill>
              </a:rPr>
              <a:t>Biomedical Imaging Center</a:t>
            </a:r>
          </a:p>
          <a:p>
            <a:pPr algn="ctr">
              <a:lnSpc>
                <a:spcPct val="80000"/>
              </a:lnSpc>
              <a:spcBef>
                <a:spcPts val="0"/>
              </a:spcBef>
              <a:spcAft>
                <a:spcPts val="300"/>
              </a:spcAft>
            </a:pPr>
            <a:r>
              <a:rPr lang="en-US" sz="2400" dirty="0">
                <a:solidFill>
                  <a:schemeClr val="tx1"/>
                </a:solidFill>
              </a:rPr>
              <a:t>CBIS/BME, RPI</a:t>
            </a:r>
          </a:p>
          <a:p>
            <a:pPr algn="ctr">
              <a:lnSpc>
                <a:spcPct val="80000"/>
              </a:lnSpc>
              <a:spcBef>
                <a:spcPts val="0"/>
              </a:spcBef>
              <a:spcAft>
                <a:spcPts val="300"/>
              </a:spcAft>
            </a:pPr>
            <a:r>
              <a:rPr lang="en-US" sz="2400" dirty="0">
                <a:solidFill>
                  <a:schemeClr val="tx1"/>
                </a:solidFill>
              </a:rPr>
              <a:t>wangg6@rpi.edu</a:t>
            </a:r>
          </a:p>
          <a:p>
            <a:pPr algn="ctr">
              <a:lnSpc>
                <a:spcPct val="80000"/>
              </a:lnSpc>
              <a:spcBef>
                <a:spcPts val="0"/>
              </a:spcBef>
              <a:spcAft>
                <a:spcPts val="300"/>
              </a:spcAft>
            </a:pPr>
            <a:endParaRPr lang="en-US" sz="2400" dirty="0">
              <a:solidFill>
                <a:schemeClr val="tx1"/>
              </a:solidFill>
            </a:endParaRPr>
          </a:p>
          <a:p>
            <a:pPr algn="ct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spTree>
    <p:extLst>
      <p:ext uri="{BB962C8B-B14F-4D97-AF65-F5344CB8AC3E}">
        <p14:creationId xmlns:p14="http://schemas.microsoft.com/office/powerpoint/2010/main" val="4111854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and green table with white text&#10;&#10;AI-generated content may be incorrect.">
            <a:extLst>
              <a:ext uri="{FF2B5EF4-FFF2-40B4-BE49-F238E27FC236}">
                <a16:creationId xmlns:a16="http://schemas.microsoft.com/office/drawing/2014/main" id="{8CCE4C12-E496-554C-BCEB-C9716490B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13" y="-52192"/>
            <a:ext cx="9144000" cy="6910192"/>
          </a:xfrm>
          <a:prstGeom prst="rect">
            <a:avLst/>
          </a:prstGeom>
        </p:spPr>
      </p:pic>
    </p:spTree>
    <p:extLst>
      <p:ext uri="{BB962C8B-B14F-4D97-AF65-F5344CB8AC3E}">
        <p14:creationId xmlns:p14="http://schemas.microsoft.com/office/powerpoint/2010/main" val="4023031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pic>
        <p:nvPicPr>
          <p:cNvPr id="4" name="Picture 3"/>
          <p:cNvPicPr>
            <a:picLocks noChangeAspect="1"/>
          </p:cNvPicPr>
          <p:nvPr/>
        </p:nvPicPr>
        <p:blipFill>
          <a:blip r:embed="rId3"/>
          <a:stretch>
            <a:fillRect/>
          </a:stretch>
        </p:blipFill>
        <p:spPr>
          <a:xfrm>
            <a:off x="1716405" y="2459160"/>
            <a:ext cx="8759188" cy="1939681"/>
          </a:xfrm>
          <a:prstGeom prst="rect">
            <a:avLst/>
          </a:prstGeom>
        </p:spPr>
      </p:pic>
    </p:spTree>
    <p:extLst>
      <p:ext uri="{BB962C8B-B14F-4D97-AF65-F5344CB8AC3E}">
        <p14:creationId xmlns:p14="http://schemas.microsoft.com/office/powerpoint/2010/main" val="821782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Inner Product: </a:t>
            </a:r>
            <a:r>
              <a:rPr lang="en-US" sz="2800" b="0" dirty="0"/>
              <a:t>Sum of Products of Paired Data</a:t>
            </a:r>
          </a:p>
        </p:txBody>
      </p:sp>
      <p:pic>
        <p:nvPicPr>
          <p:cNvPr id="4" name="Picture 3"/>
          <p:cNvPicPr>
            <a:picLocks noChangeAspect="1"/>
          </p:cNvPicPr>
          <p:nvPr/>
        </p:nvPicPr>
        <p:blipFill>
          <a:blip r:embed="rId3"/>
          <a:stretch>
            <a:fillRect/>
          </a:stretch>
        </p:blipFill>
        <p:spPr>
          <a:xfrm>
            <a:off x="438790" y="1066800"/>
            <a:ext cx="8637483" cy="5791200"/>
          </a:xfrm>
          <a:prstGeom prst="rect">
            <a:avLst/>
          </a:prstGeom>
        </p:spPr>
      </p:pic>
      <p:sp>
        <p:nvSpPr>
          <p:cNvPr id="6" name="Rectangle 5"/>
          <p:cNvSpPr/>
          <p:nvPr/>
        </p:nvSpPr>
        <p:spPr bwMode="auto">
          <a:xfrm>
            <a:off x="2091334" y="4398746"/>
            <a:ext cx="1549667" cy="231007"/>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7" name="Rectangle 6"/>
          <p:cNvSpPr/>
          <p:nvPr/>
        </p:nvSpPr>
        <p:spPr bwMode="auto">
          <a:xfrm>
            <a:off x="2091332" y="2054994"/>
            <a:ext cx="3234090" cy="457201"/>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pic>
        <p:nvPicPr>
          <p:cNvPr id="3" name="Picture 2" descr="Image result for dna">
            <a:extLst>
              <a:ext uri="{FF2B5EF4-FFF2-40B4-BE49-F238E27FC236}">
                <a16:creationId xmlns:a16="http://schemas.microsoft.com/office/drawing/2014/main" id="{6717CFD2-0B62-5526-5CA9-BCFC00669D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9245" y="4385050"/>
            <a:ext cx="2320550" cy="232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75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Inner Product from Linear System</a:t>
            </a:r>
          </a:p>
        </p:txBody>
      </p:sp>
      <p:sp>
        <p:nvSpPr>
          <p:cNvPr id="7" name="Title 4"/>
          <p:cNvSpPr txBox="1">
            <a:spLocks/>
          </p:cNvSpPr>
          <p:nvPr/>
        </p:nvSpPr>
        <p:spPr bwMode="auto">
          <a:xfrm>
            <a:off x="3598549" y="1014139"/>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8" name="Title 4"/>
          <p:cNvSpPr txBox="1">
            <a:spLocks/>
          </p:cNvSpPr>
          <p:nvPr/>
        </p:nvSpPr>
        <p:spPr bwMode="auto">
          <a:xfrm>
            <a:off x="2299790" y="1014139"/>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x(n)</a:t>
            </a:r>
          </a:p>
        </p:txBody>
      </p:sp>
      <p:sp>
        <p:nvSpPr>
          <p:cNvPr id="9" name="Title 4"/>
          <p:cNvSpPr txBox="1">
            <a:spLocks/>
          </p:cNvSpPr>
          <p:nvPr/>
        </p:nvSpPr>
        <p:spPr bwMode="auto">
          <a:xfrm>
            <a:off x="5034084" y="1014139"/>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y(n)</a:t>
            </a:r>
          </a:p>
        </p:txBody>
      </p:sp>
      <p:cxnSp>
        <p:nvCxnSpPr>
          <p:cNvPr id="3" name="Straight Arrow Connector 2"/>
          <p:cNvCxnSpPr/>
          <p:nvPr/>
        </p:nvCxnSpPr>
        <p:spPr bwMode="auto">
          <a:xfrm>
            <a:off x="3056184" y="1321502"/>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a:off x="4535363" y="1321502"/>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2" name="Title 4"/>
          <p:cNvSpPr txBox="1">
            <a:spLocks/>
          </p:cNvSpPr>
          <p:nvPr/>
        </p:nvSpPr>
        <p:spPr bwMode="auto">
          <a:xfrm>
            <a:off x="3598549" y="1891888"/>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3" name="Title 4"/>
          <p:cNvSpPr txBox="1">
            <a:spLocks/>
          </p:cNvSpPr>
          <p:nvPr/>
        </p:nvSpPr>
        <p:spPr bwMode="auto">
          <a:xfrm>
            <a:off x="2299790" y="1891888"/>
            <a:ext cx="765361"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δ(n)</a:t>
            </a:r>
          </a:p>
        </p:txBody>
      </p:sp>
      <p:sp>
        <p:nvSpPr>
          <p:cNvPr id="14" name="Title 4"/>
          <p:cNvSpPr txBox="1">
            <a:spLocks/>
          </p:cNvSpPr>
          <p:nvPr/>
        </p:nvSpPr>
        <p:spPr bwMode="auto">
          <a:xfrm>
            <a:off x="5034084" y="1891888"/>
            <a:ext cx="830239"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h(n)</a:t>
            </a:r>
          </a:p>
        </p:txBody>
      </p:sp>
      <p:cxnSp>
        <p:nvCxnSpPr>
          <p:cNvPr id="15" name="Straight Arrow Connector 14"/>
          <p:cNvCxnSpPr/>
          <p:nvPr/>
        </p:nvCxnSpPr>
        <p:spPr bwMode="auto">
          <a:xfrm>
            <a:off x="3023746" y="2199251"/>
            <a:ext cx="565838"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6" name="Straight Arrow Connector 15"/>
          <p:cNvCxnSpPr/>
          <p:nvPr/>
        </p:nvCxnSpPr>
        <p:spPr bwMode="auto">
          <a:xfrm>
            <a:off x="4535363" y="2199251"/>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7" name="Title 4"/>
          <p:cNvSpPr txBox="1">
            <a:spLocks/>
          </p:cNvSpPr>
          <p:nvPr/>
        </p:nvSpPr>
        <p:spPr bwMode="auto">
          <a:xfrm>
            <a:off x="3598549" y="2768846"/>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18" name="Title 4"/>
          <p:cNvSpPr txBox="1">
            <a:spLocks/>
          </p:cNvSpPr>
          <p:nvPr/>
        </p:nvSpPr>
        <p:spPr bwMode="auto">
          <a:xfrm>
            <a:off x="2007316" y="2768846"/>
            <a:ext cx="105783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δ(n-k)</a:t>
            </a:r>
          </a:p>
        </p:txBody>
      </p:sp>
      <p:sp>
        <p:nvSpPr>
          <p:cNvPr id="19" name="Title 4"/>
          <p:cNvSpPr txBox="1">
            <a:spLocks/>
          </p:cNvSpPr>
          <p:nvPr/>
        </p:nvSpPr>
        <p:spPr bwMode="auto">
          <a:xfrm>
            <a:off x="5034084" y="2768846"/>
            <a:ext cx="115420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h(n-k)</a:t>
            </a:r>
          </a:p>
        </p:txBody>
      </p:sp>
      <p:cxnSp>
        <p:nvCxnSpPr>
          <p:cNvPr id="20" name="Straight Arrow Connector 19"/>
          <p:cNvCxnSpPr/>
          <p:nvPr/>
        </p:nvCxnSpPr>
        <p:spPr bwMode="auto">
          <a:xfrm>
            <a:off x="3056184" y="3076209"/>
            <a:ext cx="53340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1" name="Straight Arrow Connector 20"/>
          <p:cNvCxnSpPr/>
          <p:nvPr/>
        </p:nvCxnSpPr>
        <p:spPr bwMode="auto">
          <a:xfrm>
            <a:off x="4535363" y="3076209"/>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3" name="Title 4"/>
          <p:cNvSpPr txBox="1">
            <a:spLocks/>
          </p:cNvSpPr>
          <p:nvPr/>
        </p:nvSpPr>
        <p:spPr bwMode="auto">
          <a:xfrm>
            <a:off x="3598549" y="3646289"/>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24" name="Title 4"/>
          <p:cNvSpPr txBox="1">
            <a:spLocks/>
          </p:cNvSpPr>
          <p:nvPr/>
        </p:nvSpPr>
        <p:spPr bwMode="auto">
          <a:xfrm>
            <a:off x="1370820" y="3646289"/>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x(k)δ(n-k)</a:t>
            </a:r>
          </a:p>
        </p:txBody>
      </p:sp>
      <p:sp>
        <p:nvSpPr>
          <p:cNvPr id="25" name="Title 4"/>
          <p:cNvSpPr txBox="1">
            <a:spLocks/>
          </p:cNvSpPr>
          <p:nvPr/>
        </p:nvSpPr>
        <p:spPr bwMode="auto">
          <a:xfrm>
            <a:off x="5034084" y="3646289"/>
            <a:ext cx="1936375"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26" name="Straight Arrow Connector 25"/>
          <p:cNvCxnSpPr/>
          <p:nvPr/>
        </p:nvCxnSpPr>
        <p:spPr bwMode="auto">
          <a:xfrm>
            <a:off x="3011362" y="3953652"/>
            <a:ext cx="57822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27" name="Straight Arrow Connector 26"/>
          <p:cNvCxnSpPr/>
          <p:nvPr/>
        </p:nvCxnSpPr>
        <p:spPr bwMode="auto">
          <a:xfrm>
            <a:off x="4535363" y="3953652"/>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29" name="Title 4"/>
          <p:cNvSpPr txBox="1">
            <a:spLocks/>
          </p:cNvSpPr>
          <p:nvPr/>
        </p:nvSpPr>
        <p:spPr bwMode="auto">
          <a:xfrm>
            <a:off x="3598549" y="4559831"/>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0" name="Title 4"/>
          <p:cNvSpPr txBox="1">
            <a:spLocks/>
          </p:cNvSpPr>
          <p:nvPr/>
        </p:nvSpPr>
        <p:spPr bwMode="auto">
          <a:xfrm>
            <a:off x="1370820" y="4559831"/>
            <a:ext cx="1694330"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x(k)δ(n-k)</a:t>
            </a:r>
          </a:p>
        </p:txBody>
      </p:sp>
      <p:sp>
        <p:nvSpPr>
          <p:cNvPr id="31" name="Title 4"/>
          <p:cNvSpPr txBox="1">
            <a:spLocks/>
          </p:cNvSpPr>
          <p:nvPr/>
        </p:nvSpPr>
        <p:spPr bwMode="auto">
          <a:xfrm>
            <a:off x="5683936" y="4559831"/>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32" name="Straight Arrow Connector 31"/>
          <p:cNvCxnSpPr/>
          <p:nvPr/>
        </p:nvCxnSpPr>
        <p:spPr bwMode="auto">
          <a:xfrm>
            <a:off x="3033774" y="4867194"/>
            <a:ext cx="555811"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33" name="Straight Arrow Connector 32"/>
          <p:cNvCxnSpPr/>
          <p:nvPr/>
        </p:nvCxnSpPr>
        <p:spPr bwMode="auto">
          <a:xfrm>
            <a:off x="4535363" y="4867194"/>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36" name="Title 4"/>
          <p:cNvSpPr txBox="1">
            <a:spLocks/>
          </p:cNvSpPr>
          <p:nvPr/>
        </p:nvSpPr>
        <p:spPr bwMode="auto">
          <a:xfrm>
            <a:off x="3598549" y="5859165"/>
            <a:ext cx="932330" cy="614726"/>
          </a:xfrm>
          <a:prstGeom prst="rect">
            <a:avLst/>
          </a:prstGeom>
          <a:noFill/>
          <a:ln w="38100">
            <a:solidFill>
              <a:schemeClr val="tx2"/>
            </a:solid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h</a:t>
            </a:r>
          </a:p>
        </p:txBody>
      </p:sp>
      <p:sp>
        <p:nvSpPr>
          <p:cNvPr id="37" name="Title 4"/>
          <p:cNvSpPr txBox="1">
            <a:spLocks/>
          </p:cNvSpPr>
          <p:nvPr/>
        </p:nvSpPr>
        <p:spPr bwMode="auto">
          <a:xfrm>
            <a:off x="2299788" y="5859165"/>
            <a:ext cx="765362"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r"/>
            <a:r>
              <a:rPr lang="en-US" sz="2400" i="1" kern="0" dirty="0"/>
              <a:t>x(n)</a:t>
            </a:r>
          </a:p>
        </p:txBody>
      </p:sp>
      <p:sp>
        <p:nvSpPr>
          <p:cNvPr id="38" name="Title 4"/>
          <p:cNvSpPr txBox="1">
            <a:spLocks/>
          </p:cNvSpPr>
          <p:nvPr/>
        </p:nvSpPr>
        <p:spPr bwMode="auto">
          <a:xfrm>
            <a:off x="5683936" y="5859165"/>
            <a:ext cx="1782884" cy="614726"/>
          </a:xfrm>
          <a:prstGeom prst="rect">
            <a:avLst/>
          </a:prstGeom>
          <a:noFill/>
          <a:ln w="38100">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r>
              <a:rPr lang="en-US" sz="2400" i="1" kern="0" dirty="0"/>
              <a:t>x(k)h(n-k)</a:t>
            </a:r>
          </a:p>
        </p:txBody>
      </p:sp>
      <p:cxnSp>
        <p:nvCxnSpPr>
          <p:cNvPr id="39" name="Straight Arrow Connector 38"/>
          <p:cNvCxnSpPr/>
          <p:nvPr/>
        </p:nvCxnSpPr>
        <p:spPr bwMode="auto">
          <a:xfrm>
            <a:off x="3056186" y="6166528"/>
            <a:ext cx="533399"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40" name="Straight Arrow Connector 39"/>
          <p:cNvCxnSpPr/>
          <p:nvPr/>
        </p:nvCxnSpPr>
        <p:spPr bwMode="auto">
          <a:xfrm>
            <a:off x="4535363" y="6166528"/>
            <a:ext cx="555812"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graphicFrame>
        <p:nvGraphicFramePr>
          <p:cNvPr id="44" name="Object 11"/>
          <p:cNvGraphicFramePr>
            <a:graphicFrameLocks noChangeAspect="1"/>
          </p:cNvGraphicFramePr>
          <p:nvPr>
            <p:extLst>
              <p:ext uri="{D42A27DB-BD31-4B8C-83A1-F6EECF244321}">
                <p14:modId xmlns:p14="http://schemas.microsoft.com/office/powerpoint/2010/main" val="2134127209"/>
              </p:ext>
            </p:extLst>
          </p:nvPr>
        </p:nvGraphicFramePr>
        <p:xfrm>
          <a:off x="809435" y="4175725"/>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4" name="Object 11"/>
                      <p:cNvPicPr>
                        <a:picLocks noChangeAspect="1" noChangeArrowheads="1"/>
                      </p:cNvPicPr>
                      <p:nvPr/>
                    </p:nvPicPr>
                    <p:blipFill>
                      <a:blip r:embed="rId4"/>
                      <a:srcRect/>
                      <a:stretch>
                        <a:fillRect/>
                      </a:stretch>
                    </p:blipFill>
                    <p:spPr bwMode="auto">
                      <a:xfrm>
                        <a:off x="809435" y="4175725"/>
                        <a:ext cx="1102657" cy="1382941"/>
                      </a:xfrm>
                      <a:prstGeom prst="rect">
                        <a:avLst/>
                      </a:prstGeom>
                      <a:noFill/>
                      <a:ln>
                        <a:noFill/>
                      </a:ln>
                      <a:effectLst/>
                    </p:spPr>
                  </p:pic>
                </p:oleObj>
              </mc:Fallback>
            </mc:AlternateContent>
          </a:graphicData>
        </a:graphic>
      </p:graphicFrame>
      <p:graphicFrame>
        <p:nvGraphicFramePr>
          <p:cNvPr id="45" name="Object 11"/>
          <p:cNvGraphicFramePr>
            <a:graphicFrameLocks noChangeAspect="1"/>
          </p:cNvGraphicFramePr>
          <p:nvPr>
            <p:extLst>
              <p:ext uri="{D42A27DB-BD31-4B8C-83A1-F6EECF244321}">
                <p14:modId xmlns:p14="http://schemas.microsoft.com/office/powerpoint/2010/main" val="3337448217"/>
              </p:ext>
            </p:extLst>
          </p:nvPr>
        </p:nvGraphicFramePr>
        <p:xfrm>
          <a:off x="5064366" y="4175725"/>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5" name="Object 11"/>
                      <p:cNvPicPr>
                        <a:picLocks noChangeAspect="1" noChangeArrowheads="1"/>
                      </p:cNvPicPr>
                      <p:nvPr/>
                    </p:nvPicPr>
                    <p:blipFill>
                      <a:blip r:embed="rId4"/>
                      <a:srcRect/>
                      <a:stretch>
                        <a:fillRect/>
                      </a:stretch>
                    </p:blipFill>
                    <p:spPr bwMode="auto">
                      <a:xfrm>
                        <a:off x="5064366" y="4175725"/>
                        <a:ext cx="1102657" cy="1382941"/>
                      </a:xfrm>
                      <a:prstGeom prst="rect">
                        <a:avLst/>
                      </a:prstGeom>
                      <a:noFill/>
                      <a:ln>
                        <a:noFill/>
                      </a:ln>
                      <a:effectLst/>
                    </p:spPr>
                  </p:pic>
                </p:oleObj>
              </mc:Fallback>
            </mc:AlternateContent>
          </a:graphicData>
        </a:graphic>
      </p:graphicFrame>
      <p:graphicFrame>
        <p:nvGraphicFramePr>
          <p:cNvPr id="46" name="Object 11"/>
          <p:cNvGraphicFramePr>
            <a:graphicFrameLocks noChangeAspect="1"/>
          </p:cNvGraphicFramePr>
          <p:nvPr>
            <p:extLst>
              <p:ext uri="{D42A27DB-BD31-4B8C-83A1-F6EECF244321}">
                <p14:modId xmlns:p14="http://schemas.microsoft.com/office/powerpoint/2010/main" val="69035039"/>
              </p:ext>
            </p:extLst>
          </p:nvPr>
        </p:nvGraphicFramePr>
        <p:xfrm>
          <a:off x="5064366" y="5475059"/>
          <a:ext cx="1102657" cy="1382941"/>
        </p:xfrm>
        <a:graphic>
          <a:graphicData uri="http://schemas.openxmlformats.org/presentationml/2006/ole">
            <mc:AlternateContent xmlns:mc="http://schemas.openxmlformats.org/markup-compatibility/2006">
              <mc:Choice xmlns:v="urn:schemas-microsoft-com:vml" Requires="v">
                <p:oleObj name="Equation" r:id="rId3" imgW="545760" imgH="685800" progId="Equation.DSMT4">
                  <p:embed/>
                </p:oleObj>
              </mc:Choice>
              <mc:Fallback>
                <p:oleObj name="Equation" r:id="rId3" imgW="545760" imgH="685800" progId="Equation.DSMT4">
                  <p:embed/>
                  <p:pic>
                    <p:nvPicPr>
                      <p:cNvPr id="46" name="Object 11"/>
                      <p:cNvPicPr>
                        <a:picLocks noChangeAspect="1" noChangeArrowheads="1"/>
                      </p:cNvPicPr>
                      <p:nvPr/>
                    </p:nvPicPr>
                    <p:blipFill>
                      <a:blip r:embed="rId4"/>
                      <a:srcRect/>
                      <a:stretch>
                        <a:fillRect/>
                      </a:stretch>
                    </p:blipFill>
                    <p:spPr bwMode="auto">
                      <a:xfrm>
                        <a:off x="5064366" y="5475059"/>
                        <a:ext cx="1102657" cy="1382941"/>
                      </a:xfrm>
                      <a:prstGeom prst="rect">
                        <a:avLst/>
                      </a:prstGeom>
                      <a:noFill/>
                      <a:ln>
                        <a:noFill/>
                      </a:ln>
                      <a:effectLst/>
                    </p:spPr>
                  </p:pic>
                </p:oleObj>
              </mc:Fallback>
            </mc:AlternateContent>
          </a:graphicData>
        </a:graphic>
      </p:graphicFrame>
      <p:pic>
        <p:nvPicPr>
          <p:cNvPr id="47"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545" y="889037"/>
            <a:ext cx="2476500" cy="2476501"/>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p:cNvSpPr/>
          <p:nvPr/>
        </p:nvSpPr>
        <p:spPr bwMode="auto">
          <a:xfrm>
            <a:off x="2195573" y="889036"/>
            <a:ext cx="3749428" cy="842682"/>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
        <p:nvSpPr>
          <p:cNvPr id="49" name="Rectangle 48"/>
          <p:cNvSpPr/>
          <p:nvPr/>
        </p:nvSpPr>
        <p:spPr bwMode="auto">
          <a:xfrm>
            <a:off x="2195573" y="5502298"/>
            <a:ext cx="5118845" cy="1330338"/>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cxnSp>
        <p:nvCxnSpPr>
          <p:cNvPr id="50" name="Elbow Connector 9"/>
          <p:cNvCxnSpPr>
            <a:endCxn id="49" idx="3"/>
          </p:cNvCxnSpPr>
          <p:nvPr/>
        </p:nvCxnSpPr>
        <p:spPr bwMode="auto">
          <a:xfrm>
            <a:off x="5945001" y="1321503"/>
            <a:ext cx="1369416" cy="4845965"/>
          </a:xfrm>
          <a:prstGeom prst="curvedConnector3">
            <a:avLst>
              <a:gd name="adj1" fmla="val 116693"/>
            </a:avLst>
          </a:prstGeom>
          <a:solidFill>
            <a:schemeClr val="accent1"/>
          </a:solidFill>
          <a:ln w="63500" cap="flat" cmpd="sng" algn="ctr">
            <a:solidFill>
              <a:srgbClr val="FFC000"/>
            </a:solidFill>
            <a:prstDash val="solid"/>
            <a:round/>
            <a:headEnd type="none" w="med" len="med"/>
            <a:tailEnd type="triangle"/>
          </a:ln>
          <a:effectLst/>
        </p:spPr>
      </p:cxnSp>
      <p:pic>
        <p:nvPicPr>
          <p:cNvPr id="4" name="Picture 3"/>
          <p:cNvPicPr>
            <a:picLocks noChangeAspect="1"/>
          </p:cNvPicPr>
          <p:nvPr/>
        </p:nvPicPr>
        <p:blipFill>
          <a:blip r:embed="rId6"/>
          <a:stretch>
            <a:fillRect/>
          </a:stretch>
        </p:blipFill>
        <p:spPr>
          <a:xfrm>
            <a:off x="5792598" y="1930556"/>
            <a:ext cx="567950" cy="573573"/>
          </a:xfrm>
          <a:prstGeom prst="rect">
            <a:avLst/>
          </a:prstGeom>
        </p:spPr>
      </p:pic>
    </p:spTree>
    <p:extLst>
      <p:ext uri="{BB962C8B-B14F-4D97-AF65-F5344CB8AC3E}">
        <p14:creationId xmlns:p14="http://schemas.microsoft.com/office/powerpoint/2010/main" val="2422649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Product from Geometry</a:t>
            </a:r>
          </a:p>
        </p:txBody>
      </p:sp>
      <p:pic>
        <p:nvPicPr>
          <p:cNvPr id="4" name="Picture 3"/>
          <p:cNvPicPr>
            <a:picLocks noChangeAspect="1"/>
          </p:cNvPicPr>
          <p:nvPr/>
        </p:nvPicPr>
        <p:blipFill>
          <a:blip r:embed="rId3"/>
          <a:stretch>
            <a:fillRect/>
          </a:stretch>
        </p:blipFill>
        <p:spPr>
          <a:xfrm>
            <a:off x="614501" y="1131404"/>
            <a:ext cx="7728775" cy="3207312"/>
          </a:xfrm>
          <a:prstGeom prst="rect">
            <a:avLst/>
          </a:prstGeom>
        </p:spPr>
      </p:pic>
      <p:pic>
        <p:nvPicPr>
          <p:cNvPr id="5" name="Picture 4"/>
          <p:cNvPicPr>
            <a:picLocks noChangeAspect="1"/>
          </p:cNvPicPr>
          <p:nvPr/>
        </p:nvPicPr>
        <p:blipFill>
          <a:blip r:embed="rId4"/>
          <a:stretch>
            <a:fillRect/>
          </a:stretch>
        </p:blipFill>
        <p:spPr>
          <a:xfrm>
            <a:off x="614501" y="4338717"/>
            <a:ext cx="7722269" cy="2270491"/>
          </a:xfrm>
          <a:prstGeom prst="rect">
            <a:avLst/>
          </a:prstGeom>
        </p:spPr>
      </p:pic>
      <p:pic>
        <p:nvPicPr>
          <p:cNvPr id="3" name="Picture 2"/>
          <p:cNvPicPr>
            <a:picLocks noChangeAspect="1"/>
          </p:cNvPicPr>
          <p:nvPr/>
        </p:nvPicPr>
        <p:blipFill>
          <a:blip r:embed="rId5"/>
          <a:stretch>
            <a:fillRect/>
          </a:stretch>
        </p:blipFill>
        <p:spPr>
          <a:xfrm>
            <a:off x="5213669" y="5721488"/>
            <a:ext cx="3545530" cy="679383"/>
          </a:xfrm>
          <a:prstGeom prst="rect">
            <a:avLst/>
          </a:prstGeom>
        </p:spPr>
      </p:pic>
      <p:sp>
        <p:nvSpPr>
          <p:cNvPr id="7" name="Rectangle 6"/>
          <p:cNvSpPr/>
          <p:nvPr/>
        </p:nvSpPr>
        <p:spPr bwMode="auto">
          <a:xfrm>
            <a:off x="614500" y="4338717"/>
            <a:ext cx="3571094" cy="680929"/>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183940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Inner Product in C–S Inequality</a:t>
            </a:r>
          </a:p>
        </p:txBody>
      </p:sp>
      <p:pic>
        <p:nvPicPr>
          <p:cNvPr id="8" name="Picture 7"/>
          <p:cNvPicPr>
            <a:picLocks noChangeAspect="1"/>
          </p:cNvPicPr>
          <p:nvPr/>
        </p:nvPicPr>
        <p:blipFill>
          <a:blip r:embed="rId3"/>
          <a:stretch>
            <a:fillRect/>
          </a:stretch>
        </p:blipFill>
        <p:spPr>
          <a:xfrm>
            <a:off x="0" y="1191322"/>
            <a:ext cx="8909459" cy="5666678"/>
          </a:xfrm>
          <a:prstGeom prst="rect">
            <a:avLst/>
          </a:prstGeom>
        </p:spPr>
      </p:pic>
      <p:pic>
        <p:nvPicPr>
          <p:cNvPr id="9" name="Picture 8"/>
          <p:cNvPicPr>
            <a:picLocks noChangeAspect="1"/>
          </p:cNvPicPr>
          <p:nvPr/>
        </p:nvPicPr>
        <p:blipFill>
          <a:blip r:embed="rId4"/>
          <a:stretch>
            <a:fillRect/>
          </a:stretch>
        </p:blipFill>
        <p:spPr>
          <a:xfrm>
            <a:off x="4337459" y="6190553"/>
            <a:ext cx="4295775" cy="476250"/>
          </a:xfrm>
          <a:prstGeom prst="rect">
            <a:avLst/>
          </a:prstGeom>
        </p:spPr>
      </p:pic>
      <p:pic>
        <p:nvPicPr>
          <p:cNvPr id="5"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3378237" y="891563"/>
            <a:ext cx="1343587" cy="134358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bwMode="auto">
          <a:xfrm>
            <a:off x="732194" y="1142016"/>
            <a:ext cx="2646040" cy="842682"/>
          </a:xfrm>
          <a:prstGeom prst="rect">
            <a:avLst/>
          </a:prstGeom>
          <a:solidFill>
            <a:srgbClr val="FFC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936352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Geometric Proof (Easy)</a:t>
            </a:r>
          </a:p>
        </p:txBody>
      </p:sp>
      <p:pic>
        <p:nvPicPr>
          <p:cNvPr id="28674" name="Picture 2" descr="Image result for inner product 3D spa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6606" y="2492941"/>
            <a:ext cx="5456324" cy="436505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0" y="1112539"/>
            <a:ext cx="4105354" cy="1380403"/>
          </a:xfrm>
          <a:prstGeom prst="rect">
            <a:avLst/>
          </a:prstGeom>
        </p:spPr>
      </p:pic>
      <p:pic>
        <p:nvPicPr>
          <p:cNvPr id="3" name="Picture 2"/>
          <p:cNvPicPr>
            <a:picLocks noChangeAspect="1"/>
          </p:cNvPicPr>
          <p:nvPr/>
        </p:nvPicPr>
        <p:blipFill>
          <a:blip r:embed="rId5"/>
          <a:stretch>
            <a:fillRect/>
          </a:stretch>
        </p:blipFill>
        <p:spPr>
          <a:xfrm>
            <a:off x="5760169" y="5502843"/>
            <a:ext cx="2076450" cy="838200"/>
          </a:xfrm>
          <a:prstGeom prst="rect">
            <a:avLst/>
          </a:prstGeom>
        </p:spPr>
      </p:pic>
    </p:spTree>
    <p:extLst>
      <p:ext uri="{BB962C8B-B14F-4D97-AF65-F5344CB8AC3E}">
        <p14:creationId xmlns:p14="http://schemas.microsoft.com/office/powerpoint/2010/main" val="1833827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a:t>
            </a:r>
            <a:r>
              <a:rPr lang="en-US" baseline="30000" dirty="0"/>
              <a:t>N</a:t>
            </a:r>
            <a:r>
              <a:rPr lang="en-US" dirty="0"/>
              <a:t> Space</a:t>
            </a:r>
          </a:p>
        </p:txBody>
      </p:sp>
      <p:sp>
        <p:nvSpPr>
          <p:cNvPr id="4" name="Content Placeholder 2"/>
          <p:cNvSpPr>
            <a:spLocks noGrp="1"/>
          </p:cNvSpPr>
          <p:nvPr>
            <p:ph idx="1"/>
          </p:nvPr>
        </p:nvSpPr>
        <p:spPr>
          <a:xfrm>
            <a:off x="487098" y="1025912"/>
            <a:ext cx="8411737" cy="5679688"/>
          </a:xfrm>
        </p:spPr>
        <p:txBody>
          <a:bodyPr/>
          <a:lstStyle/>
          <a:p>
            <a:pPr marL="457200" indent="-457200">
              <a:spcBef>
                <a:spcPts val="0"/>
              </a:spcBef>
              <a:spcAft>
                <a:spcPts val="1200"/>
              </a:spcAft>
              <a:buClr>
                <a:schemeClr val="tx1"/>
              </a:buClr>
              <a:buFont typeface="Arial" panose="020B0604020202020204" pitchFamily="34" charset="0"/>
              <a:buChar char="•"/>
            </a:pPr>
            <a:r>
              <a:rPr lang="en-US" dirty="0"/>
              <a:t>Points</a:t>
            </a:r>
          </a:p>
          <a:p>
            <a:pPr marL="457200" indent="-457200">
              <a:spcBef>
                <a:spcPts val="0"/>
              </a:spcBef>
              <a:spcAft>
                <a:spcPts val="1200"/>
              </a:spcAft>
              <a:buClr>
                <a:schemeClr val="tx1"/>
              </a:buClr>
              <a:buFont typeface="Arial" panose="020B0604020202020204" pitchFamily="34" charset="0"/>
              <a:buChar char="•"/>
            </a:pPr>
            <a:r>
              <a:rPr lang="en-US" dirty="0"/>
              <a:t>Distance</a:t>
            </a:r>
          </a:p>
          <a:p>
            <a:pPr marL="457200" indent="-457200">
              <a:spcBef>
                <a:spcPts val="0"/>
              </a:spcBef>
              <a:spcAft>
                <a:spcPts val="1200"/>
              </a:spcAft>
              <a:buClr>
                <a:schemeClr val="tx1"/>
              </a:buClr>
              <a:buFont typeface="Arial" panose="020B0604020202020204" pitchFamily="34" charset="0"/>
              <a:buChar char="•"/>
            </a:pPr>
            <a:r>
              <a:rPr lang="en-US" dirty="0"/>
              <a:t>Projection </a:t>
            </a:r>
            <a:r>
              <a:rPr lang="en-US" b="0" dirty="0"/>
              <a:t>(Min Distance from V to the OW line)</a:t>
            </a:r>
          </a:p>
          <a:p>
            <a:pPr>
              <a:spcBef>
                <a:spcPts val="0"/>
              </a:spcBef>
              <a:spcAft>
                <a:spcPts val="1200"/>
              </a:spcAft>
              <a:buClr>
                <a:schemeClr val="tx1"/>
              </a:buClr>
            </a:pPr>
            <a:endParaRPr lang="en-US" dirty="0"/>
          </a:p>
          <a:p>
            <a:pPr marL="457200" indent="-457200">
              <a:spcBef>
                <a:spcPts val="0"/>
              </a:spcBef>
              <a:spcAft>
                <a:spcPts val="1200"/>
              </a:spcAft>
              <a:buClr>
                <a:schemeClr val="tx1"/>
              </a:buClr>
              <a:buFont typeface="Arial" panose="020B0604020202020204" pitchFamily="34" charset="0"/>
              <a:buChar char="•"/>
            </a:pPr>
            <a:r>
              <a:rPr lang="en-US" dirty="0"/>
              <a:t>Angle/Orthogonality</a:t>
            </a:r>
          </a:p>
          <a:p>
            <a:pPr>
              <a:spcBef>
                <a:spcPts val="0"/>
              </a:spcBef>
              <a:spcAft>
                <a:spcPts val="1200"/>
              </a:spcAft>
              <a:buClr>
                <a:schemeClr val="tx1"/>
              </a:buClr>
            </a:pPr>
            <a:endParaRPr lang="en-US" dirty="0"/>
          </a:p>
          <a:p>
            <a:pPr marL="457200" indent="-457200">
              <a:spcBef>
                <a:spcPts val="0"/>
              </a:spcBef>
              <a:spcAft>
                <a:spcPts val="1200"/>
              </a:spcAft>
              <a:buClr>
                <a:schemeClr val="tx1"/>
              </a:buClr>
              <a:buFont typeface="Arial" panose="020B0604020202020204" pitchFamily="34" charset="0"/>
              <a:buChar char="•"/>
            </a:pPr>
            <a:r>
              <a:rPr lang="en-US" dirty="0"/>
              <a:t>Basis/Dimensionality </a:t>
            </a:r>
          </a:p>
          <a:p>
            <a:pPr marL="457200" indent="-457200">
              <a:spcBef>
                <a:spcPts val="0"/>
              </a:spcBef>
              <a:spcAft>
                <a:spcPts val="1200"/>
              </a:spcAft>
              <a:buFont typeface="Arial" panose="020B0604020202020204" pitchFamily="34" charset="0"/>
              <a:buChar char="•"/>
            </a:pPr>
            <a:endParaRPr lang="en-US" dirty="0"/>
          </a:p>
        </p:txBody>
      </p:sp>
      <p:graphicFrame>
        <p:nvGraphicFramePr>
          <p:cNvPr id="5" name="Object 6"/>
          <p:cNvGraphicFramePr>
            <a:graphicFrameLocks noChangeAspect="1"/>
          </p:cNvGraphicFramePr>
          <p:nvPr>
            <p:extLst>
              <p:ext uri="{D42A27DB-BD31-4B8C-83A1-F6EECF244321}">
                <p14:modId xmlns:p14="http://schemas.microsoft.com/office/powerpoint/2010/main" val="1262987694"/>
              </p:ext>
            </p:extLst>
          </p:nvPr>
        </p:nvGraphicFramePr>
        <p:xfrm>
          <a:off x="2361510" y="1062193"/>
          <a:ext cx="3016250" cy="503238"/>
        </p:xfrm>
        <a:graphic>
          <a:graphicData uri="http://schemas.openxmlformats.org/presentationml/2006/ole">
            <mc:AlternateContent xmlns:mc="http://schemas.openxmlformats.org/markup-compatibility/2006">
              <mc:Choice xmlns:v="urn:schemas-microsoft-com:vml" Requires="v">
                <p:oleObj name="Equation" r:id="rId3" imgW="2133360" imgH="355320" progId="Equation.DSMT4">
                  <p:embed/>
                </p:oleObj>
              </mc:Choice>
              <mc:Fallback>
                <p:oleObj name="Equation" r:id="rId3" imgW="2133360" imgH="355320" progId="Equation.DSMT4">
                  <p:embed/>
                  <p:pic>
                    <p:nvPicPr>
                      <p:cNvPr id="0" name=""/>
                      <p:cNvPicPr>
                        <a:picLocks noChangeAspect="1" noChangeArrowheads="1"/>
                      </p:cNvPicPr>
                      <p:nvPr/>
                    </p:nvPicPr>
                    <p:blipFill>
                      <a:blip r:embed="rId4"/>
                      <a:srcRect/>
                      <a:stretch>
                        <a:fillRect/>
                      </a:stretch>
                    </p:blipFill>
                    <p:spPr bwMode="auto">
                      <a:xfrm>
                        <a:off x="2361510" y="1062193"/>
                        <a:ext cx="3016250" cy="503238"/>
                      </a:xfrm>
                      <a:prstGeom prst="rect">
                        <a:avLst/>
                      </a:prstGeom>
                      <a:noFill/>
                      <a:ln>
                        <a:noFill/>
                      </a:ln>
                      <a:effectLst/>
                    </p:spPr>
                  </p:pic>
                </p:oleObj>
              </mc:Fallback>
            </mc:AlternateContent>
          </a:graphicData>
        </a:graphic>
      </p:graphicFrame>
      <p:graphicFrame>
        <p:nvGraphicFramePr>
          <p:cNvPr id="6" name="Object 6"/>
          <p:cNvGraphicFramePr>
            <a:graphicFrameLocks noChangeAspect="1"/>
          </p:cNvGraphicFramePr>
          <p:nvPr>
            <p:extLst>
              <p:ext uri="{D42A27DB-BD31-4B8C-83A1-F6EECF244321}">
                <p14:modId xmlns:p14="http://schemas.microsoft.com/office/powerpoint/2010/main" val="2308066563"/>
              </p:ext>
            </p:extLst>
          </p:nvPr>
        </p:nvGraphicFramePr>
        <p:xfrm>
          <a:off x="2737749" y="1581807"/>
          <a:ext cx="3481387" cy="609600"/>
        </p:xfrm>
        <a:graphic>
          <a:graphicData uri="http://schemas.openxmlformats.org/presentationml/2006/ole">
            <mc:AlternateContent xmlns:mc="http://schemas.openxmlformats.org/markup-compatibility/2006">
              <mc:Choice xmlns:v="urn:schemas-microsoft-com:vml" Requires="v">
                <p:oleObj name="Equation" r:id="rId5" imgW="2463480" imgH="431640" progId="Equation.DSMT4">
                  <p:embed/>
                </p:oleObj>
              </mc:Choice>
              <mc:Fallback>
                <p:oleObj name="Equation" r:id="rId5" imgW="2463480" imgH="431640" progId="Equation.DSMT4">
                  <p:embed/>
                  <p:pic>
                    <p:nvPicPr>
                      <p:cNvPr id="0" name=""/>
                      <p:cNvPicPr>
                        <a:picLocks noChangeAspect="1" noChangeArrowheads="1"/>
                      </p:cNvPicPr>
                      <p:nvPr/>
                    </p:nvPicPr>
                    <p:blipFill>
                      <a:blip r:embed="rId6"/>
                      <a:srcRect/>
                      <a:stretch>
                        <a:fillRect/>
                      </a:stretch>
                    </p:blipFill>
                    <p:spPr bwMode="auto">
                      <a:xfrm>
                        <a:off x="2737749" y="1581807"/>
                        <a:ext cx="3481387" cy="609600"/>
                      </a:xfrm>
                      <a:prstGeom prst="rect">
                        <a:avLst/>
                      </a:prstGeom>
                      <a:noFill/>
                      <a:ln>
                        <a:noFill/>
                      </a:ln>
                      <a:effec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155115017"/>
              </p:ext>
            </p:extLst>
          </p:nvPr>
        </p:nvGraphicFramePr>
        <p:xfrm>
          <a:off x="1034360" y="2581932"/>
          <a:ext cx="6978650" cy="1003300"/>
        </p:xfrm>
        <a:graphic>
          <a:graphicData uri="http://schemas.openxmlformats.org/presentationml/2006/ole">
            <mc:AlternateContent xmlns:mc="http://schemas.openxmlformats.org/markup-compatibility/2006">
              <mc:Choice xmlns:v="urn:schemas-microsoft-com:vml" Requires="v">
                <p:oleObj name="Equation" r:id="rId7" imgW="4940280" imgH="711000" progId="Equation.DSMT4">
                  <p:embed/>
                </p:oleObj>
              </mc:Choice>
              <mc:Fallback>
                <p:oleObj name="Equation" r:id="rId7" imgW="4940280" imgH="711000" progId="Equation.DSMT4">
                  <p:embed/>
                  <p:pic>
                    <p:nvPicPr>
                      <p:cNvPr id="0" name=""/>
                      <p:cNvPicPr>
                        <a:picLocks noChangeAspect="1" noChangeArrowheads="1"/>
                      </p:cNvPicPr>
                      <p:nvPr/>
                    </p:nvPicPr>
                    <p:blipFill>
                      <a:blip r:embed="rId8"/>
                      <a:srcRect/>
                      <a:stretch>
                        <a:fillRect/>
                      </a:stretch>
                    </p:blipFill>
                    <p:spPr bwMode="auto">
                      <a:xfrm>
                        <a:off x="1034360" y="2581932"/>
                        <a:ext cx="6978650" cy="1003300"/>
                      </a:xfrm>
                      <a:prstGeom prst="rect">
                        <a:avLst/>
                      </a:prstGeom>
                      <a:noFill/>
                      <a:ln>
                        <a:noFill/>
                      </a:ln>
                      <a:effec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436884723"/>
              </p:ext>
            </p:extLst>
          </p:nvPr>
        </p:nvGraphicFramePr>
        <p:xfrm>
          <a:off x="1007374" y="3910669"/>
          <a:ext cx="2708275" cy="503238"/>
        </p:xfrm>
        <a:graphic>
          <a:graphicData uri="http://schemas.openxmlformats.org/presentationml/2006/ole">
            <mc:AlternateContent xmlns:mc="http://schemas.openxmlformats.org/markup-compatibility/2006">
              <mc:Choice xmlns:v="urn:schemas-microsoft-com:vml" Requires="v">
                <p:oleObj name="Equation" r:id="rId9" imgW="1917360" imgH="355320" progId="Equation.DSMT4">
                  <p:embed/>
                </p:oleObj>
              </mc:Choice>
              <mc:Fallback>
                <p:oleObj name="Equation" r:id="rId9" imgW="1917360" imgH="355320" progId="Equation.DSMT4">
                  <p:embed/>
                  <p:pic>
                    <p:nvPicPr>
                      <p:cNvPr id="0" name=""/>
                      <p:cNvPicPr>
                        <a:picLocks noChangeAspect="1" noChangeArrowheads="1"/>
                      </p:cNvPicPr>
                      <p:nvPr/>
                    </p:nvPicPr>
                    <p:blipFill>
                      <a:blip r:embed="rId10"/>
                      <a:srcRect/>
                      <a:stretch>
                        <a:fillRect/>
                      </a:stretch>
                    </p:blipFill>
                    <p:spPr bwMode="auto">
                      <a:xfrm>
                        <a:off x="1007374" y="3910669"/>
                        <a:ext cx="2708275" cy="503238"/>
                      </a:xfrm>
                      <a:prstGeom prst="rect">
                        <a:avLst/>
                      </a:prstGeom>
                      <a:noFill/>
                      <a:ln>
                        <a:noFill/>
                      </a:ln>
                      <a:effectLst/>
                    </p:spPr>
                  </p:pic>
                </p:oleObj>
              </mc:Fallback>
            </mc:AlternateContent>
          </a:graphicData>
        </a:graphic>
      </p:graphicFrame>
      <p:cxnSp>
        <p:nvCxnSpPr>
          <p:cNvPr id="9" name="Straight Arrow Connector 8"/>
          <p:cNvCxnSpPr/>
          <p:nvPr/>
        </p:nvCxnSpPr>
        <p:spPr bwMode="auto">
          <a:xfrm>
            <a:off x="3821312" y="6058827"/>
            <a:ext cx="4895387"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2" name="Straight Arrow Connector 11"/>
          <p:cNvCxnSpPr/>
          <p:nvPr/>
        </p:nvCxnSpPr>
        <p:spPr bwMode="auto">
          <a:xfrm rot="16200000">
            <a:off x="3619190" y="5121809"/>
            <a:ext cx="3039650"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3" name="Straight Arrow Connector 12"/>
          <p:cNvCxnSpPr/>
          <p:nvPr/>
        </p:nvCxnSpPr>
        <p:spPr bwMode="auto">
          <a:xfrm rot="20700000">
            <a:off x="4118818" y="5784477"/>
            <a:ext cx="4045775"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4" name="Straight Arrow Connector 13"/>
          <p:cNvCxnSpPr/>
          <p:nvPr/>
        </p:nvCxnSpPr>
        <p:spPr bwMode="auto">
          <a:xfrm rot="18000000">
            <a:off x="4494260" y="4998052"/>
            <a:ext cx="2512107"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6" name="Content Placeholder 2"/>
          <p:cNvSpPr txBox="1">
            <a:spLocks/>
          </p:cNvSpPr>
          <p:nvPr/>
        </p:nvSpPr>
        <p:spPr bwMode="auto">
          <a:xfrm>
            <a:off x="8131279" y="4998052"/>
            <a:ext cx="594733"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spcBef>
                <a:spcPts val="0"/>
              </a:spcBef>
              <a:spcAft>
                <a:spcPts val="1200"/>
              </a:spcAft>
            </a:pPr>
            <a:r>
              <a:rPr lang="en-US" kern="0" dirty="0"/>
              <a:t>W</a:t>
            </a:r>
          </a:p>
        </p:txBody>
      </p:sp>
      <p:sp>
        <p:nvSpPr>
          <p:cNvPr id="17" name="Content Placeholder 2"/>
          <p:cNvSpPr txBox="1">
            <a:spLocks/>
          </p:cNvSpPr>
          <p:nvPr/>
        </p:nvSpPr>
        <p:spPr bwMode="auto">
          <a:xfrm>
            <a:off x="6401890" y="3627840"/>
            <a:ext cx="594733"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spcBef>
                <a:spcPts val="0"/>
              </a:spcBef>
              <a:spcAft>
                <a:spcPts val="1200"/>
              </a:spcAft>
            </a:pPr>
            <a:r>
              <a:rPr lang="en-US" kern="0" dirty="0"/>
              <a:t>V</a:t>
            </a:r>
          </a:p>
        </p:txBody>
      </p:sp>
      <p:sp>
        <p:nvSpPr>
          <p:cNvPr id="15" name="Arc 14"/>
          <p:cNvSpPr/>
          <p:nvPr/>
        </p:nvSpPr>
        <p:spPr bwMode="auto">
          <a:xfrm>
            <a:off x="5005051" y="4934910"/>
            <a:ext cx="1505415" cy="1270337"/>
          </a:xfrm>
          <a:prstGeom prst="arc">
            <a:avLst>
              <a:gd name="adj1" fmla="val 16200000"/>
              <a:gd name="adj2" fmla="val 545867"/>
            </a:avLst>
          </a:prstGeom>
          <a:noFill/>
          <a:ln w="254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20" name="Content Placeholder 2"/>
          <p:cNvSpPr txBox="1">
            <a:spLocks/>
          </p:cNvSpPr>
          <p:nvPr/>
        </p:nvSpPr>
        <p:spPr bwMode="auto">
          <a:xfrm>
            <a:off x="5900843" y="5105215"/>
            <a:ext cx="594733"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spcBef>
                <a:spcPts val="0"/>
              </a:spcBef>
              <a:spcAft>
                <a:spcPts val="1200"/>
              </a:spcAft>
            </a:pPr>
            <a:r>
              <a:rPr lang="el-GR" b="0" kern="0" dirty="0"/>
              <a:t>θ</a:t>
            </a:r>
            <a:endParaRPr lang="en-US" b="0" kern="0" dirty="0"/>
          </a:p>
        </p:txBody>
      </p:sp>
      <p:sp>
        <p:nvSpPr>
          <p:cNvPr id="18" name="Content Placeholder 2"/>
          <p:cNvSpPr txBox="1">
            <a:spLocks/>
          </p:cNvSpPr>
          <p:nvPr/>
        </p:nvSpPr>
        <p:spPr bwMode="auto">
          <a:xfrm>
            <a:off x="4670511" y="5529331"/>
            <a:ext cx="594733" cy="685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spcBef>
                <a:spcPts val="0"/>
              </a:spcBef>
              <a:spcAft>
                <a:spcPts val="1200"/>
              </a:spcAft>
            </a:pPr>
            <a:r>
              <a:rPr lang="en-US" kern="0" dirty="0"/>
              <a:t>O</a:t>
            </a:r>
          </a:p>
        </p:txBody>
      </p:sp>
    </p:spTree>
    <p:extLst>
      <p:ext uri="{BB962C8B-B14F-4D97-AF65-F5344CB8AC3E}">
        <p14:creationId xmlns:p14="http://schemas.microsoft.com/office/powerpoint/2010/main" val="4219925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3D Orthogonal Representation </a:t>
            </a:r>
          </a:p>
        </p:txBody>
      </p:sp>
      <p:pic>
        <p:nvPicPr>
          <p:cNvPr id="63496" name="Picture 8" descr="https://encrypted-tbn3.gstatic.com/images?q=tbn:ANd9GcTAyARabeU-7kbvK4OJzdiq5_XuTXuKSuPoyYg3SlFIsJJ1mejh">
            <a:hlinkClick r:id="rId3"/>
          </p:cNvPr>
          <p:cNvPicPr>
            <a:picLocks noChangeAspect="1" noChangeArrowheads="1"/>
          </p:cNvPicPr>
          <p:nvPr/>
        </p:nvPicPr>
        <p:blipFill>
          <a:blip r:embed="rId4" cstate="print"/>
          <a:srcRect/>
          <a:stretch>
            <a:fillRect/>
          </a:stretch>
        </p:blipFill>
        <p:spPr bwMode="auto">
          <a:xfrm>
            <a:off x="1718965" y="1347720"/>
            <a:ext cx="6413157" cy="4809868"/>
          </a:xfrm>
          <a:prstGeom prst="rect">
            <a:avLst/>
          </a:prstGeom>
          <a:noFill/>
        </p:spPr>
      </p:pic>
      <p:pic>
        <p:nvPicPr>
          <p:cNvPr id="6"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8191" y="1266371"/>
            <a:ext cx="3156304" cy="315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909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ND Orthogonal Representation </a:t>
            </a:r>
          </a:p>
        </p:txBody>
      </p:sp>
      <p:pic>
        <p:nvPicPr>
          <p:cNvPr id="4" name="Picture 3"/>
          <p:cNvPicPr>
            <a:picLocks noChangeAspect="1"/>
          </p:cNvPicPr>
          <p:nvPr/>
        </p:nvPicPr>
        <p:blipFill>
          <a:blip r:embed="rId3"/>
          <a:stretch>
            <a:fillRect/>
          </a:stretch>
        </p:blipFill>
        <p:spPr>
          <a:xfrm>
            <a:off x="1179339" y="1142875"/>
            <a:ext cx="6255237" cy="5438530"/>
          </a:xfrm>
          <a:prstGeom prst="rect">
            <a:avLst/>
          </a:prstGeom>
        </p:spPr>
      </p:pic>
    </p:spTree>
    <p:extLst>
      <p:ext uri="{BB962C8B-B14F-4D97-AF65-F5344CB8AC3E}">
        <p14:creationId xmlns:p14="http://schemas.microsoft.com/office/powerpoint/2010/main" val="3151849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Basis Not Unique</a:t>
            </a:r>
          </a:p>
        </p:txBody>
      </p:sp>
      <p:sp>
        <p:nvSpPr>
          <p:cNvPr id="4" name="Rectangle 3"/>
          <p:cNvSpPr/>
          <p:nvPr/>
        </p:nvSpPr>
        <p:spPr>
          <a:xfrm>
            <a:off x="321331" y="6252313"/>
            <a:ext cx="8431731" cy="307777"/>
          </a:xfrm>
          <a:prstGeom prst="rect">
            <a:avLst/>
          </a:prstGeom>
        </p:spPr>
        <p:txBody>
          <a:bodyPr wrap="square">
            <a:spAutoFit/>
          </a:bodyPr>
          <a:lstStyle/>
          <a:p>
            <a:r>
              <a:rPr lang="en-US" sz="1400" dirty="0">
                <a:hlinkClick r:id="rId3"/>
              </a:rPr>
              <a:t>http://www.ccp14.ac.uk/ccp/web-mirrors/klaus_eichele_software/klaus/nmr/conventions/euler/euler.html</a:t>
            </a:r>
            <a:r>
              <a:rPr lang="en-US" sz="1400" dirty="0"/>
              <a:t> </a:t>
            </a:r>
          </a:p>
        </p:txBody>
      </p:sp>
      <p:pic>
        <p:nvPicPr>
          <p:cNvPr id="6" name="Picture 5"/>
          <p:cNvPicPr>
            <a:picLocks noChangeAspect="1"/>
          </p:cNvPicPr>
          <p:nvPr/>
        </p:nvPicPr>
        <p:blipFill>
          <a:blip r:embed="rId4"/>
          <a:stretch>
            <a:fillRect/>
          </a:stretch>
        </p:blipFill>
        <p:spPr>
          <a:xfrm>
            <a:off x="674257" y="1335727"/>
            <a:ext cx="7311104" cy="3914926"/>
          </a:xfrm>
          <a:prstGeom prst="rect">
            <a:avLst/>
          </a:prstGeom>
        </p:spPr>
      </p:pic>
      <p:pic>
        <p:nvPicPr>
          <p:cNvPr id="30724" name="Picture 4" descr="https://d2t1xqejof9utc.cloudfront.net/screenshots/pics/11b6ee5217b340934f7cdb4bdee6cd9d/larg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990" y="3895300"/>
            <a:ext cx="2886007" cy="216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602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Space</a:t>
            </a:r>
          </a:p>
        </p:txBody>
      </p:sp>
      <p:pic>
        <p:nvPicPr>
          <p:cNvPr id="4" name="Picture 3"/>
          <p:cNvPicPr>
            <a:picLocks noChangeAspect="1"/>
          </p:cNvPicPr>
          <p:nvPr/>
        </p:nvPicPr>
        <p:blipFill>
          <a:blip r:embed="rId3"/>
          <a:stretch>
            <a:fillRect/>
          </a:stretch>
        </p:blipFill>
        <p:spPr>
          <a:xfrm>
            <a:off x="222251" y="990600"/>
            <a:ext cx="7941052" cy="1022644"/>
          </a:xfrm>
          <a:prstGeom prst="rect">
            <a:avLst/>
          </a:prstGeom>
        </p:spPr>
      </p:pic>
      <p:pic>
        <p:nvPicPr>
          <p:cNvPr id="5" name="Picture 4"/>
          <p:cNvPicPr>
            <a:picLocks noChangeAspect="1"/>
          </p:cNvPicPr>
          <p:nvPr/>
        </p:nvPicPr>
        <p:blipFill>
          <a:blip r:embed="rId4"/>
          <a:stretch>
            <a:fillRect/>
          </a:stretch>
        </p:blipFill>
        <p:spPr>
          <a:xfrm>
            <a:off x="211100" y="2080398"/>
            <a:ext cx="3761551" cy="453520"/>
          </a:xfrm>
          <a:prstGeom prst="rect">
            <a:avLst/>
          </a:prstGeom>
        </p:spPr>
      </p:pic>
      <p:pic>
        <p:nvPicPr>
          <p:cNvPr id="6" name="Picture 5"/>
          <p:cNvPicPr>
            <a:picLocks noChangeAspect="1"/>
          </p:cNvPicPr>
          <p:nvPr/>
        </p:nvPicPr>
        <p:blipFill>
          <a:blip r:embed="rId5"/>
          <a:stretch>
            <a:fillRect/>
          </a:stretch>
        </p:blipFill>
        <p:spPr>
          <a:xfrm>
            <a:off x="203200" y="2796285"/>
            <a:ext cx="7976622" cy="2036395"/>
          </a:xfrm>
          <a:prstGeom prst="rect">
            <a:avLst/>
          </a:prstGeom>
        </p:spPr>
      </p:pic>
      <p:pic>
        <p:nvPicPr>
          <p:cNvPr id="7" name="Picture 6"/>
          <p:cNvPicPr>
            <a:picLocks noChangeAspect="1"/>
          </p:cNvPicPr>
          <p:nvPr/>
        </p:nvPicPr>
        <p:blipFill>
          <a:blip r:embed="rId6"/>
          <a:stretch>
            <a:fillRect/>
          </a:stretch>
        </p:blipFill>
        <p:spPr>
          <a:xfrm>
            <a:off x="222250" y="5107375"/>
            <a:ext cx="8839200" cy="951503"/>
          </a:xfrm>
          <a:prstGeom prst="rect">
            <a:avLst/>
          </a:prstGeom>
        </p:spPr>
      </p:pic>
      <p:pic>
        <p:nvPicPr>
          <p:cNvPr id="8" name="Picture 7"/>
          <p:cNvPicPr>
            <a:picLocks noChangeAspect="1"/>
          </p:cNvPicPr>
          <p:nvPr/>
        </p:nvPicPr>
        <p:blipFill>
          <a:blip r:embed="rId7"/>
          <a:stretch>
            <a:fillRect/>
          </a:stretch>
        </p:blipFill>
        <p:spPr>
          <a:xfrm>
            <a:off x="303328" y="6433440"/>
            <a:ext cx="3130179" cy="311239"/>
          </a:xfrm>
          <a:prstGeom prst="rect">
            <a:avLst/>
          </a:prstGeom>
        </p:spPr>
      </p:pic>
      <p:pic>
        <p:nvPicPr>
          <p:cNvPr id="9" name="Picture 8"/>
          <p:cNvPicPr>
            <a:picLocks noChangeAspect="1"/>
          </p:cNvPicPr>
          <p:nvPr/>
        </p:nvPicPr>
        <p:blipFill>
          <a:blip r:embed="rId8"/>
          <a:stretch>
            <a:fillRect/>
          </a:stretch>
        </p:blipFill>
        <p:spPr>
          <a:xfrm>
            <a:off x="4240174" y="6359794"/>
            <a:ext cx="1316098" cy="355702"/>
          </a:xfrm>
          <a:prstGeom prst="rect">
            <a:avLst/>
          </a:prstGeom>
        </p:spPr>
      </p:pic>
      <p:pic>
        <p:nvPicPr>
          <p:cNvPr id="10" name="Picture 12" descr="http://www.magic-emoji.com/emoji/images/83_emoji_iphone_black_diamond_suit.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5400000">
            <a:off x="6693993" y="3134965"/>
            <a:ext cx="2124217" cy="2124217"/>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bwMode="auto">
          <a:xfrm>
            <a:off x="738560" y="5125925"/>
            <a:ext cx="2122616" cy="367230"/>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2313412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Point = Vector</a:t>
            </a:r>
          </a:p>
        </p:txBody>
      </p:sp>
      <p:pic>
        <p:nvPicPr>
          <p:cNvPr id="5" name="Picture 4"/>
          <p:cNvPicPr>
            <a:picLocks noChangeAspect="1"/>
          </p:cNvPicPr>
          <p:nvPr/>
        </p:nvPicPr>
        <p:blipFill>
          <a:blip r:embed="rId3"/>
          <a:stretch>
            <a:fillRect/>
          </a:stretch>
        </p:blipFill>
        <p:spPr>
          <a:xfrm>
            <a:off x="327957" y="990600"/>
            <a:ext cx="8753526" cy="4897244"/>
          </a:xfrm>
          <a:prstGeom prst="rect">
            <a:avLst/>
          </a:prstGeom>
        </p:spPr>
      </p:pic>
    </p:spTree>
    <p:extLst>
      <p:ext uri="{BB962C8B-B14F-4D97-AF65-F5344CB8AC3E}">
        <p14:creationId xmlns:p14="http://schemas.microsoft.com/office/powerpoint/2010/main" val="3156950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 = Function</a:t>
            </a:r>
          </a:p>
        </p:txBody>
      </p:sp>
      <p:pic>
        <p:nvPicPr>
          <p:cNvPr id="4" name="Picture 2" descr="http://tutorial.math.lamar.edu/Classes/CalcII/ApproximatingDefIntegrals_files/image00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 y="1263031"/>
            <a:ext cx="7898780" cy="5594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765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Space</a:t>
            </a:r>
          </a:p>
        </p:txBody>
      </p:sp>
      <p:sp>
        <p:nvSpPr>
          <p:cNvPr id="5" name="Title 1"/>
          <p:cNvSpPr txBox="1">
            <a:spLocks/>
          </p:cNvSpPr>
          <p:nvPr/>
        </p:nvSpPr>
        <p:spPr bwMode="auto">
          <a:xfrm>
            <a:off x="1115545" y="3300410"/>
            <a:ext cx="7103327"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3200" b="0" kern="0" dirty="0">
                <a:solidFill>
                  <a:srgbClr val="FF0000"/>
                </a:solidFill>
              </a:rPr>
              <a:t>Can we find a basis? </a:t>
            </a:r>
            <a:r>
              <a:rPr lang="el-GR" sz="3200" b="0" kern="0" dirty="0">
                <a:solidFill>
                  <a:srgbClr val="0000FF"/>
                </a:solidFill>
              </a:rPr>
              <a:t>δ</a:t>
            </a:r>
            <a:r>
              <a:rPr lang="en-US" sz="3200" b="0" kern="0" dirty="0">
                <a:solidFill>
                  <a:srgbClr val="0000FF"/>
                </a:solidFill>
              </a:rPr>
              <a:t>(x-a), a in R </a:t>
            </a:r>
          </a:p>
        </p:txBody>
      </p:sp>
      <p:graphicFrame>
        <p:nvGraphicFramePr>
          <p:cNvPr id="6" name="Object 11"/>
          <p:cNvGraphicFramePr>
            <a:graphicFrameLocks noChangeAspect="1"/>
          </p:cNvGraphicFramePr>
          <p:nvPr>
            <p:extLst>
              <p:ext uri="{D42A27DB-BD31-4B8C-83A1-F6EECF244321}">
                <p14:modId xmlns:p14="http://schemas.microsoft.com/office/powerpoint/2010/main" val="2973798253"/>
              </p:ext>
            </p:extLst>
          </p:nvPr>
        </p:nvGraphicFramePr>
        <p:xfrm>
          <a:off x="203200" y="1521679"/>
          <a:ext cx="2434144" cy="1132553"/>
        </p:xfrm>
        <a:graphic>
          <a:graphicData uri="http://schemas.openxmlformats.org/presentationml/2006/ole">
            <mc:AlternateContent xmlns:mc="http://schemas.openxmlformats.org/markup-compatibility/2006">
              <mc:Choice xmlns:v="urn:schemas-microsoft-com:vml" Requires="v">
                <p:oleObj name="Equation" r:id="rId3" imgW="1473120" imgH="685800" progId="Equation.DSMT4">
                  <p:embed/>
                </p:oleObj>
              </mc:Choice>
              <mc:Fallback>
                <p:oleObj name="Equation" r:id="rId3" imgW="1473120" imgH="685800" progId="Equation.DSMT4">
                  <p:embed/>
                  <p:pic>
                    <p:nvPicPr>
                      <p:cNvPr id="6" name="Object 11"/>
                      <p:cNvPicPr>
                        <a:picLocks noChangeAspect="1" noChangeArrowheads="1"/>
                      </p:cNvPicPr>
                      <p:nvPr/>
                    </p:nvPicPr>
                    <p:blipFill>
                      <a:blip r:embed="rId4"/>
                      <a:srcRect/>
                      <a:stretch>
                        <a:fillRect/>
                      </a:stretch>
                    </p:blipFill>
                    <p:spPr bwMode="auto">
                      <a:xfrm>
                        <a:off x="203200" y="1521679"/>
                        <a:ext cx="2434144" cy="1132553"/>
                      </a:xfrm>
                      <a:prstGeom prst="rect">
                        <a:avLst/>
                      </a:prstGeom>
                      <a:noFill/>
                      <a:ln>
                        <a:noFill/>
                      </a:ln>
                      <a:effectLst/>
                    </p:spPr>
                  </p:pic>
                </p:oleObj>
              </mc:Fallback>
            </mc:AlternateContent>
          </a:graphicData>
        </a:graphic>
      </p:graphicFrame>
      <p:graphicFrame>
        <p:nvGraphicFramePr>
          <p:cNvPr id="7" name="Object 11"/>
          <p:cNvGraphicFramePr>
            <a:graphicFrameLocks noChangeAspect="1"/>
          </p:cNvGraphicFramePr>
          <p:nvPr>
            <p:extLst>
              <p:ext uri="{D42A27DB-BD31-4B8C-83A1-F6EECF244321}">
                <p14:modId xmlns:p14="http://schemas.microsoft.com/office/powerpoint/2010/main" val="2185903513"/>
              </p:ext>
            </p:extLst>
          </p:nvPr>
        </p:nvGraphicFramePr>
        <p:xfrm>
          <a:off x="3880374" y="1436826"/>
          <a:ext cx="4833937" cy="1217612"/>
        </p:xfrm>
        <a:graphic>
          <a:graphicData uri="http://schemas.openxmlformats.org/presentationml/2006/ole">
            <mc:AlternateContent xmlns:mc="http://schemas.openxmlformats.org/markup-compatibility/2006">
              <mc:Choice xmlns:v="urn:schemas-microsoft-com:vml" Requires="v">
                <p:oleObj name="Equation" r:id="rId5" imgW="2920680" imgH="736560" progId="Equation.DSMT4">
                  <p:embed/>
                </p:oleObj>
              </mc:Choice>
              <mc:Fallback>
                <p:oleObj name="Equation" r:id="rId5" imgW="2920680" imgH="736560" progId="Equation.DSMT4">
                  <p:embed/>
                  <p:pic>
                    <p:nvPicPr>
                      <p:cNvPr id="7" name="Object 11"/>
                      <p:cNvPicPr>
                        <a:picLocks noChangeAspect="1" noChangeArrowheads="1"/>
                      </p:cNvPicPr>
                      <p:nvPr/>
                    </p:nvPicPr>
                    <p:blipFill>
                      <a:blip r:embed="rId6"/>
                      <a:srcRect/>
                      <a:stretch>
                        <a:fillRect/>
                      </a:stretch>
                    </p:blipFill>
                    <p:spPr bwMode="auto">
                      <a:xfrm>
                        <a:off x="3880374" y="1436826"/>
                        <a:ext cx="4833937" cy="1217612"/>
                      </a:xfrm>
                      <a:prstGeom prst="rect">
                        <a:avLst/>
                      </a:prstGeom>
                      <a:noFill/>
                      <a:ln>
                        <a:noFill/>
                      </a:ln>
                      <a:effectLst/>
                    </p:spPr>
                  </p:pic>
                </p:oleObj>
              </mc:Fallback>
            </mc:AlternateContent>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val="903586734"/>
              </p:ext>
            </p:extLst>
          </p:nvPr>
        </p:nvGraphicFramePr>
        <p:xfrm>
          <a:off x="1125171" y="4138611"/>
          <a:ext cx="6445317" cy="1359927"/>
        </p:xfrm>
        <a:graphic>
          <a:graphicData uri="http://schemas.openxmlformats.org/presentationml/2006/ole">
            <mc:AlternateContent xmlns:mc="http://schemas.openxmlformats.org/markup-compatibility/2006">
              <mc:Choice xmlns:v="urn:schemas-microsoft-com:vml" Requires="v">
                <p:oleObj name="Equation" r:id="rId7" imgW="1562040" imgH="330120" progId="Equation.DSMT4">
                  <p:embed/>
                </p:oleObj>
              </mc:Choice>
              <mc:Fallback>
                <p:oleObj name="Equation" r:id="rId7" imgW="1562040" imgH="330120" progId="Equation.DSMT4">
                  <p:embed/>
                  <p:pic>
                    <p:nvPicPr>
                      <p:cNvPr id="8" name="Object 11"/>
                      <p:cNvPicPr>
                        <a:picLocks noChangeAspect="1" noChangeArrowheads="1"/>
                      </p:cNvPicPr>
                      <p:nvPr/>
                    </p:nvPicPr>
                    <p:blipFill>
                      <a:blip r:embed="rId8"/>
                      <a:srcRect/>
                      <a:stretch>
                        <a:fillRect/>
                      </a:stretch>
                    </p:blipFill>
                    <p:spPr bwMode="auto">
                      <a:xfrm>
                        <a:off x="1125171" y="4138611"/>
                        <a:ext cx="6445317" cy="1359927"/>
                      </a:xfrm>
                      <a:prstGeom prst="rect">
                        <a:avLst/>
                      </a:prstGeom>
                      <a:noFill/>
                      <a:ln>
                        <a:noFill/>
                      </a:ln>
                      <a:effectLst/>
                    </p:spPr>
                  </p:pic>
                </p:oleObj>
              </mc:Fallback>
            </mc:AlternateContent>
          </a:graphicData>
        </a:graphic>
      </p:graphicFrame>
      <p:sp>
        <p:nvSpPr>
          <p:cNvPr id="9" name="Left-Right Arrow 8"/>
          <p:cNvSpPr/>
          <p:nvPr/>
        </p:nvSpPr>
        <p:spPr bwMode="auto">
          <a:xfrm>
            <a:off x="2765965" y="1787544"/>
            <a:ext cx="1174282" cy="516302"/>
          </a:xfrm>
          <a:prstGeom prst="lef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2396483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As a Sum of Impulses</a:t>
            </a:r>
          </a:p>
        </p:txBody>
      </p:sp>
      <p:pic>
        <p:nvPicPr>
          <p:cNvPr id="7170" name="Picture 2" descr="http://upload.wikimedia.org/wikipedia/commons/thumb/8/88/Sampled.signal.svg/585px-Sampled.signal.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29" y="1520210"/>
            <a:ext cx="8233636" cy="4644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4403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Pixel: Picture Element</a:t>
            </a:r>
          </a:p>
        </p:txBody>
      </p:sp>
      <p:pic>
        <p:nvPicPr>
          <p:cNvPr id="5" name="Picture 4"/>
          <p:cNvPicPr>
            <a:picLocks noChangeAspect="1"/>
          </p:cNvPicPr>
          <p:nvPr/>
        </p:nvPicPr>
        <p:blipFill>
          <a:blip r:embed="rId3"/>
          <a:stretch>
            <a:fillRect/>
          </a:stretch>
        </p:blipFill>
        <p:spPr>
          <a:xfrm>
            <a:off x="430695" y="1199946"/>
            <a:ext cx="4129241" cy="5505654"/>
          </a:xfrm>
          <a:prstGeom prst="rect">
            <a:avLst/>
          </a:prstGeom>
        </p:spPr>
      </p:pic>
      <p:pic>
        <p:nvPicPr>
          <p:cNvPr id="7172" name="Picture 4" descr="Image result for lincoln pixel resolu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1065" y="1199946"/>
            <a:ext cx="4640018" cy="5505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829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Sine Wave Comes Naturally</a:t>
            </a:r>
          </a:p>
        </p:txBody>
      </p:sp>
      <p:pic>
        <p:nvPicPr>
          <p:cNvPr id="6146" name="Picture 2" descr="http://t3.gstatic.com/images?q=tbn:ANd9GcQCIdVu59h0GvrRxUTocMHEgnMiRPKOBI34Xzf4wrWjsHY20Jw55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501" y="990600"/>
            <a:ext cx="7740458" cy="579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4565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Sinusoidal Basis: Even &amp; Odd</a:t>
            </a:r>
          </a:p>
        </p:txBody>
      </p:sp>
      <p:pic>
        <p:nvPicPr>
          <p:cNvPr id="30722" name="Picture 2" descr="http://upload.wikimedia.org/wikipedia/commons/thumb/3/38/Sine_cosine_plot.svg/500px-Sine_cosine_plo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31413"/>
            <a:ext cx="7827313" cy="5212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946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As Sum of Waves</a:t>
            </a:r>
          </a:p>
        </p:txBody>
      </p:sp>
      <p:pic>
        <p:nvPicPr>
          <p:cNvPr id="19458" name="Picture 2" descr="http://www.askamathematician.com/wp-content/uploads/2012/09/IndykKatabiPriceHassanie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200" y="1044037"/>
            <a:ext cx="8735122" cy="581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4499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ourier_transform_time_and_frequency_domains_(small).gif"/>
          <p:cNvPicPr>
            <a:picLocks noGrp="1" noChangeAspect="1"/>
          </p:cNvPicPr>
          <p:nvPr>
            <p:ph idx="1"/>
          </p:nvPr>
        </p:nvPicPr>
        <p:blipFill>
          <a:blip r:embed="rId3" cstate="print"/>
          <a:stretch>
            <a:fillRect/>
          </a:stretch>
        </p:blipFill>
        <p:spPr>
          <a:xfrm>
            <a:off x="706838" y="1299458"/>
            <a:ext cx="6948177" cy="5558542"/>
          </a:xfrm>
        </p:spPr>
      </p:pic>
      <p:sp>
        <p:nvSpPr>
          <p:cNvPr id="2" name="Title 1"/>
          <p:cNvSpPr>
            <a:spLocks noGrp="1"/>
          </p:cNvSpPr>
          <p:nvPr>
            <p:ph type="title"/>
          </p:nvPr>
        </p:nvSpPr>
        <p:spPr/>
        <p:txBody>
          <a:bodyPr/>
          <a:lstStyle/>
          <a:p>
            <a:r>
              <a:rPr lang="en-US" dirty="0"/>
              <a:t>Demo: Spectral Synthesis</a:t>
            </a:r>
          </a:p>
        </p:txBody>
      </p:sp>
    </p:spTree>
    <p:extLst>
      <p:ext uri="{BB962C8B-B14F-4D97-AF65-F5344CB8AC3E}">
        <p14:creationId xmlns:p14="http://schemas.microsoft.com/office/powerpoint/2010/main" val="2176241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Fourier Analysis</a:t>
            </a:r>
          </a:p>
        </p:txBody>
      </p:sp>
      <p:pic>
        <p:nvPicPr>
          <p:cNvPr id="8194" name="Picture 2" descr="Image result for 2d fourier transfor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862" y="1236233"/>
            <a:ext cx="5118773" cy="26208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rot="5400000">
            <a:off x="5923561" y="1232634"/>
            <a:ext cx="2620813" cy="2628012"/>
          </a:xfrm>
          <a:prstGeom prst="rect">
            <a:avLst/>
          </a:prstGeom>
        </p:spPr>
      </p:pic>
      <p:pic>
        <p:nvPicPr>
          <p:cNvPr id="7170" name="Picture 2" descr="Image result for 3d  visualization of fourier spectrum matla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1862" y="3920284"/>
            <a:ext cx="2555876" cy="2555876"/>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http://2.bp.blogspot.com/_qvZ1h1bgBRo/SX1DGi68ZVI/AAAAAAAAAZo/gAkAVbSQEaE/s400/Picture+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7739" y="3920285"/>
            <a:ext cx="5264968" cy="2553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654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 name="Picture 4" descr="Image result for Double Sl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89" y="0"/>
            <a:ext cx="9143998"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bwMode="auto">
          <a:xfrm>
            <a:off x="5594882" y="1143000"/>
            <a:ext cx="1825345" cy="744548"/>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2842" kern="0" dirty="0">
                <a:solidFill>
                  <a:srgbClr val="FF0000"/>
                </a:solidFill>
              </a:rPr>
              <a:t>Particle</a:t>
            </a:r>
          </a:p>
        </p:txBody>
      </p:sp>
      <p:sp>
        <p:nvSpPr>
          <p:cNvPr id="5" name="Title 1"/>
          <p:cNvSpPr txBox="1">
            <a:spLocks/>
          </p:cNvSpPr>
          <p:nvPr/>
        </p:nvSpPr>
        <p:spPr bwMode="auto">
          <a:xfrm>
            <a:off x="7848743" y="2472785"/>
            <a:ext cx="1825345" cy="744548"/>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81224" tIns="40611" rIns="81224" bIns="40611"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2842" kern="0" dirty="0">
                <a:solidFill>
                  <a:srgbClr val="0000FF"/>
                </a:solidFill>
              </a:rPr>
              <a:t>Wave</a:t>
            </a:r>
          </a:p>
        </p:txBody>
      </p:sp>
      <p:sp>
        <p:nvSpPr>
          <p:cNvPr id="6" name="Title 1"/>
          <p:cNvSpPr>
            <a:spLocks noGrp="1"/>
          </p:cNvSpPr>
          <p:nvPr>
            <p:ph type="title"/>
          </p:nvPr>
        </p:nvSpPr>
        <p:spPr>
          <a:xfrm>
            <a:off x="530087" y="152400"/>
            <a:ext cx="9144000" cy="1270000"/>
          </a:xfrm>
        </p:spPr>
        <p:txBody>
          <a:bodyPr/>
          <a:lstStyle/>
          <a:p>
            <a:r>
              <a:rPr lang="en-US" dirty="0"/>
              <a:t>Duality of Information</a:t>
            </a:r>
          </a:p>
        </p:txBody>
      </p:sp>
    </p:spTree>
    <p:extLst>
      <p:ext uri="{BB962C8B-B14F-4D97-AF65-F5344CB8AC3E}">
        <p14:creationId xmlns:p14="http://schemas.microsoft.com/office/powerpoint/2010/main" val="81052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Periodic Function</a:t>
            </a:r>
          </a:p>
        </p:txBody>
      </p:sp>
      <p:pic>
        <p:nvPicPr>
          <p:cNvPr id="16386" name="Picture 2" descr="https://upload.wikimedia.org/wikipedia/commons/thumb/1/12/Periodic_function_illustration.svg/300px-Periodic_function_illustra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043" y="1202664"/>
            <a:ext cx="8002367" cy="2934204"/>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nanowerk.com/nanotechnology-news/id4021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043" y="4304563"/>
            <a:ext cx="8002367" cy="240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3746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80190" y="1140322"/>
            <a:ext cx="7644699" cy="3524422"/>
          </a:xfrm>
          <a:prstGeom prst="rect">
            <a:avLst/>
          </a:prstGeom>
        </p:spPr>
      </p:pic>
      <p:pic>
        <p:nvPicPr>
          <p:cNvPr id="4" name="Picture 3"/>
          <p:cNvPicPr>
            <a:picLocks noChangeAspect="1"/>
          </p:cNvPicPr>
          <p:nvPr/>
        </p:nvPicPr>
        <p:blipFill>
          <a:blip r:embed="rId4"/>
          <a:stretch>
            <a:fillRect/>
          </a:stretch>
        </p:blipFill>
        <p:spPr>
          <a:xfrm>
            <a:off x="480190" y="4664744"/>
            <a:ext cx="7517921" cy="2193256"/>
          </a:xfrm>
          <a:prstGeom prst="rect">
            <a:avLst/>
          </a:prstGeom>
        </p:spPr>
      </p:pic>
      <p:sp>
        <p:nvSpPr>
          <p:cNvPr id="5"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(Unit Period)</a:t>
            </a:r>
          </a:p>
        </p:txBody>
      </p:sp>
    </p:spTree>
    <p:extLst>
      <p:ext uri="{BB962C8B-B14F-4D97-AF65-F5344CB8AC3E}">
        <p14:creationId xmlns:p14="http://schemas.microsoft.com/office/powerpoint/2010/main" val="386308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34255" y="1336562"/>
            <a:ext cx="7586381" cy="5369038"/>
          </a:xfrm>
          <a:prstGeom prst="rect">
            <a:avLst/>
          </a:prstGeom>
        </p:spPr>
      </p:pic>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a:t>Orthogonal Representation </a:t>
            </a:r>
            <a:endParaRPr lang="en-US" kern="0" dirty="0"/>
          </a:p>
        </p:txBody>
      </p:sp>
      <p:sp>
        <p:nvSpPr>
          <p:cNvPr id="2" name="Rectangle 1"/>
          <p:cNvSpPr/>
          <p:nvPr/>
        </p:nvSpPr>
        <p:spPr bwMode="auto">
          <a:xfrm>
            <a:off x="319588" y="3688360"/>
            <a:ext cx="404261" cy="50051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670418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Harmonics</a:t>
            </a:r>
            <a:endParaRPr lang="en-US" sz="4000" b="0" kern="0" dirty="0"/>
          </a:p>
        </p:txBody>
      </p:sp>
      <p:pic>
        <p:nvPicPr>
          <p:cNvPr id="26626" name="Picture 2" descr="https://12tonemusic.files.wordpress.com/2014/10/harmonic.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2" y="1080137"/>
            <a:ext cx="7530830" cy="521133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4"/>
          <a:stretch>
            <a:fillRect/>
          </a:stretch>
        </p:blipFill>
        <p:spPr>
          <a:xfrm>
            <a:off x="126675" y="4473388"/>
            <a:ext cx="1775012" cy="2232212"/>
          </a:xfrm>
          <a:prstGeom prst="rect">
            <a:avLst/>
          </a:prstGeom>
          <a:ln w="38100">
            <a:solidFill>
              <a:srgbClr val="FF0000"/>
            </a:solidFill>
          </a:ln>
        </p:spPr>
      </p:pic>
      <p:sp>
        <p:nvSpPr>
          <p:cNvPr id="5" name="Rectangle 4"/>
          <p:cNvSpPr/>
          <p:nvPr/>
        </p:nvSpPr>
        <p:spPr bwMode="auto">
          <a:xfrm>
            <a:off x="628700" y="3191436"/>
            <a:ext cx="376517" cy="744071"/>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cxnSp>
        <p:nvCxnSpPr>
          <p:cNvPr id="7" name="Curved Connector 6"/>
          <p:cNvCxnSpPr>
            <a:stCxn id="5" idx="2"/>
            <a:endCxn id="4" idx="0"/>
          </p:cNvCxnSpPr>
          <p:nvPr/>
        </p:nvCxnSpPr>
        <p:spPr bwMode="auto">
          <a:xfrm rot="16200000" flipH="1">
            <a:off x="646628" y="4105836"/>
            <a:ext cx="537882" cy="197223"/>
          </a:xfrm>
          <a:prstGeom prst="curvedConnector3">
            <a:avLst>
              <a:gd name="adj1" fmla="val 50000"/>
            </a:avLst>
          </a:prstGeom>
          <a:solidFill>
            <a:schemeClr val="accent1"/>
          </a:solidFill>
          <a:ln w="38100"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4055822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(Unit Period)</a:t>
            </a:r>
          </a:p>
        </p:txBody>
      </p:sp>
      <p:sp>
        <p:nvSpPr>
          <p:cNvPr id="5" name="Title 1"/>
          <p:cNvSpPr txBox="1">
            <a:spLocks/>
          </p:cNvSpPr>
          <p:nvPr/>
        </p:nvSpPr>
        <p:spPr>
          <a:xfrm>
            <a:off x="3725231" y="2324514"/>
            <a:ext cx="4521386" cy="598449"/>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2400" b="0" kern="0" dirty="0">
                <a:solidFill>
                  <a:srgbClr val="009900"/>
                </a:solidFill>
              </a:rPr>
              <a:t>Even Parts            Odd Parts</a:t>
            </a:r>
          </a:p>
        </p:txBody>
      </p:sp>
      <p:sp>
        <p:nvSpPr>
          <p:cNvPr id="6" name="Title 1"/>
          <p:cNvSpPr txBox="1">
            <a:spLocks/>
          </p:cNvSpPr>
          <p:nvPr/>
        </p:nvSpPr>
        <p:spPr>
          <a:xfrm>
            <a:off x="1423872" y="2142307"/>
            <a:ext cx="1862254" cy="811483"/>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2400" b="0" kern="0" dirty="0">
                <a:solidFill>
                  <a:srgbClr val="009900"/>
                </a:solidFill>
              </a:rPr>
              <a:t>Direct Component</a:t>
            </a:r>
          </a:p>
        </p:txBody>
      </p:sp>
      <p:pic>
        <p:nvPicPr>
          <p:cNvPr id="17410" name="Picture 2" descr="https://i.stack.imgur.com/Y5EA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7848" y="3356290"/>
            <a:ext cx="5985187" cy="27506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887" y="3243476"/>
            <a:ext cx="3156304" cy="315630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5"/>
          <a:stretch>
            <a:fillRect/>
          </a:stretch>
        </p:blipFill>
        <p:spPr>
          <a:xfrm>
            <a:off x="925997" y="990600"/>
            <a:ext cx="7238998" cy="1225062"/>
          </a:xfrm>
          <a:prstGeom prst="rect">
            <a:avLst/>
          </a:prstGeom>
        </p:spPr>
      </p:pic>
    </p:spTree>
    <p:extLst>
      <p:ext uri="{BB962C8B-B14F-4D97-AF65-F5344CB8AC3E}">
        <p14:creationId xmlns:p14="http://schemas.microsoft.com/office/powerpoint/2010/main" val="216701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93402" y="1395096"/>
            <a:ext cx="8467493" cy="3618887"/>
          </a:xfrm>
          <a:prstGeom prst="rect">
            <a:avLst/>
          </a:prstGeom>
        </p:spPr>
      </p:pic>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Even &amp; Odd Functions</a:t>
            </a:r>
          </a:p>
        </p:txBody>
      </p:sp>
    </p:spTree>
    <p:extLst>
      <p:ext uri="{BB962C8B-B14F-4D97-AF65-F5344CB8AC3E}">
        <p14:creationId xmlns:p14="http://schemas.microsoft.com/office/powerpoint/2010/main" val="312129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Coefficients</a:t>
            </a:r>
            <a:r>
              <a:rPr lang="en-US" sz="4000" b="0" kern="0" dirty="0"/>
              <a:t> (Unit Period)</a:t>
            </a:r>
          </a:p>
        </p:txBody>
      </p:sp>
      <p:pic>
        <p:nvPicPr>
          <p:cNvPr id="2" name="Picture 1"/>
          <p:cNvPicPr>
            <a:picLocks noChangeAspect="1"/>
          </p:cNvPicPr>
          <p:nvPr/>
        </p:nvPicPr>
        <p:blipFill>
          <a:blip r:embed="rId3"/>
          <a:stretch>
            <a:fillRect/>
          </a:stretch>
        </p:blipFill>
        <p:spPr>
          <a:xfrm>
            <a:off x="1757242" y="1428067"/>
            <a:ext cx="8677517" cy="4001866"/>
          </a:xfrm>
          <a:prstGeom prst="rect">
            <a:avLst/>
          </a:prstGeom>
        </p:spPr>
      </p:pic>
    </p:spTree>
    <p:extLst>
      <p:ext uri="{BB962C8B-B14F-4D97-AF65-F5344CB8AC3E}">
        <p14:creationId xmlns:p14="http://schemas.microsoft.com/office/powerpoint/2010/main" val="699839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747D0-4ED1-921D-58F8-6F0B59F80A5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710D452-9A1F-D0D3-C4D8-7C73C9EA7ECB}"/>
              </a:ext>
            </a:extLst>
          </p:cNvPr>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(Unit Period)</a:t>
            </a:r>
          </a:p>
        </p:txBody>
      </p:sp>
      <p:sp>
        <p:nvSpPr>
          <p:cNvPr id="5" name="Title 1">
            <a:extLst>
              <a:ext uri="{FF2B5EF4-FFF2-40B4-BE49-F238E27FC236}">
                <a16:creationId xmlns:a16="http://schemas.microsoft.com/office/drawing/2014/main" id="{15D417BB-BF53-F34F-B98B-384466DB4411}"/>
              </a:ext>
            </a:extLst>
          </p:cNvPr>
          <p:cNvSpPr txBox="1">
            <a:spLocks/>
          </p:cNvSpPr>
          <p:nvPr/>
        </p:nvSpPr>
        <p:spPr>
          <a:xfrm>
            <a:off x="3964118" y="2630334"/>
            <a:ext cx="4521386" cy="598449"/>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2400" b="0" kern="0" dirty="0">
                <a:solidFill>
                  <a:srgbClr val="009900"/>
                </a:solidFill>
              </a:rPr>
              <a:t>Even Parts            Odd Parts</a:t>
            </a:r>
          </a:p>
        </p:txBody>
      </p:sp>
      <p:sp>
        <p:nvSpPr>
          <p:cNvPr id="6" name="Title 1">
            <a:extLst>
              <a:ext uri="{FF2B5EF4-FFF2-40B4-BE49-F238E27FC236}">
                <a16:creationId xmlns:a16="http://schemas.microsoft.com/office/drawing/2014/main" id="{C9837E84-368E-3FF6-72BF-B7F1264ED7E2}"/>
              </a:ext>
            </a:extLst>
          </p:cNvPr>
          <p:cNvSpPr txBox="1">
            <a:spLocks/>
          </p:cNvSpPr>
          <p:nvPr/>
        </p:nvSpPr>
        <p:spPr>
          <a:xfrm>
            <a:off x="1662759" y="2448127"/>
            <a:ext cx="1862254" cy="811483"/>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2400" b="0" kern="0" dirty="0">
                <a:solidFill>
                  <a:srgbClr val="009900"/>
                </a:solidFill>
              </a:rPr>
              <a:t>Direct Component</a:t>
            </a:r>
          </a:p>
        </p:txBody>
      </p:sp>
      <p:pic>
        <p:nvPicPr>
          <p:cNvPr id="17410" name="Picture 2" descr="https://i.stack.imgur.com/Y5EAf.png">
            <a:extLst>
              <a:ext uri="{FF2B5EF4-FFF2-40B4-BE49-F238E27FC236}">
                <a16:creationId xmlns:a16="http://schemas.microsoft.com/office/drawing/2014/main" id="{28E998D6-61D0-F647-C63C-13DC5913D6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6735" y="3662110"/>
            <a:ext cx="5985187" cy="27506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http://www.magic-emoji.com/emoji/images/83_emoji_iphone_black_diamond_suit.png">
            <a:extLst>
              <a:ext uri="{FF2B5EF4-FFF2-40B4-BE49-F238E27FC236}">
                <a16:creationId xmlns:a16="http://schemas.microsoft.com/office/drawing/2014/main" id="{8CE2912A-38AA-D153-9134-35CFCF3ED2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549296"/>
            <a:ext cx="3156304" cy="315630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8CD94B1E-6BBE-122F-DE09-002523C405DA}"/>
              </a:ext>
            </a:extLst>
          </p:cNvPr>
          <p:cNvPicPr>
            <a:picLocks noChangeAspect="1"/>
          </p:cNvPicPr>
          <p:nvPr/>
        </p:nvPicPr>
        <p:blipFill>
          <a:blip r:embed="rId5"/>
          <a:stretch>
            <a:fillRect/>
          </a:stretch>
        </p:blipFill>
        <p:spPr>
          <a:xfrm>
            <a:off x="1164884" y="1296420"/>
            <a:ext cx="7238998" cy="1225062"/>
          </a:xfrm>
          <a:prstGeom prst="rect">
            <a:avLst/>
          </a:prstGeom>
        </p:spPr>
      </p:pic>
    </p:spTree>
    <p:extLst>
      <p:ext uri="{BB962C8B-B14F-4D97-AF65-F5344CB8AC3E}">
        <p14:creationId xmlns:p14="http://schemas.microsoft.com/office/powerpoint/2010/main" val="26836115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F589-EE7E-A323-7546-1405AB2F5B0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C83FB66-5B46-11D4-30F0-B068999E3D1B}"/>
              </a:ext>
            </a:extLst>
          </p:cNvPr>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Coefficients</a:t>
            </a:r>
            <a:r>
              <a:rPr lang="en-US" sz="4000" b="0" kern="0" dirty="0"/>
              <a:t> (Unit Period)</a:t>
            </a:r>
          </a:p>
        </p:txBody>
      </p:sp>
      <p:pic>
        <p:nvPicPr>
          <p:cNvPr id="2" name="Picture 1">
            <a:extLst>
              <a:ext uri="{FF2B5EF4-FFF2-40B4-BE49-F238E27FC236}">
                <a16:creationId xmlns:a16="http://schemas.microsoft.com/office/drawing/2014/main" id="{7C67367C-77B5-B0D7-FBC8-59E003F25C1B}"/>
              </a:ext>
            </a:extLst>
          </p:cNvPr>
          <p:cNvPicPr>
            <a:picLocks noChangeAspect="1"/>
          </p:cNvPicPr>
          <p:nvPr/>
        </p:nvPicPr>
        <p:blipFill>
          <a:blip r:embed="rId3"/>
          <a:stretch>
            <a:fillRect/>
          </a:stretch>
        </p:blipFill>
        <p:spPr>
          <a:xfrm>
            <a:off x="1757242" y="1428067"/>
            <a:ext cx="8677517" cy="4001866"/>
          </a:xfrm>
          <a:prstGeom prst="rect">
            <a:avLst/>
          </a:prstGeom>
        </p:spPr>
      </p:pic>
    </p:spTree>
    <p:extLst>
      <p:ext uri="{BB962C8B-B14F-4D97-AF65-F5344CB8AC3E}">
        <p14:creationId xmlns:p14="http://schemas.microsoft.com/office/powerpoint/2010/main" val="4508130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a:t>
            </a:r>
            <a:r>
              <a:rPr lang="en-US" sz="4000" b="0" kern="0" dirty="0"/>
              <a:t> (Real Form)</a:t>
            </a:r>
          </a:p>
        </p:txBody>
      </p:sp>
      <p:graphicFrame>
        <p:nvGraphicFramePr>
          <p:cNvPr id="7" name="Object 6"/>
          <p:cNvGraphicFramePr>
            <a:graphicFrameLocks noChangeAspect="1"/>
          </p:cNvGraphicFramePr>
          <p:nvPr>
            <p:extLst>
              <p:ext uri="{D42A27DB-BD31-4B8C-83A1-F6EECF244321}">
                <p14:modId xmlns:p14="http://schemas.microsoft.com/office/powerpoint/2010/main" val="688955654"/>
              </p:ext>
            </p:extLst>
          </p:nvPr>
        </p:nvGraphicFramePr>
        <p:xfrm>
          <a:off x="2090569" y="1119092"/>
          <a:ext cx="8010863" cy="1213344"/>
        </p:xfrm>
        <a:graphic>
          <a:graphicData uri="http://schemas.openxmlformats.org/presentationml/2006/ole">
            <mc:AlternateContent xmlns:mc="http://schemas.openxmlformats.org/markup-compatibility/2006">
              <mc:Choice xmlns:v="urn:schemas-microsoft-com:vml" Requires="v">
                <p:oleObj name="Equation" r:id="rId3" imgW="4533840" imgH="685800" progId="Equation.DSMT4">
                  <p:embed/>
                </p:oleObj>
              </mc:Choice>
              <mc:Fallback>
                <p:oleObj name="Equation" r:id="rId3" imgW="4533840" imgH="685800" progId="Equation.DSMT4">
                  <p:embed/>
                  <p:pic>
                    <p:nvPicPr>
                      <p:cNvPr id="7" name="Object 6"/>
                      <p:cNvPicPr>
                        <a:picLocks noChangeAspect="1" noChangeArrowheads="1"/>
                      </p:cNvPicPr>
                      <p:nvPr/>
                    </p:nvPicPr>
                    <p:blipFill>
                      <a:blip r:embed="rId4"/>
                      <a:srcRect/>
                      <a:stretch>
                        <a:fillRect/>
                      </a:stretch>
                    </p:blipFill>
                    <p:spPr bwMode="auto">
                      <a:xfrm>
                        <a:off x="2090569" y="1119092"/>
                        <a:ext cx="8010863" cy="1213344"/>
                      </a:xfrm>
                      <a:prstGeom prst="rect">
                        <a:avLst/>
                      </a:prstGeom>
                      <a:noFill/>
                      <a:ln>
                        <a:noFill/>
                      </a:ln>
                      <a:effec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566669249"/>
              </p:ext>
            </p:extLst>
          </p:nvPr>
        </p:nvGraphicFramePr>
        <p:xfrm>
          <a:off x="2217738" y="3828003"/>
          <a:ext cx="3803650" cy="1560512"/>
        </p:xfrm>
        <a:graphic>
          <a:graphicData uri="http://schemas.openxmlformats.org/presentationml/2006/ole">
            <mc:AlternateContent xmlns:mc="http://schemas.openxmlformats.org/markup-compatibility/2006">
              <mc:Choice xmlns:v="urn:schemas-microsoft-com:vml" Requires="v">
                <p:oleObj name="Equation" r:id="rId5" imgW="2654280" imgH="1091880" progId="Equation.DSMT4">
                  <p:embed/>
                </p:oleObj>
              </mc:Choice>
              <mc:Fallback>
                <p:oleObj name="Equation" r:id="rId5" imgW="2654280" imgH="1091880" progId="Equation.DSMT4">
                  <p:embed/>
                  <p:pic>
                    <p:nvPicPr>
                      <p:cNvPr id="10" name="Object 9"/>
                      <p:cNvPicPr>
                        <a:picLocks noChangeAspect="1" noChangeArrowheads="1"/>
                      </p:cNvPicPr>
                      <p:nvPr/>
                    </p:nvPicPr>
                    <p:blipFill>
                      <a:blip r:embed="rId6"/>
                      <a:srcRect/>
                      <a:stretch>
                        <a:fillRect/>
                      </a:stretch>
                    </p:blipFill>
                    <p:spPr bwMode="auto">
                      <a:xfrm>
                        <a:off x="2217738" y="3828003"/>
                        <a:ext cx="3803650" cy="1560512"/>
                      </a:xfrm>
                      <a:prstGeom prst="rect">
                        <a:avLst/>
                      </a:prstGeom>
                      <a:noFill/>
                      <a:ln>
                        <a:noFill/>
                      </a:ln>
                      <a:effectLst/>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137192257"/>
              </p:ext>
            </p:extLst>
          </p:nvPr>
        </p:nvGraphicFramePr>
        <p:xfrm>
          <a:off x="2217739" y="2751536"/>
          <a:ext cx="2173931" cy="893446"/>
        </p:xfrm>
        <a:graphic>
          <a:graphicData uri="http://schemas.openxmlformats.org/presentationml/2006/ole">
            <mc:AlternateContent xmlns:mc="http://schemas.openxmlformats.org/markup-compatibility/2006">
              <mc:Choice xmlns:v="urn:schemas-microsoft-com:vml" Requires="v">
                <p:oleObj name="Equation" r:id="rId7" imgW="1485720" imgH="609480" progId="Equation.DSMT4">
                  <p:embed/>
                </p:oleObj>
              </mc:Choice>
              <mc:Fallback>
                <p:oleObj name="Equation" r:id="rId7" imgW="1485720" imgH="609480" progId="Equation.DSMT4">
                  <p:embed/>
                  <p:pic>
                    <p:nvPicPr>
                      <p:cNvPr id="11" name="Object 10"/>
                      <p:cNvPicPr>
                        <a:picLocks noChangeAspect="1" noChangeArrowheads="1"/>
                      </p:cNvPicPr>
                      <p:nvPr/>
                    </p:nvPicPr>
                    <p:blipFill>
                      <a:blip r:embed="rId8"/>
                      <a:srcRect/>
                      <a:stretch>
                        <a:fillRect/>
                      </a:stretch>
                    </p:blipFill>
                    <p:spPr bwMode="auto">
                      <a:xfrm>
                        <a:off x="2217739" y="2751536"/>
                        <a:ext cx="2173931" cy="893446"/>
                      </a:xfrm>
                      <a:prstGeom prst="rect">
                        <a:avLst/>
                      </a:prstGeom>
                      <a:noFill/>
                      <a:ln>
                        <a:noFill/>
                      </a:ln>
                      <a:effectLst/>
                    </p:spPr>
                  </p:pic>
                </p:oleObj>
              </mc:Fallback>
            </mc:AlternateContent>
          </a:graphicData>
        </a:graphic>
      </p:graphicFrame>
      <p:pic>
        <p:nvPicPr>
          <p:cNvPr id="12" name="Picture 12" descr="http://www.magic-emoji.com/emoji/images/83_emoji_iphone_black_diamond_suit.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0817" y="2612758"/>
            <a:ext cx="3156304" cy="315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7748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56671" y="1686147"/>
            <a:ext cx="5538842" cy="1318104"/>
          </a:xfrm>
          <a:prstGeom prst="rect">
            <a:avLst/>
          </a:prstGeom>
        </p:spPr>
      </p:pic>
      <p:pic>
        <p:nvPicPr>
          <p:cNvPr id="7" name="Picture 6"/>
          <p:cNvPicPr>
            <a:picLocks noChangeAspect="1"/>
          </p:cNvPicPr>
          <p:nvPr/>
        </p:nvPicPr>
        <p:blipFill>
          <a:blip r:embed="rId4"/>
          <a:stretch>
            <a:fillRect/>
          </a:stretch>
        </p:blipFill>
        <p:spPr>
          <a:xfrm>
            <a:off x="3996271" y="1165954"/>
            <a:ext cx="1921067" cy="490784"/>
          </a:xfrm>
          <a:prstGeom prst="rect">
            <a:avLst/>
          </a:prstGeom>
        </p:spPr>
      </p:pic>
      <p:pic>
        <p:nvPicPr>
          <p:cNvPr id="9" name="Picture 8"/>
          <p:cNvPicPr>
            <a:picLocks noChangeAspect="1"/>
          </p:cNvPicPr>
          <p:nvPr/>
        </p:nvPicPr>
        <p:blipFill>
          <a:blip r:embed="rId5"/>
          <a:stretch>
            <a:fillRect/>
          </a:stretch>
        </p:blipFill>
        <p:spPr>
          <a:xfrm>
            <a:off x="2079935" y="1079282"/>
            <a:ext cx="1318104" cy="616985"/>
          </a:xfrm>
          <a:prstGeom prst="rect">
            <a:avLst/>
          </a:prstGeom>
        </p:spPr>
      </p:pic>
      <p:pic>
        <p:nvPicPr>
          <p:cNvPr id="10" name="Picture 9"/>
          <p:cNvPicPr>
            <a:picLocks noChangeAspect="1"/>
          </p:cNvPicPr>
          <p:nvPr/>
        </p:nvPicPr>
        <p:blipFill>
          <a:blip r:embed="rId6"/>
          <a:stretch>
            <a:fillRect/>
          </a:stretch>
        </p:blipFill>
        <p:spPr>
          <a:xfrm>
            <a:off x="6410253" y="1111474"/>
            <a:ext cx="1935091" cy="588941"/>
          </a:xfrm>
          <a:prstGeom prst="rect">
            <a:avLst/>
          </a:prstGeom>
        </p:spPr>
      </p:pic>
      <p:pic>
        <p:nvPicPr>
          <p:cNvPr id="11" name="Picture 10"/>
          <p:cNvPicPr>
            <a:picLocks noChangeAspect="1"/>
          </p:cNvPicPr>
          <p:nvPr/>
        </p:nvPicPr>
        <p:blipFill>
          <a:blip r:embed="rId7"/>
          <a:stretch>
            <a:fillRect/>
          </a:stretch>
        </p:blipFill>
        <p:spPr>
          <a:xfrm>
            <a:off x="2175916" y="3133123"/>
            <a:ext cx="3042857" cy="897433"/>
          </a:xfrm>
          <a:prstGeom prst="rect">
            <a:avLst/>
          </a:prstGeom>
        </p:spPr>
      </p:pic>
      <p:pic>
        <p:nvPicPr>
          <p:cNvPr id="12" name="Picture 11"/>
          <p:cNvPicPr>
            <a:picLocks noChangeAspect="1"/>
          </p:cNvPicPr>
          <p:nvPr/>
        </p:nvPicPr>
        <p:blipFill>
          <a:blip r:embed="rId8"/>
          <a:stretch>
            <a:fillRect/>
          </a:stretch>
        </p:blipFill>
        <p:spPr>
          <a:xfrm>
            <a:off x="5826529" y="3084012"/>
            <a:ext cx="2986770" cy="967545"/>
          </a:xfrm>
          <a:prstGeom prst="rect">
            <a:avLst/>
          </a:prstGeom>
        </p:spPr>
      </p:pic>
      <p:pic>
        <p:nvPicPr>
          <p:cNvPr id="13" name="Picture 12"/>
          <p:cNvPicPr>
            <a:picLocks noChangeAspect="1"/>
          </p:cNvPicPr>
          <p:nvPr/>
        </p:nvPicPr>
        <p:blipFill>
          <a:blip r:embed="rId9"/>
          <a:stretch>
            <a:fillRect/>
          </a:stretch>
        </p:blipFill>
        <p:spPr>
          <a:xfrm>
            <a:off x="1956671" y="4245787"/>
            <a:ext cx="5216330" cy="1233971"/>
          </a:xfrm>
          <a:prstGeom prst="rect">
            <a:avLst/>
          </a:prstGeom>
        </p:spPr>
      </p:pic>
      <p:pic>
        <p:nvPicPr>
          <p:cNvPr id="14" name="Picture 13"/>
          <p:cNvPicPr>
            <a:picLocks noChangeAspect="1"/>
          </p:cNvPicPr>
          <p:nvPr/>
        </p:nvPicPr>
        <p:blipFill>
          <a:blip r:embed="rId10"/>
          <a:stretch>
            <a:fillRect/>
          </a:stretch>
        </p:blipFill>
        <p:spPr>
          <a:xfrm>
            <a:off x="1956672" y="5621260"/>
            <a:ext cx="6001583" cy="1177881"/>
          </a:xfrm>
          <a:prstGeom prst="rect">
            <a:avLst/>
          </a:prstGeom>
        </p:spPr>
      </p:pic>
      <p:sp>
        <p:nvSpPr>
          <p:cNvPr id="15"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Complex Representation </a:t>
            </a:r>
          </a:p>
        </p:txBody>
      </p:sp>
      <p:sp>
        <p:nvSpPr>
          <p:cNvPr id="16" name="Title 1"/>
          <p:cNvSpPr txBox="1">
            <a:spLocks/>
          </p:cNvSpPr>
          <p:nvPr/>
        </p:nvSpPr>
        <p:spPr>
          <a:xfrm>
            <a:off x="7270634" y="1729823"/>
            <a:ext cx="2149419" cy="709686"/>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algn="l" eaLnBrk="1" hangingPunct="1"/>
            <a:r>
              <a:rPr lang="en-US" sz="2800" b="0" kern="0" dirty="0">
                <a:solidFill>
                  <a:srgbClr val="FF0000"/>
                </a:solidFill>
              </a:rPr>
              <a:t>Conjugate</a:t>
            </a:r>
          </a:p>
        </p:txBody>
      </p:sp>
      <p:cxnSp>
        <p:nvCxnSpPr>
          <p:cNvPr id="3" name="Straight Connector 2"/>
          <p:cNvCxnSpPr>
            <a:endCxn id="16" idx="0"/>
          </p:cNvCxnSpPr>
          <p:nvPr/>
        </p:nvCxnSpPr>
        <p:spPr bwMode="auto">
          <a:xfrm>
            <a:off x="6542049" y="1729823"/>
            <a:ext cx="1803294" cy="0"/>
          </a:xfrm>
          <a:prstGeom prst="line">
            <a:avLst/>
          </a:prstGeom>
          <a:solidFill>
            <a:schemeClr val="accent1"/>
          </a:solidFill>
          <a:ln w="38100"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2528891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65985" y="5489542"/>
            <a:ext cx="8653346" cy="717525"/>
          </a:xfrm>
          <a:prstGeom prst="rect">
            <a:avLst/>
          </a:prstGeom>
        </p:spPr>
      </p:pic>
      <p:pic>
        <p:nvPicPr>
          <p:cNvPr id="17" name="Picture 16"/>
          <p:cNvPicPr>
            <a:picLocks noChangeAspect="1"/>
          </p:cNvPicPr>
          <p:nvPr/>
        </p:nvPicPr>
        <p:blipFill>
          <a:blip r:embed="rId4"/>
          <a:stretch>
            <a:fillRect/>
          </a:stretch>
        </p:blipFill>
        <p:spPr>
          <a:xfrm>
            <a:off x="65986" y="4482753"/>
            <a:ext cx="7562705" cy="588370"/>
          </a:xfrm>
          <a:prstGeom prst="rect">
            <a:avLst/>
          </a:prstGeom>
        </p:spPr>
      </p:pic>
      <p:pic>
        <p:nvPicPr>
          <p:cNvPr id="18" name="Picture 17"/>
          <p:cNvPicPr>
            <a:picLocks noChangeAspect="1"/>
          </p:cNvPicPr>
          <p:nvPr/>
        </p:nvPicPr>
        <p:blipFill>
          <a:blip r:embed="rId5"/>
          <a:stretch>
            <a:fillRect/>
          </a:stretch>
        </p:blipFill>
        <p:spPr>
          <a:xfrm>
            <a:off x="4338065" y="2136039"/>
            <a:ext cx="3515869" cy="645772"/>
          </a:xfrm>
          <a:prstGeom prst="rect">
            <a:avLst/>
          </a:prstGeom>
        </p:spPr>
      </p:pic>
      <p:pic>
        <p:nvPicPr>
          <p:cNvPr id="19" name="Picture 18"/>
          <p:cNvPicPr>
            <a:picLocks noChangeAspect="1"/>
          </p:cNvPicPr>
          <p:nvPr/>
        </p:nvPicPr>
        <p:blipFill>
          <a:blip r:embed="rId6"/>
          <a:stretch>
            <a:fillRect/>
          </a:stretch>
        </p:blipFill>
        <p:spPr>
          <a:xfrm>
            <a:off x="4438878" y="2924191"/>
            <a:ext cx="2224324" cy="875379"/>
          </a:xfrm>
          <a:prstGeom prst="rect">
            <a:avLst/>
          </a:prstGeom>
        </p:spPr>
      </p:pic>
      <p:sp>
        <p:nvSpPr>
          <p:cNvPr id="7"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Two Popular Systems </a:t>
            </a:r>
          </a:p>
        </p:txBody>
      </p:sp>
      <p:pic>
        <p:nvPicPr>
          <p:cNvPr id="15362" name="Picture 2" descr="http://intmstat.com/complex-numbers/Image268.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606" y="1513884"/>
            <a:ext cx="3808839" cy="279413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ED67C7D-EE6B-E4BD-81F9-0571F217534F}"/>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50000"/>
                    </a14:imgEffect>
                    <a14:imgEffect>
                      <a14:brightnessContrast bright="20000" contrast="-20000"/>
                    </a14:imgEffect>
                  </a14:imgLayer>
                </a14:imgProps>
              </a:ext>
            </a:extLst>
          </a:blip>
          <a:stretch>
            <a:fillRect/>
          </a:stretch>
        </p:blipFill>
        <p:spPr>
          <a:xfrm>
            <a:off x="4676136" y="4962896"/>
            <a:ext cx="3056260" cy="634875"/>
          </a:xfrm>
          <a:prstGeom prst="rect">
            <a:avLst/>
          </a:prstGeom>
        </p:spPr>
      </p:pic>
    </p:spTree>
    <p:extLst>
      <p:ext uri="{BB962C8B-B14F-4D97-AF65-F5344CB8AC3E}">
        <p14:creationId xmlns:p14="http://schemas.microsoft.com/office/powerpoint/2010/main" val="832894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 Inner Product</a:t>
            </a:r>
          </a:p>
        </p:txBody>
      </p:sp>
      <p:pic>
        <p:nvPicPr>
          <p:cNvPr id="7" name="Picture 6" descr="http://www.wpclipart.com/blanks/buttons/round/button_round_gree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72993" y="5144772"/>
            <a:ext cx="1490954" cy="14909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stretch>
            <a:fillRect/>
          </a:stretch>
        </p:blipFill>
        <p:spPr>
          <a:xfrm>
            <a:off x="743674" y="834522"/>
            <a:ext cx="5801349" cy="5871078"/>
          </a:xfrm>
          <a:prstGeom prst="rect">
            <a:avLst/>
          </a:prstGeom>
        </p:spPr>
      </p:pic>
    </p:spTree>
    <p:extLst>
      <p:ext uri="{BB962C8B-B14F-4D97-AF65-F5344CB8AC3E}">
        <p14:creationId xmlns:p14="http://schemas.microsoft.com/office/powerpoint/2010/main" val="1624849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 Inner Product</a:t>
            </a:r>
          </a:p>
        </p:txBody>
      </p:sp>
      <p:pic>
        <p:nvPicPr>
          <p:cNvPr id="5" name="Picture 4"/>
          <p:cNvPicPr>
            <a:picLocks noChangeAspect="1"/>
          </p:cNvPicPr>
          <p:nvPr/>
        </p:nvPicPr>
        <p:blipFill>
          <a:blip r:embed="rId3"/>
          <a:stretch>
            <a:fillRect/>
          </a:stretch>
        </p:blipFill>
        <p:spPr>
          <a:xfrm>
            <a:off x="203200" y="990600"/>
            <a:ext cx="6657608" cy="5737201"/>
          </a:xfrm>
          <a:prstGeom prst="rect">
            <a:avLst/>
          </a:prstGeom>
        </p:spPr>
      </p:pic>
      <p:pic>
        <p:nvPicPr>
          <p:cNvPr id="7" name="Picture 6" descr="http://www.wpclipart.com/blanks/buttons/round/button_round_gree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41913" y="5236846"/>
            <a:ext cx="1490954" cy="1490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3814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78300" y="4012025"/>
            <a:ext cx="4977587" cy="1028427"/>
          </a:xfrm>
          <a:prstGeom prst="rect">
            <a:avLst/>
          </a:prstGeom>
        </p:spPr>
      </p:pic>
      <p:pic>
        <p:nvPicPr>
          <p:cNvPr id="6" name="Picture 5"/>
          <p:cNvPicPr>
            <a:picLocks noChangeAspect="1"/>
          </p:cNvPicPr>
          <p:nvPr/>
        </p:nvPicPr>
        <p:blipFill>
          <a:blip r:embed="rId4"/>
          <a:stretch>
            <a:fillRect/>
          </a:stretch>
        </p:blipFill>
        <p:spPr>
          <a:xfrm>
            <a:off x="911476" y="5300911"/>
            <a:ext cx="3023975" cy="1025754"/>
          </a:xfrm>
          <a:prstGeom prst="rect">
            <a:avLst/>
          </a:prstGeom>
        </p:spPr>
      </p:pic>
      <p:pic>
        <p:nvPicPr>
          <p:cNvPr id="7" name="Picture 6"/>
          <p:cNvPicPr>
            <a:picLocks noChangeAspect="1"/>
          </p:cNvPicPr>
          <p:nvPr/>
        </p:nvPicPr>
        <p:blipFill>
          <a:blip r:embed="rId5"/>
          <a:stretch>
            <a:fillRect/>
          </a:stretch>
        </p:blipFill>
        <p:spPr>
          <a:xfrm>
            <a:off x="4310506" y="5395060"/>
            <a:ext cx="2890760" cy="879217"/>
          </a:xfrm>
          <a:prstGeom prst="rect">
            <a:avLst/>
          </a:prstGeom>
        </p:spPr>
      </p:pic>
      <p:sp>
        <p:nvSpPr>
          <p:cNvPr id="8"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Euler’s Formula</a:t>
            </a:r>
          </a:p>
        </p:txBody>
      </p:sp>
      <p:pic>
        <p:nvPicPr>
          <p:cNvPr id="11" name="Picture 10"/>
          <p:cNvPicPr>
            <a:picLocks noChangeAspect="1"/>
          </p:cNvPicPr>
          <p:nvPr/>
        </p:nvPicPr>
        <p:blipFill>
          <a:blip r:embed="rId6"/>
          <a:stretch>
            <a:fillRect/>
          </a:stretch>
        </p:blipFill>
        <p:spPr>
          <a:xfrm>
            <a:off x="778300" y="1164913"/>
            <a:ext cx="6334125" cy="2686050"/>
          </a:xfrm>
          <a:prstGeom prst="rect">
            <a:avLst/>
          </a:prstGeom>
        </p:spPr>
      </p:pic>
      <p:pic>
        <p:nvPicPr>
          <p:cNvPr id="9" name="Picture 12" descr="http://www.magic-emoji.com/emoji/images/83_emoji_iphone_black_diamond_sui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6449493" y="2935305"/>
            <a:ext cx="2459754" cy="2459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82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 Form to Complex Form</a:t>
            </a:r>
          </a:p>
        </p:txBody>
      </p:sp>
      <p:pic>
        <p:nvPicPr>
          <p:cNvPr id="4" name="Picture 3"/>
          <p:cNvPicPr>
            <a:picLocks noChangeAspect="1"/>
          </p:cNvPicPr>
          <p:nvPr/>
        </p:nvPicPr>
        <p:blipFill>
          <a:blip r:embed="rId3"/>
          <a:stretch>
            <a:fillRect/>
          </a:stretch>
        </p:blipFill>
        <p:spPr>
          <a:xfrm>
            <a:off x="1772880" y="1162846"/>
            <a:ext cx="8646243" cy="4532306"/>
          </a:xfrm>
          <a:prstGeom prst="rect">
            <a:avLst/>
          </a:prstGeom>
        </p:spPr>
      </p:pic>
    </p:spTree>
    <p:extLst>
      <p:ext uri="{BB962C8B-B14F-4D97-AF65-F5344CB8AC3E}">
        <p14:creationId xmlns:p14="http://schemas.microsoft.com/office/powerpoint/2010/main" val="12789130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Orthonormal Basis</a:t>
            </a:r>
          </a:p>
        </p:txBody>
      </p:sp>
      <p:pic>
        <p:nvPicPr>
          <p:cNvPr id="4" name="Picture 3"/>
          <p:cNvPicPr>
            <a:picLocks noChangeAspect="1"/>
          </p:cNvPicPr>
          <p:nvPr/>
        </p:nvPicPr>
        <p:blipFill>
          <a:blip r:embed="rId3"/>
          <a:stretch>
            <a:fillRect/>
          </a:stretch>
        </p:blipFill>
        <p:spPr>
          <a:xfrm>
            <a:off x="203200" y="2320705"/>
            <a:ext cx="9078066" cy="4148457"/>
          </a:xfrm>
          <a:prstGeom prst="rect">
            <a:avLst/>
          </a:prstGeom>
        </p:spPr>
      </p:pic>
      <p:pic>
        <p:nvPicPr>
          <p:cNvPr id="5" name="Picture 4"/>
          <p:cNvPicPr>
            <a:picLocks noChangeAspect="1"/>
          </p:cNvPicPr>
          <p:nvPr/>
        </p:nvPicPr>
        <p:blipFill>
          <a:blip r:embed="rId4"/>
          <a:stretch>
            <a:fillRect/>
          </a:stretch>
        </p:blipFill>
        <p:spPr>
          <a:xfrm>
            <a:off x="203200" y="1260693"/>
            <a:ext cx="3581236" cy="869433"/>
          </a:xfrm>
          <a:prstGeom prst="rect">
            <a:avLst/>
          </a:prstGeom>
        </p:spPr>
      </p:pic>
      <p:pic>
        <p:nvPicPr>
          <p:cNvPr id="6" name="Picture 12" descr="http://www.magic-emoji.com/emoji/images/83_emoji_iphone_black_diamond_sui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5727" y="806700"/>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2447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373713" y="759989"/>
            <a:ext cx="6820644" cy="6098011"/>
          </a:xfrm>
          <a:prstGeom prst="rect">
            <a:avLst/>
          </a:prstGeom>
        </p:spPr>
      </p:pic>
      <p:sp>
        <p:nvSpPr>
          <p:cNvPr id="7"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 </a:t>
            </a:r>
            <a:r>
              <a:rPr lang="en-US" sz="4000" b="0" kern="0" dirty="0"/>
              <a:t>(Complex Form)</a:t>
            </a:r>
          </a:p>
        </p:txBody>
      </p:sp>
      <p:pic>
        <p:nvPicPr>
          <p:cNvPr id="12" name="Picture 12"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2237" y="1685616"/>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562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Fourier Series </a:t>
            </a:r>
            <a:r>
              <a:rPr lang="en-US" sz="4000" kern="0" dirty="0">
                <a:solidFill>
                  <a:srgbClr val="FF0000"/>
                </a:solidFill>
              </a:rPr>
              <a:t>Visualized</a:t>
            </a:r>
          </a:p>
        </p:txBody>
      </p:sp>
      <p:graphicFrame>
        <p:nvGraphicFramePr>
          <p:cNvPr id="5" name="Object 4"/>
          <p:cNvGraphicFramePr>
            <a:graphicFrameLocks noChangeAspect="1"/>
          </p:cNvGraphicFramePr>
          <p:nvPr>
            <p:extLst>
              <p:ext uri="{D42A27DB-BD31-4B8C-83A1-F6EECF244321}">
                <p14:modId xmlns:p14="http://schemas.microsoft.com/office/powerpoint/2010/main" val="2676876144"/>
              </p:ext>
            </p:extLst>
          </p:nvPr>
        </p:nvGraphicFramePr>
        <p:xfrm>
          <a:off x="3036099" y="4753071"/>
          <a:ext cx="1198562" cy="320675"/>
        </p:xfrm>
        <a:graphic>
          <a:graphicData uri="http://schemas.openxmlformats.org/presentationml/2006/ole">
            <mc:AlternateContent xmlns:mc="http://schemas.openxmlformats.org/markup-compatibility/2006">
              <mc:Choice xmlns:v="urn:schemas-microsoft-com:vml" Requires="v">
                <p:oleObj name="Equation" r:id="rId3" imgW="1143000" imgH="304560" progId="Equation.DSMT4">
                  <p:embed/>
                </p:oleObj>
              </mc:Choice>
              <mc:Fallback>
                <p:oleObj name="Equation" r:id="rId3" imgW="1143000" imgH="304560" progId="Equation.DSMT4">
                  <p:embed/>
                  <p:pic>
                    <p:nvPicPr>
                      <p:cNvPr id="5" name="Object 4"/>
                      <p:cNvPicPr>
                        <a:picLocks noChangeAspect="1" noChangeArrowheads="1"/>
                      </p:cNvPicPr>
                      <p:nvPr/>
                    </p:nvPicPr>
                    <p:blipFill>
                      <a:blip r:embed="rId4"/>
                      <a:srcRect/>
                      <a:stretch>
                        <a:fillRect/>
                      </a:stretch>
                    </p:blipFill>
                    <p:spPr bwMode="auto">
                      <a:xfrm>
                        <a:off x="3036099" y="4753071"/>
                        <a:ext cx="1198562" cy="320675"/>
                      </a:xfrm>
                      <a:prstGeom prst="rect">
                        <a:avLst/>
                      </a:prstGeom>
                      <a:noFill/>
                      <a:ln>
                        <a:noFill/>
                      </a:ln>
                      <a:effec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136862502"/>
              </p:ext>
            </p:extLst>
          </p:nvPr>
        </p:nvGraphicFramePr>
        <p:xfrm>
          <a:off x="5049308" y="4132793"/>
          <a:ext cx="1104900" cy="320675"/>
        </p:xfrm>
        <a:graphic>
          <a:graphicData uri="http://schemas.openxmlformats.org/presentationml/2006/ole">
            <mc:AlternateContent xmlns:mc="http://schemas.openxmlformats.org/markup-compatibility/2006">
              <mc:Choice xmlns:v="urn:schemas-microsoft-com:vml" Requires="v">
                <p:oleObj name="Equation" r:id="rId5" imgW="1054080" imgH="304560" progId="Equation.DSMT4">
                  <p:embed/>
                </p:oleObj>
              </mc:Choice>
              <mc:Fallback>
                <p:oleObj name="Equation" r:id="rId5" imgW="1054080" imgH="304560" progId="Equation.DSMT4">
                  <p:embed/>
                  <p:pic>
                    <p:nvPicPr>
                      <p:cNvPr id="6" name="Object 5"/>
                      <p:cNvPicPr>
                        <a:picLocks noChangeAspect="1" noChangeArrowheads="1"/>
                      </p:cNvPicPr>
                      <p:nvPr/>
                    </p:nvPicPr>
                    <p:blipFill>
                      <a:blip r:embed="rId6"/>
                      <a:srcRect/>
                      <a:stretch>
                        <a:fillRect/>
                      </a:stretch>
                    </p:blipFill>
                    <p:spPr bwMode="auto">
                      <a:xfrm>
                        <a:off x="5049308" y="4132793"/>
                        <a:ext cx="1104900" cy="320675"/>
                      </a:xfrm>
                      <a:prstGeom prst="rect">
                        <a:avLst/>
                      </a:prstGeom>
                      <a:solidFill>
                        <a:schemeClr val="bg1"/>
                      </a:solidFill>
                      <a:ln>
                        <a:noFill/>
                      </a:ln>
                      <a:effectLst/>
                    </p:spPr>
                  </p:pic>
                </p:oleObj>
              </mc:Fallback>
            </mc:AlternateContent>
          </a:graphicData>
        </a:graphic>
      </p:graphicFrame>
      <p:sp>
        <p:nvSpPr>
          <p:cNvPr id="7" name="Cube 6"/>
          <p:cNvSpPr/>
          <p:nvPr/>
        </p:nvSpPr>
        <p:spPr bwMode="auto">
          <a:xfrm>
            <a:off x="3181488" y="2561533"/>
            <a:ext cx="1850116" cy="1877118"/>
          </a:xfrm>
          <a:prstGeom prst="cub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cxnSp>
        <p:nvCxnSpPr>
          <p:cNvPr id="8" name="Straight Arrow Connector 7"/>
          <p:cNvCxnSpPr/>
          <p:nvPr/>
        </p:nvCxnSpPr>
        <p:spPr bwMode="auto">
          <a:xfrm flipV="1">
            <a:off x="3662175" y="2038116"/>
            <a:ext cx="0" cy="1939609"/>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9" name="Straight Arrow Connector 8"/>
          <p:cNvCxnSpPr/>
          <p:nvPr/>
        </p:nvCxnSpPr>
        <p:spPr bwMode="auto">
          <a:xfrm>
            <a:off x="3662174" y="3971044"/>
            <a:ext cx="1770236"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0" name="Straight Arrow Connector 9"/>
          <p:cNvCxnSpPr/>
          <p:nvPr/>
        </p:nvCxnSpPr>
        <p:spPr bwMode="auto">
          <a:xfrm flipH="1">
            <a:off x="2716397" y="3971045"/>
            <a:ext cx="945776" cy="932417"/>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flipV="1">
            <a:off x="3662174" y="2791827"/>
            <a:ext cx="885119" cy="1179219"/>
          </a:xfrm>
          <a:prstGeom prst="straightConnector1">
            <a:avLst/>
          </a:prstGeom>
          <a:solidFill>
            <a:schemeClr val="accent1"/>
          </a:solidFill>
          <a:ln w="28575" cap="flat" cmpd="sng" algn="ctr">
            <a:solidFill>
              <a:schemeClr val="bg1">
                <a:lumMod val="65000"/>
              </a:schemeClr>
            </a:solidFill>
            <a:prstDash val="solid"/>
            <a:round/>
            <a:headEnd type="none" w="med" len="med"/>
            <a:tailEnd type="triangle"/>
          </a:ln>
          <a:effectLst/>
        </p:spPr>
      </p:cxnSp>
      <p:sp>
        <p:nvSpPr>
          <p:cNvPr id="12" name="Arc 11"/>
          <p:cNvSpPr/>
          <p:nvPr/>
        </p:nvSpPr>
        <p:spPr bwMode="auto">
          <a:xfrm>
            <a:off x="4009990" y="2887885"/>
            <a:ext cx="1194098" cy="819902"/>
          </a:xfrm>
          <a:prstGeom prst="arc">
            <a:avLst/>
          </a:prstGeom>
          <a:noFill/>
          <a:ln w="38100" cap="flat" cmpd="sng" algn="ctr">
            <a:solidFill>
              <a:schemeClr val="bg1">
                <a:lumMod val="7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13" name="Cube 12"/>
          <p:cNvSpPr/>
          <p:nvPr/>
        </p:nvSpPr>
        <p:spPr bwMode="auto">
          <a:xfrm>
            <a:off x="7232215" y="2595377"/>
            <a:ext cx="1850116" cy="1877118"/>
          </a:xfrm>
          <a:prstGeom prst="cub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cxnSp>
        <p:nvCxnSpPr>
          <p:cNvPr id="14" name="Straight Arrow Connector 13"/>
          <p:cNvCxnSpPr/>
          <p:nvPr/>
        </p:nvCxnSpPr>
        <p:spPr bwMode="auto">
          <a:xfrm flipV="1">
            <a:off x="7712902" y="2071960"/>
            <a:ext cx="0" cy="1939609"/>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5" name="Straight Arrow Connector 14"/>
          <p:cNvCxnSpPr/>
          <p:nvPr/>
        </p:nvCxnSpPr>
        <p:spPr bwMode="auto">
          <a:xfrm>
            <a:off x="7712901" y="4004888"/>
            <a:ext cx="1770236"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6" name="Straight Arrow Connector 15"/>
          <p:cNvCxnSpPr/>
          <p:nvPr/>
        </p:nvCxnSpPr>
        <p:spPr bwMode="auto">
          <a:xfrm flipH="1">
            <a:off x="6767124" y="4004889"/>
            <a:ext cx="945776" cy="932417"/>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7" name="Straight Arrow Connector 16"/>
          <p:cNvCxnSpPr/>
          <p:nvPr/>
        </p:nvCxnSpPr>
        <p:spPr bwMode="auto">
          <a:xfrm flipV="1">
            <a:off x="7712901" y="2825671"/>
            <a:ext cx="885119" cy="1179219"/>
          </a:xfrm>
          <a:prstGeom prst="straightConnector1">
            <a:avLst/>
          </a:prstGeom>
          <a:solidFill>
            <a:schemeClr val="accent1"/>
          </a:solidFill>
          <a:ln w="28575" cap="flat" cmpd="sng" algn="ctr">
            <a:solidFill>
              <a:schemeClr val="bg1">
                <a:lumMod val="65000"/>
              </a:schemeClr>
            </a:solidFill>
            <a:prstDash val="solid"/>
            <a:round/>
            <a:headEnd type="none" w="med" len="med"/>
            <a:tailEnd type="triangle"/>
          </a:ln>
          <a:effectLst/>
        </p:spPr>
      </p:cxnSp>
      <p:sp>
        <p:nvSpPr>
          <p:cNvPr id="18" name="Arc 17"/>
          <p:cNvSpPr/>
          <p:nvPr/>
        </p:nvSpPr>
        <p:spPr bwMode="auto">
          <a:xfrm>
            <a:off x="8060717" y="2921729"/>
            <a:ext cx="1194098" cy="819902"/>
          </a:xfrm>
          <a:prstGeom prst="arc">
            <a:avLst/>
          </a:prstGeom>
          <a:noFill/>
          <a:ln w="38100" cap="flat" cmpd="sng" algn="ctr">
            <a:solidFill>
              <a:schemeClr val="bg1">
                <a:lumMod val="75000"/>
              </a:schemeClr>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graphicFrame>
        <p:nvGraphicFramePr>
          <p:cNvPr id="19" name="Object 18"/>
          <p:cNvGraphicFramePr>
            <a:graphicFrameLocks noChangeAspect="1"/>
          </p:cNvGraphicFramePr>
          <p:nvPr>
            <p:extLst>
              <p:ext uri="{D42A27DB-BD31-4B8C-83A1-F6EECF244321}">
                <p14:modId xmlns:p14="http://schemas.microsoft.com/office/powerpoint/2010/main" val="3606611405"/>
              </p:ext>
            </p:extLst>
          </p:nvPr>
        </p:nvGraphicFramePr>
        <p:xfrm>
          <a:off x="3794748" y="1927755"/>
          <a:ext cx="120650" cy="241300"/>
        </p:xfrm>
        <a:graphic>
          <a:graphicData uri="http://schemas.openxmlformats.org/presentationml/2006/ole">
            <mc:AlternateContent xmlns:mc="http://schemas.openxmlformats.org/markup-compatibility/2006">
              <mc:Choice xmlns:v="urn:schemas-microsoft-com:vml" Requires="v">
                <p:oleObj name="Equation" r:id="rId7" imgW="114120" imgH="228600" progId="Equation.DSMT4">
                  <p:embed/>
                </p:oleObj>
              </mc:Choice>
              <mc:Fallback>
                <p:oleObj name="Equation" r:id="rId7" imgW="114120" imgH="228600" progId="Equation.DSMT4">
                  <p:embed/>
                  <p:pic>
                    <p:nvPicPr>
                      <p:cNvPr id="59" name="Object 58"/>
                      <p:cNvPicPr>
                        <a:picLocks noChangeAspect="1" noChangeArrowheads="1"/>
                      </p:cNvPicPr>
                      <p:nvPr/>
                    </p:nvPicPr>
                    <p:blipFill>
                      <a:blip r:embed="rId8"/>
                      <a:srcRect/>
                      <a:stretch>
                        <a:fillRect/>
                      </a:stretch>
                    </p:blipFill>
                    <p:spPr bwMode="auto">
                      <a:xfrm>
                        <a:off x="3794748" y="1927755"/>
                        <a:ext cx="120650" cy="241300"/>
                      </a:xfrm>
                      <a:prstGeom prst="rect">
                        <a:avLst/>
                      </a:prstGeom>
                      <a:solidFill>
                        <a:schemeClr val="bg1"/>
                      </a:solidFill>
                      <a:ln>
                        <a:noFill/>
                      </a:ln>
                      <a:effectLst/>
                    </p:spPr>
                  </p:pic>
                </p:oleObj>
              </mc:Fallback>
            </mc:AlternateContent>
          </a:graphicData>
        </a:graphic>
      </p:graphicFrame>
      <p:graphicFrame>
        <p:nvGraphicFramePr>
          <p:cNvPr id="20" name="Object 19"/>
          <p:cNvGraphicFramePr>
            <a:graphicFrameLocks noChangeAspect="1"/>
          </p:cNvGraphicFramePr>
          <p:nvPr>
            <p:extLst>
              <p:ext uri="{D42A27DB-BD31-4B8C-83A1-F6EECF244321}">
                <p14:modId xmlns:p14="http://schemas.microsoft.com/office/powerpoint/2010/main" val="1122470390"/>
              </p:ext>
            </p:extLst>
          </p:nvPr>
        </p:nvGraphicFramePr>
        <p:xfrm>
          <a:off x="6958716" y="4766206"/>
          <a:ext cx="585788" cy="307975"/>
        </p:xfrm>
        <a:graphic>
          <a:graphicData uri="http://schemas.openxmlformats.org/presentationml/2006/ole">
            <mc:AlternateContent xmlns:mc="http://schemas.openxmlformats.org/markup-compatibility/2006">
              <mc:Choice xmlns:v="urn:schemas-microsoft-com:vml" Requires="v">
                <p:oleObj name="Equation" r:id="rId9" imgW="558720" imgH="291960" progId="Equation.DSMT4">
                  <p:embed/>
                </p:oleObj>
              </mc:Choice>
              <mc:Fallback>
                <p:oleObj name="Equation" r:id="rId9" imgW="558720" imgH="291960" progId="Equation.DSMT4">
                  <p:embed/>
                  <p:pic>
                    <p:nvPicPr>
                      <p:cNvPr id="60" name="Object 59"/>
                      <p:cNvPicPr>
                        <a:picLocks noChangeAspect="1" noChangeArrowheads="1"/>
                      </p:cNvPicPr>
                      <p:nvPr/>
                    </p:nvPicPr>
                    <p:blipFill>
                      <a:blip r:embed="rId10"/>
                      <a:srcRect/>
                      <a:stretch>
                        <a:fillRect/>
                      </a:stretch>
                    </p:blipFill>
                    <p:spPr bwMode="auto">
                      <a:xfrm>
                        <a:off x="6958716" y="4766206"/>
                        <a:ext cx="585788" cy="307975"/>
                      </a:xfrm>
                      <a:prstGeom prst="rect">
                        <a:avLst/>
                      </a:prstGeom>
                      <a:noFill/>
                      <a:ln>
                        <a:noFill/>
                      </a:ln>
                      <a:effectLst/>
                    </p:spPr>
                  </p:pic>
                </p:oleObj>
              </mc:Fallback>
            </mc:AlternateContent>
          </a:graphicData>
        </a:graphic>
      </p:graphicFrame>
      <p:graphicFrame>
        <p:nvGraphicFramePr>
          <p:cNvPr id="21" name="Object 20"/>
          <p:cNvGraphicFramePr>
            <a:graphicFrameLocks noChangeAspect="1"/>
          </p:cNvGraphicFramePr>
          <p:nvPr>
            <p:extLst>
              <p:ext uri="{D42A27DB-BD31-4B8C-83A1-F6EECF244321}">
                <p14:modId xmlns:p14="http://schemas.microsoft.com/office/powerpoint/2010/main" val="1709906174"/>
              </p:ext>
            </p:extLst>
          </p:nvPr>
        </p:nvGraphicFramePr>
        <p:xfrm>
          <a:off x="9202208" y="4151842"/>
          <a:ext cx="558800" cy="306388"/>
        </p:xfrm>
        <a:graphic>
          <a:graphicData uri="http://schemas.openxmlformats.org/presentationml/2006/ole">
            <mc:AlternateContent xmlns:mc="http://schemas.openxmlformats.org/markup-compatibility/2006">
              <mc:Choice xmlns:v="urn:schemas-microsoft-com:vml" Requires="v">
                <p:oleObj name="Equation" r:id="rId11" imgW="533160" imgH="291960" progId="Equation.DSMT4">
                  <p:embed/>
                </p:oleObj>
              </mc:Choice>
              <mc:Fallback>
                <p:oleObj name="Equation" r:id="rId11" imgW="533160" imgH="291960" progId="Equation.DSMT4">
                  <p:embed/>
                  <p:pic>
                    <p:nvPicPr>
                      <p:cNvPr id="61" name="Object 60"/>
                      <p:cNvPicPr>
                        <a:picLocks noChangeAspect="1" noChangeArrowheads="1"/>
                      </p:cNvPicPr>
                      <p:nvPr/>
                    </p:nvPicPr>
                    <p:blipFill>
                      <a:blip r:embed="rId12"/>
                      <a:srcRect/>
                      <a:stretch>
                        <a:fillRect/>
                      </a:stretch>
                    </p:blipFill>
                    <p:spPr bwMode="auto">
                      <a:xfrm>
                        <a:off x="9202208" y="4151842"/>
                        <a:ext cx="558800" cy="306388"/>
                      </a:xfrm>
                      <a:prstGeom prst="rect">
                        <a:avLst/>
                      </a:prstGeom>
                      <a:solidFill>
                        <a:schemeClr val="bg1"/>
                      </a:solidFill>
                      <a:ln>
                        <a:noFill/>
                      </a:ln>
                      <a:effectLst/>
                    </p:spPr>
                  </p:pic>
                </p:oleObj>
              </mc:Fallback>
            </mc:AlternateContent>
          </a:graphicData>
        </a:graphic>
      </p:graphicFrame>
      <p:graphicFrame>
        <p:nvGraphicFramePr>
          <p:cNvPr id="22" name="Object 21"/>
          <p:cNvGraphicFramePr>
            <a:graphicFrameLocks noChangeAspect="1"/>
          </p:cNvGraphicFramePr>
          <p:nvPr>
            <p:extLst>
              <p:ext uri="{D42A27DB-BD31-4B8C-83A1-F6EECF244321}">
                <p14:modId xmlns:p14="http://schemas.microsoft.com/office/powerpoint/2010/main" val="4173790026"/>
              </p:ext>
            </p:extLst>
          </p:nvPr>
        </p:nvGraphicFramePr>
        <p:xfrm>
          <a:off x="7862928" y="1927755"/>
          <a:ext cx="120650" cy="241300"/>
        </p:xfrm>
        <a:graphic>
          <a:graphicData uri="http://schemas.openxmlformats.org/presentationml/2006/ole">
            <mc:AlternateContent xmlns:mc="http://schemas.openxmlformats.org/markup-compatibility/2006">
              <mc:Choice xmlns:v="urn:schemas-microsoft-com:vml" Requires="v">
                <p:oleObj name="Equation" r:id="rId13" imgW="114120" imgH="228600" progId="Equation.DSMT4">
                  <p:embed/>
                </p:oleObj>
              </mc:Choice>
              <mc:Fallback>
                <p:oleObj name="Equation" r:id="rId13" imgW="114120" imgH="228600" progId="Equation.DSMT4">
                  <p:embed/>
                  <p:pic>
                    <p:nvPicPr>
                      <p:cNvPr id="62" name="Object 61"/>
                      <p:cNvPicPr>
                        <a:picLocks noChangeAspect="1" noChangeArrowheads="1"/>
                      </p:cNvPicPr>
                      <p:nvPr/>
                    </p:nvPicPr>
                    <p:blipFill>
                      <a:blip r:embed="rId14"/>
                      <a:srcRect/>
                      <a:stretch>
                        <a:fillRect/>
                      </a:stretch>
                    </p:blipFill>
                    <p:spPr bwMode="auto">
                      <a:xfrm>
                        <a:off x="7862928" y="1927755"/>
                        <a:ext cx="120650" cy="241300"/>
                      </a:xfrm>
                      <a:prstGeom prst="rect">
                        <a:avLst/>
                      </a:prstGeom>
                      <a:solidFill>
                        <a:schemeClr val="bg1"/>
                      </a:solidFill>
                      <a:ln>
                        <a:noFill/>
                      </a:ln>
                      <a:effectLst/>
                    </p:spPr>
                  </p:pic>
                </p:oleObj>
              </mc:Fallback>
            </mc:AlternateContent>
          </a:graphicData>
        </a:graphic>
      </p:graphicFrame>
      <p:graphicFrame>
        <p:nvGraphicFramePr>
          <p:cNvPr id="23" name="Object 22"/>
          <p:cNvGraphicFramePr>
            <a:graphicFrameLocks noChangeAspect="1"/>
          </p:cNvGraphicFramePr>
          <p:nvPr>
            <p:extLst>
              <p:ext uri="{D42A27DB-BD31-4B8C-83A1-F6EECF244321}">
                <p14:modId xmlns:p14="http://schemas.microsoft.com/office/powerpoint/2010/main" val="2880215383"/>
              </p:ext>
            </p:extLst>
          </p:nvPr>
        </p:nvGraphicFramePr>
        <p:xfrm>
          <a:off x="4304743" y="3238901"/>
          <a:ext cx="557212" cy="320675"/>
        </p:xfrm>
        <a:graphic>
          <a:graphicData uri="http://schemas.openxmlformats.org/presentationml/2006/ole">
            <mc:AlternateContent xmlns:mc="http://schemas.openxmlformats.org/markup-compatibility/2006">
              <mc:Choice xmlns:v="urn:schemas-microsoft-com:vml" Requires="v">
                <p:oleObj name="Equation" r:id="rId15" imgW="533160" imgH="304560" progId="Equation.DSMT4">
                  <p:embed/>
                </p:oleObj>
              </mc:Choice>
              <mc:Fallback>
                <p:oleObj name="Equation" r:id="rId15" imgW="533160" imgH="304560" progId="Equation.DSMT4">
                  <p:embed/>
                  <p:pic>
                    <p:nvPicPr>
                      <p:cNvPr id="65" name="Object 64"/>
                      <p:cNvPicPr>
                        <a:picLocks noChangeAspect="1" noChangeArrowheads="1"/>
                      </p:cNvPicPr>
                      <p:nvPr/>
                    </p:nvPicPr>
                    <p:blipFill>
                      <a:blip r:embed="rId16"/>
                      <a:srcRect/>
                      <a:stretch>
                        <a:fillRect/>
                      </a:stretch>
                    </p:blipFill>
                    <p:spPr bwMode="auto">
                      <a:xfrm>
                        <a:off x="4304743" y="3238901"/>
                        <a:ext cx="557212" cy="320675"/>
                      </a:xfrm>
                      <a:prstGeom prst="rect">
                        <a:avLst/>
                      </a:prstGeom>
                      <a:solidFill>
                        <a:schemeClr val="bg1"/>
                      </a:solidFill>
                      <a:ln>
                        <a:noFill/>
                      </a:ln>
                      <a:effectLst/>
                    </p:spPr>
                  </p:pic>
                </p:oleObj>
              </mc:Fallback>
            </mc:AlternateContent>
          </a:graphicData>
        </a:graphic>
      </p:graphicFrame>
      <p:cxnSp>
        <p:nvCxnSpPr>
          <p:cNvPr id="24" name="Straight Arrow Connector 23"/>
          <p:cNvCxnSpPr/>
          <p:nvPr/>
        </p:nvCxnSpPr>
        <p:spPr bwMode="auto">
          <a:xfrm flipV="1">
            <a:off x="3662174" y="3297837"/>
            <a:ext cx="1714934" cy="648957"/>
          </a:xfrm>
          <a:prstGeom prst="straightConnector1">
            <a:avLst/>
          </a:prstGeom>
          <a:solidFill>
            <a:schemeClr val="accent1"/>
          </a:solidFill>
          <a:ln w="28575" cap="flat" cmpd="sng" algn="ctr">
            <a:solidFill>
              <a:schemeClr val="bg1">
                <a:lumMod val="65000"/>
              </a:schemeClr>
            </a:solidFill>
            <a:prstDash val="solid"/>
            <a:round/>
            <a:headEnd type="none" w="med" len="med"/>
            <a:tailEnd type="triangle"/>
          </a:ln>
          <a:effectLst/>
        </p:spPr>
      </p:cxnSp>
      <p:graphicFrame>
        <p:nvGraphicFramePr>
          <p:cNvPr id="25" name="Object 24"/>
          <p:cNvGraphicFramePr>
            <a:graphicFrameLocks noChangeAspect="1"/>
          </p:cNvGraphicFramePr>
          <p:nvPr>
            <p:extLst>
              <p:ext uri="{D42A27DB-BD31-4B8C-83A1-F6EECF244321}">
                <p14:modId xmlns:p14="http://schemas.microsoft.com/office/powerpoint/2010/main" val="3357984882"/>
              </p:ext>
            </p:extLst>
          </p:nvPr>
        </p:nvGraphicFramePr>
        <p:xfrm>
          <a:off x="8383938" y="3263737"/>
          <a:ext cx="530225" cy="320675"/>
        </p:xfrm>
        <a:graphic>
          <a:graphicData uri="http://schemas.openxmlformats.org/presentationml/2006/ole">
            <mc:AlternateContent xmlns:mc="http://schemas.openxmlformats.org/markup-compatibility/2006">
              <mc:Choice xmlns:v="urn:schemas-microsoft-com:vml" Requires="v">
                <p:oleObj name="Equation" r:id="rId17" imgW="507960" imgH="304560" progId="Equation.DSMT4">
                  <p:embed/>
                </p:oleObj>
              </mc:Choice>
              <mc:Fallback>
                <p:oleObj name="Equation" r:id="rId17" imgW="507960" imgH="304560" progId="Equation.DSMT4">
                  <p:embed/>
                  <p:pic>
                    <p:nvPicPr>
                      <p:cNvPr id="66" name="Object 65"/>
                      <p:cNvPicPr>
                        <a:picLocks noChangeAspect="1" noChangeArrowheads="1"/>
                      </p:cNvPicPr>
                      <p:nvPr/>
                    </p:nvPicPr>
                    <p:blipFill>
                      <a:blip r:embed="rId18"/>
                      <a:srcRect/>
                      <a:stretch>
                        <a:fillRect/>
                      </a:stretch>
                    </p:blipFill>
                    <p:spPr bwMode="auto">
                      <a:xfrm>
                        <a:off x="8383938" y="3263737"/>
                        <a:ext cx="530225" cy="320675"/>
                      </a:xfrm>
                      <a:prstGeom prst="rect">
                        <a:avLst/>
                      </a:prstGeom>
                      <a:solidFill>
                        <a:schemeClr val="bg1"/>
                      </a:solidFill>
                      <a:ln>
                        <a:noFill/>
                      </a:ln>
                      <a:effectLst/>
                    </p:spPr>
                  </p:pic>
                </p:oleObj>
              </mc:Fallback>
            </mc:AlternateContent>
          </a:graphicData>
        </a:graphic>
      </p:graphicFrame>
      <p:cxnSp>
        <p:nvCxnSpPr>
          <p:cNvPr id="26" name="Straight Arrow Connector 25"/>
          <p:cNvCxnSpPr/>
          <p:nvPr/>
        </p:nvCxnSpPr>
        <p:spPr bwMode="auto">
          <a:xfrm flipV="1">
            <a:off x="7712900" y="3348274"/>
            <a:ext cx="1714934" cy="648957"/>
          </a:xfrm>
          <a:prstGeom prst="straightConnector1">
            <a:avLst/>
          </a:prstGeom>
          <a:solidFill>
            <a:schemeClr val="accent1"/>
          </a:solidFill>
          <a:ln w="28575" cap="flat" cmpd="sng" algn="ctr">
            <a:solidFill>
              <a:schemeClr val="bg1">
                <a:lumMod val="65000"/>
              </a:schemeClr>
            </a:solidFill>
            <a:prstDash val="solid"/>
            <a:round/>
            <a:headEnd type="none" w="med" len="med"/>
            <a:tailEnd type="triangle"/>
          </a:ln>
          <a:effectLst/>
        </p:spPr>
      </p:cxnSp>
      <p:cxnSp>
        <p:nvCxnSpPr>
          <p:cNvPr id="27" name="Straight Connector 26"/>
          <p:cNvCxnSpPr/>
          <p:nvPr/>
        </p:nvCxnSpPr>
        <p:spPr bwMode="auto">
          <a:xfrm flipV="1">
            <a:off x="7712900" y="3041764"/>
            <a:ext cx="900754" cy="955466"/>
          </a:xfrm>
          <a:prstGeom prst="line">
            <a:avLst/>
          </a:prstGeom>
          <a:solidFill>
            <a:schemeClr val="accent1"/>
          </a:solidFill>
          <a:ln w="76200" cap="flat" cmpd="sng" algn="ctr">
            <a:solidFill>
              <a:srgbClr val="FF0000"/>
            </a:solidFill>
            <a:prstDash val="solid"/>
            <a:round/>
            <a:headEnd type="none" w="med" len="med"/>
            <a:tailEnd type="triangle" w="med" len="med"/>
          </a:ln>
          <a:effectLst/>
        </p:spPr>
      </p:cxnSp>
      <p:cxnSp>
        <p:nvCxnSpPr>
          <p:cNvPr id="28" name="Straight Connector 27"/>
          <p:cNvCxnSpPr/>
          <p:nvPr/>
        </p:nvCxnSpPr>
        <p:spPr bwMode="auto">
          <a:xfrm flipV="1">
            <a:off x="3662174" y="3015190"/>
            <a:ext cx="898089" cy="955854"/>
          </a:xfrm>
          <a:prstGeom prst="line">
            <a:avLst/>
          </a:prstGeom>
          <a:solidFill>
            <a:schemeClr val="accent1"/>
          </a:solidFill>
          <a:ln w="76200" cap="flat" cmpd="sng" algn="ctr">
            <a:solidFill>
              <a:srgbClr val="FF0000"/>
            </a:solidFill>
            <a:prstDash val="solid"/>
            <a:round/>
            <a:headEnd type="none" w="med" len="med"/>
            <a:tailEnd type="triangle" w="med" len="med"/>
          </a:ln>
          <a:effectLst/>
        </p:spPr>
      </p:cxnSp>
    </p:spTree>
    <p:extLst>
      <p:ext uri="{BB962C8B-B14F-4D97-AF65-F5344CB8AC3E}">
        <p14:creationId xmlns:p14="http://schemas.microsoft.com/office/powerpoint/2010/main" val="26641604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Example: Square</a:t>
            </a:r>
            <a:endParaRPr lang="en-US" sz="4000" b="0" kern="0" dirty="0"/>
          </a:p>
        </p:txBody>
      </p:sp>
      <p:pic>
        <p:nvPicPr>
          <p:cNvPr id="3" name="Picture 2"/>
          <p:cNvPicPr>
            <a:picLocks noChangeAspect="1"/>
          </p:cNvPicPr>
          <p:nvPr/>
        </p:nvPicPr>
        <p:blipFill>
          <a:blip r:embed="rId3"/>
          <a:stretch>
            <a:fillRect/>
          </a:stretch>
        </p:blipFill>
        <p:spPr>
          <a:xfrm>
            <a:off x="762000" y="2296200"/>
            <a:ext cx="8867958" cy="4561800"/>
          </a:xfrm>
          <a:prstGeom prst="rect">
            <a:avLst/>
          </a:prstGeom>
        </p:spPr>
      </p:pic>
      <p:pic>
        <p:nvPicPr>
          <p:cNvPr id="2" name="Picture 1"/>
          <p:cNvPicPr>
            <a:picLocks noChangeAspect="1"/>
          </p:cNvPicPr>
          <p:nvPr/>
        </p:nvPicPr>
        <p:blipFill>
          <a:blip r:embed="rId4"/>
          <a:stretch>
            <a:fillRect/>
          </a:stretch>
        </p:blipFill>
        <p:spPr>
          <a:xfrm>
            <a:off x="6096000" y="990601"/>
            <a:ext cx="3204950" cy="1680265"/>
          </a:xfrm>
          <a:prstGeom prst="rect">
            <a:avLst/>
          </a:prstGeom>
        </p:spPr>
      </p:pic>
    </p:spTree>
    <p:extLst>
      <p:ext uri="{BB962C8B-B14F-4D97-AF65-F5344CB8AC3E}">
        <p14:creationId xmlns:p14="http://schemas.microsoft.com/office/powerpoint/2010/main" val="19584473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82338" y="1435638"/>
            <a:ext cx="8665559" cy="4425603"/>
          </a:xfrm>
          <a:prstGeom prst="rect">
            <a:avLst/>
          </a:prstGeom>
        </p:spPr>
      </p:pic>
      <p:sp>
        <p:nvSpPr>
          <p:cNvPr id="3"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Only Odd Terms</a:t>
            </a:r>
            <a:endParaRPr lang="en-US" sz="4000" b="0" kern="0" dirty="0"/>
          </a:p>
        </p:txBody>
      </p:sp>
    </p:spTree>
    <p:extLst>
      <p:ext uri="{BB962C8B-B14F-4D97-AF65-F5344CB8AC3E}">
        <p14:creationId xmlns:p14="http://schemas.microsoft.com/office/powerpoint/2010/main" val="37187953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Error Due to Finite Terms</a:t>
            </a:r>
            <a:endParaRPr lang="en-US" sz="4000" b="0" kern="0" dirty="0"/>
          </a:p>
        </p:txBody>
      </p:sp>
      <p:pic>
        <p:nvPicPr>
          <p:cNvPr id="4" name="Picture 3"/>
          <p:cNvPicPr>
            <a:picLocks noChangeAspect="1"/>
          </p:cNvPicPr>
          <p:nvPr/>
        </p:nvPicPr>
        <p:blipFill>
          <a:blip r:embed="rId3"/>
          <a:stretch>
            <a:fillRect/>
          </a:stretch>
        </p:blipFill>
        <p:spPr>
          <a:xfrm>
            <a:off x="804021" y="990600"/>
            <a:ext cx="6746486" cy="5268851"/>
          </a:xfrm>
          <a:prstGeom prst="rect">
            <a:avLst/>
          </a:prstGeom>
        </p:spPr>
      </p:pic>
      <p:pic>
        <p:nvPicPr>
          <p:cNvPr id="5" name="Picture 4"/>
          <p:cNvPicPr>
            <a:picLocks noChangeAspect="1"/>
          </p:cNvPicPr>
          <p:nvPr/>
        </p:nvPicPr>
        <p:blipFill>
          <a:blip r:embed="rId4"/>
          <a:stretch>
            <a:fillRect/>
          </a:stretch>
        </p:blipFill>
        <p:spPr>
          <a:xfrm>
            <a:off x="2871834" y="3206704"/>
            <a:ext cx="5226942" cy="787190"/>
          </a:xfrm>
          <a:prstGeom prst="rect">
            <a:avLst/>
          </a:prstGeom>
        </p:spPr>
      </p:pic>
      <p:sp>
        <p:nvSpPr>
          <p:cNvPr id="6" name="Rectangle 5"/>
          <p:cNvSpPr/>
          <p:nvPr/>
        </p:nvSpPr>
        <p:spPr bwMode="auto">
          <a:xfrm>
            <a:off x="3948312" y="1572533"/>
            <a:ext cx="1318661" cy="766406"/>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314219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Errors Due to Gibbs Effect</a:t>
            </a:r>
            <a:endParaRPr lang="en-US" sz="4000" b="0" kern="0" dirty="0"/>
          </a:p>
        </p:txBody>
      </p:sp>
      <p:pic>
        <p:nvPicPr>
          <p:cNvPr id="4" name="Picture 3"/>
          <p:cNvPicPr>
            <a:picLocks noChangeAspect="1"/>
          </p:cNvPicPr>
          <p:nvPr/>
        </p:nvPicPr>
        <p:blipFill>
          <a:blip r:embed="rId3"/>
          <a:stretch>
            <a:fillRect/>
          </a:stretch>
        </p:blipFill>
        <p:spPr>
          <a:xfrm>
            <a:off x="996751" y="990600"/>
            <a:ext cx="6677226" cy="5140712"/>
          </a:xfrm>
          <a:prstGeom prst="rect">
            <a:avLst/>
          </a:prstGeom>
        </p:spPr>
      </p:pic>
      <p:sp>
        <p:nvSpPr>
          <p:cNvPr id="5" name="Rectangle 4"/>
          <p:cNvSpPr/>
          <p:nvPr/>
        </p:nvSpPr>
        <p:spPr bwMode="auto">
          <a:xfrm>
            <a:off x="3959331" y="1559955"/>
            <a:ext cx="356134" cy="800366"/>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sz="1800" dirty="0" err="1"/>
          </a:p>
        </p:txBody>
      </p:sp>
    </p:spTree>
    <p:extLst>
      <p:ext uri="{BB962C8B-B14F-4D97-AF65-F5344CB8AC3E}">
        <p14:creationId xmlns:p14="http://schemas.microsoft.com/office/powerpoint/2010/main" val="8922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When Period Isn’t Unit</a:t>
            </a:r>
            <a:endParaRPr lang="en-US" sz="4000" b="0" kern="0" dirty="0"/>
          </a:p>
        </p:txBody>
      </p:sp>
      <p:pic>
        <p:nvPicPr>
          <p:cNvPr id="5" name="Picture 12" descr="http://www.magic-emoji.com/emoji/images/83_emoji_iphone_black_diamond_su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6977606" y="665547"/>
            <a:ext cx="2155797" cy="21557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4"/>
          <a:stretch>
            <a:fillRect/>
          </a:stretch>
        </p:blipFill>
        <p:spPr>
          <a:xfrm>
            <a:off x="443951" y="2496291"/>
            <a:ext cx="8424886" cy="2751913"/>
          </a:xfrm>
          <a:prstGeom prst="rect">
            <a:avLst/>
          </a:prstGeom>
        </p:spPr>
      </p:pic>
    </p:spTree>
    <p:extLst>
      <p:ext uri="{BB962C8B-B14F-4D97-AF65-F5344CB8AC3E}">
        <p14:creationId xmlns:p14="http://schemas.microsoft.com/office/powerpoint/2010/main" val="23383314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s://software.intel.com/sites/default/files/m/d/4/1/d/8/code_image2.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205" y="1630943"/>
            <a:ext cx="8174225" cy="3944666"/>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2D Fourier Series</a:t>
            </a:r>
            <a:endParaRPr lang="en-US" sz="4000" b="0" kern="0" dirty="0"/>
          </a:p>
        </p:txBody>
      </p:sp>
    </p:spTree>
    <p:extLst>
      <p:ext uri="{BB962C8B-B14F-4D97-AF65-F5344CB8AC3E}">
        <p14:creationId xmlns:p14="http://schemas.microsoft.com/office/powerpoint/2010/main" val="872699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76400" y="152400"/>
            <a:ext cx="8839200" cy="838200"/>
          </a:xfrm>
          <a:prstGeom prst="rect">
            <a:avLst/>
          </a:prstGeom>
        </p:spPr>
        <p:txBody>
          <a:bodyPr/>
          <a:lst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sz="4000" kern="0" dirty="0"/>
              <a:t>Homework</a:t>
            </a:r>
            <a:endParaRPr lang="en-US" sz="4000" b="0" kern="0" dirty="0"/>
          </a:p>
        </p:txBody>
      </p:sp>
      <p:sp>
        <p:nvSpPr>
          <p:cNvPr id="5" name="Content Placeholder 2"/>
          <p:cNvSpPr txBox="1">
            <a:spLocks/>
          </p:cNvSpPr>
          <p:nvPr/>
        </p:nvSpPr>
        <p:spPr>
          <a:xfrm>
            <a:off x="1676400" y="1066800"/>
            <a:ext cx="8839200" cy="4177554"/>
          </a:xfrm>
          <a:prstGeom prst="rect">
            <a:avLst/>
          </a:prstGeom>
        </p:spPr>
        <p:txBody>
          <a:bodyPr/>
          <a:lst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eaLnBrk="1" hangingPunct="1"/>
            <a:r>
              <a:rPr lang="en-US" b="0" kern="0" dirty="0"/>
              <a:t>Derive the formulas for the coefficients of the Fourier series in real notations (become familiar with the ideas I explained to you today).</a:t>
            </a:r>
          </a:p>
          <a:p>
            <a:pPr eaLnBrk="1" hangingPunct="1"/>
            <a:endParaRPr lang="en-US" b="0" kern="0" dirty="0"/>
          </a:p>
          <a:p>
            <a:pPr eaLnBrk="1" hangingPunct="1"/>
            <a:r>
              <a:rPr lang="en-US" b="0" kern="0" dirty="0"/>
              <a:t>Watch </a:t>
            </a:r>
            <a:r>
              <a:rPr lang="en-US" b="0" kern="0" dirty="0">
                <a:hlinkClick r:id="rId3"/>
              </a:rPr>
              <a:t>https://www.youtube.com/watch?v=05jUkVtIwVs</a:t>
            </a:r>
            <a:r>
              <a:rPr lang="en-US" b="0" kern="0" dirty="0"/>
              <a:t>, and implement the square wave example.</a:t>
            </a:r>
          </a:p>
          <a:p>
            <a:pPr eaLnBrk="1" hangingPunct="1"/>
            <a:endParaRPr lang="en-US" b="0" kern="0" dirty="0"/>
          </a:p>
          <a:p>
            <a:pPr eaLnBrk="1" hangingPunct="1"/>
            <a:r>
              <a:rPr lang="en-US" b="0" kern="0" dirty="0">
                <a:solidFill>
                  <a:srgbClr val="FF0000"/>
                </a:solidFill>
              </a:rPr>
              <a:t>Due date: One week from now (by midnight next Tuesday).  Please upload your report to MLS, including both the script and the figures in a word file.</a:t>
            </a:r>
          </a:p>
        </p:txBody>
      </p:sp>
    </p:spTree>
    <p:extLst>
      <p:ext uri="{BB962C8B-B14F-4D97-AF65-F5344CB8AC3E}">
        <p14:creationId xmlns:p14="http://schemas.microsoft.com/office/powerpoint/2010/main" val="434599936"/>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15200</TotalTime>
  <Words>23394</Words>
  <Application>Microsoft Office PowerPoint</Application>
  <PresentationFormat>Widescreen</PresentationFormat>
  <Paragraphs>1068</Paragraphs>
  <Slides>50</Slides>
  <Notes>50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4" baseType="lpstr">
      <vt:lpstr>Arial</vt:lpstr>
      <vt:lpstr>Times</vt:lpstr>
      <vt:lpstr>Blank Presentation</vt:lpstr>
      <vt:lpstr>Equation</vt:lpstr>
      <vt:lpstr>PowerPoint Presentation</vt:lpstr>
      <vt:lpstr>PowerPoint Presentation</vt:lpstr>
      <vt:lpstr>Outline</vt:lpstr>
      <vt:lpstr>Inner Product: Sum of Products of Paired Data</vt:lpstr>
      <vt:lpstr>Inner Product from Linear System</vt:lpstr>
      <vt:lpstr>Inner Product from Geometry</vt:lpstr>
      <vt:lpstr>Inner Product in C–S Inequality</vt:lpstr>
      <vt:lpstr>Geometric Proof (Easy)</vt:lpstr>
      <vt:lpstr>RN Space</vt:lpstr>
      <vt:lpstr>3D Orthogonal Representation </vt:lpstr>
      <vt:lpstr>ND Orthogonal Representation </vt:lpstr>
      <vt:lpstr>Basis Not Unique</vt:lpstr>
      <vt:lpstr>Vector Space</vt:lpstr>
      <vt:lpstr>Point = Vector</vt:lpstr>
      <vt:lpstr>Vector = Function</vt:lpstr>
      <vt:lpstr>Functional Space</vt:lpstr>
      <vt:lpstr>Function As a Sum of Impulses</vt:lpstr>
      <vt:lpstr>Pixel: Picture Element</vt:lpstr>
      <vt:lpstr>Sine Wave Comes Naturally</vt:lpstr>
      <vt:lpstr>Sinusoidal Basis: Even &amp; Odd</vt:lpstr>
      <vt:lpstr>Function As Sum of Waves</vt:lpstr>
      <vt:lpstr>Demo: Spectral Synthesis</vt:lpstr>
      <vt:lpstr>Fourier Analysis</vt:lpstr>
      <vt:lpstr>Duality of Information</vt:lpstr>
      <vt:lpstr>Periodic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Complex Inner Product</vt:lpstr>
      <vt:lpstr>Complex Inner Product</vt:lpstr>
      <vt:lpstr>PowerPoint Presentation</vt:lpstr>
      <vt:lpstr>Real Form to Complex Form</vt:lpstr>
      <vt:lpstr>Orthonormal 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Virginia Tech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VT PowerPoint Template2</dc:title>
  <dc:creator>David Stanley</dc:creator>
  <cp:lastModifiedBy>Manik, Md Motaleb Hossen</cp:lastModifiedBy>
  <cp:revision>2320</cp:revision>
  <cp:lastPrinted>2012-03-08T21:40:16Z</cp:lastPrinted>
  <dcterms:created xsi:type="dcterms:W3CDTF">2006-10-23T16:36:06Z</dcterms:created>
  <dcterms:modified xsi:type="dcterms:W3CDTF">2025-08-16T13:30:43Z</dcterms:modified>
</cp:coreProperties>
</file>