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 id="2147483685" r:id="rId2"/>
    <p:sldMasterId id="2147483697" r:id="rId3"/>
  </p:sldMasterIdLst>
  <p:notesMasterIdLst>
    <p:notesMasterId r:id="rId33"/>
  </p:notesMasterIdLst>
  <p:sldIdLst>
    <p:sldId id="257" r:id="rId4"/>
    <p:sldId id="676" r:id="rId5"/>
    <p:sldId id="260" r:id="rId6"/>
    <p:sldId id="266" r:id="rId7"/>
    <p:sldId id="262" r:id="rId8"/>
    <p:sldId id="263" r:id="rId9"/>
    <p:sldId id="264" r:id="rId10"/>
    <p:sldId id="289" r:id="rId11"/>
    <p:sldId id="287" r:id="rId12"/>
    <p:sldId id="267" r:id="rId13"/>
    <p:sldId id="268" r:id="rId14"/>
    <p:sldId id="277" r:id="rId15"/>
    <p:sldId id="278" r:id="rId16"/>
    <p:sldId id="279" r:id="rId17"/>
    <p:sldId id="272" r:id="rId18"/>
    <p:sldId id="274" r:id="rId19"/>
    <p:sldId id="275" r:id="rId20"/>
    <p:sldId id="276" r:id="rId21"/>
    <p:sldId id="280" r:id="rId22"/>
    <p:sldId id="281" r:id="rId23"/>
    <p:sldId id="282" r:id="rId24"/>
    <p:sldId id="283" r:id="rId25"/>
    <p:sldId id="273" r:id="rId26"/>
    <p:sldId id="269" r:id="rId27"/>
    <p:sldId id="270" r:id="rId28"/>
    <p:sldId id="271" r:id="rId29"/>
    <p:sldId id="284" r:id="rId30"/>
    <p:sldId id="285" r:id="rId31"/>
    <p:sldId id="1117"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389" autoAdjust="0"/>
    <p:restoredTop sz="52381" autoAdjust="0"/>
  </p:normalViewPr>
  <p:slideViewPr>
    <p:cSldViewPr snapToGrid="0">
      <p:cViewPr varScale="1">
        <p:scale>
          <a:sx n="82" d="100"/>
          <a:sy n="82" d="100"/>
        </p:scale>
        <p:origin x="96" y="108"/>
      </p:cViewPr>
      <p:guideLst>
        <p:guide orient="horz" pos="2160"/>
        <p:guide pos="3840"/>
      </p:guideLst>
    </p:cSldViewPr>
  </p:slideViewPr>
  <p:notesTextViewPr>
    <p:cViewPr>
      <p:scale>
        <a:sx n="145" d="100"/>
        <a:sy n="145" d="100"/>
      </p:scale>
      <p:origin x="0" y="0"/>
    </p:cViewPr>
  </p:notesTextViewPr>
  <p:sorterViewPr>
    <p:cViewPr>
      <p:scale>
        <a:sx n="100" d="100"/>
        <a:sy n="100" d="100"/>
      </p:scale>
      <p:origin x="0" y="-5844"/>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901D50-AE64-4E92-9DD1-8DCFD9FBC4D6}" type="datetimeFigureOut">
              <a:rPr lang="en-US" smtClean="0"/>
              <a:t>8/23/2025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F3D82C-2E39-4B28-A1F4-12F97F880BD9}" type="slidenum">
              <a:rPr lang="en-US" smtClean="0"/>
              <a:t>‹#›</a:t>
            </a:fld>
            <a:endParaRPr lang="en-US"/>
          </a:p>
        </p:txBody>
      </p:sp>
    </p:spTree>
    <p:extLst>
      <p:ext uri="{BB962C8B-B14F-4D97-AF65-F5344CB8AC3E}">
        <p14:creationId xmlns:p14="http://schemas.microsoft.com/office/powerpoint/2010/main" val="34059948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F42E5D3-627C-4511-B3F4-264A77E3CF6D}" type="slidenum">
              <a:rPr lang="en-US"/>
              <a:pPr/>
              <a:t>1</a:t>
            </a:fld>
            <a:endParaRPr lang="en-US"/>
          </a:p>
        </p:txBody>
      </p:sp>
      <p:sp>
        <p:nvSpPr>
          <p:cNvPr id="6146" name="Rectangle 2"/>
          <p:cNvSpPr>
            <a:spLocks noGrp="1" noRot="1" noChangeAspect="1" noChangeArrowheads="1" noTextEdit="1"/>
          </p:cNvSpPr>
          <p:nvPr>
            <p:ph type="sldImg"/>
          </p:nvPr>
        </p:nvSpPr>
        <p:spPr>
          <a:xfrm>
            <a:off x="685800" y="1143000"/>
            <a:ext cx="5486400" cy="3086100"/>
          </a:xfrm>
          <a:ln/>
        </p:spPr>
      </p:sp>
      <p:sp>
        <p:nvSpPr>
          <p:cNvPr id="6147" name="Rectangle 3"/>
          <p:cNvSpPr>
            <a:spLocks noGrp="1" noChangeArrowheads="1"/>
          </p:cNvSpPr>
          <p:nvPr>
            <p:ph type="body" idx="1"/>
          </p:nvPr>
        </p:nvSpPr>
        <p:spPr/>
        <p:txBody>
          <a:bodyPr/>
          <a:lstStyle/>
          <a:p>
            <a:r>
              <a:rPr lang="en-US" dirty="0"/>
              <a:t>Hello, everyone.</a:t>
            </a:r>
            <a:br>
              <a:rPr lang="en-US" dirty="0"/>
            </a:br>
            <a:r>
              <a:rPr lang="en-US" dirty="0"/>
              <a:t>Let’s take a few minutes before we dive into today’s MATLAB tutorial to connect what we’ve learned so far.</a:t>
            </a:r>
          </a:p>
          <a:p>
            <a:r>
              <a:rPr lang="en-US" dirty="0"/>
              <a:t>Over the past lectures, we’ve covered some very important foundations — linear systems, convolution, the delta function, Fourier series, Fourier transforms, and the sampling theorem. These ideas are deeply connected, and if you understand them well, everything that follows will be much easier. If you are still unsure about any of these topics, now is a great time to go back and review.</a:t>
            </a:r>
          </a:p>
          <a:p>
            <a:endParaRPr lang="en-US" dirty="0"/>
          </a:p>
          <a:p>
            <a:endParaRPr lang="en-US" dirty="0"/>
          </a:p>
        </p:txBody>
      </p:sp>
    </p:spTree>
    <p:extLst>
      <p:ext uri="{BB962C8B-B14F-4D97-AF65-F5344CB8AC3E}">
        <p14:creationId xmlns:p14="http://schemas.microsoft.com/office/powerpoint/2010/main" val="20277972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r>
              <a:rPr lang="en-US" dirty="0"/>
              <a:t>Anyway, so this is our schedule. We are on schedule, so no problem.</a:t>
            </a:r>
          </a:p>
          <a:p>
            <a:endParaRPr lang="en-US" dirty="0"/>
          </a:p>
          <a:p>
            <a:r>
              <a:rPr lang="en-US" dirty="0"/>
              <a:t>Let me briefly walk you through the big picture again.</a:t>
            </a:r>
          </a:p>
          <a:p>
            <a:r>
              <a:rPr lang="en-US" dirty="0"/>
              <a:t>A </a:t>
            </a:r>
            <a:r>
              <a:rPr lang="en-US" b="1" dirty="0"/>
              <a:t>linear system</a:t>
            </a:r>
            <a:r>
              <a:rPr lang="en-US" dirty="0"/>
              <a:t> is one where we can predict the output for any input by combining the system’s response to simple building blocks. </a:t>
            </a:r>
            <a:r>
              <a:rPr lang="en-US" b="1" dirty="0"/>
              <a:t>Convolution</a:t>
            </a:r>
            <a:r>
              <a:rPr lang="en-US" dirty="0"/>
              <a:t> is the tool that allows us to do exactly that — it takes the input signal and the system’s impulse response, and combines them to give the output.</a:t>
            </a:r>
          </a:p>
          <a:p>
            <a:r>
              <a:rPr lang="en-US" dirty="0"/>
              <a:t>The </a:t>
            </a:r>
            <a:r>
              <a:rPr lang="en-US" b="1" dirty="0"/>
              <a:t>Fourier series</a:t>
            </a:r>
            <a:r>
              <a:rPr lang="en-US" dirty="0"/>
              <a:t> is another powerful idea. It tells us that any periodic signal can be written as a sum of sine and cosine waves. If we make the period infinitely long, this naturally becomes the </a:t>
            </a:r>
            <a:r>
              <a:rPr lang="en-US" b="1" dirty="0"/>
              <a:t>Fourier transform</a:t>
            </a:r>
            <a:r>
              <a:rPr lang="en-US" dirty="0"/>
              <a:t>, which works for non-periodic signals.</a:t>
            </a:r>
          </a:p>
          <a:p>
            <a:endParaRPr lang="en-US" dirty="0"/>
          </a:p>
          <a:p>
            <a:r>
              <a:rPr lang="en-US" dirty="0"/>
              <a:t>But computers don’t deal with continuous signals. We must first </a:t>
            </a:r>
            <a:r>
              <a:rPr lang="en-US" b="1" dirty="0"/>
              <a:t>discretize</a:t>
            </a:r>
            <a:r>
              <a:rPr lang="en-US" dirty="0"/>
              <a:t> them — that is, represent them as sequences of numbers. This involves </a:t>
            </a:r>
            <a:r>
              <a:rPr lang="en-US" b="1" dirty="0"/>
              <a:t>sampling</a:t>
            </a:r>
            <a:r>
              <a:rPr lang="en-US" dirty="0"/>
              <a:t> in time, and sometimes </a:t>
            </a:r>
            <a:r>
              <a:rPr lang="en-US" b="1" dirty="0"/>
              <a:t>quantizing</a:t>
            </a:r>
            <a:r>
              <a:rPr lang="en-US" dirty="0"/>
              <a:t> amplitudes. The </a:t>
            </a:r>
            <a:r>
              <a:rPr lang="en-US" b="1" dirty="0"/>
              <a:t>sampling theorem</a:t>
            </a:r>
            <a:r>
              <a:rPr lang="en-US" dirty="0"/>
              <a:t> assures us that, if we sample fast enough — at least twice the highest frequency in the signal — we can reconstruct the original waveform perfectly under ideal conditions.</a:t>
            </a:r>
          </a:p>
          <a:p>
            <a:r>
              <a:rPr lang="en-US" dirty="0"/>
              <a:t>Once we sample in time, something interesting happens in the frequency domain: the spectrum becomes periodic. This leads us to the </a:t>
            </a:r>
            <a:r>
              <a:rPr lang="en-US" b="1" dirty="0"/>
              <a:t>discrete Fourier transform</a:t>
            </a:r>
            <a:r>
              <a:rPr lang="en-US" dirty="0"/>
              <a:t>. And if we compute it efficiently, we use the </a:t>
            </a:r>
            <a:r>
              <a:rPr lang="en-US" b="1" dirty="0"/>
              <a:t>fast Fourier transform</a:t>
            </a:r>
            <a:r>
              <a:rPr lang="en-US" dirty="0"/>
              <a:t>, or FFT.</a:t>
            </a:r>
          </a:p>
          <a:p>
            <a:r>
              <a:rPr lang="en-US" dirty="0"/>
              <a:t>These tools are not just theory. They are powerful methods for denoising signals, extracting features, and understanding system behavior. But please remember — typing “</a:t>
            </a:r>
            <a:r>
              <a:rPr lang="en-US" dirty="0" err="1"/>
              <a:t>fft</a:t>
            </a:r>
            <a:r>
              <a:rPr lang="en-US" dirty="0"/>
              <a:t>” in MATLAB is easy; the real value comes from understanding what that result means and why it looks the way it does.</a:t>
            </a:r>
          </a:p>
          <a:p>
            <a:endParaRPr lang="en-US" dirty="0"/>
          </a:p>
          <a:p>
            <a:r>
              <a:rPr lang="en-US" dirty="0"/>
              <a:t>Today, I will guide you through some hands-on MATLAB examples so you can see how Fourier analysis works on discrete data, and how these ideas connect back to the theory we’ve been building. This is a great chance to make sure the concepts are clear in your mind.</a:t>
            </a:r>
          </a:p>
          <a:p>
            <a:r>
              <a:rPr lang="en-US" dirty="0"/>
              <a:t>Alright, let’s get started.</a:t>
            </a:r>
          </a:p>
          <a:p>
            <a:endParaRPr lang="en-US" dirty="0"/>
          </a:p>
        </p:txBody>
      </p:sp>
      <p:sp>
        <p:nvSpPr>
          <p:cNvPr id="4" name="Slide Number Placeholder 3"/>
          <p:cNvSpPr>
            <a:spLocks noGrp="1"/>
          </p:cNvSpPr>
          <p:nvPr>
            <p:ph type="sldNum" sz="quarter" idx="5"/>
          </p:nvPr>
        </p:nvSpPr>
        <p:spPr/>
        <p:txBody>
          <a:bodyPr/>
          <a:lstStyle/>
          <a:p>
            <a:fld id="{16362E68-66C4-4B01-8D1F-712CF75BFD43}" type="slidenum">
              <a:rPr lang="en-US" smtClean="0"/>
              <a:pPr/>
              <a:t>2</a:t>
            </a:fld>
            <a:endParaRPr lang="en-US"/>
          </a:p>
        </p:txBody>
      </p:sp>
    </p:spTree>
    <p:extLst>
      <p:ext uri="{BB962C8B-B14F-4D97-AF65-F5344CB8AC3E}">
        <p14:creationId xmlns:p14="http://schemas.microsoft.com/office/powerpoint/2010/main" val="38557865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Let me give you a quick roadmap for today’s session.</a:t>
            </a:r>
          </a:p>
          <a:p>
            <a:endParaRPr lang="en-US" dirty="0"/>
          </a:p>
          <a:p>
            <a:r>
              <a:rPr lang="en-US" dirty="0"/>
              <a:t>We’ll begin with </a:t>
            </a:r>
            <a:r>
              <a:rPr lang="en-US" b="1" dirty="0"/>
              <a:t>discrete convolution</a:t>
            </a:r>
            <a:r>
              <a:rPr lang="en-US" dirty="0"/>
              <a:t>. This is simply the convolution operation applied to signals that are already in discrete form — sequences of numbers rather than continuous waveforms. We’ll explore how to compute it, and why sometimes we add extra zeros at the ends of our signals — a technique called </a:t>
            </a:r>
            <a:r>
              <a:rPr lang="en-US" b="1" dirty="0"/>
              <a:t>zero-padding</a:t>
            </a:r>
            <a:r>
              <a:rPr lang="en-US" dirty="0"/>
              <a:t>. We’ll also see the idea of </a:t>
            </a:r>
            <a:r>
              <a:rPr lang="en-US" b="1" dirty="0"/>
              <a:t>circular convolution</a:t>
            </a:r>
            <a:r>
              <a:rPr lang="en-US" dirty="0"/>
              <a:t>, and how it relates to regular, or linear, convolution.</a:t>
            </a:r>
          </a:p>
          <a:p>
            <a:r>
              <a:rPr lang="en-US" dirty="0"/>
              <a:t>Next, we’ll move into </a:t>
            </a:r>
            <a:r>
              <a:rPr lang="en-US" b="1" dirty="0"/>
              <a:t>spectral analysis</a:t>
            </a:r>
            <a:r>
              <a:rPr lang="en-US" dirty="0"/>
              <a:t>. This is one of the most common applications of Fourier analysis. Here again, zero-padding plays an important role — but now it’s in the frequency domain. We’ll also talk about </a:t>
            </a:r>
            <a:r>
              <a:rPr lang="en-US" b="1" dirty="0"/>
              <a:t>refined spectral bins</a:t>
            </a:r>
            <a:r>
              <a:rPr lang="en-US" dirty="0"/>
              <a:t>, which allow us to see frequency details more clearly.</a:t>
            </a:r>
          </a:p>
          <a:p>
            <a:endParaRPr lang="en-US" dirty="0"/>
          </a:p>
          <a:p>
            <a:r>
              <a:rPr lang="en-US" dirty="0"/>
              <a:t>Finally, we’ll take what we’ve learned and apply it to </a:t>
            </a:r>
            <a:r>
              <a:rPr lang="en-US" b="1" dirty="0"/>
              <a:t>two-dimensional filtering</a:t>
            </a:r>
            <a:r>
              <a:rPr lang="en-US" dirty="0"/>
              <a:t> for images. Using the Fourier transform, we’ll perform </a:t>
            </a:r>
            <a:r>
              <a:rPr lang="en-US" b="1" dirty="0"/>
              <a:t>noise removal</a:t>
            </a:r>
            <a:r>
              <a:rPr lang="en-US" dirty="0"/>
              <a:t> to clean up an image, and </a:t>
            </a:r>
            <a:r>
              <a:rPr lang="en-US" b="1" dirty="0"/>
              <a:t>edge enhancement</a:t>
            </a:r>
            <a:r>
              <a:rPr lang="en-US" dirty="0"/>
              <a:t> to bring out important structures.</a:t>
            </a:r>
          </a:p>
          <a:p>
            <a:r>
              <a:rPr lang="en-US" dirty="0"/>
              <a:t>So, in short — discrete convolution, spectral analysis, and 2D image filtering. We’ll work through these step by step, connecting the math to hands-on MATLAB demonstrations.</a:t>
            </a:r>
          </a:p>
          <a:p>
            <a:endParaRPr lang="en-US" dirty="0"/>
          </a:p>
        </p:txBody>
      </p:sp>
      <p:sp>
        <p:nvSpPr>
          <p:cNvPr id="4" name="Slide Number Placeholder 3"/>
          <p:cNvSpPr>
            <a:spLocks noGrp="1"/>
          </p:cNvSpPr>
          <p:nvPr>
            <p:ph type="sldNum" sz="quarter" idx="5"/>
          </p:nvPr>
        </p:nvSpPr>
        <p:spPr/>
        <p:txBody>
          <a:bodyPr/>
          <a:lstStyle/>
          <a:p>
            <a:fld id="{20F3D82C-2E39-4B28-A1F4-12F97F880BD9}" type="slidenum">
              <a:rPr lang="en-US" smtClean="0"/>
              <a:t>3</a:t>
            </a:fld>
            <a:endParaRPr lang="en-US"/>
          </a:p>
        </p:txBody>
      </p:sp>
    </p:spTree>
    <p:extLst>
      <p:ext uri="{BB962C8B-B14F-4D97-AF65-F5344CB8AC3E}">
        <p14:creationId xmlns:p14="http://schemas.microsoft.com/office/powerpoint/2010/main" val="36516753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Now, let’s take a moment to visualize what the </a:t>
            </a:r>
            <a:r>
              <a:rPr lang="en-US" b="1" dirty="0"/>
              <a:t>discrete Fourier transform</a:t>
            </a:r>
            <a:r>
              <a:rPr lang="en-US" dirty="0"/>
              <a:t> — or DFT — really means.</a:t>
            </a:r>
          </a:p>
          <a:p>
            <a:r>
              <a:rPr lang="en-US" dirty="0"/>
              <a:t>On this slide, you see two columns. On the </a:t>
            </a:r>
            <a:r>
              <a:rPr lang="en-US" b="1" dirty="0"/>
              <a:t>left</a:t>
            </a:r>
            <a:r>
              <a:rPr lang="en-US" dirty="0"/>
              <a:t>, we have signals in the </a:t>
            </a:r>
            <a:r>
              <a:rPr lang="en-US" b="1" dirty="0"/>
              <a:t>time domain</a:t>
            </a:r>
            <a:r>
              <a:rPr lang="en-US" dirty="0"/>
              <a:t>. On the </a:t>
            </a:r>
            <a:r>
              <a:rPr lang="en-US" b="1" dirty="0"/>
              <a:t>right</a:t>
            </a:r>
            <a:r>
              <a:rPr lang="en-US" dirty="0"/>
              <a:t>, we have their corresponding representations in the </a:t>
            </a:r>
            <a:r>
              <a:rPr lang="en-US" b="1" dirty="0"/>
              <a:t>frequency domain</a:t>
            </a:r>
            <a:r>
              <a:rPr lang="en-US" dirty="0"/>
              <a:t>. The arrows between them remind us that the Fourier transform takes us from one domain to the other, and the inverse Fourier transform brings us back.</a:t>
            </a:r>
          </a:p>
          <a:p>
            <a:endParaRPr lang="en-US" dirty="0"/>
          </a:p>
          <a:p>
            <a:r>
              <a:rPr lang="en-US" dirty="0"/>
              <a:t>Each row here is a different example. In some cases, we’re multiplying two signals in the time domain. In others, we’re convolving them. And each time, there’s a matching operation in the frequency domain — because multiplication in one domain corresponds to convolution in the other, and vice versa. This is one of the most important dual relationships in Fourier theory.</a:t>
            </a:r>
          </a:p>
          <a:p>
            <a:endParaRPr lang="en-US" dirty="0"/>
          </a:p>
          <a:p>
            <a:r>
              <a:rPr lang="en-US" dirty="0"/>
              <a:t>You can also see how different shapes in the time domain create specific patterns in the frequency domain. For example:</a:t>
            </a:r>
          </a:p>
          <a:p>
            <a:r>
              <a:rPr lang="en-US" dirty="0"/>
              <a:t>A narrow pulse in time spreads out in frequency.</a:t>
            </a:r>
          </a:p>
          <a:p>
            <a:r>
              <a:rPr lang="en-US" dirty="0"/>
              <a:t>A broad, smooth shape in time becomes more concentrated in frequency.</a:t>
            </a:r>
          </a:p>
          <a:p>
            <a:r>
              <a:rPr lang="en-US" dirty="0"/>
              <a:t>Sampling a continuous signal in time produces repeated copies — or “aliases” — in the frequency domain.</a:t>
            </a:r>
          </a:p>
          <a:p>
            <a:r>
              <a:rPr lang="en-US" dirty="0"/>
              <a:t>By moving row by row, you can start to see the bigger picture: every change we make to a signal in one domain has a predictable effect in the other. This is exactly why Fourier analysis is so powerful — it gives us two different but connected ways of looking at the same signal.</a:t>
            </a:r>
          </a:p>
          <a:p>
            <a:r>
              <a:rPr lang="en-US" dirty="0"/>
              <a:t>As we go through the rest of today’s examples, keep these relationships in mind. They’ll help you understand not just the MATLAB results, but also the deeper reason why those results look the way they do.</a:t>
            </a:r>
          </a:p>
          <a:p>
            <a:endParaRPr lang="en-US" dirty="0"/>
          </a:p>
        </p:txBody>
      </p:sp>
      <p:sp>
        <p:nvSpPr>
          <p:cNvPr id="4" name="Slide Number Placeholder 3"/>
          <p:cNvSpPr>
            <a:spLocks noGrp="1"/>
          </p:cNvSpPr>
          <p:nvPr>
            <p:ph type="sldNum" sz="quarter" idx="5"/>
          </p:nvPr>
        </p:nvSpPr>
        <p:spPr/>
        <p:txBody>
          <a:bodyPr/>
          <a:lstStyle/>
          <a:p>
            <a:fld id="{20F3D82C-2E39-4B28-A1F4-12F97F880BD9}" type="slidenum">
              <a:rPr lang="en-US" smtClean="0"/>
              <a:t>4</a:t>
            </a:fld>
            <a:endParaRPr lang="en-US"/>
          </a:p>
        </p:txBody>
      </p:sp>
    </p:spTree>
    <p:extLst>
      <p:ext uri="{BB962C8B-B14F-4D97-AF65-F5344CB8AC3E}">
        <p14:creationId xmlns:p14="http://schemas.microsoft.com/office/powerpoint/2010/main" val="11695123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Here’s a simple, visual way to think about convolution.</a:t>
            </a:r>
            <a:br>
              <a:rPr lang="en-US" dirty="0"/>
            </a:br>
            <a:r>
              <a:rPr lang="en-US" dirty="0"/>
              <a:t>Imagine you have two hand shapes. One is fixed, and the other is flipped and shifted.</a:t>
            </a:r>
          </a:p>
          <a:p>
            <a:r>
              <a:rPr lang="en-US" dirty="0"/>
              <a:t>In convolution, we take one function — or one signal — and flip it around, just like turning a right hand into a left hand. Then, we slide it along the other signal. At each position, we calculate how much the two shapes overlap. The amount of overlap becomes the value of the convolution at that point.</a:t>
            </a:r>
          </a:p>
          <a:p>
            <a:endParaRPr lang="en-US" dirty="0"/>
          </a:p>
          <a:p>
            <a:r>
              <a:rPr lang="en-US" dirty="0"/>
              <a:t>The picture here shows this idea using two hands. The vertical axis represents flipping, and the horizontal axis represents shifting. You can imagine that at certain positions, the hands align perfectly, giving a large overlap, while at other positions they hardly touch at all, giving a small or zero overlap.</a:t>
            </a:r>
          </a:p>
          <a:p>
            <a:endParaRPr lang="en-US" dirty="0"/>
          </a:p>
          <a:p>
            <a:r>
              <a:rPr lang="en-US" dirty="0"/>
              <a:t>This is exactly what happens in math: convolution measures the similarity between a signal and a shifted, flipped version of another signal. This idea works whether we are dealing with shapes like these hands, continuous waveforms, or sequences of numbers.</a:t>
            </a:r>
          </a:p>
          <a:p>
            <a:r>
              <a:rPr lang="en-US" dirty="0"/>
              <a:t>By keeping this visual in mind, convolution will feel much less abstract. It’s just sliding one pattern over another and measuring how well they match at each shift.</a:t>
            </a:r>
          </a:p>
          <a:p>
            <a:endParaRPr lang="en-US" dirty="0"/>
          </a:p>
        </p:txBody>
      </p:sp>
      <p:sp>
        <p:nvSpPr>
          <p:cNvPr id="4" name="Slide Number Placeholder 3"/>
          <p:cNvSpPr>
            <a:spLocks noGrp="1"/>
          </p:cNvSpPr>
          <p:nvPr>
            <p:ph type="sldNum" sz="quarter" idx="5"/>
          </p:nvPr>
        </p:nvSpPr>
        <p:spPr/>
        <p:txBody>
          <a:bodyPr/>
          <a:lstStyle/>
          <a:p>
            <a:fld id="{20F3D82C-2E39-4B28-A1F4-12F97F880BD9}" type="slidenum">
              <a:rPr lang="en-US" smtClean="0"/>
              <a:t>5</a:t>
            </a:fld>
            <a:endParaRPr lang="en-US"/>
          </a:p>
        </p:txBody>
      </p:sp>
    </p:spTree>
    <p:extLst>
      <p:ext uri="{BB962C8B-B14F-4D97-AF65-F5344CB8AC3E}">
        <p14:creationId xmlns:p14="http://schemas.microsoft.com/office/powerpoint/2010/main" val="25500951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Here’s our first step in the convolution process — calculating the value at </a:t>
            </a:r>
            <a:r>
              <a:rPr lang="en-US" b="1" dirty="0"/>
              <a:t>n equals zero</a:t>
            </a:r>
            <a:r>
              <a:rPr lang="en-US" dirty="0"/>
              <a:t>.</a:t>
            </a:r>
          </a:p>
          <a:p>
            <a:endParaRPr lang="en-US" dirty="0"/>
          </a:p>
          <a:p>
            <a:r>
              <a:rPr lang="en-US" dirty="0"/>
              <a:t>On the top left, the red arrows show </a:t>
            </a:r>
            <a:r>
              <a:rPr lang="en-US" b="1" dirty="0"/>
              <a:t>f of k</a:t>
            </a:r>
            <a:r>
              <a:rPr lang="en-US" dirty="0"/>
              <a:t>, our first discrete signal. On the bottom left, the green arrows show </a:t>
            </a:r>
            <a:r>
              <a:rPr lang="en-US" b="1" dirty="0"/>
              <a:t>g of negative k</a:t>
            </a:r>
            <a:r>
              <a:rPr lang="en-US" dirty="0"/>
              <a:t>, which means we have flipped the second signal in time.</a:t>
            </a:r>
          </a:p>
          <a:p>
            <a:r>
              <a:rPr lang="en-US" dirty="0"/>
              <a:t>The formula in the middle tells us what convolution is in mathematical terms: we take the sum over all k of </a:t>
            </a:r>
            <a:r>
              <a:rPr lang="en-US" b="1" dirty="0"/>
              <a:t>x of k</a:t>
            </a:r>
            <a:r>
              <a:rPr lang="en-US" dirty="0"/>
              <a:t> multiplied by </a:t>
            </a:r>
            <a:r>
              <a:rPr lang="en-US" b="1" dirty="0"/>
              <a:t>h of n minus k</a:t>
            </a:r>
            <a:r>
              <a:rPr lang="en-US" dirty="0"/>
              <a:t>. </a:t>
            </a:r>
          </a:p>
          <a:p>
            <a:endParaRPr lang="en-US" dirty="0"/>
          </a:p>
          <a:p>
            <a:r>
              <a:rPr lang="en-US" dirty="0"/>
              <a:t>Here, </a:t>
            </a:r>
            <a:r>
              <a:rPr lang="en-US" b="1" dirty="0"/>
              <a:t>x</a:t>
            </a:r>
            <a:r>
              <a:rPr lang="en-US" dirty="0"/>
              <a:t> is our input, and </a:t>
            </a:r>
            <a:r>
              <a:rPr lang="en-US" b="1" dirty="0"/>
              <a:t>h</a:t>
            </a:r>
            <a:r>
              <a:rPr lang="en-US" dirty="0"/>
              <a:t> is our system’s impulse response.</a:t>
            </a:r>
          </a:p>
          <a:p>
            <a:r>
              <a:rPr lang="en-US" dirty="0"/>
              <a:t>At </a:t>
            </a:r>
            <a:r>
              <a:rPr lang="en-US" b="1" dirty="0"/>
              <a:t>n equals zero</a:t>
            </a:r>
            <a:r>
              <a:rPr lang="en-US" dirty="0"/>
              <a:t>, we line up the flipped signal so that its zero index matches the zero index of the original signal. You can think of this like the hand illustration on the right: one hand flipped, the other fixed, and their starting points aligned at zero.</a:t>
            </a:r>
          </a:p>
          <a:p>
            <a:endParaRPr lang="en-US" dirty="0"/>
          </a:p>
          <a:p>
            <a:r>
              <a:rPr lang="en-US" dirty="0"/>
              <a:t>Now, at each matching position of the red and green arrows, we multiply the values together and then sum all those products. That sum is the value of the convolution at n equals zero.</a:t>
            </a:r>
          </a:p>
          <a:p>
            <a:r>
              <a:rPr lang="en-US" dirty="0"/>
              <a:t>This is the key step — convolution is nothing more than multiplying corresponding values from two aligned sequences, and then summing the results. We repeat this process for each shift of n to get the full convolution.</a:t>
            </a:r>
          </a:p>
          <a:p>
            <a:endParaRPr lang="en-US" dirty="0"/>
          </a:p>
        </p:txBody>
      </p:sp>
      <p:sp>
        <p:nvSpPr>
          <p:cNvPr id="4" name="Slide Number Placeholder 3"/>
          <p:cNvSpPr>
            <a:spLocks noGrp="1"/>
          </p:cNvSpPr>
          <p:nvPr>
            <p:ph type="sldNum" sz="quarter" idx="5"/>
          </p:nvPr>
        </p:nvSpPr>
        <p:spPr/>
        <p:txBody>
          <a:bodyPr/>
          <a:lstStyle/>
          <a:p>
            <a:fld id="{20F3D82C-2E39-4B28-A1F4-12F97F880BD9}" type="slidenum">
              <a:rPr lang="en-US" smtClean="0"/>
              <a:t>6</a:t>
            </a:fld>
            <a:endParaRPr lang="en-US"/>
          </a:p>
        </p:txBody>
      </p:sp>
    </p:spTree>
    <p:extLst>
      <p:ext uri="{BB962C8B-B14F-4D97-AF65-F5344CB8AC3E}">
        <p14:creationId xmlns:p14="http://schemas.microsoft.com/office/powerpoint/2010/main" val="37062942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Now let’s see what happens when we compute the convolution at </a:t>
            </a:r>
            <a:r>
              <a:rPr lang="en-US" b="1" dirty="0"/>
              <a:t>n equals eight</a:t>
            </a:r>
            <a:r>
              <a:rPr lang="en-US" dirty="0"/>
              <a:t>.</a:t>
            </a:r>
          </a:p>
          <a:p>
            <a:endParaRPr lang="en-US" dirty="0"/>
          </a:p>
          <a:p>
            <a:r>
              <a:rPr lang="en-US" dirty="0"/>
              <a:t>Just like before, the red arrows on the top represent </a:t>
            </a:r>
            <a:r>
              <a:rPr lang="en-US" b="1" dirty="0"/>
              <a:t>f of k</a:t>
            </a:r>
            <a:r>
              <a:rPr lang="en-US" dirty="0"/>
              <a:t>, and the green arrows on the bottom show </a:t>
            </a:r>
            <a:r>
              <a:rPr lang="en-US" b="1" dirty="0"/>
              <a:t>g of eight minus k</a:t>
            </a:r>
            <a:r>
              <a:rPr lang="en-US" dirty="0"/>
              <a:t> — meaning the second signal has been flipped and shifted so that its index aligns with n equals eight.</a:t>
            </a:r>
          </a:p>
          <a:p>
            <a:r>
              <a:rPr lang="en-US" dirty="0"/>
              <a:t>In our hand analogy, you can imagine sliding the flipped hand far enough to the right so that only the outer fingers — the “end fingers” — are touching. This is the opposite alignment from what we saw at n equals zero.</a:t>
            </a:r>
          </a:p>
          <a:p>
            <a:endParaRPr lang="en-US" dirty="0"/>
          </a:p>
          <a:p>
            <a:r>
              <a:rPr lang="en-US" dirty="0"/>
              <a:t>At this position, only a few of the red and green arrows overlap. We multiply those overlapping values and then sum them up. The result gives us the convolution value at n equals eight.</a:t>
            </a:r>
          </a:p>
          <a:p>
            <a:r>
              <a:rPr lang="en-US" dirty="0"/>
              <a:t>By repeating this shifting process for every value of n, we build up the entire convolution sequence, one position at a time.</a:t>
            </a:r>
          </a:p>
          <a:p>
            <a:endParaRPr lang="en-US" dirty="0"/>
          </a:p>
        </p:txBody>
      </p:sp>
      <p:sp>
        <p:nvSpPr>
          <p:cNvPr id="4" name="Slide Number Placeholder 3"/>
          <p:cNvSpPr>
            <a:spLocks noGrp="1"/>
          </p:cNvSpPr>
          <p:nvPr>
            <p:ph type="sldNum" sz="quarter" idx="5"/>
          </p:nvPr>
        </p:nvSpPr>
        <p:spPr/>
        <p:txBody>
          <a:bodyPr/>
          <a:lstStyle/>
          <a:p>
            <a:fld id="{20F3D82C-2E39-4B28-A1F4-12F97F880BD9}" type="slidenum">
              <a:rPr lang="en-US" smtClean="0"/>
              <a:t>7</a:t>
            </a:fld>
            <a:endParaRPr lang="en-US"/>
          </a:p>
        </p:txBody>
      </p:sp>
    </p:spTree>
    <p:extLst>
      <p:ext uri="{BB962C8B-B14F-4D97-AF65-F5344CB8AC3E}">
        <p14:creationId xmlns:p14="http://schemas.microsoft.com/office/powerpoint/2010/main" val="23624356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Let’s walk through this functional example, which will connect directly to what we’ll do in MATLAB later.</a:t>
            </a:r>
          </a:p>
          <a:p>
            <a:endParaRPr lang="en-US" dirty="0"/>
          </a:p>
          <a:p>
            <a:r>
              <a:rPr lang="en-US" dirty="0"/>
              <a:t>We start with </a:t>
            </a:r>
            <a:r>
              <a:rPr lang="en-US" b="1" dirty="0"/>
              <a:t>h of n</a:t>
            </a:r>
            <a:r>
              <a:rPr lang="en-US" dirty="0"/>
              <a:t>, shown in the first plot — a simple rectangular pulse. Then we have </a:t>
            </a:r>
            <a:r>
              <a:rPr lang="en-US" b="1" dirty="0"/>
              <a:t>x of n</a:t>
            </a:r>
            <a:r>
              <a:rPr lang="en-US" dirty="0"/>
              <a:t> in the second plot — think of it as three rectangular pulses in a row, one shown in red and the other two in blue.</a:t>
            </a:r>
          </a:p>
          <a:p>
            <a:r>
              <a:rPr lang="en-US" dirty="0"/>
              <a:t>If we take these two signals and perform a </a:t>
            </a:r>
            <a:r>
              <a:rPr lang="en-US" b="1" dirty="0"/>
              <a:t>linear convolution</a:t>
            </a:r>
            <a:r>
              <a:rPr lang="en-US" dirty="0"/>
              <a:t> — shown in the third plot — we get a series of triangular shapes. This makes sense: convolving two rectangular pulses produces a triangle. Here we have three such triangles because x of n contains three rectangles.</a:t>
            </a:r>
          </a:p>
          <a:p>
            <a:endParaRPr lang="en-US" dirty="0"/>
          </a:p>
          <a:p>
            <a:r>
              <a:rPr lang="en-US" dirty="0"/>
              <a:t>Now, in the fourth plot, something changes. We create </a:t>
            </a:r>
            <a:r>
              <a:rPr lang="en-US" b="1" dirty="0"/>
              <a:t>x  N of n</a:t>
            </a:r>
            <a:r>
              <a:rPr lang="en-US" dirty="0"/>
              <a:t> — this means x of n is now </a:t>
            </a:r>
            <a:r>
              <a:rPr lang="en-US" b="1" dirty="0"/>
              <a:t>periodically extended</a:t>
            </a:r>
            <a:r>
              <a:rPr lang="en-US" dirty="0"/>
              <a:t> with N samples per period. In other words, we’ve made it repeat over and over, which is why we call it </a:t>
            </a:r>
            <a:r>
              <a:rPr lang="en-US" b="1" dirty="0"/>
              <a:t>circularly extended</a:t>
            </a:r>
            <a:r>
              <a:rPr lang="en-US" dirty="0"/>
              <a:t>.</a:t>
            </a:r>
          </a:p>
          <a:p>
            <a:r>
              <a:rPr lang="en-US" dirty="0"/>
              <a:t>In the fifth plot, we see the </a:t>
            </a:r>
            <a:r>
              <a:rPr lang="en-US" b="1" dirty="0"/>
              <a:t>linear convolution</a:t>
            </a:r>
            <a:r>
              <a:rPr lang="en-US" dirty="0"/>
              <a:t> of this periodic x  N of n with h of n. Notice what happens: instead of three clean, separate triangles, the edges wrap around, and the red and blue parts start overlapping. These are </a:t>
            </a:r>
            <a:r>
              <a:rPr lang="en-US" b="1" dirty="0"/>
              <a:t>edge effects</a:t>
            </a:r>
            <a:r>
              <a:rPr lang="en-US" dirty="0"/>
              <a:t> caused by the circular extension.</a:t>
            </a:r>
          </a:p>
          <a:p>
            <a:r>
              <a:rPr lang="en-US" dirty="0"/>
              <a:t>Finally, the last plot shows the </a:t>
            </a:r>
            <a:r>
              <a:rPr lang="en-US" b="1" dirty="0"/>
              <a:t>composite output</a:t>
            </a:r>
            <a:r>
              <a:rPr lang="en-US" dirty="0"/>
              <a:t>. The green section in the middle is the portion unaffected by edge effects. This part matches the original linear convolution result and is what we actually want.</a:t>
            </a:r>
          </a:p>
          <a:p>
            <a:endParaRPr lang="en-US" dirty="0"/>
          </a:p>
          <a:p>
            <a:r>
              <a:rPr lang="en-US" dirty="0"/>
              <a:t>The lesson here is important: to avoid these unwanted overlaps in circular convolution, we often use </a:t>
            </a:r>
            <a:r>
              <a:rPr lang="en-US" b="1" dirty="0"/>
              <a:t>zero-padding</a:t>
            </a:r>
            <a:r>
              <a:rPr lang="en-US" dirty="0"/>
              <a:t> — adding extra zeros to the signals before performing the convolution. This ensures that the result matches the true linear convolution without distortion at the edges.</a:t>
            </a:r>
          </a:p>
          <a:p>
            <a:r>
              <a:rPr lang="en-US" dirty="0"/>
              <a:t>We’ll explore this zero-padding step in detail in a few slides, and you’ll see how MATLAB handles it.</a:t>
            </a:r>
          </a:p>
          <a:p>
            <a:endParaRPr lang="en-US" dirty="0"/>
          </a:p>
        </p:txBody>
      </p:sp>
      <p:sp>
        <p:nvSpPr>
          <p:cNvPr id="4" name="Slide Number Placeholder 3"/>
          <p:cNvSpPr>
            <a:spLocks noGrp="1"/>
          </p:cNvSpPr>
          <p:nvPr>
            <p:ph type="sldNum" sz="quarter" idx="5"/>
          </p:nvPr>
        </p:nvSpPr>
        <p:spPr/>
        <p:txBody>
          <a:bodyPr/>
          <a:lstStyle/>
          <a:p>
            <a:fld id="{20F3D82C-2E39-4B28-A1F4-12F97F880BD9}" type="slidenum">
              <a:rPr lang="en-US" smtClean="0"/>
              <a:t>8</a:t>
            </a:fld>
            <a:endParaRPr lang="en-US"/>
          </a:p>
        </p:txBody>
      </p:sp>
    </p:spTree>
    <p:extLst>
      <p:ext uri="{BB962C8B-B14F-4D97-AF65-F5344CB8AC3E}">
        <p14:creationId xmlns:p14="http://schemas.microsoft.com/office/powerpoint/2010/main" val="23941751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Here’s a simple MATLAB example you can try for yourself.</a:t>
            </a:r>
          </a:p>
          <a:p>
            <a:endParaRPr lang="en-US" dirty="0"/>
          </a:p>
          <a:p>
            <a:r>
              <a:rPr lang="en-US" dirty="0"/>
              <a:t>We start by defining two discrete signals — or vectors in MATLAB — </a:t>
            </a:r>
            <a:r>
              <a:rPr lang="en-US" b="1" dirty="0"/>
              <a:t>x</a:t>
            </a:r>
            <a:r>
              <a:rPr lang="en-US" dirty="0"/>
              <a:t> and </a:t>
            </a:r>
            <a:r>
              <a:rPr lang="en-US" b="1" dirty="0"/>
              <a:t>h</a:t>
            </a:r>
            <a:r>
              <a:rPr lang="en-US" dirty="0"/>
              <a:t>. In this case:</a:t>
            </a:r>
            <a:br>
              <a:rPr lang="en-US" dirty="0"/>
            </a:br>
            <a:r>
              <a:rPr lang="en-US" dirty="0"/>
              <a:t>x equals 5,4,3,2,1</a:t>
            </a:r>
            <a:br>
              <a:rPr lang="en-US" dirty="0"/>
            </a:br>
            <a:r>
              <a:rPr lang="en-US" dirty="0"/>
              <a:t>h equals 1,2,3,4,5</a:t>
            </a:r>
          </a:p>
          <a:p>
            <a:r>
              <a:rPr lang="en-US" dirty="0"/>
              <a:t>Next, we perform a convolution using MATLAB’s built-in </a:t>
            </a:r>
            <a:r>
              <a:rPr lang="en-US" b="1" dirty="0"/>
              <a:t>conv</a:t>
            </a:r>
            <a:r>
              <a:rPr lang="en-US" dirty="0"/>
              <a:t> function:</a:t>
            </a:r>
            <a:br>
              <a:rPr lang="en-US" dirty="0"/>
            </a:br>
            <a:r>
              <a:rPr lang="en-US" dirty="0"/>
              <a:t>y equals conv x, h;</a:t>
            </a:r>
          </a:p>
          <a:p>
            <a:r>
              <a:rPr lang="en-US" dirty="0"/>
              <a:t>Finally, we plot the result:</a:t>
            </a:r>
            <a:br>
              <a:rPr lang="en-US" dirty="0"/>
            </a:br>
            <a:r>
              <a:rPr lang="en-US" dirty="0"/>
              <a:t>plot y; </a:t>
            </a:r>
            <a:r>
              <a:rPr lang="en-US" dirty="0" err="1"/>
              <a:t>ylim</a:t>
            </a:r>
            <a:r>
              <a:rPr lang="en-US" dirty="0"/>
              <a:t> 0 to 100;</a:t>
            </a:r>
          </a:p>
          <a:p>
            <a:endParaRPr lang="en-US" dirty="0"/>
          </a:p>
          <a:p>
            <a:r>
              <a:rPr lang="en-US" dirty="0"/>
              <a:t>What do we see? A clean triangular shape. This is exactly what we expect when we linearly convolve two finite sequences that look like ramps in opposite directions. The convolution produces a sequence that starts small, rises to a peak — here at the center — and then falls symmetrically.</a:t>
            </a:r>
          </a:p>
          <a:p>
            <a:r>
              <a:rPr lang="en-US" dirty="0"/>
              <a:t>This simple example is a good reminder that convolution is not mysterious. It’s just a systematic way of multiplying and summing overlapping parts of two signals. And MATLAB makes it easy to visualize.</a:t>
            </a:r>
          </a:p>
          <a:p>
            <a:endParaRPr lang="en-US" dirty="0"/>
          </a:p>
        </p:txBody>
      </p:sp>
      <p:sp>
        <p:nvSpPr>
          <p:cNvPr id="4" name="Slide Number Placeholder 3"/>
          <p:cNvSpPr>
            <a:spLocks noGrp="1"/>
          </p:cNvSpPr>
          <p:nvPr>
            <p:ph type="sldNum" sz="quarter" idx="5"/>
          </p:nvPr>
        </p:nvSpPr>
        <p:spPr/>
        <p:txBody>
          <a:bodyPr/>
          <a:lstStyle/>
          <a:p>
            <a:fld id="{20F3D82C-2E39-4B28-A1F4-12F97F880BD9}" type="slidenum">
              <a:rPr lang="en-US" smtClean="0"/>
              <a:t>9</a:t>
            </a:fld>
            <a:endParaRPr lang="en-US"/>
          </a:p>
        </p:txBody>
      </p:sp>
    </p:spTree>
    <p:extLst>
      <p:ext uri="{BB962C8B-B14F-4D97-AF65-F5344CB8AC3E}">
        <p14:creationId xmlns:p14="http://schemas.microsoft.com/office/powerpoint/2010/main" val="15328347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Now let’s think about </a:t>
            </a:r>
            <a:r>
              <a:rPr lang="en-US" b="1" dirty="0"/>
              <a:t>circular convolution</a:t>
            </a:r>
            <a:r>
              <a:rPr lang="en-US" dirty="0"/>
              <a:t>.</a:t>
            </a:r>
          </a:p>
          <a:p>
            <a:endParaRPr lang="en-US" dirty="0"/>
          </a:p>
          <a:p>
            <a:r>
              <a:rPr lang="en-US" dirty="0"/>
              <a:t>Earlier, with linear convolution, we had just one pair of signals sliding past each other. In this hand analogy, that meant one top hand and one bottom hand.</a:t>
            </a:r>
          </a:p>
          <a:p>
            <a:endParaRPr lang="en-US" dirty="0"/>
          </a:p>
          <a:p>
            <a:r>
              <a:rPr lang="en-US" dirty="0"/>
              <a:t>Here, with circular convolution, the situation is different. The signal is treated as if it repeats periodically — just like in our earlier example from Wikipedia. So instead of one top hand, we now have several copies in a row, as shown here with three hands.</a:t>
            </a:r>
          </a:p>
          <a:p>
            <a:r>
              <a:rPr lang="en-US" dirty="0"/>
              <a:t>When we slide the lower signal, we can’t “run out” of data on either end, because the pattern simply wraps around. That means parts of the signal from the end overlap with parts from the beginning.</a:t>
            </a:r>
          </a:p>
          <a:p>
            <a:endParaRPr lang="en-US" dirty="0"/>
          </a:p>
          <a:p>
            <a:r>
              <a:rPr lang="en-US" dirty="0"/>
              <a:t>In the picture, you can see that the fingers from the lower hands are overlapping with the fingers from the upper hands — not just in the middle, but also across the boundaries. This wrapping-around effect is exactly what creates the </a:t>
            </a:r>
            <a:r>
              <a:rPr lang="en-US" b="1" dirty="0"/>
              <a:t>edge overlaps</a:t>
            </a:r>
            <a:r>
              <a:rPr lang="en-US" dirty="0"/>
              <a:t> we saw earlier.</a:t>
            </a:r>
          </a:p>
          <a:p>
            <a:r>
              <a:rPr lang="en-US" dirty="0"/>
              <a:t>If we don’t want those overlaps to distort our result, we need to use </a:t>
            </a:r>
            <a:r>
              <a:rPr lang="en-US" b="1" dirty="0"/>
              <a:t>zero-padding</a:t>
            </a:r>
            <a:r>
              <a:rPr lang="en-US" dirty="0"/>
              <a:t> before performing the convolution. That’s the key difference between the clean linear convolution result and the wrapped-around circular convolution result.</a:t>
            </a:r>
          </a:p>
          <a:p>
            <a:endParaRPr lang="en-US" dirty="0"/>
          </a:p>
        </p:txBody>
      </p:sp>
      <p:sp>
        <p:nvSpPr>
          <p:cNvPr id="4" name="Slide Number Placeholder 3"/>
          <p:cNvSpPr>
            <a:spLocks noGrp="1"/>
          </p:cNvSpPr>
          <p:nvPr>
            <p:ph type="sldNum" sz="quarter" idx="5"/>
          </p:nvPr>
        </p:nvSpPr>
        <p:spPr/>
        <p:txBody>
          <a:bodyPr/>
          <a:lstStyle/>
          <a:p>
            <a:fld id="{20F3D82C-2E39-4B28-A1F4-12F97F880BD9}" type="slidenum">
              <a:rPr lang="en-US" smtClean="0"/>
              <a:t>10</a:t>
            </a:fld>
            <a:endParaRPr lang="en-US"/>
          </a:p>
        </p:txBody>
      </p:sp>
    </p:spTree>
    <p:extLst>
      <p:ext uri="{BB962C8B-B14F-4D97-AF65-F5344CB8AC3E}">
        <p14:creationId xmlns:p14="http://schemas.microsoft.com/office/powerpoint/2010/main" val="33124432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Now, let’s see how </a:t>
            </a:r>
            <a:r>
              <a:rPr lang="en-US" b="1" dirty="0"/>
              <a:t>zero-padding</a:t>
            </a:r>
            <a:r>
              <a:rPr lang="en-US" dirty="0"/>
              <a:t> helps us fix the edge effect problem we saw with circular convolution.</a:t>
            </a:r>
          </a:p>
          <a:p>
            <a:endParaRPr lang="en-US" dirty="0"/>
          </a:p>
          <a:p>
            <a:r>
              <a:rPr lang="en-US" dirty="0"/>
              <a:t>In the earlier example, the red and green lines — representing the start and end of the main region we care about — were very close together. This caused the signal to wrap around and overlap in places we didn’t want.</a:t>
            </a:r>
          </a:p>
          <a:p>
            <a:r>
              <a:rPr lang="en-US" dirty="0"/>
              <a:t>Zero-padding means we insert extra zeros at the ends of our signals before performing the convolution. In this hand analogy, adding zero-padding is like putting some extra space between the hands. The top and bottom hands are now farther apart before they start overlapping.</a:t>
            </a:r>
          </a:p>
          <a:p>
            <a:endParaRPr lang="en-US" dirty="0"/>
          </a:p>
          <a:p>
            <a:r>
              <a:rPr lang="en-US" dirty="0"/>
              <a:t>As a result, the main section we care about — here marked in red — remains untouched by unwanted overlaps. The green section, which previously had interference from wrapping, now stays clean.</a:t>
            </a:r>
          </a:p>
          <a:p>
            <a:endParaRPr lang="en-US" dirty="0"/>
          </a:p>
          <a:p>
            <a:r>
              <a:rPr lang="en-US" dirty="0"/>
              <a:t>This is exactly how we prevent the distortion seen in the Wikipedia example: by padding with enough zeros, the circular convolution result becomes identical to the true linear convolution result.</a:t>
            </a:r>
          </a:p>
          <a:p>
            <a:endParaRPr lang="en-US" dirty="0"/>
          </a:p>
        </p:txBody>
      </p:sp>
      <p:sp>
        <p:nvSpPr>
          <p:cNvPr id="4" name="Slide Number Placeholder 3"/>
          <p:cNvSpPr>
            <a:spLocks noGrp="1"/>
          </p:cNvSpPr>
          <p:nvPr>
            <p:ph type="sldNum" sz="quarter" idx="5"/>
          </p:nvPr>
        </p:nvSpPr>
        <p:spPr/>
        <p:txBody>
          <a:bodyPr/>
          <a:lstStyle/>
          <a:p>
            <a:fld id="{20F3D82C-2E39-4B28-A1F4-12F97F880BD9}" type="slidenum">
              <a:rPr lang="en-US" smtClean="0"/>
              <a:t>11</a:t>
            </a:fld>
            <a:endParaRPr lang="en-US"/>
          </a:p>
        </p:txBody>
      </p:sp>
    </p:spTree>
    <p:extLst>
      <p:ext uri="{BB962C8B-B14F-4D97-AF65-F5344CB8AC3E}">
        <p14:creationId xmlns:p14="http://schemas.microsoft.com/office/powerpoint/2010/main" val="34892964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Here’s a straightforward MATLAB example to show </a:t>
            </a:r>
            <a:r>
              <a:rPr lang="en-US" b="1" dirty="0"/>
              <a:t>linear convolution</a:t>
            </a:r>
            <a:r>
              <a:rPr lang="en-US" dirty="0"/>
              <a:t> in action.</a:t>
            </a:r>
          </a:p>
          <a:p>
            <a:endParaRPr lang="en-US" dirty="0"/>
          </a:p>
          <a:p>
            <a:r>
              <a:rPr lang="en-US" dirty="0"/>
              <a:t>We start with two sequences:</a:t>
            </a:r>
            <a:br>
              <a:rPr lang="en-US" dirty="0"/>
            </a:br>
            <a:r>
              <a:rPr lang="en-US" dirty="0"/>
              <a:t>x equals 5,4,3,2,1,0</a:t>
            </a:r>
            <a:br>
              <a:rPr lang="en-US" dirty="0"/>
            </a:br>
            <a:r>
              <a:rPr lang="en-US" dirty="0"/>
              <a:t>h equals 1,2,3,4,5,6</a:t>
            </a:r>
          </a:p>
          <a:p>
            <a:r>
              <a:rPr lang="en-US" dirty="0"/>
              <a:t>The first figure shows both sequences plotted together. The blue line is x — starting high and decreasing. The red line is h — starting low and increasing.</a:t>
            </a:r>
          </a:p>
          <a:p>
            <a:r>
              <a:rPr lang="en-US" dirty="0"/>
              <a:t>Now we use MATLAB’s built-in </a:t>
            </a:r>
            <a:r>
              <a:rPr lang="en-US" b="1" dirty="0"/>
              <a:t>conv</a:t>
            </a:r>
            <a:r>
              <a:rPr lang="en-US" dirty="0"/>
              <a:t> function to compute their linear convolution:</a:t>
            </a:r>
            <a:br>
              <a:rPr lang="en-US" dirty="0"/>
            </a:br>
            <a:r>
              <a:rPr lang="en-US" dirty="0" err="1"/>
              <a:t>lconv</a:t>
            </a:r>
            <a:r>
              <a:rPr lang="en-US" dirty="0"/>
              <a:t> equals conv x, h;</a:t>
            </a:r>
          </a:p>
          <a:p>
            <a:endParaRPr lang="en-US" dirty="0"/>
          </a:p>
          <a:p>
            <a:r>
              <a:rPr lang="en-US" dirty="0"/>
              <a:t>When we plot the result, we see the familiar triangular shape. It rises as the two signals increasingly overlap, reaches a peak when their centers align, and then falls as the overlap decreases.</a:t>
            </a:r>
          </a:p>
          <a:p>
            <a:endParaRPr lang="en-US" dirty="0"/>
          </a:p>
          <a:p>
            <a:r>
              <a:rPr lang="en-US" dirty="0"/>
              <a:t>If this feels familiar, it’s because we used the same function — </a:t>
            </a:r>
            <a:r>
              <a:rPr lang="en-US" b="1" dirty="0"/>
              <a:t>conv</a:t>
            </a:r>
            <a:r>
              <a:rPr lang="en-US" dirty="0"/>
              <a:t> — earlier when convolving the RC circuit’s impulse response with the unit step function in your homework. The process is exactly the same here; only the input sequences are different.</a:t>
            </a:r>
          </a:p>
          <a:p>
            <a:r>
              <a:rPr lang="en-US" dirty="0"/>
              <a:t>This example is a nice reminder that MATLAB makes it very easy to visualize convolution, and seeing the result in a plot helps reinforce what’s happening mathematically.</a:t>
            </a:r>
          </a:p>
          <a:p>
            <a:endParaRPr lang="en-US" dirty="0"/>
          </a:p>
        </p:txBody>
      </p:sp>
      <p:sp>
        <p:nvSpPr>
          <p:cNvPr id="4" name="Slide Number Placeholder 3"/>
          <p:cNvSpPr>
            <a:spLocks noGrp="1"/>
          </p:cNvSpPr>
          <p:nvPr>
            <p:ph type="sldNum" sz="quarter" idx="5"/>
          </p:nvPr>
        </p:nvSpPr>
        <p:spPr/>
        <p:txBody>
          <a:bodyPr/>
          <a:lstStyle/>
          <a:p>
            <a:fld id="{20F3D82C-2E39-4B28-A1F4-12F97F880BD9}" type="slidenum">
              <a:rPr lang="en-US" smtClean="0"/>
              <a:t>12</a:t>
            </a:fld>
            <a:endParaRPr lang="en-US"/>
          </a:p>
        </p:txBody>
      </p:sp>
    </p:spTree>
    <p:extLst>
      <p:ext uri="{BB962C8B-B14F-4D97-AF65-F5344CB8AC3E}">
        <p14:creationId xmlns:p14="http://schemas.microsoft.com/office/powerpoint/2010/main" val="39147464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Here’s where we can clearly see the difference between </a:t>
            </a:r>
            <a:r>
              <a:rPr lang="en-US" b="1" dirty="0"/>
              <a:t>linear convolution</a:t>
            </a:r>
            <a:r>
              <a:rPr lang="en-US" dirty="0"/>
              <a:t> and </a:t>
            </a:r>
            <a:r>
              <a:rPr lang="en-US" b="1" dirty="0"/>
              <a:t>circular convolution without zero padding</a:t>
            </a:r>
            <a:r>
              <a:rPr lang="en-US" dirty="0"/>
              <a:t>.</a:t>
            </a:r>
          </a:p>
          <a:p>
            <a:endParaRPr lang="en-US" dirty="0"/>
          </a:p>
          <a:p>
            <a:r>
              <a:rPr lang="en-US" dirty="0"/>
              <a:t>In MATLAB, we can perform circular convolution using the Fourier transform approach. First, we take the FFT of our two sequences, </a:t>
            </a:r>
            <a:r>
              <a:rPr lang="en-US" b="1" dirty="0"/>
              <a:t>x</a:t>
            </a:r>
            <a:r>
              <a:rPr lang="en-US" dirty="0"/>
              <a:t> and </a:t>
            </a:r>
            <a:r>
              <a:rPr lang="en-US" b="1" dirty="0"/>
              <a:t>h</a:t>
            </a:r>
            <a:r>
              <a:rPr lang="en-US" dirty="0"/>
              <a:t>. Then, we multiply their spectra point by point. Finally, we take the inverse FFT to bring the result back into the time domain.</a:t>
            </a:r>
          </a:p>
          <a:p>
            <a:r>
              <a:rPr lang="en-US" dirty="0"/>
              <a:t>Mathematically, multiplication in the frequency domain is equivalent to convolution in the time domain — but here’s the key point: if we don’t use zero-padding, the convolution we get is </a:t>
            </a:r>
            <a:r>
              <a:rPr lang="en-US" b="1" dirty="0"/>
              <a:t>circular</a:t>
            </a:r>
            <a:r>
              <a:rPr lang="en-US" dirty="0"/>
              <a:t> by nature.</a:t>
            </a:r>
          </a:p>
          <a:p>
            <a:r>
              <a:rPr lang="en-US" dirty="0"/>
              <a:t>In the plot below, the </a:t>
            </a:r>
            <a:r>
              <a:rPr lang="en-US" b="1" dirty="0"/>
              <a:t>blue curve</a:t>
            </a:r>
            <a:r>
              <a:rPr lang="en-US" dirty="0"/>
              <a:t> is the circular convolution result without zero-padding. The </a:t>
            </a:r>
            <a:r>
              <a:rPr lang="en-US" b="1" dirty="0"/>
              <a:t>red dashed curve</a:t>
            </a:r>
            <a:r>
              <a:rPr lang="en-US" dirty="0"/>
              <a:t> is the linear convolution result from our earlier example.</a:t>
            </a:r>
          </a:p>
          <a:p>
            <a:endParaRPr lang="en-US" dirty="0"/>
          </a:p>
          <a:p>
            <a:r>
              <a:rPr lang="en-US" dirty="0"/>
              <a:t>Notice how the blue curve is distorted — it doesn’t match the clean triangular shape of the red curve. That distortion comes from the wrapping-around effect we talked about earlier: parts of the signal from the end are interfering with parts from the beginning.</a:t>
            </a:r>
          </a:p>
          <a:p>
            <a:r>
              <a:rPr lang="en-US" dirty="0"/>
              <a:t>This is why </a:t>
            </a:r>
            <a:r>
              <a:rPr lang="en-US" b="1" dirty="0"/>
              <a:t>zero-padding is essential</a:t>
            </a:r>
            <a:r>
              <a:rPr lang="en-US" dirty="0"/>
              <a:t> when we want the frequency-domain method to give the same result as linear convolution. Without it, circular convolution will give you something different.</a:t>
            </a:r>
          </a:p>
          <a:p>
            <a:endParaRPr lang="en-US" dirty="0"/>
          </a:p>
        </p:txBody>
      </p:sp>
      <p:sp>
        <p:nvSpPr>
          <p:cNvPr id="4" name="Slide Number Placeholder 3"/>
          <p:cNvSpPr>
            <a:spLocks noGrp="1"/>
          </p:cNvSpPr>
          <p:nvPr>
            <p:ph type="sldNum" sz="quarter" idx="5"/>
          </p:nvPr>
        </p:nvSpPr>
        <p:spPr/>
        <p:txBody>
          <a:bodyPr/>
          <a:lstStyle/>
          <a:p>
            <a:fld id="{20F3D82C-2E39-4B28-A1F4-12F97F880BD9}" type="slidenum">
              <a:rPr lang="en-US" smtClean="0"/>
              <a:t>13</a:t>
            </a:fld>
            <a:endParaRPr lang="en-US"/>
          </a:p>
        </p:txBody>
      </p:sp>
    </p:spTree>
    <p:extLst>
      <p:ext uri="{BB962C8B-B14F-4D97-AF65-F5344CB8AC3E}">
        <p14:creationId xmlns:p14="http://schemas.microsoft.com/office/powerpoint/2010/main" val="15817296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Here we see why </a:t>
            </a:r>
            <a:r>
              <a:rPr lang="en-US" b="1" dirty="0"/>
              <a:t>zero-padding</a:t>
            </a:r>
            <a:r>
              <a:rPr lang="en-US" dirty="0"/>
              <a:t> is the key to making circular convolution match linear convolution.</a:t>
            </a:r>
          </a:p>
          <a:p>
            <a:endParaRPr lang="en-US" dirty="0"/>
          </a:p>
          <a:p>
            <a:r>
              <a:rPr lang="en-US" dirty="0"/>
              <a:t>We begin by setting </a:t>
            </a:r>
            <a:r>
              <a:rPr lang="en-US" b="1" dirty="0"/>
              <a:t>N</a:t>
            </a:r>
            <a:r>
              <a:rPr lang="en-US" dirty="0"/>
              <a:t> to be the length of x plus the length of h, minus 1. This value of N is exactly the length of the linear convolution result — something you’ve already seen in your RC circuit homework.</a:t>
            </a:r>
          </a:p>
          <a:p>
            <a:r>
              <a:rPr lang="en-US" dirty="0"/>
              <a:t>Next, we create padded versions of our two signals:</a:t>
            </a:r>
          </a:p>
          <a:p>
            <a:r>
              <a:rPr lang="en-US" b="1" dirty="0"/>
              <a:t>x pad</a:t>
            </a:r>
            <a:r>
              <a:rPr lang="en-US" dirty="0"/>
              <a:t> starts with the original values of x, followed by enough zeros so that its length is N.</a:t>
            </a:r>
          </a:p>
          <a:p>
            <a:r>
              <a:rPr lang="en-US" b="1" dirty="0"/>
              <a:t>h pad</a:t>
            </a:r>
            <a:r>
              <a:rPr lang="en-US" dirty="0"/>
              <a:t> is created in exactly the same way, starting with h and then adding zeros to reach length N.</a:t>
            </a:r>
          </a:p>
          <a:p>
            <a:endParaRPr lang="en-US" dirty="0"/>
          </a:p>
          <a:p>
            <a:r>
              <a:rPr lang="en-US" dirty="0"/>
              <a:t>Now, we take the FFT of these zero-padded signals, multiply them point by point in the frequency domain, and take the inverse FFT to return to the time domain.</a:t>
            </a:r>
          </a:p>
          <a:p>
            <a:endParaRPr lang="en-US" dirty="0"/>
          </a:p>
          <a:p>
            <a:r>
              <a:rPr lang="en-US" dirty="0"/>
              <a:t>When we plot the result, we see that the </a:t>
            </a:r>
            <a:r>
              <a:rPr lang="en-US" b="1" dirty="0"/>
              <a:t>zero-padded circular convolution</a:t>
            </a:r>
            <a:r>
              <a:rPr lang="en-US" dirty="0"/>
              <a:t> — shown in blue — lies exactly on top of the </a:t>
            </a:r>
            <a:r>
              <a:rPr lang="en-US" b="1" dirty="0"/>
              <a:t>linear convolution</a:t>
            </a:r>
            <a:r>
              <a:rPr lang="en-US" dirty="0"/>
              <a:t> — shown in red. This perfect match confirms that zero-padding has removed the unwanted wrap-around effects and given us the correct, undistorted result.</a:t>
            </a:r>
          </a:p>
          <a:p>
            <a:endParaRPr lang="en-US" dirty="0"/>
          </a:p>
          <a:p>
            <a:r>
              <a:rPr lang="en-US" dirty="0"/>
              <a:t>So the takeaway is clear: if you’re using the FFT method to compute convolution, </a:t>
            </a:r>
            <a:r>
              <a:rPr lang="en-US" b="1" dirty="0"/>
              <a:t>always add enough zero-padding</a:t>
            </a:r>
            <a:r>
              <a:rPr lang="en-US" dirty="0"/>
              <a:t> to get the true linear convolution.</a:t>
            </a:r>
          </a:p>
          <a:p>
            <a:endParaRPr lang="en-US" dirty="0"/>
          </a:p>
        </p:txBody>
      </p:sp>
      <p:sp>
        <p:nvSpPr>
          <p:cNvPr id="4" name="Slide Number Placeholder 3"/>
          <p:cNvSpPr>
            <a:spLocks noGrp="1"/>
          </p:cNvSpPr>
          <p:nvPr>
            <p:ph type="sldNum" sz="quarter" idx="5"/>
          </p:nvPr>
        </p:nvSpPr>
        <p:spPr/>
        <p:txBody>
          <a:bodyPr/>
          <a:lstStyle/>
          <a:p>
            <a:fld id="{20F3D82C-2E39-4B28-A1F4-12F97F880BD9}" type="slidenum">
              <a:rPr lang="en-US" smtClean="0"/>
              <a:t>14</a:t>
            </a:fld>
            <a:endParaRPr lang="en-US"/>
          </a:p>
        </p:txBody>
      </p:sp>
    </p:spTree>
    <p:extLst>
      <p:ext uri="{BB962C8B-B14F-4D97-AF65-F5344CB8AC3E}">
        <p14:creationId xmlns:p14="http://schemas.microsoft.com/office/powerpoint/2010/main" val="9374287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Now that we’ve explored convolution in detail — both in the time domain and through the FFT method — let’s move into one of the most common and powerful applications of the Fourier transform: </a:t>
            </a:r>
            <a:r>
              <a:rPr lang="en-US" b="1" dirty="0"/>
              <a:t>spectral analysis</a:t>
            </a:r>
            <a:r>
              <a:rPr lang="en-US" dirty="0"/>
              <a:t>.</a:t>
            </a:r>
          </a:p>
          <a:p>
            <a:endParaRPr lang="en-US" dirty="0"/>
          </a:p>
          <a:p>
            <a:r>
              <a:rPr lang="en-US" dirty="0"/>
              <a:t>Spectral analysis is about looking at a signal in the frequency domain to see what frequencies are present and how strong they are. This is incredibly useful in engineering, science, and even everyday technology — from analyzing audio signals, to detecting features in images, to identifying patterns in biomedical data.</a:t>
            </a:r>
          </a:p>
          <a:p>
            <a:endParaRPr lang="en-US" dirty="0"/>
          </a:p>
          <a:p>
            <a:r>
              <a:rPr lang="en-US" dirty="0"/>
              <a:t>In the upcoming slides, we’ll take an example signal, examine its spectrum, and then see how techniques like </a:t>
            </a:r>
            <a:r>
              <a:rPr lang="en-US" b="1" dirty="0"/>
              <a:t>zero-padding</a:t>
            </a:r>
            <a:r>
              <a:rPr lang="en-US" dirty="0"/>
              <a:t> and </a:t>
            </a:r>
            <a:r>
              <a:rPr lang="en-US" b="1" dirty="0"/>
              <a:t>refining spectral bins</a:t>
            </a:r>
            <a:r>
              <a:rPr lang="en-US" dirty="0"/>
              <a:t> help us get a clearer, more detailed view of its frequency content.</a:t>
            </a:r>
          </a:p>
          <a:p>
            <a:r>
              <a:rPr lang="en-US" dirty="0"/>
              <a:t>Let’s start by looking at our example signal and breaking it down step by step.</a:t>
            </a:r>
          </a:p>
          <a:p>
            <a:endParaRPr lang="en-US" dirty="0"/>
          </a:p>
        </p:txBody>
      </p:sp>
      <p:sp>
        <p:nvSpPr>
          <p:cNvPr id="4" name="Slide Number Placeholder 3"/>
          <p:cNvSpPr>
            <a:spLocks noGrp="1"/>
          </p:cNvSpPr>
          <p:nvPr>
            <p:ph type="sldNum" sz="quarter" idx="5"/>
          </p:nvPr>
        </p:nvSpPr>
        <p:spPr/>
        <p:txBody>
          <a:bodyPr/>
          <a:lstStyle/>
          <a:p>
            <a:fld id="{20F3D82C-2E39-4B28-A1F4-12F97F880BD9}" type="slidenum">
              <a:rPr lang="en-US" smtClean="0"/>
              <a:t>15</a:t>
            </a:fld>
            <a:endParaRPr lang="en-US"/>
          </a:p>
        </p:txBody>
      </p:sp>
    </p:spTree>
    <p:extLst>
      <p:ext uri="{BB962C8B-B14F-4D97-AF65-F5344CB8AC3E}">
        <p14:creationId xmlns:p14="http://schemas.microsoft.com/office/powerpoint/2010/main" val="18988977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Let’s start our spectral analysis with a simple but quite subtle example.</a:t>
            </a:r>
          </a:p>
          <a:p>
            <a:endParaRPr lang="en-US" dirty="0"/>
          </a:p>
          <a:p>
            <a:r>
              <a:rPr lang="en-US" dirty="0"/>
              <a:t>We’ll create a signal that contains two different pure tones — one at one hundred hertz and the other at two hundred two point five hertz.</a:t>
            </a:r>
          </a:p>
          <a:p>
            <a:r>
              <a:rPr lang="en-US" dirty="0"/>
              <a:t>In MATLAB, we first set the sampling frequency, F s, to one thousand hertz. That means we take one thousand samples every second.</a:t>
            </a:r>
          </a:p>
          <a:p>
            <a:r>
              <a:rPr lang="en-US" dirty="0"/>
              <a:t>Next, we create the time vector, t. It starts at zero seconds and increases in steps of zero, zero point zero </a:t>
            </a:r>
            <a:r>
              <a:rPr lang="en-US" dirty="0" err="1"/>
              <a:t>zero</a:t>
            </a:r>
            <a:r>
              <a:rPr lang="en-US" dirty="0"/>
              <a:t> one seconds — that’s one millisecond — until just before one second.</a:t>
            </a:r>
          </a:p>
          <a:p>
            <a:endParaRPr lang="en-US" dirty="0"/>
          </a:p>
          <a:p>
            <a:r>
              <a:rPr lang="en-US" dirty="0"/>
              <a:t>Now, our signal x is built by adding two parts:</a:t>
            </a:r>
          </a:p>
          <a:p>
            <a:r>
              <a:rPr lang="en-US" dirty="0"/>
              <a:t>First, a cosine wave with frequency one hundred hertz. In MATLAB, that’s written as: cosine of open parenthesis two times pi times one hundred times t close parenthesis.</a:t>
            </a:r>
          </a:p>
          <a:p>
            <a:r>
              <a:rPr lang="en-US" dirty="0"/>
              <a:t>Second, a sine wave with frequency two hundred two point five hertz. In MATLAB, that’s: sine of open parenthesis two times pi times two hundred two point five times t close parenthesis.</a:t>
            </a:r>
          </a:p>
          <a:p>
            <a:r>
              <a:rPr lang="en-US" dirty="0"/>
              <a:t>When we add these two waveforms together, we get x, which contains both frequencies.</a:t>
            </a:r>
          </a:p>
          <a:p>
            <a:endParaRPr lang="en-US" dirty="0"/>
          </a:p>
          <a:p>
            <a:r>
              <a:rPr lang="en-US" dirty="0"/>
              <a:t>If we plot only the first one hundred samples, we can see the combined oscillations. Sometimes the waves reinforce each other, producing larger peaks; other times they partially cancel out, making smaller peaks.</a:t>
            </a:r>
          </a:p>
          <a:p>
            <a:r>
              <a:rPr lang="en-US" dirty="0"/>
              <a:t>This is the time-domain view. Next, we’ll use the Fourier transform to find these frequencies in the frequency domain — and then we’ll explore how zero-padding can help us make those frequencies stand out more clearly.  It takes some effort to appreciate the benefit of zero-padding!</a:t>
            </a:r>
          </a:p>
          <a:p>
            <a:endParaRPr lang="en-US" dirty="0"/>
          </a:p>
        </p:txBody>
      </p:sp>
      <p:sp>
        <p:nvSpPr>
          <p:cNvPr id="4" name="Slide Number Placeholder 3"/>
          <p:cNvSpPr>
            <a:spLocks noGrp="1"/>
          </p:cNvSpPr>
          <p:nvPr>
            <p:ph type="sldNum" sz="quarter" idx="5"/>
          </p:nvPr>
        </p:nvSpPr>
        <p:spPr/>
        <p:txBody>
          <a:bodyPr/>
          <a:lstStyle/>
          <a:p>
            <a:fld id="{20F3D82C-2E39-4B28-A1F4-12F97F880BD9}" type="slidenum">
              <a:rPr lang="en-US" smtClean="0"/>
              <a:t>16</a:t>
            </a:fld>
            <a:endParaRPr lang="en-US"/>
          </a:p>
        </p:txBody>
      </p:sp>
    </p:spTree>
    <p:extLst>
      <p:ext uri="{BB962C8B-B14F-4D97-AF65-F5344CB8AC3E}">
        <p14:creationId xmlns:p14="http://schemas.microsoft.com/office/powerpoint/2010/main" val="6516497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Now, let’s look at the spectrum of our synthetic signal without applying any zero-padding.</a:t>
            </a:r>
          </a:p>
          <a:p>
            <a:endParaRPr lang="en-US" dirty="0"/>
          </a:p>
          <a:p>
            <a:r>
              <a:rPr lang="en-US" dirty="0"/>
              <a:t>We perform the Fourier transform of our signal using the FFT function. This gives us the discrete frequency components of the signal. Then, we plot the magnitude of the FFT against frequency, with frequency in hertz along the horizontal axis.</a:t>
            </a:r>
          </a:p>
          <a:p>
            <a:r>
              <a:rPr lang="en-US" dirty="0"/>
              <a:t>From the plot, we can clearly see a sharp spike at one hundred hertz. That spike corresponds exactly to the first or cosine component we built into the signal.</a:t>
            </a:r>
          </a:p>
          <a:p>
            <a:endParaRPr lang="en-US" dirty="0"/>
          </a:p>
          <a:p>
            <a:r>
              <a:rPr lang="en-US" dirty="0"/>
              <a:t>But notice something important — the second or sine component, at two hundred two point five hertz, does not appear as a clear spike. Instead, it’s blurred and not well-resolved. This happens because two hundred two point five hertz is not exactly aligned with one of the FFT’s default spectral bins, which are spaced one hertz apart.</a:t>
            </a:r>
          </a:p>
          <a:p>
            <a:endParaRPr lang="en-US" dirty="0"/>
          </a:p>
          <a:p>
            <a:r>
              <a:rPr lang="en-US" dirty="0"/>
              <a:t>So, without zero-padding, the FFT resolution is limited by the number of samples we have. The first frequency happens to align perfectly with a bin, so it looks sharp. The second one falls between bins, so its energy is spread out over multiple points in the plot, making it appear a bit blurry and less distinct.</a:t>
            </a:r>
          </a:p>
          <a:p>
            <a:r>
              <a:rPr lang="en-US" dirty="0"/>
              <a:t>We’ll see in the next slide how zero-padding helps us refine the spectral bins and make that second frequency stand out much more clearly.</a:t>
            </a:r>
          </a:p>
          <a:p>
            <a:endParaRPr lang="en-US" dirty="0"/>
          </a:p>
        </p:txBody>
      </p:sp>
      <p:sp>
        <p:nvSpPr>
          <p:cNvPr id="4" name="Slide Number Placeholder 3"/>
          <p:cNvSpPr>
            <a:spLocks noGrp="1"/>
          </p:cNvSpPr>
          <p:nvPr>
            <p:ph type="sldNum" sz="quarter" idx="5"/>
          </p:nvPr>
        </p:nvSpPr>
        <p:spPr/>
        <p:txBody>
          <a:bodyPr/>
          <a:lstStyle/>
          <a:p>
            <a:fld id="{20F3D82C-2E39-4B28-A1F4-12F97F880BD9}" type="slidenum">
              <a:rPr lang="en-US" smtClean="0"/>
              <a:t>17</a:t>
            </a:fld>
            <a:endParaRPr lang="en-US"/>
          </a:p>
        </p:txBody>
      </p:sp>
    </p:spTree>
    <p:extLst>
      <p:ext uri="{BB962C8B-B14F-4D97-AF65-F5344CB8AC3E}">
        <p14:creationId xmlns:p14="http://schemas.microsoft.com/office/powerpoint/2010/main" val="32506165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Now let’s see what happens when we add </a:t>
            </a:r>
            <a:r>
              <a:rPr lang="en-US" b="1" dirty="0"/>
              <a:t>zero-padding</a:t>
            </a:r>
            <a:r>
              <a:rPr lang="en-US" dirty="0"/>
              <a:t> before taking the Fourier transform.</a:t>
            </a:r>
          </a:p>
          <a:p>
            <a:endParaRPr lang="en-US" dirty="0"/>
          </a:p>
          <a:p>
            <a:r>
              <a:rPr lang="en-US" dirty="0"/>
              <a:t>This time, when we call the FFT function, we specify a length of two thousand. That means we take our original signal and append enough zeros to make it two thousand points long before computing the FFT.</a:t>
            </a:r>
          </a:p>
          <a:p>
            <a:r>
              <a:rPr lang="en-US" dirty="0"/>
              <a:t>By doing this, we change the spacing between frequency bins. Previously, without padding, the bins were one hertz apart. Now, the bin spacing is F s divided by two thousand, which equals zero point five hertz. This finer spacing allows us to more accurately pinpoint frequencies that fall between the old one-hertz bins.</a:t>
            </a:r>
          </a:p>
          <a:p>
            <a:endParaRPr lang="en-US" dirty="0"/>
          </a:p>
          <a:p>
            <a:r>
              <a:rPr lang="en-US" dirty="0"/>
              <a:t>When we plot the result, we still see the sharp spike at one hundred hertz. Also, we now see a very clear spike at two hundred two point five hertz — the second frequency in our original signal.</a:t>
            </a:r>
          </a:p>
          <a:p>
            <a:r>
              <a:rPr lang="en-US" dirty="0"/>
              <a:t>The reason is simple: with zero-padding, we’ve increased the frequency resolution of the spectrum, making it possible to distinguish both components of our signal cleanly.</a:t>
            </a:r>
          </a:p>
          <a:p>
            <a:endParaRPr lang="en-US" dirty="0"/>
          </a:p>
          <a:p>
            <a:r>
              <a:rPr lang="en-US" dirty="0"/>
              <a:t>So, zero-padding doesn’t create new information — it simply lets us view the spectrum at a finer scale, revealing details that would otherwise be hidden between coarse frequency bins.</a:t>
            </a:r>
          </a:p>
          <a:p>
            <a:endParaRPr lang="en-US" dirty="0"/>
          </a:p>
        </p:txBody>
      </p:sp>
      <p:sp>
        <p:nvSpPr>
          <p:cNvPr id="4" name="Slide Number Placeholder 3"/>
          <p:cNvSpPr>
            <a:spLocks noGrp="1"/>
          </p:cNvSpPr>
          <p:nvPr>
            <p:ph type="sldNum" sz="quarter" idx="5"/>
          </p:nvPr>
        </p:nvSpPr>
        <p:spPr/>
        <p:txBody>
          <a:bodyPr/>
          <a:lstStyle/>
          <a:p>
            <a:fld id="{20F3D82C-2E39-4B28-A1F4-12F97F880BD9}" type="slidenum">
              <a:rPr lang="en-US" smtClean="0"/>
              <a:t>18</a:t>
            </a:fld>
            <a:endParaRPr lang="en-US"/>
          </a:p>
        </p:txBody>
      </p:sp>
    </p:spTree>
    <p:extLst>
      <p:ext uri="{BB962C8B-B14F-4D97-AF65-F5344CB8AC3E}">
        <p14:creationId xmlns:p14="http://schemas.microsoft.com/office/powerpoint/2010/main" val="95269837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Let’s look at a more complex example — a continuous signal that contains several frequency components.</a:t>
            </a:r>
          </a:p>
          <a:p>
            <a:endParaRPr lang="en-US" dirty="0"/>
          </a:p>
          <a:p>
            <a:r>
              <a:rPr lang="en-US" dirty="0"/>
              <a:t>We start with the same two frequencies from our earlier example: a cosine wave at one hundred hertz and a sine wave at two hundred two point five hertz.</a:t>
            </a:r>
          </a:p>
          <a:p>
            <a:r>
              <a:rPr lang="en-US" dirty="0"/>
              <a:t>Then, we add three more components:</a:t>
            </a:r>
          </a:p>
          <a:p>
            <a:r>
              <a:rPr lang="en-US" dirty="0"/>
              <a:t>A cosine wave at forty-five hertz</a:t>
            </a:r>
          </a:p>
          <a:p>
            <a:r>
              <a:rPr lang="en-US" dirty="0"/>
              <a:t>A cosine wave at four hundred seven hertz</a:t>
            </a:r>
          </a:p>
          <a:p>
            <a:r>
              <a:rPr lang="en-US" dirty="0"/>
              <a:t>And a sine wave at four hundred forty-five point eight hertz</a:t>
            </a:r>
          </a:p>
          <a:p>
            <a:endParaRPr lang="en-US" dirty="0"/>
          </a:p>
          <a:p>
            <a:r>
              <a:rPr lang="en-US" dirty="0"/>
              <a:t>When we add all these together, we get a signal that looks quite messy in the time domain — as you can see in the plot. The rapid oscillations and varying amplitudes come from the interaction of all these frequencies.</a:t>
            </a:r>
          </a:p>
          <a:p>
            <a:r>
              <a:rPr lang="en-US" dirty="0"/>
              <a:t>Looking at this time-domain plot alone, it’s not easy to tell exactly what frequencies are present or how strong they are. That’s where the Fourier transform becomes incredibly valuable — it lets us switch to the frequency domain, where each frequency component appears as a distinct peak, making the signal’s composition much clearer.</a:t>
            </a:r>
          </a:p>
          <a:p>
            <a:endParaRPr lang="en-US" dirty="0"/>
          </a:p>
          <a:p>
            <a:r>
              <a:rPr lang="en-US" dirty="0"/>
              <a:t>In the next step, we’ll apply the Fourier transform to this signal and see how it reveals the underlying structure that’s hidden in the time-domain view.</a:t>
            </a:r>
          </a:p>
          <a:p>
            <a:endParaRPr lang="en-US" dirty="0"/>
          </a:p>
        </p:txBody>
      </p:sp>
      <p:sp>
        <p:nvSpPr>
          <p:cNvPr id="4" name="Slide Number Placeholder 3"/>
          <p:cNvSpPr>
            <a:spLocks noGrp="1"/>
          </p:cNvSpPr>
          <p:nvPr>
            <p:ph type="sldNum" sz="quarter" idx="5"/>
          </p:nvPr>
        </p:nvSpPr>
        <p:spPr/>
        <p:txBody>
          <a:bodyPr/>
          <a:lstStyle/>
          <a:p>
            <a:fld id="{20F3D82C-2E39-4B28-A1F4-12F97F880BD9}" type="slidenum">
              <a:rPr lang="en-US" smtClean="0"/>
              <a:t>19</a:t>
            </a:fld>
            <a:endParaRPr lang="en-US"/>
          </a:p>
        </p:txBody>
      </p:sp>
    </p:spTree>
    <p:extLst>
      <p:ext uri="{BB962C8B-B14F-4D97-AF65-F5344CB8AC3E}">
        <p14:creationId xmlns:p14="http://schemas.microsoft.com/office/powerpoint/2010/main" val="39217083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Here’s the spectrum of our multi-frequency signal </a:t>
            </a:r>
            <a:r>
              <a:rPr lang="en-US" b="1" dirty="0"/>
              <a:t>without zero-padding</a:t>
            </a:r>
            <a:r>
              <a:rPr lang="en-US" dirty="0"/>
              <a:t> and </a:t>
            </a:r>
            <a:r>
              <a:rPr lang="en-US" b="1" dirty="0"/>
              <a:t>without refining the frequency bins</a:t>
            </a:r>
            <a:r>
              <a:rPr lang="en-US" dirty="0"/>
              <a:t>.</a:t>
            </a:r>
          </a:p>
          <a:p>
            <a:endParaRPr lang="en-US" dirty="0"/>
          </a:p>
          <a:p>
            <a:r>
              <a:rPr lang="en-US" dirty="0"/>
              <a:t>When we take the FFT and plot the magnitude against frequency in hertz, some frequencies stand out clearly, while others do not.</a:t>
            </a:r>
          </a:p>
          <a:p>
            <a:r>
              <a:rPr lang="en-US" dirty="0"/>
              <a:t>Look at forty-five hertz — this is a clean, discrete value, and it aligns perfectly with an FFT bin. As a result, its spike reaches the maximum amplitude of one, just as we would expect.</a:t>
            </a:r>
          </a:p>
          <a:p>
            <a:r>
              <a:rPr lang="en-US" dirty="0"/>
              <a:t>But for the frequencies at two hundred two point five hertz and four hundred forty-five point eight hertz, things are different. Because these frequencies do not align exactly with the FFT’s default bin spacing, their energy is spread across multiple bins. This makes their peaks appear lower than one and less sharply defined.</a:t>
            </a:r>
          </a:p>
          <a:p>
            <a:endParaRPr lang="en-US" dirty="0"/>
          </a:p>
          <a:p>
            <a:r>
              <a:rPr lang="en-US" dirty="0"/>
              <a:t>So, without zero-padding — and therefore without finer bin spacing — our frequency resolution is limited. Frequencies that happen to fall exactly on a bin are well-resolved, but others that fall in between bins are smeared out and not as clear.</a:t>
            </a:r>
          </a:p>
          <a:p>
            <a:endParaRPr lang="en-US" dirty="0"/>
          </a:p>
          <a:p>
            <a:r>
              <a:rPr lang="en-US" dirty="0"/>
              <a:t>Next, we’ll see how </a:t>
            </a:r>
            <a:r>
              <a:rPr lang="en-US" b="1" dirty="0"/>
              <a:t>refining the bins</a:t>
            </a:r>
            <a:r>
              <a:rPr lang="en-US" dirty="0"/>
              <a:t> through zero-padding improves our ability to clearly detect those non-integer frequencies.</a:t>
            </a:r>
          </a:p>
          <a:p>
            <a:endParaRPr lang="en-US" dirty="0"/>
          </a:p>
        </p:txBody>
      </p:sp>
      <p:sp>
        <p:nvSpPr>
          <p:cNvPr id="4" name="Slide Number Placeholder 3"/>
          <p:cNvSpPr>
            <a:spLocks noGrp="1"/>
          </p:cNvSpPr>
          <p:nvPr>
            <p:ph type="sldNum" sz="quarter" idx="5"/>
          </p:nvPr>
        </p:nvSpPr>
        <p:spPr/>
        <p:txBody>
          <a:bodyPr/>
          <a:lstStyle/>
          <a:p>
            <a:fld id="{20F3D82C-2E39-4B28-A1F4-12F97F880BD9}" type="slidenum">
              <a:rPr lang="en-US" smtClean="0"/>
              <a:t>20</a:t>
            </a:fld>
            <a:endParaRPr lang="en-US"/>
          </a:p>
        </p:txBody>
      </p:sp>
    </p:spTree>
    <p:extLst>
      <p:ext uri="{BB962C8B-B14F-4D97-AF65-F5344CB8AC3E}">
        <p14:creationId xmlns:p14="http://schemas.microsoft.com/office/powerpoint/2010/main" val="16146648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Now, let’s refine our frequency bins by a factor of two — the same idea we used earlier when going from one-hertz bins to zero-point-five-hertz bins.</a:t>
            </a:r>
          </a:p>
          <a:p>
            <a:endParaRPr lang="en-US" dirty="0"/>
          </a:p>
          <a:p>
            <a:r>
              <a:rPr lang="en-US" dirty="0"/>
              <a:t>We do this by setting a bin-refine factor equal to two, and then increasing the FFT length to be two times the number of samples in our original time vector. In practice, this means appending enough zeros to double the length of the signal before computing the FFT.</a:t>
            </a:r>
          </a:p>
          <a:p>
            <a:r>
              <a:rPr lang="en-US" dirty="0"/>
              <a:t>When we plot the result, the improvement is clear: the frequency at two hundred two point five hertz is now well resolved, showing a sharp and distinct peak.</a:t>
            </a:r>
          </a:p>
          <a:p>
            <a:endParaRPr lang="en-US" dirty="0"/>
          </a:p>
          <a:p>
            <a:r>
              <a:rPr lang="en-US" dirty="0"/>
              <a:t>However, notice that the frequency at four hundred forty-five point eight hertz is still not well resolved. Even with a bin spacing of zero-point-five hertz, this frequency does not fall exactly on one of the discrete FFT bins, so its energy is still spread across multiple bins. The peak is visible but not as sharp or as tall as the perfectly aligned frequencies.</a:t>
            </a:r>
          </a:p>
          <a:p>
            <a:endParaRPr lang="en-US" dirty="0"/>
          </a:p>
          <a:p>
            <a:r>
              <a:rPr lang="en-US" dirty="0"/>
              <a:t>The takeaway is that zero-padding and bin refinement improve resolution, but they cannot create a perfectly sharp spike unless the frequency exactly matches a discrete bin location.</a:t>
            </a:r>
          </a:p>
          <a:p>
            <a:endParaRPr lang="en-US" dirty="0"/>
          </a:p>
        </p:txBody>
      </p:sp>
      <p:sp>
        <p:nvSpPr>
          <p:cNvPr id="4" name="Slide Number Placeholder 3"/>
          <p:cNvSpPr>
            <a:spLocks noGrp="1"/>
          </p:cNvSpPr>
          <p:nvPr>
            <p:ph type="sldNum" sz="quarter" idx="5"/>
          </p:nvPr>
        </p:nvSpPr>
        <p:spPr/>
        <p:txBody>
          <a:bodyPr/>
          <a:lstStyle/>
          <a:p>
            <a:fld id="{20F3D82C-2E39-4B28-A1F4-12F97F880BD9}" type="slidenum">
              <a:rPr lang="en-US" smtClean="0"/>
              <a:t>21</a:t>
            </a:fld>
            <a:endParaRPr lang="en-US"/>
          </a:p>
        </p:txBody>
      </p:sp>
    </p:spTree>
    <p:extLst>
      <p:ext uri="{BB962C8B-B14F-4D97-AF65-F5344CB8AC3E}">
        <p14:creationId xmlns:p14="http://schemas.microsoft.com/office/powerpoint/2010/main" val="61180760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Now, let’s refine our frequency bins even further — this time by a factor of four.</a:t>
            </a:r>
          </a:p>
          <a:p>
            <a:endParaRPr lang="en-US" dirty="0"/>
          </a:p>
          <a:p>
            <a:r>
              <a:rPr lang="en-US" dirty="0"/>
              <a:t>In MATLAB, that means setting the bin-refine factor to four and increasing the FFT length to four times the length of our original time vector. In other words, we append enough zeros so that the signal length is quadrupled before computing the FFT.</a:t>
            </a:r>
          </a:p>
          <a:p>
            <a:r>
              <a:rPr lang="en-US" dirty="0"/>
              <a:t>By doing this, our frequency bin spacing changes from one hertz to zero-point-two hertz. This very fine resolution means that even frequencies like four hundred forty-five point eight hertz — which were previously hard to resolve — now align closely with a bin and show a sharp, well-defined spike.</a:t>
            </a:r>
          </a:p>
          <a:p>
            <a:endParaRPr lang="en-US" dirty="0"/>
          </a:p>
          <a:p>
            <a:r>
              <a:rPr lang="en-US" dirty="0"/>
              <a:t>When we plot the result, every frequency in our multi-component signal — forty-five hertz, one hundred hertz, two hundred two point five hertz, four hundred seven hertz, and four hundred forty-five point eight hertz — is clearly visible, each with a maximum amplitude of one.</a:t>
            </a:r>
          </a:p>
          <a:p>
            <a:r>
              <a:rPr lang="en-US" dirty="0"/>
              <a:t>This example confirms that refining the bin spacing through zero-padding greatly improves our ability to detect non-integer frequencies. With enough refinement, even challenging frequencies can be resolved as sharply as those that naturally align with the original bin spacing.</a:t>
            </a:r>
          </a:p>
          <a:p>
            <a:endParaRPr lang="en-US" dirty="0"/>
          </a:p>
        </p:txBody>
      </p:sp>
      <p:sp>
        <p:nvSpPr>
          <p:cNvPr id="4" name="Slide Number Placeholder 3"/>
          <p:cNvSpPr>
            <a:spLocks noGrp="1"/>
          </p:cNvSpPr>
          <p:nvPr>
            <p:ph type="sldNum" sz="quarter" idx="5"/>
          </p:nvPr>
        </p:nvSpPr>
        <p:spPr/>
        <p:txBody>
          <a:bodyPr/>
          <a:lstStyle/>
          <a:p>
            <a:fld id="{20F3D82C-2E39-4B28-A1F4-12F97F880BD9}" type="slidenum">
              <a:rPr lang="en-US" smtClean="0"/>
              <a:t>22</a:t>
            </a:fld>
            <a:endParaRPr lang="en-US"/>
          </a:p>
        </p:txBody>
      </p:sp>
    </p:spTree>
    <p:extLst>
      <p:ext uri="{BB962C8B-B14F-4D97-AF65-F5344CB8AC3E}">
        <p14:creationId xmlns:p14="http://schemas.microsoft.com/office/powerpoint/2010/main" val="29200655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So far, we’ve looked at the Fourier transform in one dimension — signals that vary with time. But Fourier analysis is just as powerful in two dimensions, and that’s exactly what we need for </a:t>
            </a:r>
            <a:r>
              <a:rPr lang="en-US" b="1" dirty="0"/>
              <a:t>image processing</a:t>
            </a:r>
            <a:r>
              <a:rPr lang="en-US" dirty="0"/>
              <a:t>.</a:t>
            </a:r>
          </a:p>
          <a:p>
            <a:endParaRPr lang="en-US" dirty="0"/>
          </a:p>
          <a:p>
            <a:r>
              <a:rPr lang="en-US" dirty="0"/>
              <a:t>In the context of images, the two dimensions are the horizontal and vertical spatial coordinates, rather than time. Just as a one-dimensional Fourier transform tells us what frequencies are present in a signal, a two-dimensional Fourier transform tells us what spatial frequencies are present in an image.</a:t>
            </a:r>
          </a:p>
          <a:p>
            <a:endParaRPr lang="en-US" dirty="0"/>
          </a:p>
          <a:p>
            <a:r>
              <a:rPr lang="en-US" dirty="0"/>
              <a:t>This is a critical tool in image analysis, because many image processing tasks — such as noise removal or edge enhancement — are easier to understand and perform in the frequency domain.</a:t>
            </a:r>
          </a:p>
          <a:p>
            <a:r>
              <a:rPr lang="en-US" dirty="0"/>
              <a:t>In the next slides, we’ll see how 2D Fourier transforms can be applied to filtering images, starting with noise removal and then moving on to edge enhancement.</a:t>
            </a:r>
          </a:p>
          <a:p>
            <a:endParaRPr lang="en-US" dirty="0"/>
          </a:p>
        </p:txBody>
      </p:sp>
      <p:sp>
        <p:nvSpPr>
          <p:cNvPr id="4" name="Slide Number Placeholder 3"/>
          <p:cNvSpPr>
            <a:spLocks noGrp="1"/>
          </p:cNvSpPr>
          <p:nvPr>
            <p:ph type="sldNum" sz="quarter" idx="5"/>
          </p:nvPr>
        </p:nvSpPr>
        <p:spPr/>
        <p:txBody>
          <a:bodyPr/>
          <a:lstStyle/>
          <a:p>
            <a:fld id="{20F3D82C-2E39-4B28-A1F4-12F97F880BD9}" type="slidenum">
              <a:rPr lang="en-US" smtClean="0"/>
              <a:t>23</a:t>
            </a:fld>
            <a:endParaRPr lang="en-US"/>
          </a:p>
        </p:txBody>
      </p:sp>
    </p:spTree>
    <p:extLst>
      <p:ext uri="{BB962C8B-B14F-4D97-AF65-F5344CB8AC3E}">
        <p14:creationId xmlns:p14="http://schemas.microsoft.com/office/powerpoint/2010/main" val="11585536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Here we see the concept of the </a:t>
            </a:r>
            <a:r>
              <a:rPr lang="en-US" b="1" dirty="0"/>
              <a:t>two-dimensional Fourier transform</a:t>
            </a:r>
            <a:r>
              <a:rPr lang="en-US" dirty="0"/>
              <a:t>.</a:t>
            </a:r>
          </a:p>
          <a:p>
            <a:endParaRPr lang="en-US" dirty="0"/>
          </a:p>
          <a:p>
            <a:r>
              <a:rPr lang="en-US" dirty="0"/>
              <a:t>The equations at the top describe two processes:</a:t>
            </a:r>
          </a:p>
          <a:p>
            <a:r>
              <a:rPr lang="en-US" dirty="0"/>
              <a:t>The </a:t>
            </a:r>
            <a:r>
              <a:rPr lang="en-US" b="1" dirty="0"/>
              <a:t>forward 2D Fourier transform</a:t>
            </a:r>
            <a:r>
              <a:rPr lang="en-US" dirty="0"/>
              <a:t>, which takes a spatial-domain function — something that varies in the x and y directions — and expresses it in terms of its spatial frequency components.</a:t>
            </a:r>
          </a:p>
          <a:p>
            <a:r>
              <a:rPr lang="en-US" dirty="0"/>
              <a:t>The </a:t>
            </a:r>
            <a:r>
              <a:rPr lang="en-US" b="1" dirty="0"/>
              <a:t>inverse 2D Fourier transform</a:t>
            </a:r>
            <a:r>
              <a:rPr lang="en-US" dirty="0"/>
              <a:t> takes that frequency-domain representation and reconstructs the original spatial-domain function.</a:t>
            </a:r>
          </a:p>
          <a:p>
            <a:endParaRPr lang="en-US" dirty="0"/>
          </a:p>
          <a:p>
            <a:r>
              <a:rPr lang="en-US" dirty="0"/>
              <a:t>In our example, the starting function is shown as a sideways rectangle in the spatial domain. When we perform the 2D Fourier transform, we obtain a frequency-domain representation — shown here in the rainbow-colored plot. The colors represent the amplitude of different spatial frequency components, and the values can be complex, with both real and imaginary parts.</a:t>
            </a:r>
          </a:p>
          <a:p>
            <a:r>
              <a:rPr lang="en-US" dirty="0"/>
              <a:t>Just as in the one-dimensional case, the Fourier transform lets us switch back and forth between two perspectives:</a:t>
            </a:r>
          </a:p>
          <a:p>
            <a:r>
              <a:rPr lang="en-US" dirty="0"/>
              <a:t>In the spatial domain, we see shapes and patterns directly.</a:t>
            </a:r>
          </a:p>
          <a:p>
            <a:endParaRPr lang="en-US" dirty="0"/>
          </a:p>
          <a:p>
            <a:r>
              <a:rPr lang="en-US" dirty="0"/>
              <a:t>In the frequency domain, we see how much of each spatial frequency is present in the image.</a:t>
            </a:r>
          </a:p>
          <a:p>
            <a:r>
              <a:rPr lang="en-US" dirty="0"/>
              <a:t>Understanding this relationship is essential for image processing, because many operations — such as filtering, noise removal, and edge detection — can be performed more effectively in the frequency domain.</a:t>
            </a:r>
          </a:p>
          <a:p>
            <a:endParaRPr lang="en-US" dirty="0"/>
          </a:p>
        </p:txBody>
      </p:sp>
      <p:sp>
        <p:nvSpPr>
          <p:cNvPr id="4" name="Slide Number Placeholder 3"/>
          <p:cNvSpPr>
            <a:spLocks noGrp="1"/>
          </p:cNvSpPr>
          <p:nvPr>
            <p:ph type="sldNum" sz="quarter" idx="5"/>
          </p:nvPr>
        </p:nvSpPr>
        <p:spPr/>
        <p:txBody>
          <a:bodyPr/>
          <a:lstStyle/>
          <a:p>
            <a:fld id="{20F3D82C-2E39-4B28-A1F4-12F97F880BD9}" type="slidenum">
              <a:rPr lang="en-US" smtClean="0"/>
              <a:t>24</a:t>
            </a:fld>
            <a:endParaRPr lang="en-US"/>
          </a:p>
        </p:txBody>
      </p:sp>
    </p:spTree>
    <p:extLst>
      <p:ext uri="{BB962C8B-B14F-4D97-AF65-F5344CB8AC3E}">
        <p14:creationId xmlns:p14="http://schemas.microsoft.com/office/powerpoint/2010/main" val="12130309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In image processing, noise can often hide important details. This is a common problem in real-world applications, especially when images are captured in low light, transmitted over noisy channels, or acquired using sensors in a challenging environment.</a:t>
            </a:r>
          </a:p>
          <a:p>
            <a:r>
              <a:rPr lang="en-US" dirty="0"/>
              <a:t>Here, we start with an image — the well-known “Lena” test image — that has been corrupted by noise. In the top left, you can see the noisy image in the spatial domain.</a:t>
            </a:r>
          </a:p>
          <a:p>
            <a:endParaRPr lang="en-US" dirty="0"/>
          </a:p>
          <a:p>
            <a:r>
              <a:rPr lang="en-US" dirty="0"/>
              <a:t>When we take the </a:t>
            </a:r>
            <a:r>
              <a:rPr lang="en-US" b="1" dirty="0"/>
              <a:t>two-dimensional Fourier transform</a:t>
            </a:r>
            <a:r>
              <a:rPr lang="en-US" dirty="0"/>
              <a:t> of this image, shown in the bottom left, we see its frequency-domain representation. The bright spot in the center corresponds to low-frequency components, which carry the main shapes and structures of the image. The scattered speckles throughout the spectrum represent higher-frequency noise.</a:t>
            </a:r>
          </a:p>
          <a:p>
            <a:r>
              <a:rPr lang="en-US" dirty="0"/>
              <a:t>If we want to reduce noise, we can selectively remove certain frequency components. One simple way is to set the outer regions of the spectrum to zero, while keeping only the frequencies near the center — this is essentially a </a:t>
            </a:r>
            <a:r>
              <a:rPr lang="en-US" b="1" dirty="0"/>
              <a:t>low-pass filter</a:t>
            </a:r>
            <a:r>
              <a:rPr lang="en-US" dirty="0"/>
              <a:t> in the frequency domain. In the bottom right, you can see this filtered spectrum.</a:t>
            </a:r>
          </a:p>
          <a:p>
            <a:endParaRPr lang="en-US" dirty="0"/>
          </a:p>
          <a:p>
            <a:r>
              <a:rPr lang="en-US" dirty="0"/>
              <a:t>Finally, applying the </a:t>
            </a:r>
            <a:r>
              <a:rPr lang="en-US" b="1" dirty="0"/>
              <a:t>inverse Fourier transform</a:t>
            </a:r>
            <a:r>
              <a:rPr lang="en-US" dirty="0"/>
              <a:t> gives us the restored image in the top right. The noise is greatly reduced, and the underlying features — such as the woman’s face and hat — become much clearer.</a:t>
            </a:r>
          </a:p>
          <a:p>
            <a:r>
              <a:rPr lang="en-US" dirty="0"/>
              <a:t>This kind of frequency-domain noise suppression is a powerful technique in imaging, allowing us to recover important details that would otherwise be lost.</a:t>
            </a:r>
          </a:p>
          <a:p>
            <a:endParaRPr lang="en-US" dirty="0"/>
          </a:p>
        </p:txBody>
      </p:sp>
      <p:sp>
        <p:nvSpPr>
          <p:cNvPr id="4" name="Slide Number Placeholder 3"/>
          <p:cNvSpPr>
            <a:spLocks noGrp="1"/>
          </p:cNvSpPr>
          <p:nvPr>
            <p:ph type="sldNum" sz="quarter" idx="5"/>
          </p:nvPr>
        </p:nvSpPr>
        <p:spPr/>
        <p:txBody>
          <a:bodyPr/>
          <a:lstStyle/>
          <a:p>
            <a:fld id="{20F3D82C-2E39-4B28-A1F4-12F97F880BD9}" type="slidenum">
              <a:rPr lang="en-US" smtClean="0"/>
              <a:t>25</a:t>
            </a:fld>
            <a:endParaRPr lang="en-US"/>
          </a:p>
        </p:txBody>
      </p:sp>
    </p:spTree>
    <p:extLst>
      <p:ext uri="{BB962C8B-B14F-4D97-AF65-F5344CB8AC3E}">
        <p14:creationId xmlns:p14="http://schemas.microsoft.com/office/powerpoint/2010/main" val="35969003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We’ve just seen how Fourier transforms can be used to remove noise. Now, let’s look at two related techniques — </a:t>
            </a:r>
            <a:r>
              <a:rPr lang="en-US" b="1" dirty="0"/>
              <a:t>low-pass filtering</a:t>
            </a:r>
            <a:r>
              <a:rPr lang="en-US" dirty="0"/>
              <a:t> and </a:t>
            </a:r>
            <a:r>
              <a:rPr lang="en-US" b="1" dirty="0"/>
              <a:t>high-pass filtering</a:t>
            </a:r>
            <a:r>
              <a:rPr lang="en-US" dirty="0"/>
              <a:t> — and how they affect an image.</a:t>
            </a:r>
          </a:p>
          <a:p>
            <a:endParaRPr lang="en-US" dirty="0"/>
          </a:p>
          <a:p>
            <a:r>
              <a:rPr lang="en-US" dirty="0"/>
              <a:t>Starting with the original image of the building, shown in the top left, we first take its </a:t>
            </a:r>
            <a:r>
              <a:rPr lang="en-US" b="1" dirty="0"/>
              <a:t>two-dimensional Fourier transform</a:t>
            </a:r>
            <a:r>
              <a:rPr lang="en-US" dirty="0"/>
              <a:t>. This gives us the frequency-domain representation, shown in the bottom left.</a:t>
            </a:r>
          </a:p>
          <a:p>
            <a:r>
              <a:rPr lang="en-US" dirty="0"/>
              <a:t>If we want to </a:t>
            </a:r>
            <a:r>
              <a:rPr lang="en-US" b="1" dirty="0"/>
              <a:t>blur</a:t>
            </a:r>
            <a:r>
              <a:rPr lang="en-US" dirty="0"/>
              <a:t> the image or remove fine details, we apply a </a:t>
            </a:r>
            <a:r>
              <a:rPr lang="en-US" b="1" dirty="0"/>
              <a:t>low-pass filter</a:t>
            </a:r>
            <a:r>
              <a:rPr lang="en-US" dirty="0"/>
              <a:t>. In the frequency domain, this means keeping only the low-frequency components near the center of the spectrum — as shown in the middle bottom image — and setting the high frequencies to zero. After applying the inverse Fourier transform, we get the middle top image: the overall structure is preserved, but the sharp edges are softened.</a:t>
            </a:r>
          </a:p>
          <a:p>
            <a:endParaRPr lang="en-US" dirty="0"/>
          </a:p>
          <a:p>
            <a:r>
              <a:rPr lang="en-US" dirty="0"/>
              <a:t>On the other hand, if we want to </a:t>
            </a:r>
            <a:r>
              <a:rPr lang="en-US" b="1" dirty="0"/>
              <a:t>highlight edges and fine details</a:t>
            </a:r>
            <a:r>
              <a:rPr lang="en-US" dirty="0"/>
              <a:t>, we use a </a:t>
            </a:r>
            <a:r>
              <a:rPr lang="en-US" b="1" dirty="0"/>
              <a:t>high-pass filter</a:t>
            </a:r>
            <a:r>
              <a:rPr lang="en-US" dirty="0"/>
              <a:t>. This is done by removing the low-frequency center and keeping only the higher frequencies in the spectrum, as shown in the bottom right. The resulting image, in the top right, emphasizes edges and textures, but loses smooth gradients.</a:t>
            </a:r>
          </a:p>
          <a:p>
            <a:r>
              <a:rPr lang="en-US" dirty="0"/>
              <a:t>Low-pass and high-pass filters are fundamental tools in image processing — whether we want to smooth an image, detect edges, or prepare data for further analysis.</a:t>
            </a:r>
          </a:p>
          <a:p>
            <a:endParaRPr lang="en-US" dirty="0"/>
          </a:p>
        </p:txBody>
      </p:sp>
      <p:sp>
        <p:nvSpPr>
          <p:cNvPr id="4" name="Slide Number Placeholder 3"/>
          <p:cNvSpPr>
            <a:spLocks noGrp="1"/>
          </p:cNvSpPr>
          <p:nvPr>
            <p:ph type="sldNum" sz="quarter" idx="5"/>
          </p:nvPr>
        </p:nvSpPr>
        <p:spPr/>
        <p:txBody>
          <a:bodyPr/>
          <a:lstStyle/>
          <a:p>
            <a:fld id="{20F3D82C-2E39-4B28-A1F4-12F97F880BD9}" type="slidenum">
              <a:rPr lang="en-US" smtClean="0"/>
              <a:t>26</a:t>
            </a:fld>
            <a:endParaRPr lang="en-US"/>
          </a:p>
        </p:txBody>
      </p:sp>
    </p:spTree>
    <p:extLst>
      <p:ext uri="{BB962C8B-B14F-4D97-AF65-F5344CB8AC3E}">
        <p14:creationId xmlns:p14="http://schemas.microsoft.com/office/powerpoint/2010/main" val="2842914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In image processing, we often use specialized filters to enhance certain features or to suppress unwanted information. Here are three common examples, shown both in the spatial domain and in the frequency domain.</a:t>
            </a:r>
          </a:p>
          <a:p>
            <a:endParaRPr lang="en-US" dirty="0"/>
          </a:p>
          <a:p>
            <a:r>
              <a:rPr lang="en-US" dirty="0"/>
              <a:t>First, the </a:t>
            </a:r>
            <a:r>
              <a:rPr lang="en-US" b="1" dirty="0"/>
              <a:t>Unsharp Filter</a:t>
            </a:r>
            <a:r>
              <a:rPr lang="en-US" dirty="0"/>
              <a:t>. Despite the name, this filter is used to sharpen images. It works by subtracting a blurred version of the image from the original, which enhances the edges. In the spatial domain, you can see the filter kernel — dark around the edges, light in the center — designed to emphasize changes in intensity.</a:t>
            </a:r>
          </a:p>
          <a:p>
            <a:endParaRPr lang="en-US" dirty="0"/>
          </a:p>
          <a:p>
            <a:r>
              <a:rPr lang="en-US" dirty="0"/>
              <a:t>Next, the </a:t>
            </a:r>
            <a:r>
              <a:rPr lang="en-US" b="1" dirty="0"/>
              <a:t>Gaussian Filter</a:t>
            </a:r>
            <a:r>
              <a:rPr lang="en-US" dirty="0"/>
              <a:t>. This is a smoothing filter, which reduces noise and small details. In the spatial domain, it appears as a soft, bell-shaped pattern — bright in the middle, fading smoothly outward. Its frequency-domain representation shows that it preserves low frequencies while gradually suppressing high frequencies.</a:t>
            </a:r>
          </a:p>
          <a:p>
            <a:endParaRPr lang="en-US" dirty="0"/>
          </a:p>
          <a:p>
            <a:r>
              <a:rPr lang="en-US" dirty="0"/>
              <a:t>Finally, the </a:t>
            </a:r>
            <a:r>
              <a:rPr lang="en-US" b="1" dirty="0"/>
              <a:t>Sobel Filter</a:t>
            </a:r>
            <a:r>
              <a:rPr lang="en-US" dirty="0"/>
              <a:t>. This is an edge detection filter, which highlights regions of rapid intensity change. In the spatial domain, you can see its distinctive pattern — one side light, the other dark — which responds strongly to vertical or horizontal edges depending on its orientation. In the frequency domain, its pattern reflects the fact that it suppresses low frequencies and emphasizes specific directional components.</a:t>
            </a:r>
          </a:p>
          <a:p>
            <a:endParaRPr lang="en-US" dirty="0"/>
          </a:p>
          <a:p>
            <a:r>
              <a:rPr lang="en-US" dirty="0"/>
              <a:t>MATLAB provides built-in functions for these filters, including </a:t>
            </a:r>
            <a:r>
              <a:rPr lang="en-US" dirty="0" err="1"/>
              <a:t>fspecial</a:t>
            </a:r>
            <a:r>
              <a:rPr lang="en-US" dirty="0"/>
              <a:t> for 2D and fspecial3 for 3D filtering, as well as options to design your own custom kernels. By choosing the right filter and domain of application — spatial or frequency — we can control exactly what features of an image are enhanced or suppressed.</a:t>
            </a:r>
          </a:p>
          <a:p>
            <a:endParaRPr lang="en-US" dirty="0"/>
          </a:p>
        </p:txBody>
      </p:sp>
      <p:sp>
        <p:nvSpPr>
          <p:cNvPr id="4" name="Slide Number Placeholder 3"/>
          <p:cNvSpPr>
            <a:spLocks noGrp="1"/>
          </p:cNvSpPr>
          <p:nvPr>
            <p:ph type="sldNum" sz="quarter" idx="5"/>
          </p:nvPr>
        </p:nvSpPr>
        <p:spPr/>
        <p:txBody>
          <a:bodyPr/>
          <a:lstStyle/>
          <a:p>
            <a:fld id="{20F3D82C-2E39-4B28-A1F4-12F97F880BD9}" type="slidenum">
              <a:rPr lang="en-US" smtClean="0"/>
              <a:t>27</a:t>
            </a:fld>
            <a:endParaRPr lang="en-US"/>
          </a:p>
        </p:txBody>
      </p:sp>
    </p:spTree>
    <p:extLst>
      <p:ext uri="{BB962C8B-B14F-4D97-AF65-F5344CB8AC3E}">
        <p14:creationId xmlns:p14="http://schemas.microsoft.com/office/powerpoint/2010/main" val="190034999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Here we have an example showing the effects of different image filters, both in the spatial domain and in the frequency domain.</a:t>
            </a:r>
          </a:p>
          <a:p>
            <a:endParaRPr lang="en-US" dirty="0"/>
          </a:p>
          <a:p>
            <a:r>
              <a:rPr lang="en-US" dirty="0"/>
              <a:t>In the top left is our </a:t>
            </a:r>
            <a:r>
              <a:rPr lang="en-US" b="1" dirty="0"/>
              <a:t>original image</a:t>
            </a:r>
            <a:r>
              <a:rPr lang="en-US" dirty="0"/>
              <a:t> — a close-up of an eye. Next to it, in the top right, we see its </a:t>
            </a:r>
            <a:r>
              <a:rPr lang="en-US" b="1" dirty="0"/>
              <a:t>two-dimensional Fourier transform</a:t>
            </a:r>
            <a:r>
              <a:rPr lang="en-US" dirty="0"/>
              <a:t>, which shows the frequency content of the image.</a:t>
            </a:r>
          </a:p>
          <a:p>
            <a:endParaRPr lang="en-US" dirty="0"/>
          </a:p>
          <a:p>
            <a:r>
              <a:rPr lang="en-US" dirty="0"/>
              <a:t>On the second row, we have three filtered versions of the image in the spatial domain:</a:t>
            </a:r>
          </a:p>
          <a:p>
            <a:r>
              <a:rPr lang="en-US" b="1" dirty="0"/>
              <a:t>Unsharp Image</a:t>
            </a:r>
            <a:r>
              <a:rPr lang="en-US" dirty="0"/>
              <a:t> — produced by applying an unsharp filter, which enhances edges and fine details by subtracting a blurred version of the image from the original.</a:t>
            </a:r>
          </a:p>
          <a:p>
            <a:r>
              <a:rPr lang="en-US" b="1" dirty="0"/>
              <a:t>Gaussian Blurred Image</a:t>
            </a:r>
            <a:r>
              <a:rPr lang="en-US" dirty="0"/>
              <a:t> — generated using a Gaussian filter, which smooths the image by reducing high-frequency details, resulting in a softer appearance.</a:t>
            </a:r>
          </a:p>
          <a:p>
            <a:r>
              <a:rPr lang="en-US" b="1" dirty="0"/>
              <a:t>Sobel Filtered Image</a:t>
            </a:r>
            <a:r>
              <a:rPr lang="en-US" dirty="0"/>
              <a:t> — created using the Sobel operator, which emphasizes edges, particularly strong intensity changes. In the eye image, you can clearly see the contours of the iris, eyelid, and surrounding features.</a:t>
            </a:r>
          </a:p>
          <a:p>
            <a:r>
              <a:rPr lang="en-US" dirty="0"/>
              <a:t>The third row shows the corresponding frequency-domain representations for each filter.</a:t>
            </a:r>
          </a:p>
          <a:p>
            <a:endParaRPr lang="en-US" dirty="0"/>
          </a:p>
          <a:p>
            <a:r>
              <a:rPr lang="en-US" dirty="0"/>
              <a:t>For the </a:t>
            </a:r>
            <a:r>
              <a:rPr lang="en-US" b="1" dirty="0"/>
              <a:t>Gaussian blur</a:t>
            </a:r>
            <a:r>
              <a:rPr lang="en-US" dirty="0"/>
              <a:t>, you can see that high-frequency components are greatly reduced, as indicated by the darker edges in the spectrum.</a:t>
            </a:r>
          </a:p>
          <a:p>
            <a:r>
              <a:rPr lang="en-US" dirty="0"/>
              <a:t>For the </a:t>
            </a:r>
            <a:r>
              <a:rPr lang="en-US" b="1" dirty="0"/>
              <a:t>unsharp filter</a:t>
            </a:r>
            <a:r>
              <a:rPr lang="en-US" dirty="0"/>
              <a:t>, higher frequencies are more pronounced, showing stronger edge components.</a:t>
            </a:r>
          </a:p>
          <a:p>
            <a:r>
              <a:rPr lang="en-US" dirty="0"/>
              <a:t>For the </a:t>
            </a:r>
            <a:r>
              <a:rPr lang="en-US" b="1" dirty="0"/>
              <a:t>Sobel filter</a:t>
            </a:r>
            <a:r>
              <a:rPr lang="en-US" dirty="0"/>
              <a:t>, the spectrum highlights frequencies associated with sharp transitions in the image, which is why it’s effective for edge detection.</a:t>
            </a:r>
          </a:p>
          <a:p>
            <a:endParaRPr lang="en-US" dirty="0"/>
          </a:p>
          <a:p>
            <a:r>
              <a:rPr lang="en-US" dirty="0"/>
              <a:t>By choosing different filters, we can highlight or suppress specific image features — whether we want to sharpen details, blur textures, or extract edges for further analysis.</a:t>
            </a:r>
          </a:p>
          <a:p>
            <a:endParaRPr lang="en-US" dirty="0"/>
          </a:p>
        </p:txBody>
      </p:sp>
      <p:sp>
        <p:nvSpPr>
          <p:cNvPr id="4" name="Slide Number Placeholder 3"/>
          <p:cNvSpPr>
            <a:spLocks noGrp="1"/>
          </p:cNvSpPr>
          <p:nvPr>
            <p:ph type="sldNum" sz="quarter" idx="5"/>
          </p:nvPr>
        </p:nvSpPr>
        <p:spPr/>
        <p:txBody>
          <a:bodyPr/>
          <a:lstStyle/>
          <a:p>
            <a:fld id="{20F3D82C-2E39-4B28-A1F4-12F97F880BD9}" type="slidenum">
              <a:rPr lang="en-US" smtClean="0"/>
              <a:t>28</a:t>
            </a:fld>
            <a:endParaRPr lang="en-US"/>
          </a:p>
        </p:txBody>
      </p:sp>
    </p:spTree>
    <p:extLst>
      <p:ext uri="{BB962C8B-B14F-4D97-AF65-F5344CB8AC3E}">
        <p14:creationId xmlns:p14="http://schemas.microsoft.com/office/powerpoint/2010/main" val="204777150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brings us to the end of today’s lecture.</a:t>
            </a:r>
          </a:p>
          <a:p>
            <a:endParaRPr lang="en-US" dirty="0"/>
          </a:p>
          <a:p>
            <a:r>
              <a:rPr lang="en-US" dirty="0"/>
              <a:t>We’ve covered quite a lot — from discrete convolution and zero-padding, to spectral analysis, bin refinement, and practical applications in two-dimensional image filtering. I hope you now have a clearer picture of how these concepts connect and how they are applied in real-world signal and image processing.</a:t>
            </a:r>
          </a:p>
          <a:p>
            <a:endParaRPr lang="en-US" dirty="0"/>
          </a:p>
          <a:p>
            <a:r>
              <a:rPr lang="en-US" dirty="0"/>
              <a:t>Take some time to review the examples and try the MATLAB code on your own. Seeing the results firsthand will help solidify your understanding.</a:t>
            </a:r>
          </a:p>
          <a:p>
            <a:r>
              <a:rPr lang="en-US" dirty="0"/>
              <a:t>Thank you for your attention, and I look forward to seeing you in the next lecture.</a:t>
            </a:r>
          </a:p>
          <a:p>
            <a:endParaRPr lang="en-US" dirty="0"/>
          </a:p>
        </p:txBody>
      </p:sp>
      <p:sp>
        <p:nvSpPr>
          <p:cNvPr id="4" name="Slide Number Placeholder 3"/>
          <p:cNvSpPr>
            <a:spLocks noGrp="1"/>
          </p:cNvSpPr>
          <p:nvPr>
            <p:ph type="sldNum" sz="quarter" idx="5"/>
          </p:nvPr>
        </p:nvSpPr>
        <p:spPr/>
        <p:txBody>
          <a:bodyPr/>
          <a:lstStyle/>
          <a:p>
            <a:fld id="{20F3D82C-2E39-4B28-A1F4-12F97F880BD9}" type="slidenum">
              <a:rPr lang="en-US" smtClean="0"/>
              <a:t>29</a:t>
            </a:fld>
            <a:endParaRPr lang="en-US"/>
          </a:p>
        </p:txBody>
      </p:sp>
    </p:spTree>
    <p:extLst>
      <p:ext uri="{BB962C8B-B14F-4D97-AF65-F5344CB8AC3E}">
        <p14:creationId xmlns:p14="http://schemas.microsoft.com/office/powerpoint/2010/main" val="19306548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125" name="Line 29"/>
          <p:cNvSpPr>
            <a:spLocks noChangeShapeType="1"/>
          </p:cNvSpPr>
          <p:nvPr userDrawn="1"/>
        </p:nvSpPr>
        <p:spPr bwMode="auto">
          <a:xfrm>
            <a:off x="1117600" y="457200"/>
            <a:ext cx="0" cy="6096000"/>
          </a:xfrm>
          <a:prstGeom prst="line">
            <a:avLst/>
          </a:prstGeom>
          <a:noFill/>
          <a:ln w="9525">
            <a:solidFill>
              <a:schemeClr val="bg1"/>
            </a:solidFill>
            <a:round/>
            <a:headEnd/>
            <a:tailEnd/>
          </a:ln>
        </p:spPr>
        <p:txBody>
          <a:bodyPr wrap="none" anchor="ctr"/>
          <a:lstStyle/>
          <a:p>
            <a:pPr eaLnBrk="0" fontAlgn="base" hangingPunct="0">
              <a:spcBef>
                <a:spcPct val="0"/>
              </a:spcBef>
              <a:spcAft>
                <a:spcPct val="0"/>
              </a:spcAft>
            </a:pPr>
            <a:endParaRPr lang="en-US" sz="2400">
              <a:solidFill>
                <a:srgbClr val="000000"/>
              </a:solidFill>
            </a:endParaRPr>
          </a:p>
        </p:txBody>
      </p:sp>
      <p:sp>
        <p:nvSpPr>
          <p:cNvPr id="4126" name="Line 30"/>
          <p:cNvSpPr>
            <a:spLocks noChangeShapeType="1"/>
          </p:cNvSpPr>
          <p:nvPr userDrawn="1"/>
        </p:nvSpPr>
        <p:spPr bwMode="auto">
          <a:xfrm>
            <a:off x="1117600" y="6553200"/>
            <a:ext cx="10566400" cy="0"/>
          </a:xfrm>
          <a:prstGeom prst="line">
            <a:avLst/>
          </a:prstGeom>
          <a:noFill/>
          <a:ln w="9525">
            <a:solidFill>
              <a:schemeClr val="bg1"/>
            </a:solidFill>
            <a:round/>
            <a:headEnd/>
            <a:tailEnd/>
          </a:ln>
        </p:spPr>
        <p:txBody>
          <a:bodyPr wrap="none" anchor="ctr"/>
          <a:lstStyle/>
          <a:p>
            <a:pPr eaLnBrk="0" fontAlgn="base" hangingPunct="0">
              <a:spcBef>
                <a:spcPct val="0"/>
              </a:spcBef>
              <a:spcAft>
                <a:spcPct val="0"/>
              </a:spcAft>
            </a:pPr>
            <a:endParaRPr lang="en-US" sz="2400">
              <a:solidFill>
                <a:srgbClr val="000000"/>
              </a:solidFill>
            </a:endParaRPr>
          </a:p>
        </p:txBody>
      </p:sp>
      <p:sp>
        <p:nvSpPr>
          <p:cNvPr id="4127" name="Line 31"/>
          <p:cNvSpPr>
            <a:spLocks noChangeShapeType="1"/>
          </p:cNvSpPr>
          <p:nvPr userDrawn="1"/>
        </p:nvSpPr>
        <p:spPr bwMode="auto">
          <a:xfrm flipV="1">
            <a:off x="11684000" y="5791200"/>
            <a:ext cx="0" cy="762000"/>
          </a:xfrm>
          <a:prstGeom prst="line">
            <a:avLst/>
          </a:prstGeom>
          <a:noFill/>
          <a:ln w="9525">
            <a:solidFill>
              <a:schemeClr val="bg1"/>
            </a:solidFill>
            <a:round/>
            <a:headEnd/>
            <a:tailEnd/>
          </a:ln>
        </p:spPr>
        <p:txBody>
          <a:bodyPr wrap="none" anchor="ctr"/>
          <a:lstStyle/>
          <a:p>
            <a:pPr eaLnBrk="0" fontAlgn="base" hangingPunct="0">
              <a:spcBef>
                <a:spcPct val="0"/>
              </a:spcBef>
              <a:spcAft>
                <a:spcPct val="0"/>
              </a:spcAft>
            </a:pPr>
            <a:endParaRPr lang="en-US" sz="2400">
              <a:solidFill>
                <a:srgbClr val="000000"/>
              </a:solidFill>
            </a:endParaRPr>
          </a:p>
        </p:txBody>
      </p:sp>
      <p:sp>
        <p:nvSpPr>
          <p:cNvPr id="4128" name="Line 32"/>
          <p:cNvSpPr>
            <a:spLocks noChangeShapeType="1"/>
          </p:cNvSpPr>
          <p:nvPr userDrawn="1"/>
        </p:nvSpPr>
        <p:spPr bwMode="auto">
          <a:xfrm flipH="1">
            <a:off x="8636000" y="5791200"/>
            <a:ext cx="3048000" cy="0"/>
          </a:xfrm>
          <a:prstGeom prst="line">
            <a:avLst/>
          </a:prstGeom>
          <a:noFill/>
          <a:ln w="9525">
            <a:solidFill>
              <a:schemeClr val="bg1"/>
            </a:solidFill>
            <a:round/>
            <a:headEnd/>
            <a:tailEnd/>
          </a:ln>
        </p:spPr>
        <p:txBody>
          <a:bodyPr wrap="none" anchor="ctr"/>
          <a:lstStyle/>
          <a:p>
            <a:pPr eaLnBrk="0" fontAlgn="base" hangingPunct="0">
              <a:spcBef>
                <a:spcPct val="0"/>
              </a:spcBef>
              <a:spcAft>
                <a:spcPct val="0"/>
              </a:spcAft>
            </a:pPr>
            <a:endParaRPr lang="en-US" sz="2400">
              <a:solidFill>
                <a:srgbClr val="000000"/>
              </a:solidFill>
            </a:endParaRPr>
          </a:p>
        </p:txBody>
      </p:sp>
      <p:sp>
        <p:nvSpPr>
          <p:cNvPr id="4131" name="Line 35"/>
          <p:cNvSpPr>
            <a:spLocks noChangeShapeType="1"/>
          </p:cNvSpPr>
          <p:nvPr userDrawn="1"/>
        </p:nvSpPr>
        <p:spPr bwMode="auto">
          <a:xfrm>
            <a:off x="1117600" y="457200"/>
            <a:ext cx="1727200" cy="0"/>
          </a:xfrm>
          <a:prstGeom prst="line">
            <a:avLst/>
          </a:prstGeom>
          <a:noFill/>
          <a:ln w="9525">
            <a:solidFill>
              <a:schemeClr val="bg1"/>
            </a:solidFill>
            <a:round/>
            <a:headEnd/>
            <a:tailEnd/>
          </a:ln>
        </p:spPr>
        <p:txBody>
          <a:bodyPr wrap="none" anchor="ctr"/>
          <a:lstStyle/>
          <a:p>
            <a:pPr eaLnBrk="0" fontAlgn="base" hangingPunct="0">
              <a:spcBef>
                <a:spcPct val="0"/>
              </a:spcBef>
              <a:spcAft>
                <a:spcPct val="0"/>
              </a:spcAft>
            </a:pPr>
            <a:endParaRPr lang="en-US" sz="2400">
              <a:solidFill>
                <a:srgbClr val="000000"/>
              </a:solidFill>
            </a:endParaRPr>
          </a:p>
        </p:txBody>
      </p:sp>
    </p:spTree>
    <p:extLst>
      <p:ext uri="{BB962C8B-B14F-4D97-AF65-F5344CB8AC3E}">
        <p14:creationId xmlns:p14="http://schemas.microsoft.com/office/powerpoint/2010/main" val="3141495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3200" y="152400"/>
            <a:ext cx="11785600" cy="838200"/>
          </a:xfrm>
        </p:spPr>
        <p:txBody>
          <a:bodyPr/>
          <a:lstStyle>
            <a:lvl1pPr>
              <a:defRPr sz="4000" b="1">
                <a:solidFill>
                  <a:schemeClr val="tx1"/>
                </a:solidFill>
              </a:defRPr>
            </a:lvl1pPr>
          </a:lstStyle>
          <a:p>
            <a:r>
              <a:rPr lang="en-US" dirty="0"/>
              <a:t>Click to edit Master title style</a:t>
            </a:r>
          </a:p>
        </p:txBody>
      </p:sp>
      <p:sp>
        <p:nvSpPr>
          <p:cNvPr id="3" name="Content Placeholder 2"/>
          <p:cNvSpPr>
            <a:spLocks noGrp="1"/>
          </p:cNvSpPr>
          <p:nvPr>
            <p:ph idx="1"/>
          </p:nvPr>
        </p:nvSpPr>
        <p:spPr>
          <a:xfrm>
            <a:off x="203200" y="1066800"/>
            <a:ext cx="11785600" cy="4419600"/>
          </a:xfrm>
        </p:spPr>
        <p:txBody>
          <a:bodyPr/>
          <a:lstStyle>
            <a:lvl1pPr>
              <a:defRPr sz="2800" b="1"/>
            </a:lvl1pPr>
          </a:lstStyle>
          <a:p>
            <a:pPr lvl="0"/>
            <a:r>
              <a:rPr lang="en-US" dirty="0"/>
              <a:t>Click to edit Master text styles</a:t>
            </a:r>
          </a:p>
        </p:txBody>
      </p:sp>
    </p:spTree>
    <p:extLst>
      <p:ext uri="{BB962C8B-B14F-4D97-AF65-F5344CB8AC3E}">
        <p14:creationId xmlns:p14="http://schemas.microsoft.com/office/powerpoint/2010/main" val="404296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Slide Number Placeholder 3"/>
          <p:cNvSpPr>
            <a:spLocks noGrp="1"/>
          </p:cNvSpPr>
          <p:nvPr>
            <p:ph type="sldNum" sz="quarter" idx="10"/>
          </p:nvPr>
        </p:nvSpPr>
        <p:spPr>
          <a:xfrm>
            <a:off x="146051" y="6288088"/>
            <a:ext cx="1219200" cy="457200"/>
          </a:xfrm>
          <a:prstGeom prst="rect">
            <a:avLst/>
          </a:prstGeom>
        </p:spPr>
        <p:txBody>
          <a:bodyPr/>
          <a:lstStyle>
            <a:lvl1pPr>
              <a:defRPr/>
            </a:lvl1pPr>
          </a:lstStyle>
          <a:p>
            <a:pPr eaLnBrk="0" fontAlgn="base" hangingPunct="0">
              <a:spcBef>
                <a:spcPct val="0"/>
              </a:spcBef>
              <a:spcAft>
                <a:spcPct val="0"/>
              </a:spcAft>
            </a:pPr>
            <a:fld id="{42551609-7012-4524-8F91-CAEC89A8DA26}" type="slidenum">
              <a:rPr lang="en-US" sz="2400">
                <a:solidFill>
                  <a:srgbClr val="000000"/>
                </a:solidFill>
              </a:rPr>
              <a:pPr eaLnBrk="0" fontAlgn="base" hangingPunct="0">
                <a:spcBef>
                  <a:spcPct val="0"/>
                </a:spcBef>
                <a:spcAft>
                  <a:spcPct val="0"/>
                </a:spcAft>
              </a:pPr>
              <a:t>‹#›</a:t>
            </a:fld>
            <a:endParaRPr lang="en-US" sz="2400">
              <a:solidFill>
                <a:srgbClr val="000000"/>
              </a:solidFill>
            </a:endParaRPr>
          </a:p>
        </p:txBody>
      </p:sp>
    </p:spTree>
    <p:extLst>
      <p:ext uri="{BB962C8B-B14F-4D97-AF65-F5344CB8AC3E}">
        <p14:creationId xmlns:p14="http://schemas.microsoft.com/office/powerpoint/2010/main" val="30627698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17600" y="16764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00800" y="16764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a:xfrm>
            <a:off x="146051" y="6288088"/>
            <a:ext cx="1219200" cy="457200"/>
          </a:xfrm>
          <a:prstGeom prst="rect">
            <a:avLst/>
          </a:prstGeom>
        </p:spPr>
        <p:txBody>
          <a:bodyPr/>
          <a:lstStyle>
            <a:lvl1pPr>
              <a:defRPr/>
            </a:lvl1pPr>
          </a:lstStyle>
          <a:p>
            <a:pPr eaLnBrk="0" fontAlgn="base" hangingPunct="0">
              <a:spcBef>
                <a:spcPct val="0"/>
              </a:spcBef>
              <a:spcAft>
                <a:spcPct val="0"/>
              </a:spcAft>
            </a:pPr>
            <a:fld id="{EC38EB37-9F67-488F-AFCB-318363D4DA79}" type="slidenum">
              <a:rPr lang="en-US" sz="2400">
                <a:solidFill>
                  <a:srgbClr val="000000"/>
                </a:solidFill>
              </a:rPr>
              <a:pPr eaLnBrk="0" fontAlgn="base" hangingPunct="0">
                <a:spcBef>
                  <a:spcPct val="0"/>
                </a:spcBef>
                <a:spcAft>
                  <a:spcPct val="0"/>
                </a:spcAft>
              </a:pPr>
              <a:t>‹#›</a:t>
            </a:fld>
            <a:endParaRPr lang="en-US" sz="2400">
              <a:solidFill>
                <a:srgbClr val="000000"/>
              </a:solidFill>
            </a:endParaRPr>
          </a:p>
        </p:txBody>
      </p:sp>
    </p:spTree>
    <p:extLst>
      <p:ext uri="{BB962C8B-B14F-4D97-AF65-F5344CB8AC3E}">
        <p14:creationId xmlns:p14="http://schemas.microsoft.com/office/powerpoint/2010/main" val="24085818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0"/>
          </p:nvPr>
        </p:nvSpPr>
        <p:spPr>
          <a:xfrm>
            <a:off x="146051" y="6288088"/>
            <a:ext cx="1219200" cy="457200"/>
          </a:xfrm>
          <a:prstGeom prst="rect">
            <a:avLst/>
          </a:prstGeom>
        </p:spPr>
        <p:txBody>
          <a:bodyPr/>
          <a:lstStyle>
            <a:lvl1pPr>
              <a:defRPr/>
            </a:lvl1pPr>
          </a:lstStyle>
          <a:p>
            <a:pPr eaLnBrk="0" fontAlgn="base" hangingPunct="0">
              <a:spcBef>
                <a:spcPct val="0"/>
              </a:spcBef>
              <a:spcAft>
                <a:spcPct val="0"/>
              </a:spcAft>
            </a:pPr>
            <a:fld id="{325EC937-4EEB-42FF-9745-F8ECC712C67B}" type="slidenum">
              <a:rPr lang="en-US" sz="2400">
                <a:solidFill>
                  <a:srgbClr val="000000"/>
                </a:solidFill>
              </a:rPr>
              <a:pPr eaLnBrk="0" fontAlgn="base" hangingPunct="0">
                <a:spcBef>
                  <a:spcPct val="0"/>
                </a:spcBef>
                <a:spcAft>
                  <a:spcPct val="0"/>
                </a:spcAft>
              </a:pPr>
              <a:t>‹#›</a:t>
            </a:fld>
            <a:endParaRPr lang="en-US" sz="2400">
              <a:solidFill>
                <a:srgbClr val="000000"/>
              </a:solidFill>
            </a:endParaRPr>
          </a:p>
        </p:txBody>
      </p:sp>
    </p:spTree>
    <p:extLst>
      <p:ext uri="{BB962C8B-B14F-4D97-AF65-F5344CB8AC3E}">
        <p14:creationId xmlns:p14="http://schemas.microsoft.com/office/powerpoint/2010/main" val="1803406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a:xfrm>
            <a:off x="146051" y="6288088"/>
            <a:ext cx="1219200" cy="457200"/>
          </a:xfrm>
          <a:prstGeom prst="rect">
            <a:avLst/>
          </a:prstGeom>
        </p:spPr>
        <p:txBody>
          <a:bodyPr/>
          <a:lstStyle>
            <a:lvl1pPr>
              <a:defRPr/>
            </a:lvl1pPr>
          </a:lstStyle>
          <a:p>
            <a:pPr eaLnBrk="0" fontAlgn="base" hangingPunct="0">
              <a:spcBef>
                <a:spcPct val="0"/>
              </a:spcBef>
              <a:spcAft>
                <a:spcPct val="0"/>
              </a:spcAft>
            </a:pPr>
            <a:fld id="{26E09F27-08E5-47E1-9081-CDEF6FA99715}" type="slidenum">
              <a:rPr lang="en-US" sz="2400">
                <a:solidFill>
                  <a:srgbClr val="000000"/>
                </a:solidFill>
              </a:rPr>
              <a:pPr eaLnBrk="0" fontAlgn="base" hangingPunct="0">
                <a:spcBef>
                  <a:spcPct val="0"/>
                </a:spcBef>
                <a:spcAft>
                  <a:spcPct val="0"/>
                </a:spcAft>
              </a:pPr>
              <a:t>‹#›</a:t>
            </a:fld>
            <a:endParaRPr lang="en-US" sz="2400">
              <a:solidFill>
                <a:srgbClr val="000000"/>
              </a:solidFill>
            </a:endParaRPr>
          </a:p>
        </p:txBody>
      </p:sp>
    </p:spTree>
    <p:extLst>
      <p:ext uri="{BB962C8B-B14F-4D97-AF65-F5344CB8AC3E}">
        <p14:creationId xmlns:p14="http://schemas.microsoft.com/office/powerpoint/2010/main" val="828631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a:xfrm>
            <a:off x="146051" y="6288088"/>
            <a:ext cx="1219200" cy="457200"/>
          </a:xfrm>
          <a:prstGeom prst="rect">
            <a:avLst/>
          </a:prstGeom>
        </p:spPr>
        <p:txBody>
          <a:bodyPr/>
          <a:lstStyle>
            <a:lvl1pPr>
              <a:defRPr/>
            </a:lvl1pPr>
          </a:lstStyle>
          <a:p>
            <a:pPr eaLnBrk="0" fontAlgn="base" hangingPunct="0">
              <a:spcBef>
                <a:spcPct val="0"/>
              </a:spcBef>
              <a:spcAft>
                <a:spcPct val="0"/>
              </a:spcAft>
            </a:pPr>
            <a:fld id="{CC251E47-B223-48F4-A299-CE4A766087D6}" type="slidenum">
              <a:rPr lang="en-US" sz="2400">
                <a:solidFill>
                  <a:srgbClr val="000000"/>
                </a:solidFill>
              </a:rPr>
              <a:pPr eaLnBrk="0" fontAlgn="base" hangingPunct="0">
                <a:spcBef>
                  <a:spcPct val="0"/>
                </a:spcBef>
                <a:spcAft>
                  <a:spcPct val="0"/>
                </a:spcAft>
              </a:pPr>
              <a:t>‹#›</a:t>
            </a:fld>
            <a:endParaRPr lang="en-US" sz="2400">
              <a:solidFill>
                <a:srgbClr val="000000"/>
              </a:solidFill>
            </a:endParaRPr>
          </a:p>
        </p:txBody>
      </p:sp>
    </p:spTree>
    <p:extLst>
      <p:ext uri="{BB962C8B-B14F-4D97-AF65-F5344CB8AC3E}">
        <p14:creationId xmlns:p14="http://schemas.microsoft.com/office/powerpoint/2010/main" val="36346139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a:xfrm>
            <a:off x="146051" y="6288088"/>
            <a:ext cx="1219200" cy="457200"/>
          </a:xfrm>
          <a:prstGeom prst="rect">
            <a:avLst/>
          </a:prstGeom>
        </p:spPr>
        <p:txBody>
          <a:bodyPr/>
          <a:lstStyle>
            <a:lvl1pPr>
              <a:defRPr/>
            </a:lvl1pPr>
          </a:lstStyle>
          <a:p>
            <a:pPr eaLnBrk="0" fontAlgn="base" hangingPunct="0">
              <a:spcBef>
                <a:spcPct val="0"/>
              </a:spcBef>
              <a:spcAft>
                <a:spcPct val="0"/>
              </a:spcAft>
            </a:pPr>
            <a:fld id="{5BB27830-E813-4D5B-BECC-EB4E76333BEB}" type="slidenum">
              <a:rPr lang="en-US" sz="2400">
                <a:solidFill>
                  <a:srgbClr val="000000"/>
                </a:solidFill>
              </a:rPr>
              <a:pPr eaLnBrk="0" fontAlgn="base" hangingPunct="0">
                <a:spcBef>
                  <a:spcPct val="0"/>
                </a:spcBef>
                <a:spcAft>
                  <a:spcPct val="0"/>
                </a:spcAft>
              </a:pPr>
              <a:t>‹#›</a:t>
            </a:fld>
            <a:endParaRPr lang="en-US" sz="2400">
              <a:solidFill>
                <a:srgbClr val="000000"/>
              </a:solidFill>
            </a:endParaRPr>
          </a:p>
        </p:txBody>
      </p:sp>
    </p:spTree>
    <p:extLst>
      <p:ext uri="{BB962C8B-B14F-4D97-AF65-F5344CB8AC3E}">
        <p14:creationId xmlns:p14="http://schemas.microsoft.com/office/powerpoint/2010/main" val="12156525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a:xfrm>
            <a:off x="146051" y="6288088"/>
            <a:ext cx="1219200" cy="457200"/>
          </a:xfrm>
          <a:prstGeom prst="rect">
            <a:avLst/>
          </a:prstGeom>
        </p:spPr>
        <p:txBody>
          <a:bodyPr/>
          <a:lstStyle>
            <a:lvl1pPr>
              <a:defRPr/>
            </a:lvl1pPr>
          </a:lstStyle>
          <a:p>
            <a:pPr eaLnBrk="0" fontAlgn="base" hangingPunct="0">
              <a:spcBef>
                <a:spcPct val="0"/>
              </a:spcBef>
              <a:spcAft>
                <a:spcPct val="0"/>
              </a:spcAft>
            </a:pPr>
            <a:fld id="{8950E5CE-EF1E-495C-8D34-E9307ADFFB20}" type="slidenum">
              <a:rPr lang="en-US" sz="2400">
                <a:solidFill>
                  <a:srgbClr val="000000"/>
                </a:solidFill>
              </a:rPr>
              <a:pPr eaLnBrk="0" fontAlgn="base" hangingPunct="0">
                <a:spcBef>
                  <a:spcPct val="0"/>
                </a:spcBef>
                <a:spcAft>
                  <a:spcPct val="0"/>
                </a:spcAft>
              </a:pPr>
              <a:t>‹#›</a:t>
            </a:fld>
            <a:endParaRPr lang="en-US" sz="2400">
              <a:solidFill>
                <a:srgbClr val="000000"/>
              </a:solidFill>
            </a:endParaRPr>
          </a:p>
        </p:txBody>
      </p:sp>
    </p:spTree>
    <p:extLst>
      <p:ext uri="{BB962C8B-B14F-4D97-AF65-F5344CB8AC3E}">
        <p14:creationId xmlns:p14="http://schemas.microsoft.com/office/powerpoint/2010/main" val="34702092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a:xfrm>
            <a:off x="146051" y="6288088"/>
            <a:ext cx="1219200" cy="457200"/>
          </a:xfrm>
          <a:prstGeom prst="rect">
            <a:avLst/>
          </a:prstGeom>
        </p:spPr>
        <p:txBody>
          <a:bodyPr/>
          <a:lstStyle>
            <a:lvl1pPr>
              <a:defRPr/>
            </a:lvl1pPr>
          </a:lstStyle>
          <a:p>
            <a:pPr eaLnBrk="0" fontAlgn="base" hangingPunct="0">
              <a:spcBef>
                <a:spcPct val="0"/>
              </a:spcBef>
              <a:spcAft>
                <a:spcPct val="0"/>
              </a:spcAft>
            </a:pPr>
            <a:fld id="{EDA7D03F-0D9F-4D6E-A9DA-DA22B08C88FB}" type="slidenum">
              <a:rPr lang="en-US" sz="2400">
                <a:solidFill>
                  <a:srgbClr val="000000"/>
                </a:solidFill>
              </a:rPr>
              <a:pPr eaLnBrk="0" fontAlgn="base" hangingPunct="0">
                <a:spcBef>
                  <a:spcPct val="0"/>
                </a:spcBef>
                <a:spcAft>
                  <a:spcPct val="0"/>
                </a:spcAft>
              </a:pPr>
              <a:t>‹#›</a:t>
            </a:fld>
            <a:endParaRPr lang="en-US" sz="2400">
              <a:solidFill>
                <a:srgbClr val="000000"/>
              </a:solidFill>
            </a:endParaRPr>
          </a:p>
        </p:txBody>
      </p:sp>
    </p:spTree>
    <p:extLst>
      <p:ext uri="{BB962C8B-B14F-4D97-AF65-F5344CB8AC3E}">
        <p14:creationId xmlns:p14="http://schemas.microsoft.com/office/powerpoint/2010/main" val="11645557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90000" y="304800"/>
            <a:ext cx="25908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17600" y="3048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a:xfrm>
            <a:off x="146051" y="6288088"/>
            <a:ext cx="1219200" cy="457200"/>
          </a:xfrm>
          <a:prstGeom prst="rect">
            <a:avLst/>
          </a:prstGeom>
        </p:spPr>
        <p:txBody>
          <a:bodyPr/>
          <a:lstStyle>
            <a:lvl1pPr>
              <a:defRPr/>
            </a:lvl1pPr>
          </a:lstStyle>
          <a:p>
            <a:pPr eaLnBrk="0" fontAlgn="base" hangingPunct="0">
              <a:spcBef>
                <a:spcPct val="0"/>
              </a:spcBef>
              <a:spcAft>
                <a:spcPct val="0"/>
              </a:spcAft>
            </a:pPr>
            <a:fld id="{5D488692-0FB6-433E-9CFB-08D03A34DD8A}" type="slidenum">
              <a:rPr lang="en-US" sz="2400">
                <a:solidFill>
                  <a:srgbClr val="000000"/>
                </a:solidFill>
              </a:rPr>
              <a:pPr eaLnBrk="0" fontAlgn="base" hangingPunct="0">
                <a:spcBef>
                  <a:spcPct val="0"/>
                </a:spcBef>
                <a:spcAft>
                  <a:spcPct val="0"/>
                </a:spcAft>
              </a:pPr>
              <a:t>‹#›</a:t>
            </a:fld>
            <a:endParaRPr lang="en-US" sz="2400">
              <a:solidFill>
                <a:srgbClr val="000000"/>
              </a:solidFill>
            </a:endParaRPr>
          </a:p>
        </p:txBody>
      </p:sp>
    </p:spTree>
    <p:extLst>
      <p:ext uri="{BB962C8B-B14F-4D97-AF65-F5344CB8AC3E}">
        <p14:creationId xmlns:p14="http://schemas.microsoft.com/office/powerpoint/2010/main" val="634334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125" name="Line 29"/>
          <p:cNvSpPr>
            <a:spLocks noChangeShapeType="1"/>
          </p:cNvSpPr>
          <p:nvPr userDrawn="1"/>
        </p:nvSpPr>
        <p:spPr bwMode="auto">
          <a:xfrm>
            <a:off x="1117600" y="457200"/>
            <a:ext cx="0" cy="6096000"/>
          </a:xfrm>
          <a:prstGeom prst="line">
            <a:avLst/>
          </a:prstGeom>
          <a:noFill/>
          <a:ln w="9525">
            <a:solidFill>
              <a:schemeClr val="bg1"/>
            </a:solidFill>
            <a:round/>
            <a:headEnd/>
            <a:tailEnd/>
          </a:ln>
        </p:spPr>
        <p:txBody>
          <a:bodyPr wrap="none" anchor="ctr"/>
          <a:lstStyle/>
          <a:p>
            <a:pPr eaLnBrk="0" fontAlgn="base" hangingPunct="0">
              <a:spcBef>
                <a:spcPct val="0"/>
              </a:spcBef>
              <a:spcAft>
                <a:spcPct val="0"/>
              </a:spcAft>
            </a:pPr>
            <a:endParaRPr lang="en-US" sz="2400">
              <a:solidFill>
                <a:srgbClr val="000000"/>
              </a:solidFill>
              <a:cs typeface="Times New Roman" pitchFamily="18" charset="0"/>
            </a:endParaRPr>
          </a:p>
        </p:txBody>
      </p:sp>
      <p:sp>
        <p:nvSpPr>
          <p:cNvPr id="4126" name="Line 30"/>
          <p:cNvSpPr>
            <a:spLocks noChangeShapeType="1"/>
          </p:cNvSpPr>
          <p:nvPr userDrawn="1"/>
        </p:nvSpPr>
        <p:spPr bwMode="auto">
          <a:xfrm>
            <a:off x="1117600" y="6553200"/>
            <a:ext cx="10566400" cy="0"/>
          </a:xfrm>
          <a:prstGeom prst="line">
            <a:avLst/>
          </a:prstGeom>
          <a:noFill/>
          <a:ln w="9525">
            <a:solidFill>
              <a:schemeClr val="bg1"/>
            </a:solidFill>
            <a:round/>
            <a:headEnd/>
            <a:tailEnd/>
          </a:ln>
        </p:spPr>
        <p:txBody>
          <a:bodyPr wrap="none" anchor="ctr"/>
          <a:lstStyle/>
          <a:p>
            <a:pPr eaLnBrk="0" fontAlgn="base" hangingPunct="0">
              <a:spcBef>
                <a:spcPct val="0"/>
              </a:spcBef>
              <a:spcAft>
                <a:spcPct val="0"/>
              </a:spcAft>
            </a:pPr>
            <a:endParaRPr lang="en-US" sz="2400">
              <a:solidFill>
                <a:srgbClr val="000000"/>
              </a:solidFill>
              <a:cs typeface="Times New Roman" pitchFamily="18" charset="0"/>
            </a:endParaRPr>
          </a:p>
        </p:txBody>
      </p:sp>
      <p:sp>
        <p:nvSpPr>
          <p:cNvPr id="4127" name="Line 31"/>
          <p:cNvSpPr>
            <a:spLocks noChangeShapeType="1"/>
          </p:cNvSpPr>
          <p:nvPr userDrawn="1"/>
        </p:nvSpPr>
        <p:spPr bwMode="auto">
          <a:xfrm flipV="1">
            <a:off x="11684000" y="5791200"/>
            <a:ext cx="0" cy="762000"/>
          </a:xfrm>
          <a:prstGeom prst="line">
            <a:avLst/>
          </a:prstGeom>
          <a:noFill/>
          <a:ln w="9525">
            <a:solidFill>
              <a:schemeClr val="bg1"/>
            </a:solidFill>
            <a:round/>
            <a:headEnd/>
            <a:tailEnd/>
          </a:ln>
        </p:spPr>
        <p:txBody>
          <a:bodyPr wrap="none" anchor="ctr"/>
          <a:lstStyle/>
          <a:p>
            <a:pPr eaLnBrk="0" fontAlgn="base" hangingPunct="0">
              <a:spcBef>
                <a:spcPct val="0"/>
              </a:spcBef>
              <a:spcAft>
                <a:spcPct val="0"/>
              </a:spcAft>
            </a:pPr>
            <a:endParaRPr lang="en-US" sz="2400">
              <a:solidFill>
                <a:srgbClr val="000000"/>
              </a:solidFill>
              <a:cs typeface="Times New Roman" pitchFamily="18" charset="0"/>
            </a:endParaRPr>
          </a:p>
        </p:txBody>
      </p:sp>
      <p:sp>
        <p:nvSpPr>
          <p:cNvPr id="4128" name="Line 32"/>
          <p:cNvSpPr>
            <a:spLocks noChangeShapeType="1"/>
          </p:cNvSpPr>
          <p:nvPr userDrawn="1"/>
        </p:nvSpPr>
        <p:spPr bwMode="auto">
          <a:xfrm flipH="1">
            <a:off x="8636000" y="5791200"/>
            <a:ext cx="3048000" cy="0"/>
          </a:xfrm>
          <a:prstGeom prst="line">
            <a:avLst/>
          </a:prstGeom>
          <a:noFill/>
          <a:ln w="9525">
            <a:solidFill>
              <a:schemeClr val="bg1"/>
            </a:solidFill>
            <a:round/>
            <a:headEnd/>
            <a:tailEnd/>
          </a:ln>
        </p:spPr>
        <p:txBody>
          <a:bodyPr wrap="none" anchor="ctr"/>
          <a:lstStyle/>
          <a:p>
            <a:pPr eaLnBrk="0" fontAlgn="base" hangingPunct="0">
              <a:spcBef>
                <a:spcPct val="0"/>
              </a:spcBef>
              <a:spcAft>
                <a:spcPct val="0"/>
              </a:spcAft>
            </a:pPr>
            <a:endParaRPr lang="en-US" sz="2400">
              <a:solidFill>
                <a:srgbClr val="000000"/>
              </a:solidFill>
              <a:cs typeface="Times New Roman" pitchFamily="18" charset="0"/>
            </a:endParaRPr>
          </a:p>
        </p:txBody>
      </p:sp>
      <p:sp>
        <p:nvSpPr>
          <p:cNvPr id="4131" name="Line 35"/>
          <p:cNvSpPr>
            <a:spLocks noChangeShapeType="1"/>
          </p:cNvSpPr>
          <p:nvPr userDrawn="1"/>
        </p:nvSpPr>
        <p:spPr bwMode="auto">
          <a:xfrm>
            <a:off x="1117600" y="457200"/>
            <a:ext cx="1727200" cy="0"/>
          </a:xfrm>
          <a:prstGeom prst="line">
            <a:avLst/>
          </a:prstGeom>
          <a:noFill/>
          <a:ln w="9525">
            <a:solidFill>
              <a:schemeClr val="bg1"/>
            </a:solidFill>
            <a:round/>
            <a:headEnd/>
            <a:tailEnd/>
          </a:ln>
        </p:spPr>
        <p:txBody>
          <a:bodyPr wrap="none" anchor="ctr"/>
          <a:lstStyle/>
          <a:p>
            <a:pPr eaLnBrk="0" fontAlgn="base" hangingPunct="0">
              <a:spcBef>
                <a:spcPct val="0"/>
              </a:spcBef>
              <a:spcAft>
                <a:spcPct val="0"/>
              </a:spcAft>
            </a:pPr>
            <a:endParaRPr lang="en-US" sz="2400">
              <a:solidFill>
                <a:srgbClr val="000000"/>
              </a:solidFill>
              <a:cs typeface="Times New Roman" pitchFamily="18" charset="0"/>
            </a:endParaRPr>
          </a:p>
        </p:txBody>
      </p:sp>
    </p:spTree>
    <p:extLst>
      <p:ext uri="{BB962C8B-B14F-4D97-AF65-F5344CB8AC3E}">
        <p14:creationId xmlns:p14="http://schemas.microsoft.com/office/powerpoint/2010/main" val="18813895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3200" y="152400"/>
            <a:ext cx="11785600" cy="838200"/>
          </a:xfrm>
        </p:spPr>
        <p:txBody>
          <a:bodyPr/>
          <a:lstStyle>
            <a:lvl1pPr algn="ctr">
              <a:defRPr sz="3600" b="1">
                <a:solidFill>
                  <a:schemeClr val="tx1"/>
                </a:solidFill>
              </a:defRPr>
            </a:lvl1pPr>
          </a:lstStyle>
          <a:p>
            <a:r>
              <a:rPr lang="en-US" dirty="0"/>
              <a:t>Click to edit Master title style</a:t>
            </a:r>
          </a:p>
        </p:txBody>
      </p:sp>
      <p:sp>
        <p:nvSpPr>
          <p:cNvPr id="3" name="Content Placeholder 2"/>
          <p:cNvSpPr>
            <a:spLocks noGrp="1"/>
          </p:cNvSpPr>
          <p:nvPr>
            <p:ph idx="1"/>
          </p:nvPr>
        </p:nvSpPr>
        <p:spPr>
          <a:xfrm>
            <a:off x="203200" y="1066800"/>
            <a:ext cx="11785600" cy="4419600"/>
          </a:xfrm>
        </p:spPr>
        <p:txBody>
          <a:bodyPr/>
          <a:lstStyle>
            <a:lvl1pPr marL="457200" indent="-457200">
              <a:buClrTx/>
              <a:buFont typeface="Arial" panose="020B0604020202020204" pitchFamily="34" charset="0"/>
              <a:buChar char="•"/>
              <a:defRPr b="1"/>
            </a:lvl1pPr>
          </a:lstStyle>
          <a:p>
            <a:pPr lvl="0"/>
            <a:r>
              <a:rPr lang="en-US" dirty="0"/>
              <a:t>Click to edit Master text styles</a:t>
            </a:r>
          </a:p>
        </p:txBody>
      </p:sp>
    </p:spTree>
    <p:extLst>
      <p:ext uri="{BB962C8B-B14F-4D97-AF65-F5344CB8AC3E}">
        <p14:creationId xmlns:p14="http://schemas.microsoft.com/office/powerpoint/2010/main" val="42229816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Slide Number Placeholder 3"/>
          <p:cNvSpPr>
            <a:spLocks noGrp="1"/>
          </p:cNvSpPr>
          <p:nvPr>
            <p:ph type="sldNum" sz="quarter" idx="10"/>
          </p:nvPr>
        </p:nvSpPr>
        <p:spPr>
          <a:xfrm>
            <a:off x="146051" y="6288088"/>
            <a:ext cx="1219200" cy="457200"/>
          </a:xfrm>
          <a:prstGeom prst="rect">
            <a:avLst/>
          </a:prstGeom>
        </p:spPr>
        <p:txBody>
          <a:bodyPr/>
          <a:lstStyle>
            <a:lvl1pPr>
              <a:defRPr/>
            </a:lvl1pPr>
          </a:lstStyle>
          <a:p>
            <a:pPr eaLnBrk="0" fontAlgn="base" hangingPunct="0">
              <a:spcBef>
                <a:spcPct val="0"/>
              </a:spcBef>
              <a:spcAft>
                <a:spcPct val="0"/>
              </a:spcAft>
            </a:pPr>
            <a:fld id="{42551609-7012-4524-8F91-CAEC89A8DA26}" type="slidenum">
              <a:rPr lang="en-US" sz="2400">
                <a:solidFill>
                  <a:srgbClr val="000000"/>
                </a:solidFill>
                <a:cs typeface="Times New Roman" pitchFamily="18" charset="0"/>
              </a:rPr>
              <a:pPr eaLnBrk="0" fontAlgn="base" hangingPunct="0">
                <a:spcBef>
                  <a:spcPct val="0"/>
                </a:spcBef>
                <a:spcAft>
                  <a:spcPct val="0"/>
                </a:spcAft>
              </a:pPr>
              <a:t>‹#›</a:t>
            </a:fld>
            <a:endParaRPr lang="en-US" sz="2400">
              <a:solidFill>
                <a:srgbClr val="000000"/>
              </a:solidFill>
              <a:cs typeface="Times New Roman" pitchFamily="18" charset="0"/>
            </a:endParaRPr>
          </a:p>
        </p:txBody>
      </p:sp>
    </p:spTree>
    <p:extLst>
      <p:ext uri="{BB962C8B-B14F-4D97-AF65-F5344CB8AC3E}">
        <p14:creationId xmlns:p14="http://schemas.microsoft.com/office/powerpoint/2010/main" val="2601674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117600" y="16764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00800" y="16764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p:cNvSpPr>
            <a:spLocks noGrp="1"/>
          </p:cNvSpPr>
          <p:nvPr>
            <p:ph type="sldNum" sz="quarter" idx="10"/>
          </p:nvPr>
        </p:nvSpPr>
        <p:spPr>
          <a:xfrm>
            <a:off x="146051" y="6288088"/>
            <a:ext cx="1219200" cy="457200"/>
          </a:xfrm>
          <a:prstGeom prst="rect">
            <a:avLst/>
          </a:prstGeom>
        </p:spPr>
        <p:txBody>
          <a:bodyPr/>
          <a:lstStyle>
            <a:lvl1pPr>
              <a:defRPr/>
            </a:lvl1pPr>
          </a:lstStyle>
          <a:p>
            <a:pPr eaLnBrk="0" fontAlgn="base" hangingPunct="0">
              <a:spcBef>
                <a:spcPct val="0"/>
              </a:spcBef>
              <a:spcAft>
                <a:spcPct val="0"/>
              </a:spcAft>
            </a:pPr>
            <a:fld id="{EC38EB37-9F67-488F-AFCB-318363D4DA79}" type="slidenum">
              <a:rPr lang="en-US" sz="2400">
                <a:solidFill>
                  <a:srgbClr val="000000"/>
                </a:solidFill>
                <a:cs typeface="Times New Roman" pitchFamily="18" charset="0"/>
              </a:rPr>
              <a:pPr eaLnBrk="0" fontAlgn="base" hangingPunct="0">
                <a:spcBef>
                  <a:spcPct val="0"/>
                </a:spcBef>
                <a:spcAft>
                  <a:spcPct val="0"/>
                </a:spcAft>
              </a:pPr>
              <a:t>‹#›</a:t>
            </a:fld>
            <a:endParaRPr lang="en-US" sz="2400">
              <a:solidFill>
                <a:srgbClr val="000000"/>
              </a:solidFill>
              <a:cs typeface="Times New Roman" pitchFamily="18" charset="0"/>
            </a:endParaRPr>
          </a:p>
        </p:txBody>
      </p:sp>
    </p:spTree>
    <p:extLst>
      <p:ext uri="{BB962C8B-B14F-4D97-AF65-F5344CB8AC3E}">
        <p14:creationId xmlns:p14="http://schemas.microsoft.com/office/powerpoint/2010/main" val="38452108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0"/>
          </p:nvPr>
        </p:nvSpPr>
        <p:spPr>
          <a:xfrm>
            <a:off x="146051" y="6288088"/>
            <a:ext cx="1219200" cy="457200"/>
          </a:xfrm>
          <a:prstGeom prst="rect">
            <a:avLst/>
          </a:prstGeom>
        </p:spPr>
        <p:txBody>
          <a:bodyPr/>
          <a:lstStyle>
            <a:lvl1pPr>
              <a:defRPr/>
            </a:lvl1pPr>
          </a:lstStyle>
          <a:p>
            <a:pPr eaLnBrk="0" fontAlgn="base" hangingPunct="0">
              <a:spcBef>
                <a:spcPct val="0"/>
              </a:spcBef>
              <a:spcAft>
                <a:spcPct val="0"/>
              </a:spcAft>
            </a:pPr>
            <a:fld id="{325EC937-4EEB-42FF-9745-F8ECC712C67B}" type="slidenum">
              <a:rPr lang="en-US" sz="2400">
                <a:solidFill>
                  <a:srgbClr val="000000"/>
                </a:solidFill>
                <a:cs typeface="Times New Roman" pitchFamily="18" charset="0"/>
              </a:rPr>
              <a:pPr eaLnBrk="0" fontAlgn="base" hangingPunct="0">
                <a:spcBef>
                  <a:spcPct val="0"/>
                </a:spcBef>
                <a:spcAft>
                  <a:spcPct val="0"/>
                </a:spcAft>
              </a:pPr>
              <a:t>‹#›</a:t>
            </a:fld>
            <a:endParaRPr lang="en-US" sz="2400">
              <a:solidFill>
                <a:srgbClr val="000000"/>
              </a:solidFill>
              <a:cs typeface="Times New Roman" pitchFamily="18" charset="0"/>
            </a:endParaRPr>
          </a:p>
        </p:txBody>
      </p:sp>
    </p:spTree>
    <p:extLst>
      <p:ext uri="{BB962C8B-B14F-4D97-AF65-F5344CB8AC3E}">
        <p14:creationId xmlns:p14="http://schemas.microsoft.com/office/powerpoint/2010/main" val="40976073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Slide Number Placeholder 2"/>
          <p:cNvSpPr>
            <a:spLocks noGrp="1"/>
          </p:cNvSpPr>
          <p:nvPr>
            <p:ph type="sldNum" sz="quarter" idx="10"/>
          </p:nvPr>
        </p:nvSpPr>
        <p:spPr>
          <a:xfrm>
            <a:off x="146051" y="6288088"/>
            <a:ext cx="1219200" cy="457200"/>
          </a:xfrm>
          <a:prstGeom prst="rect">
            <a:avLst/>
          </a:prstGeom>
        </p:spPr>
        <p:txBody>
          <a:bodyPr/>
          <a:lstStyle>
            <a:lvl1pPr>
              <a:defRPr/>
            </a:lvl1pPr>
          </a:lstStyle>
          <a:p>
            <a:pPr eaLnBrk="0" fontAlgn="base" hangingPunct="0">
              <a:spcBef>
                <a:spcPct val="0"/>
              </a:spcBef>
              <a:spcAft>
                <a:spcPct val="0"/>
              </a:spcAft>
            </a:pPr>
            <a:fld id="{26E09F27-08E5-47E1-9081-CDEF6FA99715}" type="slidenum">
              <a:rPr lang="en-US" sz="2400">
                <a:solidFill>
                  <a:srgbClr val="000000"/>
                </a:solidFill>
                <a:cs typeface="Times New Roman" pitchFamily="18" charset="0"/>
              </a:rPr>
              <a:pPr eaLnBrk="0" fontAlgn="base" hangingPunct="0">
                <a:spcBef>
                  <a:spcPct val="0"/>
                </a:spcBef>
                <a:spcAft>
                  <a:spcPct val="0"/>
                </a:spcAft>
              </a:pPr>
              <a:t>‹#›</a:t>
            </a:fld>
            <a:endParaRPr lang="en-US" sz="2400">
              <a:solidFill>
                <a:srgbClr val="000000"/>
              </a:solidFill>
              <a:cs typeface="Times New Roman" pitchFamily="18" charset="0"/>
            </a:endParaRPr>
          </a:p>
        </p:txBody>
      </p:sp>
    </p:spTree>
    <p:extLst>
      <p:ext uri="{BB962C8B-B14F-4D97-AF65-F5344CB8AC3E}">
        <p14:creationId xmlns:p14="http://schemas.microsoft.com/office/powerpoint/2010/main" val="303897809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a:xfrm>
            <a:off x="10972800" y="6561667"/>
            <a:ext cx="1219200" cy="296333"/>
          </a:xfrm>
          <a:prstGeom prst="rect">
            <a:avLst/>
          </a:prstGeom>
        </p:spPr>
        <p:txBody>
          <a:bodyPr/>
          <a:lstStyle>
            <a:lvl1pPr algn="r">
              <a:defRPr sz="1200">
                <a:solidFill>
                  <a:srgbClr val="00B050"/>
                </a:solidFill>
              </a:defRPr>
            </a:lvl1pPr>
          </a:lstStyle>
          <a:p>
            <a:pPr eaLnBrk="0" fontAlgn="base" hangingPunct="0">
              <a:spcBef>
                <a:spcPct val="0"/>
              </a:spcBef>
              <a:spcAft>
                <a:spcPct val="0"/>
              </a:spcAft>
            </a:pPr>
            <a:fld id="{CC251E47-B223-48F4-A299-CE4A766087D6}" type="slidenum">
              <a:rPr lang="en-US" smtClean="0">
                <a:cs typeface="Times New Roman" pitchFamily="18" charset="0"/>
              </a:rPr>
              <a:pPr eaLnBrk="0" fontAlgn="base" hangingPunct="0">
                <a:spcBef>
                  <a:spcPct val="0"/>
                </a:spcBef>
                <a:spcAft>
                  <a:spcPct val="0"/>
                </a:spcAft>
              </a:pPr>
              <a:t>‹#›</a:t>
            </a:fld>
            <a:endParaRPr lang="en-US" dirty="0">
              <a:cs typeface="Times New Roman" pitchFamily="18" charset="0"/>
            </a:endParaRPr>
          </a:p>
        </p:txBody>
      </p:sp>
    </p:spTree>
    <p:extLst>
      <p:ext uri="{BB962C8B-B14F-4D97-AF65-F5344CB8AC3E}">
        <p14:creationId xmlns:p14="http://schemas.microsoft.com/office/powerpoint/2010/main" val="1792245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a:xfrm>
            <a:off x="146051" y="6288088"/>
            <a:ext cx="1219200" cy="457200"/>
          </a:xfrm>
          <a:prstGeom prst="rect">
            <a:avLst/>
          </a:prstGeom>
        </p:spPr>
        <p:txBody>
          <a:bodyPr/>
          <a:lstStyle>
            <a:lvl1pPr>
              <a:defRPr/>
            </a:lvl1pPr>
          </a:lstStyle>
          <a:p>
            <a:pPr eaLnBrk="0" fontAlgn="base" hangingPunct="0">
              <a:spcBef>
                <a:spcPct val="0"/>
              </a:spcBef>
              <a:spcAft>
                <a:spcPct val="0"/>
              </a:spcAft>
            </a:pPr>
            <a:fld id="{5BB27830-E813-4D5B-BECC-EB4E76333BEB}" type="slidenum">
              <a:rPr lang="en-US" sz="2400">
                <a:solidFill>
                  <a:srgbClr val="000000"/>
                </a:solidFill>
                <a:cs typeface="Times New Roman" pitchFamily="18" charset="0"/>
              </a:rPr>
              <a:pPr eaLnBrk="0" fontAlgn="base" hangingPunct="0">
                <a:spcBef>
                  <a:spcPct val="0"/>
                </a:spcBef>
                <a:spcAft>
                  <a:spcPct val="0"/>
                </a:spcAft>
              </a:pPr>
              <a:t>‹#›</a:t>
            </a:fld>
            <a:endParaRPr lang="en-US" sz="2400">
              <a:solidFill>
                <a:srgbClr val="000000"/>
              </a:solidFill>
              <a:cs typeface="Times New Roman" pitchFamily="18" charset="0"/>
            </a:endParaRPr>
          </a:p>
        </p:txBody>
      </p:sp>
    </p:spTree>
    <p:extLst>
      <p:ext uri="{BB962C8B-B14F-4D97-AF65-F5344CB8AC3E}">
        <p14:creationId xmlns:p14="http://schemas.microsoft.com/office/powerpoint/2010/main" val="9310888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p:cNvSpPr>
            <a:spLocks noGrp="1"/>
          </p:cNvSpPr>
          <p:nvPr>
            <p:ph type="sldNum" sz="quarter" idx="10"/>
          </p:nvPr>
        </p:nvSpPr>
        <p:spPr>
          <a:xfrm>
            <a:off x="146051" y="6288088"/>
            <a:ext cx="1219200" cy="457200"/>
          </a:xfrm>
          <a:prstGeom prst="rect">
            <a:avLst/>
          </a:prstGeom>
        </p:spPr>
        <p:txBody>
          <a:bodyPr/>
          <a:lstStyle>
            <a:lvl1pPr>
              <a:defRPr/>
            </a:lvl1pPr>
          </a:lstStyle>
          <a:p>
            <a:pPr eaLnBrk="0" fontAlgn="base" hangingPunct="0">
              <a:spcBef>
                <a:spcPct val="0"/>
              </a:spcBef>
              <a:spcAft>
                <a:spcPct val="0"/>
              </a:spcAft>
            </a:pPr>
            <a:fld id="{8950E5CE-EF1E-495C-8D34-E9307ADFFB20}" type="slidenum">
              <a:rPr lang="en-US" sz="2400">
                <a:solidFill>
                  <a:srgbClr val="000000"/>
                </a:solidFill>
                <a:cs typeface="Times New Roman" pitchFamily="18" charset="0"/>
              </a:rPr>
              <a:pPr eaLnBrk="0" fontAlgn="base" hangingPunct="0">
                <a:spcBef>
                  <a:spcPct val="0"/>
                </a:spcBef>
                <a:spcAft>
                  <a:spcPct val="0"/>
                </a:spcAft>
              </a:pPr>
              <a:t>‹#›</a:t>
            </a:fld>
            <a:endParaRPr lang="en-US" sz="2400">
              <a:solidFill>
                <a:srgbClr val="000000"/>
              </a:solidFill>
              <a:cs typeface="Times New Roman" pitchFamily="18" charset="0"/>
            </a:endParaRPr>
          </a:p>
        </p:txBody>
      </p:sp>
    </p:spTree>
    <p:extLst>
      <p:ext uri="{BB962C8B-B14F-4D97-AF65-F5344CB8AC3E}">
        <p14:creationId xmlns:p14="http://schemas.microsoft.com/office/powerpoint/2010/main" val="17741841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a:xfrm>
            <a:off x="146051" y="6288088"/>
            <a:ext cx="1219200" cy="457200"/>
          </a:xfrm>
          <a:prstGeom prst="rect">
            <a:avLst/>
          </a:prstGeom>
        </p:spPr>
        <p:txBody>
          <a:bodyPr/>
          <a:lstStyle>
            <a:lvl1pPr>
              <a:defRPr/>
            </a:lvl1pPr>
          </a:lstStyle>
          <a:p>
            <a:pPr eaLnBrk="0" fontAlgn="base" hangingPunct="0">
              <a:spcBef>
                <a:spcPct val="0"/>
              </a:spcBef>
              <a:spcAft>
                <a:spcPct val="0"/>
              </a:spcAft>
            </a:pPr>
            <a:fld id="{EDA7D03F-0D9F-4D6E-A9DA-DA22B08C88FB}" type="slidenum">
              <a:rPr lang="en-US" sz="2400">
                <a:solidFill>
                  <a:srgbClr val="000000"/>
                </a:solidFill>
                <a:cs typeface="Times New Roman" pitchFamily="18" charset="0"/>
              </a:rPr>
              <a:pPr eaLnBrk="0" fontAlgn="base" hangingPunct="0">
                <a:spcBef>
                  <a:spcPct val="0"/>
                </a:spcBef>
                <a:spcAft>
                  <a:spcPct val="0"/>
                </a:spcAft>
              </a:pPr>
              <a:t>‹#›</a:t>
            </a:fld>
            <a:endParaRPr lang="en-US" sz="2400">
              <a:solidFill>
                <a:srgbClr val="000000"/>
              </a:solidFill>
              <a:cs typeface="Times New Roman" pitchFamily="18" charset="0"/>
            </a:endParaRPr>
          </a:p>
        </p:txBody>
      </p:sp>
    </p:spTree>
    <p:extLst>
      <p:ext uri="{BB962C8B-B14F-4D97-AF65-F5344CB8AC3E}">
        <p14:creationId xmlns:p14="http://schemas.microsoft.com/office/powerpoint/2010/main" val="415079236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90000" y="304800"/>
            <a:ext cx="25908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117600" y="304800"/>
            <a:ext cx="75692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Slide Number Placeholder 3"/>
          <p:cNvSpPr>
            <a:spLocks noGrp="1"/>
          </p:cNvSpPr>
          <p:nvPr>
            <p:ph type="sldNum" sz="quarter" idx="10"/>
          </p:nvPr>
        </p:nvSpPr>
        <p:spPr>
          <a:xfrm>
            <a:off x="146051" y="6288088"/>
            <a:ext cx="1219200" cy="457200"/>
          </a:xfrm>
          <a:prstGeom prst="rect">
            <a:avLst/>
          </a:prstGeom>
        </p:spPr>
        <p:txBody>
          <a:bodyPr/>
          <a:lstStyle>
            <a:lvl1pPr>
              <a:defRPr/>
            </a:lvl1pPr>
          </a:lstStyle>
          <a:p>
            <a:pPr eaLnBrk="0" fontAlgn="base" hangingPunct="0">
              <a:spcBef>
                <a:spcPct val="0"/>
              </a:spcBef>
              <a:spcAft>
                <a:spcPct val="0"/>
              </a:spcAft>
            </a:pPr>
            <a:fld id="{5D488692-0FB6-433E-9CFB-08D03A34DD8A}" type="slidenum">
              <a:rPr lang="en-US" sz="2400">
                <a:solidFill>
                  <a:srgbClr val="000000"/>
                </a:solidFill>
                <a:cs typeface="Times New Roman" pitchFamily="18" charset="0"/>
              </a:rPr>
              <a:pPr eaLnBrk="0" fontAlgn="base" hangingPunct="0">
                <a:spcBef>
                  <a:spcPct val="0"/>
                </a:spcBef>
                <a:spcAft>
                  <a:spcPct val="0"/>
                </a:spcAft>
              </a:pPr>
              <a:t>‹#›</a:t>
            </a:fld>
            <a:endParaRPr lang="en-US" sz="2400">
              <a:solidFill>
                <a:srgbClr val="000000"/>
              </a:solidFill>
              <a:cs typeface="Times New Roman" pitchFamily="18" charset="0"/>
            </a:endParaRPr>
          </a:p>
        </p:txBody>
      </p:sp>
    </p:spTree>
    <p:extLst>
      <p:ext uri="{BB962C8B-B14F-4D97-AF65-F5344CB8AC3E}">
        <p14:creationId xmlns:p14="http://schemas.microsoft.com/office/powerpoint/2010/main" val="130808461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FBEA1CB-4D74-49D7-850C-BE55293794E4}" type="datetimeFigureOut">
              <a:rPr lang="en-US" smtClean="0"/>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7EF8A6-030E-4873-93A8-D580ED24D91F}" type="slidenum">
              <a:rPr lang="en-US" smtClean="0"/>
              <a:t>‹#›</a:t>
            </a:fld>
            <a:endParaRPr lang="en-US"/>
          </a:p>
        </p:txBody>
      </p:sp>
    </p:spTree>
    <p:extLst>
      <p:ext uri="{BB962C8B-B14F-4D97-AF65-F5344CB8AC3E}">
        <p14:creationId xmlns:p14="http://schemas.microsoft.com/office/powerpoint/2010/main" val="1026481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BEA1CB-4D74-49D7-850C-BE55293794E4}" type="datetimeFigureOut">
              <a:rPr lang="en-US" smtClean="0"/>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7EF8A6-030E-4873-93A8-D580ED24D91F}" type="slidenum">
              <a:rPr lang="en-US" smtClean="0"/>
              <a:t>‹#›</a:t>
            </a:fld>
            <a:endParaRPr lang="en-US"/>
          </a:p>
        </p:txBody>
      </p:sp>
    </p:spTree>
    <p:extLst>
      <p:ext uri="{BB962C8B-B14F-4D97-AF65-F5344CB8AC3E}">
        <p14:creationId xmlns:p14="http://schemas.microsoft.com/office/powerpoint/2010/main" val="230263637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FBEA1CB-4D74-49D7-850C-BE55293794E4}" type="datetimeFigureOut">
              <a:rPr lang="en-US" smtClean="0"/>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7EF8A6-030E-4873-93A8-D580ED24D91F}" type="slidenum">
              <a:rPr lang="en-US" smtClean="0"/>
              <a:t>‹#›</a:t>
            </a:fld>
            <a:endParaRPr lang="en-US"/>
          </a:p>
        </p:txBody>
      </p:sp>
    </p:spTree>
    <p:extLst>
      <p:ext uri="{BB962C8B-B14F-4D97-AF65-F5344CB8AC3E}">
        <p14:creationId xmlns:p14="http://schemas.microsoft.com/office/powerpoint/2010/main" val="20806003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FBEA1CB-4D74-49D7-850C-BE55293794E4}" type="datetimeFigureOut">
              <a:rPr lang="en-US" smtClean="0"/>
              <a:t>8/23/2025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7EF8A6-030E-4873-93A8-D580ED24D91F}" type="slidenum">
              <a:rPr lang="en-US" smtClean="0"/>
              <a:t>‹#›</a:t>
            </a:fld>
            <a:endParaRPr lang="en-US"/>
          </a:p>
        </p:txBody>
      </p:sp>
    </p:spTree>
    <p:extLst>
      <p:ext uri="{BB962C8B-B14F-4D97-AF65-F5344CB8AC3E}">
        <p14:creationId xmlns:p14="http://schemas.microsoft.com/office/powerpoint/2010/main" val="38673583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FBEA1CB-4D74-49D7-850C-BE55293794E4}" type="datetimeFigureOut">
              <a:rPr lang="en-US" smtClean="0"/>
              <a:t>8/23/2025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A7EF8A6-030E-4873-93A8-D580ED24D91F}" type="slidenum">
              <a:rPr lang="en-US" smtClean="0"/>
              <a:t>‹#›</a:t>
            </a:fld>
            <a:endParaRPr lang="en-US"/>
          </a:p>
        </p:txBody>
      </p:sp>
    </p:spTree>
    <p:extLst>
      <p:ext uri="{BB962C8B-B14F-4D97-AF65-F5344CB8AC3E}">
        <p14:creationId xmlns:p14="http://schemas.microsoft.com/office/powerpoint/2010/main" val="21217276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FBEA1CB-4D74-49D7-850C-BE55293794E4}" type="datetimeFigureOut">
              <a:rPr lang="en-US" smtClean="0"/>
              <a:t>8/23/2025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A7EF8A6-030E-4873-93A8-D580ED24D91F}" type="slidenum">
              <a:rPr lang="en-US" smtClean="0"/>
              <a:t>‹#›</a:t>
            </a:fld>
            <a:endParaRPr lang="en-US"/>
          </a:p>
        </p:txBody>
      </p:sp>
    </p:spTree>
    <p:extLst>
      <p:ext uri="{BB962C8B-B14F-4D97-AF65-F5344CB8AC3E}">
        <p14:creationId xmlns:p14="http://schemas.microsoft.com/office/powerpoint/2010/main" val="174210555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BEA1CB-4D74-49D7-850C-BE55293794E4}" type="datetimeFigureOut">
              <a:rPr lang="en-US" smtClean="0"/>
              <a:t>8/23/2025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A7EF8A6-030E-4873-93A8-D580ED24D91F}" type="slidenum">
              <a:rPr lang="en-US" smtClean="0"/>
              <a:t>‹#›</a:t>
            </a:fld>
            <a:endParaRPr lang="en-US"/>
          </a:p>
        </p:txBody>
      </p:sp>
    </p:spTree>
    <p:extLst>
      <p:ext uri="{BB962C8B-B14F-4D97-AF65-F5344CB8AC3E}">
        <p14:creationId xmlns:p14="http://schemas.microsoft.com/office/powerpoint/2010/main" val="80563399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FBEA1CB-4D74-49D7-850C-BE55293794E4}" type="datetimeFigureOut">
              <a:rPr lang="en-US" smtClean="0"/>
              <a:t>8/23/2025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7EF8A6-030E-4873-93A8-D580ED24D91F}" type="slidenum">
              <a:rPr lang="en-US" smtClean="0"/>
              <a:t>‹#›</a:t>
            </a:fld>
            <a:endParaRPr lang="en-US"/>
          </a:p>
        </p:txBody>
      </p:sp>
    </p:spTree>
    <p:extLst>
      <p:ext uri="{BB962C8B-B14F-4D97-AF65-F5344CB8AC3E}">
        <p14:creationId xmlns:p14="http://schemas.microsoft.com/office/powerpoint/2010/main" val="79030226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FBEA1CB-4D74-49D7-850C-BE55293794E4}" type="datetimeFigureOut">
              <a:rPr lang="en-US" smtClean="0"/>
              <a:t>8/23/2025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7EF8A6-030E-4873-93A8-D580ED24D91F}" type="slidenum">
              <a:rPr lang="en-US" smtClean="0"/>
              <a:t>‹#›</a:t>
            </a:fld>
            <a:endParaRPr lang="en-US"/>
          </a:p>
        </p:txBody>
      </p:sp>
    </p:spTree>
    <p:extLst>
      <p:ext uri="{BB962C8B-B14F-4D97-AF65-F5344CB8AC3E}">
        <p14:creationId xmlns:p14="http://schemas.microsoft.com/office/powerpoint/2010/main" val="290340676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BEA1CB-4D74-49D7-850C-BE55293794E4}" type="datetimeFigureOut">
              <a:rPr lang="en-US" smtClean="0"/>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7EF8A6-030E-4873-93A8-D580ED24D91F}" type="slidenum">
              <a:rPr lang="en-US" smtClean="0"/>
              <a:t>‹#›</a:t>
            </a:fld>
            <a:endParaRPr lang="en-US"/>
          </a:p>
        </p:txBody>
      </p:sp>
    </p:spTree>
    <p:extLst>
      <p:ext uri="{BB962C8B-B14F-4D97-AF65-F5344CB8AC3E}">
        <p14:creationId xmlns:p14="http://schemas.microsoft.com/office/powerpoint/2010/main" val="367619120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BEA1CB-4D74-49D7-850C-BE55293794E4}" type="datetimeFigureOut">
              <a:rPr lang="en-US" smtClean="0"/>
              <a:t>8/23/2025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7EF8A6-030E-4873-93A8-D580ED24D91F}" type="slidenum">
              <a:rPr lang="en-US" smtClean="0"/>
              <a:t>‹#›</a:t>
            </a:fld>
            <a:endParaRPr lang="en-US"/>
          </a:p>
        </p:txBody>
      </p:sp>
    </p:spTree>
    <p:extLst>
      <p:ext uri="{BB962C8B-B14F-4D97-AF65-F5344CB8AC3E}">
        <p14:creationId xmlns:p14="http://schemas.microsoft.com/office/powerpoint/2010/main" val="204562293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userDrawn="1">
  <p:cSld name="1_Title Slide">
    <p:spTree>
      <p:nvGrpSpPr>
        <p:cNvPr id="1" name=""/>
        <p:cNvGrpSpPr/>
        <p:nvPr/>
      </p:nvGrpSpPr>
      <p:grpSpPr>
        <a:xfrm>
          <a:off x="0" y="0"/>
          <a:ext cx="0" cy="0"/>
          <a:chOff x="0" y="0"/>
          <a:chExt cx="0" cy="0"/>
        </a:xfrm>
      </p:grpSpPr>
      <p:sp>
        <p:nvSpPr>
          <p:cNvPr id="4125" name="Line 29"/>
          <p:cNvSpPr>
            <a:spLocks noChangeShapeType="1"/>
          </p:cNvSpPr>
          <p:nvPr userDrawn="1"/>
        </p:nvSpPr>
        <p:spPr bwMode="auto">
          <a:xfrm>
            <a:off x="1117600" y="457200"/>
            <a:ext cx="0" cy="6096000"/>
          </a:xfrm>
          <a:prstGeom prst="line">
            <a:avLst/>
          </a:prstGeom>
          <a:noFill/>
          <a:ln w="9525">
            <a:solidFill>
              <a:schemeClr val="bg1"/>
            </a:solidFill>
            <a:round/>
            <a:headEnd/>
            <a:tailEnd/>
          </a:ln>
        </p:spPr>
        <p:txBody>
          <a:bodyPr wrap="none" anchor="ctr"/>
          <a:lstStyle/>
          <a:p>
            <a:endParaRPr lang="en-US" sz="1800"/>
          </a:p>
        </p:txBody>
      </p:sp>
      <p:sp>
        <p:nvSpPr>
          <p:cNvPr id="4126" name="Line 30"/>
          <p:cNvSpPr>
            <a:spLocks noChangeShapeType="1"/>
          </p:cNvSpPr>
          <p:nvPr userDrawn="1"/>
        </p:nvSpPr>
        <p:spPr bwMode="auto">
          <a:xfrm>
            <a:off x="1117600" y="6553200"/>
            <a:ext cx="10566400" cy="0"/>
          </a:xfrm>
          <a:prstGeom prst="line">
            <a:avLst/>
          </a:prstGeom>
          <a:noFill/>
          <a:ln w="9525">
            <a:solidFill>
              <a:schemeClr val="bg1"/>
            </a:solidFill>
            <a:round/>
            <a:headEnd/>
            <a:tailEnd/>
          </a:ln>
        </p:spPr>
        <p:txBody>
          <a:bodyPr wrap="none" anchor="ctr"/>
          <a:lstStyle/>
          <a:p>
            <a:endParaRPr lang="en-US" sz="1800"/>
          </a:p>
        </p:txBody>
      </p:sp>
      <p:sp>
        <p:nvSpPr>
          <p:cNvPr id="4127" name="Line 31"/>
          <p:cNvSpPr>
            <a:spLocks noChangeShapeType="1"/>
          </p:cNvSpPr>
          <p:nvPr userDrawn="1"/>
        </p:nvSpPr>
        <p:spPr bwMode="auto">
          <a:xfrm flipV="1">
            <a:off x="11684000" y="5791200"/>
            <a:ext cx="0" cy="762000"/>
          </a:xfrm>
          <a:prstGeom prst="line">
            <a:avLst/>
          </a:prstGeom>
          <a:noFill/>
          <a:ln w="9525">
            <a:solidFill>
              <a:schemeClr val="bg1"/>
            </a:solidFill>
            <a:round/>
            <a:headEnd/>
            <a:tailEnd/>
          </a:ln>
        </p:spPr>
        <p:txBody>
          <a:bodyPr wrap="none" anchor="ctr"/>
          <a:lstStyle/>
          <a:p>
            <a:endParaRPr lang="en-US" sz="1800"/>
          </a:p>
        </p:txBody>
      </p:sp>
      <p:sp>
        <p:nvSpPr>
          <p:cNvPr id="4128" name="Line 32"/>
          <p:cNvSpPr>
            <a:spLocks noChangeShapeType="1"/>
          </p:cNvSpPr>
          <p:nvPr userDrawn="1"/>
        </p:nvSpPr>
        <p:spPr bwMode="auto">
          <a:xfrm flipH="1">
            <a:off x="8636000" y="5791200"/>
            <a:ext cx="3048000" cy="0"/>
          </a:xfrm>
          <a:prstGeom prst="line">
            <a:avLst/>
          </a:prstGeom>
          <a:noFill/>
          <a:ln w="9525">
            <a:solidFill>
              <a:schemeClr val="bg1"/>
            </a:solidFill>
            <a:round/>
            <a:headEnd/>
            <a:tailEnd/>
          </a:ln>
        </p:spPr>
        <p:txBody>
          <a:bodyPr wrap="none" anchor="ctr"/>
          <a:lstStyle/>
          <a:p>
            <a:endParaRPr lang="en-US" sz="1800"/>
          </a:p>
        </p:txBody>
      </p:sp>
      <p:sp>
        <p:nvSpPr>
          <p:cNvPr id="4131" name="Line 35"/>
          <p:cNvSpPr>
            <a:spLocks noChangeShapeType="1"/>
          </p:cNvSpPr>
          <p:nvPr userDrawn="1"/>
        </p:nvSpPr>
        <p:spPr bwMode="auto">
          <a:xfrm>
            <a:off x="1117600" y="457200"/>
            <a:ext cx="1727200" cy="0"/>
          </a:xfrm>
          <a:prstGeom prst="line">
            <a:avLst/>
          </a:prstGeom>
          <a:noFill/>
          <a:ln w="9525">
            <a:solidFill>
              <a:schemeClr val="bg1"/>
            </a:solidFill>
            <a:round/>
            <a:headEnd/>
            <a:tailEnd/>
          </a:ln>
        </p:spPr>
        <p:txBody>
          <a:bodyPr wrap="none" anchor="ctr"/>
          <a:lstStyle/>
          <a:p>
            <a:endParaRPr lang="en-US" sz="1800"/>
          </a:p>
        </p:txBody>
      </p:sp>
    </p:spTree>
    <p:extLst>
      <p:ext uri="{BB962C8B-B14F-4D97-AF65-F5344CB8AC3E}">
        <p14:creationId xmlns:p14="http://schemas.microsoft.com/office/powerpoint/2010/main" val="40129327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117600" y="304800"/>
            <a:ext cx="10363200" cy="1143000"/>
          </a:xfrm>
          <a:prstGeom prst="rect">
            <a:avLst/>
          </a:prstGeom>
          <a:noFill/>
          <a:ln w="9525">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1117600" y="1676400"/>
            <a:ext cx="10363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p:txBody>
      </p:sp>
      <p:sp>
        <p:nvSpPr>
          <p:cNvPr id="1042" name="Line 18"/>
          <p:cNvSpPr>
            <a:spLocks noChangeShapeType="1"/>
          </p:cNvSpPr>
          <p:nvPr userDrawn="1"/>
        </p:nvSpPr>
        <p:spPr bwMode="auto">
          <a:xfrm>
            <a:off x="203200" y="6629400"/>
            <a:ext cx="711200" cy="0"/>
          </a:xfrm>
          <a:prstGeom prst="line">
            <a:avLst/>
          </a:prstGeom>
          <a:noFill/>
          <a:ln w="9525">
            <a:solidFill>
              <a:schemeClr val="bg1"/>
            </a:solidFill>
            <a:round/>
            <a:headEnd/>
            <a:tailEnd/>
          </a:ln>
        </p:spPr>
        <p:txBody>
          <a:bodyPr/>
          <a:lstStyle/>
          <a:p>
            <a:pPr eaLnBrk="0" fontAlgn="base" hangingPunct="0">
              <a:spcBef>
                <a:spcPct val="0"/>
              </a:spcBef>
              <a:spcAft>
                <a:spcPct val="0"/>
              </a:spcAft>
            </a:pPr>
            <a:endParaRPr lang="en-US" sz="2400">
              <a:solidFill>
                <a:srgbClr val="000000"/>
              </a:solidFill>
            </a:endParaRPr>
          </a:p>
        </p:txBody>
      </p:sp>
      <p:sp>
        <p:nvSpPr>
          <p:cNvPr id="1043" name="Line 19"/>
          <p:cNvSpPr>
            <a:spLocks noChangeShapeType="1"/>
          </p:cNvSpPr>
          <p:nvPr userDrawn="1"/>
        </p:nvSpPr>
        <p:spPr bwMode="auto">
          <a:xfrm flipV="1">
            <a:off x="203200" y="6400800"/>
            <a:ext cx="0" cy="228600"/>
          </a:xfrm>
          <a:prstGeom prst="line">
            <a:avLst/>
          </a:prstGeom>
          <a:noFill/>
          <a:ln w="9525">
            <a:solidFill>
              <a:schemeClr val="bg1"/>
            </a:solidFill>
            <a:round/>
            <a:headEnd/>
            <a:tailEnd/>
          </a:ln>
        </p:spPr>
        <p:txBody>
          <a:bodyPr wrap="none" anchor="ctr"/>
          <a:lstStyle/>
          <a:p>
            <a:pPr eaLnBrk="0" fontAlgn="base" hangingPunct="0">
              <a:spcBef>
                <a:spcPct val="0"/>
              </a:spcBef>
              <a:spcAft>
                <a:spcPct val="0"/>
              </a:spcAft>
            </a:pPr>
            <a:endParaRPr lang="en-US" sz="2400">
              <a:solidFill>
                <a:srgbClr val="000000"/>
              </a:solidFill>
            </a:endParaRPr>
          </a:p>
        </p:txBody>
      </p:sp>
      <p:sp>
        <p:nvSpPr>
          <p:cNvPr id="1044" name="Line 20"/>
          <p:cNvSpPr>
            <a:spLocks noChangeShapeType="1"/>
          </p:cNvSpPr>
          <p:nvPr userDrawn="1"/>
        </p:nvSpPr>
        <p:spPr bwMode="auto">
          <a:xfrm>
            <a:off x="203200" y="6400800"/>
            <a:ext cx="304800" cy="0"/>
          </a:xfrm>
          <a:prstGeom prst="line">
            <a:avLst/>
          </a:prstGeom>
          <a:noFill/>
          <a:ln w="9525">
            <a:solidFill>
              <a:schemeClr val="bg1"/>
            </a:solidFill>
            <a:round/>
            <a:headEnd/>
            <a:tailEnd/>
          </a:ln>
        </p:spPr>
        <p:txBody>
          <a:bodyPr wrap="none" anchor="ctr"/>
          <a:lstStyle/>
          <a:p>
            <a:pPr eaLnBrk="0" fontAlgn="base" hangingPunct="0">
              <a:spcBef>
                <a:spcPct val="0"/>
              </a:spcBef>
              <a:spcAft>
                <a:spcPct val="0"/>
              </a:spcAft>
            </a:pPr>
            <a:endParaRPr lang="en-US" sz="2400">
              <a:solidFill>
                <a:srgbClr val="000000"/>
              </a:solidFill>
            </a:endParaRPr>
          </a:p>
        </p:txBody>
      </p:sp>
    </p:spTree>
    <p:extLst>
      <p:ext uri="{BB962C8B-B14F-4D97-AF65-F5344CB8AC3E}">
        <p14:creationId xmlns:p14="http://schemas.microsoft.com/office/powerpoint/2010/main" val="2319998171"/>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ftr="0" dt="0"/>
  <p:txStyles>
    <p:titleStyle>
      <a:lvl1pPr algn="ctr" rtl="0" fontAlgn="base">
        <a:spcBef>
          <a:spcPct val="0"/>
        </a:spcBef>
        <a:spcAft>
          <a:spcPct val="0"/>
        </a:spcAft>
        <a:defRPr sz="4800" b="1">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p:titleStyle>
    <p:bodyStyle>
      <a:lvl1pPr marL="0" indent="0" algn="l" rtl="0" fontAlgn="base">
        <a:spcBef>
          <a:spcPct val="20000"/>
        </a:spcBef>
        <a:spcAft>
          <a:spcPct val="0"/>
        </a:spcAft>
        <a:buClr>
          <a:srgbClr val="691638"/>
        </a:buClr>
        <a:buNone/>
        <a:defRPr sz="24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117600" y="304800"/>
            <a:ext cx="10363200" cy="1143000"/>
          </a:xfrm>
          <a:prstGeom prst="rect">
            <a:avLst/>
          </a:prstGeom>
          <a:noFill/>
          <a:ln w="9525">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1117600" y="1676400"/>
            <a:ext cx="10363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p:txBody>
      </p:sp>
      <p:sp>
        <p:nvSpPr>
          <p:cNvPr id="1042" name="Line 18"/>
          <p:cNvSpPr>
            <a:spLocks noChangeShapeType="1"/>
          </p:cNvSpPr>
          <p:nvPr userDrawn="1"/>
        </p:nvSpPr>
        <p:spPr bwMode="auto">
          <a:xfrm>
            <a:off x="203200" y="6629400"/>
            <a:ext cx="711200" cy="0"/>
          </a:xfrm>
          <a:prstGeom prst="line">
            <a:avLst/>
          </a:prstGeom>
          <a:noFill/>
          <a:ln w="9525">
            <a:solidFill>
              <a:schemeClr val="bg1"/>
            </a:solidFill>
            <a:round/>
            <a:headEnd/>
            <a:tailEnd/>
          </a:ln>
        </p:spPr>
        <p:txBody>
          <a:bodyPr/>
          <a:lstStyle/>
          <a:p>
            <a:pPr eaLnBrk="0" fontAlgn="base" hangingPunct="0">
              <a:spcBef>
                <a:spcPct val="0"/>
              </a:spcBef>
              <a:spcAft>
                <a:spcPct val="0"/>
              </a:spcAft>
            </a:pPr>
            <a:endParaRPr lang="en-US" sz="2400">
              <a:solidFill>
                <a:srgbClr val="000000"/>
              </a:solidFill>
              <a:cs typeface="Times New Roman" pitchFamily="18" charset="0"/>
            </a:endParaRPr>
          </a:p>
        </p:txBody>
      </p:sp>
      <p:sp>
        <p:nvSpPr>
          <p:cNvPr id="1043" name="Line 19"/>
          <p:cNvSpPr>
            <a:spLocks noChangeShapeType="1"/>
          </p:cNvSpPr>
          <p:nvPr userDrawn="1"/>
        </p:nvSpPr>
        <p:spPr bwMode="auto">
          <a:xfrm flipV="1">
            <a:off x="203200" y="6400800"/>
            <a:ext cx="0" cy="228600"/>
          </a:xfrm>
          <a:prstGeom prst="line">
            <a:avLst/>
          </a:prstGeom>
          <a:noFill/>
          <a:ln w="9525">
            <a:solidFill>
              <a:schemeClr val="bg1"/>
            </a:solidFill>
            <a:round/>
            <a:headEnd/>
            <a:tailEnd/>
          </a:ln>
        </p:spPr>
        <p:txBody>
          <a:bodyPr wrap="none" anchor="ctr"/>
          <a:lstStyle/>
          <a:p>
            <a:pPr eaLnBrk="0" fontAlgn="base" hangingPunct="0">
              <a:spcBef>
                <a:spcPct val="0"/>
              </a:spcBef>
              <a:spcAft>
                <a:spcPct val="0"/>
              </a:spcAft>
            </a:pPr>
            <a:endParaRPr lang="en-US" sz="2400">
              <a:solidFill>
                <a:srgbClr val="000000"/>
              </a:solidFill>
              <a:cs typeface="Times New Roman" pitchFamily="18" charset="0"/>
            </a:endParaRPr>
          </a:p>
        </p:txBody>
      </p:sp>
      <p:sp>
        <p:nvSpPr>
          <p:cNvPr id="1044" name="Line 20"/>
          <p:cNvSpPr>
            <a:spLocks noChangeShapeType="1"/>
          </p:cNvSpPr>
          <p:nvPr userDrawn="1"/>
        </p:nvSpPr>
        <p:spPr bwMode="auto">
          <a:xfrm>
            <a:off x="203200" y="6400800"/>
            <a:ext cx="304800" cy="0"/>
          </a:xfrm>
          <a:prstGeom prst="line">
            <a:avLst/>
          </a:prstGeom>
          <a:noFill/>
          <a:ln w="9525">
            <a:solidFill>
              <a:schemeClr val="bg1"/>
            </a:solidFill>
            <a:round/>
            <a:headEnd/>
            <a:tailEnd/>
          </a:ln>
        </p:spPr>
        <p:txBody>
          <a:bodyPr wrap="none" anchor="ctr"/>
          <a:lstStyle/>
          <a:p>
            <a:pPr eaLnBrk="0" fontAlgn="base" hangingPunct="0">
              <a:spcBef>
                <a:spcPct val="0"/>
              </a:spcBef>
              <a:spcAft>
                <a:spcPct val="0"/>
              </a:spcAft>
            </a:pPr>
            <a:endParaRPr lang="en-US" sz="2400">
              <a:solidFill>
                <a:srgbClr val="000000"/>
              </a:solidFill>
              <a:cs typeface="Times New Roman" pitchFamily="18" charset="0"/>
            </a:endParaRPr>
          </a:p>
        </p:txBody>
      </p:sp>
    </p:spTree>
    <p:extLst>
      <p:ext uri="{BB962C8B-B14F-4D97-AF65-F5344CB8AC3E}">
        <p14:creationId xmlns:p14="http://schemas.microsoft.com/office/powerpoint/2010/main" val="4084624530"/>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hdr="0" ftr="0" dt="0"/>
  <p:txStyles>
    <p:titleStyle>
      <a:lvl1pPr algn="l" rtl="0" fontAlgn="base">
        <a:spcBef>
          <a:spcPct val="0"/>
        </a:spcBef>
        <a:spcAft>
          <a:spcPct val="0"/>
        </a:spcAft>
        <a:defRPr sz="4400">
          <a:solidFill>
            <a:schemeClr val="tx2"/>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p:titleStyle>
    <p:bodyStyle>
      <a:lvl1pPr marL="0" indent="0" algn="l" rtl="0" fontAlgn="base">
        <a:spcBef>
          <a:spcPct val="20000"/>
        </a:spcBef>
        <a:spcAft>
          <a:spcPct val="0"/>
        </a:spcAft>
        <a:buClr>
          <a:srgbClr val="691638"/>
        </a:buClr>
        <a:buNone/>
        <a:defRPr sz="2800">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BEA1CB-4D74-49D7-850C-BE55293794E4}" type="datetimeFigureOut">
              <a:rPr lang="en-US" smtClean="0"/>
              <a:t>8/23/2025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7EF8A6-030E-4873-93A8-D580ED24D91F}" type="slidenum">
              <a:rPr lang="en-US" smtClean="0"/>
              <a:t>‹#›</a:t>
            </a:fld>
            <a:endParaRPr lang="en-US"/>
          </a:p>
        </p:txBody>
      </p:sp>
    </p:spTree>
    <p:extLst>
      <p:ext uri="{BB962C8B-B14F-4D97-AF65-F5344CB8AC3E}">
        <p14:creationId xmlns:p14="http://schemas.microsoft.com/office/powerpoint/2010/main" val="1157417885"/>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34.xml"/><Relationship Id="rId5" Type="http://schemas.openxmlformats.org/officeDocument/2006/relationships/image" Target="../media/image3.pn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notesSlide" Target="../notesSlides/notesSlide4.xml"/><Relationship Id="rId1" Type="http://schemas.openxmlformats.org/officeDocument/2006/relationships/slideLayout" Target="../slideLayouts/slideLayout24.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4.gif"/><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36.png"/><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image" Target="../media/image38.png"/></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931549" y="55626"/>
            <a:ext cx="1682262" cy="1600200"/>
          </a:xfrm>
          <a:prstGeom prst="rect">
            <a:avLst/>
          </a:prstGeom>
        </p:spPr>
      </p:pic>
      <p:pic>
        <p:nvPicPr>
          <p:cNvPr id="8194" name="Picture 2" descr="lgplogo2c"/>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4959" y="62178"/>
            <a:ext cx="6707205" cy="12740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896962"/>
            <a:ext cx="12192000" cy="1961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7" name="Rectangle 5"/>
          <p:cNvSpPr txBox="1">
            <a:spLocks noChangeArrowheads="1"/>
          </p:cNvSpPr>
          <p:nvPr/>
        </p:nvSpPr>
        <p:spPr bwMode="auto">
          <a:xfrm>
            <a:off x="1524000" y="1722874"/>
            <a:ext cx="9144000" cy="33981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0" indent="0" algn="l" rtl="0" fontAlgn="base">
              <a:spcBef>
                <a:spcPct val="20000"/>
              </a:spcBef>
              <a:spcAft>
                <a:spcPct val="0"/>
              </a:spcAft>
              <a:buClr>
                <a:srgbClr val="691638"/>
              </a:buClr>
              <a:buNone/>
              <a:defRPr sz="2800">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algn="ctr">
              <a:lnSpc>
                <a:spcPct val="80000"/>
              </a:lnSpc>
              <a:spcBef>
                <a:spcPts val="600"/>
              </a:spcBef>
              <a:spcAft>
                <a:spcPts val="600"/>
              </a:spcAft>
            </a:pPr>
            <a:r>
              <a:rPr lang="en-US" sz="4400" b="1" dirty="0" err="1">
                <a:solidFill>
                  <a:schemeClr val="tx1"/>
                </a:solidFill>
              </a:rPr>
              <a:t>Matlab</a:t>
            </a:r>
            <a:r>
              <a:rPr lang="en-US" sz="4400" b="1" dirty="0">
                <a:solidFill>
                  <a:schemeClr val="tx1"/>
                </a:solidFill>
              </a:rPr>
              <a:t> Tutorial #2</a:t>
            </a:r>
          </a:p>
          <a:p>
            <a:pPr algn="ctr">
              <a:lnSpc>
                <a:spcPct val="80000"/>
              </a:lnSpc>
              <a:spcBef>
                <a:spcPts val="0"/>
              </a:spcBef>
              <a:spcAft>
                <a:spcPts val="300"/>
              </a:spcAft>
            </a:pPr>
            <a:r>
              <a:rPr lang="en-US" sz="3200" dirty="0">
                <a:solidFill>
                  <a:schemeClr val="tx1"/>
                </a:solidFill>
              </a:rPr>
              <a:t>Ge Wang, PhD</a:t>
            </a:r>
          </a:p>
          <a:p>
            <a:pPr algn="ctr">
              <a:lnSpc>
                <a:spcPct val="80000"/>
              </a:lnSpc>
              <a:spcBef>
                <a:spcPts val="0"/>
              </a:spcBef>
              <a:spcAft>
                <a:spcPts val="300"/>
              </a:spcAft>
            </a:pPr>
            <a:r>
              <a:rPr lang="en-US" sz="3200" dirty="0">
                <a:solidFill>
                  <a:schemeClr val="tx1"/>
                </a:solidFill>
              </a:rPr>
              <a:t>Biomedical Imaging Center</a:t>
            </a:r>
          </a:p>
          <a:p>
            <a:pPr algn="ctr">
              <a:lnSpc>
                <a:spcPct val="80000"/>
              </a:lnSpc>
              <a:spcBef>
                <a:spcPts val="0"/>
              </a:spcBef>
              <a:spcAft>
                <a:spcPts val="300"/>
              </a:spcAft>
            </a:pPr>
            <a:r>
              <a:rPr lang="en-US" sz="3200" dirty="0">
                <a:solidFill>
                  <a:schemeClr val="tx1"/>
                </a:solidFill>
              </a:rPr>
              <a:t>CBIS/BME, RPI</a:t>
            </a:r>
          </a:p>
          <a:p>
            <a:pPr algn="ctr">
              <a:lnSpc>
                <a:spcPct val="80000"/>
              </a:lnSpc>
              <a:spcBef>
                <a:spcPts val="0"/>
              </a:spcBef>
              <a:spcAft>
                <a:spcPts val="300"/>
              </a:spcAft>
            </a:pPr>
            <a:r>
              <a:rPr lang="en-US" sz="3200" dirty="0">
                <a:solidFill>
                  <a:schemeClr val="tx1"/>
                </a:solidFill>
              </a:rPr>
              <a:t>wangg6@rpi.edu</a:t>
            </a:r>
          </a:p>
          <a:p>
            <a:pPr>
              <a:lnSpc>
                <a:spcPct val="80000"/>
              </a:lnSpc>
              <a:spcBef>
                <a:spcPts val="0"/>
              </a:spcBef>
              <a:spcAft>
                <a:spcPts val="0"/>
              </a:spcAft>
            </a:pPr>
            <a:endParaRPr lang="en-US" sz="2400" dirty="0">
              <a:solidFill>
                <a:schemeClr val="tx1"/>
              </a:solidFill>
            </a:endParaRPr>
          </a:p>
          <a:p>
            <a:pPr>
              <a:lnSpc>
                <a:spcPct val="80000"/>
              </a:lnSpc>
              <a:spcBef>
                <a:spcPts val="0"/>
              </a:spcBef>
              <a:spcAft>
                <a:spcPts val="0"/>
              </a:spcAft>
            </a:pPr>
            <a:endParaRPr lang="en-US" sz="2400" dirty="0">
              <a:solidFill>
                <a:schemeClr val="tx1"/>
              </a:solidFill>
            </a:endParaRPr>
          </a:p>
        </p:txBody>
      </p:sp>
    </p:spTree>
    <p:extLst>
      <p:ext uri="{BB962C8B-B14F-4D97-AF65-F5344CB8AC3E}">
        <p14:creationId xmlns:p14="http://schemas.microsoft.com/office/powerpoint/2010/main" val="2986456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and green table with white text&#10;&#10;AI-generated content may be incorrect.">
            <a:extLst>
              <a:ext uri="{FF2B5EF4-FFF2-40B4-BE49-F238E27FC236}">
                <a16:creationId xmlns:a16="http://schemas.microsoft.com/office/drawing/2014/main" id="{3495BE01-236B-147C-7CA1-D3E1102D87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5282" y="0"/>
            <a:ext cx="7811339" cy="5903089"/>
          </a:xfrm>
          <a:prstGeom prst="rect">
            <a:avLst/>
          </a:prstGeom>
        </p:spPr>
      </p:pic>
    </p:spTree>
    <p:extLst>
      <p:ext uri="{BB962C8B-B14F-4D97-AF65-F5344CB8AC3E}">
        <p14:creationId xmlns:p14="http://schemas.microsoft.com/office/powerpoint/2010/main" val="24132878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5400" dirty="0">
                <a:latin typeface="Arial" panose="020B0604020202020204" pitchFamily="34" charset="0"/>
                <a:cs typeface="Arial" panose="020B0604020202020204" pitchFamily="34" charset="0"/>
              </a:rPr>
              <a:t>Outline</a:t>
            </a:r>
          </a:p>
        </p:txBody>
      </p:sp>
      <p:sp>
        <p:nvSpPr>
          <p:cNvPr id="6" name="Rectangle 5"/>
          <p:cNvSpPr/>
          <p:nvPr/>
        </p:nvSpPr>
        <p:spPr>
          <a:xfrm>
            <a:off x="2081213" y="1519832"/>
            <a:ext cx="8029575" cy="4708981"/>
          </a:xfrm>
          <a:prstGeom prst="rect">
            <a:avLst/>
          </a:prstGeom>
        </p:spPr>
        <p:txBody>
          <a:bodyPr wrap="square">
            <a:spAutoFit/>
          </a:bodyPr>
          <a:lstStyle/>
          <a:p>
            <a:pPr marL="571500" indent="-571500">
              <a:buClr>
                <a:schemeClr val="tx1"/>
              </a:buClr>
              <a:buFont typeface="Arial" panose="020B0604020202020204" pitchFamily="34" charset="0"/>
              <a:buChar char="•"/>
            </a:pPr>
            <a:r>
              <a:rPr lang="en-US" sz="3600" b="1" dirty="0">
                <a:solidFill>
                  <a:srgbClr val="FF0000"/>
                </a:solidFill>
                <a:latin typeface="Arial" panose="020B0604020202020204" pitchFamily="34" charset="0"/>
                <a:cs typeface="Arial" panose="020B0604020202020204" pitchFamily="34" charset="0"/>
              </a:rPr>
              <a:t>Discrete Convolution</a:t>
            </a:r>
          </a:p>
          <a:p>
            <a:pPr marL="1028700" lvl="1" indent="-571500">
              <a:buClr>
                <a:schemeClr val="tx1"/>
              </a:buClr>
              <a:buFont typeface="Arial" panose="020B0604020202020204" pitchFamily="34" charset="0"/>
              <a:buChar char="•"/>
            </a:pPr>
            <a:r>
              <a:rPr lang="en-US" sz="3200" dirty="0">
                <a:latin typeface="Arial" panose="020B0604020202020204" pitchFamily="34" charset="0"/>
                <a:cs typeface="Arial" panose="020B0604020202020204" pitchFamily="34" charset="0"/>
              </a:rPr>
              <a:t>Zero-padding</a:t>
            </a:r>
          </a:p>
          <a:p>
            <a:pPr marL="1028700" lvl="1" indent="-571500">
              <a:buClr>
                <a:schemeClr val="tx1"/>
              </a:buClr>
              <a:buFont typeface="Arial" panose="020B0604020202020204" pitchFamily="34" charset="0"/>
              <a:buChar char="•"/>
            </a:pPr>
            <a:r>
              <a:rPr lang="en-US" sz="3200" dirty="0">
                <a:latin typeface="Arial" panose="020B0604020202020204" pitchFamily="34" charset="0"/>
                <a:cs typeface="Arial" panose="020B0604020202020204" pitchFamily="34" charset="0"/>
              </a:rPr>
              <a:t>Circular Equivalent to Linear</a:t>
            </a:r>
            <a:endParaRPr lang="en-US" sz="2800" dirty="0">
              <a:latin typeface="Arial" panose="020B0604020202020204" pitchFamily="34" charset="0"/>
              <a:cs typeface="Arial" panose="020B0604020202020204" pitchFamily="34" charset="0"/>
            </a:endParaRPr>
          </a:p>
          <a:p>
            <a:pPr marL="571500" indent="-571500">
              <a:buClr>
                <a:schemeClr val="tx1"/>
              </a:buClr>
              <a:buFont typeface="Arial" panose="020B0604020202020204" pitchFamily="34" charset="0"/>
              <a:buChar char="•"/>
            </a:pPr>
            <a:r>
              <a:rPr lang="en-US" sz="3600" b="1" dirty="0">
                <a:latin typeface="Arial" panose="020B0604020202020204" pitchFamily="34" charset="0"/>
                <a:cs typeface="Arial" panose="020B0604020202020204" pitchFamily="34" charset="0"/>
              </a:rPr>
              <a:t>Spectral Analysis</a:t>
            </a:r>
          </a:p>
          <a:p>
            <a:pPr marL="1028700" lvl="1" indent="-571500">
              <a:buClr>
                <a:schemeClr val="tx1"/>
              </a:buClr>
              <a:buFont typeface="Arial" panose="020B0604020202020204" pitchFamily="34" charset="0"/>
              <a:buChar char="•"/>
            </a:pPr>
            <a:r>
              <a:rPr lang="en-US" sz="3200" dirty="0">
                <a:latin typeface="Arial" panose="020B0604020202020204" pitchFamily="34" charset="0"/>
                <a:cs typeface="Arial" panose="020B0604020202020204" pitchFamily="34" charset="0"/>
              </a:rPr>
              <a:t>Zero-padding</a:t>
            </a:r>
          </a:p>
          <a:p>
            <a:pPr marL="1028700" lvl="1" indent="-571500">
              <a:buClr>
                <a:schemeClr val="tx1"/>
              </a:buClr>
              <a:buFont typeface="Arial" panose="020B0604020202020204" pitchFamily="34" charset="0"/>
              <a:buChar char="•"/>
            </a:pPr>
            <a:r>
              <a:rPr lang="en-US" sz="3200" dirty="0">
                <a:latin typeface="Arial" panose="020B0604020202020204" pitchFamily="34" charset="0"/>
                <a:cs typeface="Arial" panose="020B0604020202020204" pitchFamily="34" charset="0"/>
              </a:rPr>
              <a:t>Refined Spectral Bins</a:t>
            </a:r>
          </a:p>
          <a:p>
            <a:pPr marL="571500" indent="-571500">
              <a:buClr>
                <a:schemeClr val="tx1"/>
              </a:buClr>
              <a:buFont typeface="Arial" panose="020B0604020202020204" pitchFamily="34" charset="0"/>
              <a:buChar char="•"/>
            </a:pPr>
            <a:r>
              <a:rPr lang="en-US" sz="3600" b="1" dirty="0">
                <a:latin typeface="Arial" panose="020B0604020202020204" pitchFamily="34" charset="0"/>
                <a:cs typeface="Arial" panose="020B0604020202020204" pitchFamily="34" charset="0"/>
              </a:rPr>
              <a:t>2D Filtering</a:t>
            </a:r>
          </a:p>
          <a:p>
            <a:pPr marL="1028700" lvl="1" indent="-571500">
              <a:buClr>
                <a:schemeClr val="tx1"/>
              </a:buClr>
              <a:buFont typeface="Arial" panose="020B0604020202020204" pitchFamily="34" charset="0"/>
              <a:buChar char="•"/>
            </a:pPr>
            <a:r>
              <a:rPr lang="en-US" sz="3200" dirty="0">
                <a:latin typeface="Arial" panose="020B0604020202020204" pitchFamily="34" charset="0"/>
                <a:cs typeface="Arial" panose="020B0604020202020204" pitchFamily="34" charset="0"/>
              </a:rPr>
              <a:t>Noise Removal</a:t>
            </a:r>
          </a:p>
          <a:p>
            <a:pPr marL="1028700" lvl="1" indent="-571500">
              <a:buClr>
                <a:schemeClr val="tx1"/>
              </a:buClr>
              <a:buFont typeface="Arial" panose="020B0604020202020204" pitchFamily="34" charset="0"/>
              <a:buChar char="•"/>
            </a:pPr>
            <a:r>
              <a:rPr lang="en-US" sz="3200" dirty="0">
                <a:latin typeface="Arial" panose="020B0604020202020204" pitchFamily="34" charset="0"/>
                <a:cs typeface="Arial" panose="020B0604020202020204" pitchFamily="34" charset="0"/>
              </a:rPr>
              <a:t>Edge Enhancement</a:t>
            </a:r>
          </a:p>
        </p:txBody>
      </p:sp>
    </p:spTree>
    <p:extLst>
      <p:ext uri="{BB962C8B-B14F-4D97-AF65-F5344CB8AC3E}">
        <p14:creationId xmlns:p14="http://schemas.microsoft.com/office/powerpoint/2010/main" val="14233684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76400" y="66675"/>
            <a:ext cx="8839200" cy="838200"/>
          </a:xfrm>
        </p:spPr>
        <p:txBody>
          <a:bodyPr/>
          <a:lstStyle/>
          <a:p>
            <a:r>
              <a:rPr lang="en-US" dirty="0">
                <a:latin typeface="Arial" panose="020B0604020202020204" pitchFamily="34" charset="0"/>
                <a:cs typeface="Arial" panose="020B0604020202020204" pitchFamily="34" charset="0"/>
              </a:rPr>
              <a:t>Visualization of Discrete FT</a:t>
            </a:r>
          </a:p>
        </p:txBody>
      </p:sp>
      <p:pic>
        <p:nvPicPr>
          <p:cNvPr id="59394" name="Picture 2" descr="http://dagsaw.sdsu.edu/images/fig3-7.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45449" y="810457"/>
            <a:ext cx="3817893" cy="604754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descr="http://www.magic-emoji.com/emoji/images/83_emoji_iphone_black_diamond_suit.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0800000">
            <a:off x="299885" y="1934687"/>
            <a:ext cx="3648505" cy="36485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96455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Hands-on Example</a:t>
            </a:r>
          </a:p>
        </p:txBody>
      </p:sp>
      <p:cxnSp>
        <p:nvCxnSpPr>
          <p:cNvPr id="10" name="Straight Arrow Connector 9"/>
          <p:cNvCxnSpPr/>
          <p:nvPr/>
        </p:nvCxnSpPr>
        <p:spPr bwMode="auto">
          <a:xfrm>
            <a:off x="2058572" y="3938954"/>
            <a:ext cx="8328074" cy="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cxnSp>
        <p:nvCxnSpPr>
          <p:cNvPr id="11" name="Straight Arrow Connector 10"/>
          <p:cNvCxnSpPr/>
          <p:nvPr/>
        </p:nvCxnSpPr>
        <p:spPr bwMode="auto">
          <a:xfrm flipV="1">
            <a:off x="5770099" y="990600"/>
            <a:ext cx="0" cy="5867400"/>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pic>
        <p:nvPicPr>
          <p:cNvPr id="27654" name="Picture 6" descr="https://clipartion.com/wp-content/uploads/2015/11/clip-artcarrie-teaching-first-hands-and-feet-doodles-with.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34218" y="1159942"/>
            <a:ext cx="2109160" cy="2520704"/>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6" descr="https://clipartion.com/wp-content/uploads/2015/11/clip-artcarrie-teaching-first-hands-and-feet-doodles-with.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6498628" y="1159942"/>
            <a:ext cx="2109160" cy="2520704"/>
          </a:xfrm>
          <a:prstGeom prst="rect">
            <a:avLst/>
          </a:prstGeom>
          <a:noFill/>
          <a:extLst>
            <a:ext uri="{909E8E84-426E-40DD-AFC4-6F175D3DCCD1}">
              <a14:hiddenFill xmlns:a14="http://schemas.microsoft.com/office/drawing/2010/main">
                <a:solidFill>
                  <a:srgbClr val="FFFFFF"/>
                </a:solidFill>
              </a14:hiddenFill>
            </a:ext>
          </a:extLst>
        </p:spPr>
      </p:pic>
      <p:pic>
        <p:nvPicPr>
          <p:cNvPr id="27656" name="Picture 8" descr="Image result for hand sig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78721" y="4303016"/>
            <a:ext cx="1948974" cy="232020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8" descr="Image result for hand sig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flipH="1">
            <a:off x="3014311" y="4303016"/>
            <a:ext cx="1948974" cy="23202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341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6" descr="https://clipartion.com/wp-content/uploads/2015/11/clip-artcarrie-teaching-first-hands-and-feet-doodles-with.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76564" y="1233719"/>
            <a:ext cx="2109160" cy="2520704"/>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8" descr="Image result for hand sig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13642" y="3906295"/>
            <a:ext cx="1948974" cy="2320207"/>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Arrow Connector 19"/>
          <p:cNvCxnSpPr>
            <a:stCxn id="3" idx="0"/>
          </p:cNvCxnSpPr>
          <p:nvPr/>
        </p:nvCxnSpPr>
        <p:spPr bwMode="auto">
          <a:xfrm flipH="1" flipV="1">
            <a:off x="3674018" y="1245127"/>
            <a:ext cx="13589" cy="2382162"/>
          </a:xfrm>
          <a:prstGeom prst="straightConnector1">
            <a:avLst/>
          </a:prstGeom>
          <a:solidFill>
            <a:schemeClr val="accent1"/>
          </a:solidFill>
          <a:ln w="38100" cap="flat" cmpd="sng" algn="ctr">
            <a:solidFill>
              <a:schemeClr val="tx1">
                <a:lumMod val="95000"/>
                <a:lumOff val="5000"/>
              </a:schemeClr>
            </a:solidFill>
            <a:prstDash val="solid"/>
            <a:round/>
            <a:headEnd type="none" w="med" len="med"/>
            <a:tailEnd type="triangle"/>
          </a:ln>
          <a:effectLst/>
        </p:spPr>
      </p:cxnSp>
      <p:sp>
        <p:nvSpPr>
          <p:cNvPr id="2" name="Title 1"/>
          <p:cNvSpPr>
            <a:spLocks noGrp="1"/>
          </p:cNvSpPr>
          <p:nvPr>
            <p:ph type="title"/>
          </p:nvPr>
        </p:nvSpPr>
        <p:spPr/>
        <p:txBody>
          <a:bodyPr/>
          <a:lstStyle/>
          <a:p>
            <a:r>
              <a:rPr lang="en-US" dirty="0"/>
              <a:t>Multiplications at n=0</a:t>
            </a:r>
          </a:p>
        </p:txBody>
      </p:sp>
      <p:cxnSp>
        <p:nvCxnSpPr>
          <p:cNvPr id="10" name="Straight Arrow Connector 9"/>
          <p:cNvCxnSpPr/>
          <p:nvPr/>
        </p:nvCxnSpPr>
        <p:spPr bwMode="auto">
          <a:xfrm>
            <a:off x="2548599" y="3627289"/>
            <a:ext cx="3210832" cy="0"/>
          </a:xfrm>
          <a:prstGeom prst="straightConnector1">
            <a:avLst/>
          </a:prstGeom>
          <a:solidFill>
            <a:schemeClr val="accent1"/>
          </a:solidFill>
          <a:ln w="38100" cap="flat" cmpd="sng" algn="ctr">
            <a:solidFill>
              <a:schemeClr val="tx1">
                <a:lumMod val="95000"/>
                <a:lumOff val="5000"/>
              </a:schemeClr>
            </a:solidFill>
            <a:prstDash val="solid"/>
            <a:round/>
            <a:headEnd type="none" w="med" len="med"/>
            <a:tailEnd type="triangle"/>
          </a:ln>
          <a:effectLst/>
        </p:spPr>
      </p:cxnSp>
      <p:sp>
        <p:nvSpPr>
          <p:cNvPr id="3" name="Content Placeholder 2"/>
          <p:cNvSpPr>
            <a:spLocks noGrp="1"/>
          </p:cNvSpPr>
          <p:nvPr>
            <p:ph idx="1"/>
          </p:nvPr>
        </p:nvSpPr>
        <p:spPr>
          <a:xfrm>
            <a:off x="3519271" y="3627289"/>
            <a:ext cx="336671" cy="508782"/>
          </a:xfrm>
        </p:spPr>
        <p:txBody>
          <a:bodyPr/>
          <a:lstStyle/>
          <a:p>
            <a:r>
              <a:rPr lang="en-US" sz="2000" b="0" dirty="0"/>
              <a:t>0</a:t>
            </a:r>
          </a:p>
        </p:txBody>
      </p:sp>
      <p:grpSp>
        <p:nvGrpSpPr>
          <p:cNvPr id="33" name="Group 32"/>
          <p:cNvGrpSpPr/>
          <p:nvPr/>
        </p:nvGrpSpPr>
        <p:grpSpPr>
          <a:xfrm>
            <a:off x="3674017" y="2370542"/>
            <a:ext cx="1551490" cy="1276917"/>
            <a:chOff x="1066800" y="2694102"/>
            <a:chExt cx="1551490" cy="1276917"/>
          </a:xfrm>
        </p:grpSpPr>
        <p:cxnSp>
          <p:nvCxnSpPr>
            <p:cNvPr id="11" name="Straight Arrow Connector 10"/>
            <p:cNvCxnSpPr/>
            <p:nvPr/>
          </p:nvCxnSpPr>
          <p:spPr bwMode="auto">
            <a:xfrm flipV="1">
              <a:off x="1066800" y="2694102"/>
              <a:ext cx="0" cy="1276917"/>
            </a:xfrm>
            <a:prstGeom prst="straightConnector1">
              <a:avLst/>
            </a:prstGeom>
            <a:solidFill>
              <a:schemeClr val="accent1"/>
            </a:solidFill>
            <a:ln w="63500" cap="flat" cmpd="sng" algn="ctr">
              <a:solidFill>
                <a:srgbClr val="FF0000"/>
              </a:solidFill>
              <a:prstDash val="solid"/>
              <a:round/>
              <a:headEnd type="none" w="med" len="med"/>
              <a:tailEnd type="triangle"/>
            </a:ln>
            <a:effectLst/>
          </p:spPr>
        </p:cxnSp>
        <p:cxnSp>
          <p:nvCxnSpPr>
            <p:cNvPr id="12" name="Straight Arrow Connector 11"/>
            <p:cNvCxnSpPr/>
            <p:nvPr/>
          </p:nvCxnSpPr>
          <p:spPr bwMode="auto">
            <a:xfrm flipV="1">
              <a:off x="1454673" y="3011652"/>
              <a:ext cx="0" cy="959367"/>
            </a:xfrm>
            <a:prstGeom prst="straightConnector1">
              <a:avLst/>
            </a:prstGeom>
            <a:solidFill>
              <a:schemeClr val="accent1"/>
            </a:solidFill>
            <a:ln w="63500" cap="flat" cmpd="sng" algn="ctr">
              <a:solidFill>
                <a:srgbClr val="FF0000"/>
              </a:solidFill>
              <a:prstDash val="solid"/>
              <a:round/>
              <a:headEnd type="none" w="med" len="med"/>
              <a:tailEnd type="triangle"/>
            </a:ln>
            <a:effectLst/>
          </p:spPr>
        </p:cxnSp>
        <p:cxnSp>
          <p:nvCxnSpPr>
            <p:cNvPr id="13" name="Straight Arrow Connector 12"/>
            <p:cNvCxnSpPr/>
            <p:nvPr/>
          </p:nvCxnSpPr>
          <p:spPr bwMode="auto">
            <a:xfrm flipV="1">
              <a:off x="1842546" y="3250233"/>
              <a:ext cx="0" cy="720786"/>
            </a:xfrm>
            <a:prstGeom prst="straightConnector1">
              <a:avLst/>
            </a:prstGeom>
            <a:solidFill>
              <a:schemeClr val="accent1"/>
            </a:solidFill>
            <a:ln w="63500" cap="flat" cmpd="sng" algn="ctr">
              <a:solidFill>
                <a:srgbClr val="FF0000"/>
              </a:solidFill>
              <a:prstDash val="solid"/>
              <a:round/>
              <a:headEnd type="none" w="med" len="med"/>
              <a:tailEnd type="triangle"/>
            </a:ln>
            <a:effectLst/>
          </p:spPr>
        </p:cxnSp>
        <p:cxnSp>
          <p:nvCxnSpPr>
            <p:cNvPr id="14" name="Straight Arrow Connector 13"/>
            <p:cNvCxnSpPr/>
            <p:nvPr/>
          </p:nvCxnSpPr>
          <p:spPr bwMode="auto">
            <a:xfrm flipV="1">
              <a:off x="2230419" y="3429482"/>
              <a:ext cx="0" cy="541537"/>
            </a:xfrm>
            <a:prstGeom prst="straightConnector1">
              <a:avLst/>
            </a:prstGeom>
            <a:solidFill>
              <a:schemeClr val="accent1"/>
            </a:solidFill>
            <a:ln w="63500" cap="flat" cmpd="sng" algn="ctr">
              <a:solidFill>
                <a:srgbClr val="FF0000"/>
              </a:solidFill>
              <a:prstDash val="solid"/>
              <a:round/>
              <a:headEnd type="none" w="med" len="med"/>
              <a:tailEnd type="triangle"/>
            </a:ln>
            <a:effectLst/>
          </p:spPr>
        </p:cxnSp>
        <p:cxnSp>
          <p:nvCxnSpPr>
            <p:cNvPr id="15" name="Straight Arrow Connector 14"/>
            <p:cNvCxnSpPr/>
            <p:nvPr/>
          </p:nvCxnSpPr>
          <p:spPr bwMode="auto">
            <a:xfrm flipV="1">
              <a:off x="2618290" y="3564154"/>
              <a:ext cx="0" cy="406865"/>
            </a:xfrm>
            <a:prstGeom prst="straightConnector1">
              <a:avLst/>
            </a:prstGeom>
            <a:solidFill>
              <a:schemeClr val="accent1"/>
            </a:solidFill>
            <a:ln w="63500" cap="flat" cmpd="sng" algn="ctr">
              <a:solidFill>
                <a:srgbClr val="FF0000"/>
              </a:solidFill>
              <a:prstDash val="solid"/>
              <a:round/>
              <a:headEnd type="none" w="med" len="med"/>
              <a:tailEnd type="triangle"/>
            </a:ln>
            <a:effectLst/>
          </p:spPr>
        </p:cxnSp>
      </p:grpSp>
      <p:sp>
        <p:nvSpPr>
          <p:cNvPr id="16" name="Content Placeholder 2"/>
          <p:cNvSpPr txBox="1">
            <a:spLocks/>
          </p:cNvSpPr>
          <p:nvPr/>
        </p:nvSpPr>
        <p:spPr bwMode="auto">
          <a:xfrm>
            <a:off x="3903746" y="3627289"/>
            <a:ext cx="336671" cy="5087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57200" indent="-457200" algn="l" rtl="0" fontAlgn="base">
              <a:spcBef>
                <a:spcPct val="20000"/>
              </a:spcBef>
              <a:spcAft>
                <a:spcPct val="0"/>
              </a:spcAft>
              <a:buClrTx/>
              <a:buFont typeface="Arial" panose="020B0604020202020204" pitchFamily="34" charset="0"/>
              <a:buChar char="•"/>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marL="0" indent="0">
              <a:buNone/>
            </a:pPr>
            <a:r>
              <a:rPr lang="en-US" sz="2000" b="0" kern="0" dirty="0"/>
              <a:t>1</a:t>
            </a:r>
          </a:p>
        </p:txBody>
      </p:sp>
      <p:sp>
        <p:nvSpPr>
          <p:cNvPr id="17" name="Content Placeholder 2"/>
          <p:cNvSpPr txBox="1">
            <a:spLocks/>
          </p:cNvSpPr>
          <p:nvPr/>
        </p:nvSpPr>
        <p:spPr bwMode="auto">
          <a:xfrm>
            <a:off x="4288221" y="3627289"/>
            <a:ext cx="336671" cy="5087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57200" indent="-457200" algn="l" rtl="0" fontAlgn="base">
              <a:spcBef>
                <a:spcPct val="20000"/>
              </a:spcBef>
              <a:spcAft>
                <a:spcPct val="0"/>
              </a:spcAft>
              <a:buClrTx/>
              <a:buFont typeface="Arial" panose="020B0604020202020204" pitchFamily="34" charset="0"/>
              <a:buChar char="•"/>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marL="0" indent="0">
              <a:buNone/>
            </a:pPr>
            <a:r>
              <a:rPr lang="en-US" sz="2000" b="0" kern="0" dirty="0"/>
              <a:t>2</a:t>
            </a:r>
          </a:p>
        </p:txBody>
      </p:sp>
      <p:sp>
        <p:nvSpPr>
          <p:cNvPr id="18" name="Content Placeholder 2"/>
          <p:cNvSpPr txBox="1">
            <a:spLocks/>
          </p:cNvSpPr>
          <p:nvPr/>
        </p:nvSpPr>
        <p:spPr bwMode="auto">
          <a:xfrm>
            <a:off x="4672696" y="3627289"/>
            <a:ext cx="336671" cy="5087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57200" indent="-457200" algn="l" rtl="0" fontAlgn="base">
              <a:spcBef>
                <a:spcPct val="20000"/>
              </a:spcBef>
              <a:spcAft>
                <a:spcPct val="0"/>
              </a:spcAft>
              <a:buClrTx/>
              <a:buFont typeface="Arial" panose="020B0604020202020204" pitchFamily="34" charset="0"/>
              <a:buChar char="•"/>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marL="0" indent="0">
              <a:buNone/>
            </a:pPr>
            <a:r>
              <a:rPr lang="en-US" sz="2000" b="0" kern="0" dirty="0"/>
              <a:t>3</a:t>
            </a:r>
          </a:p>
        </p:txBody>
      </p:sp>
      <p:sp>
        <p:nvSpPr>
          <p:cNvPr id="19" name="Content Placeholder 2"/>
          <p:cNvSpPr txBox="1">
            <a:spLocks/>
          </p:cNvSpPr>
          <p:nvPr/>
        </p:nvSpPr>
        <p:spPr bwMode="auto">
          <a:xfrm>
            <a:off x="5057172" y="3627289"/>
            <a:ext cx="336671" cy="5087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57200" indent="-457200" algn="l" rtl="0" fontAlgn="base">
              <a:spcBef>
                <a:spcPct val="20000"/>
              </a:spcBef>
              <a:spcAft>
                <a:spcPct val="0"/>
              </a:spcAft>
              <a:buClrTx/>
              <a:buFont typeface="Arial" panose="020B0604020202020204" pitchFamily="34" charset="0"/>
              <a:buChar char="•"/>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marL="0" indent="0">
              <a:buNone/>
            </a:pPr>
            <a:r>
              <a:rPr lang="en-US" sz="2000" b="0" kern="0" dirty="0"/>
              <a:t>4</a:t>
            </a:r>
          </a:p>
        </p:txBody>
      </p:sp>
      <p:sp>
        <p:nvSpPr>
          <p:cNvPr id="34" name="Content Placeholder 2"/>
          <p:cNvSpPr txBox="1">
            <a:spLocks/>
          </p:cNvSpPr>
          <p:nvPr/>
        </p:nvSpPr>
        <p:spPr bwMode="auto">
          <a:xfrm>
            <a:off x="3863634" y="1265104"/>
            <a:ext cx="1376396" cy="5087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57200" indent="-457200" algn="l" rtl="0" fontAlgn="base">
              <a:spcBef>
                <a:spcPct val="20000"/>
              </a:spcBef>
              <a:spcAft>
                <a:spcPct val="0"/>
              </a:spcAft>
              <a:buClrTx/>
              <a:buFont typeface="Arial" panose="020B0604020202020204" pitchFamily="34" charset="0"/>
              <a:buChar char="•"/>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marL="0" indent="0">
              <a:buNone/>
            </a:pPr>
            <a:r>
              <a:rPr lang="en-US" sz="2400" kern="0" dirty="0"/>
              <a:t>f(k)</a:t>
            </a:r>
          </a:p>
        </p:txBody>
      </p:sp>
      <p:cxnSp>
        <p:nvCxnSpPr>
          <p:cNvPr id="21" name="Straight Arrow Connector 20"/>
          <p:cNvCxnSpPr/>
          <p:nvPr/>
        </p:nvCxnSpPr>
        <p:spPr bwMode="auto">
          <a:xfrm flipH="1" flipV="1">
            <a:off x="3711461" y="4014917"/>
            <a:ext cx="13589" cy="2382162"/>
          </a:xfrm>
          <a:prstGeom prst="straightConnector1">
            <a:avLst/>
          </a:prstGeom>
          <a:solidFill>
            <a:schemeClr val="accent1"/>
          </a:solidFill>
          <a:ln w="38100" cap="flat" cmpd="sng" algn="ctr">
            <a:solidFill>
              <a:schemeClr val="tx1">
                <a:lumMod val="95000"/>
                <a:lumOff val="5000"/>
              </a:schemeClr>
            </a:solidFill>
            <a:prstDash val="solid"/>
            <a:round/>
            <a:headEnd type="none" w="med" len="med"/>
            <a:tailEnd type="triangle"/>
          </a:ln>
          <a:effectLst/>
        </p:spPr>
      </p:cxnSp>
      <p:cxnSp>
        <p:nvCxnSpPr>
          <p:cNvPr id="22" name="Straight Arrow Connector 21"/>
          <p:cNvCxnSpPr/>
          <p:nvPr/>
        </p:nvCxnSpPr>
        <p:spPr bwMode="auto">
          <a:xfrm>
            <a:off x="1674052" y="6397079"/>
            <a:ext cx="5688186" cy="0"/>
          </a:xfrm>
          <a:prstGeom prst="straightConnector1">
            <a:avLst/>
          </a:prstGeom>
          <a:solidFill>
            <a:schemeClr val="accent1"/>
          </a:solidFill>
          <a:ln w="38100" cap="flat" cmpd="sng" algn="ctr">
            <a:solidFill>
              <a:schemeClr val="tx1">
                <a:lumMod val="95000"/>
                <a:lumOff val="5000"/>
              </a:schemeClr>
            </a:solidFill>
            <a:prstDash val="solid"/>
            <a:round/>
            <a:headEnd type="none" w="med" len="med"/>
            <a:tailEnd type="triangle"/>
          </a:ln>
          <a:effectLst/>
        </p:spPr>
      </p:cxnSp>
      <p:sp>
        <p:nvSpPr>
          <p:cNvPr id="24" name="Content Placeholder 2"/>
          <p:cNvSpPr txBox="1">
            <a:spLocks/>
          </p:cNvSpPr>
          <p:nvPr/>
        </p:nvSpPr>
        <p:spPr bwMode="auto">
          <a:xfrm>
            <a:off x="3585296" y="6397079"/>
            <a:ext cx="336671" cy="5087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57200" indent="-457200" algn="l" rtl="0" fontAlgn="base">
              <a:spcBef>
                <a:spcPct val="20000"/>
              </a:spcBef>
              <a:spcAft>
                <a:spcPct val="0"/>
              </a:spcAft>
              <a:buClrTx/>
              <a:buFont typeface="Arial" panose="020B0604020202020204" pitchFamily="34" charset="0"/>
              <a:buChar char="•"/>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marL="0" indent="0">
              <a:buNone/>
            </a:pPr>
            <a:r>
              <a:rPr lang="en-US" sz="2000" b="0" kern="0"/>
              <a:t>0</a:t>
            </a:r>
            <a:endParaRPr lang="en-US" sz="2000" b="0" kern="0" dirty="0"/>
          </a:p>
        </p:txBody>
      </p:sp>
      <p:grpSp>
        <p:nvGrpSpPr>
          <p:cNvPr id="9" name="Group 8"/>
          <p:cNvGrpSpPr/>
          <p:nvPr/>
        </p:nvGrpSpPr>
        <p:grpSpPr>
          <a:xfrm>
            <a:off x="2179418" y="5140332"/>
            <a:ext cx="1551490" cy="1276917"/>
            <a:chOff x="5421434" y="2714271"/>
            <a:chExt cx="1551490" cy="1276917"/>
          </a:xfrm>
        </p:grpSpPr>
        <p:cxnSp>
          <p:nvCxnSpPr>
            <p:cNvPr id="23" name="Straight Arrow Connector 22"/>
            <p:cNvCxnSpPr/>
            <p:nvPr/>
          </p:nvCxnSpPr>
          <p:spPr bwMode="auto">
            <a:xfrm flipV="1">
              <a:off x="5421434" y="2714271"/>
              <a:ext cx="0" cy="1276917"/>
            </a:xfrm>
            <a:prstGeom prst="straightConnector1">
              <a:avLst/>
            </a:prstGeom>
            <a:solidFill>
              <a:schemeClr val="accent1"/>
            </a:solidFill>
            <a:ln w="63500" cap="flat" cmpd="sng" algn="ctr">
              <a:solidFill>
                <a:srgbClr val="00B050"/>
              </a:solidFill>
              <a:prstDash val="solid"/>
              <a:round/>
              <a:headEnd type="none" w="med" len="med"/>
              <a:tailEnd type="triangle"/>
            </a:ln>
            <a:effectLst/>
          </p:spPr>
        </p:cxnSp>
        <p:cxnSp>
          <p:nvCxnSpPr>
            <p:cNvPr id="25" name="Straight Arrow Connector 24"/>
            <p:cNvCxnSpPr/>
            <p:nvPr/>
          </p:nvCxnSpPr>
          <p:spPr bwMode="auto">
            <a:xfrm flipV="1">
              <a:off x="5809307" y="3031821"/>
              <a:ext cx="0" cy="959367"/>
            </a:xfrm>
            <a:prstGeom prst="straightConnector1">
              <a:avLst/>
            </a:prstGeom>
            <a:solidFill>
              <a:schemeClr val="accent1"/>
            </a:solidFill>
            <a:ln w="63500" cap="flat" cmpd="sng" algn="ctr">
              <a:solidFill>
                <a:srgbClr val="00B050"/>
              </a:solidFill>
              <a:prstDash val="solid"/>
              <a:round/>
              <a:headEnd type="none" w="med" len="med"/>
              <a:tailEnd type="triangle"/>
            </a:ln>
            <a:effectLst/>
          </p:spPr>
        </p:cxnSp>
        <p:cxnSp>
          <p:nvCxnSpPr>
            <p:cNvPr id="26" name="Straight Arrow Connector 25"/>
            <p:cNvCxnSpPr/>
            <p:nvPr/>
          </p:nvCxnSpPr>
          <p:spPr bwMode="auto">
            <a:xfrm flipV="1">
              <a:off x="6197180" y="3270402"/>
              <a:ext cx="0" cy="720786"/>
            </a:xfrm>
            <a:prstGeom prst="straightConnector1">
              <a:avLst/>
            </a:prstGeom>
            <a:solidFill>
              <a:schemeClr val="accent1"/>
            </a:solidFill>
            <a:ln w="63500" cap="flat" cmpd="sng" algn="ctr">
              <a:solidFill>
                <a:srgbClr val="00B050"/>
              </a:solidFill>
              <a:prstDash val="solid"/>
              <a:round/>
              <a:headEnd type="none" w="med" len="med"/>
              <a:tailEnd type="triangle"/>
            </a:ln>
            <a:effectLst/>
          </p:spPr>
        </p:cxnSp>
        <p:cxnSp>
          <p:nvCxnSpPr>
            <p:cNvPr id="27" name="Straight Arrow Connector 26"/>
            <p:cNvCxnSpPr/>
            <p:nvPr/>
          </p:nvCxnSpPr>
          <p:spPr bwMode="auto">
            <a:xfrm flipV="1">
              <a:off x="6585053" y="3449651"/>
              <a:ext cx="0" cy="541537"/>
            </a:xfrm>
            <a:prstGeom prst="straightConnector1">
              <a:avLst/>
            </a:prstGeom>
            <a:solidFill>
              <a:schemeClr val="accent1"/>
            </a:solidFill>
            <a:ln w="63500" cap="flat" cmpd="sng" algn="ctr">
              <a:solidFill>
                <a:srgbClr val="00B050"/>
              </a:solidFill>
              <a:prstDash val="solid"/>
              <a:round/>
              <a:headEnd type="none" w="med" len="med"/>
              <a:tailEnd type="triangle"/>
            </a:ln>
            <a:effectLst/>
          </p:spPr>
        </p:cxnSp>
        <p:cxnSp>
          <p:nvCxnSpPr>
            <p:cNvPr id="28" name="Straight Arrow Connector 27"/>
            <p:cNvCxnSpPr/>
            <p:nvPr/>
          </p:nvCxnSpPr>
          <p:spPr bwMode="auto">
            <a:xfrm flipV="1">
              <a:off x="6972924" y="3584323"/>
              <a:ext cx="0" cy="406865"/>
            </a:xfrm>
            <a:prstGeom prst="straightConnector1">
              <a:avLst/>
            </a:prstGeom>
            <a:solidFill>
              <a:schemeClr val="accent1"/>
            </a:solidFill>
            <a:ln w="63500" cap="flat" cmpd="sng" algn="ctr">
              <a:solidFill>
                <a:srgbClr val="00B050"/>
              </a:solidFill>
              <a:prstDash val="solid"/>
              <a:round/>
              <a:headEnd type="none" w="med" len="med"/>
              <a:tailEnd type="triangle"/>
            </a:ln>
            <a:effectLst/>
          </p:spPr>
        </p:cxnSp>
      </p:grpSp>
      <p:sp>
        <p:nvSpPr>
          <p:cNvPr id="29" name="Content Placeholder 2"/>
          <p:cNvSpPr txBox="1">
            <a:spLocks/>
          </p:cNvSpPr>
          <p:nvPr/>
        </p:nvSpPr>
        <p:spPr bwMode="auto">
          <a:xfrm>
            <a:off x="1954901" y="6397079"/>
            <a:ext cx="526951" cy="5087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57200" indent="-457200" algn="l" rtl="0" fontAlgn="base">
              <a:spcBef>
                <a:spcPct val="20000"/>
              </a:spcBef>
              <a:spcAft>
                <a:spcPct val="0"/>
              </a:spcAft>
              <a:buClrTx/>
              <a:buFont typeface="Arial" panose="020B0604020202020204" pitchFamily="34" charset="0"/>
              <a:buChar char="•"/>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marL="0" indent="0">
              <a:buNone/>
            </a:pPr>
            <a:r>
              <a:rPr lang="en-US" sz="2000" b="0" kern="0" dirty="0"/>
              <a:t>-4</a:t>
            </a:r>
          </a:p>
        </p:txBody>
      </p:sp>
      <p:sp>
        <p:nvSpPr>
          <p:cNvPr id="30" name="Content Placeholder 2"/>
          <p:cNvSpPr txBox="1">
            <a:spLocks/>
          </p:cNvSpPr>
          <p:nvPr/>
        </p:nvSpPr>
        <p:spPr bwMode="auto">
          <a:xfrm>
            <a:off x="4354246" y="6397079"/>
            <a:ext cx="336671" cy="5087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57200" indent="-457200" algn="l" rtl="0" fontAlgn="base">
              <a:spcBef>
                <a:spcPct val="20000"/>
              </a:spcBef>
              <a:spcAft>
                <a:spcPct val="0"/>
              </a:spcAft>
              <a:buClrTx/>
              <a:buFont typeface="Arial" panose="020B0604020202020204" pitchFamily="34" charset="0"/>
              <a:buChar char="•"/>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marL="0" indent="0">
              <a:buNone/>
            </a:pPr>
            <a:r>
              <a:rPr lang="en-US" sz="2000" b="0" kern="0" dirty="0"/>
              <a:t>2</a:t>
            </a:r>
          </a:p>
        </p:txBody>
      </p:sp>
      <p:sp>
        <p:nvSpPr>
          <p:cNvPr id="31" name="Content Placeholder 2"/>
          <p:cNvSpPr txBox="1">
            <a:spLocks/>
          </p:cNvSpPr>
          <p:nvPr/>
        </p:nvSpPr>
        <p:spPr bwMode="auto">
          <a:xfrm>
            <a:off x="4738721" y="6397079"/>
            <a:ext cx="336671" cy="5087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57200" indent="-457200" algn="l" rtl="0" fontAlgn="base">
              <a:spcBef>
                <a:spcPct val="20000"/>
              </a:spcBef>
              <a:spcAft>
                <a:spcPct val="0"/>
              </a:spcAft>
              <a:buClrTx/>
              <a:buFont typeface="Arial" panose="020B0604020202020204" pitchFamily="34" charset="0"/>
              <a:buChar char="•"/>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marL="0" indent="0">
              <a:buNone/>
            </a:pPr>
            <a:r>
              <a:rPr lang="en-US" sz="2000" b="0" kern="0" dirty="0"/>
              <a:t>3</a:t>
            </a:r>
          </a:p>
        </p:txBody>
      </p:sp>
      <p:sp>
        <p:nvSpPr>
          <p:cNvPr id="32" name="Content Placeholder 2"/>
          <p:cNvSpPr txBox="1">
            <a:spLocks/>
          </p:cNvSpPr>
          <p:nvPr/>
        </p:nvSpPr>
        <p:spPr bwMode="auto">
          <a:xfrm>
            <a:off x="5123197" y="6397079"/>
            <a:ext cx="336671" cy="5087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57200" indent="-457200" algn="l" rtl="0" fontAlgn="base">
              <a:spcBef>
                <a:spcPct val="20000"/>
              </a:spcBef>
              <a:spcAft>
                <a:spcPct val="0"/>
              </a:spcAft>
              <a:buClrTx/>
              <a:buFont typeface="Arial" panose="020B0604020202020204" pitchFamily="34" charset="0"/>
              <a:buChar char="•"/>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marL="0" indent="0">
              <a:buNone/>
            </a:pPr>
            <a:r>
              <a:rPr lang="en-US" sz="2000" b="0" kern="0" dirty="0"/>
              <a:t>4</a:t>
            </a:r>
          </a:p>
        </p:txBody>
      </p:sp>
      <p:sp>
        <p:nvSpPr>
          <p:cNvPr id="35" name="Content Placeholder 2"/>
          <p:cNvSpPr txBox="1">
            <a:spLocks/>
          </p:cNvSpPr>
          <p:nvPr/>
        </p:nvSpPr>
        <p:spPr bwMode="auto">
          <a:xfrm>
            <a:off x="3880242" y="3970979"/>
            <a:ext cx="1376396" cy="5087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57200" indent="-457200" algn="l" rtl="0" fontAlgn="base">
              <a:spcBef>
                <a:spcPct val="20000"/>
              </a:spcBef>
              <a:spcAft>
                <a:spcPct val="0"/>
              </a:spcAft>
              <a:buClrTx/>
              <a:buFont typeface="Arial" panose="020B0604020202020204" pitchFamily="34" charset="0"/>
              <a:buChar char="•"/>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marL="0" indent="0">
              <a:buNone/>
            </a:pPr>
            <a:r>
              <a:rPr lang="en-US" sz="2400" kern="0" dirty="0"/>
              <a:t>g(-k)</a:t>
            </a:r>
          </a:p>
        </p:txBody>
      </p:sp>
      <p:sp>
        <p:nvSpPr>
          <p:cNvPr id="37" name="Content Placeholder 2"/>
          <p:cNvSpPr txBox="1">
            <a:spLocks/>
          </p:cNvSpPr>
          <p:nvPr/>
        </p:nvSpPr>
        <p:spPr bwMode="auto">
          <a:xfrm>
            <a:off x="2352827" y="6397079"/>
            <a:ext cx="526951" cy="5087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57200" indent="-457200" algn="l" rtl="0" fontAlgn="base">
              <a:spcBef>
                <a:spcPct val="20000"/>
              </a:spcBef>
              <a:spcAft>
                <a:spcPct val="0"/>
              </a:spcAft>
              <a:buClrTx/>
              <a:buFont typeface="Arial" panose="020B0604020202020204" pitchFamily="34" charset="0"/>
              <a:buChar char="•"/>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marL="0" indent="0">
              <a:buNone/>
            </a:pPr>
            <a:r>
              <a:rPr lang="en-US" sz="2000" b="0" kern="0" dirty="0"/>
              <a:t>-3</a:t>
            </a:r>
          </a:p>
        </p:txBody>
      </p:sp>
      <p:sp>
        <p:nvSpPr>
          <p:cNvPr id="38" name="Content Placeholder 2"/>
          <p:cNvSpPr txBox="1">
            <a:spLocks/>
          </p:cNvSpPr>
          <p:nvPr/>
        </p:nvSpPr>
        <p:spPr bwMode="auto">
          <a:xfrm>
            <a:off x="2723742" y="6397079"/>
            <a:ext cx="526951" cy="5087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57200" indent="-457200" algn="l" rtl="0" fontAlgn="base">
              <a:spcBef>
                <a:spcPct val="20000"/>
              </a:spcBef>
              <a:spcAft>
                <a:spcPct val="0"/>
              </a:spcAft>
              <a:buClrTx/>
              <a:buFont typeface="Arial" panose="020B0604020202020204" pitchFamily="34" charset="0"/>
              <a:buChar char="•"/>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marL="0" indent="0">
              <a:buNone/>
            </a:pPr>
            <a:r>
              <a:rPr lang="en-US" sz="2000" b="0" kern="0" dirty="0"/>
              <a:t>-2</a:t>
            </a:r>
          </a:p>
        </p:txBody>
      </p:sp>
      <p:sp>
        <p:nvSpPr>
          <p:cNvPr id="39" name="Content Placeholder 2"/>
          <p:cNvSpPr txBox="1">
            <a:spLocks/>
          </p:cNvSpPr>
          <p:nvPr/>
        </p:nvSpPr>
        <p:spPr bwMode="auto">
          <a:xfrm>
            <a:off x="3125304" y="6397079"/>
            <a:ext cx="526951" cy="5087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57200" indent="-457200" algn="l" rtl="0" fontAlgn="base">
              <a:spcBef>
                <a:spcPct val="20000"/>
              </a:spcBef>
              <a:spcAft>
                <a:spcPct val="0"/>
              </a:spcAft>
              <a:buClrTx/>
              <a:buFont typeface="Arial" panose="020B0604020202020204" pitchFamily="34" charset="0"/>
              <a:buChar char="•"/>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marL="0" indent="0">
              <a:buNone/>
            </a:pPr>
            <a:r>
              <a:rPr lang="en-US" sz="2000" b="0" kern="0" dirty="0"/>
              <a:t>-1</a:t>
            </a:r>
          </a:p>
        </p:txBody>
      </p:sp>
      <p:sp>
        <p:nvSpPr>
          <p:cNvPr id="40" name="Content Placeholder 2"/>
          <p:cNvSpPr txBox="1">
            <a:spLocks/>
          </p:cNvSpPr>
          <p:nvPr/>
        </p:nvSpPr>
        <p:spPr bwMode="auto">
          <a:xfrm>
            <a:off x="4007866" y="6397079"/>
            <a:ext cx="336671" cy="5087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57200" indent="-457200" algn="l" rtl="0" fontAlgn="base">
              <a:spcBef>
                <a:spcPct val="20000"/>
              </a:spcBef>
              <a:spcAft>
                <a:spcPct val="0"/>
              </a:spcAft>
              <a:buClrTx/>
              <a:buFont typeface="Arial" panose="020B0604020202020204" pitchFamily="34" charset="0"/>
              <a:buChar char="•"/>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marL="0" indent="0">
              <a:buNone/>
            </a:pPr>
            <a:r>
              <a:rPr lang="en-US" sz="2000" b="0" kern="0" dirty="0"/>
              <a:t>1</a:t>
            </a:r>
          </a:p>
        </p:txBody>
      </p:sp>
      <p:cxnSp>
        <p:nvCxnSpPr>
          <p:cNvPr id="7" name="Straight Connector 6"/>
          <p:cNvCxnSpPr/>
          <p:nvPr/>
        </p:nvCxnSpPr>
        <p:spPr bwMode="auto">
          <a:xfrm>
            <a:off x="7963792" y="1720169"/>
            <a:ext cx="0" cy="4408265"/>
          </a:xfrm>
          <a:prstGeom prst="line">
            <a:avLst/>
          </a:prstGeom>
          <a:solidFill>
            <a:schemeClr val="accent1"/>
          </a:solidFill>
          <a:ln w="63500" cap="flat" cmpd="sng" algn="ctr">
            <a:solidFill>
              <a:srgbClr val="00B0F0"/>
            </a:solidFill>
            <a:prstDash val="dash"/>
            <a:round/>
            <a:headEnd type="none" w="med" len="med"/>
            <a:tailEnd type="none" w="med" len="med"/>
          </a:ln>
          <a:effectLst/>
        </p:spPr>
      </p:cxnSp>
      <p:pic>
        <p:nvPicPr>
          <p:cNvPr id="41" name="Picture 40"/>
          <p:cNvPicPr>
            <a:picLocks noChangeAspect="1"/>
          </p:cNvPicPr>
          <p:nvPr/>
        </p:nvPicPr>
        <p:blipFill>
          <a:blip r:embed="rId5"/>
          <a:stretch>
            <a:fillRect/>
          </a:stretch>
        </p:blipFill>
        <p:spPr>
          <a:xfrm>
            <a:off x="5006755" y="1164481"/>
            <a:ext cx="2295525" cy="1304925"/>
          </a:xfrm>
          <a:prstGeom prst="rect">
            <a:avLst/>
          </a:prstGeom>
        </p:spPr>
      </p:pic>
    </p:spTree>
    <p:extLst>
      <p:ext uri="{BB962C8B-B14F-4D97-AF65-F5344CB8AC3E}">
        <p14:creationId xmlns:p14="http://schemas.microsoft.com/office/powerpoint/2010/main" val="134020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 name="Picture 6" descr="https://clipartion.com/wp-content/uploads/2015/11/clip-artcarrie-teaching-first-hands-and-feet-doodles-with.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68076" y="1105900"/>
            <a:ext cx="2109160" cy="2520704"/>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8" descr="Image result for hand sig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56712" y="3778476"/>
            <a:ext cx="1948974" cy="2320207"/>
          </a:xfrm>
          <a:prstGeom prst="rect">
            <a:avLst/>
          </a:prstGeom>
          <a:noFill/>
          <a:extLst>
            <a:ext uri="{909E8E84-426E-40DD-AFC4-6F175D3DCCD1}">
              <a14:hiddenFill xmlns:a14="http://schemas.microsoft.com/office/drawing/2010/main">
                <a:solidFill>
                  <a:srgbClr val="FFFFFF"/>
                </a:solidFill>
              </a14:hiddenFill>
            </a:ext>
          </a:extLst>
        </p:spPr>
      </p:pic>
      <p:cxnSp>
        <p:nvCxnSpPr>
          <p:cNvPr id="20" name="Straight Arrow Connector 19"/>
          <p:cNvCxnSpPr>
            <a:stCxn id="3" idx="0"/>
          </p:cNvCxnSpPr>
          <p:nvPr/>
        </p:nvCxnSpPr>
        <p:spPr bwMode="auto">
          <a:xfrm flipH="1" flipV="1">
            <a:off x="2385992" y="1117308"/>
            <a:ext cx="13589" cy="2382162"/>
          </a:xfrm>
          <a:prstGeom prst="straightConnector1">
            <a:avLst/>
          </a:prstGeom>
          <a:solidFill>
            <a:schemeClr val="accent1"/>
          </a:solidFill>
          <a:ln w="38100" cap="flat" cmpd="sng" algn="ctr">
            <a:solidFill>
              <a:schemeClr val="tx1">
                <a:lumMod val="95000"/>
                <a:lumOff val="5000"/>
              </a:schemeClr>
            </a:solidFill>
            <a:prstDash val="solid"/>
            <a:round/>
            <a:headEnd type="none" w="med" len="med"/>
            <a:tailEnd type="triangle"/>
          </a:ln>
          <a:effectLst/>
        </p:spPr>
      </p:cxnSp>
      <p:sp>
        <p:nvSpPr>
          <p:cNvPr id="2" name="Title 1"/>
          <p:cNvSpPr>
            <a:spLocks noGrp="1"/>
          </p:cNvSpPr>
          <p:nvPr>
            <p:ph type="title"/>
          </p:nvPr>
        </p:nvSpPr>
        <p:spPr/>
        <p:txBody>
          <a:bodyPr/>
          <a:lstStyle/>
          <a:p>
            <a:r>
              <a:rPr lang="en-US" dirty="0"/>
              <a:t>Multiplications at n=8</a:t>
            </a:r>
          </a:p>
        </p:txBody>
      </p:sp>
      <p:cxnSp>
        <p:nvCxnSpPr>
          <p:cNvPr id="10" name="Straight Arrow Connector 9"/>
          <p:cNvCxnSpPr/>
          <p:nvPr/>
        </p:nvCxnSpPr>
        <p:spPr bwMode="auto">
          <a:xfrm>
            <a:off x="1260573" y="3499470"/>
            <a:ext cx="3210832" cy="0"/>
          </a:xfrm>
          <a:prstGeom prst="straightConnector1">
            <a:avLst/>
          </a:prstGeom>
          <a:solidFill>
            <a:schemeClr val="accent1"/>
          </a:solidFill>
          <a:ln w="38100" cap="flat" cmpd="sng" algn="ctr">
            <a:solidFill>
              <a:schemeClr val="tx1">
                <a:lumMod val="95000"/>
                <a:lumOff val="5000"/>
              </a:schemeClr>
            </a:solidFill>
            <a:prstDash val="solid"/>
            <a:round/>
            <a:headEnd type="none" w="med" len="med"/>
            <a:tailEnd type="triangle"/>
          </a:ln>
          <a:effectLst/>
        </p:spPr>
      </p:cxnSp>
      <p:sp>
        <p:nvSpPr>
          <p:cNvPr id="3" name="Content Placeholder 2"/>
          <p:cNvSpPr>
            <a:spLocks noGrp="1"/>
          </p:cNvSpPr>
          <p:nvPr>
            <p:ph idx="1"/>
          </p:nvPr>
        </p:nvSpPr>
        <p:spPr>
          <a:xfrm>
            <a:off x="2231245" y="3499470"/>
            <a:ext cx="336671" cy="508782"/>
          </a:xfrm>
        </p:spPr>
        <p:txBody>
          <a:bodyPr/>
          <a:lstStyle/>
          <a:p>
            <a:r>
              <a:rPr lang="en-US" sz="2000" b="0" dirty="0"/>
              <a:t>0</a:t>
            </a:r>
          </a:p>
        </p:txBody>
      </p:sp>
      <p:grpSp>
        <p:nvGrpSpPr>
          <p:cNvPr id="33" name="Group 32"/>
          <p:cNvGrpSpPr/>
          <p:nvPr/>
        </p:nvGrpSpPr>
        <p:grpSpPr>
          <a:xfrm>
            <a:off x="2385991" y="2242723"/>
            <a:ext cx="1551490" cy="1276917"/>
            <a:chOff x="1066800" y="2694102"/>
            <a:chExt cx="1551490" cy="1276917"/>
          </a:xfrm>
        </p:grpSpPr>
        <p:cxnSp>
          <p:nvCxnSpPr>
            <p:cNvPr id="11" name="Straight Arrow Connector 10"/>
            <p:cNvCxnSpPr/>
            <p:nvPr/>
          </p:nvCxnSpPr>
          <p:spPr bwMode="auto">
            <a:xfrm flipV="1">
              <a:off x="1066800" y="2694102"/>
              <a:ext cx="0" cy="1276917"/>
            </a:xfrm>
            <a:prstGeom prst="straightConnector1">
              <a:avLst/>
            </a:prstGeom>
            <a:solidFill>
              <a:schemeClr val="accent1"/>
            </a:solidFill>
            <a:ln w="63500" cap="flat" cmpd="sng" algn="ctr">
              <a:solidFill>
                <a:srgbClr val="FF0000"/>
              </a:solidFill>
              <a:prstDash val="solid"/>
              <a:round/>
              <a:headEnd type="none" w="med" len="med"/>
              <a:tailEnd type="triangle"/>
            </a:ln>
            <a:effectLst/>
          </p:spPr>
        </p:cxnSp>
        <p:cxnSp>
          <p:nvCxnSpPr>
            <p:cNvPr id="12" name="Straight Arrow Connector 11"/>
            <p:cNvCxnSpPr/>
            <p:nvPr/>
          </p:nvCxnSpPr>
          <p:spPr bwMode="auto">
            <a:xfrm flipV="1">
              <a:off x="1454673" y="3011652"/>
              <a:ext cx="0" cy="959367"/>
            </a:xfrm>
            <a:prstGeom prst="straightConnector1">
              <a:avLst/>
            </a:prstGeom>
            <a:solidFill>
              <a:schemeClr val="accent1"/>
            </a:solidFill>
            <a:ln w="63500" cap="flat" cmpd="sng" algn="ctr">
              <a:solidFill>
                <a:srgbClr val="FF0000"/>
              </a:solidFill>
              <a:prstDash val="solid"/>
              <a:round/>
              <a:headEnd type="none" w="med" len="med"/>
              <a:tailEnd type="triangle"/>
            </a:ln>
            <a:effectLst/>
          </p:spPr>
        </p:cxnSp>
        <p:cxnSp>
          <p:nvCxnSpPr>
            <p:cNvPr id="13" name="Straight Arrow Connector 12"/>
            <p:cNvCxnSpPr/>
            <p:nvPr/>
          </p:nvCxnSpPr>
          <p:spPr bwMode="auto">
            <a:xfrm flipV="1">
              <a:off x="1842546" y="3250233"/>
              <a:ext cx="0" cy="720786"/>
            </a:xfrm>
            <a:prstGeom prst="straightConnector1">
              <a:avLst/>
            </a:prstGeom>
            <a:solidFill>
              <a:schemeClr val="accent1"/>
            </a:solidFill>
            <a:ln w="63500" cap="flat" cmpd="sng" algn="ctr">
              <a:solidFill>
                <a:srgbClr val="FF0000"/>
              </a:solidFill>
              <a:prstDash val="solid"/>
              <a:round/>
              <a:headEnd type="none" w="med" len="med"/>
              <a:tailEnd type="triangle"/>
            </a:ln>
            <a:effectLst/>
          </p:spPr>
        </p:cxnSp>
        <p:cxnSp>
          <p:nvCxnSpPr>
            <p:cNvPr id="14" name="Straight Arrow Connector 13"/>
            <p:cNvCxnSpPr/>
            <p:nvPr/>
          </p:nvCxnSpPr>
          <p:spPr bwMode="auto">
            <a:xfrm flipV="1">
              <a:off x="2230419" y="3429482"/>
              <a:ext cx="0" cy="541537"/>
            </a:xfrm>
            <a:prstGeom prst="straightConnector1">
              <a:avLst/>
            </a:prstGeom>
            <a:solidFill>
              <a:schemeClr val="accent1"/>
            </a:solidFill>
            <a:ln w="63500" cap="flat" cmpd="sng" algn="ctr">
              <a:solidFill>
                <a:srgbClr val="FF0000"/>
              </a:solidFill>
              <a:prstDash val="solid"/>
              <a:round/>
              <a:headEnd type="none" w="med" len="med"/>
              <a:tailEnd type="triangle"/>
            </a:ln>
            <a:effectLst/>
          </p:spPr>
        </p:cxnSp>
        <p:cxnSp>
          <p:nvCxnSpPr>
            <p:cNvPr id="15" name="Straight Arrow Connector 14"/>
            <p:cNvCxnSpPr/>
            <p:nvPr/>
          </p:nvCxnSpPr>
          <p:spPr bwMode="auto">
            <a:xfrm flipV="1">
              <a:off x="2618290" y="3564154"/>
              <a:ext cx="0" cy="406865"/>
            </a:xfrm>
            <a:prstGeom prst="straightConnector1">
              <a:avLst/>
            </a:prstGeom>
            <a:solidFill>
              <a:schemeClr val="accent1"/>
            </a:solidFill>
            <a:ln w="63500" cap="flat" cmpd="sng" algn="ctr">
              <a:solidFill>
                <a:srgbClr val="FF0000"/>
              </a:solidFill>
              <a:prstDash val="solid"/>
              <a:round/>
              <a:headEnd type="none" w="med" len="med"/>
              <a:tailEnd type="triangle"/>
            </a:ln>
            <a:effectLst/>
          </p:spPr>
        </p:cxnSp>
      </p:grpSp>
      <p:sp>
        <p:nvSpPr>
          <p:cNvPr id="16" name="Content Placeholder 2"/>
          <p:cNvSpPr txBox="1">
            <a:spLocks/>
          </p:cNvSpPr>
          <p:nvPr/>
        </p:nvSpPr>
        <p:spPr bwMode="auto">
          <a:xfrm>
            <a:off x="2615720" y="3499470"/>
            <a:ext cx="336671" cy="5087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57200" indent="-457200" algn="l" rtl="0" fontAlgn="base">
              <a:spcBef>
                <a:spcPct val="20000"/>
              </a:spcBef>
              <a:spcAft>
                <a:spcPct val="0"/>
              </a:spcAft>
              <a:buClrTx/>
              <a:buFont typeface="Arial" panose="020B0604020202020204" pitchFamily="34" charset="0"/>
              <a:buChar char="•"/>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marL="0" indent="0">
              <a:buNone/>
            </a:pPr>
            <a:r>
              <a:rPr lang="en-US" sz="2000" b="0" kern="0" dirty="0"/>
              <a:t>1</a:t>
            </a:r>
          </a:p>
        </p:txBody>
      </p:sp>
      <p:sp>
        <p:nvSpPr>
          <p:cNvPr id="17" name="Content Placeholder 2"/>
          <p:cNvSpPr txBox="1">
            <a:spLocks/>
          </p:cNvSpPr>
          <p:nvPr/>
        </p:nvSpPr>
        <p:spPr bwMode="auto">
          <a:xfrm>
            <a:off x="3000195" y="3499470"/>
            <a:ext cx="336671" cy="5087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57200" indent="-457200" algn="l" rtl="0" fontAlgn="base">
              <a:spcBef>
                <a:spcPct val="20000"/>
              </a:spcBef>
              <a:spcAft>
                <a:spcPct val="0"/>
              </a:spcAft>
              <a:buClrTx/>
              <a:buFont typeface="Arial" panose="020B0604020202020204" pitchFamily="34" charset="0"/>
              <a:buChar char="•"/>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marL="0" indent="0">
              <a:buNone/>
            </a:pPr>
            <a:r>
              <a:rPr lang="en-US" sz="2000" b="0" kern="0" dirty="0"/>
              <a:t>2</a:t>
            </a:r>
          </a:p>
        </p:txBody>
      </p:sp>
      <p:sp>
        <p:nvSpPr>
          <p:cNvPr id="18" name="Content Placeholder 2"/>
          <p:cNvSpPr txBox="1">
            <a:spLocks/>
          </p:cNvSpPr>
          <p:nvPr/>
        </p:nvSpPr>
        <p:spPr bwMode="auto">
          <a:xfrm>
            <a:off x="3384670" y="3499470"/>
            <a:ext cx="336671" cy="5087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57200" indent="-457200" algn="l" rtl="0" fontAlgn="base">
              <a:spcBef>
                <a:spcPct val="20000"/>
              </a:spcBef>
              <a:spcAft>
                <a:spcPct val="0"/>
              </a:spcAft>
              <a:buClrTx/>
              <a:buFont typeface="Arial" panose="020B0604020202020204" pitchFamily="34" charset="0"/>
              <a:buChar char="•"/>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marL="0" indent="0">
              <a:buNone/>
            </a:pPr>
            <a:r>
              <a:rPr lang="en-US" sz="2000" b="0" kern="0" dirty="0"/>
              <a:t>3</a:t>
            </a:r>
          </a:p>
        </p:txBody>
      </p:sp>
      <p:sp>
        <p:nvSpPr>
          <p:cNvPr id="19" name="Content Placeholder 2"/>
          <p:cNvSpPr txBox="1">
            <a:spLocks/>
          </p:cNvSpPr>
          <p:nvPr/>
        </p:nvSpPr>
        <p:spPr bwMode="auto">
          <a:xfrm>
            <a:off x="3769146" y="3499470"/>
            <a:ext cx="336671" cy="5087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57200" indent="-457200" algn="l" rtl="0" fontAlgn="base">
              <a:spcBef>
                <a:spcPct val="20000"/>
              </a:spcBef>
              <a:spcAft>
                <a:spcPct val="0"/>
              </a:spcAft>
              <a:buClrTx/>
              <a:buFont typeface="Arial" panose="020B0604020202020204" pitchFamily="34" charset="0"/>
              <a:buChar char="•"/>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marL="0" indent="0">
              <a:buNone/>
            </a:pPr>
            <a:r>
              <a:rPr lang="en-US" sz="2000" b="0" kern="0" dirty="0"/>
              <a:t>4</a:t>
            </a:r>
          </a:p>
        </p:txBody>
      </p:sp>
      <p:sp>
        <p:nvSpPr>
          <p:cNvPr id="34" name="Content Placeholder 2"/>
          <p:cNvSpPr txBox="1">
            <a:spLocks/>
          </p:cNvSpPr>
          <p:nvPr/>
        </p:nvSpPr>
        <p:spPr bwMode="auto">
          <a:xfrm>
            <a:off x="2575608" y="1137285"/>
            <a:ext cx="1376396" cy="5087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57200" indent="-457200" algn="l" rtl="0" fontAlgn="base">
              <a:spcBef>
                <a:spcPct val="20000"/>
              </a:spcBef>
              <a:spcAft>
                <a:spcPct val="0"/>
              </a:spcAft>
              <a:buClrTx/>
              <a:buFont typeface="Arial" panose="020B0604020202020204" pitchFamily="34" charset="0"/>
              <a:buChar char="•"/>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marL="0" indent="0">
              <a:buNone/>
            </a:pPr>
            <a:r>
              <a:rPr lang="en-US" sz="2000" b="0" kern="0" dirty="0"/>
              <a:t>f(k)</a:t>
            </a:r>
          </a:p>
        </p:txBody>
      </p:sp>
      <p:cxnSp>
        <p:nvCxnSpPr>
          <p:cNvPr id="21" name="Straight Arrow Connector 20"/>
          <p:cNvCxnSpPr/>
          <p:nvPr/>
        </p:nvCxnSpPr>
        <p:spPr bwMode="auto">
          <a:xfrm flipH="1" flipV="1">
            <a:off x="2423435" y="3887098"/>
            <a:ext cx="13589" cy="2382162"/>
          </a:xfrm>
          <a:prstGeom prst="straightConnector1">
            <a:avLst/>
          </a:prstGeom>
          <a:solidFill>
            <a:schemeClr val="accent1"/>
          </a:solidFill>
          <a:ln w="38100" cap="flat" cmpd="sng" algn="ctr">
            <a:solidFill>
              <a:schemeClr val="tx1">
                <a:lumMod val="95000"/>
                <a:lumOff val="5000"/>
              </a:schemeClr>
            </a:solidFill>
            <a:prstDash val="solid"/>
            <a:round/>
            <a:headEnd type="none" w="med" len="med"/>
            <a:tailEnd type="triangle"/>
          </a:ln>
          <a:effectLst/>
        </p:spPr>
      </p:cxnSp>
      <p:cxnSp>
        <p:nvCxnSpPr>
          <p:cNvPr id="22" name="Straight Arrow Connector 21"/>
          <p:cNvCxnSpPr/>
          <p:nvPr/>
        </p:nvCxnSpPr>
        <p:spPr bwMode="auto">
          <a:xfrm>
            <a:off x="386026" y="6269260"/>
            <a:ext cx="5688186" cy="0"/>
          </a:xfrm>
          <a:prstGeom prst="straightConnector1">
            <a:avLst/>
          </a:prstGeom>
          <a:solidFill>
            <a:schemeClr val="accent1"/>
          </a:solidFill>
          <a:ln w="38100" cap="flat" cmpd="sng" algn="ctr">
            <a:solidFill>
              <a:schemeClr val="tx1">
                <a:lumMod val="95000"/>
                <a:lumOff val="5000"/>
              </a:schemeClr>
            </a:solidFill>
            <a:prstDash val="solid"/>
            <a:round/>
            <a:headEnd type="none" w="med" len="med"/>
            <a:tailEnd type="triangle"/>
          </a:ln>
          <a:effectLst/>
        </p:spPr>
      </p:cxnSp>
      <p:sp>
        <p:nvSpPr>
          <p:cNvPr id="24" name="Content Placeholder 2"/>
          <p:cNvSpPr txBox="1">
            <a:spLocks/>
          </p:cNvSpPr>
          <p:nvPr/>
        </p:nvSpPr>
        <p:spPr bwMode="auto">
          <a:xfrm>
            <a:off x="2297270" y="6269260"/>
            <a:ext cx="336671" cy="5087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57200" indent="-457200" algn="l" rtl="0" fontAlgn="base">
              <a:spcBef>
                <a:spcPct val="20000"/>
              </a:spcBef>
              <a:spcAft>
                <a:spcPct val="0"/>
              </a:spcAft>
              <a:buClrTx/>
              <a:buFont typeface="Arial" panose="020B0604020202020204" pitchFamily="34" charset="0"/>
              <a:buChar char="•"/>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marL="0" indent="0">
              <a:buNone/>
            </a:pPr>
            <a:r>
              <a:rPr lang="en-US" sz="2000" b="0" kern="0"/>
              <a:t>0</a:t>
            </a:r>
            <a:endParaRPr lang="en-US" sz="2000" b="0" kern="0" dirty="0"/>
          </a:p>
        </p:txBody>
      </p:sp>
      <p:grpSp>
        <p:nvGrpSpPr>
          <p:cNvPr id="9" name="Group 8"/>
          <p:cNvGrpSpPr/>
          <p:nvPr/>
        </p:nvGrpSpPr>
        <p:grpSpPr>
          <a:xfrm>
            <a:off x="4000367" y="5012513"/>
            <a:ext cx="1551490" cy="1276917"/>
            <a:chOff x="5421434" y="2714271"/>
            <a:chExt cx="1551490" cy="1276917"/>
          </a:xfrm>
        </p:grpSpPr>
        <p:cxnSp>
          <p:nvCxnSpPr>
            <p:cNvPr id="23" name="Straight Arrow Connector 22"/>
            <p:cNvCxnSpPr/>
            <p:nvPr/>
          </p:nvCxnSpPr>
          <p:spPr bwMode="auto">
            <a:xfrm flipV="1">
              <a:off x="5421434" y="2714271"/>
              <a:ext cx="0" cy="1276917"/>
            </a:xfrm>
            <a:prstGeom prst="straightConnector1">
              <a:avLst/>
            </a:prstGeom>
            <a:solidFill>
              <a:schemeClr val="accent1"/>
            </a:solidFill>
            <a:ln w="63500" cap="flat" cmpd="sng" algn="ctr">
              <a:solidFill>
                <a:srgbClr val="00B050"/>
              </a:solidFill>
              <a:prstDash val="solid"/>
              <a:round/>
              <a:headEnd type="none" w="med" len="med"/>
              <a:tailEnd type="triangle"/>
            </a:ln>
            <a:effectLst/>
          </p:spPr>
        </p:cxnSp>
        <p:cxnSp>
          <p:nvCxnSpPr>
            <p:cNvPr id="25" name="Straight Arrow Connector 24"/>
            <p:cNvCxnSpPr/>
            <p:nvPr/>
          </p:nvCxnSpPr>
          <p:spPr bwMode="auto">
            <a:xfrm flipV="1">
              <a:off x="5809307" y="3031821"/>
              <a:ext cx="0" cy="959367"/>
            </a:xfrm>
            <a:prstGeom prst="straightConnector1">
              <a:avLst/>
            </a:prstGeom>
            <a:solidFill>
              <a:schemeClr val="accent1"/>
            </a:solidFill>
            <a:ln w="63500" cap="flat" cmpd="sng" algn="ctr">
              <a:solidFill>
                <a:srgbClr val="00B050"/>
              </a:solidFill>
              <a:prstDash val="solid"/>
              <a:round/>
              <a:headEnd type="none" w="med" len="med"/>
              <a:tailEnd type="triangle"/>
            </a:ln>
            <a:effectLst/>
          </p:spPr>
        </p:cxnSp>
        <p:cxnSp>
          <p:nvCxnSpPr>
            <p:cNvPr id="26" name="Straight Arrow Connector 25"/>
            <p:cNvCxnSpPr/>
            <p:nvPr/>
          </p:nvCxnSpPr>
          <p:spPr bwMode="auto">
            <a:xfrm flipV="1">
              <a:off x="6197180" y="3270402"/>
              <a:ext cx="0" cy="720786"/>
            </a:xfrm>
            <a:prstGeom prst="straightConnector1">
              <a:avLst/>
            </a:prstGeom>
            <a:solidFill>
              <a:schemeClr val="accent1"/>
            </a:solidFill>
            <a:ln w="63500" cap="flat" cmpd="sng" algn="ctr">
              <a:solidFill>
                <a:srgbClr val="00B050"/>
              </a:solidFill>
              <a:prstDash val="solid"/>
              <a:round/>
              <a:headEnd type="none" w="med" len="med"/>
              <a:tailEnd type="triangle"/>
            </a:ln>
            <a:effectLst/>
          </p:spPr>
        </p:cxnSp>
        <p:cxnSp>
          <p:nvCxnSpPr>
            <p:cNvPr id="27" name="Straight Arrow Connector 26"/>
            <p:cNvCxnSpPr/>
            <p:nvPr/>
          </p:nvCxnSpPr>
          <p:spPr bwMode="auto">
            <a:xfrm flipV="1">
              <a:off x="6585053" y="3449651"/>
              <a:ext cx="0" cy="541537"/>
            </a:xfrm>
            <a:prstGeom prst="straightConnector1">
              <a:avLst/>
            </a:prstGeom>
            <a:solidFill>
              <a:schemeClr val="accent1"/>
            </a:solidFill>
            <a:ln w="63500" cap="flat" cmpd="sng" algn="ctr">
              <a:solidFill>
                <a:srgbClr val="00B050"/>
              </a:solidFill>
              <a:prstDash val="solid"/>
              <a:round/>
              <a:headEnd type="none" w="med" len="med"/>
              <a:tailEnd type="triangle"/>
            </a:ln>
            <a:effectLst/>
          </p:spPr>
        </p:cxnSp>
        <p:cxnSp>
          <p:nvCxnSpPr>
            <p:cNvPr id="28" name="Straight Arrow Connector 27"/>
            <p:cNvCxnSpPr/>
            <p:nvPr/>
          </p:nvCxnSpPr>
          <p:spPr bwMode="auto">
            <a:xfrm flipV="1">
              <a:off x="6972924" y="3584323"/>
              <a:ext cx="0" cy="406865"/>
            </a:xfrm>
            <a:prstGeom prst="straightConnector1">
              <a:avLst/>
            </a:prstGeom>
            <a:solidFill>
              <a:schemeClr val="accent1"/>
            </a:solidFill>
            <a:ln w="63500" cap="flat" cmpd="sng" algn="ctr">
              <a:solidFill>
                <a:srgbClr val="00B050"/>
              </a:solidFill>
              <a:prstDash val="solid"/>
              <a:round/>
              <a:headEnd type="none" w="med" len="med"/>
              <a:tailEnd type="triangle"/>
            </a:ln>
            <a:effectLst/>
          </p:spPr>
        </p:cxnSp>
      </p:grpSp>
      <p:sp>
        <p:nvSpPr>
          <p:cNvPr id="29" name="Content Placeholder 2"/>
          <p:cNvSpPr txBox="1">
            <a:spLocks/>
          </p:cNvSpPr>
          <p:nvPr/>
        </p:nvSpPr>
        <p:spPr bwMode="auto">
          <a:xfrm>
            <a:off x="666875" y="6269260"/>
            <a:ext cx="526951" cy="5087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57200" indent="-457200" algn="l" rtl="0" fontAlgn="base">
              <a:spcBef>
                <a:spcPct val="20000"/>
              </a:spcBef>
              <a:spcAft>
                <a:spcPct val="0"/>
              </a:spcAft>
              <a:buClrTx/>
              <a:buFont typeface="Arial" panose="020B0604020202020204" pitchFamily="34" charset="0"/>
              <a:buChar char="•"/>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marL="0" indent="0">
              <a:buNone/>
            </a:pPr>
            <a:r>
              <a:rPr lang="en-US" sz="2000" b="0" kern="0" dirty="0"/>
              <a:t>-4</a:t>
            </a:r>
          </a:p>
        </p:txBody>
      </p:sp>
      <p:sp>
        <p:nvSpPr>
          <p:cNvPr id="30" name="Content Placeholder 2"/>
          <p:cNvSpPr txBox="1">
            <a:spLocks/>
          </p:cNvSpPr>
          <p:nvPr/>
        </p:nvSpPr>
        <p:spPr bwMode="auto">
          <a:xfrm>
            <a:off x="3066220" y="6269260"/>
            <a:ext cx="336671" cy="5087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57200" indent="-457200" algn="l" rtl="0" fontAlgn="base">
              <a:spcBef>
                <a:spcPct val="20000"/>
              </a:spcBef>
              <a:spcAft>
                <a:spcPct val="0"/>
              </a:spcAft>
              <a:buClrTx/>
              <a:buFont typeface="Arial" panose="020B0604020202020204" pitchFamily="34" charset="0"/>
              <a:buChar char="•"/>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marL="0" indent="0">
              <a:buNone/>
            </a:pPr>
            <a:r>
              <a:rPr lang="en-US" sz="2000" b="0" kern="0" dirty="0"/>
              <a:t>2</a:t>
            </a:r>
          </a:p>
        </p:txBody>
      </p:sp>
      <p:sp>
        <p:nvSpPr>
          <p:cNvPr id="31" name="Content Placeholder 2"/>
          <p:cNvSpPr txBox="1">
            <a:spLocks/>
          </p:cNvSpPr>
          <p:nvPr/>
        </p:nvSpPr>
        <p:spPr bwMode="auto">
          <a:xfrm>
            <a:off x="3450695" y="6269260"/>
            <a:ext cx="336671" cy="5087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57200" indent="-457200" algn="l" rtl="0" fontAlgn="base">
              <a:spcBef>
                <a:spcPct val="20000"/>
              </a:spcBef>
              <a:spcAft>
                <a:spcPct val="0"/>
              </a:spcAft>
              <a:buClrTx/>
              <a:buFont typeface="Arial" panose="020B0604020202020204" pitchFamily="34" charset="0"/>
              <a:buChar char="•"/>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marL="0" indent="0">
              <a:buNone/>
            </a:pPr>
            <a:r>
              <a:rPr lang="en-US" sz="2000" b="0" kern="0" dirty="0"/>
              <a:t>3</a:t>
            </a:r>
          </a:p>
        </p:txBody>
      </p:sp>
      <p:sp>
        <p:nvSpPr>
          <p:cNvPr id="32" name="Content Placeholder 2"/>
          <p:cNvSpPr txBox="1">
            <a:spLocks/>
          </p:cNvSpPr>
          <p:nvPr/>
        </p:nvSpPr>
        <p:spPr bwMode="auto">
          <a:xfrm>
            <a:off x="3835171" y="6269260"/>
            <a:ext cx="336671" cy="5087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57200" indent="-457200" algn="l" rtl="0" fontAlgn="base">
              <a:spcBef>
                <a:spcPct val="20000"/>
              </a:spcBef>
              <a:spcAft>
                <a:spcPct val="0"/>
              </a:spcAft>
              <a:buClrTx/>
              <a:buFont typeface="Arial" panose="020B0604020202020204" pitchFamily="34" charset="0"/>
              <a:buChar char="•"/>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marL="0" indent="0">
              <a:buNone/>
            </a:pPr>
            <a:r>
              <a:rPr lang="en-US" sz="2000" b="0" kern="0" dirty="0"/>
              <a:t>4</a:t>
            </a:r>
          </a:p>
        </p:txBody>
      </p:sp>
      <p:sp>
        <p:nvSpPr>
          <p:cNvPr id="35" name="Content Placeholder 2"/>
          <p:cNvSpPr txBox="1">
            <a:spLocks/>
          </p:cNvSpPr>
          <p:nvPr/>
        </p:nvSpPr>
        <p:spPr bwMode="auto">
          <a:xfrm>
            <a:off x="2592216" y="3843160"/>
            <a:ext cx="1376396" cy="5087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57200" indent="-457200" algn="l" rtl="0" fontAlgn="base">
              <a:spcBef>
                <a:spcPct val="20000"/>
              </a:spcBef>
              <a:spcAft>
                <a:spcPct val="0"/>
              </a:spcAft>
              <a:buClrTx/>
              <a:buFont typeface="Arial" panose="020B0604020202020204" pitchFamily="34" charset="0"/>
              <a:buChar char="•"/>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marL="0" indent="0">
              <a:buNone/>
            </a:pPr>
            <a:r>
              <a:rPr lang="en-US" sz="2000" b="0" kern="0" dirty="0"/>
              <a:t>g(8-k)</a:t>
            </a:r>
          </a:p>
        </p:txBody>
      </p:sp>
      <p:sp>
        <p:nvSpPr>
          <p:cNvPr id="37" name="Content Placeholder 2"/>
          <p:cNvSpPr txBox="1">
            <a:spLocks/>
          </p:cNvSpPr>
          <p:nvPr/>
        </p:nvSpPr>
        <p:spPr bwMode="auto">
          <a:xfrm>
            <a:off x="1064801" y="6269260"/>
            <a:ext cx="526951" cy="5087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57200" indent="-457200" algn="l" rtl="0" fontAlgn="base">
              <a:spcBef>
                <a:spcPct val="20000"/>
              </a:spcBef>
              <a:spcAft>
                <a:spcPct val="0"/>
              </a:spcAft>
              <a:buClrTx/>
              <a:buFont typeface="Arial" panose="020B0604020202020204" pitchFamily="34" charset="0"/>
              <a:buChar char="•"/>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marL="0" indent="0">
              <a:buNone/>
            </a:pPr>
            <a:r>
              <a:rPr lang="en-US" sz="2000" b="0" kern="0" dirty="0"/>
              <a:t>-3</a:t>
            </a:r>
          </a:p>
        </p:txBody>
      </p:sp>
      <p:sp>
        <p:nvSpPr>
          <p:cNvPr id="38" name="Content Placeholder 2"/>
          <p:cNvSpPr txBox="1">
            <a:spLocks/>
          </p:cNvSpPr>
          <p:nvPr/>
        </p:nvSpPr>
        <p:spPr bwMode="auto">
          <a:xfrm>
            <a:off x="1435716" y="6269260"/>
            <a:ext cx="526951" cy="5087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57200" indent="-457200" algn="l" rtl="0" fontAlgn="base">
              <a:spcBef>
                <a:spcPct val="20000"/>
              </a:spcBef>
              <a:spcAft>
                <a:spcPct val="0"/>
              </a:spcAft>
              <a:buClrTx/>
              <a:buFont typeface="Arial" panose="020B0604020202020204" pitchFamily="34" charset="0"/>
              <a:buChar char="•"/>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marL="0" indent="0">
              <a:buNone/>
            </a:pPr>
            <a:r>
              <a:rPr lang="en-US" sz="2000" b="0" kern="0" dirty="0"/>
              <a:t>-2</a:t>
            </a:r>
          </a:p>
        </p:txBody>
      </p:sp>
      <p:sp>
        <p:nvSpPr>
          <p:cNvPr id="39" name="Content Placeholder 2"/>
          <p:cNvSpPr txBox="1">
            <a:spLocks/>
          </p:cNvSpPr>
          <p:nvPr/>
        </p:nvSpPr>
        <p:spPr bwMode="auto">
          <a:xfrm>
            <a:off x="1837278" y="6269260"/>
            <a:ext cx="526951" cy="5087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57200" indent="-457200" algn="l" rtl="0" fontAlgn="base">
              <a:spcBef>
                <a:spcPct val="20000"/>
              </a:spcBef>
              <a:spcAft>
                <a:spcPct val="0"/>
              </a:spcAft>
              <a:buClrTx/>
              <a:buFont typeface="Arial" panose="020B0604020202020204" pitchFamily="34" charset="0"/>
              <a:buChar char="•"/>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marL="0" indent="0">
              <a:buNone/>
            </a:pPr>
            <a:r>
              <a:rPr lang="en-US" sz="2000" b="0" kern="0" dirty="0"/>
              <a:t>-1</a:t>
            </a:r>
          </a:p>
        </p:txBody>
      </p:sp>
      <p:sp>
        <p:nvSpPr>
          <p:cNvPr id="40" name="Content Placeholder 2"/>
          <p:cNvSpPr txBox="1">
            <a:spLocks/>
          </p:cNvSpPr>
          <p:nvPr/>
        </p:nvSpPr>
        <p:spPr bwMode="auto">
          <a:xfrm>
            <a:off x="2719840" y="6269260"/>
            <a:ext cx="336671" cy="50878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457200" indent="-457200" algn="l" rtl="0" fontAlgn="base">
              <a:spcBef>
                <a:spcPct val="20000"/>
              </a:spcBef>
              <a:spcAft>
                <a:spcPct val="0"/>
              </a:spcAft>
              <a:buClrTx/>
              <a:buFont typeface="Arial" panose="020B0604020202020204" pitchFamily="34" charset="0"/>
              <a:buChar char="•"/>
              <a:defRPr sz="2800" b="1">
                <a:solidFill>
                  <a:schemeClr val="tx2"/>
                </a:solidFill>
                <a:latin typeface="+mn-lt"/>
                <a:ea typeface="+mn-ea"/>
                <a:cs typeface="+mn-cs"/>
              </a:defRPr>
            </a:lvl1pPr>
            <a:lvl2pPr marL="742950" indent="-285750" algn="l" rtl="0" fontAlgn="base">
              <a:spcBef>
                <a:spcPct val="20000"/>
              </a:spcBef>
              <a:spcAft>
                <a:spcPct val="0"/>
              </a:spcAft>
              <a:buClr>
                <a:srgbClr val="DC5A21"/>
              </a:buClr>
              <a:buFont typeface="Times" pitchFamily="18" charset="0"/>
              <a:buChar char="•"/>
              <a:defRPr sz="2400">
                <a:solidFill>
                  <a:schemeClr val="tx2"/>
                </a:solidFill>
                <a:latin typeface="+mn-lt"/>
                <a:ea typeface="+mn-ea"/>
              </a:defRPr>
            </a:lvl2pPr>
            <a:lvl3pPr marL="1143000" indent="-228600" algn="l" rtl="0" fontAlgn="base">
              <a:spcBef>
                <a:spcPct val="20000"/>
              </a:spcBef>
              <a:spcAft>
                <a:spcPct val="0"/>
              </a:spcAft>
              <a:buClr>
                <a:srgbClr val="87ADB0"/>
              </a:buClr>
              <a:buChar char="•"/>
              <a:defRPr sz="2000">
                <a:solidFill>
                  <a:schemeClr val="tx2"/>
                </a:solidFill>
                <a:latin typeface="+mn-lt"/>
                <a:ea typeface="+mn-ea"/>
              </a:defRPr>
            </a:lvl3pPr>
            <a:lvl4pPr marL="1600200" indent="-228600" algn="l" rtl="0" fontAlgn="base">
              <a:spcBef>
                <a:spcPct val="20000"/>
              </a:spcBef>
              <a:spcAft>
                <a:spcPct val="0"/>
              </a:spcAft>
              <a:buChar char="–"/>
              <a:defRPr>
                <a:solidFill>
                  <a:schemeClr val="tx2"/>
                </a:solidFill>
                <a:latin typeface="+mn-lt"/>
                <a:ea typeface="+mn-ea"/>
              </a:defRPr>
            </a:lvl4pPr>
            <a:lvl5pPr marL="2057400" indent="-228600" algn="l" rtl="0" fontAlgn="base">
              <a:spcBef>
                <a:spcPct val="20000"/>
              </a:spcBef>
              <a:spcAft>
                <a:spcPct val="0"/>
              </a:spcAft>
              <a:buChar char="»"/>
              <a:defRPr sz="1600">
                <a:solidFill>
                  <a:schemeClr val="tx2"/>
                </a:solidFill>
                <a:latin typeface="+mn-lt"/>
                <a:ea typeface="+mn-ea"/>
              </a:defRPr>
            </a:lvl5pPr>
            <a:lvl6pPr marL="2514600" indent="-228600" algn="l" rtl="0" fontAlgn="base">
              <a:spcBef>
                <a:spcPct val="20000"/>
              </a:spcBef>
              <a:spcAft>
                <a:spcPct val="0"/>
              </a:spcAft>
              <a:buChar char="»"/>
              <a:defRPr sz="1600">
                <a:solidFill>
                  <a:schemeClr val="tx1"/>
                </a:solidFill>
                <a:latin typeface="+mn-lt"/>
                <a:ea typeface="+mn-ea"/>
              </a:defRPr>
            </a:lvl6pPr>
            <a:lvl7pPr marL="2971800" indent="-228600" algn="l" rtl="0" fontAlgn="base">
              <a:spcBef>
                <a:spcPct val="20000"/>
              </a:spcBef>
              <a:spcAft>
                <a:spcPct val="0"/>
              </a:spcAft>
              <a:buChar char="»"/>
              <a:defRPr sz="1600">
                <a:solidFill>
                  <a:schemeClr val="tx1"/>
                </a:solidFill>
                <a:latin typeface="+mn-lt"/>
                <a:ea typeface="+mn-ea"/>
              </a:defRPr>
            </a:lvl7pPr>
            <a:lvl8pPr marL="3429000" indent="-228600" algn="l" rtl="0" fontAlgn="base">
              <a:spcBef>
                <a:spcPct val="20000"/>
              </a:spcBef>
              <a:spcAft>
                <a:spcPct val="0"/>
              </a:spcAft>
              <a:buChar char="»"/>
              <a:defRPr sz="1600">
                <a:solidFill>
                  <a:schemeClr val="tx1"/>
                </a:solidFill>
                <a:latin typeface="+mn-lt"/>
                <a:ea typeface="+mn-ea"/>
              </a:defRPr>
            </a:lvl8pPr>
            <a:lvl9pPr marL="3886200" indent="-228600" algn="l" rtl="0" fontAlgn="base">
              <a:spcBef>
                <a:spcPct val="20000"/>
              </a:spcBef>
              <a:spcAft>
                <a:spcPct val="0"/>
              </a:spcAft>
              <a:buChar char="»"/>
              <a:defRPr sz="1600">
                <a:solidFill>
                  <a:schemeClr val="tx1"/>
                </a:solidFill>
                <a:latin typeface="+mn-lt"/>
                <a:ea typeface="+mn-ea"/>
              </a:defRPr>
            </a:lvl9pPr>
          </a:lstStyle>
          <a:p>
            <a:pPr marL="0" indent="0">
              <a:buNone/>
            </a:pPr>
            <a:r>
              <a:rPr lang="en-US" sz="2000" b="0" kern="0" dirty="0"/>
              <a:t>1</a:t>
            </a:r>
          </a:p>
        </p:txBody>
      </p:sp>
      <p:cxnSp>
        <p:nvCxnSpPr>
          <p:cNvPr id="7" name="Straight Connector 6"/>
          <p:cNvCxnSpPr/>
          <p:nvPr/>
        </p:nvCxnSpPr>
        <p:spPr bwMode="auto">
          <a:xfrm>
            <a:off x="6675766" y="1592350"/>
            <a:ext cx="0" cy="4408265"/>
          </a:xfrm>
          <a:prstGeom prst="line">
            <a:avLst/>
          </a:prstGeom>
          <a:solidFill>
            <a:schemeClr val="accent1"/>
          </a:solidFill>
          <a:ln w="63500" cap="flat" cmpd="sng" algn="ctr">
            <a:solidFill>
              <a:srgbClr val="00B0F0"/>
            </a:solidFill>
            <a:prstDash val="dash"/>
            <a:round/>
            <a:headEnd type="none" w="med" len="med"/>
            <a:tailEnd type="none" w="med" len="med"/>
          </a:ln>
          <a:effectLst/>
        </p:spPr>
      </p:cxnSp>
    </p:spTree>
    <p:extLst>
      <p:ext uri="{BB962C8B-B14F-4D97-AF65-F5344CB8AC3E}">
        <p14:creationId xmlns:p14="http://schemas.microsoft.com/office/powerpoint/2010/main" val="3003386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Functional example</a:t>
            </a:r>
          </a:p>
        </p:txBody>
      </p:sp>
      <p:sp>
        <p:nvSpPr>
          <p:cNvPr id="3" name="Content Placeholder 2"/>
          <p:cNvSpPr>
            <a:spLocks noGrp="1"/>
          </p:cNvSpPr>
          <p:nvPr>
            <p:ph idx="1"/>
          </p:nvPr>
        </p:nvSpPr>
        <p:spPr>
          <a:xfrm>
            <a:off x="203200" y="990600"/>
            <a:ext cx="4133850" cy="5456236"/>
          </a:xfrm>
        </p:spPr>
        <p:txBody>
          <a:bodyPr/>
          <a:lstStyle/>
          <a:p>
            <a:pPr marL="514350" indent="-514350">
              <a:buFont typeface="+mj-lt"/>
              <a:buAutoNum type="arabicPeriod"/>
            </a:pPr>
            <a:r>
              <a:rPr lang="en-US" sz="2000" dirty="0"/>
              <a:t>h(n)</a:t>
            </a:r>
          </a:p>
          <a:p>
            <a:pPr marL="514350" indent="-514350">
              <a:buFont typeface="+mj-lt"/>
              <a:buAutoNum type="arabicPeriod"/>
            </a:pPr>
            <a:r>
              <a:rPr lang="en-US" sz="2000" dirty="0"/>
              <a:t>X(n)</a:t>
            </a:r>
          </a:p>
          <a:p>
            <a:pPr marL="514350" indent="-514350">
              <a:buFont typeface="+mj-lt"/>
              <a:buAutoNum type="arabicPeriod"/>
            </a:pPr>
            <a:r>
              <a:rPr lang="en-US" sz="2000" dirty="0"/>
              <a:t>Linear convolution result of X(n) and h(n)</a:t>
            </a:r>
          </a:p>
          <a:p>
            <a:pPr marL="514350" indent="-514350">
              <a:buFont typeface="+mj-lt"/>
              <a:buAutoNum type="arabicPeriod"/>
            </a:pPr>
            <a:r>
              <a:rPr lang="en-US" sz="2000" dirty="0"/>
              <a:t>XN(n) where X is now periodic with N components (“circularly extended”)</a:t>
            </a:r>
          </a:p>
          <a:p>
            <a:pPr marL="514350" indent="-514350">
              <a:buFont typeface="+mj-lt"/>
              <a:buAutoNum type="arabicPeriod"/>
            </a:pPr>
            <a:r>
              <a:rPr lang="en-US" sz="2000" dirty="0"/>
              <a:t>Components of linear convolution of XN(n), h(n)</a:t>
            </a:r>
          </a:p>
          <a:p>
            <a:pPr marL="800100" lvl="1" indent="-514350"/>
            <a:r>
              <a:rPr lang="en-US" sz="1600" dirty="0"/>
              <a:t>Edge effects</a:t>
            </a:r>
          </a:p>
          <a:p>
            <a:pPr marL="514350" indent="-514350">
              <a:buFont typeface="+mj-lt"/>
              <a:buAutoNum type="arabicPeriod"/>
            </a:pPr>
            <a:r>
              <a:rPr lang="en-US" sz="2000" dirty="0"/>
              <a:t>Composite output (green section is unaffected by edge effects (“desired” solution)</a:t>
            </a:r>
          </a:p>
          <a:p>
            <a:pPr marL="0" indent="0">
              <a:buNone/>
            </a:pPr>
            <a:r>
              <a:rPr lang="en-US" sz="2000" dirty="0">
                <a:solidFill>
                  <a:srgbClr val="FF0000"/>
                </a:solidFill>
              </a:rPr>
              <a:t>*We would need zero padding here!*</a:t>
            </a:r>
          </a:p>
          <a:p>
            <a:pPr marL="514350" indent="-514350">
              <a:buFont typeface="+mj-lt"/>
              <a:buAutoNum type="arabicPeriod"/>
            </a:pPr>
            <a:endParaRPr lang="en-US" sz="2000" dirty="0"/>
          </a:p>
        </p:txBody>
      </p:sp>
      <p:pic>
        <p:nvPicPr>
          <p:cNvPr id="2050" name="Picture 2" descr="Circular convolution exampl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6600" y="1261269"/>
            <a:ext cx="4648200" cy="4914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12003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Hands-on Result</a:t>
            </a:r>
          </a:p>
        </p:txBody>
      </p:sp>
      <p:sp>
        <p:nvSpPr>
          <p:cNvPr id="5" name="Rectangle 4"/>
          <p:cNvSpPr/>
          <p:nvPr/>
        </p:nvSpPr>
        <p:spPr>
          <a:xfrm>
            <a:off x="336011" y="2738262"/>
            <a:ext cx="2700670" cy="1754326"/>
          </a:xfrm>
          <a:prstGeom prst="rect">
            <a:avLst/>
          </a:prstGeom>
        </p:spPr>
        <p:txBody>
          <a:bodyPr wrap="square">
            <a:spAutoFit/>
          </a:bodyPr>
          <a:lstStyle/>
          <a:p>
            <a:pPr fontAlgn="base">
              <a:spcBef>
                <a:spcPct val="0"/>
              </a:spcBef>
              <a:spcAft>
                <a:spcPct val="0"/>
              </a:spcAft>
            </a:pPr>
            <a:r>
              <a:rPr lang="en-US" b="1" dirty="0">
                <a:solidFill>
                  <a:srgbClr val="000000"/>
                </a:solidFill>
                <a:cs typeface="Times New Roman" pitchFamily="18" charset="0"/>
              </a:rPr>
              <a:t>&gt;&gt; </a:t>
            </a:r>
          </a:p>
          <a:p>
            <a:pPr fontAlgn="base">
              <a:spcBef>
                <a:spcPct val="0"/>
              </a:spcBef>
              <a:spcAft>
                <a:spcPct val="0"/>
              </a:spcAft>
            </a:pPr>
            <a:r>
              <a:rPr lang="en-US" b="1" dirty="0">
                <a:solidFill>
                  <a:srgbClr val="0000FF"/>
                </a:solidFill>
                <a:cs typeface="Times New Roman" pitchFamily="18" charset="0"/>
              </a:rPr>
              <a:t>x=[5 4 3 2 1];</a:t>
            </a:r>
          </a:p>
          <a:p>
            <a:pPr fontAlgn="base">
              <a:spcBef>
                <a:spcPct val="0"/>
              </a:spcBef>
              <a:spcAft>
                <a:spcPct val="0"/>
              </a:spcAft>
            </a:pPr>
            <a:r>
              <a:rPr lang="en-US" b="1" dirty="0">
                <a:solidFill>
                  <a:srgbClr val="0000FF"/>
                </a:solidFill>
                <a:cs typeface="Times New Roman" pitchFamily="18" charset="0"/>
              </a:rPr>
              <a:t>h=[1 2 3 4 5];</a:t>
            </a:r>
          </a:p>
          <a:p>
            <a:pPr fontAlgn="base">
              <a:spcBef>
                <a:spcPct val="0"/>
              </a:spcBef>
              <a:spcAft>
                <a:spcPct val="0"/>
              </a:spcAft>
            </a:pPr>
            <a:r>
              <a:rPr lang="en-US" b="1" dirty="0">
                <a:solidFill>
                  <a:srgbClr val="0000FF"/>
                </a:solidFill>
                <a:cs typeface="Times New Roman" pitchFamily="18" charset="0"/>
              </a:rPr>
              <a:t>y=</a:t>
            </a:r>
            <a:r>
              <a:rPr lang="en-US" b="1" dirty="0" err="1">
                <a:solidFill>
                  <a:srgbClr val="0000FF"/>
                </a:solidFill>
                <a:cs typeface="Times New Roman" pitchFamily="18" charset="0"/>
              </a:rPr>
              <a:t>conv</a:t>
            </a:r>
            <a:r>
              <a:rPr lang="en-US" b="1" dirty="0">
                <a:solidFill>
                  <a:srgbClr val="0000FF"/>
                </a:solidFill>
                <a:cs typeface="Times New Roman" pitchFamily="18" charset="0"/>
              </a:rPr>
              <a:t>(</a:t>
            </a:r>
            <a:r>
              <a:rPr lang="en-US" b="1" dirty="0" err="1">
                <a:solidFill>
                  <a:srgbClr val="0000FF"/>
                </a:solidFill>
                <a:cs typeface="Times New Roman" pitchFamily="18" charset="0"/>
              </a:rPr>
              <a:t>x,h</a:t>
            </a:r>
            <a:r>
              <a:rPr lang="en-US" b="1" dirty="0">
                <a:solidFill>
                  <a:srgbClr val="0000FF"/>
                </a:solidFill>
                <a:cs typeface="Times New Roman" pitchFamily="18" charset="0"/>
              </a:rPr>
              <a:t>);</a:t>
            </a:r>
          </a:p>
          <a:p>
            <a:pPr fontAlgn="base">
              <a:spcBef>
                <a:spcPct val="0"/>
              </a:spcBef>
              <a:spcAft>
                <a:spcPct val="0"/>
              </a:spcAft>
            </a:pPr>
            <a:r>
              <a:rPr lang="en-US" b="1" dirty="0">
                <a:solidFill>
                  <a:srgbClr val="0000FF"/>
                </a:solidFill>
                <a:cs typeface="Times New Roman" pitchFamily="18" charset="0"/>
              </a:rPr>
              <a:t>plot(y); </a:t>
            </a:r>
            <a:r>
              <a:rPr lang="en-US" b="1" dirty="0" err="1">
                <a:solidFill>
                  <a:srgbClr val="0000FF"/>
                </a:solidFill>
                <a:cs typeface="Times New Roman" pitchFamily="18" charset="0"/>
              </a:rPr>
              <a:t>ylim</a:t>
            </a:r>
            <a:r>
              <a:rPr lang="en-US" b="1" dirty="0">
                <a:solidFill>
                  <a:srgbClr val="0000FF"/>
                </a:solidFill>
                <a:cs typeface="Times New Roman" pitchFamily="18" charset="0"/>
              </a:rPr>
              <a:t>([0 100]);</a:t>
            </a:r>
          </a:p>
          <a:p>
            <a:pPr fontAlgn="base">
              <a:spcBef>
                <a:spcPct val="0"/>
              </a:spcBef>
              <a:spcAft>
                <a:spcPct val="0"/>
              </a:spcAft>
            </a:pPr>
            <a:r>
              <a:rPr lang="en-US" b="1" dirty="0">
                <a:solidFill>
                  <a:srgbClr val="000000"/>
                </a:solidFill>
                <a:cs typeface="Times New Roman" pitchFamily="18" charset="0"/>
              </a:rPr>
              <a:t>&gt;&gt;</a:t>
            </a:r>
          </a:p>
        </p:txBody>
      </p:sp>
      <p:pic>
        <p:nvPicPr>
          <p:cNvPr id="6" name="Picture 5"/>
          <p:cNvPicPr>
            <a:picLocks noChangeAspect="1"/>
          </p:cNvPicPr>
          <p:nvPr/>
        </p:nvPicPr>
        <p:blipFill>
          <a:blip r:embed="rId3"/>
          <a:stretch>
            <a:fillRect/>
          </a:stretch>
        </p:blipFill>
        <p:spPr>
          <a:xfrm>
            <a:off x="3195651" y="1493590"/>
            <a:ext cx="5338580" cy="4243670"/>
          </a:xfrm>
          <a:prstGeom prst="rect">
            <a:avLst/>
          </a:prstGeom>
        </p:spPr>
      </p:pic>
    </p:spTree>
    <p:extLst>
      <p:ext uri="{BB962C8B-B14F-4D97-AF65-F5344CB8AC3E}">
        <p14:creationId xmlns:p14="http://schemas.microsoft.com/office/powerpoint/2010/main" val="39205272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Circular Convolution</a:t>
            </a:r>
          </a:p>
        </p:txBody>
      </p:sp>
      <p:pic>
        <p:nvPicPr>
          <p:cNvPr id="4" name="Picture 6" descr="https://clipartion.com/wp-content/uploads/2015/11/clip-artcarrie-teaching-first-hands-and-feet-doodles-with.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57345" y="1858953"/>
            <a:ext cx="1417325" cy="169387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https://clipartion.com/wp-content/uploads/2015/11/clip-artcarrie-teaching-first-hands-and-feet-doodles-with.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413577" y="1858953"/>
            <a:ext cx="1417325" cy="169387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https://clipartion.com/wp-content/uploads/2015/11/clip-artcarrie-teaching-first-hands-and-feet-doodles-with.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17331" y="1858953"/>
            <a:ext cx="1417325" cy="169387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8" descr="Image result for hand sig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58691" y="3610080"/>
            <a:ext cx="1309683" cy="155914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8" descr="Image result for hand sig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14923" y="3610080"/>
            <a:ext cx="1309683" cy="155914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Image result for hand sig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118677" y="3610080"/>
            <a:ext cx="1309683" cy="1559146"/>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Straight Connector 11"/>
          <p:cNvCxnSpPr/>
          <p:nvPr/>
        </p:nvCxnSpPr>
        <p:spPr bwMode="auto">
          <a:xfrm flipV="1">
            <a:off x="6457950" y="1125407"/>
            <a:ext cx="0" cy="4731013"/>
          </a:xfrm>
          <a:prstGeom prst="line">
            <a:avLst/>
          </a:prstGeom>
          <a:solidFill>
            <a:schemeClr val="accent1"/>
          </a:solidFill>
          <a:ln w="57150" cap="flat" cmpd="sng" algn="ctr">
            <a:solidFill>
              <a:srgbClr val="FF0000"/>
            </a:solidFill>
            <a:prstDash val="solid"/>
            <a:round/>
            <a:headEnd type="none" w="med" len="med"/>
            <a:tailEnd type="none" w="med" len="med"/>
          </a:ln>
          <a:effectLst/>
        </p:spPr>
      </p:cxnSp>
      <p:cxnSp>
        <p:nvCxnSpPr>
          <p:cNvPr id="10" name="Straight Connector 9"/>
          <p:cNvCxnSpPr/>
          <p:nvPr/>
        </p:nvCxnSpPr>
        <p:spPr bwMode="auto">
          <a:xfrm flipV="1">
            <a:off x="5848350" y="1125407"/>
            <a:ext cx="0" cy="4731013"/>
          </a:xfrm>
          <a:prstGeom prst="line">
            <a:avLst/>
          </a:prstGeom>
          <a:solidFill>
            <a:schemeClr val="accent1"/>
          </a:solidFill>
          <a:ln w="57150" cap="flat" cmpd="sng" algn="ctr">
            <a:solidFill>
              <a:srgbClr val="00B050"/>
            </a:solidFill>
            <a:prstDash val="solid"/>
            <a:round/>
            <a:headEnd type="none" w="med" len="med"/>
            <a:tailEnd type="none" w="med" len="med"/>
          </a:ln>
          <a:effectLst/>
        </p:spPr>
      </p:cxnSp>
    </p:spTree>
    <p:extLst>
      <p:ext uri="{BB962C8B-B14F-4D97-AF65-F5344CB8AC3E}">
        <p14:creationId xmlns:p14="http://schemas.microsoft.com/office/powerpoint/2010/main" val="18156656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Convolution with Zero Padding</a:t>
            </a:r>
          </a:p>
        </p:txBody>
      </p:sp>
      <p:pic>
        <p:nvPicPr>
          <p:cNvPr id="4" name="Picture 6" descr="https://clipartion.com/wp-content/uploads/2015/11/clip-artcarrie-teaching-first-hands-and-feet-doodles-with.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02098" y="1858953"/>
            <a:ext cx="1417325" cy="169387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https://clipartion.com/wp-content/uploads/2015/11/clip-artcarrie-teaching-first-hands-and-feet-doodles-with.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79879" y="1858953"/>
            <a:ext cx="1417325" cy="169387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https://clipartion.com/wp-content/uploads/2015/11/clip-artcarrie-teaching-first-hands-and-feet-doodles-with.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57659" y="1858953"/>
            <a:ext cx="1417325" cy="169387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8" descr="Image result for hand sig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25166" y="3610080"/>
            <a:ext cx="1309683" cy="155914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8" descr="Image result for hand sig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02947" y="3610080"/>
            <a:ext cx="1309683" cy="155914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Image result for hand sig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80727" y="3610080"/>
            <a:ext cx="1309683" cy="1559146"/>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p:cNvCxnSpPr/>
          <p:nvPr/>
        </p:nvCxnSpPr>
        <p:spPr bwMode="auto">
          <a:xfrm flipV="1">
            <a:off x="7419975" y="1125407"/>
            <a:ext cx="0" cy="4731013"/>
          </a:xfrm>
          <a:prstGeom prst="line">
            <a:avLst/>
          </a:prstGeom>
          <a:solidFill>
            <a:schemeClr val="accent1"/>
          </a:solidFill>
          <a:ln w="57150" cap="flat" cmpd="sng" algn="ctr">
            <a:solidFill>
              <a:srgbClr val="FF0000"/>
            </a:solidFill>
            <a:prstDash val="solid"/>
            <a:round/>
            <a:headEnd type="none" w="med" len="med"/>
            <a:tailEnd type="none" w="med" len="med"/>
          </a:ln>
          <a:effectLst/>
        </p:spPr>
      </p:cxnSp>
      <p:cxnSp>
        <p:nvCxnSpPr>
          <p:cNvPr id="10" name="Straight Connector 9"/>
          <p:cNvCxnSpPr/>
          <p:nvPr/>
        </p:nvCxnSpPr>
        <p:spPr bwMode="auto">
          <a:xfrm flipV="1">
            <a:off x="5722844" y="1125407"/>
            <a:ext cx="0" cy="4731013"/>
          </a:xfrm>
          <a:prstGeom prst="line">
            <a:avLst/>
          </a:prstGeom>
          <a:solidFill>
            <a:schemeClr val="accent1"/>
          </a:solidFill>
          <a:ln w="57150" cap="flat" cmpd="sng" algn="ctr">
            <a:solidFill>
              <a:srgbClr val="00B050"/>
            </a:solidFill>
            <a:prstDash val="solid"/>
            <a:round/>
            <a:headEnd type="none" w="med" len="med"/>
            <a:tailEnd type="none" w="med" len="med"/>
          </a:ln>
          <a:effectLst/>
        </p:spPr>
      </p:cxnSp>
    </p:spTree>
    <p:extLst>
      <p:ext uri="{BB962C8B-B14F-4D97-AF65-F5344CB8AC3E}">
        <p14:creationId xmlns:p14="http://schemas.microsoft.com/office/powerpoint/2010/main" val="4289666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3"/>
          <a:stretch>
            <a:fillRect/>
          </a:stretch>
        </p:blipFill>
        <p:spPr>
          <a:xfrm>
            <a:off x="444205" y="1353799"/>
            <a:ext cx="4158641" cy="1736661"/>
          </a:xfrm>
          <a:prstGeom prst="rect">
            <a:avLst/>
          </a:prstGeom>
        </p:spPr>
      </p:pic>
      <p:pic>
        <p:nvPicPr>
          <p:cNvPr id="8" name="Picture 7"/>
          <p:cNvPicPr>
            <a:picLocks noChangeAspect="1"/>
          </p:cNvPicPr>
          <p:nvPr/>
        </p:nvPicPr>
        <p:blipFill>
          <a:blip r:embed="rId4"/>
          <a:stretch>
            <a:fillRect/>
          </a:stretch>
        </p:blipFill>
        <p:spPr>
          <a:xfrm>
            <a:off x="4780362" y="741807"/>
            <a:ext cx="3947525" cy="2960644"/>
          </a:xfrm>
          <a:prstGeom prst="rect">
            <a:avLst/>
          </a:prstGeom>
        </p:spPr>
      </p:pic>
      <p:pic>
        <p:nvPicPr>
          <p:cNvPr id="10" name="Picture 9"/>
          <p:cNvPicPr>
            <a:picLocks noChangeAspect="1"/>
          </p:cNvPicPr>
          <p:nvPr/>
        </p:nvPicPr>
        <p:blipFill>
          <a:blip r:embed="rId5"/>
          <a:stretch>
            <a:fillRect/>
          </a:stretch>
        </p:blipFill>
        <p:spPr>
          <a:xfrm>
            <a:off x="381575" y="4597410"/>
            <a:ext cx="5114925" cy="1009650"/>
          </a:xfrm>
          <a:prstGeom prst="rect">
            <a:avLst/>
          </a:prstGeom>
        </p:spPr>
      </p:pic>
      <p:pic>
        <p:nvPicPr>
          <p:cNvPr id="9" name="Picture 8"/>
          <p:cNvPicPr>
            <a:picLocks noChangeAspect="1"/>
          </p:cNvPicPr>
          <p:nvPr/>
        </p:nvPicPr>
        <p:blipFill>
          <a:blip r:embed="rId6"/>
          <a:stretch>
            <a:fillRect/>
          </a:stretch>
        </p:blipFill>
        <p:spPr>
          <a:xfrm>
            <a:off x="4729084" y="3702451"/>
            <a:ext cx="4050083" cy="3037562"/>
          </a:xfrm>
          <a:prstGeom prst="rect">
            <a:avLst/>
          </a:prstGeom>
        </p:spPr>
      </p:pic>
    </p:spTree>
    <p:extLst>
      <p:ext uri="{BB962C8B-B14F-4D97-AF65-F5344CB8AC3E}">
        <p14:creationId xmlns:p14="http://schemas.microsoft.com/office/powerpoint/2010/main" val="25570448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3716055" y="3296107"/>
            <a:ext cx="4509370" cy="3382028"/>
          </a:xfrm>
          <a:prstGeom prst="rect">
            <a:avLst/>
          </a:prstGeom>
        </p:spPr>
      </p:pic>
      <p:pic>
        <p:nvPicPr>
          <p:cNvPr id="5" name="Picture 4"/>
          <p:cNvPicPr>
            <a:picLocks noChangeAspect="1"/>
          </p:cNvPicPr>
          <p:nvPr/>
        </p:nvPicPr>
        <p:blipFill>
          <a:blip r:embed="rId4"/>
          <a:stretch>
            <a:fillRect/>
          </a:stretch>
        </p:blipFill>
        <p:spPr>
          <a:xfrm>
            <a:off x="2837015" y="1067257"/>
            <a:ext cx="6267450" cy="2228850"/>
          </a:xfrm>
          <a:prstGeom prst="rect">
            <a:avLst/>
          </a:prstGeom>
        </p:spPr>
      </p:pic>
      <p:sp>
        <p:nvSpPr>
          <p:cNvPr id="2" name="TextBox 1"/>
          <p:cNvSpPr txBox="1"/>
          <p:nvPr/>
        </p:nvSpPr>
        <p:spPr>
          <a:xfrm>
            <a:off x="1847850" y="171451"/>
            <a:ext cx="8496300" cy="830997"/>
          </a:xfrm>
          <a:prstGeom prst="rect">
            <a:avLst/>
          </a:prstGeom>
          <a:noFill/>
        </p:spPr>
        <p:txBody>
          <a:bodyPr wrap="square" rtlCol="0">
            <a:spAutoFit/>
          </a:bodyPr>
          <a:lstStyle/>
          <a:p>
            <a:pPr algn="ctr"/>
            <a:r>
              <a:rPr lang="en-US" sz="2400" b="1" dirty="0">
                <a:solidFill>
                  <a:srgbClr val="FF0000"/>
                </a:solidFill>
              </a:rPr>
              <a:t>Circular convolution w/o zero padding ≠ Linear convolution!</a:t>
            </a:r>
          </a:p>
        </p:txBody>
      </p:sp>
    </p:spTree>
    <p:extLst>
      <p:ext uri="{BB962C8B-B14F-4D97-AF65-F5344CB8AC3E}">
        <p14:creationId xmlns:p14="http://schemas.microsoft.com/office/powerpoint/2010/main" val="14347527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3445831" y="2920326"/>
            <a:ext cx="5250232" cy="3937674"/>
          </a:xfrm>
          <a:prstGeom prst="rect">
            <a:avLst/>
          </a:prstGeom>
        </p:spPr>
      </p:pic>
      <p:pic>
        <p:nvPicPr>
          <p:cNvPr id="5" name="Picture 4"/>
          <p:cNvPicPr>
            <a:picLocks noChangeAspect="1"/>
          </p:cNvPicPr>
          <p:nvPr/>
        </p:nvPicPr>
        <p:blipFill>
          <a:blip r:embed="rId4"/>
          <a:stretch>
            <a:fillRect/>
          </a:stretch>
        </p:blipFill>
        <p:spPr>
          <a:xfrm>
            <a:off x="3065811" y="119976"/>
            <a:ext cx="6010275" cy="2800350"/>
          </a:xfrm>
          <a:prstGeom prst="rect">
            <a:avLst/>
          </a:prstGeom>
        </p:spPr>
      </p:pic>
    </p:spTree>
    <p:extLst>
      <p:ext uri="{BB962C8B-B14F-4D97-AF65-F5344CB8AC3E}">
        <p14:creationId xmlns:p14="http://schemas.microsoft.com/office/powerpoint/2010/main" val="20105543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5400" dirty="0">
                <a:latin typeface="Arial" panose="020B0604020202020204" pitchFamily="34" charset="0"/>
                <a:cs typeface="Arial" panose="020B0604020202020204" pitchFamily="34" charset="0"/>
              </a:rPr>
              <a:t>Outline</a:t>
            </a:r>
          </a:p>
        </p:txBody>
      </p:sp>
      <p:sp>
        <p:nvSpPr>
          <p:cNvPr id="6" name="Rectangle 5"/>
          <p:cNvSpPr/>
          <p:nvPr/>
        </p:nvSpPr>
        <p:spPr>
          <a:xfrm>
            <a:off x="2081213" y="1519832"/>
            <a:ext cx="8029575" cy="4708981"/>
          </a:xfrm>
          <a:prstGeom prst="rect">
            <a:avLst/>
          </a:prstGeom>
        </p:spPr>
        <p:txBody>
          <a:bodyPr wrap="square">
            <a:spAutoFit/>
          </a:bodyPr>
          <a:lstStyle/>
          <a:p>
            <a:pPr marL="571500" indent="-571500">
              <a:buClr>
                <a:schemeClr val="tx1"/>
              </a:buClr>
              <a:buFont typeface="Arial" panose="020B0604020202020204" pitchFamily="34" charset="0"/>
              <a:buChar char="•"/>
            </a:pPr>
            <a:r>
              <a:rPr lang="en-US" sz="3600" b="1" dirty="0">
                <a:latin typeface="Arial" panose="020B0604020202020204" pitchFamily="34" charset="0"/>
                <a:cs typeface="Arial" panose="020B0604020202020204" pitchFamily="34" charset="0"/>
              </a:rPr>
              <a:t>Discrete Convolution</a:t>
            </a:r>
          </a:p>
          <a:p>
            <a:pPr marL="1028700" lvl="1" indent="-571500">
              <a:buClr>
                <a:schemeClr val="tx1"/>
              </a:buClr>
              <a:buFont typeface="Arial" panose="020B0604020202020204" pitchFamily="34" charset="0"/>
              <a:buChar char="•"/>
            </a:pPr>
            <a:r>
              <a:rPr lang="en-US" sz="3200" dirty="0">
                <a:latin typeface="Arial" panose="020B0604020202020204" pitchFamily="34" charset="0"/>
                <a:cs typeface="Arial" panose="020B0604020202020204" pitchFamily="34" charset="0"/>
              </a:rPr>
              <a:t>Zero-padding</a:t>
            </a:r>
          </a:p>
          <a:p>
            <a:pPr marL="1028700" lvl="1" indent="-571500">
              <a:buClr>
                <a:schemeClr val="tx1"/>
              </a:buClr>
              <a:buFont typeface="Arial" panose="020B0604020202020204" pitchFamily="34" charset="0"/>
              <a:buChar char="•"/>
            </a:pPr>
            <a:r>
              <a:rPr lang="en-US" sz="3200" dirty="0">
                <a:latin typeface="Arial" panose="020B0604020202020204" pitchFamily="34" charset="0"/>
                <a:cs typeface="Arial" panose="020B0604020202020204" pitchFamily="34" charset="0"/>
              </a:rPr>
              <a:t>Circular Equivalent to Linear</a:t>
            </a:r>
            <a:endParaRPr lang="en-US" sz="2800" dirty="0">
              <a:latin typeface="Arial" panose="020B0604020202020204" pitchFamily="34" charset="0"/>
              <a:cs typeface="Arial" panose="020B0604020202020204" pitchFamily="34" charset="0"/>
            </a:endParaRPr>
          </a:p>
          <a:p>
            <a:pPr marL="571500" indent="-571500">
              <a:buClr>
                <a:schemeClr val="tx1"/>
              </a:buClr>
              <a:buFont typeface="Arial" panose="020B0604020202020204" pitchFamily="34" charset="0"/>
              <a:buChar char="•"/>
            </a:pPr>
            <a:r>
              <a:rPr lang="en-US" sz="3600" b="1" dirty="0">
                <a:solidFill>
                  <a:srgbClr val="FF0000"/>
                </a:solidFill>
                <a:latin typeface="Arial" panose="020B0604020202020204" pitchFamily="34" charset="0"/>
                <a:cs typeface="Arial" panose="020B0604020202020204" pitchFamily="34" charset="0"/>
              </a:rPr>
              <a:t>Spectral Analysis</a:t>
            </a:r>
          </a:p>
          <a:p>
            <a:pPr marL="1028700" lvl="1" indent="-571500">
              <a:buClr>
                <a:schemeClr val="tx1"/>
              </a:buClr>
              <a:buFont typeface="Arial" panose="020B0604020202020204" pitchFamily="34" charset="0"/>
              <a:buChar char="•"/>
            </a:pPr>
            <a:r>
              <a:rPr lang="en-US" sz="3200" dirty="0">
                <a:latin typeface="Arial" panose="020B0604020202020204" pitchFamily="34" charset="0"/>
                <a:cs typeface="Arial" panose="020B0604020202020204" pitchFamily="34" charset="0"/>
              </a:rPr>
              <a:t>Zero-padding</a:t>
            </a:r>
          </a:p>
          <a:p>
            <a:pPr marL="1028700" lvl="1" indent="-571500">
              <a:buClr>
                <a:schemeClr val="tx1"/>
              </a:buClr>
              <a:buFont typeface="Arial" panose="020B0604020202020204" pitchFamily="34" charset="0"/>
              <a:buChar char="•"/>
            </a:pPr>
            <a:r>
              <a:rPr lang="en-US" sz="3200" dirty="0">
                <a:latin typeface="Arial" panose="020B0604020202020204" pitchFamily="34" charset="0"/>
                <a:cs typeface="Arial" panose="020B0604020202020204" pitchFamily="34" charset="0"/>
              </a:rPr>
              <a:t>Refined Spectral Bins</a:t>
            </a:r>
          </a:p>
          <a:p>
            <a:pPr marL="571500" indent="-571500">
              <a:buClr>
                <a:schemeClr val="tx1"/>
              </a:buClr>
              <a:buFont typeface="Arial" panose="020B0604020202020204" pitchFamily="34" charset="0"/>
              <a:buChar char="•"/>
            </a:pPr>
            <a:r>
              <a:rPr lang="en-US" sz="3600" b="1" dirty="0">
                <a:latin typeface="Arial" panose="020B0604020202020204" pitchFamily="34" charset="0"/>
                <a:cs typeface="Arial" panose="020B0604020202020204" pitchFamily="34" charset="0"/>
              </a:rPr>
              <a:t>2D Filtering</a:t>
            </a:r>
          </a:p>
          <a:p>
            <a:pPr marL="1028700" lvl="1" indent="-571500">
              <a:buClr>
                <a:schemeClr val="tx1"/>
              </a:buClr>
              <a:buFont typeface="Arial" panose="020B0604020202020204" pitchFamily="34" charset="0"/>
              <a:buChar char="•"/>
            </a:pPr>
            <a:r>
              <a:rPr lang="en-US" sz="3200" dirty="0">
                <a:latin typeface="Arial" panose="020B0604020202020204" pitchFamily="34" charset="0"/>
                <a:cs typeface="Arial" panose="020B0604020202020204" pitchFamily="34" charset="0"/>
              </a:rPr>
              <a:t>Noise Removal</a:t>
            </a:r>
          </a:p>
          <a:p>
            <a:pPr marL="1028700" lvl="1" indent="-571500">
              <a:buClr>
                <a:schemeClr val="tx1"/>
              </a:buClr>
              <a:buFont typeface="Arial" panose="020B0604020202020204" pitchFamily="34" charset="0"/>
              <a:buChar char="•"/>
            </a:pPr>
            <a:r>
              <a:rPr lang="en-US" sz="3200" dirty="0">
                <a:latin typeface="Arial" panose="020B0604020202020204" pitchFamily="34" charset="0"/>
                <a:cs typeface="Arial" panose="020B0604020202020204" pitchFamily="34" charset="0"/>
              </a:rPr>
              <a:t>Edge Enhancement</a:t>
            </a:r>
          </a:p>
        </p:txBody>
      </p:sp>
    </p:spTree>
    <p:extLst>
      <p:ext uri="{BB962C8B-B14F-4D97-AF65-F5344CB8AC3E}">
        <p14:creationId xmlns:p14="http://schemas.microsoft.com/office/powerpoint/2010/main" val="16342878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4699001" y="1454059"/>
            <a:ext cx="3943865" cy="3083293"/>
          </a:xfrm>
          <a:prstGeom prst="rect">
            <a:avLst/>
          </a:prstGeom>
        </p:spPr>
      </p:pic>
      <p:sp>
        <p:nvSpPr>
          <p:cNvPr id="2" name="Title 1"/>
          <p:cNvSpPr>
            <a:spLocks noGrp="1"/>
          </p:cNvSpPr>
          <p:nvPr>
            <p:ph type="title"/>
          </p:nvPr>
        </p:nvSpPr>
        <p:spPr/>
        <p:txBody>
          <a:bodyPr/>
          <a:lstStyle/>
          <a:p>
            <a:r>
              <a:rPr lang="en-US" dirty="0"/>
              <a:t>Synthetic Waveform</a:t>
            </a:r>
          </a:p>
        </p:txBody>
      </p:sp>
      <p:pic>
        <p:nvPicPr>
          <p:cNvPr id="4" name="Picture 3"/>
          <p:cNvPicPr>
            <a:picLocks noChangeAspect="1"/>
          </p:cNvPicPr>
          <p:nvPr/>
        </p:nvPicPr>
        <p:blipFill>
          <a:blip r:embed="rId4"/>
          <a:stretch>
            <a:fillRect/>
          </a:stretch>
        </p:blipFill>
        <p:spPr>
          <a:xfrm>
            <a:off x="203200" y="1423400"/>
            <a:ext cx="3944308" cy="1868356"/>
          </a:xfrm>
          <a:prstGeom prst="rect">
            <a:avLst/>
          </a:prstGeom>
        </p:spPr>
      </p:pic>
      <p:sp>
        <p:nvSpPr>
          <p:cNvPr id="7" name="Rectangle 6"/>
          <p:cNvSpPr/>
          <p:nvPr/>
        </p:nvSpPr>
        <p:spPr>
          <a:xfrm>
            <a:off x="203200" y="3460133"/>
            <a:ext cx="4572000" cy="1077218"/>
          </a:xfrm>
          <a:prstGeom prst="rect">
            <a:avLst/>
          </a:prstGeom>
        </p:spPr>
        <p:txBody>
          <a:bodyPr>
            <a:spAutoFit/>
          </a:bodyPr>
          <a:lstStyle/>
          <a:p>
            <a:r>
              <a:rPr lang="en-US" sz="1600" b="1" dirty="0">
                <a:solidFill>
                  <a:srgbClr val="404040"/>
                </a:solidFill>
              </a:rPr>
              <a:t>Fs = 1e3;</a:t>
            </a:r>
          </a:p>
          <a:p>
            <a:r>
              <a:rPr lang="en-US" sz="1600" b="1" dirty="0">
                <a:solidFill>
                  <a:srgbClr val="404040"/>
                </a:solidFill>
              </a:rPr>
              <a:t>t = 0:0.001:1‐0.001;</a:t>
            </a:r>
          </a:p>
          <a:p>
            <a:r>
              <a:rPr lang="en-US" sz="1600" b="1" dirty="0">
                <a:solidFill>
                  <a:srgbClr val="404040"/>
                </a:solidFill>
              </a:rPr>
              <a:t>x = cos(2*pi*100*t)+sin(2*pi*202.5*t);</a:t>
            </a:r>
          </a:p>
          <a:p>
            <a:r>
              <a:rPr lang="en-US" sz="1600" b="1" dirty="0">
                <a:solidFill>
                  <a:srgbClr val="404040"/>
                </a:solidFill>
              </a:rPr>
              <a:t>Plot(x(1:100));</a:t>
            </a:r>
          </a:p>
        </p:txBody>
      </p:sp>
      <p:sp>
        <p:nvSpPr>
          <p:cNvPr id="12" name="Rectangle 11"/>
          <p:cNvSpPr/>
          <p:nvPr/>
        </p:nvSpPr>
        <p:spPr>
          <a:xfrm>
            <a:off x="203201" y="5021392"/>
            <a:ext cx="8353425" cy="646331"/>
          </a:xfrm>
          <a:prstGeom prst="rect">
            <a:avLst/>
          </a:prstGeom>
        </p:spPr>
        <p:txBody>
          <a:bodyPr wrap="square">
            <a:spAutoFit/>
          </a:bodyPr>
          <a:lstStyle/>
          <a:p>
            <a:r>
              <a:rPr lang="en-US" dirty="0">
                <a:solidFill>
                  <a:srgbClr val="009900"/>
                </a:solidFill>
              </a:rPr>
              <a:t>https://www.mathworks.com/help/signal/ug/amplitude-estimation-and-zero-padding.html</a:t>
            </a:r>
          </a:p>
        </p:txBody>
      </p:sp>
    </p:spTree>
    <p:extLst>
      <p:ext uri="{BB962C8B-B14F-4D97-AF65-F5344CB8AC3E}">
        <p14:creationId xmlns:p14="http://schemas.microsoft.com/office/powerpoint/2010/main" val="11567949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665787" y="1697222"/>
            <a:ext cx="4081339" cy="3079334"/>
          </a:xfrm>
          <a:prstGeom prst="rect">
            <a:avLst/>
          </a:prstGeom>
        </p:spPr>
      </p:pic>
      <p:sp>
        <p:nvSpPr>
          <p:cNvPr id="2" name="Title 1"/>
          <p:cNvSpPr>
            <a:spLocks noGrp="1"/>
          </p:cNvSpPr>
          <p:nvPr>
            <p:ph type="title"/>
          </p:nvPr>
        </p:nvSpPr>
        <p:spPr/>
        <p:txBody>
          <a:bodyPr/>
          <a:lstStyle/>
          <a:p>
            <a:r>
              <a:rPr lang="en-US" dirty="0"/>
              <a:t>Without Zero Padding</a:t>
            </a:r>
          </a:p>
        </p:txBody>
      </p:sp>
      <p:sp>
        <p:nvSpPr>
          <p:cNvPr id="8" name="Rectangle 7"/>
          <p:cNvSpPr/>
          <p:nvPr/>
        </p:nvSpPr>
        <p:spPr>
          <a:xfrm>
            <a:off x="203201" y="1522588"/>
            <a:ext cx="4562475" cy="3253968"/>
          </a:xfrm>
          <a:prstGeom prst="rect">
            <a:avLst/>
          </a:prstGeom>
        </p:spPr>
        <p:txBody>
          <a:bodyPr wrap="square">
            <a:spAutoFit/>
          </a:bodyPr>
          <a:lstStyle/>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err="1">
                <a:solidFill>
                  <a:srgbClr val="404040"/>
                </a:solidFill>
                <a:ea typeface="Times New Roman" panose="02020603050405020304" pitchFamily="18" charset="0"/>
                <a:cs typeface="Courier New" panose="02070309020205020404" pitchFamily="49" charset="0"/>
              </a:rPr>
              <a:t>xdft</a:t>
            </a:r>
            <a:r>
              <a:rPr lang="en-US" sz="1600" b="1" dirty="0">
                <a:solidFill>
                  <a:srgbClr val="404040"/>
                </a:solidFill>
                <a:ea typeface="Times New Roman" panose="02020603050405020304" pitchFamily="18" charset="0"/>
                <a:cs typeface="Courier New" panose="02070309020205020404" pitchFamily="49" charset="0"/>
              </a:rPr>
              <a:t> = </a:t>
            </a:r>
            <a:r>
              <a:rPr lang="en-US" sz="1600" b="1" dirty="0" err="1">
                <a:solidFill>
                  <a:srgbClr val="404040"/>
                </a:solidFill>
                <a:ea typeface="Times New Roman" panose="02020603050405020304" pitchFamily="18" charset="0"/>
                <a:cs typeface="Courier New" panose="02070309020205020404" pitchFamily="49" charset="0"/>
              </a:rPr>
              <a:t>fft</a:t>
            </a:r>
            <a:r>
              <a:rPr lang="en-US" sz="1600" b="1" dirty="0">
                <a:solidFill>
                  <a:srgbClr val="404040"/>
                </a:solidFill>
                <a:ea typeface="Times New Roman" panose="02020603050405020304" pitchFamily="18" charset="0"/>
                <a:cs typeface="Courier New" panose="02070309020205020404" pitchFamily="49" charset="0"/>
              </a:rPr>
              <a:t>(x);</a:t>
            </a:r>
            <a:endParaRPr lang="en-US" sz="1600" b="1" dirty="0">
              <a:ea typeface="Calibri" panose="020F0502020204030204" pitchFamily="3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err="1">
                <a:solidFill>
                  <a:srgbClr val="404040"/>
                </a:solidFill>
                <a:ea typeface="Times New Roman" panose="02020603050405020304" pitchFamily="18" charset="0"/>
                <a:cs typeface="Courier New" panose="02070309020205020404" pitchFamily="49" charset="0"/>
              </a:rPr>
              <a:t>xdft</a:t>
            </a:r>
            <a:r>
              <a:rPr lang="en-US" sz="1600" b="1" dirty="0">
                <a:solidFill>
                  <a:srgbClr val="404040"/>
                </a:solidFill>
                <a:ea typeface="Times New Roman" panose="02020603050405020304" pitchFamily="18" charset="0"/>
                <a:cs typeface="Courier New" panose="02070309020205020404" pitchFamily="49" charset="0"/>
              </a:rPr>
              <a:t> = </a:t>
            </a:r>
            <a:r>
              <a:rPr lang="en-US" sz="1600" b="1" dirty="0" err="1">
                <a:solidFill>
                  <a:srgbClr val="404040"/>
                </a:solidFill>
                <a:ea typeface="Times New Roman" panose="02020603050405020304" pitchFamily="18" charset="0"/>
                <a:cs typeface="Courier New" panose="02070309020205020404" pitchFamily="49" charset="0"/>
              </a:rPr>
              <a:t>xdft</a:t>
            </a:r>
            <a:r>
              <a:rPr lang="en-US" sz="1600" b="1" dirty="0">
                <a:solidFill>
                  <a:srgbClr val="404040"/>
                </a:solidFill>
                <a:ea typeface="Times New Roman" panose="02020603050405020304" pitchFamily="18" charset="0"/>
                <a:cs typeface="Courier New" panose="02070309020205020404" pitchFamily="49" charset="0"/>
              </a:rPr>
              <a:t>(1:length(x)/2+1);</a:t>
            </a:r>
            <a:endParaRPr lang="en-US" sz="1600" b="1" dirty="0">
              <a:ea typeface="Calibri" panose="020F0502020204030204" pitchFamily="3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err="1">
                <a:solidFill>
                  <a:srgbClr val="404040"/>
                </a:solidFill>
                <a:ea typeface="Times New Roman" panose="02020603050405020304" pitchFamily="18" charset="0"/>
                <a:cs typeface="Courier New" panose="02070309020205020404" pitchFamily="49" charset="0"/>
              </a:rPr>
              <a:t>xdft</a:t>
            </a:r>
            <a:r>
              <a:rPr lang="en-US" sz="1600" b="1" dirty="0">
                <a:solidFill>
                  <a:srgbClr val="404040"/>
                </a:solidFill>
                <a:ea typeface="Times New Roman" panose="02020603050405020304" pitchFamily="18" charset="0"/>
                <a:cs typeface="Courier New" panose="02070309020205020404" pitchFamily="49" charset="0"/>
              </a:rPr>
              <a:t> = </a:t>
            </a:r>
            <a:r>
              <a:rPr lang="en-US" sz="1600" b="1" dirty="0" err="1">
                <a:solidFill>
                  <a:srgbClr val="404040"/>
                </a:solidFill>
                <a:ea typeface="Times New Roman" panose="02020603050405020304" pitchFamily="18" charset="0"/>
                <a:cs typeface="Courier New" panose="02070309020205020404" pitchFamily="49" charset="0"/>
              </a:rPr>
              <a:t>xdft</a:t>
            </a:r>
            <a:r>
              <a:rPr lang="en-US" sz="1600" b="1" dirty="0">
                <a:solidFill>
                  <a:srgbClr val="404040"/>
                </a:solidFill>
                <a:ea typeface="Times New Roman" panose="02020603050405020304" pitchFamily="18" charset="0"/>
                <a:cs typeface="Courier New" panose="02070309020205020404" pitchFamily="49" charset="0"/>
              </a:rPr>
              <a:t>/length(x);</a:t>
            </a:r>
            <a:endParaRPr lang="en-US" sz="1600" b="1" dirty="0">
              <a:ea typeface="Calibri" panose="020F0502020204030204" pitchFamily="3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err="1">
                <a:solidFill>
                  <a:srgbClr val="404040"/>
                </a:solidFill>
                <a:ea typeface="Times New Roman" panose="02020603050405020304" pitchFamily="18" charset="0"/>
                <a:cs typeface="Courier New" panose="02070309020205020404" pitchFamily="49" charset="0"/>
              </a:rPr>
              <a:t>xdft</a:t>
            </a:r>
            <a:r>
              <a:rPr lang="en-US" sz="1600" b="1" dirty="0">
                <a:solidFill>
                  <a:srgbClr val="404040"/>
                </a:solidFill>
                <a:ea typeface="Times New Roman" panose="02020603050405020304" pitchFamily="18" charset="0"/>
                <a:cs typeface="Courier New" panose="02070309020205020404" pitchFamily="49" charset="0"/>
              </a:rPr>
              <a:t>(2:500) = 2*</a:t>
            </a:r>
            <a:r>
              <a:rPr lang="en-US" sz="1600" b="1" dirty="0" err="1">
                <a:solidFill>
                  <a:srgbClr val="404040"/>
                </a:solidFill>
                <a:ea typeface="Times New Roman" panose="02020603050405020304" pitchFamily="18" charset="0"/>
                <a:cs typeface="Courier New" panose="02070309020205020404" pitchFamily="49" charset="0"/>
              </a:rPr>
              <a:t>xdft</a:t>
            </a:r>
            <a:r>
              <a:rPr lang="en-US" sz="1600" b="1" dirty="0">
                <a:solidFill>
                  <a:srgbClr val="404040"/>
                </a:solidFill>
                <a:ea typeface="Times New Roman" panose="02020603050405020304" pitchFamily="18" charset="0"/>
                <a:cs typeface="Courier New" panose="02070309020205020404" pitchFamily="49" charset="0"/>
              </a:rPr>
              <a:t>(2:500);</a:t>
            </a:r>
            <a:endParaRPr lang="en-US" sz="1600" b="1" dirty="0">
              <a:ea typeface="Calibri" panose="020F0502020204030204" pitchFamily="3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err="1">
                <a:solidFill>
                  <a:srgbClr val="404040"/>
                </a:solidFill>
                <a:ea typeface="Times New Roman" panose="02020603050405020304" pitchFamily="18" charset="0"/>
                <a:cs typeface="Courier New" panose="02070309020205020404" pitchFamily="49" charset="0"/>
              </a:rPr>
              <a:t>freq</a:t>
            </a:r>
            <a:r>
              <a:rPr lang="en-US" sz="1600" b="1" dirty="0">
                <a:solidFill>
                  <a:srgbClr val="404040"/>
                </a:solidFill>
                <a:ea typeface="Times New Roman" panose="02020603050405020304" pitchFamily="18" charset="0"/>
                <a:cs typeface="Courier New" panose="02070309020205020404" pitchFamily="49" charset="0"/>
              </a:rPr>
              <a:t> = 0:Fs/length(x):Fs/2;</a:t>
            </a:r>
            <a:endParaRPr lang="en-US" sz="1600" b="1" dirty="0">
              <a:ea typeface="Calibri" panose="020F0502020204030204" pitchFamily="3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404040"/>
                </a:solidFill>
                <a:ea typeface="Times New Roman" panose="02020603050405020304" pitchFamily="18" charset="0"/>
                <a:cs typeface="Courier New" panose="02070309020205020404" pitchFamily="49" charset="0"/>
              </a:rPr>
              <a:t> </a:t>
            </a:r>
            <a:endParaRPr lang="en-US" sz="1600" b="1" dirty="0">
              <a:ea typeface="Calibri" panose="020F0502020204030204" pitchFamily="3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404040"/>
                </a:solidFill>
                <a:ea typeface="Times New Roman" panose="02020603050405020304" pitchFamily="18" charset="0"/>
                <a:cs typeface="Courier New" panose="02070309020205020404" pitchFamily="49" charset="0"/>
              </a:rPr>
              <a:t>plot(</a:t>
            </a:r>
            <a:r>
              <a:rPr lang="en-US" sz="1600" b="1" dirty="0" err="1">
                <a:solidFill>
                  <a:srgbClr val="404040"/>
                </a:solidFill>
                <a:ea typeface="Times New Roman" panose="02020603050405020304" pitchFamily="18" charset="0"/>
                <a:cs typeface="Courier New" panose="02070309020205020404" pitchFamily="49" charset="0"/>
              </a:rPr>
              <a:t>freq,abs</a:t>
            </a:r>
            <a:r>
              <a:rPr lang="en-US" sz="1600" b="1" dirty="0">
                <a:solidFill>
                  <a:srgbClr val="404040"/>
                </a:solidFill>
                <a:ea typeface="Times New Roman" panose="02020603050405020304" pitchFamily="18" charset="0"/>
                <a:cs typeface="Courier New" panose="02070309020205020404" pitchFamily="49" charset="0"/>
              </a:rPr>
              <a:t>(</a:t>
            </a:r>
            <a:r>
              <a:rPr lang="en-US" sz="1600" b="1" dirty="0" err="1">
                <a:solidFill>
                  <a:srgbClr val="404040"/>
                </a:solidFill>
                <a:ea typeface="Times New Roman" panose="02020603050405020304" pitchFamily="18" charset="0"/>
                <a:cs typeface="Courier New" panose="02070309020205020404" pitchFamily="49" charset="0"/>
              </a:rPr>
              <a:t>xdft</a:t>
            </a:r>
            <a:r>
              <a:rPr lang="en-US" sz="1600" b="1" dirty="0">
                <a:solidFill>
                  <a:srgbClr val="404040"/>
                </a:solidFill>
                <a:ea typeface="Times New Roman" panose="02020603050405020304" pitchFamily="18" charset="0"/>
                <a:cs typeface="Courier New" panose="02070309020205020404" pitchFamily="49" charset="0"/>
              </a:rPr>
              <a:t>))</a:t>
            </a:r>
            <a:endParaRPr lang="en-US" sz="1600" b="1" dirty="0">
              <a:ea typeface="Calibri" panose="020F0502020204030204" pitchFamily="3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404040"/>
                </a:solidFill>
                <a:ea typeface="Times New Roman" panose="02020603050405020304" pitchFamily="18" charset="0"/>
                <a:cs typeface="Courier New" panose="02070309020205020404" pitchFamily="49" charset="0"/>
              </a:rPr>
              <a:t>hold </a:t>
            </a:r>
            <a:r>
              <a:rPr lang="en-US" sz="1600" b="1" dirty="0">
                <a:solidFill>
                  <a:srgbClr val="A020F0"/>
                </a:solidFill>
                <a:ea typeface="Times New Roman" panose="02020603050405020304" pitchFamily="18" charset="0"/>
                <a:cs typeface="Courier New" panose="02070309020205020404" pitchFamily="49" charset="0"/>
              </a:rPr>
              <a:t>on</a:t>
            </a:r>
            <a:endParaRPr lang="en-US" sz="1600" b="1" dirty="0">
              <a:ea typeface="Calibri" panose="020F0502020204030204" pitchFamily="3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404040"/>
                </a:solidFill>
                <a:ea typeface="Times New Roman" panose="02020603050405020304" pitchFamily="18" charset="0"/>
                <a:cs typeface="Courier New" panose="02070309020205020404" pitchFamily="49" charset="0"/>
              </a:rPr>
              <a:t>plot(</a:t>
            </a:r>
            <a:r>
              <a:rPr lang="en-US" sz="1600" b="1" dirty="0" err="1">
                <a:solidFill>
                  <a:srgbClr val="404040"/>
                </a:solidFill>
                <a:ea typeface="Times New Roman" panose="02020603050405020304" pitchFamily="18" charset="0"/>
                <a:cs typeface="Courier New" panose="02070309020205020404" pitchFamily="49" charset="0"/>
              </a:rPr>
              <a:t>freq,ones</a:t>
            </a:r>
            <a:r>
              <a:rPr lang="en-US" sz="1600" b="1" dirty="0">
                <a:solidFill>
                  <a:srgbClr val="404040"/>
                </a:solidFill>
                <a:ea typeface="Times New Roman" panose="02020603050405020304" pitchFamily="18" charset="0"/>
                <a:cs typeface="Courier New" panose="02070309020205020404" pitchFamily="49" charset="0"/>
              </a:rPr>
              <a:t>(length(x)/2+1,1),</a:t>
            </a:r>
            <a:r>
              <a:rPr lang="en-US" sz="1600" b="1" dirty="0">
                <a:solidFill>
                  <a:srgbClr val="A020F0"/>
                </a:solidFill>
                <a:ea typeface="Times New Roman" panose="02020603050405020304" pitchFamily="18" charset="0"/>
                <a:cs typeface="Courier New" panose="02070309020205020404" pitchFamily="49" charset="0"/>
              </a:rPr>
              <a:t>'LineWidth'</a:t>
            </a:r>
            <a:r>
              <a:rPr lang="en-US" sz="1600" b="1" dirty="0">
                <a:solidFill>
                  <a:srgbClr val="404040"/>
                </a:solidFill>
                <a:ea typeface="Times New Roman" panose="02020603050405020304" pitchFamily="18" charset="0"/>
                <a:cs typeface="Courier New" panose="02070309020205020404" pitchFamily="49" charset="0"/>
              </a:rPr>
              <a:t>,2)</a:t>
            </a:r>
            <a:endParaRPr lang="en-US" sz="1600" b="1" dirty="0">
              <a:ea typeface="Calibri" panose="020F0502020204030204" pitchFamily="3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err="1">
                <a:solidFill>
                  <a:srgbClr val="404040"/>
                </a:solidFill>
                <a:ea typeface="Times New Roman" panose="02020603050405020304" pitchFamily="18" charset="0"/>
                <a:cs typeface="Courier New" panose="02070309020205020404" pitchFamily="49" charset="0"/>
              </a:rPr>
              <a:t>xlabel</a:t>
            </a:r>
            <a:r>
              <a:rPr lang="en-US" sz="1600" b="1" dirty="0">
                <a:solidFill>
                  <a:srgbClr val="404040"/>
                </a:solidFill>
                <a:ea typeface="Times New Roman" panose="02020603050405020304" pitchFamily="18" charset="0"/>
                <a:cs typeface="Courier New" panose="02070309020205020404" pitchFamily="49" charset="0"/>
              </a:rPr>
              <a:t>(</a:t>
            </a:r>
            <a:r>
              <a:rPr lang="en-US" sz="1600" b="1" dirty="0">
                <a:solidFill>
                  <a:srgbClr val="A020F0"/>
                </a:solidFill>
                <a:ea typeface="Times New Roman" panose="02020603050405020304" pitchFamily="18" charset="0"/>
                <a:cs typeface="Courier New" panose="02070309020205020404" pitchFamily="49" charset="0"/>
              </a:rPr>
              <a:t>'Hz'</a:t>
            </a:r>
            <a:r>
              <a:rPr lang="en-US" sz="1600" b="1" dirty="0">
                <a:solidFill>
                  <a:srgbClr val="404040"/>
                </a:solidFill>
                <a:ea typeface="Times New Roman" panose="02020603050405020304" pitchFamily="18" charset="0"/>
                <a:cs typeface="Courier New" panose="02070309020205020404" pitchFamily="49" charset="0"/>
              </a:rPr>
              <a:t>)</a:t>
            </a:r>
            <a:endParaRPr lang="en-US" sz="1600" b="1" dirty="0">
              <a:ea typeface="Calibri" panose="020F0502020204030204" pitchFamily="3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err="1">
                <a:solidFill>
                  <a:srgbClr val="404040"/>
                </a:solidFill>
                <a:ea typeface="Times New Roman" panose="02020603050405020304" pitchFamily="18" charset="0"/>
                <a:cs typeface="Courier New" panose="02070309020205020404" pitchFamily="49" charset="0"/>
              </a:rPr>
              <a:t>ylabel</a:t>
            </a:r>
            <a:r>
              <a:rPr lang="en-US" sz="1600" b="1" dirty="0">
                <a:solidFill>
                  <a:srgbClr val="404040"/>
                </a:solidFill>
                <a:ea typeface="Times New Roman" panose="02020603050405020304" pitchFamily="18" charset="0"/>
                <a:cs typeface="Courier New" panose="02070309020205020404" pitchFamily="49" charset="0"/>
              </a:rPr>
              <a:t>(</a:t>
            </a:r>
            <a:r>
              <a:rPr lang="en-US" sz="1600" b="1" dirty="0">
                <a:solidFill>
                  <a:srgbClr val="A020F0"/>
                </a:solidFill>
                <a:ea typeface="Times New Roman" panose="02020603050405020304" pitchFamily="18" charset="0"/>
                <a:cs typeface="Courier New" panose="02070309020205020404" pitchFamily="49" charset="0"/>
              </a:rPr>
              <a:t>'Amplitude'</a:t>
            </a:r>
            <a:r>
              <a:rPr lang="en-US" sz="1600" b="1" dirty="0">
                <a:solidFill>
                  <a:srgbClr val="404040"/>
                </a:solidFill>
                <a:ea typeface="Times New Roman" panose="02020603050405020304" pitchFamily="18" charset="0"/>
                <a:cs typeface="Courier New" panose="02070309020205020404" pitchFamily="49" charset="0"/>
              </a:rPr>
              <a:t>)</a:t>
            </a:r>
            <a:endParaRPr lang="en-US" sz="1600" b="1" dirty="0">
              <a:ea typeface="Calibri" panose="020F0502020204030204" pitchFamily="34" charset="0"/>
              <a:cs typeface="Times New Roman" panose="02020603050405020304" pitchFamily="18" charset="0"/>
            </a:endParaRPr>
          </a:p>
          <a:p>
            <a:pPr>
              <a:lnSpc>
                <a:spcPct val="107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404040"/>
                </a:solidFill>
                <a:ea typeface="Times New Roman" panose="02020603050405020304" pitchFamily="18" charset="0"/>
                <a:cs typeface="Courier New" panose="02070309020205020404" pitchFamily="49" charset="0"/>
              </a:rPr>
              <a:t>hold </a:t>
            </a:r>
            <a:r>
              <a:rPr lang="en-US" sz="1600" b="1" dirty="0">
                <a:solidFill>
                  <a:srgbClr val="A020F0"/>
                </a:solidFill>
                <a:ea typeface="Times New Roman" panose="02020603050405020304" pitchFamily="18" charset="0"/>
                <a:cs typeface="Courier New" panose="02070309020205020404" pitchFamily="49" charset="0"/>
              </a:rPr>
              <a:t>off</a:t>
            </a:r>
            <a:endParaRPr lang="en-US" sz="1600" b="1" dirty="0">
              <a:ea typeface="Calibri" panose="020F0502020204030204" pitchFamily="34" charset="0"/>
              <a:cs typeface="Times New Roman" panose="02020603050405020304" pitchFamily="18" charset="0"/>
            </a:endParaRPr>
          </a:p>
        </p:txBody>
      </p:sp>
      <p:sp>
        <p:nvSpPr>
          <p:cNvPr id="3" name="TextBox 2"/>
          <p:cNvSpPr txBox="1"/>
          <p:nvPr/>
        </p:nvSpPr>
        <p:spPr>
          <a:xfrm>
            <a:off x="203200" y="5454446"/>
            <a:ext cx="8229600" cy="830997"/>
          </a:xfrm>
          <a:prstGeom prst="rect">
            <a:avLst/>
          </a:prstGeom>
          <a:noFill/>
        </p:spPr>
        <p:txBody>
          <a:bodyPr wrap="square" rtlCol="0">
            <a:spAutoFit/>
          </a:bodyPr>
          <a:lstStyle/>
          <a:p>
            <a:pPr algn="ctr"/>
            <a:r>
              <a:rPr lang="en-US" sz="2400" b="1" dirty="0">
                <a:solidFill>
                  <a:srgbClr val="FF0000"/>
                </a:solidFill>
              </a:rPr>
              <a:t>The 202.5 frequency is not well-resolved </a:t>
            </a:r>
            <a:r>
              <a:rPr lang="en-US" sz="2400" b="1" dirty="0">
                <a:solidFill>
                  <a:srgbClr val="FF0000"/>
                </a:solidFill>
                <a:sym typeface="Wingdings" panose="05000000000000000000" pitchFamily="2" charset="2"/>
              </a:rPr>
              <a:t>Not within the default spectral bins (1 Hz)</a:t>
            </a:r>
            <a:endParaRPr lang="en-US" sz="2400" b="1" dirty="0">
              <a:solidFill>
                <a:srgbClr val="FF0000"/>
              </a:solidFill>
            </a:endParaRPr>
          </a:p>
        </p:txBody>
      </p:sp>
    </p:spTree>
    <p:extLst>
      <p:ext uri="{BB962C8B-B14F-4D97-AF65-F5344CB8AC3E}">
        <p14:creationId xmlns:p14="http://schemas.microsoft.com/office/powerpoint/2010/main" val="37993126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With Zero Padding</a:t>
            </a:r>
          </a:p>
        </p:txBody>
      </p:sp>
      <p:pic>
        <p:nvPicPr>
          <p:cNvPr id="4" name="Content Placeholder 3"/>
          <p:cNvPicPr>
            <a:picLocks noGrp="1" noChangeAspect="1"/>
          </p:cNvPicPr>
          <p:nvPr>
            <p:ph idx="1"/>
          </p:nvPr>
        </p:nvPicPr>
        <p:blipFill>
          <a:blip r:embed="rId3"/>
          <a:stretch>
            <a:fillRect/>
          </a:stretch>
        </p:blipFill>
        <p:spPr>
          <a:xfrm>
            <a:off x="4863484" y="1341725"/>
            <a:ext cx="3988416" cy="3018646"/>
          </a:xfrm>
          <a:prstGeom prst="rect">
            <a:avLst/>
          </a:prstGeom>
        </p:spPr>
      </p:pic>
      <p:sp>
        <p:nvSpPr>
          <p:cNvPr id="3" name="Rectangle 1"/>
          <p:cNvSpPr>
            <a:spLocks noChangeArrowheads="1"/>
          </p:cNvSpPr>
          <p:nvPr/>
        </p:nvSpPr>
        <p:spPr bwMode="auto">
          <a:xfrm>
            <a:off x="298451" y="1373722"/>
            <a:ext cx="4929809" cy="2954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eaLnBrk="0" fontAlgn="base" hangingPunct="0">
              <a:spcBef>
                <a:spcPct val="0"/>
              </a:spcBef>
              <a:spcAft>
                <a:spcPct val="0"/>
              </a:spcAft>
            </a:pPr>
            <a:r>
              <a:rPr lang="en-US" altLang="en-US" sz="1600" b="1" dirty="0" err="1">
                <a:solidFill>
                  <a:srgbClr val="404040"/>
                </a:solidFill>
                <a:ea typeface="Times New Roman" panose="02020603050405020304" pitchFamily="18" charset="0"/>
                <a:cs typeface="Courier New" panose="02070309020205020404" pitchFamily="49" charset="0"/>
              </a:rPr>
              <a:t>xdft</a:t>
            </a:r>
            <a:r>
              <a:rPr lang="en-US" altLang="en-US" sz="1600" b="1" dirty="0">
                <a:solidFill>
                  <a:srgbClr val="404040"/>
                </a:solidFill>
                <a:ea typeface="Times New Roman" panose="02020603050405020304" pitchFamily="18" charset="0"/>
                <a:cs typeface="Courier New" panose="02070309020205020404" pitchFamily="49" charset="0"/>
              </a:rPr>
              <a:t> = </a:t>
            </a:r>
            <a:r>
              <a:rPr lang="en-US" altLang="en-US" sz="1600" b="1" dirty="0" err="1">
                <a:solidFill>
                  <a:srgbClr val="404040"/>
                </a:solidFill>
                <a:ea typeface="Times New Roman" panose="02020603050405020304" pitchFamily="18" charset="0"/>
                <a:cs typeface="Courier New" panose="02070309020205020404" pitchFamily="49" charset="0"/>
              </a:rPr>
              <a:t>fft</a:t>
            </a:r>
            <a:r>
              <a:rPr lang="en-US" altLang="en-US" sz="1600" b="1" dirty="0">
                <a:solidFill>
                  <a:srgbClr val="404040"/>
                </a:solidFill>
                <a:ea typeface="Times New Roman" panose="02020603050405020304" pitchFamily="18" charset="0"/>
                <a:cs typeface="Courier New" panose="02070309020205020404" pitchFamily="49" charset="0"/>
              </a:rPr>
              <a:t>(x,2000);</a:t>
            </a:r>
          </a:p>
          <a:p>
            <a:pPr eaLnBrk="0" fontAlgn="base" hangingPunct="0">
              <a:spcBef>
                <a:spcPct val="0"/>
              </a:spcBef>
              <a:spcAft>
                <a:spcPct val="0"/>
              </a:spcAft>
            </a:pPr>
            <a:r>
              <a:rPr lang="en-US" altLang="en-US" sz="1600" b="1" dirty="0" err="1">
                <a:solidFill>
                  <a:srgbClr val="404040"/>
                </a:solidFill>
                <a:ea typeface="Times New Roman" panose="02020603050405020304" pitchFamily="18" charset="0"/>
                <a:cs typeface="Courier New" panose="02070309020205020404" pitchFamily="49" charset="0"/>
              </a:rPr>
              <a:t>xdft</a:t>
            </a:r>
            <a:r>
              <a:rPr lang="en-US" altLang="en-US" sz="1600" b="1" dirty="0">
                <a:solidFill>
                  <a:srgbClr val="404040"/>
                </a:solidFill>
                <a:ea typeface="Times New Roman" panose="02020603050405020304" pitchFamily="18" charset="0"/>
                <a:cs typeface="Courier New" panose="02070309020205020404" pitchFamily="49" charset="0"/>
              </a:rPr>
              <a:t> = </a:t>
            </a:r>
            <a:r>
              <a:rPr lang="en-US" altLang="en-US" sz="1600" b="1" dirty="0" err="1">
                <a:solidFill>
                  <a:srgbClr val="404040"/>
                </a:solidFill>
                <a:ea typeface="Times New Roman" panose="02020603050405020304" pitchFamily="18" charset="0"/>
                <a:cs typeface="Courier New" panose="02070309020205020404" pitchFamily="49" charset="0"/>
              </a:rPr>
              <a:t>xdft</a:t>
            </a:r>
            <a:r>
              <a:rPr lang="en-US" altLang="en-US" sz="1600" b="1" dirty="0">
                <a:solidFill>
                  <a:srgbClr val="404040"/>
                </a:solidFill>
                <a:ea typeface="Times New Roman" panose="02020603050405020304" pitchFamily="18" charset="0"/>
                <a:cs typeface="Courier New" panose="02070309020205020404" pitchFamily="49" charset="0"/>
              </a:rPr>
              <a:t>(1:length(</a:t>
            </a:r>
            <a:r>
              <a:rPr lang="en-US" altLang="en-US" sz="1600" b="1" dirty="0" err="1">
                <a:solidFill>
                  <a:srgbClr val="404040"/>
                </a:solidFill>
                <a:ea typeface="Times New Roman" panose="02020603050405020304" pitchFamily="18" charset="0"/>
                <a:cs typeface="Courier New" panose="02070309020205020404" pitchFamily="49" charset="0"/>
              </a:rPr>
              <a:t>xdft</a:t>
            </a:r>
            <a:r>
              <a:rPr lang="en-US" altLang="en-US" sz="1600" b="1" dirty="0">
                <a:solidFill>
                  <a:srgbClr val="404040"/>
                </a:solidFill>
                <a:ea typeface="Times New Roman" panose="02020603050405020304" pitchFamily="18" charset="0"/>
                <a:cs typeface="Courier New" panose="02070309020205020404" pitchFamily="49" charset="0"/>
              </a:rPr>
              <a:t>)/2+1);</a:t>
            </a:r>
          </a:p>
          <a:p>
            <a:pPr eaLnBrk="0" fontAlgn="base" hangingPunct="0">
              <a:spcBef>
                <a:spcPct val="0"/>
              </a:spcBef>
              <a:spcAft>
                <a:spcPct val="0"/>
              </a:spcAft>
            </a:pPr>
            <a:r>
              <a:rPr lang="en-US" altLang="en-US" sz="1600" b="1" dirty="0" err="1">
                <a:solidFill>
                  <a:srgbClr val="404040"/>
                </a:solidFill>
                <a:ea typeface="Times New Roman" panose="02020603050405020304" pitchFamily="18" charset="0"/>
                <a:cs typeface="Courier New" panose="02070309020205020404" pitchFamily="49" charset="0"/>
              </a:rPr>
              <a:t>xdft</a:t>
            </a:r>
            <a:r>
              <a:rPr lang="en-US" altLang="en-US" sz="1600" b="1" dirty="0">
                <a:solidFill>
                  <a:srgbClr val="404040"/>
                </a:solidFill>
                <a:ea typeface="Times New Roman" panose="02020603050405020304" pitchFamily="18" charset="0"/>
                <a:cs typeface="Courier New" panose="02070309020205020404" pitchFamily="49" charset="0"/>
              </a:rPr>
              <a:t> = </a:t>
            </a:r>
            <a:r>
              <a:rPr lang="en-US" altLang="en-US" sz="1600" b="1" dirty="0" err="1">
                <a:solidFill>
                  <a:srgbClr val="404040"/>
                </a:solidFill>
                <a:ea typeface="Times New Roman" panose="02020603050405020304" pitchFamily="18" charset="0"/>
                <a:cs typeface="Courier New" panose="02070309020205020404" pitchFamily="49" charset="0"/>
              </a:rPr>
              <a:t>xdft</a:t>
            </a:r>
            <a:r>
              <a:rPr lang="en-US" altLang="en-US" sz="1600" b="1" dirty="0">
                <a:solidFill>
                  <a:srgbClr val="404040"/>
                </a:solidFill>
                <a:ea typeface="Times New Roman" panose="02020603050405020304" pitchFamily="18" charset="0"/>
                <a:cs typeface="Courier New" panose="02070309020205020404" pitchFamily="49" charset="0"/>
              </a:rPr>
              <a:t>/length(x);</a:t>
            </a:r>
          </a:p>
          <a:p>
            <a:pPr eaLnBrk="0" fontAlgn="base" hangingPunct="0">
              <a:spcBef>
                <a:spcPct val="0"/>
              </a:spcBef>
              <a:spcAft>
                <a:spcPct val="0"/>
              </a:spcAft>
            </a:pPr>
            <a:r>
              <a:rPr lang="en-US" altLang="en-US" sz="1600" b="1" dirty="0" err="1">
                <a:solidFill>
                  <a:srgbClr val="404040"/>
                </a:solidFill>
                <a:ea typeface="Times New Roman" panose="02020603050405020304" pitchFamily="18" charset="0"/>
                <a:cs typeface="Courier New" panose="02070309020205020404" pitchFamily="49" charset="0"/>
              </a:rPr>
              <a:t>xdft</a:t>
            </a:r>
            <a:r>
              <a:rPr lang="en-US" altLang="en-US" sz="1600" b="1" dirty="0">
                <a:solidFill>
                  <a:srgbClr val="404040"/>
                </a:solidFill>
                <a:ea typeface="Times New Roman" panose="02020603050405020304" pitchFamily="18" charset="0"/>
                <a:cs typeface="Courier New" panose="02070309020205020404" pitchFamily="49" charset="0"/>
              </a:rPr>
              <a:t>(2:500) = 2*</a:t>
            </a:r>
            <a:r>
              <a:rPr lang="en-US" altLang="en-US" sz="1600" b="1" dirty="0" err="1">
                <a:solidFill>
                  <a:srgbClr val="404040"/>
                </a:solidFill>
                <a:ea typeface="Times New Roman" panose="02020603050405020304" pitchFamily="18" charset="0"/>
                <a:cs typeface="Courier New" panose="02070309020205020404" pitchFamily="49" charset="0"/>
              </a:rPr>
              <a:t>xdft</a:t>
            </a:r>
            <a:r>
              <a:rPr lang="en-US" altLang="en-US" sz="1600" b="1" dirty="0">
                <a:solidFill>
                  <a:srgbClr val="404040"/>
                </a:solidFill>
                <a:ea typeface="Times New Roman" panose="02020603050405020304" pitchFamily="18" charset="0"/>
                <a:cs typeface="Courier New" panose="02070309020205020404" pitchFamily="49" charset="0"/>
              </a:rPr>
              <a:t>(2:500);</a:t>
            </a:r>
          </a:p>
          <a:p>
            <a:pPr eaLnBrk="0" fontAlgn="base" hangingPunct="0">
              <a:spcBef>
                <a:spcPct val="0"/>
              </a:spcBef>
              <a:spcAft>
                <a:spcPct val="0"/>
              </a:spcAft>
            </a:pPr>
            <a:r>
              <a:rPr lang="en-US" altLang="en-US" sz="1600" b="1" dirty="0" err="1">
                <a:solidFill>
                  <a:srgbClr val="404040"/>
                </a:solidFill>
                <a:ea typeface="Times New Roman" panose="02020603050405020304" pitchFamily="18" charset="0"/>
                <a:cs typeface="Courier New" panose="02070309020205020404" pitchFamily="49" charset="0"/>
              </a:rPr>
              <a:t>freq</a:t>
            </a:r>
            <a:r>
              <a:rPr lang="en-US" altLang="en-US" sz="1600" b="1" dirty="0">
                <a:solidFill>
                  <a:srgbClr val="404040"/>
                </a:solidFill>
                <a:ea typeface="Times New Roman" panose="02020603050405020304" pitchFamily="18" charset="0"/>
                <a:cs typeface="Courier New" panose="02070309020205020404" pitchFamily="49" charset="0"/>
              </a:rPr>
              <a:t> =0:Fs/(2*length(x)):Fs/2;</a:t>
            </a:r>
          </a:p>
          <a:p>
            <a:pPr eaLnBrk="0" fontAlgn="base" hangingPunct="0">
              <a:spcBef>
                <a:spcPct val="0"/>
              </a:spcBef>
              <a:spcAft>
                <a:spcPct val="0"/>
              </a:spcAft>
            </a:pPr>
            <a:endParaRPr lang="en-US" altLang="en-US" sz="1600" b="1" dirty="0">
              <a:solidFill>
                <a:srgbClr val="404040"/>
              </a:solidFill>
              <a:ea typeface="Times New Roman" panose="02020603050405020304" pitchFamily="18" charset="0"/>
              <a:cs typeface="Courier New" panose="02070309020205020404" pitchFamily="49" charset="0"/>
            </a:endParaRPr>
          </a:p>
          <a:p>
            <a:pPr eaLnBrk="0" fontAlgn="base" hangingPunct="0">
              <a:spcBef>
                <a:spcPct val="0"/>
              </a:spcBef>
              <a:spcAft>
                <a:spcPct val="0"/>
              </a:spcAft>
            </a:pPr>
            <a:r>
              <a:rPr lang="en-US" altLang="en-US" sz="1600" b="1" dirty="0">
                <a:solidFill>
                  <a:srgbClr val="404040"/>
                </a:solidFill>
                <a:ea typeface="Times New Roman" panose="02020603050405020304" pitchFamily="18" charset="0"/>
                <a:cs typeface="Courier New" panose="02070309020205020404" pitchFamily="49" charset="0"/>
              </a:rPr>
              <a:t>plot(</a:t>
            </a:r>
            <a:r>
              <a:rPr lang="en-US" altLang="en-US" sz="1600" b="1" dirty="0" err="1">
                <a:solidFill>
                  <a:srgbClr val="404040"/>
                </a:solidFill>
                <a:ea typeface="Times New Roman" panose="02020603050405020304" pitchFamily="18" charset="0"/>
                <a:cs typeface="Courier New" panose="02070309020205020404" pitchFamily="49" charset="0"/>
              </a:rPr>
              <a:t>freq,abs</a:t>
            </a:r>
            <a:r>
              <a:rPr lang="en-US" altLang="en-US" sz="1600" b="1" dirty="0">
                <a:solidFill>
                  <a:srgbClr val="404040"/>
                </a:solidFill>
                <a:ea typeface="Times New Roman" panose="02020603050405020304" pitchFamily="18" charset="0"/>
                <a:cs typeface="Courier New" panose="02070309020205020404" pitchFamily="49" charset="0"/>
              </a:rPr>
              <a:t>(</a:t>
            </a:r>
            <a:r>
              <a:rPr lang="en-US" altLang="en-US" sz="1600" b="1" dirty="0" err="1">
                <a:solidFill>
                  <a:srgbClr val="404040"/>
                </a:solidFill>
                <a:ea typeface="Times New Roman" panose="02020603050405020304" pitchFamily="18" charset="0"/>
                <a:cs typeface="Courier New" panose="02070309020205020404" pitchFamily="49" charset="0"/>
              </a:rPr>
              <a:t>xdft</a:t>
            </a:r>
            <a:r>
              <a:rPr lang="en-US" altLang="en-US" sz="1600" b="1" dirty="0">
                <a:solidFill>
                  <a:srgbClr val="404040"/>
                </a:solidFill>
                <a:ea typeface="Times New Roman" panose="02020603050405020304" pitchFamily="18" charset="0"/>
                <a:cs typeface="Courier New" panose="02070309020205020404" pitchFamily="49" charset="0"/>
              </a:rPr>
              <a:t>))</a:t>
            </a:r>
          </a:p>
          <a:p>
            <a:pPr eaLnBrk="0" fontAlgn="base" hangingPunct="0">
              <a:spcBef>
                <a:spcPct val="0"/>
              </a:spcBef>
              <a:spcAft>
                <a:spcPct val="0"/>
              </a:spcAft>
            </a:pPr>
            <a:r>
              <a:rPr lang="en-US" altLang="en-US" sz="1600" b="1" dirty="0">
                <a:solidFill>
                  <a:srgbClr val="404040"/>
                </a:solidFill>
                <a:ea typeface="Times New Roman" panose="02020603050405020304" pitchFamily="18" charset="0"/>
                <a:cs typeface="Courier New" panose="02070309020205020404" pitchFamily="49" charset="0"/>
              </a:rPr>
              <a:t>hold </a:t>
            </a:r>
            <a:r>
              <a:rPr lang="en-US" altLang="en-US" sz="1600" b="1" dirty="0">
                <a:solidFill>
                  <a:srgbClr val="A020F0"/>
                </a:solidFill>
                <a:ea typeface="Times New Roman" panose="02020603050405020304" pitchFamily="18" charset="0"/>
                <a:cs typeface="Courier New" panose="02070309020205020404" pitchFamily="49" charset="0"/>
              </a:rPr>
              <a:t>on</a:t>
            </a:r>
          </a:p>
          <a:p>
            <a:pPr eaLnBrk="0" fontAlgn="base" hangingPunct="0">
              <a:spcBef>
                <a:spcPct val="0"/>
              </a:spcBef>
              <a:spcAft>
                <a:spcPct val="0"/>
              </a:spcAft>
            </a:pPr>
            <a:r>
              <a:rPr lang="en-US" altLang="en-US" sz="1600" b="1" dirty="0">
                <a:solidFill>
                  <a:srgbClr val="404040"/>
                </a:solidFill>
                <a:ea typeface="Times New Roman" panose="02020603050405020304" pitchFamily="18" charset="0"/>
                <a:cs typeface="Courier New" panose="02070309020205020404" pitchFamily="49" charset="0"/>
              </a:rPr>
              <a:t>plot(</a:t>
            </a:r>
            <a:r>
              <a:rPr lang="en-US" altLang="en-US" sz="1600" b="1" dirty="0" err="1">
                <a:solidFill>
                  <a:srgbClr val="404040"/>
                </a:solidFill>
                <a:ea typeface="Times New Roman" panose="02020603050405020304" pitchFamily="18" charset="0"/>
                <a:cs typeface="Courier New" panose="02070309020205020404" pitchFamily="49" charset="0"/>
              </a:rPr>
              <a:t>freq,ones</a:t>
            </a:r>
            <a:r>
              <a:rPr lang="en-US" altLang="en-US" sz="1600" b="1" dirty="0">
                <a:solidFill>
                  <a:srgbClr val="404040"/>
                </a:solidFill>
                <a:ea typeface="Times New Roman" panose="02020603050405020304" pitchFamily="18" charset="0"/>
                <a:cs typeface="Courier New" panose="02070309020205020404" pitchFamily="49" charset="0"/>
              </a:rPr>
              <a:t>(2*length(x)/2+1,1),</a:t>
            </a:r>
            <a:r>
              <a:rPr lang="en-US" altLang="en-US" sz="1600" b="1" dirty="0">
                <a:solidFill>
                  <a:srgbClr val="A020F0"/>
                </a:solidFill>
                <a:ea typeface="Times New Roman" panose="02020603050405020304" pitchFamily="18" charset="0"/>
                <a:cs typeface="Courier New" panose="02070309020205020404" pitchFamily="49" charset="0"/>
              </a:rPr>
              <a:t>'LineWidth'</a:t>
            </a:r>
            <a:r>
              <a:rPr lang="en-US" altLang="en-US" sz="1600" b="1" dirty="0">
                <a:solidFill>
                  <a:srgbClr val="404040"/>
                </a:solidFill>
                <a:ea typeface="Times New Roman" panose="02020603050405020304" pitchFamily="18" charset="0"/>
                <a:cs typeface="Courier New" panose="02070309020205020404" pitchFamily="49" charset="0"/>
              </a:rPr>
              <a:t>,2)</a:t>
            </a:r>
          </a:p>
          <a:p>
            <a:pPr eaLnBrk="0" fontAlgn="base" hangingPunct="0">
              <a:spcBef>
                <a:spcPct val="0"/>
              </a:spcBef>
              <a:spcAft>
                <a:spcPct val="0"/>
              </a:spcAft>
            </a:pPr>
            <a:r>
              <a:rPr lang="en-US" altLang="en-US" sz="1600" b="1" dirty="0" err="1">
                <a:solidFill>
                  <a:srgbClr val="404040"/>
                </a:solidFill>
                <a:ea typeface="Times New Roman" panose="02020603050405020304" pitchFamily="18" charset="0"/>
                <a:cs typeface="Courier New" panose="02070309020205020404" pitchFamily="49" charset="0"/>
              </a:rPr>
              <a:t>xlabel</a:t>
            </a:r>
            <a:r>
              <a:rPr lang="en-US" altLang="en-US" sz="1600" b="1" dirty="0">
                <a:solidFill>
                  <a:srgbClr val="404040"/>
                </a:solidFill>
                <a:ea typeface="Times New Roman" panose="02020603050405020304" pitchFamily="18" charset="0"/>
                <a:cs typeface="Courier New" panose="02070309020205020404" pitchFamily="49" charset="0"/>
              </a:rPr>
              <a:t>(</a:t>
            </a:r>
            <a:r>
              <a:rPr lang="en-US" altLang="en-US" sz="1600" b="1" dirty="0">
                <a:solidFill>
                  <a:srgbClr val="A020F0"/>
                </a:solidFill>
                <a:ea typeface="Times New Roman" panose="02020603050405020304" pitchFamily="18" charset="0"/>
                <a:cs typeface="Courier New" panose="02070309020205020404" pitchFamily="49" charset="0"/>
              </a:rPr>
              <a:t>'Hz'</a:t>
            </a:r>
            <a:r>
              <a:rPr lang="en-US" altLang="en-US" sz="1600" b="1" dirty="0">
                <a:solidFill>
                  <a:srgbClr val="404040"/>
                </a:solidFill>
                <a:ea typeface="Times New Roman" panose="02020603050405020304" pitchFamily="18" charset="0"/>
                <a:cs typeface="Courier New" panose="02070309020205020404" pitchFamily="49" charset="0"/>
              </a:rPr>
              <a:t>)</a:t>
            </a:r>
          </a:p>
          <a:p>
            <a:pPr eaLnBrk="0" fontAlgn="base" hangingPunct="0">
              <a:spcBef>
                <a:spcPct val="0"/>
              </a:spcBef>
              <a:spcAft>
                <a:spcPct val="0"/>
              </a:spcAft>
            </a:pPr>
            <a:r>
              <a:rPr lang="en-US" altLang="en-US" sz="1600" b="1" dirty="0" err="1">
                <a:solidFill>
                  <a:srgbClr val="404040"/>
                </a:solidFill>
                <a:ea typeface="Times New Roman" panose="02020603050405020304" pitchFamily="18" charset="0"/>
                <a:cs typeface="Courier New" panose="02070309020205020404" pitchFamily="49" charset="0"/>
              </a:rPr>
              <a:t>ylabel</a:t>
            </a:r>
            <a:r>
              <a:rPr lang="en-US" altLang="en-US" sz="1600" b="1" dirty="0">
                <a:solidFill>
                  <a:srgbClr val="404040"/>
                </a:solidFill>
                <a:ea typeface="Times New Roman" panose="02020603050405020304" pitchFamily="18" charset="0"/>
                <a:cs typeface="Courier New" panose="02070309020205020404" pitchFamily="49" charset="0"/>
              </a:rPr>
              <a:t>(</a:t>
            </a:r>
            <a:r>
              <a:rPr lang="en-US" altLang="en-US" sz="1600" b="1" dirty="0">
                <a:solidFill>
                  <a:srgbClr val="A020F0"/>
                </a:solidFill>
                <a:ea typeface="Times New Roman" panose="02020603050405020304" pitchFamily="18" charset="0"/>
                <a:cs typeface="Courier New" panose="02070309020205020404" pitchFamily="49" charset="0"/>
              </a:rPr>
              <a:t>'Amplitude'</a:t>
            </a:r>
            <a:r>
              <a:rPr lang="en-US" altLang="en-US" sz="1600" b="1" dirty="0">
                <a:solidFill>
                  <a:srgbClr val="404040"/>
                </a:solidFill>
                <a:ea typeface="Times New Roman" panose="02020603050405020304" pitchFamily="18" charset="0"/>
                <a:cs typeface="Courier New" panose="02070309020205020404" pitchFamily="49" charset="0"/>
              </a:rPr>
              <a:t>)</a:t>
            </a:r>
          </a:p>
          <a:p>
            <a:pPr eaLnBrk="0" fontAlgn="base" hangingPunct="0">
              <a:spcBef>
                <a:spcPct val="0"/>
              </a:spcBef>
              <a:spcAft>
                <a:spcPct val="0"/>
              </a:spcAft>
            </a:pPr>
            <a:r>
              <a:rPr lang="en-US" altLang="en-US" sz="1600" b="1" dirty="0">
                <a:solidFill>
                  <a:srgbClr val="404040"/>
                </a:solidFill>
                <a:ea typeface="Times New Roman" panose="02020603050405020304" pitchFamily="18" charset="0"/>
                <a:cs typeface="Courier New" panose="02070309020205020404" pitchFamily="49" charset="0"/>
              </a:rPr>
              <a:t>hold </a:t>
            </a:r>
            <a:r>
              <a:rPr lang="en-US" altLang="en-US" sz="1600" b="1" dirty="0">
                <a:solidFill>
                  <a:srgbClr val="A020F0"/>
                </a:solidFill>
                <a:ea typeface="Times New Roman" panose="02020603050405020304" pitchFamily="18" charset="0"/>
                <a:cs typeface="Courier New" panose="02070309020205020404" pitchFamily="49" charset="0"/>
              </a:rPr>
              <a:t>off</a:t>
            </a:r>
            <a:r>
              <a:rPr lang="en-US" altLang="en-US" sz="1600" b="1" dirty="0"/>
              <a:t> </a:t>
            </a:r>
          </a:p>
        </p:txBody>
      </p:sp>
      <p:sp>
        <p:nvSpPr>
          <p:cNvPr id="5" name="TextBox 4"/>
          <p:cNvSpPr txBox="1"/>
          <p:nvPr/>
        </p:nvSpPr>
        <p:spPr>
          <a:xfrm>
            <a:off x="203200" y="5051324"/>
            <a:ext cx="8350865" cy="707886"/>
          </a:xfrm>
          <a:prstGeom prst="rect">
            <a:avLst/>
          </a:prstGeom>
          <a:noFill/>
        </p:spPr>
        <p:txBody>
          <a:bodyPr wrap="square" rtlCol="0">
            <a:spAutoFit/>
          </a:bodyPr>
          <a:lstStyle/>
          <a:p>
            <a:pPr algn="ctr"/>
            <a:r>
              <a:rPr lang="en-US" sz="2000" b="1" dirty="0">
                <a:solidFill>
                  <a:srgbClr val="00B050"/>
                </a:solidFill>
              </a:rPr>
              <a:t>Both frequencies are well-resolved </a:t>
            </a:r>
            <a:r>
              <a:rPr lang="en-US" sz="2000" b="1" dirty="0">
                <a:solidFill>
                  <a:srgbClr val="00B050"/>
                </a:solidFill>
                <a:sym typeface="Wingdings" panose="05000000000000000000" pitchFamily="2" charset="2"/>
              </a:rPr>
              <a:t>Within the default spectral bins (</a:t>
            </a:r>
            <a:r>
              <a:rPr lang="en-US" sz="2000" b="1" dirty="0">
                <a:solidFill>
                  <a:srgbClr val="00B050"/>
                </a:solidFill>
              </a:rPr>
              <a:t>spacing between DFT bins is Fs/2000 = 0.5Hz)</a:t>
            </a:r>
          </a:p>
        </p:txBody>
      </p:sp>
    </p:spTree>
    <p:extLst>
      <p:ext uri="{BB962C8B-B14F-4D97-AF65-F5344CB8AC3E}">
        <p14:creationId xmlns:p14="http://schemas.microsoft.com/office/powerpoint/2010/main" val="7189617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441880" y="474960"/>
            <a:ext cx="5335115" cy="707886"/>
          </a:xfrm>
          <a:prstGeom prst="rect">
            <a:avLst/>
          </a:prstGeom>
          <a:noFill/>
        </p:spPr>
        <p:txBody>
          <a:bodyPr wrap="none" rtlCol="0">
            <a:spAutoFit/>
          </a:bodyPr>
          <a:lstStyle/>
          <a:p>
            <a:r>
              <a:rPr lang="en-US" sz="4000" b="1" dirty="0"/>
              <a:t>Continuous Function</a:t>
            </a:r>
          </a:p>
        </p:txBody>
      </p:sp>
      <p:pic>
        <p:nvPicPr>
          <p:cNvPr id="2" name="Picture 1"/>
          <p:cNvPicPr>
            <a:picLocks noChangeAspect="1"/>
          </p:cNvPicPr>
          <p:nvPr/>
        </p:nvPicPr>
        <p:blipFill>
          <a:blip r:embed="rId3"/>
          <a:stretch>
            <a:fillRect/>
          </a:stretch>
        </p:blipFill>
        <p:spPr>
          <a:xfrm>
            <a:off x="2170849" y="1504364"/>
            <a:ext cx="7877175" cy="1647825"/>
          </a:xfrm>
          <a:prstGeom prst="rect">
            <a:avLst/>
          </a:prstGeom>
        </p:spPr>
      </p:pic>
      <p:pic>
        <p:nvPicPr>
          <p:cNvPr id="3" name="Picture 2"/>
          <p:cNvPicPr>
            <a:picLocks noChangeAspect="1"/>
          </p:cNvPicPr>
          <p:nvPr/>
        </p:nvPicPr>
        <p:blipFill>
          <a:blip r:embed="rId4"/>
          <a:stretch>
            <a:fillRect/>
          </a:stretch>
        </p:blipFill>
        <p:spPr>
          <a:xfrm>
            <a:off x="3676078" y="3152188"/>
            <a:ext cx="4866715" cy="3650036"/>
          </a:xfrm>
          <a:prstGeom prst="rect">
            <a:avLst/>
          </a:prstGeom>
        </p:spPr>
      </p:pic>
    </p:spTree>
    <p:extLst>
      <p:ext uri="{BB962C8B-B14F-4D97-AF65-F5344CB8AC3E}">
        <p14:creationId xmlns:p14="http://schemas.microsoft.com/office/powerpoint/2010/main" val="26423115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1561186" y="3529527"/>
            <a:ext cx="5812077" cy="2660381"/>
          </a:xfrm>
          <a:prstGeom prst="rect">
            <a:avLst/>
          </a:prstGeom>
        </p:spPr>
      </p:pic>
      <p:pic>
        <p:nvPicPr>
          <p:cNvPr id="2" name="Picture 1"/>
          <p:cNvPicPr>
            <a:picLocks noChangeAspect="1"/>
          </p:cNvPicPr>
          <p:nvPr/>
        </p:nvPicPr>
        <p:blipFill>
          <a:blip r:embed="rId4"/>
          <a:stretch>
            <a:fillRect/>
          </a:stretch>
        </p:blipFill>
        <p:spPr>
          <a:xfrm>
            <a:off x="2114207" y="0"/>
            <a:ext cx="4706036" cy="3529527"/>
          </a:xfrm>
          <a:prstGeom prst="rect">
            <a:avLst/>
          </a:prstGeom>
        </p:spPr>
      </p:pic>
      <p:sp>
        <p:nvSpPr>
          <p:cNvPr id="3" name="Rectangle 2"/>
          <p:cNvSpPr/>
          <p:nvPr/>
        </p:nvSpPr>
        <p:spPr>
          <a:xfrm>
            <a:off x="993058" y="6189908"/>
            <a:ext cx="6725265" cy="646331"/>
          </a:xfrm>
          <a:prstGeom prst="rect">
            <a:avLst/>
          </a:prstGeom>
        </p:spPr>
        <p:txBody>
          <a:bodyPr wrap="square">
            <a:spAutoFit/>
          </a:bodyPr>
          <a:lstStyle/>
          <a:p>
            <a:pPr algn="ctr"/>
            <a:r>
              <a:rPr lang="en-US" b="1" dirty="0">
                <a:solidFill>
                  <a:srgbClr val="FF0000"/>
                </a:solidFill>
              </a:rPr>
              <a:t>The 202.5, 445.8 frequencies are not well-resolved; Frequencies are not discrete</a:t>
            </a:r>
          </a:p>
        </p:txBody>
      </p:sp>
    </p:spTree>
    <p:extLst>
      <p:ext uri="{BB962C8B-B14F-4D97-AF65-F5344CB8AC3E}">
        <p14:creationId xmlns:p14="http://schemas.microsoft.com/office/powerpoint/2010/main" val="2781756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437892" y="3475224"/>
            <a:ext cx="7038975" cy="2968670"/>
          </a:xfrm>
          <a:prstGeom prst="rect">
            <a:avLst/>
          </a:prstGeom>
        </p:spPr>
      </p:pic>
      <p:pic>
        <p:nvPicPr>
          <p:cNvPr id="2" name="Picture 1"/>
          <p:cNvPicPr>
            <a:picLocks noChangeAspect="1"/>
          </p:cNvPicPr>
          <p:nvPr/>
        </p:nvPicPr>
        <p:blipFill>
          <a:blip r:embed="rId4"/>
          <a:stretch>
            <a:fillRect/>
          </a:stretch>
        </p:blipFill>
        <p:spPr>
          <a:xfrm>
            <a:off x="1462762" y="1"/>
            <a:ext cx="4989233" cy="3382776"/>
          </a:xfrm>
          <a:prstGeom prst="rect">
            <a:avLst/>
          </a:prstGeom>
        </p:spPr>
      </p:pic>
      <p:sp>
        <p:nvSpPr>
          <p:cNvPr id="4" name="Rectangle 3"/>
          <p:cNvSpPr/>
          <p:nvPr/>
        </p:nvSpPr>
        <p:spPr>
          <a:xfrm>
            <a:off x="-468875" y="6363229"/>
            <a:ext cx="8934450" cy="369332"/>
          </a:xfrm>
          <a:prstGeom prst="rect">
            <a:avLst/>
          </a:prstGeom>
        </p:spPr>
        <p:txBody>
          <a:bodyPr wrap="square">
            <a:spAutoFit/>
          </a:bodyPr>
          <a:lstStyle/>
          <a:p>
            <a:pPr algn="ctr"/>
            <a:r>
              <a:rPr lang="en-US" b="1" dirty="0">
                <a:solidFill>
                  <a:srgbClr val="FF0000"/>
                </a:solidFill>
              </a:rPr>
              <a:t>The 445.8 frequencies is not well-resolved; Frequencies are not discrete</a:t>
            </a:r>
          </a:p>
        </p:txBody>
      </p:sp>
    </p:spTree>
    <p:extLst>
      <p:ext uri="{BB962C8B-B14F-4D97-AF65-F5344CB8AC3E}">
        <p14:creationId xmlns:p14="http://schemas.microsoft.com/office/powerpoint/2010/main" val="7403707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371140" y="3709252"/>
            <a:ext cx="7134225" cy="3112718"/>
          </a:xfrm>
          <a:prstGeom prst="rect">
            <a:avLst/>
          </a:prstGeom>
        </p:spPr>
      </p:pic>
      <p:pic>
        <p:nvPicPr>
          <p:cNvPr id="2" name="Picture 1"/>
          <p:cNvPicPr>
            <a:picLocks noChangeAspect="1"/>
          </p:cNvPicPr>
          <p:nvPr/>
        </p:nvPicPr>
        <p:blipFill>
          <a:blip r:embed="rId4"/>
          <a:stretch>
            <a:fillRect/>
          </a:stretch>
        </p:blipFill>
        <p:spPr>
          <a:xfrm>
            <a:off x="1466449" y="58698"/>
            <a:ext cx="4943605" cy="3707704"/>
          </a:xfrm>
          <a:prstGeom prst="rect">
            <a:avLst/>
          </a:prstGeom>
        </p:spPr>
      </p:pic>
      <p:sp>
        <p:nvSpPr>
          <p:cNvPr id="4" name="Rectangle 3"/>
          <p:cNvSpPr/>
          <p:nvPr/>
        </p:nvSpPr>
        <p:spPr>
          <a:xfrm>
            <a:off x="3327484" y="6488668"/>
            <a:ext cx="4806531" cy="369332"/>
          </a:xfrm>
          <a:prstGeom prst="rect">
            <a:avLst/>
          </a:prstGeom>
        </p:spPr>
        <p:txBody>
          <a:bodyPr wrap="square">
            <a:spAutoFit/>
          </a:bodyPr>
          <a:lstStyle/>
          <a:p>
            <a:pPr algn="ctr"/>
            <a:r>
              <a:rPr lang="en-US" b="1" dirty="0">
                <a:solidFill>
                  <a:srgbClr val="00B050"/>
                </a:solidFill>
              </a:rPr>
              <a:t>All frequencies are well-resolved!</a:t>
            </a:r>
          </a:p>
        </p:txBody>
      </p:sp>
    </p:spTree>
    <p:extLst>
      <p:ext uri="{BB962C8B-B14F-4D97-AF65-F5344CB8AC3E}">
        <p14:creationId xmlns:p14="http://schemas.microsoft.com/office/powerpoint/2010/main" val="36497548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sz="5400" dirty="0">
                <a:latin typeface="Arial" panose="020B0604020202020204" pitchFamily="34" charset="0"/>
                <a:cs typeface="Arial" panose="020B0604020202020204" pitchFamily="34" charset="0"/>
              </a:rPr>
              <a:t>Outline</a:t>
            </a:r>
          </a:p>
        </p:txBody>
      </p:sp>
      <p:sp>
        <p:nvSpPr>
          <p:cNvPr id="6" name="Rectangle 5"/>
          <p:cNvSpPr/>
          <p:nvPr/>
        </p:nvSpPr>
        <p:spPr>
          <a:xfrm>
            <a:off x="2081213" y="1519832"/>
            <a:ext cx="8029575" cy="4708981"/>
          </a:xfrm>
          <a:prstGeom prst="rect">
            <a:avLst/>
          </a:prstGeom>
        </p:spPr>
        <p:txBody>
          <a:bodyPr wrap="square">
            <a:spAutoFit/>
          </a:bodyPr>
          <a:lstStyle/>
          <a:p>
            <a:pPr marL="571500" indent="-571500">
              <a:buClr>
                <a:schemeClr val="tx1"/>
              </a:buClr>
              <a:buFont typeface="Arial" panose="020B0604020202020204" pitchFamily="34" charset="0"/>
              <a:buChar char="•"/>
            </a:pPr>
            <a:r>
              <a:rPr lang="en-US" sz="3600" b="1" dirty="0">
                <a:latin typeface="Arial" panose="020B0604020202020204" pitchFamily="34" charset="0"/>
                <a:cs typeface="Arial" panose="020B0604020202020204" pitchFamily="34" charset="0"/>
              </a:rPr>
              <a:t>Discrete Convolution</a:t>
            </a:r>
          </a:p>
          <a:p>
            <a:pPr marL="1028700" lvl="1" indent="-571500">
              <a:buClr>
                <a:schemeClr val="tx1"/>
              </a:buClr>
              <a:buFont typeface="Arial" panose="020B0604020202020204" pitchFamily="34" charset="0"/>
              <a:buChar char="•"/>
            </a:pPr>
            <a:r>
              <a:rPr lang="en-US" sz="3200" dirty="0">
                <a:latin typeface="Arial" panose="020B0604020202020204" pitchFamily="34" charset="0"/>
                <a:cs typeface="Arial" panose="020B0604020202020204" pitchFamily="34" charset="0"/>
              </a:rPr>
              <a:t>Zero-padding</a:t>
            </a:r>
          </a:p>
          <a:p>
            <a:pPr marL="1028700" lvl="1" indent="-571500">
              <a:buClr>
                <a:schemeClr val="tx1"/>
              </a:buClr>
              <a:buFont typeface="Arial" panose="020B0604020202020204" pitchFamily="34" charset="0"/>
              <a:buChar char="•"/>
            </a:pPr>
            <a:r>
              <a:rPr lang="en-US" sz="3200" dirty="0">
                <a:latin typeface="Arial" panose="020B0604020202020204" pitchFamily="34" charset="0"/>
                <a:cs typeface="Arial" panose="020B0604020202020204" pitchFamily="34" charset="0"/>
              </a:rPr>
              <a:t>Circular Equivalent to Linear</a:t>
            </a:r>
            <a:endParaRPr lang="en-US" sz="2800" dirty="0">
              <a:latin typeface="Arial" panose="020B0604020202020204" pitchFamily="34" charset="0"/>
              <a:cs typeface="Arial" panose="020B0604020202020204" pitchFamily="34" charset="0"/>
            </a:endParaRPr>
          </a:p>
          <a:p>
            <a:pPr marL="571500" indent="-571500">
              <a:buClr>
                <a:schemeClr val="tx1"/>
              </a:buClr>
              <a:buFont typeface="Arial" panose="020B0604020202020204" pitchFamily="34" charset="0"/>
              <a:buChar char="•"/>
            </a:pPr>
            <a:r>
              <a:rPr lang="en-US" sz="3600" b="1" dirty="0">
                <a:latin typeface="Arial" panose="020B0604020202020204" pitchFamily="34" charset="0"/>
                <a:cs typeface="Arial" panose="020B0604020202020204" pitchFamily="34" charset="0"/>
              </a:rPr>
              <a:t>Spectral Analysis</a:t>
            </a:r>
          </a:p>
          <a:p>
            <a:pPr marL="1028700" lvl="1" indent="-571500">
              <a:buClr>
                <a:schemeClr val="tx1"/>
              </a:buClr>
              <a:buFont typeface="Arial" panose="020B0604020202020204" pitchFamily="34" charset="0"/>
              <a:buChar char="•"/>
            </a:pPr>
            <a:r>
              <a:rPr lang="en-US" sz="3200" dirty="0">
                <a:latin typeface="Arial" panose="020B0604020202020204" pitchFamily="34" charset="0"/>
                <a:cs typeface="Arial" panose="020B0604020202020204" pitchFamily="34" charset="0"/>
              </a:rPr>
              <a:t>Zero-padding</a:t>
            </a:r>
          </a:p>
          <a:p>
            <a:pPr marL="1028700" lvl="1" indent="-571500">
              <a:buClr>
                <a:schemeClr val="tx1"/>
              </a:buClr>
              <a:buFont typeface="Arial" panose="020B0604020202020204" pitchFamily="34" charset="0"/>
              <a:buChar char="•"/>
            </a:pPr>
            <a:r>
              <a:rPr lang="en-US" sz="3200" dirty="0">
                <a:latin typeface="Arial" panose="020B0604020202020204" pitchFamily="34" charset="0"/>
                <a:cs typeface="Arial" panose="020B0604020202020204" pitchFamily="34" charset="0"/>
              </a:rPr>
              <a:t>Refined Spectral Bins</a:t>
            </a:r>
          </a:p>
          <a:p>
            <a:pPr marL="571500" indent="-571500">
              <a:buClr>
                <a:schemeClr val="tx1"/>
              </a:buClr>
              <a:buFont typeface="Arial" panose="020B0604020202020204" pitchFamily="34" charset="0"/>
              <a:buChar char="•"/>
            </a:pPr>
            <a:r>
              <a:rPr lang="en-US" sz="3600" b="1" dirty="0">
                <a:solidFill>
                  <a:srgbClr val="FF0000"/>
                </a:solidFill>
                <a:latin typeface="Arial" panose="020B0604020202020204" pitchFamily="34" charset="0"/>
                <a:cs typeface="Arial" panose="020B0604020202020204" pitchFamily="34" charset="0"/>
              </a:rPr>
              <a:t>2D Filtering</a:t>
            </a:r>
          </a:p>
          <a:p>
            <a:pPr marL="1028700" lvl="1" indent="-571500">
              <a:buClr>
                <a:schemeClr val="tx1"/>
              </a:buClr>
              <a:buFont typeface="Arial" panose="020B0604020202020204" pitchFamily="34" charset="0"/>
              <a:buChar char="•"/>
            </a:pPr>
            <a:r>
              <a:rPr lang="en-US" sz="3200" dirty="0">
                <a:latin typeface="Arial" panose="020B0604020202020204" pitchFamily="34" charset="0"/>
                <a:cs typeface="Arial" panose="020B0604020202020204" pitchFamily="34" charset="0"/>
              </a:rPr>
              <a:t>Noise Removal</a:t>
            </a:r>
          </a:p>
          <a:p>
            <a:pPr marL="1028700" lvl="1" indent="-571500">
              <a:buClr>
                <a:schemeClr val="tx1"/>
              </a:buClr>
              <a:buFont typeface="Arial" panose="020B0604020202020204" pitchFamily="34" charset="0"/>
              <a:buChar char="•"/>
            </a:pPr>
            <a:r>
              <a:rPr lang="en-US" sz="3200" dirty="0">
                <a:latin typeface="Arial" panose="020B0604020202020204" pitchFamily="34" charset="0"/>
                <a:cs typeface="Arial" panose="020B0604020202020204" pitchFamily="34" charset="0"/>
              </a:rPr>
              <a:t>Edge Enhancement</a:t>
            </a:r>
          </a:p>
        </p:txBody>
      </p:sp>
    </p:spTree>
    <p:extLst>
      <p:ext uri="{BB962C8B-B14F-4D97-AF65-F5344CB8AC3E}">
        <p14:creationId xmlns:p14="http://schemas.microsoft.com/office/powerpoint/2010/main" val="17487530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2D Fourier Transform</a:t>
            </a:r>
          </a:p>
        </p:txBody>
      </p:sp>
      <p:pic>
        <p:nvPicPr>
          <p:cNvPr id="29698" name="Picture 2" descr="http://cnyack.homestead.com/files/artran/ft2dint1.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3296" y="879920"/>
            <a:ext cx="5665369" cy="1647528"/>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3"/>
          <p:cNvGrpSpPr/>
          <p:nvPr/>
        </p:nvGrpSpPr>
        <p:grpSpPr>
          <a:xfrm>
            <a:off x="1862982" y="2512354"/>
            <a:ext cx="5344805" cy="2014491"/>
            <a:chOff x="1185862" y="2660033"/>
            <a:chExt cx="7113935" cy="2681287"/>
          </a:xfrm>
        </p:grpSpPr>
        <p:pic>
          <p:nvPicPr>
            <p:cNvPr id="5" name="Picture 4"/>
            <p:cNvPicPr>
              <a:picLocks noChangeAspect="1"/>
            </p:cNvPicPr>
            <p:nvPr/>
          </p:nvPicPr>
          <p:blipFill>
            <a:blip r:embed="rId4"/>
            <a:stretch>
              <a:fillRect/>
            </a:stretch>
          </p:blipFill>
          <p:spPr>
            <a:xfrm>
              <a:off x="1185862" y="2660033"/>
              <a:ext cx="7113935" cy="2681287"/>
            </a:xfrm>
            <a:prstGeom prst="rect">
              <a:avLst/>
            </a:prstGeom>
          </p:spPr>
        </p:pic>
        <p:sp>
          <p:nvSpPr>
            <p:cNvPr id="6" name="Left-Right Arrow 5"/>
            <p:cNvSpPr/>
            <p:nvPr/>
          </p:nvSpPr>
          <p:spPr bwMode="auto">
            <a:xfrm>
              <a:off x="3895725" y="3888758"/>
              <a:ext cx="1076325" cy="504825"/>
            </a:xfrm>
            <a:prstGeom prst="leftRightArrow">
              <a:avLst/>
            </a:prstGeom>
            <a:solidFill>
              <a:schemeClr val="tx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fontAlgn="base" hangingPunct="0">
                <a:spcBef>
                  <a:spcPct val="0"/>
                </a:spcBef>
                <a:spcAft>
                  <a:spcPct val="0"/>
                </a:spcAft>
              </a:pPr>
              <a:endParaRPr lang="en-US" dirty="0" err="1"/>
            </a:p>
          </p:txBody>
        </p:sp>
      </p:grpSp>
      <p:pic>
        <p:nvPicPr>
          <p:cNvPr id="3" name="Picture 2"/>
          <p:cNvPicPr>
            <a:picLocks noChangeAspect="1"/>
          </p:cNvPicPr>
          <p:nvPr/>
        </p:nvPicPr>
        <p:blipFill>
          <a:blip r:embed="rId5"/>
          <a:stretch>
            <a:fillRect/>
          </a:stretch>
        </p:blipFill>
        <p:spPr>
          <a:xfrm>
            <a:off x="203200" y="4659072"/>
            <a:ext cx="8444403" cy="2198928"/>
          </a:xfrm>
          <a:prstGeom prst="rect">
            <a:avLst/>
          </a:prstGeom>
        </p:spPr>
      </p:pic>
      <p:pic>
        <p:nvPicPr>
          <p:cNvPr id="8" name="Picture 12" descr="http://www.magic-emoji.com/emoji/images/83_emoji_iphone_black_diamond_suit.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19048" y="879920"/>
            <a:ext cx="2155797" cy="21557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84334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Noise Suppression</a:t>
            </a:r>
          </a:p>
        </p:txBody>
      </p:sp>
      <p:pic>
        <p:nvPicPr>
          <p:cNvPr id="4" name="Picture 3"/>
          <p:cNvPicPr>
            <a:picLocks noChangeAspect="1"/>
          </p:cNvPicPr>
          <p:nvPr/>
        </p:nvPicPr>
        <p:blipFill>
          <a:blip r:embed="rId3"/>
          <a:stretch>
            <a:fillRect/>
          </a:stretch>
        </p:blipFill>
        <p:spPr>
          <a:xfrm>
            <a:off x="2341160" y="3558878"/>
            <a:ext cx="4882204" cy="2428876"/>
          </a:xfrm>
          <a:prstGeom prst="rect">
            <a:avLst/>
          </a:prstGeom>
        </p:spPr>
      </p:pic>
      <p:pic>
        <p:nvPicPr>
          <p:cNvPr id="6" name="Picture 5"/>
          <p:cNvPicPr>
            <a:picLocks noChangeAspect="1"/>
          </p:cNvPicPr>
          <p:nvPr/>
        </p:nvPicPr>
        <p:blipFill>
          <a:blip r:embed="rId4"/>
          <a:stretch>
            <a:fillRect/>
          </a:stretch>
        </p:blipFill>
        <p:spPr>
          <a:xfrm>
            <a:off x="2341339" y="1177629"/>
            <a:ext cx="2428875" cy="2475584"/>
          </a:xfrm>
          <a:prstGeom prst="rect">
            <a:avLst/>
          </a:prstGeom>
        </p:spPr>
      </p:pic>
      <p:pic>
        <p:nvPicPr>
          <p:cNvPr id="7" name="Picture 6"/>
          <p:cNvPicPr>
            <a:picLocks noChangeAspect="1"/>
          </p:cNvPicPr>
          <p:nvPr/>
        </p:nvPicPr>
        <p:blipFill>
          <a:blip r:embed="rId5"/>
          <a:stretch>
            <a:fillRect/>
          </a:stretch>
        </p:blipFill>
        <p:spPr>
          <a:xfrm>
            <a:off x="4700174" y="1177629"/>
            <a:ext cx="2523191" cy="2475584"/>
          </a:xfrm>
          <a:prstGeom prst="rect">
            <a:avLst/>
          </a:prstGeom>
        </p:spPr>
      </p:pic>
      <p:cxnSp>
        <p:nvCxnSpPr>
          <p:cNvPr id="10" name="Curved Connector 9"/>
          <p:cNvCxnSpPr>
            <a:stCxn id="6" idx="1"/>
            <a:endCxn id="4" idx="1"/>
          </p:cNvCxnSpPr>
          <p:nvPr/>
        </p:nvCxnSpPr>
        <p:spPr bwMode="auto">
          <a:xfrm rot="10800000" flipV="1">
            <a:off x="2341160" y="2415421"/>
            <a:ext cx="178" cy="2357895"/>
          </a:xfrm>
          <a:prstGeom prst="curvedConnector3">
            <a:avLst>
              <a:gd name="adj1" fmla="val 128526966"/>
            </a:avLst>
          </a:prstGeom>
          <a:solidFill>
            <a:schemeClr val="accent1"/>
          </a:solidFill>
          <a:ln w="63500" cap="flat" cmpd="sng" algn="ctr">
            <a:solidFill>
              <a:srgbClr val="FF0000"/>
            </a:solidFill>
            <a:prstDash val="solid"/>
            <a:round/>
            <a:headEnd type="none" w="med" len="med"/>
            <a:tailEnd type="triangle"/>
          </a:ln>
          <a:effectLst/>
        </p:spPr>
      </p:cxnSp>
      <p:sp>
        <p:nvSpPr>
          <p:cNvPr id="14" name="Title 1"/>
          <p:cNvSpPr txBox="1">
            <a:spLocks/>
          </p:cNvSpPr>
          <p:nvPr/>
        </p:nvSpPr>
        <p:spPr bwMode="auto">
          <a:xfrm>
            <a:off x="1098821" y="3139778"/>
            <a:ext cx="990600" cy="838200"/>
          </a:xfrm>
          <a:prstGeom prst="rect">
            <a:avLst/>
          </a:prstGeom>
          <a:noFill/>
          <a:ln w="9525">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0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kern="0" dirty="0">
                <a:solidFill>
                  <a:srgbClr val="FF0000"/>
                </a:solidFill>
              </a:rPr>
              <a:t>FT</a:t>
            </a:r>
          </a:p>
        </p:txBody>
      </p:sp>
      <p:cxnSp>
        <p:nvCxnSpPr>
          <p:cNvPr id="11" name="Curved Connector 10"/>
          <p:cNvCxnSpPr>
            <a:stCxn id="4" idx="3"/>
            <a:endCxn id="7" idx="3"/>
          </p:cNvCxnSpPr>
          <p:nvPr/>
        </p:nvCxnSpPr>
        <p:spPr bwMode="auto">
          <a:xfrm flipV="1">
            <a:off x="7223364" y="2415422"/>
            <a:ext cx="12700" cy="2357895"/>
          </a:xfrm>
          <a:prstGeom prst="curvedConnector3">
            <a:avLst>
              <a:gd name="adj1" fmla="val 1800000"/>
            </a:avLst>
          </a:prstGeom>
          <a:solidFill>
            <a:schemeClr val="accent1"/>
          </a:solidFill>
          <a:ln w="63500" cap="flat" cmpd="sng" algn="ctr">
            <a:solidFill>
              <a:srgbClr val="0000FF"/>
            </a:solidFill>
            <a:prstDash val="solid"/>
            <a:round/>
            <a:headEnd type="none" w="med" len="med"/>
            <a:tailEnd type="triangle"/>
          </a:ln>
          <a:effectLst/>
        </p:spPr>
      </p:cxnSp>
      <p:sp>
        <p:nvSpPr>
          <p:cNvPr id="13" name="Title 1"/>
          <p:cNvSpPr txBox="1">
            <a:spLocks/>
          </p:cNvSpPr>
          <p:nvPr/>
        </p:nvSpPr>
        <p:spPr bwMode="auto">
          <a:xfrm>
            <a:off x="7548547" y="3139778"/>
            <a:ext cx="990600" cy="838200"/>
          </a:xfrm>
          <a:prstGeom prst="rect">
            <a:avLst/>
          </a:prstGeom>
          <a:noFill/>
          <a:ln w="9525">
            <a:noFill/>
            <a:miter lim="800000"/>
            <a:headEnd/>
            <a:tailEnd/>
          </a:ln>
          <a:effectLst>
            <a:outerShdw dist="25399" dir="2700000" algn="ctr" rotWithShape="0">
              <a:schemeClr val="bg2">
                <a:alpha val="31000"/>
              </a:schemeClr>
            </a:outerShdw>
          </a:effectLst>
        </p:spPr>
        <p:txBody>
          <a:bodyPr vert="horz" wrap="square" lIns="91440" tIns="45720" rIns="91440" bIns="45720" numCol="1" anchor="ctr" anchorCtr="0" compatLnSpc="1">
            <a:prstTxWarp prst="textNoShape">
              <a:avLst/>
            </a:prstTxWarp>
          </a:bodyPr>
          <a:lstStyle>
            <a:lvl1pPr algn="ctr" rtl="0" fontAlgn="base">
              <a:spcBef>
                <a:spcPct val="0"/>
              </a:spcBef>
              <a:spcAft>
                <a:spcPct val="0"/>
              </a:spcAft>
              <a:defRPr sz="4000" b="1">
                <a:solidFill>
                  <a:schemeClr val="tx1"/>
                </a:solidFill>
                <a:latin typeface="+mj-lt"/>
                <a:ea typeface="+mj-ea"/>
                <a:cs typeface="+mj-cs"/>
              </a:defRPr>
            </a:lvl1pPr>
            <a:lvl2pPr algn="l" rtl="0" fontAlgn="base">
              <a:spcBef>
                <a:spcPct val="0"/>
              </a:spcBef>
              <a:spcAft>
                <a:spcPct val="0"/>
              </a:spcAft>
              <a:defRPr sz="4400">
                <a:solidFill>
                  <a:srgbClr val="691638"/>
                </a:solidFill>
                <a:latin typeface="Arial" charset="0"/>
                <a:ea typeface="ＭＳ Ｐゴシック" pitchFamily="116" charset="-128"/>
              </a:defRPr>
            </a:lvl2pPr>
            <a:lvl3pPr algn="l" rtl="0" fontAlgn="base">
              <a:spcBef>
                <a:spcPct val="0"/>
              </a:spcBef>
              <a:spcAft>
                <a:spcPct val="0"/>
              </a:spcAft>
              <a:defRPr sz="4400">
                <a:solidFill>
                  <a:srgbClr val="691638"/>
                </a:solidFill>
                <a:latin typeface="Arial" charset="0"/>
                <a:ea typeface="ＭＳ Ｐゴシック" pitchFamily="116" charset="-128"/>
              </a:defRPr>
            </a:lvl3pPr>
            <a:lvl4pPr algn="l" rtl="0" fontAlgn="base">
              <a:spcBef>
                <a:spcPct val="0"/>
              </a:spcBef>
              <a:spcAft>
                <a:spcPct val="0"/>
              </a:spcAft>
              <a:defRPr sz="4400">
                <a:solidFill>
                  <a:srgbClr val="691638"/>
                </a:solidFill>
                <a:latin typeface="Arial" charset="0"/>
                <a:ea typeface="ＭＳ Ｐゴシック" pitchFamily="116" charset="-128"/>
              </a:defRPr>
            </a:lvl4pPr>
            <a:lvl5pPr algn="l" rtl="0" fontAlgn="base">
              <a:spcBef>
                <a:spcPct val="0"/>
              </a:spcBef>
              <a:spcAft>
                <a:spcPct val="0"/>
              </a:spcAft>
              <a:defRPr sz="4400">
                <a:solidFill>
                  <a:srgbClr val="691638"/>
                </a:solidFill>
                <a:latin typeface="Arial" charset="0"/>
                <a:ea typeface="ＭＳ Ｐゴシック" pitchFamily="116" charset="-128"/>
              </a:defRPr>
            </a:lvl5pPr>
            <a:lvl6pPr marL="457200" algn="l" rtl="0" fontAlgn="base">
              <a:spcBef>
                <a:spcPct val="0"/>
              </a:spcBef>
              <a:spcAft>
                <a:spcPct val="0"/>
              </a:spcAft>
              <a:defRPr sz="4400">
                <a:solidFill>
                  <a:srgbClr val="691638"/>
                </a:solidFill>
                <a:latin typeface="Arial" charset="0"/>
                <a:ea typeface="ＭＳ Ｐゴシック" pitchFamily="116" charset="-128"/>
              </a:defRPr>
            </a:lvl6pPr>
            <a:lvl7pPr marL="914400" algn="l" rtl="0" fontAlgn="base">
              <a:spcBef>
                <a:spcPct val="0"/>
              </a:spcBef>
              <a:spcAft>
                <a:spcPct val="0"/>
              </a:spcAft>
              <a:defRPr sz="4400">
                <a:solidFill>
                  <a:srgbClr val="691638"/>
                </a:solidFill>
                <a:latin typeface="Arial" charset="0"/>
                <a:ea typeface="ＭＳ Ｐゴシック" pitchFamily="116" charset="-128"/>
              </a:defRPr>
            </a:lvl7pPr>
            <a:lvl8pPr marL="1371600" algn="l" rtl="0" fontAlgn="base">
              <a:spcBef>
                <a:spcPct val="0"/>
              </a:spcBef>
              <a:spcAft>
                <a:spcPct val="0"/>
              </a:spcAft>
              <a:defRPr sz="4400">
                <a:solidFill>
                  <a:srgbClr val="691638"/>
                </a:solidFill>
                <a:latin typeface="Arial" charset="0"/>
                <a:ea typeface="ＭＳ Ｐゴシック" pitchFamily="116" charset="-128"/>
              </a:defRPr>
            </a:lvl8pPr>
            <a:lvl9pPr marL="1828800" algn="l" rtl="0" fontAlgn="base">
              <a:spcBef>
                <a:spcPct val="0"/>
              </a:spcBef>
              <a:spcAft>
                <a:spcPct val="0"/>
              </a:spcAft>
              <a:defRPr sz="4400">
                <a:solidFill>
                  <a:srgbClr val="691638"/>
                </a:solidFill>
                <a:latin typeface="Arial" charset="0"/>
                <a:ea typeface="ＭＳ Ｐゴシック" pitchFamily="116" charset="-128"/>
              </a:defRPr>
            </a:lvl9pPr>
          </a:lstStyle>
          <a:p>
            <a:pPr eaLnBrk="1" hangingPunct="1"/>
            <a:r>
              <a:rPr lang="en-US" kern="0" dirty="0">
                <a:solidFill>
                  <a:srgbClr val="0000FF"/>
                </a:solidFill>
              </a:rPr>
              <a:t>IFT</a:t>
            </a:r>
          </a:p>
        </p:txBody>
      </p:sp>
    </p:spTree>
    <p:extLst>
      <p:ext uri="{BB962C8B-B14F-4D97-AF65-F5344CB8AC3E}">
        <p14:creationId xmlns:p14="http://schemas.microsoft.com/office/powerpoint/2010/main" val="16485077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Low-/High-pass Filtering</a:t>
            </a:r>
          </a:p>
        </p:txBody>
      </p:sp>
      <p:pic>
        <p:nvPicPr>
          <p:cNvPr id="5" name="Picture 4"/>
          <p:cNvPicPr>
            <a:picLocks noChangeAspect="1"/>
          </p:cNvPicPr>
          <p:nvPr/>
        </p:nvPicPr>
        <p:blipFill>
          <a:blip r:embed="rId3"/>
          <a:stretch>
            <a:fillRect/>
          </a:stretch>
        </p:blipFill>
        <p:spPr>
          <a:xfrm>
            <a:off x="203200" y="1168810"/>
            <a:ext cx="8347364" cy="5273386"/>
          </a:xfrm>
          <a:prstGeom prst="rect">
            <a:avLst/>
          </a:prstGeom>
        </p:spPr>
      </p:pic>
    </p:spTree>
    <p:extLst>
      <p:ext uri="{BB962C8B-B14F-4D97-AF65-F5344CB8AC3E}">
        <p14:creationId xmlns:p14="http://schemas.microsoft.com/office/powerpoint/2010/main" val="35673604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2D Image Filters</a:t>
            </a:r>
          </a:p>
        </p:txBody>
      </p:sp>
      <p:pic>
        <p:nvPicPr>
          <p:cNvPr id="4" name="Picture 3"/>
          <p:cNvPicPr>
            <a:picLocks noChangeAspect="1"/>
          </p:cNvPicPr>
          <p:nvPr/>
        </p:nvPicPr>
        <p:blipFill>
          <a:blip r:embed="rId3"/>
          <a:stretch>
            <a:fillRect/>
          </a:stretch>
        </p:blipFill>
        <p:spPr>
          <a:xfrm>
            <a:off x="2762250" y="1311590"/>
            <a:ext cx="6667500" cy="5000625"/>
          </a:xfrm>
          <a:prstGeom prst="rect">
            <a:avLst/>
          </a:prstGeom>
        </p:spPr>
      </p:pic>
    </p:spTree>
    <p:extLst>
      <p:ext uri="{BB962C8B-B14F-4D97-AF65-F5344CB8AC3E}">
        <p14:creationId xmlns:p14="http://schemas.microsoft.com/office/powerpoint/2010/main" val="22724697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Filtered Images</a:t>
            </a:r>
          </a:p>
        </p:txBody>
      </p:sp>
      <p:pic>
        <p:nvPicPr>
          <p:cNvPr id="4" name="Content Placeholder 3"/>
          <p:cNvPicPr>
            <a:picLocks noGrp="1" noChangeAspect="1"/>
          </p:cNvPicPr>
          <p:nvPr>
            <p:ph idx="1"/>
          </p:nvPr>
        </p:nvPicPr>
        <p:blipFill>
          <a:blip r:embed="rId3"/>
          <a:stretch>
            <a:fillRect/>
          </a:stretch>
        </p:blipFill>
        <p:spPr>
          <a:xfrm>
            <a:off x="203200" y="1019842"/>
            <a:ext cx="8584537" cy="5685758"/>
          </a:xfrm>
          <a:prstGeom prst="rect">
            <a:avLst/>
          </a:prstGeom>
        </p:spPr>
      </p:pic>
    </p:spTree>
    <p:extLst>
      <p:ext uri="{BB962C8B-B14F-4D97-AF65-F5344CB8AC3E}">
        <p14:creationId xmlns:p14="http://schemas.microsoft.com/office/powerpoint/2010/main" val="5273423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6BE679-02D5-48AD-675A-EE9D8F6D71BD}"/>
              </a:ext>
            </a:extLst>
          </p:cNvPr>
          <p:cNvSpPr>
            <a:spLocks noGrp="1"/>
          </p:cNvSpPr>
          <p:nvPr>
            <p:ph idx="1"/>
          </p:nvPr>
        </p:nvSpPr>
        <p:spPr>
          <a:xfrm>
            <a:off x="203200" y="1219200"/>
            <a:ext cx="11785600" cy="4419600"/>
          </a:xfrm>
        </p:spPr>
        <p:txBody>
          <a:bodyPr anchor="ctr"/>
          <a:lstStyle/>
          <a:p>
            <a:pPr algn="ctr"/>
            <a:r>
              <a:rPr lang="en-US" sz="5400" dirty="0"/>
              <a:t>Thank you</a:t>
            </a:r>
          </a:p>
        </p:txBody>
      </p:sp>
    </p:spTree>
    <p:extLst>
      <p:ext uri="{BB962C8B-B14F-4D97-AF65-F5344CB8AC3E}">
        <p14:creationId xmlns:p14="http://schemas.microsoft.com/office/powerpoint/2010/main" val="1262611668"/>
      </p:ext>
    </p:extLst>
  </p:cSld>
  <p:clrMapOvr>
    <a:masterClrMapping/>
  </p:clrMapOvr>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solidFill>
            <a:schemeClr val="tx1"/>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sz="1800" dirty="0" err="1" smtClean="0"/>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116"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9525" cap="flat" cmpd="sng" algn="ctr">
          <a:solidFill>
            <a:schemeClr val="tx1"/>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sz="1800" dirty="0" err="1" smtClean="0"/>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Arial" charset="0"/>
            <a:ea typeface="ＭＳ Ｐゴシック" pitchFamily="116"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1621</TotalTime>
  <Words>7135</Words>
  <Application>Microsoft Office PowerPoint</Application>
  <PresentationFormat>Widescreen</PresentationFormat>
  <Paragraphs>423</Paragraphs>
  <Slides>29</Slides>
  <Notes>29</Notes>
  <HiddenSlides>0</HiddenSlides>
  <MMClips>0</MMClips>
  <ScaleCrop>false</ScaleCrop>
  <HeadingPairs>
    <vt:vector size="6" baseType="variant">
      <vt:variant>
        <vt:lpstr>Fonts Used</vt:lpstr>
      </vt:variant>
      <vt:variant>
        <vt:i4>6</vt:i4>
      </vt:variant>
      <vt:variant>
        <vt:lpstr>Theme</vt:lpstr>
      </vt:variant>
      <vt:variant>
        <vt:i4>3</vt:i4>
      </vt:variant>
      <vt:variant>
        <vt:lpstr>Slide Titles</vt:lpstr>
      </vt:variant>
      <vt:variant>
        <vt:i4>29</vt:i4>
      </vt:variant>
    </vt:vector>
  </HeadingPairs>
  <TitlesOfParts>
    <vt:vector size="38" baseType="lpstr">
      <vt:lpstr>Arial</vt:lpstr>
      <vt:lpstr>Calibri</vt:lpstr>
      <vt:lpstr>Calibri Light</vt:lpstr>
      <vt:lpstr>Times</vt:lpstr>
      <vt:lpstr>Times New Roman</vt:lpstr>
      <vt:lpstr>Wingdings</vt:lpstr>
      <vt:lpstr>Blank Presentation</vt:lpstr>
      <vt:lpstr>1_Blank Presentation</vt:lpstr>
      <vt:lpstr>Office 2013 - 2022 Theme</vt:lpstr>
      <vt:lpstr>PowerPoint Presentation</vt:lpstr>
      <vt:lpstr>PowerPoint Presentation</vt:lpstr>
      <vt:lpstr>Outline</vt:lpstr>
      <vt:lpstr>Visualization of Discrete FT</vt:lpstr>
      <vt:lpstr>Hands-on Example</vt:lpstr>
      <vt:lpstr>Multiplications at n=0</vt:lpstr>
      <vt:lpstr>Multiplications at n=8</vt:lpstr>
      <vt:lpstr>Functional example</vt:lpstr>
      <vt:lpstr>Hands-on Result</vt:lpstr>
      <vt:lpstr>Circular Convolution</vt:lpstr>
      <vt:lpstr>Convolution with Zero Padding</vt:lpstr>
      <vt:lpstr>PowerPoint Presentation</vt:lpstr>
      <vt:lpstr>PowerPoint Presentation</vt:lpstr>
      <vt:lpstr>PowerPoint Presentation</vt:lpstr>
      <vt:lpstr>Outline</vt:lpstr>
      <vt:lpstr>Synthetic Waveform</vt:lpstr>
      <vt:lpstr>Without Zero Padding</vt:lpstr>
      <vt:lpstr>With Zero Padding</vt:lpstr>
      <vt:lpstr>PowerPoint Presentation</vt:lpstr>
      <vt:lpstr>PowerPoint Presentation</vt:lpstr>
      <vt:lpstr>PowerPoint Presentation</vt:lpstr>
      <vt:lpstr>PowerPoint Presentation</vt:lpstr>
      <vt:lpstr>Outline</vt:lpstr>
      <vt:lpstr>2D Fourier Transform</vt:lpstr>
      <vt:lpstr>Noise Suppression</vt:lpstr>
      <vt:lpstr>Low-/High-pass Filtering</vt:lpstr>
      <vt:lpstr>2D Image Filters</vt:lpstr>
      <vt:lpstr>Filtered Images</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Matthew Getzin</dc:creator>
  <cp:lastModifiedBy>Manik, Md Motaleb Hossen</cp:lastModifiedBy>
  <cp:revision>56</cp:revision>
  <dcterms:created xsi:type="dcterms:W3CDTF">2017-02-13T19:37:28Z</dcterms:created>
  <dcterms:modified xsi:type="dcterms:W3CDTF">2025-08-23T11:23:17Z</dcterms:modified>
</cp:coreProperties>
</file>