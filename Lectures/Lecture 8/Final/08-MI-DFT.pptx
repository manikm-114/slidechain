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45"/>
  </p:notesMasterIdLst>
  <p:sldIdLst>
    <p:sldId id="603" r:id="rId2"/>
    <p:sldId id="1346" r:id="rId3"/>
    <p:sldId id="1347" r:id="rId4"/>
    <p:sldId id="1362" r:id="rId5"/>
    <p:sldId id="1348" r:id="rId6"/>
    <p:sldId id="1349" r:id="rId7"/>
    <p:sldId id="1350" r:id="rId8"/>
    <p:sldId id="1351" r:id="rId9"/>
    <p:sldId id="1266" r:id="rId10"/>
    <p:sldId id="1267" r:id="rId11"/>
    <p:sldId id="1268" r:id="rId12"/>
    <p:sldId id="1363" r:id="rId13"/>
    <p:sldId id="1288" r:id="rId14"/>
    <p:sldId id="1360" r:id="rId15"/>
    <p:sldId id="1210" r:id="rId16"/>
    <p:sldId id="1352" r:id="rId17"/>
    <p:sldId id="1361" r:id="rId18"/>
    <p:sldId id="1353" r:id="rId19"/>
    <p:sldId id="1271" r:id="rId20"/>
    <p:sldId id="1354" r:id="rId21"/>
    <p:sldId id="1355" r:id="rId22"/>
    <p:sldId id="1356" r:id="rId23"/>
    <p:sldId id="1357" r:id="rId24"/>
    <p:sldId id="1358" r:id="rId25"/>
    <p:sldId id="1305" r:id="rId26"/>
    <p:sldId id="1307" r:id="rId27"/>
    <p:sldId id="1359" r:id="rId28"/>
    <p:sldId id="1297" r:id="rId29"/>
    <p:sldId id="1333" r:id="rId30"/>
    <p:sldId id="1334" r:id="rId31"/>
    <p:sldId id="1311" r:id="rId32"/>
    <p:sldId id="1364" r:id="rId33"/>
    <p:sldId id="1365" r:id="rId34"/>
    <p:sldId id="1366" r:id="rId35"/>
    <p:sldId id="1319" r:id="rId36"/>
    <p:sldId id="1326" r:id="rId37"/>
    <p:sldId id="1327" r:id="rId38"/>
    <p:sldId id="1328" r:id="rId39"/>
    <p:sldId id="1341" r:id="rId40"/>
    <p:sldId id="1342" r:id="rId41"/>
    <p:sldId id="1343" r:id="rId42"/>
    <p:sldId id="1345" r:id="rId43"/>
    <p:sldId id="1331" r:id="rId44"/>
  </p:sldIdLst>
  <p:sldSz cx="12192000" cy="6858000"/>
  <p:notesSz cx="6858000" cy="9144000"/>
  <p:defaultTextStyle>
    <a:defPPr>
      <a:defRPr lang="en-US"/>
    </a:defPPr>
    <a:lvl1pPr algn="l" rtl="0" eaLnBrk="0" fontAlgn="base" hangingPunct="0">
      <a:spcBef>
        <a:spcPct val="0"/>
      </a:spcBef>
      <a:spcAft>
        <a:spcPct val="0"/>
      </a:spcAft>
      <a:defRPr sz="2400" kern="1200">
        <a:solidFill>
          <a:schemeClr val="tx1"/>
        </a:solidFill>
        <a:latin typeface="Arial" charset="0"/>
        <a:ea typeface="ＭＳ Ｐゴシック" pitchFamily="116" charset="-128"/>
        <a:cs typeface="+mn-cs"/>
      </a:defRPr>
    </a:lvl1pPr>
    <a:lvl2pPr marL="457200" algn="l" rtl="0" eaLnBrk="0" fontAlgn="base" hangingPunct="0">
      <a:spcBef>
        <a:spcPct val="0"/>
      </a:spcBef>
      <a:spcAft>
        <a:spcPct val="0"/>
      </a:spcAft>
      <a:defRPr sz="2400" kern="1200">
        <a:solidFill>
          <a:schemeClr val="tx1"/>
        </a:solidFill>
        <a:latin typeface="Arial" charset="0"/>
        <a:ea typeface="ＭＳ Ｐゴシック" pitchFamily="116" charset="-128"/>
        <a:cs typeface="+mn-cs"/>
      </a:defRPr>
    </a:lvl2pPr>
    <a:lvl3pPr marL="914400" algn="l" rtl="0" eaLnBrk="0" fontAlgn="base" hangingPunct="0">
      <a:spcBef>
        <a:spcPct val="0"/>
      </a:spcBef>
      <a:spcAft>
        <a:spcPct val="0"/>
      </a:spcAft>
      <a:defRPr sz="2400" kern="1200">
        <a:solidFill>
          <a:schemeClr val="tx1"/>
        </a:solidFill>
        <a:latin typeface="Arial" charset="0"/>
        <a:ea typeface="ＭＳ Ｐゴシック" pitchFamily="116" charset="-128"/>
        <a:cs typeface="+mn-cs"/>
      </a:defRPr>
    </a:lvl3pPr>
    <a:lvl4pPr marL="1371600" algn="l" rtl="0" eaLnBrk="0" fontAlgn="base" hangingPunct="0">
      <a:spcBef>
        <a:spcPct val="0"/>
      </a:spcBef>
      <a:spcAft>
        <a:spcPct val="0"/>
      </a:spcAft>
      <a:defRPr sz="2400" kern="1200">
        <a:solidFill>
          <a:schemeClr val="tx1"/>
        </a:solidFill>
        <a:latin typeface="Arial" charset="0"/>
        <a:ea typeface="ＭＳ Ｐゴシック" pitchFamily="116" charset="-128"/>
        <a:cs typeface="+mn-cs"/>
      </a:defRPr>
    </a:lvl4pPr>
    <a:lvl5pPr marL="1828800" algn="l" rtl="0" eaLnBrk="0" fontAlgn="base" hangingPunct="0">
      <a:spcBef>
        <a:spcPct val="0"/>
      </a:spcBef>
      <a:spcAft>
        <a:spcPct val="0"/>
      </a:spcAft>
      <a:defRPr sz="2400" kern="1200">
        <a:solidFill>
          <a:schemeClr val="tx1"/>
        </a:solidFill>
        <a:latin typeface="Arial" charset="0"/>
        <a:ea typeface="ＭＳ Ｐゴシック" pitchFamily="116" charset="-128"/>
        <a:cs typeface="+mn-cs"/>
      </a:defRPr>
    </a:lvl5pPr>
    <a:lvl6pPr marL="2286000" algn="l" defTabSz="914400" rtl="0" eaLnBrk="1" latinLnBrk="0" hangingPunct="1">
      <a:defRPr sz="2400" kern="1200">
        <a:solidFill>
          <a:schemeClr val="tx1"/>
        </a:solidFill>
        <a:latin typeface="Arial" charset="0"/>
        <a:ea typeface="ＭＳ Ｐゴシック" pitchFamily="116" charset="-128"/>
        <a:cs typeface="+mn-cs"/>
      </a:defRPr>
    </a:lvl6pPr>
    <a:lvl7pPr marL="2743200" algn="l" defTabSz="914400" rtl="0" eaLnBrk="1" latinLnBrk="0" hangingPunct="1">
      <a:defRPr sz="2400" kern="1200">
        <a:solidFill>
          <a:schemeClr val="tx1"/>
        </a:solidFill>
        <a:latin typeface="Arial" charset="0"/>
        <a:ea typeface="ＭＳ Ｐゴシック" pitchFamily="116" charset="-128"/>
        <a:cs typeface="+mn-cs"/>
      </a:defRPr>
    </a:lvl7pPr>
    <a:lvl8pPr marL="3200400" algn="l" defTabSz="914400" rtl="0" eaLnBrk="1" latinLnBrk="0" hangingPunct="1">
      <a:defRPr sz="2400" kern="1200">
        <a:solidFill>
          <a:schemeClr val="tx1"/>
        </a:solidFill>
        <a:latin typeface="Arial" charset="0"/>
        <a:ea typeface="ＭＳ Ｐゴシック" pitchFamily="116" charset="-128"/>
        <a:cs typeface="+mn-cs"/>
      </a:defRPr>
    </a:lvl8pPr>
    <a:lvl9pPr marL="3657600" algn="l" defTabSz="914400" rtl="0" eaLnBrk="1" latinLnBrk="0" hangingPunct="1">
      <a:defRPr sz="2400" kern="1200">
        <a:solidFill>
          <a:schemeClr val="tx1"/>
        </a:solidFill>
        <a:latin typeface="Arial" charset="0"/>
        <a:ea typeface="ＭＳ Ｐゴシック" pitchFamily="116"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66FF"/>
    <a:srgbClr val="009900"/>
    <a:srgbClr val="3399FF"/>
    <a:srgbClr val="FF99FF"/>
    <a:srgbClr val="33CC33"/>
    <a:srgbClr val="993366"/>
    <a:srgbClr val="003399"/>
    <a:srgbClr val="CCCC00"/>
    <a:srgbClr val="99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045" autoAdjust="0"/>
    <p:restoredTop sz="53741" autoAdjust="0"/>
  </p:normalViewPr>
  <p:slideViewPr>
    <p:cSldViewPr snapToGrid="0">
      <p:cViewPr varScale="1">
        <p:scale>
          <a:sx n="43" d="100"/>
          <a:sy n="43" d="100"/>
        </p:scale>
        <p:origin x="2436" y="54"/>
      </p:cViewPr>
      <p:guideLst>
        <p:guide orient="horz" pos="2160"/>
        <p:guide pos="3840"/>
      </p:guideLst>
    </p:cSldViewPr>
  </p:slideViewPr>
  <p:outlineViewPr>
    <p:cViewPr>
      <p:scale>
        <a:sx n="33" d="100"/>
        <a:sy n="33" d="100"/>
      </p:scale>
      <p:origin x="0" y="-4392"/>
    </p:cViewPr>
  </p:outlineViewPr>
  <p:notesTextViewPr>
    <p:cViewPr>
      <p:scale>
        <a:sx n="3" d="2"/>
        <a:sy n="3" d="2"/>
      </p:scale>
      <p:origin x="0" y="-618"/>
    </p:cViewPr>
  </p:notesTextViewPr>
  <p:sorterViewPr>
    <p:cViewPr varScale="1">
      <p:scale>
        <a:sx n="1" d="1"/>
        <a:sy n="1" d="1"/>
      </p:scale>
      <p:origin x="0" y="-2792"/>
    </p:cViewPr>
  </p:sorterViewPr>
  <p:notesViewPr>
    <p:cSldViewPr snapToGrid="0">
      <p:cViewPr varScale="1">
        <p:scale>
          <a:sx n="39" d="100"/>
          <a:sy n="39" d="100"/>
        </p:scale>
        <p:origin x="2240" y="5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5123" name="Rectangle 3"/>
          <p:cNvSpPr>
            <a:spLocks noGrp="1" noChangeArrowheads="1"/>
          </p:cNvSpPr>
          <p:nvPr>
            <p:ph type="dt" idx="1"/>
          </p:nvPr>
        </p:nvSpPr>
        <p:spPr bwMode="auto">
          <a:xfrm>
            <a:off x="388620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5124"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p:spPr>
      </p:sp>
      <p:sp>
        <p:nvSpPr>
          <p:cNvPr id="5125"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26"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5127"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sz="1200"/>
            </a:lvl1pPr>
          </a:lstStyle>
          <a:p>
            <a:fld id="{9F30534E-9FB8-46AE-8E3B-5675B268AE6A}" type="slidenum">
              <a:rPr lang="en-US"/>
              <a:pPr/>
              <a:t>‹#›</a:t>
            </a:fld>
            <a:endParaRPr lang="en-US"/>
          </a:p>
        </p:txBody>
      </p:sp>
    </p:spTree>
    <p:extLst>
      <p:ext uri="{BB962C8B-B14F-4D97-AF65-F5344CB8AC3E}">
        <p14:creationId xmlns:p14="http://schemas.microsoft.com/office/powerpoint/2010/main" val="3913618814"/>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ＭＳ Ｐゴシック" pitchFamily="116" charset="-128"/>
        <a:cs typeface="+mn-cs"/>
      </a:defRPr>
    </a:lvl1pPr>
    <a:lvl2pPr marL="457200" algn="l" rtl="0" fontAlgn="base">
      <a:spcBef>
        <a:spcPct val="30000"/>
      </a:spcBef>
      <a:spcAft>
        <a:spcPct val="0"/>
      </a:spcAft>
      <a:defRPr sz="1200" kern="1200">
        <a:solidFill>
          <a:schemeClr val="tx1"/>
        </a:solidFill>
        <a:latin typeface="Arial" charset="0"/>
        <a:ea typeface="ＭＳ Ｐゴシック" pitchFamily="116" charset="-128"/>
        <a:cs typeface="+mn-cs"/>
      </a:defRPr>
    </a:lvl2pPr>
    <a:lvl3pPr marL="914400" algn="l" rtl="0" fontAlgn="base">
      <a:spcBef>
        <a:spcPct val="30000"/>
      </a:spcBef>
      <a:spcAft>
        <a:spcPct val="0"/>
      </a:spcAft>
      <a:defRPr sz="1200" kern="1200">
        <a:solidFill>
          <a:schemeClr val="tx1"/>
        </a:solidFill>
        <a:latin typeface="Arial" charset="0"/>
        <a:ea typeface="ＭＳ Ｐゴシック" pitchFamily="116" charset="-128"/>
        <a:cs typeface="+mn-cs"/>
      </a:defRPr>
    </a:lvl3pPr>
    <a:lvl4pPr marL="1371600" algn="l" rtl="0" fontAlgn="base">
      <a:spcBef>
        <a:spcPct val="30000"/>
      </a:spcBef>
      <a:spcAft>
        <a:spcPct val="0"/>
      </a:spcAft>
      <a:defRPr sz="1200" kern="1200">
        <a:solidFill>
          <a:schemeClr val="tx1"/>
        </a:solidFill>
        <a:latin typeface="Arial" charset="0"/>
        <a:ea typeface="ＭＳ Ｐゴシック" pitchFamily="116" charset="-128"/>
        <a:cs typeface="+mn-cs"/>
      </a:defRPr>
    </a:lvl4pPr>
    <a:lvl5pPr marL="1828800" algn="l" rtl="0" fontAlgn="base">
      <a:spcBef>
        <a:spcPct val="30000"/>
      </a:spcBef>
      <a:spcAft>
        <a:spcPct val="0"/>
      </a:spcAft>
      <a:defRPr sz="1200" kern="1200">
        <a:solidFill>
          <a:schemeClr val="tx1"/>
        </a:solidFill>
        <a:latin typeface="Arial" charset="0"/>
        <a:ea typeface="ＭＳ Ｐゴシック" pitchFamily="11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F42E5D3-627C-4511-B3F4-264A77E3CF6D}" type="slidenum">
              <a:rPr lang="en-US"/>
              <a:pPr/>
              <a:t>1</a:t>
            </a:fld>
            <a:endParaRPr lang="en-US"/>
          </a:p>
        </p:txBody>
      </p:sp>
      <p:sp>
        <p:nvSpPr>
          <p:cNvPr id="6146" name="Rectangle 2"/>
          <p:cNvSpPr>
            <a:spLocks noGrp="1" noRot="1" noChangeAspect="1" noChangeArrowheads="1" noTextEdit="1"/>
          </p:cNvSpPr>
          <p:nvPr>
            <p:ph type="sldImg"/>
          </p:nvPr>
        </p:nvSpPr>
        <p:spPr>
          <a:xfrm>
            <a:off x="381000" y="685800"/>
            <a:ext cx="6096000" cy="3429000"/>
          </a:xfrm>
          <a:ln/>
        </p:spPr>
      </p:sp>
      <p:sp>
        <p:nvSpPr>
          <p:cNvPr id="6147" name="Rectangle 3"/>
          <p:cNvSpPr>
            <a:spLocks noGrp="1" noChangeArrowheads="1"/>
          </p:cNvSpPr>
          <p:nvPr>
            <p:ph type="body" idx="1"/>
          </p:nvPr>
        </p:nvSpPr>
        <p:spPr/>
        <p:txBody>
          <a:bodyPr/>
          <a:lstStyle/>
          <a:p>
            <a:r>
              <a:rPr lang="en-US" dirty="0"/>
              <a:t>Hello everyone, in this lecture, we’ll continue our foundational story and focus on understanding the discrete Fourier transform, or DFT, and its inverse, the IDFT. These slides and my book draft will be your main reference, and they provide a clear, step-by-step path for following the key steps and get the main idea.</a:t>
            </a:r>
          </a:p>
          <a:p>
            <a:endParaRPr lang="en-US" dirty="0"/>
          </a:p>
          <a:p>
            <a:r>
              <a:rPr lang="en-US" dirty="0"/>
              <a:t>The content you see here is part of a larger foundation in medical imaging. Once you have a solid grasp of these concepts, it will be much easier to understand advanced topics like X-ray tomography, nuclear imaging, and MRI.</a:t>
            </a:r>
          </a:p>
          <a:p>
            <a:endParaRPr lang="en-US" dirty="0"/>
          </a:p>
          <a:p>
            <a:r>
              <a:rPr lang="en-US" dirty="0"/>
              <a:t>Fourier analysis is central to all of these areas. We’ll use it to analyze and process signals in both continuous and discrete forms, and to move back and forth between the time or spatial domain and the frequency domain, in either a continuous or discrete form.</a:t>
            </a:r>
          </a:p>
          <a:p>
            <a:endParaRPr lang="en-US" dirty="0"/>
          </a:p>
          <a:p>
            <a:r>
              <a:rPr lang="en-US" dirty="0"/>
              <a:t>In practice, we digitize signals and then perform operations such as convolution, Fourier transforms, and inverse Fourier transforms in one dimension, two dimensions, and beyond. This lecture will begin building the tools you need for that process.</a:t>
            </a:r>
          </a:p>
          <a:p>
            <a:endParaRPr lang="en-US" dirty="0"/>
          </a:p>
        </p:txBody>
      </p:sp>
    </p:spTree>
    <p:extLst>
      <p:ext uri="{BB962C8B-B14F-4D97-AF65-F5344CB8AC3E}">
        <p14:creationId xmlns:p14="http://schemas.microsoft.com/office/powerpoint/2010/main" val="37455965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We’re moving along right on track in our journey through this course.</a:t>
            </a:r>
            <a:br>
              <a:rPr lang="en-US" dirty="0"/>
            </a:br>
            <a:endParaRPr lang="en-US" dirty="0"/>
          </a:p>
          <a:p>
            <a:r>
              <a:rPr lang="en-US" dirty="0"/>
              <a:t>If you’ve had the chance to preview the reading materials for today, that’s great — it will help you connect the concepts more quickly. If not, that’s fine too.</a:t>
            </a:r>
          </a:p>
          <a:p>
            <a:endParaRPr lang="en-US" dirty="0"/>
          </a:p>
          <a:p>
            <a:r>
              <a:rPr lang="en-US" dirty="0"/>
              <a:t>Just follow along closely, and make time afterward to review the main ideas. Building this habit of reinforcing concepts as we go will make your understanding stronger and more intuitive, especially as the topics become more mathematical.</a:t>
            </a:r>
          </a:p>
        </p:txBody>
      </p:sp>
      <p:sp>
        <p:nvSpPr>
          <p:cNvPr id="4" name="Slide Number Placeholder 3"/>
          <p:cNvSpPr>
            <a:spLocks noGrp="1"/>
          </p:cNvSpPr>
          <p:nvPr>
            <p:ph type="sldNum" sz="quarter" idx="5"/>
          </p:nvPr>
        </p:nvSpPr>
        <p:spPr/>
        <p:txBody>
          <a:bodyPr/>
          <a:lstStyle/>
          <a:p>
            <a:fld id="{9F30534E-9FB8-46AE-8E3B-5675B268AE6A}" type="slidenum">
              <a:rPr lang="en-US" smtClean="0"/>
              <a:pPr/>
              <a:t>2</a:t>
            </a:fld>
            <a:endParaRPr lang="en-US"/>
          </a:p>
        </p:txBody>
      </p:sp>
    </p:spTree>
    <p:extLst>
      <p:ext uri="{BB962C8B-B14F-4D97-AF65-F5344CB8AC3E}">
        <p14:creationId xmlns:p14="http://schemas.microsoft.com/office/powerpoint/2010/main" val="31442483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In our last lecture, we examined the sampling theorem in detail, focusing on key concepts such as the sampling rate and the Nyquist rate. By now, you should have a clear idea of why, under certain conditions, we can perfectly recover a continuous signal from its sampled version.</a:t>
            </a:r>
          </a:p>
          <a:p>
            <a:endParaRPr lang="en-US" dirty="0"/>
          </a:p>
          <a:p>
            <a:r>
              <a:rPr lang="en-US" dirty="0"/>
              <a:t>Here’s the key idea:</a:t>
            </a:r>
            <a:br>
              <a:rPr lang="en-US" dirty="0"/>
            </a:br>
            <a:r>
              <a:rPr lang="en-US" dirty="0"/>
              <a:t>We start with a continuous signal, f of t, shown here. When we sample it at regular time intervals — let's call that interval delta-t — we obtain a discrete sequence of values. The sampling theorem tells us that, if certain conditions are met, we can reconstruct the original continuous signal from these samples without losing any information.</a:t>
            </a:r>
          </a:p>
          <a:p>
            <a:endParaRPr lang="en-US" dirty="0"/>
          </a:p>
          <a:p>
            <a:r>
              <a:rPr lang="en-US" dirty="0"/>
              <a:t>That’s remarkable — because even though we only record values at specific time points, and there’s “missing” information in between, the theorem guarantees perfect recovery. But this only works if the original signal’s Fourier transform is </a:t>
            </a:r>
            <a:r>
              <a:rPr lang="en-US" b="1" dirty="0"/>
              <a:t>band-limited</a:t>
            </a:r>
            <a:r>
              <a:rPr lang="en-US" dirty="0"/>
              <a:t>. That means its frequency spectrum is essentially zero outside a certain range, from minus w to plus w.</a:t>
            </a:r>
          </a:p>
          <a:p>
            <a:endParaRPr lang="en-US" dirty="0"/>
          </a:p>
          <a:p>
            <a:r>
              <a:rPr lang="en-US" dirty="0"/>
              <a:t>In the frequency domain, sampling corresponds to a convolution between the original continuous Fourier spectrum and a periodic train of delta functions. This delta train in frequency comes from the Fourier transform of the impulse train in time. The spacing between the deltas in frequency — which we’ll call P — is the reciprocal of the sampling interval delta-t.</a:t>
            </a:r>
          </a:p>
          <a:p>
            <a:endParaRPr lang="en-US" dirty="0"/>
          </a:p>
          <a:p>
            <a:r>
              <a:rPr lang="en-US" dirty="0"/>
              <a:t>To avoid any distortion, P must be at least 2 W. This ensures there is </a:t>
            </a:r>
            <a:r>
              <a:rPr lang="en-US" b="1" dirty="0"/>
              <a:t>no overlap</a:t>
            </a:r>
            <a:r>
              <a:rPr lang="en-US" dirty="0"/>
              <a:t> between the repeated copies of the spectrum in the frequency domain. You can think of each delta function as a “copying machine” — each one shifts and reproduces the original spectrum at regular intervals. If the copies don’t overlap, the original information is preserved perfectly.</a:t>
            </a:r>
          </a:p>
          <a:p>
            <a:endParaRPr lang="en-US" dirty="0"/>
          </a:p>
          <a:p>
            <a:r>
              <a:rPr lang="en-US" dirty="0"/>
              <a:t>In practice, we can apply a low-pass filter to keep only the central copy of the spectrum, then perform an inverse Fourier transform to reconstruct the exact original signal.</a:t>
            </a:r>
          </a:p>
          <a:p>
            <a:endParaRPr lang="en-US" dirty="0"/>
          </a:p>
          <a:p>
            <a:r>
              <a:rPr lang="en-US" dirty="0"/>
              <a:t>Now, a small note about the special case where P equals exactly 2 W: here, the copies just touch at a single point. This doesn’t cause problems unless that single point is a delta function with a finite value — in which case it could contribute to the result. But in most practical signals, that single point has no significant effect.</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3</a:t>
            </a:fld>
            <a:endParaRPr lang="en-US"/>
          </a:p>
        </p:txBody>
      </p:sp>
    </p:spTree>
    <p:extLst>
      <p:ext uri="{BB962C8B-B14F-4D97-AF65-F5344CB8AC3E}">
        <p14:creationId xmlns:p14="http://schemas.microsoft.com/office/powerpoint/2010/main" val="24194689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let’s look at the special case where P equals exactly 2 w.</a:t>
            </a:r>
          </a:p>
          <a:p>
            <a:endParaRPr lang="en-US" dirty="0"/>
          </a:p>
          <a:p>
            <a:r>
              <a:rPr lang="en-US" dirty="0"/>
              <a:t>Suppose our continuous signal is a pure sine wave with a frequency of 1 hertz. That means it completes exactly one cycle in one second. In the frequency domain, this is a band-limited signal — its maximum frequency is 1 hertz.</a:t>
            </a:r>
          </a:p>
          <a:p>
            <a:r>
              <a:rPr lang="en-US" dirty="0"/>
              <a:t>If we sample at exactly twice that frequency — so at 2 hertz — we meet the Nyquist rate exactly. In this case, we take two samples within each cycle. For a pure sinusoid, two unknowns fully describe it: the amplitude and the phase. In theory, two samples per cycle should be enough to determine those two unknowns.</a:t>
            </a:r>
          </a:p>
          <a:p>
            <a:endParaRPr lang="en-US" dirty="0"/>
          </a:p>
          <a:p>
            <a:r>
              <a:rPr lang="en-US" dirty="0"/>
              <a:t>However, here’s the problem. Depending on where the samples fall, we might end up with the exact same sample value each time — for example, always sampling at the zero crossings of the sine wave. In that case, all our samples would be zero, and we would have no reliable way to determine the original signal.</a:t>
            </a:r>
          </a:p>
          <a:p>
            <a:endParaRPr lang="en-US" dirty="0"/>
          </a:p>
          <a:p>
            <a:r>
              <a:rPr lang="en-US" dirty="0"/>
              <a:t>In the Fourier domain, a pure sine wave corresponds to a pair of delta functions located at its positive and negative frequency components. When we sample at exactly 2 w, the duplicated spectra in the frequency domain just touch each other. If the touching points happen to be delta functions, those deltas overlap, and we can no longer separate the contributions from each one. Mathematically, it’s like having the equation X plus Y equals C — you know the sum, but not the individual values. This is an aliasing problem.</a:t>
            </a:r>
          </a:p>
          <a:p>
            <a:endParaRPr lang="en-US" dirty="0"/>
          </a:p>
          <a:p>
            <a:r>
              <a:rPr lang="en-US" dirty="0"/>
              <a:t>That’s why, in practice, sampling exactly at 2 w is risky. To be safe, we require PPP — the spacing between repeated spectra in frequency — to be slightly greater than 2 w. In other words, the sampling rate should be </a:t>
            </a:r>
            <a:r>
              <a:rPr lang="en-US" b="1" dirty="0"/>
              <a:t>a little higher</a:t>
            </a:r>
            <a:r>
              <a:rPr lang="en-US" dirty="0"/>
              <a:t> than twice the maximum frequency in the signal. This extra margin ensures that no overlap occurs, and reconstruction remains reliable.</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4</a:t>
            </a:fld>
            <a:endParaRPr lang="en-US"/>
          </a:p>
        </p:txBody>
      </p:sp>
    </p:spTree>
    <p:extLst>
      <p:ext uri="{BB962C8B-B14F-4D97-AF65-F5344CB8AC3E}">
        <p14:creationId xmlns:p14="http://schemas.microsoft.com/office/powerpoint/2010/main" val="39835483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Here, we have the whole derivation of the sampling theorem summarized on one page.</a:t>
            </a:r>
          </a:p>
          <a:p>
            <a:endParaRPr lang="en-US" dirty="0"/>
          </a:p>
          <a:p>
            <a:r>
              <a:rPr lang="en-US" dirty="0"/>
              <a:t>You see a few steps underlined in red. These are the important turning points in the math — the places where something key happens. In a detailed lecture, we would walk through each of them slowly, but here, I want to focus on the big picture.</a:t>
            </a:r>
          </a:p>
          <a:p>
            <a:r>
              <a:rPr lang="en-US" dirty="0"/>
              <a:t>We start in the frequency domain, where the spectrum of our signal is multiplied by a periodic train of impulses. When we bring this back to the time domain, that multiplication turns into a convolution. The result of that convolution involves a special function called “</a:t>
            </a:r>
            <a:r>
              <a:rPr lang="en-US" dirty="0" err="1"/>
              <a:t>sinc</a:t>
            </a:r>
            <a:r>
              <a:rPr lang="en-US" dirty="0"/>
              <a:t>,” which naturally appears when you take the Fourier transform of a rectangular shape in frequency.</a:t>
            </a:r>
          </a:p>
          <a:p>
            <a:endParaRPr lang="en-US" dirty="0"/>
          </a:p>
          <a:p>
            <a:r>
              <a:rPr lang="en-US" dirty="0"/>
              <a:t>Next, when we write out the convolution, we see it as an infinite sum — a series of shifted </a:t>
            </a:r>
            <a:r>
              <a:rPr lang="en-US" dirty="0" err="1"/>
              <a:t>sinc</a:t>
            </a:r>
            <a:r>
              <a:rPr lang="en-US" dirty="0"/>
              <a:t> functions. Each one is scaled by the value of our signal at a sample point. The distance between these samples is delta-t, and that’s simply one over P, the spacing in the frequency domain.</a:t>
            </a:r>
          </a:p>
          <a:p>
            <a:endParaRPr lang="en-US" dirty="0"/>
          </a:p>
          <a:p>
            <a:r>
              <a:rPr lang="en-US" dirty="0"/>
              <a:t>The final line is the famous Shannon interpolation formula. In words, it says: take each sample of your signal, put a </a:t>
            </a:r>
            <a:r>
              <a:rPr lang="en-US" dirty="0" err="1"/>
              <a:t>sinc</a:t>
            </a:r>
            <a:r>
              <a:rPr lang="en-US" dirty="0"/>
              <a:t> function centered at that sample, scale it by the sample’s value, and then add them all together. Do this for every sample — stretching infinitely in both directions — and you get your original continuous signal back exactly, as long as the sampling conditions are satisfied.</a:t>
            </a:r>
          </a:p>
          <a:p>
            <a:endParaRPr lang="en-US" dirty="0"/>
          </a:p>
          <a:p>
            <a:r>
              <a:rPr lang="en-US" dirty="0"/>
              <a:t>This is a beautiful result. It tells us that perfect reconstruction is not just possible — it’s a direct consequence of the sampling theorem. And this formula is one of the core foundations of all digital signal processing.</a:t>
            </a:r>
          </a:p>
          <a:p>
            <a:endParaRPr lang="en-US" dirty="0"/>
          </a:p>
        </p:txBody>
      </p:sp>
      <p:sp>
        <p:nvSpPr>
          <p:cNvPr id="4" name="Slide Number Placeholder 3"/>
          <p:cNvSpPr>
            <a:spLocks noGrp="1"/>
          </p:cNvSpPr>
          <p:nvPr>
            <p:ph type="sldNum" sz="quarter" idx="10"/>
          </p:nvPr>
        </p:nvSpPr>
        <p:spPr/>
        <p:txBody>
          <a:bodyPr/>
          <a:lstStyle/>
          <a:p>
            <a:fld id="{9F30534E-9FB8-46AE-8E3B-5675B268AE6A}" type="slidenum">
              <a:rPr lang="en-US" smtClean="0"/>
              <a:pPr/>
              <a:t>5</a:t>
            </a:fld>
            <a:endParaRPr lang="en-US"/>
          </a:p>
        </p:txBody>
      </p:sp>
    </p:spTree>
    <p:extLst>
      <p:ext uri="{BB962C8B-B14F-4D97-AF65-F5344CB8AC3E}">
        <p14:creationId xmlns:p14="http://schemas.microsoft.com/office/powerpoint/2010/main" val="20152749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look at a good case — when our sampling rate is high enough to meet the sampling theorem’s requirement.</a:t>
            </a:r>
          </a:p>
          <a:p>
            <a:endParaRPr lang="en-US" dirty="0"/>
          </a:p>
          <a:p>
            <a:r>
              <a:rPr lang="en-US" dirty="0"/>
              <a:t>The black curve here is our original, continuous signal. Think of it as the “true” signal. The blue points show where we took our samples — a limited number of values, spaced evenly in time.</a:t>
            </a:r>
          </a:p>
          <a:p>
            <a:endParaRPr lang="en-US" dirty="0"/>
          </a:p>
          <a:p>
            <a:r>
              <a:rPr lang="en-US" dirty="0"/>
              <a:t>Here’s the magic: if the sampling rate is greater than twice the maximum frequency in the signal — the Nyquist rate — then we can take these discrete samples and use the Shannon interpolation formula to reconstruct the original signal perfectly.</a:t>
            </a:r>
          </a:p>
          <a:p>
            <a:r>
              <a:rPr lang="en-US" dirty="0"/>
              <a:t>When we do that here, the reconstructed signal (shown in red) lies exactly on top of the original black curve. They match so perfectly that you can’t even see the difference.</a:t>
            </a:r>
          </a:p>
          <a:p>
            <a:endParaRPr lang="en-US" dirty="0"/>
          </a:p>
          <a:p>
            <a:r>
              <a:rPr lang="en-US" dirty="0"/>
              <a:t>This is the sampling theorem in action. For band-limited signals, as long as we sample fast enough, we can go back and forth between continuous and discrete forms without losing information. You can repeat this process over and over, with different sample sets, and it will work every time.</a:t>
            </a:r>
          </a:p>
          <a:p>
            <a:r>
              <a:rPr lang="en-US" dirty="0"/>
              <a:t>In short — with the right sampling rate, theory and practice agree perfectly.</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6</a:t>
            </a:fld>
            <a:endParaRPr lang="en-US"/>
          </a:p>
        </p:txBody>
      </p:sp>
    </p:spTree>
    <p:extLst>
      <p:ext uri="{BB962C8B-B14F-4D97-AF65-F5344CB8AC3E}">
        <p14:creationId xmlns:p14="http://schemas.microsoft.com/office/powerpoint/2010/main" val="18635247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here’s a bad case — when the sampling rate is too low.</a:t>
            </a:r>
          </a:p>
          <a:p>
            <a:endParaRPr lang="en-US" dirty="0"/>
          </a:p>
          <a:p>
            <a:r>
              <a:rPr lang="en-US" dirty="0"/>
              <a:t>The black curve is again our original, continuous signal. The blue points are where we took our samples. And the red curve is what we get when we try to reconstruct the signal from those samples.</a:t>
            </a:r>
          </a:p>
          <a:p>
            <a:r>
              <a:rPr lang="en-US" dirty="0"/>
              <a:t>At the sample locations, the reconstructed red curve passes exactly through the blue points — so it matches the original at those specific spots. But between the sample points, the red curve drifts far away from the true black signal.</a:t>
            </a:r>
          </a:p>
          <a:p>
            <a:endParaRPr lang="en-US" dirty="0"/>
          </a:p>
          <a:p>
            <a:r>
              <a:rPr lang="en-US" dirty="0"/>
              <a:t>This mismatch is caused by </a:t>
            </a:r>
            <a:r>
              <a:rPr lang="en-US" b="1" dirty="0"/>
              <a:t>aliasing</a:t>
            </a:r>
            <a:r>
              <a:rPr lang="en-US" dirty="0"/>
              <a:t>. Because our sampling rate is less than twice the maximum frequency in the signal, the repeated spectra in the frequency domain overlap. That overlap distorts the information, and once it happens, no amount of interpolation can recover the original shape.</a:t>
            </a:r>
          </a:p>
          <a:p>
            <a:endParaRPr lang="en-US" dirty="0"/>
          </a:p>
          <a:p>
            <a:r>
              <a:rPr lang="en-US" dirty="0"/>
              <a:t>So, while the reconstruction looks fine exactly at the sampled points, the continuous waveform in between is completely wrong. This is why respecting the sampling theorem is essential — if you don’t sample fast enough, the damage is permanent.</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7</a:t>
            </a:fld>
            <a:endParaRPr lang="en-US"/>
          </a:p>
        </p:txBody>
      </p:sp>
    </p:spTree>
    <p:extLst>
      <p:ext uri="{BB962C8B-B14F-4D97-AF65-F5344CB8AC3E}">
        <p14:creationId xmlns:p14="http://schemas.microsoft.com/office/powerpoint/2010/main" val="30626494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step back and see the big picture.</a:t>
            </a:r>
          </a:p>
          <a:p>
            <a:endParaRPr lang="en-US" dirty="0"/>
          </a:p>
          <a:p>
            <a:r>
              <a:rPr lang="en-US" dirty="0"/>
              <a:t>There are really two parts here. On the top half, we have </a:t>
            </a:r>
            <a:r>
              <a:rPr lang="en-US" b="1" dirty="0"/>
              <a:t>discretized the signal</a:t>
            </a:r>
            <a:r>
              <a:rPr lang="en-US" dirty="0"/>
              <a:t> in the time domain. This means we start with a continuous signal, sample it at regular intervals, and get a discrete set of values — something we can store and process in a digital computer. If the sampling theorem is satisfied, this step causes no information loss.</a:t>
            </a:r>
          </a:p>
          <a:p>
            <a:r>
              <a:rPr lang="en-US" dirty="0"/>
              <a:t>But the story doesn’t end there. Even though our signal is now discrete in time, its Fourier spectrum is still continuous. And a continuous spectrum cannot be stored directly in a computer either.</a:t>
            </a:r>
          </a:p>
          <a:p>
            <a:endParaRPr lang="en-US" dirty="0"/>
          </a:p>
          <a:p>
            <a:r>
              <a:rPr lang="en-US" dirty="0"/>
              <a:t>That’s where the second part comes in — </a:t>
            </a:r>
            <a:r>
              <a:rPr lang="en-US" b="1" dirty="0"/>
              <a:t>discretizing the spectrum</a:t>
            </a:r>
            <a:r>
              <a:rPr lang="en-US" dirty="0"/>
              <a:t>. This is the central topic of this lecture. The idea is to take the continuous Fourier spectrum and multiply it by a periodic train of delta functions in the frequency domain. This multiplication in frequency corresponds to convolution in the time domain, which effectively copies our time-domain signal over and over again, spaced apart by a fixed period t.</a:t>
            </a:r>
          </a:p>
          <a:p>
            <a:endParaRPr lang="en-US" dirty="0"/>
          </a:p>
          <a:p>
            <a:r>
              <a:rPr lang="en-US" dirty="0"/>
              <a:t>In other words, sampling in one domain causes repetition — or duplication — in the other domain. When we discretize both the time-domain signal and the frequency-domain spectrum, we end up with a periodic structure in both domains.</a:t>
            </a:r>
          </a:p>
          <a:p>
            <a:r>
              <a:rPr lang="en-US" dirty="0"/>
              <a:t>The key point here is that now, both our signal in time and its spectrum in frequency are discrete and periodic. This makes them fully compatible with digital processing. And this is the foundation for moving toward the </a:t>
            </a:r>
            <a:r>
              <a:rPr lang="en-US" b="1" dirty="0"/>
              <a:t>discrete Fourier transform</a:t>
            </a:r>
            <a:r>
              <a:rPr lang="en-US" dirty="0"/>
              <a:t>.</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8</a:t>
            </a:fld>
            <a:endParaRPr lang="en-US"/>
          </a:p>
        </p:txBody>
      </p:sp>
    </p:spTree>
    <p:extLst>
      <p:ext uri="{BB962C8B-B14F-4D97-AF65-F5344CB8AC3E}">
        <p14:creationId xmlns:p14="http://schemas.microsoft.com/office/powerpoint/2010/main" val="16597955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C2280C50-96CD-4499-B659-E0BA1411CA7C}" type="slidenum">
              <a:rPr lang="en-US" altLang="en-US">
                <a:latin typeface="Times New Roman" panose="02020603050405020304" pitchFamily="18" charset="0"/>
              </a:rPr>
              <a:pPr>
                <a:spcBef>
                  <a:spcPct val="0"/>
                </a:spcBef>
              </a:pPr>
              <a:t>9</a:t>
            </a:fld>
            <a:endParaRPr lang="en-US" altLang="en-US">
              <a:latin typeface="Times New Roman" panose="02020603050405020304" pitchFamily="18" charset="0"/>
            </a:endParaRPr>
          </a:p>
        </p:txBody>
      </p:sp>
      <p:sp>
        <p:nvSpPr>
          <p:cNvPr id="39939"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4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dirty="0"/>
              <a:t>Signal sampling is a fundamental concept, but it can be confusing if you only look at it quickly. So let’s slow down and really understand it.</a:t>
            </a:r>
          </a:p>
          <a:p>
            <a:r>
              <a:rPr lang="en-US" dirty="0"/>
              <a:t>At the top, we have our </a:t>
            </a:r>
            <a:r>
              <a:rPr lang="en-US" b="1" dirty="0"/>
              <a:t>continuous signal</a:t>
            </a:r>
            <a:r>
              <a:rPr lang="en-US" dirty="0"/>
              <a:t>, f x. This is defined for every value of x and could represent anything — a sound wave, an image profile, or a measured signal.</a:t>
            </a:r>
          </a:p>
          <a:p>
            <a:endParaRPr lang="en-US" dirty="0"/>
          </a:p>
          <a:p>
            <a:r>
              <a:rPr lang="en-US" dirty="0"/>
              <a:t>Next, we have what’s called a </a:t>
            </a:r>
            <a:r>
              <a:rPr lang="en-US" b="1" dirty="0"/>
              <a:t>Shah function</a:t>
            </a:r>
            <a:r>
              <a:rPr lang="en-US" dirty="0"/>
              <a:t>, or an </a:t>
            </a:r>
            <a:r>
              <a:rPr lang="en-US" b="1" dirty="0"/>
              <a:t>impulse train</a:t>
            </a:r>
            <a:r>
              <a:rPr lang="en-US" dirty="0"/>
              <a:t>. This is simply a series of delta functions, each spaced t units apart. Mathematically, it’s written as the sum of delta functions, where each one is located at x equals n T, with n being an integer. You can think of this impulse train as a ruler that marks the exact points where we’ll take our samples.</a:t>
            </a:r>
          </a:p>
          <a:p>
            <a:endParaRPr lang="en-US" dirty="0"/>
          </a:p>
          <a:p>
            <a:r>
              <a:rPr lang="en-US" dirty="0"/>
              <a:t>When we multiply the continuous signal f of x by this impulse train, we get the </a:t>
            </a:r>
            <a:r>
              <a:rPr lang="en-US" b="1" dirty="0"/>
              <a:t>sampled function</a:t>
            </a:r>
            <a:r>
              <a:rPr lang="en-US" dirty="0"/>
              <a:t>. This multiplication is done point-by-point: at each delta function’s location, we keep the value of f of x; everywhere else, the result is zero.</a:t>
            </a:r>
          </a:p>
          <a:p>
            <a:r>
              <a:rPr lang="en-US" dirty="0"/>
              <a:t>So the sampled signal is really the original signal’s values, “attached” to the impulses in the train. The impulses mark the positions, and the heights of the impulses carry the signal’s values at those positions.</a:t>
            </a:r>
          </a:p>
          <a:p>
            <a:endParaRPr lang="en-US" dirty="0"/>
          </a:p>
          <a:p>
            <a:r>
              <a:rPr lang="en-US" dirty="0"/>
              <a:t>In other words, the sampled function is just the original function, but only at discrete, regularly spaced points. This is the first step in moving from the continuous world to the digital world.</a:t>
            </a:r>
          </a:p>
          <a:p>
            <a:pPr eaLnBrk="1" hangingPunct="1">
              <a:spcBef>
                <a:spcPct val="0"/>
              </a:spcBef>
            </a:pPr>
            <a:endParaRPr lang="en-US" altLang="ja-JP" dirty="0"/>
          </a:p>
        </p:txBody>
      </p:sp>
    </p:spTree>
    <p:extLst>
      <p:ext uri="{BB962C8B-B14F-4D97-AF65-F5344CB8AC3E}">
        <p14:creationId xmlns:p14="http://schemas.microsoft.com/office/powerpoint/2010/main" val="15935533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D3ED4902-E88E-4F5B-B99D-69773B5BF0BE}" type="slidenum">
              <a:rPr lang="en-US" altLang="en-US">
                <a:latin typeface="Times New Roman" panose="02020603050405020304" pitchFamily="18" charset="0"/>
              </a:rPr>
              <a:pPr>
                <a:spcBef>
                  <a:spcPct val="0"/>
                </a:spcBef>
              </a:pPr>
              <a:t>10</a:t>
            </a:fld>
            <a:endParaRPr lang="en-US" altLang="en-US">
              <a:latin typeface="Times New Roman" panose="02020603050405020304" pitchFamily="18" charset="0"/>
            </a:endParaRPr>
          </a:p>
        </p:txBody>
      </p:sp>
      <p:sp>
        <p:nvSpPr>
          <p:cNvPr id="44035"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dirty="0"/>
              <a:t>When we sample a signal in the time domain — or the spatial domain — it creates a very specific effect in the frequency domain. Sampling in one domain is equivalent to performing a convolution in the other domain.</a:t>
            </a:r>
          </a:p>
          <a:p>
            <a:endParaRPr lang="en-US" dirty="0"/>
          </a:p>
          <a:p>
            <a:r>
              <a:rPr lang="en-US" dirty="0"/>
              <a:t>Let’s walk through it.</a:t>
            </a:r>
            <a:br>
              <a:rPr lang="en-US" dirty="0"/>
            </a:br>
            <a:r>
              <a:rPr lang="en-US" dirty="0"/>
              <a:t>We start with our original spectrum, which we’ll call </a:t>
            </a:r>
            <a:r>
              <a:rPr lang="en-US" b="1" dirty="0"/>
              <a:t>F of u</a:t>
            </a:r>
            <a:r>
              <a:rPr lang="en-US" dirty="0"/>
              <a:t>. Here, </a:t>
            </a:r>
            <a:r>
              <a:rPr lang="en-US" i="1" dirty="0"/>
              <a:t>u</a:t>
            </a:r>
            <a:r>
              <a:rPr lang="en-US" dirty="0"/>
              <a:t> represents frequency, and </a:t>
            </a:r>
            <a:r>
              <a:rPr lang="en-US" b="1" dirty="0"/>
              <a:t>u-max</a:t>
            </a:r>
            <a:r>
              <a:rPr lang="en-US" dirty="0"/>
              <a:t> is the highest frequency present in the signal — its bandwidth.</a:t>
            </a:r>
          </a:p>
          <a:p>
            <a:r>
              <a:rPr lang="en-US" dirty="0"/>
              <a:t>When we multiply our signal in time by an impulse train — a set of regularly spaced spikes — that multiplication turns into a convolution in frequency. The result is that the original spectrum gets repeated again and again, spaced apart by the sampling frequency.</a:t>
            </a:r>
          </a:p>
          <a:p>
            <a:endParaRPr lang="en-US" dirty="0"/>
          </a:p>
          <a:p>
            <a:r>
              <a:rPr lang="en-US" dirty="0"/>
              <a:t>In this diagram, the middle shape is the original spectrum. To the left and right, you can see identical copies. The spacing between them is one over capital T, where capital T is the sampling interval in time.</a:t>
            </a:r>
          </a:p>
          <a:p>
            <a:r>
              <a:rPr lang="en-US" dirty="0"/>
              <a:t>If our sampling frequency — which is one over T — is at least twice the maximum frequency in the signal, then these repeated copies don’t touch each other. In that case, we can simply keep the central copy and reconstruct the original signal perfectly.</a:t>
            </a:r>
          </a:p>
          <a:p>
            <a:endParaRPr lang="en-US" dirty="0"/>
          </a:p>
          <a:p>
            <a:r>
              <a:rPr lang="en-US" dirty="0"/>
              <a:t>But if we sample too slowly, the copies overlap. This overlap distorts the spectrum, and once that happens, there’s no way to separate the original from the distortion. That’s the aliasing problem we saw in the earlier “bad case” example.</a:t>
            </a:r>
          </a:p>
          <a:p>
            <a:pPr eaLnBrk="1" hangingPunct="1">
              <a:spcBef>
                <a:spcPct val="0"/>
              </a:spcBef>
            </a:pPr>
            <a:endParaRPr lang="en-US" altLang="ja-JP" dirty="0"/>
          </a:p>
        </p:txBody>
      </p:sp>
    </p:spTree>
    <p:extLst>
      <p:ext uri="{BB962C8B-B14F-4D97-AF65-F5344CB8AC3E}">
        <p14:creationId xmlns:p14="http://schemas.microsoft.com/office/powerpoint/2010/main" val="36732334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1DEBEDE1-4129-4899-857A-21034C90E59D}" type="slidenum">
              <a:rPr lang="en-US" altLang="en-US">
                <a:latin typeface="Times New Roman" panose="02020603050405020304" pitchFamily="18" charset="0"/>
              </a:rPr>
              <a:pPr>
                <a:spcBef>
                  <a:spcPct val="0"/>
                </a:spcBef>
              </a:pPr>
              <a:t>11</a:t>
            </a:fld>
            <a:endParaRPr lang="en-US" altLang="en-US">
              <a:latin typeface="Times New Roman" panose="02020603050405020304" pitchFamily="18" charset="0"/>
            </a:endParaRPr>
          </a:p>
        </p:txBody>
      </p:sp>
      <p:sp>
        <p:nvSpPr>
          <p:cNvPr id="46083"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dirty="0"/>
              <a:t>Here’s the Nyquist theorem in action.</a:t>
            </a:r>
          </a:p>
          <a:p>
            <a:endParaRPr lang="en-US" dirty="0"/>
          </a:p>
          <a:p>
            <a:r>
              <a:rPr lang="en-US" dirty="0"/>
              <a:t>In the diagram, you can see the original spectrum and its repeated copies created by sampling. If our sampling rate is too low, these copies start to overlap. When that happens, the frequency components from one copy mix with those from another. This is aliasing — and once it occurs, we can’t tell which part of the spectrum came from the original signal and which part came from the overlap.</a:t>
            </a:r>
          </a:p>
          <a:p>
            <a:endParaRPr lang="en-US" dirty="0"/>
          </a:p>
          <a:p>
            <a:r>
              <a:rPr lang="en-US" dirty="0"/>
              <a:t>To avoid aliasing, we must make sure that the highest frequency in the signal — we call it </a:t>
            </a:r>
            <a:r>
              <a:rPr lang="en-US" b="1" dirty="0"/>
              <a:t>u-max</a:t>
            </a:r>
            <a:r>
              <a:rPr lang="en-US" dirty="0"/>
              <a:t> — is less than one divided by twice the sampling interval. In spoken terms, </a:t>
            </a:r>
            <a:r>
              <a:rPr lang="en-US" b="1" dirty="0"/>
              <a:t>the sampling frequency must be greater than twice u-max</a:t>
            </a:r>
            <a:r>
              <a:rPr lang="en-US" dirty="0"/>
              <a:t>. This threshold is called the Nyquist frequency.</a:t>
            </a:r>
          </a:p>
          <a:p>
            <a:endParaRPr lang="en-US" dirty="0"/>
          </a:p>
          <a:p>
            <a:r>
              <a:rPr lang="en-US" dirty="0"/>
              <a:t>When the condition is satisfied, we can use a rectangular filter — often called a gate function — to select just the central copy of the spectrum. That single copy contains all the information needed to perfectly reconstruct the original signal.</a:t>
            </a:r>
          </a:p>
          <a:p>
            <a:r>
              <a:rPr lang="en-US" dirty="0"/>
              <a:t>It’s like DNA testing — you don’t need the whole organism, just a small sample, because it contains the complete blueprint. In the same way, one clean copy of the spectrum contains everything we need.</a:t>
            </a:r>
          </a:p>
          <a:p>
            <a:endParaRPr lang="en-US" dirty="0"/>
          </a:p>
          <a:p>
            <a:r>
              <a:rPr lang="en-US" dirty="0"/>
              <a:t>But if the sampling rate is too low and overlap happens, no filter can separate the mixed components. The information is lost forever.</a:t>
            </a:r>
          </a:p>
          <a:p>
            <a:pPr eaLnBrk="1" hangingPunct="1">
              <a:spcBef>
                <a:spcPct val="0"/>
              </a:spcBef>
            </a:pPr>
            <a:endParaRPr lang="en-US" altLang="ja-JP" dirty="0"/>
          </a:p>
        </p:txBody>
      </p:sp>
    </p:spTree>
    <p:extLst>
      <p:ext uri="{BB962C8B-B14F-4D97-AF65-F5344CB8AC3E}">
        <p14:creationId xmlns:p14="http://schemas.microsoft.com/office/powerpoint/2010/main" val="8866989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let’s see why aliasing makes recovery non-unique.</a:t>
            </a:r>
          </a:p>
          <a:p>
            <a:endParaRPr lang="en-US" dirty="0"/>
          </a:p>
          <a:p>
            <a:r>
              <a:rPr lang="en-US" dirty="0"/>
              <a:t>In this diagram, the red and blue curves represent two different sets of frequency components. When aliasing happens, these components overlap in the frequency domain. At the points where they overlap, what we measure is just the sum of their values.</a:t>
            </a:r>
          </a:p>
          <a:p>
            <a:r>
              <a:rPr lang="en-US" dirty="0"/>
              <a:t>For example, imagine that at a certain frequency, the blue component has a value of A, and the red component also has some value. When they overlap, all we see is their sum. That means many different combinations of blue and red could produce the exact same total.</a:t>
            </a:r>
          </a:p>
          <a:p>
            <a:endParaRPr lang="en-US" dirty="0"/>
          </a:p>
          <a:p>
            <a:r>
              <a:rPr lang="en-US" dirty="0"/>
              <a:t>In other words, you can’t tell exactly how much came from the blue curve and how much came from the red one. The information about their contributions is lost.</a:t>
            </a:r>
          </a:p>
          <a:p>
            <a:r>
              <a:rPr lang="en-US" dirty="0"/>
              <a:t>This is why aliasing is such a problem — once two spectra overlap, there is no unique way to separate them. No matter how you process the data, you can’t reconstruct the original spectrum with certainty.</a:t>
            </a:r>
          </a:p>
          <a:p>
            <a:endParaRPr lang="en-US" dirty="0"/>
          </a:p>
          <a:p>
            <a:r>
              <a:rPr lang="en-US" dirty="0"/>
              <a:t>That’s why the Nyquist theorem’s condition — sampling faster than twice the highest frequency — is so important. It prevents this kind of overlap, keeping the spectrum unique and recoverable.</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12</a:t>
            </a:fld>
            <a:endParaRPr lang="en-US"/>
          </a:p>
        </p:txBody>
      </p:sp>
    </p:spTree>
    <p:extLst>
      <p:ext uri="{BB962C8B-B14F-4D97-AF65-F5344CB8AC3E}">
        <p14:creationId xmlns:p14="http://schemas.microsoft.com/office/powerpoint/2010/main" val="13551724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Up to this point, we’ve been talking about aliasing and how to avoid it. Let’s now assume we’ve done that — our sampling rate is always high enough, and the spectra are well separated. Aliasing is no longer an issue.</a:t>
            </a:r>
          </a:p>
          <a:p>
            <a:endParaRPr lang="en-US" dirty="0"/>
          </a:p>
          <a:p>
            <a:r>
              <a:rPr lang="en-US" dirty="0"/>
              <a:t>On the top row, you see our original continuous-time signal on the left. On the right, it’s been sampled — we now have a series of discrete values at regular time intervals.</a:t>
            </a:r>
          </a:p>
          <a:p>
            <a:endParaRPr lang="en-US" dirty="0"/>
          </a:p>
          <a:p>
            <a:r>
              <a:rPr lang="en-US" dirty="0"/>
              <a:t>On the bottom row, you see what this means in the frequency domain. On the left is the original spectrum, limited to a maximum frequency, u-max. On the right is the sampled spectrum — multiple, non-overlapping copies, spaced apart by the sampling frequency, which is one over capital T.</a:t>
            </a:r>
          </a:p>
          <a:p>
            <a:endParaRPr lang="en-US" dirty="0"/>
          </a:p>
          <a:p>
            <a:r>
              <a:rPr lang="en-US" dirty="0"/>
              <a:t>So yes, the signal is now discrete in time, and its spectrum is nicely replicated without overlap. But our job isn’t finished yet. The spectrum is still continuous in frequency. And if we want to fully digitize the signal — so that both the time domain and the frequency domain are discrete — we still have another step to go.</a:t>
            </a:r>
          </a:p>
          <a:p>
            <a:r>
              <a:rPr lang="en-US" dirty="0"/>
              <a:t>That step is discretizing the spectrum, which is exactly where we’re heading next.</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13</a:t>
            </a:fld>
            <a:endParaRPr lang="en-US"/>
          </a:p>
        </p:txBody>
      </p:sp>
    </p:spTree>
    <p:extLst>
      <p:ext uri="{BB962C8B-B14F-4D97-AF65-F5344CB8AC3E}">
        <p14:creationId xmlns:p14="http://schemas.microsoft.com/office/powerpoint/2010/main" val="274430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that our signal is discrete in time and aliasing is avoided, the next step is to discretize the Fourier spectrum.</a:t>
            </a:r>
          </a:p>
          <a:p>
            <a:r>
              <a:rPr lang="en-US" dirty="0"/>
              <a:t>On the right, we start with the continuous, periodic Fourier spectrum of our sampled signal. The peaks are separated because our time-domain sampling rate was high enough. That’s good — no overlap here.</a:t>
            </a:r>
          </a:p>
          <a:p>
            <a:endParaRPr lang="en-US" dirty="0"/>
          </a:p>
          <a:p>
            <a:r>
              <a:rPr lang="en-US" dirty="0"/>
              <a:t>Our goal is to make the frequency domain discrete as well. To do that, we multiply the spectrum by a periodic train of impulses — shown here in green. This is just like what we did before in the time domain, but now we’re applying it in the frequency domain.</a:t>
            </a:r>
          </a:p>
          <a:p>
            <a:r>
              <a:rPr lang="en-US" dirty="0"/>
              <a:t>Multiplication in the frequency domain corresponds to convolution in the time domain. So, when we apply this green impulse train to the spectrum, the effect in the time domain is that our discrete signal gets duplicated at regular intervals, spaced by capital T.</a:t>
            </a:r>
          </a:p>
          <a:p>
            <a:r>
              <a:rPr lang="en-US" dirty="0"/>
              <a:t>Here, delta-u — the spacing between impulses in the frequency domain — equals one over capital T, where capital T is the period of each repeated signal in the time domain.</a:t>
            </a:r>
          </a:p>
          <a:p>
            <a:endParaRPr lang="en-US" dirty="0"/>
          </a:p>
          <a:p>
            <a:r>
              <a:rPr lang="en-US" dirty="0"/>
              <a:t>As before, we must choose our frequency-domain sampling rate carefully. The impulses in frequency must be close enough together — in other words, our spacing delta-u must be small enough — to avoid overlaps in the time domain. This is the same logic as before, just in the other domain.</a:t>
            </a:r>
          </a:p>
          <a:p>
            <a:endParaRPr lang="en-US" dirty="0"/>
          </a:p>
          <a:p>
            <a:r>
              <a:rPr lang="en-US" dirty="0"/>
              <a:t>By doing this, we end up with a signal that is discrete in </a:t>
            </a:r>
            <a:r>
              <a:rPr lang="en-US" b="1" dirty="0"/>
              <a:t>both</a:t>
            </a:r>
            <a:r>
              <a:rPr lang="en-US" dirty="0"/>
              <a:t> the time domain and the frequency domain. This is the essential step that brings us to the </a:t>
            </a:r>
            <a:r>
              <a:rPr lang="en-US" b="1" dirty="0"/>
              <a:t>discrete Fourier transform</a:t>
            </a:r>
            <a:r>
              <a:rPr lang="en-US" dirty="0"/>
              <a:t>, or DFT.</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14</a:t>
            </a:fld>
            <a:endParaRPr lang="en-US"/>
          </a:p>
        </p:txBody>
      </p:sp>
    </p:spTree>
    <p:extLst>
      <p:ext uri="{BB962C8B-B14F-4D97-AF65-F5344CB8AC3E}">
        <p14:creationId xmlns:p14="http://schemas.microsoft.com/office/powerpoint/2010/main" val="24459391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restate the big idea in another way.</a:t>
            </a:r>
          </a:p>
          <a:p>
            <a:endParaRPr lang="en-US" dirty="0"/>
          </a:p>
          <a:p>
            <a:r>
              <a:rPr lang="en-US" dirty="0"/>
              <a:t>We start with a continuous function in the time domain, which we’ll call </a:t>
            </a:r>
            <a:r>
              <a:rPr lang="en-US" b="1" dirty="0"/>
              <a:t>f of t</a:t>
            </a:r>
            <a:r>
              <a:rPr lang="en-US" dirty="0"/>
              <a:t>. It has a continuous Fourier transform, capital </a:t>
            </a:r>
            <a:r>
              <a:rPr lang="en-US" b="1" dirty="0"/>
              <a:t>F of u</a:t>
            </a:r>
            <a:r>
              <a:rPr lang="en-US" dirty="0"/>
              <a:t>, in the frequency domain. These two are perfectly related — one can be transformed into the other with no loss of information.</a:t>
            </a:r>
          </a:p>
          <a:p>
            <a:endParaRPr lang="en-US" dirty="0"/>
          </a:p>
          <a:p>
            <a:r>
              <a:rPr lang="en-US" dirty="0"/>
              <a:t>Now, if we sample f of t at the Nyquist rate or higher, we get a discrete version of the signal — here shown as </a:t>
            </a:r>
            <a:r>
              <a:rPr lang="en-US" b="1" dirty="0"/>
              <a:t>g of t</a:t>
            </a:r>
            <a:r>
              <a:rPr lang="en-US" dirty="0"/>
              <a:t>. And because our sampling rate satisfies the theorem, there’s no loss of information in moving from the continuous signal to its discrete version.</a:t>
            </a:r>
          </a:p>
          <a:p>
            <a:r>
              <a:rPr lang="en-US" dirty="0"/>
              <a:t>That discrete-time signal, g of t, also has its own Fourier transform — here represented as capital </a:t>
            </a:r>
            <a:r>
              <a:rPr lang="en-US" b="1" dirty="0"/>
              <a:t>G of u</a:t>
            </a:r>
            <a:r>
              <a:rPr lang="en-US" dirty="0"/>
              <a:t>. And again, as long as we have sampled properly, this discrete spectrum contains the same information as the continuous spectrum, capital F of u.</a:t>
            </a:r>
          </a:p>
          <a:p>
            <a:endParaRPr lang="en-US" dirty="0"/>
          </a:p>
          <a:p>
            <a:r>
              <a:rPr lang="en-US" dirty="0"/>
              <a:t>The key point is that the Fourier transform is an invertible process. That means moving from f of t to capital F of u, or from g of t to capital G of u, can be done in either direction without losing information — as long as the sampling theorem is respected.</a:t>
            </a:r>
          </a:p>
          <a:p>
            <a:endParaRPr lang="en-US" dirty="0"/>
          </a:p>
          <a:p>
            <a:r>
              <a:rPr lang="en-US" dirty="0"/>
              <a:t>So whether we choose to work in the continuous domain or in the discrete domain, we can perform equivalent signal analysis. The difference is that in the real world, our computers are digital. That means we do everything in the discrete domain — but thanks to the theory, we can be confident that our results match what we would get in the continuous world.</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15</a:t>
            </a:fld>
            <a:endParaRPr lang="en-US"/>
          </a:p>
        </p:txBody>
      </p:sp>
    </p:spTree>
    <p:extLst>
      <p:ext uri="{BB962C8B-B14F-4D97-AF65-F5344CB8AC3E}">
        <p14:creationId xmlns:p14="http://schemas.microsoft.com/office/powerpoint/2010/main" val="31810535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now bring everything together in one big picture, but with a bit more detail.</a:t>
            </a:r>
          </a:p>
          <a:p>
            <a:endParaRPr lang="en-US" dirty="0"/>
          </a:p>
          <a:p>
            <a:r>
              <a:rPr lang="en-US" dirty="0"/>
              <a:t>We start with a continuous function, </a:t>
            </a:r>
            <a:r>
              <a:rPr lang="en-US" b="1" dirty="0"/>
              <a:t>f of t</a:t>
            </a:r>
            <a:r>
              <a:rPr lang="en-US" dirty="0"/>
              <a:t>, and its continuous Fourier spectrum, capital </a:t>
            </a:r>
            <a:r>
              <a:rPr lang="en-US" b="1" dirty="0"/>
              <a:t>F of u</a:t>
            </a:r>
            <a:r>
              <a:rPr lang="en-US" dirty="0"/>
              <a:t>. Our goal is to sample both the time domain and the frequency domain in a way that makes sense for digital processing.</a:t>
            </a:r>
          </a:p>
          <a:p>
            <a:endParaRPr lang="en-US" dirty="0"/>
          </a:p>
          <a:p>
            <a:r>
              <a:rPr lang="en-US" dirty="0"/>
              <a:t>First, let’s ask: how many samples will we have in the time domain?</a:t>
            </a:r>
          </a:p>
          <a:p>
            <a:r>
              <a:rPr lang="en-US" dirty="0"/>
              <a:t>This depends on two things:</a:t>
            </a:r>
          </a:p>
          <a:p>
            <a:r>
              <a:rPr lang="en-US" b="1" dirty="0"/>
              <a:t>The sampling interval in time</a:t>
            </a:r>
            <a:r>
              <a:rPr lang="en-US" dirty="0"/>
              <a:t>, delta-t. This is equal to one over capital P, where capital P is the spacing in the frequency domain. The smaller the delta-t, the more data points we collect.</a:t>
            </a:r>
          </a:p>
          <a:p>
            <a:r>
              <a:rPr lang="en-US" b="1" dirty="0"/>
              <a:t>The total duration of the signal</a:t>
            </a:r>
            <a:r>
              <a:rPr lang="en-US" dirty="0"/>
              <a:t>, capital T. The longer we record, the more samples we have.</a:t>
            </a:r>
          </a:p>
          <a:p>
            <a:r>
              <a:rPr lang="en-US" dirty="0"/>
              <a:t>The total number of samples in the time domain — call it </a:t>
            </a:r>
            <a:r>
              <a:rPr lang="en-US" b="1" dirty="0"/>
              <a:t>N</a:t>
            </a:r>
            <a:r>
              <a:rPr lang="en-US" dirty="0"/>
              <a:t> — is simply the total duration T divided by delta-t. Since delta-t is one over P.</a:t>
            </a:r>
          </a:p>
          <a:p>
            <a:endParaRPr lang="en-US" dirty="0"/>
          </a:p>
          <a:p>
            <a:r>
              <a:rPr lang="en-US" dirty="0"/>
              <a:t>We can write:</a:t>
            </a:r>
            <a:br>
              <a:rPr lang="en-US" dirty="0"/>
            </a:br>
            <a:r>
              <a:rPr lang="en-US" b="1" dirty="0"/>
              <a:t>N equals T multiplied by P</a:t>
            </a:r>
            <a:r>
              <a:rPr lang="en-US" dirty="0"/>
              <a:t>.</a:t>
            </a:r>
          </a:p>
          <a:p>
            <a:r>
              <a:rPr lang="en-US" dirty="0"/>
              <a:t>Now let’s switch to the frequency domain.</a:t>
            </a:r>
          </a:p>
          <a:p>
            <a:r>
              <a:rPr lang="en-US" dirty="0"/>
              <a:t>Here, the total span of one period in frequency is capital P. The sampling interval in frequency, delta-u, is equal to one over capital T. So the total number of samples in frequency over one period — call it </a:t>
            </a:r>
            <a:r>
              <a:rPr lang="en-US" b="1" dirty="0"/>
              <a:t>M</a:t>
            </a:r>
            <a:r>
              <a:rPr lang="en-US" dirty="0"/>
              <a:t> — is the total span P divided by delta-u. That’s again </a:t>
            </a:r>
            <a:r>
              <a:rPr lang="en-US" b="1" dirty="0"/>
              <a:t>P multiplied by T</a:t>
            </a:r>
            <a:r>
              <a:rPr lang="en-US" dirty="0"/>
              <a:t>.</a:t>
            </a:r>
          </a:p>
          <a:p>
            <a:r>
              <a:rPr lang="en-US" dirty="0"/>
              <a:t>This symmetry is important:</a:t>
            </a:r>
            <a:br>
              <a:rPr lang="en-US" dirty="0"/>
            </a:br>
            <a:r>
              <a:rPr lang="en-US" dirty="0"/>
              <a:t>The number of data points in the time domain and the number of data points in the frequency domain are the same — both equal to </a:t>
            </a:r>
            <a:r>
              <a:rPr lang="en-US" b="1" dirty="0"/>
              <a:t>P multiplied by T</a:t>
            </a:r>
            <a:r>
              <a:rPr lang="en-US" dirty="0"/>
              <a:t>.</a:t>
            </a:r>
          </a:p>
          <a:p>
            <a:endParaRPr lang="en-US" dirty="0"/>
          </a:p>
          <a:p>
            <a:r>
              <a:rPr lang="en-US" dirty="0"/>
              <a:t>So whether we’re sampling in time or in frequency, the total number of samples is determined by the product of the total span in one domain and the sampling density in the other.</a:t>
            </a:r>
          </a:p>
          <a:p>
            <a:endParaRPr lang="en-US" dirty="0"/>
          </a:p>
          <a:p>
            <a:r>
              <a:rPr lang="en-US" dirty="0"/>
              <a:t>This is the balanced relationship that underlies the discrete Fourier transform, and it’s why we can move between time and frequency representations so efficiently in digital signal processing.</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16</a:t>
            </a:fld>
            <a:endParaRPr lang="en-US"/>
          </a:p>
        </p:txBody>
      </p:sp>
    </p:spTree>
    <p:extLst>
      <p:ext uri="{BB962C8B-B14F-4D97-AF65-F5344CB8AC3E}">
        <p14:creationId xmlns:p14="http://schemas.microsoft.com/office/powerpoint/2010/main" val="19143857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let’s highlight the key variables and the important relationship between them.</a:t>
            </a:r>
          </a:p>
          <a:p>
            <a:endParaRPr lang="en-US" dirty="0"/>
          </a:p>
          <a:p>
            <a:r>
              <a:rPr lang="en-US" dirty="0"/>
              <a:t>In the time domain, the total number of samples is </a:t>
            </a:r>
            <a:r>
              <a:rPr lang="en-US" b="1" dirty="0"/>
              <a:t>T times P</a:t>
            </a:r>
            <a:r>
              <a:rPr lang="en-US" dirty="0"/>
              <a:t>. Here, capital T is the total duration of the signal, and capital P is the spacing in the frequency domain. So we have </a:t>
            </a:r>
            <a:r>
              <a:rPr lang="en-US" b="1" dirty="0"/>
              <a:t>N equal to T multiplied by P</a:t>
            </a:r>
            <a:r>
              <a:rPr lang="en-US" dirty="0"/>
              <a:t>.</a:t>
            </a:r>
          </a:p>
          <a:p>
            <a:r>
              <a:rPr lang="en-US" dirty="0"/>
              <a:t>In the frequency domain, we have the exact same number of samples, also </a:t>
            </a:r>
            <a:r>
              <a:rPr lang="en-US" b="1" dirty="0"/>
              <a:t>T multiplied by P</a:t>
            </a:r>
            <a:r>
              <a:rPr lang="en-US" dirty="0"/>
              <a:t>. We call this number </a:t>
            </a:r>
            <a:r>
              <a:rPr lang="en-US" b="1" dirty="0"/>
              <a:t>M</a:t>
            </a:r>
            <a:r>
              <a:rPr lang="en-US" dirty="0"/>
              <a:t>, and here P is the total span of one period in frequency, while T controls the sampling density in frequency.</a:t>
            </a:r>
          </a:p>
          <a:p>
            <a:endParaRPr lang="en-US" dirty="0"/>
          </a:p>
          <a:p>
            <a:r>
              <a:rPr lang="en-US" dirty="0"/>
              <a:t>If we take the reciprocal of N, we get a very useful relationship:</a:t>
            </a:r>
            <a:br>
              <a:rPr lang="en-US" dirty="0"/>
            </a:br>
            <a:r>
              <a:rPr lang="en-US" b="1" dirty="0"/>
              <a:t>1 over N equals delta-t times delta-u</a:t>
            </a:r>
            <a:r>
              <a:rPr lang="en-US" dirty="0"/>
              <a:t>,</a:t>
            </a:r>
            <a:br>
              <a:rPr lang="en-US" dirty="0"/>
            </a:br>
            <a:r>
              <a:rPr lang="en-US" dirty="0"/>
              <a:t>where delta-t is the sampling step size in time, and delta-u is the sampling step size in frequency.</a:t>
            </a:r>
          </a:p>
          <a:p>
            <a:r>
              <a:rPr lang="en-US" dirty="0"/>
              <a:t>This is an expression of the duality between time and frequency. If we fix the total number of samples N, making delta-t smaller — meaning we sample more finely in time — will make delta-u larger, meaning the frequency samples are spaced farther apart. And the reverse is also true.</a:t>
            </a:r>
          </a:p>
          <a:p>
            <a:endParaRPr lang="en-US" dirty="0"/>
          </a:p>
          <a:p>
            <a:r>
              <a:rPr lang="en-US" dirty="0"/>
              <a:t>In simple terms: if you zoom in more on one domain, you automatically zoom out in the other. This balance is built into the mathematics of the Fourier transform and is something we’ll use later when we look at applications.</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17</a:t>
            </a:fld>
            <a:endParaRPr lang="en-US"/>
          </a:p>
        </p:txBody>
      </p:sp>
    </p:spTree>
    <p:extLst>
      <p:ext uri="{BB962C8B-B14F-4D97-AF65-F5344CB8AC3E}">
        <p14:creationId xmlns:p14="http://schemas.microsoft.com/office/powerpoint/2010/main" val="5565232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we’re ready to move from the continuous Fourier transform to the discrete Fourier transform.</a:t>
            </a:r>
          </a:p>
          <a:p>
            <a:endParaRPr lang="en-US" dirty="0"/>
          </a:p>
          <a:p>
            <a:r>
              <a:rPr lang="en-US" dirty="0"/>
              <a:t>When we sample a continuous signal, it stops being a smooth curve that exists at every moment in time. Instead, it becomes the product of the original signal and a series of equally spaced spikes — what we call delta functions. These spikes occur at time intervals of delta-t, which means each spike is separated by one divided by capital P in time. In other words, we only keep the signal’s value at these regular time points, and everywhere else is zero.</a:t>
            </a:r>
          </a:p>
          <a:p>
            <a:endParaRPr lang="en-US" dirty="0"/>
          </a:p>
          <a:p>
            <a:r>
              <a:rPr lang="en-US" dirty="0"/>
              <a:t>We can describe this mathematically as a sum of delta spikes. Each spike occurs at a time equal to n divided by P, where n goes from zero up to N minus one. The height of each spike is simply the value of the original signal at that time. You can imagine it as a row of vertical lines, each carrying the amplitude of the signal at its sampling point.</a:t>
            </a:r>
          </a:p>
          <a:p>
            <a:r>
              <a:rPr lang="en-US" dirty="0"/>
              <a:t>This gives us the discrete version of the signal in the time domain. Even though it’s just a set of separate values, it still represents a function of time, so we can take its Fourier transform.</a:t>
            </a:r>
          </a:p>
          <a:p>
            <a:endParaRPr lang="en-US" dirty="0"/>
          </a:p>
          <a:p>
            <a:r>
              <a:rPr lang="en-US" dirty="0"/>
              <a:t>When we do that, the Fourier transform turns into a sum over all the sampled points. The oscillating factor — what we call the kernel — still has the form “e to the power of minus j times two-pi times the frequency u times n divided by P,” but now we only evaluate it at those sampled time points.</a:t>
            </a:r>
          </a:p>
          <a:p>
            <a:endParaRPr lang="en-US" dirty="0"/>
          </a:p>
          <a:p>
            <a:r>
              <a:rPr lang="en-US" dirty="0"/>
              <a:t>The outcome is what we call the direct Fourier transform of the sampled signal. This is how we connect the continuous theory to the practical, digital form of the discrete Fourier transform that we use in computation.</a:t>
            </a:r>
          </a:p>
        </p:txBody>
      </p:sp>
      <p:sp>
        <p:nvSpPr>
          <p:cNvPr id="4" name="Slide Number Placeholder 3"/>
          <p:cNvSpPr>
            <a:spLocks noGrp="1"/>
          </p:cNvSpPr>
          <p:nvPr>
            <p:ph type="sldNum" sz="quarter" idx="5"/>
          </p:nvPr>
        </p:nvSpPr>
        <p:spPr/>
        <p:txBody>
          <a:bodyPr/>
          <a:lstStyle/>
          <a:p>
            <a:fld id="{9F30534E-9FB8-46AE-8E3B-5675B268AE6A}" type="slidenum">
              <a:rPr lang="en-US" smtClean="0"/>
              <a:pPr/>
              <a:t>18</a:t>
            </a:fld>
            <a:endParaRPr lang="en-US"/>
          </a:p>
        </p:txBody>
      </p:sp>
    </p:spTree>
    <p:extLst>
      <p:ext uri="{BB962C8B-B14F-4D97-AF65-F5344CB8AC3E}">
        <p14:creationId xmlns:p14="http://schemas.microsoft.com/office/powerpoint/2010/main" val="2173998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discrete Fourier transform we just discussed is actually a periodic function. Let’s understand why.</a:t>
            </a:r>
          </a:p>
          <a:p>
            <a:endParaRPr lang="en-US" dirty="0"/>
          </a:p>
          <a:p>
            <a:r>
              <a:rPr lang="en-US" dirty="0"/>
              <a:t>Think back to the Fourier series. In the time domain, a Fourier series is built from sinusoidal components — each one a sine or cosine wave. And by definition, each of these components is periodic. Whether we have just one frequency or many, the result will still be periodic.</a:t>
            </a:r>
          </a:p>
          <a:p>
            <a:endParaRPr lang="en-US" dirty="0"/>
          </a:p>
          <a:p>
            <a:r>
              <a:rPr lang="en-US" dirty="0"/>
              <a:t>Now, in this expression at the top, the left-hand side shows the Fourier series in the time domain, with terms involving </a:t>
            </a:r>
            <a:r>
              <a:rPr lang="en-US" b="1" dirty="0"/>
              <a:t>t over capital T</a:t>
            </a:r>
            <a:r>
              <a:rPr lang="en-US" dirty="0"/>
              <a:t>. On the right-hand side, we have an almost identical formula — but here the variable </a:t>
            </a:r>
            <a:r>
              <a:rPr lang="en-US" b="1" dirty="0"/>
              <a:t>t</a:t>
            </a:r>
            <a:r>
              <a:rPr lang="en-US" dirty="0"/>
              <a:t> has been replaced by </a:t>
            </a:r>
            <a:r>
              <a:rPr lang="en-US" b="1" dirty="0"/>
              <a:t>u</a:t>
            </a:r>
            <a:r>
              <a:rPr lang="en-US" dirty="0"/>
              <a:t>, and </a:t>
            </a:r>
            <a:r>
              <a:rPr lang="en-US" b="1" dirty="0"/>
              <a:t>T</a:t>
            </a:r>
            <a:r>
              <a:rPr lang="en-US" dirty="0"/>
              <a:t> has been replaced by </a:t>
            </a:r>
            <a:r>
              <a:rPr lang="en-US" b="1" dirty="0"/>
              <a:t>P</a:t>
            </a:r>
            <a:r>
              <a:rPr lang="en-US" dirty="0"/>
              <a:t>. This tells us that in the frequency domain, we also get a periodic function.</a:t>
            </a:r>
          </a:p>
          <a:p>
            <a:endParaRPr lang="en-US" dirty="0"/>
          </a:p>
          <a:p>
            <a:r>
              <a:rPr lang="en-US" dirty="0"/>
              <a:t>The periodicity comes directly from the fact that the Fourier transform of a sampled signal is made up of these repeating sinusoidal components. Each one repeats over and over, giving us a continuous function in the frequency domain that is also periodic.</a:t>
            </a:r>
          </a:p>
          <a:p>
            <a:r>
              <a:rPr lang="en-US" dirty="0"/>
              <a:t>This is exactly what we saw in the big picture earlier: when we sample in one domain, the Fourier transform becomes periodic in the other domain.</a:t>
            </a:r>
          </a:p>
          <a:p>
            <a:endParaRPr lang="en-US" dirty="0"/>
          </a:p>
        </p:txBody>
      </p:sp>
      <p:sp>
        <p:nvSpPr>
          <p:cNvPr id="4" name="Slide Number Placeholder 3"/>
          <p:cNvSpPr>
            <a:spLocks noGrp="1"/>
          </p:cNvSpPr>
          <p:nvPr>
            <p:ph type="sldNum" sz="quarter" idx="10"/>
          </p:nvPr>
        </p:nvSpPr>
        <p:spPr/>
        <p:txBody>
          <a:bodyPr/>
          <a:lstStyle/>
          <a:p>
            <a:fld id="{9F30534E-9FB8-46AE-8E3B-5675B268AE6A}" type="slidenum">
              <a:rPr lang="en-US" smtClean="0"/>
              <a:pPr/>
              <a:t>19</a:t>
            </a:fld>
            <a:endParaRPr lang="en-US"/>
          </a:p>
        </p:txBody>
      </p:sp>
    </p:spTree>
    <p:extLst>
      <p:ext uri="{BB962C8B-B14F-4D97-AF65-F5344CB8AC3E}">
        <p14:creationId xmlns:p14="http://schemas.microsoft.com/office/powerpoint/2010/main" val="12778858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Up to now, we’ve mostly talked about sampling in the time domain. But we can also sample directly in the Fourier domain.</a:t>
            </a:r>
          </a:p>
          <a:p>
            <a:endParaRPr lang="en-US" dirty="0"/>
          </a:p>
          <a:p>
            <a:r>
              <a:rPr lang="en-US" dirty="0"/>
              <a:t>Let’s start with the Fourier transform of our signal, </a:t>
            </a:r>
            <a:r>
              <a:rPr lang="en-US" b="1" dirty="0"/>
              <a:t>f-hat of u</a:t>
            </a:r>
            <a:r>
              <a:rPr lang="en-US" dirty="0"/>
              <a:t>. If we multiply this spectrum by a train of delta functions in the frequency domain — just like we did earlier in the time domain — we get a sampled version of the spectrum. That means we only keep its values at certain frequency points, which we can label as </a:t>
            </a:r>
            <a:r>
              <a:rPr lang="en-US" b="1" dirty="0"/>
              <a:t>u-zero, u-one, all the way up to u (N minus 1)</a:t>
            </a:r>
            <a:r>
              <a:rPr lang="en-US" dirty="0"/>
              <a:t>.</a:t>
            </a:r>
          </a:p>
          <a:p>
            <a:r>
              <a:rPr lang="en-US" dirty="0"/>
              <a:t>Here, the spacing between these frequency samples is </a:t>
            </a:r>
            <a:r>
              <a:rPr lang="en-US" b="1" dirty="0"/>
              <a:t>1 over capital T</a:t>
            </a:r>
            <a:r>
              <a:rPr lang="en-US" dirty="0"/>
              <a:t>, where capital T is the period in the time domain. The index m runs from zero to N minus one, just like it did in the time-domain case. And the total number of samples in the frequency domain is the same as in the time domain — both equal to capital N.</a:t>
            </a:r>
          </a:p>
          <a:p>
            <a:endParaRPr lang="en-US" dirty="0"/>
          </a:p>
          <a:p>
            <a:r>
              <a:rPr lang="en-US" dirty="0"/>
              <a:t>Mathematically, we can write the sampled spectrum at position </a:t>
            </a:r>
            <a:r>
              <a:rPr lang="en-US" b="1" dirty="0"/>
              <a:t>u m</a:t>
            </a:r>
            <a:r>
              <a:rPr lang="en-US" dirty="0"/>
              <a:t> as a sum over all the time-domain samples </a:t>
            </a:r>
            <a:r>
              <a:rPr lang="en-US" b="1" dirty="0"/>
              <a:t>f of n over P</a:t>
            </a:r>
            <a:r>
              <a:rPr lang="en-US" dirty="0"/>
              <a:t>, multiplied by a complex exponential. The exponent has a nice symmetry: it’s </a:t>
            </a:r>
            <a:r>
              <a:rPr lang="en-US" b="1" dirty="0"/>
              <a:t>e to the power of minus j, 2 pi, n times m, divided by capital N</a:t>
            </a:r>
            <a:r>
              <a:rPr lang="en-US" dirty="0"/>
              <a:t>.</a:t>
            </a:r>
          </a:p>
          <a:p>
            <a:endParaRPr lang="en-US" dirty="0"/>
          </a:p>
          <a:p>
            <a:r>
              <a:rPr lang="en-US" dirty="0"/>
              <a:t>This symmetry is important — it shows that sampling in the Fourier domain has exactly the same mathematical structure as sampling in the time domain. The formulas look almost identical, just with the roles of time and frequency swapped.</a:t>
            </a:r>
          </a:p>
          <a:p>
            <a:endParaRPr lang="en-US" dirty="0"/>
          </a:p>
          <a:p>
            <a:r>
              <a:rPr lang="en-US" dirty="0"/>
              <a:t>This parallel is one of the reasons the discrete Fourier transform is so elegant — it’s the same process, whether you’re thinking in terms of time samples or frequency samples.</a:t>
            </a:r>
          </a:p>
          <a:p>
            <a:endParaRPr lang="en-US" dirty="0"/>
          </a:p>
        </p:txBody>
      </p:sp>
      <p:sp>
        <p:nvSpPr>
          <p:cNvPr id="4" name="Slide Number Placeholder 3"/>
          <p:cNvSpPr>
            <a:spLocks noGrp="1"/>
          </p:cNvSpPr>
          <p:nvPr>
            <p:ph type="sldNum" sz="quarter" idx="10"/>
          </p:nvPr>
        </p:nvSpPr>
        <p:spPr/>
        <p:txBody>
          <a:bodyPr/>
          <a:lstStyle/>
          <a:p>
            <a:fld id="{9F30534E-9FB8-46AE-8E3B-5675B268AE6A}" type="slidenum">
              <a:rPr lang="en-US" smtClean="0"/>
              <a:pPr/>
              <a:t>20</a:t>
            </a:fld>
            <a:endParaRPr lang="en-US"/>
          </a:p>
        </p:txBody>
      </p:sp>
    </p:spTree>
    <p:extLst>
      <p:ext uri="{BB962C8B-B14F-4D97-AF65-F5344CB8AC3E}">
        <p14:creationId xmlns:p14="http://schemas.microsoft.com/office/powerpoint/2010/main" val="40962243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we can state the </a:t>
            </a:r>
            <a:r>
              <a:rPr lang="en-US" b="1" dirty="0"/>
              <a:t>discrete Fourier transform</a:t>
            </a:r>
            <a:r>
              <a:rPr lang="en-US" dirty="0"/>
              <a:t> </a:t>
            </a:r>
          </a:p>
          <a:p>
            <a:endParaRPr lang="en-US" dirty="0"/>
          </a:p>
          <a:p>
            <a:r>
              <a:rPr lang="en-US" dirty="0"/>
              <a:t>We’ve sampled the signal at times</a:t>
            </a:r>
            <a:br>
              <a:rPr lang="en-US" dirty="0"/>
            </a:br>
            <a:r>
              <a:rPr lang="en-US" b="1" dirty="0"/>
              <a:t>t n equals to n divided by capital P</a:t>
            </a:r>
            <a:r>
              <a:rPr lang="en-US" dirty="0"/>
              <a:t>, for </a:t>
            </a:r>
            <a:r>
              <a:rPr lang="en-US" b="1" dirty="0"/>
              <a:t>n equals to 0, 1, …, N minus 1</a:t>
            </a:r>
            <a:r>
              <a:rPr lang="en-US" dirty="0"/>
              <a:t>.</a:t>
            </a:r>
            <a:br>
              <a:rPr lang="en-US" dirty="0"/>
            </a:br>
            <a:r>
              <a:rPr lang="en-US" dirty="0"/>
              <a:t>We’ll read the spectrum at frequencies</a:t>
            </a:r>
            <a:br>
              <a:rPr lang="en-US" dirty="0"/>
            </a:br>
            <a:r>
              <a:rPr lang="en-US" b="1" dirty="0"/>
              <a:t>u m equals to m divided by capital T</a:t>
            </a:r>
            <a:r>
              <a:rPr lang="en-US" dirty="0"/>
              <a:t>, for </a:t>
            </a:r>
            <a:r>
              <a:rPr lang="en-US" b="1" dirty="0"/>
              <a:t>m equals to 0, 1, …, N minus 1</a:t>
            </a:r>
            <a:r>
              <a:rPr lang="en-US" dirty="0"/>
              <a:t>,</a:t>
            </a:r>
            <a:br>
              <a:rPr lang="en-US" dirty="0"/>
            </a:br>
            <a:r>
              <a:rPr lang="en-US" dirty="0"/>
              <a:t>with </a:t>
            </a:r>
            <a:r>
              <a:rPr lang="en-US" b="1" dirty="0"/>
              <a:t>N equals to T times P</a:t>
            </a:r>
            <a:r>
              <a:rPr lang="en-US" dirty="0"/>
              <a:t>.</a:t>
            </a:r>
          </a:p>
          <a:p>
            <a:endParaRPr lang="en-US" dirty="0"/>
          </a:p>
          <a:p>
            <a:r>
              <a:rPr lang="en-US" dirty="0"/>
              <a:t>The DFT value at </a:t>
            </a:r>
            <a:r>
              <a:rPr lang="en-US" b="1" dirty="0"/>
              <a:t>u m</a:t>
            </a:r>
            <a:r>
              <a:rPr lang="en-US" dirty="0"/>
              <a:t> is</a:t>
            </a:r>
          </a:p>
          <a:p>
            <a:r>
              <a:rPr lang="en-US" dirty="0"/>
              <a:t>“sum from n equals zero to N minus one, f of n over P, into e to the power of minus j, two pi, m n over N.”</a:t>
            </a:r>
          </a:p>
          <a:p>
            <a:r>
              <a:rPr lang="en-US" dirty="0"/>
              <a:t>This is just an inner product with a complex sinusoid of frequency index </a:t>
            </a:r>
            <a:r>
              <a:rPr lang="en-US" b="1" dirty="0"/>
              <a:t>m</a:t>
            </a:r>
            <a:r>
              <a:rPr lang="en-US" dirty="0"/>
              <a:t>.</a:t>
            </a:r>
            <a:br>
              <a:rPr lang="en-US" dirty="0"/>
            </a:br>
            <a:r>
              <a:rPr lang="en-US" dirty="0"/>
              <a:t>Each output is complex: its magnitude tells us how much of that frequency is present, and its angle (the phase) tells us the shift.</a:t>
            </a:r>
          </a:p>
          <a:p>
            <a:endParaRPr lang="en-US" dirty="0"/>
          </a:p>
          <a:p>
            <a:r>
              <a:rPr lang="en-US" dirty="0"/>
              <a:t>A few quick anchors:</a:t>
            </a:r>
          </a:p>
          <a:p>
            <a:r>
              <a:rPr lang="en-US" b="1" dirty="0"/>
              <a:t>t n equals to n over P</a:t>
            </a:r>
            <a:r>
              <a:rPr lang="en-US" dirty="0"/>
              <a:t> are the time samples.</a:t>
            </a:r>
          </a:p>
          <a:p>
            <a:r>
              <a:rPr lang="en-US" b="1" dirty="0"/>
              <a:t>u m equals to m over T</a:t>
            </a:r>
            <a:r>
              <a:rPr lang="en-US" dirty="0"/>
              <a:t> are the frequency samples.</a:t>
            </a:r>
          </a:p>
          <a:p>
            <a:r>
              <a:rPr lang="en-US" dirty="0"/>
              <a:t>The exponential “e to the minus j two pi m n over N” is the rotating basis wave.</a:t>
            </a:r>
          </a:p>
          <a:p>
            <a:endParaRPr lang="en-US" dirty="0"/>
          </a:p>
          <a:p>
            <a:r>
              <a:rPr lang="en-US" dirty="0"/>
              <a:t>Next, we’ll write the </a:t>
            </a:r>
            <a:r>
              <a:rPr lang="en-US" b="1" dirty="0"/>
              <a:t>inverse DFT</a:t>
            </a:r>
            <a:r>
              <a:rPr lang="en-US" dirty="0"/>
              <a:t> and see why a factor of </a:t>
            </a:r>
            <a:r>
              <a:rPr lang="en-US" b="1" dirty="0"/>
              <a:t>one over N</a:t>
            </a:r>
            <a:r>
              <a:rPr lang="en-US" dirty="0"/>
              <a:t> naturally appears so we can reconstruct the time samples exactly.</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21</a:t>
            </a:fld>
            <a:endParaRPr lang="en-US"/>
          </a:p>
        </p:txBody>
      </p:sp>
    </p:spTree>
    <p:extLst>
      <p:ext uri="{BB962C8B-B14F-4D97-AF65-F5344CB8AC3E}">
        <p14:creationId xmlns:p14="http://schemas.microsoft.com/office/powerpoint/2010/main" val="12442268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Up to now, we’ve been writing our time samples as </a:t>
            </a:r>
            <a:r>
              <a:rPr lang="en-US" i="1" dirty="0"/>
              <a:t>t-zero, t-one, t-two</a:t>
            </a:r>
            <a:r>
              <a:rPr lang="en-US" dirty="0"/>
              <a:t>, and so on, and our frequency samples as </a:t>
            </a:r>
            <a:r>
              <a:rPr lang="en-US" i="1" dirty="0"/>
              <a:t>u-zero, u-one, u-two</a:t>
            </a:r>
            <a:r>
              <a:rPr lang="en-US" dirty="0"/>
              <a:t>, and so on. But when we work with sampled data, what really matters are the integer positions of these samples.</a:t>
            </a:r>
          </a:p>
          <a:p>
            <a:endParaRPr lang="en-US" dirty="0"/>
          </a:p>
          <a:p>
            <a:r>
              <a:rPr lang="en-US" dirty="0"/>
              <a:t>So, to make things simpler, we’ll label them using integers in square brackets. For example:</a:t>
            </a:r>
          </a:p>
          <a:p>
            <a:r>
              <a:rPr lang="en-US" i="1" dirty="0"/>
              <a:t>f of zero </a:t>
            </a:r>
            <a:r>
              <a:rPr lang="en-US" dirty="0"/>
              <a:t>means the value of the function at time sample t-zero.</a:t>
            </a:r>
          </a:p>
          <a:p>
            <a:r>
              <a:rPr lang="en-US" i="1" dirty="0"/>
              <a:t>f of one </a:t>
            </a:r>
            <a:r>
              <a:rPr lang="en-US" dirty="0"/>
              <a:t>means the value at time sample t-one.</a:t>
            </a:r>
          </a:p>
          <a:p>
            <a:r>
              <a:rPr lang="en-US" i="1" dirty="0"/>
              <a:t>f of N minus one </a:t>
            </a:r>
            <a:r>
              <a:rPr lang="en-US" dirty="0"/>
              <a:t>means the value at the last time sample, t N minus one.</a:t>
            </a:r>
          </a:p>
          <a:p>
            <a:r>
              <a:rPr lang="en-US" dirty="0"/>
              <a:t>We do the same in the frequency domain:</a:t>
            </a:r>
          </a:p>
          <a:p>
            <a:r>
              <a:rPr lang="en-US" i="1" dirty="0"/>
              <a:t>f-hat of zero </a:t>
            </a:r>
            <a:r>
              <a:rPr lang="en-US" dirty="0"/>
              <a:t>means the Fourier transform value at frequency sample u-zero.</a:t>
            </a:r>
          </a:p>
          <a:p>
            <a:r>
              <a:rPr lang="en-US" i="1" dirty="0"/>
              <a:t>f-hat of one </a:t>
            </a:r>
            <a:r>
              <a:rPr lang="en-US" dirty="0"/>
              <a:t>is at u-one.</a:t>
            </a:r>
          </a:p>
          <a:p>
            <a:r>
              <a:rPr lang="en-US" dirty="0"/>
              <a:t>And so on, up to </a:t>
            </a:r>
            <a:r>
              <a:rPr lang="en-US" i="1" dirty="0"/>
              <a:t>f-hat of N minus one.</a:t>
            </a:r>
            <a:endParaRPr lang="en-US" dirty="0"/>
          </a:p>
          <a:p>
            <a:endParaRPr lang="en-US" dirty="0"/>
          </a:p>
          <a:p>
            <a:r>
              <a:rPr lang="en-US" dirty="0"/>
              <a:t>With this notation, the discrete Fourier transform reads like this:</a:t>
            </a:r>
          </a:p>
          <a:p>
            <a:r>
              <a:rPr lang="en-US" i="1" dirty="0"/>
              <a:t>f-hat of m  equals the sum from n equals zero to N minus one of f of n, multiplied by e to the power of minus j, two pi, m times n divided by N.</a:t>
            </a:r>
            <a:endParaRPr lang="en-US" dirty="0"/>
          </a:p>
          <a:p>
            <a:r>
              <a:rPr lang="en-US" dirty="0"/>
              <a:t>Here, </a:t>
            </a:r>
            <a:r>
              <a:rPr lang="en-US" b="1" dirty="0"/>
              <a:t>n</a:t>
            </a:r>
            <a:r>
              <a:rPr lang="en-US" dirty="0"/>
              <a:t> is the index for time-domain samples, and </a:t>
            </a:r>
            <a:r>
              <a:rPr lang="en-US" b="1" dirty="0"/>
              <a:t>m</a:t>
            </a:r>
            <a:r>
              <a:rPr lang="en-US" dirty="0"/>
              <a:t> is the index for frequency components.</a:t>
            </a:r>
          </a:p>
          <a:p>
            <a:r>
              <a:rPr lang="en-US" dirty="0"/>
              <a:t>Each term is just the sample value </a:t>
            </a:r>
            <a:r>
              <a:rPr lang="en-US" i="1" dirty="0"/>
              <a:t>f of n </a:t>
            </a:r>
            <a:r>
              <a:rPr lang="en-US" dirty="0"/>
              <a:t> multiplied by a sinusoidal basis wave at frequency index m. Adding all those terms together gives the strength of that frequency in the signal — that’s our Fourier coefficient.</a:t>
            </a:r>
          </a:p>
          <a:p>
            <a:endParaRPr lang="en-US" dirty="0"/>
          </a:p>
          <a:p>
            <a:r>
              <a:rPr lang="en-US" dirty="0"/>
              <a:t>We can also see this as a matrix multiplication:</a:t>
            </a:r>
          </a:p>
          <a:p>
            <a:r>
              <a:rPr lang="en-US" dirty="0"/>
              <a:t>The time samples </a:t>
            </a:r>
            <a:r>
              <a:rPr lang="en-US" i="1" dirty="0"/>
              <a:t>f of zero, f of one, …, f of N minus one</a:t>
            </a:r>
            <a:r>
              <a:rPr lang="en-US" dirty="0"/>
              <a:t> form a column vector.</a:t>
            </a:r>
          </a:p>
          <a:p>
            <a:r>
              <a:rPr lang="en-US" dirty="0"/>
              <a:t>They are multiplied by an N-by-N matrix whose entries are these complex exponentials </a:t>
            </a:r>
            <a:r>
              <a:rPr lang="en-US" i="1" dirty="0"/>
              <a:t>e to the power of minus j, two pi, m times n divided by N</a:t>
            </a:r>
            <a:r>
              <a:rPr lang="en-US" dirty="0"/>
              <a:t>.</a:t>
            </a:r>
          </a:p>
          <a:p>
            <a:r>
              <a:rPr lang="en-US" dirty="0"/>
              <a:t>The result is another vector containing all the frequency samples </a:t>
            </a:r>
            <a:r>
              <a:rPr lang="en-US" i="1" dirty="0"/>
              <a:t>f-hat of zero, f-hat of one, …, f-hat of N minus one</a:t>
            </a:r>
            <a:r>
              <a:rPr lang="en-US" dirty="0"/>
              <a:t>.</a:t>
            </a:r>
          </a:p>
          <a:p>
            <a:r>
              <a:rPr lang="en-US" dirty="0"/>
              <a:t>For the first frequency index, m equals zero, every exponential equals one, so the first Fourier coefficient is simply the sum of all the time samples.</a:t>
            </a:r>
          </a:p>
          <a:p>
            <a:endParaRPr lang="en-US" dirty="0"/>
          </a:p>
          <a:p>
            <a:r>
              <a:rPr lang="en-US" dirty="0"/>
              <a:t>Later, we’ll talk about scaling factors to account for the sampling step size, but for now this integer-index form keeps the DFT definition clean and easy to use.</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22</a:t>
            </a:fld>
            <a:endParaRPr lang="en-US"/>
          </a:p>
        </p:txBody>
      </p:sp>
    </p:spTree>
    <p:extLst>
      <p:ext uri="{BB962C8B-B14F-4D97-AF65-F5344CB8AC3E}">
        <p14:creationId xmlns:p14="http://schemas.microsoft.com/office/powerpoint/2010/main" val="11626081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Once we have all the discrete Fourier coefficients — that is, </a:t>
            </a:r>
            <a:r>
              <a:rPr lang="en-US" i="1" dirty="0"/>
              <a:t>f-hat of m </a:t>
            </a:r>
            <a:r>
              <a:rPr lang="en-US" dirty="0"/>
              <a:t> for m equals zero up to N minus one — we can recover the original sampled signal values </a:t>
            </a:r>
            <a:r>
              <a:rPr lang="en-US" i="1" dirty="0"/>
              <a:t>f of n </a:t>
            </a:r>
            <a:r>
              <a:rPr lang="en-US" dirty="0"/>
              <a:t> by using the inverse discrete Fourier transform.</a:t>
            </a:r>
          </a:p>
          <a:p>
            <a:endParaRPr lang="en-US" dirty="0"/>
          </a:p>
          <a:p>
            <a:r>
              <a:rPr lang="en-US" dirty="0"/>
              <a:t>In words, the formula says:</a:t>
            </a:r>
          </a:p>
          <a:p>
            <a:r>
              <a:rPr lang="en-US" i="1" dirty="0"/>
              <a:t>f of n  equals one over capital N, times the sum from m equals zero to N minus one of f-hat of m, multiplied by e to the power of plus j, two pi, m times n divided by N.</a:t>
            </a:r>
            <a:endParaRPr lang="en-US" dirty="0"/>
          </a:p>
          <a:p>
            <a:r>
              <a:rPr lang="en-US" dirty="0"/>
              <a:t>Here, </a:t>
            </a:r>
            <a:r>
              <a:rPr lang="en-US" b="1" dirty="0"/>
              <a:t>n</a:t>
            </a:r>
            <a:r>
              <a:rPr lang="en-US" dirty="0"/>
              <a:t> is the time-sample index, and </a:t>
            </a:r>
            <a:r>
              <a:rPr lang="en-US" b="1" dirty="0"/>
              <a:t>m</a:t>
            </a:r>
            <a:r>
              <a:rPr lang="en-US" dirty="0"/>
              <a:t> is the frequency-sample index.</a:t>
            </a:r>
          </a:p>
          <a:p>
            <a:r>
              <a:rPr lang="en-US" dirty="0"/>
              <a:t>The plus sign in the exponent is important — it’s the opposite of the minus sign we used in the forward discrete Fourier transform. This sign change is what allows us to reverse the process.</a:t>
            </a:r>
          </a:p>
          <a:p>
            <a:endParaRPr lang="en-US" dirty="0"/>
          </a:p>
          <a:p>
            <a:r>
              <a:rPr lang="en-US" dirty="0"/>
              <a:t>The factor of </a:t>
            </a:r>
            <a:r>
              <a:rPr lang="en-US" i="1" dirty="0"/>
              <a:t>one over capital N</a:t>
            </a:r>
            <a:r>
              <a:rPr lang="en-US" dirty="0"/>
              <a:t> also plays a key role. When we computed </a:t>
            </a:r>
            <a:r>
              <a:rPr lang="en-US" i="1" dirty="0"/>
              <a:t>f-hat of zero</a:t>
            </a:r>
            <a:r>
              <a:rPr lang="en-US" dirty="0"/>
              <a:t> in the forward transform, we were summing all the time samples, but we didn’t average them. This factor in the inverse transform takes care of that averaging, so we get the correct values back.</a:t>
            </a:r>
          </a:p>
          <a:p>
            <a:r>
              <a:rPr lang="en-US" dirty="0"/>
              <a:t>Some people prefer a symmetric version: instead of putting all the scaling in the inverse transform, they split it evenly — using one over the square root of N in both the forward and inverse formulas. This is purely a matter of definition; the math works either way.</a:t>
            </a:r>
          </a:p>
          <a:p>
            <a:endParaRPr lang="en-US" dirty="0"/>
          </a:p>
          <a:p>
            <a:r>
              <a:rPr lang="en-US" dirty="0"/>
              <a:t>You can also see this in matrix form:</a:t>
            </a:r>
          </a:p>
          <a:p>
            <a:r>
              <a:rPr lang="en-US" dirty="0"/>
              <a:t>In the forward transform, we multiply the time-sample vector by the Fourier matrix of complex exponentials.</a:t>
            </a:r>
          </a:p>
          <a:p>
            <a:r>
              <a:rPr lang="en-US" dirty="0"/>
              <a:t>In the inverse transform, we multiply the frequency-sample vector by the inverse of that matrix, which has the plus sign in the exponent and the one over N factor out front.</a:t>
            </a:r>
          </a:p>
          <a:p>
            <a:endParaRPr lang="en-US" dirty="0"/>
          </a:p>
          <a:p>
            <a:r>
              <a:rPr lang="en-US" dirty="0"/>
              <a:t>With these two formulas — forward and inverse — we can move back and forth between a discretized time-domain signal and its discretized frequency-domain spectrum, with no information loss, as long as the sampling theorem was satisfied in the first place.</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23</a:t>
            </a:fld>
            <a:endParaRPr lang="en-US"/>
          </a:p>
        </p:txBody>
      </p:sp>
    </p:spTree>
    <p:extLst>
      <p:ext uri="{BB962C8B-B14F-4D97-AF65-F5344CB8AC3E}">
        <p14:creationId xmlns:p14="http://schemas.microsoft.com/office/powerpoint/2010/main" val="20410899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talk about why we have this factor of </a:t>
            </a:r>
            <a:r>
              <a:rPr lang="en-US" b="1" dirty="0"/>
              <a:t>one over capital N</a:t>
            </a:r>
            <a:r>
              <a:rPr lang="en-US" dirty="0"/>
              <a:t> in the inverse discrete Fourier transform.</a:t>
            </a:r>
          </a:p>
          <a:p>
            <a:r>
              <a:rPr lang="en-US" dirty="0"/>
              <a:t>Earlier, I mentioned that </a:t>
            </a:r>
            <a:r>
              <a:rPr lang="en-US" b="1" dirty="0"/>
              <a:t>1 over N</a:t>
            </a:r>
            <a:r>
              <a:rPr lang="en-US" dirty="0"/>
              <a:t> is equal to delta-t times delta-u. Here, delta-t is the sampling interval in the time domain, and delta-u is the sampling interval in the frequency domain.</a:t>
            </a:r>
          </a:p>
          <a:p>
            <a:endParaRPr lang="en-US" dirty="0"/>
          </a:p>
          <a:p>
            <a:r>
              <a:rPr lang="en-US" dirty="0"/>
              <a:t>Think of it this way: when we move from the continuous Fourier transform to the discrete version, we’re replacing continuous integrals with sums. In the time domain, we can picture our original continuous function as being approximated by a collection of rectangles — each rectangle has a height equal to the sample value </a:t>
            </a:r>
            <a:r>
              <a:rPr lang="en-US" i="1" dirty="0"/>
              <a:t>f of n </a:t>
            </a:r>
            <a:r>
              <a:rPr lang="en-US" dirty="0"/>
              <a:t>, and a width of delta-t.</a:t>
            </a:r>
          </a:p>
          <a:p>
            <a:r>
              <a:rPr lang="en-US" dirty="0"/>
              <a:t>Likewise, in the frequency domain, the Fourier spectrum is also represented as a collection of rectangles — each one has a height equal to </a:t>
            </a:r>
            <a:r>
              <a:rPr lang="en-US" i="1" dirty="0"/>
              <a:t>f-hat of m </a:t>
            </a:r>
            <a:r>
              <a:rPr lang="en-US" dirty="0"/>
              <a:t> and a width of delta-u.</a:t>
            </a:r>
          </a:p>
          <a:p>
            <a:endParaRPr lang="en-US" dirty="0"/>
          </a:p>
          <a:p>
            <a:r>
              <a:rPr lang="en-US" dirty="0"/>
              <a:t>When we go from the spectrum back to the signal, we’re essentially adding up all of these little rectangular pieces. The factor of </a:t>
            </a:r>
            <a:r>
              <a:rPr lang="en-US" b="1" dirty="0"/>
              <a:t>delta-t times delta-u</a:t>
            </a:r>
            <a:r>
              <a:rPr lang="en-US" dirty="0"/>
              <a:t> captures the combined effect of this discretization in both domains. And since </a:t>
            </a:r>
            <a:r>
              <a:rPr lang="en-US" b="1" dirty="0"/>
              <a:t>1 over N</a:t>
            </a:r>
            <a:r>
              <a:rPr lang="en-US" dirty="0"/>
              <a:t> equals delta-t times delta-u, that’s why the factor appears in the inverse DFT.</a:t>
            </a:r>
          </a:p>
          <a:p>
            <a:r>
              <a:rPr lang="en-US" dirty="0"/>
              <a:t>This is the discrete equivalent of what happens in the continuous Fourier transform, where we also have a scaling factor in the inverse formula. The difference is that here, the scaling is tied directly to our sampling steps in both domains.</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24</a:t>
            </a:fld>
            <a:endParaRPr lang="en-US"/>
          </a:p>
        </p:txBody>
      </p:sp>
    </p:spTree>
    <p:extLst>
      <p:ext uri="{BB962C8B-B14F-4D97-AF65-F5344CB8AC3E}">
        <p14:creationId xmlns:p14="http://schemas.microsoft.com/office/powerpoint/2010/main" val="38802075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factor of 1 over capital N comes directly from how the continuous Fourier transform becomes a discrete one when we sample.</a:t>
            </a:r>
          </a:p>
          <a:p>
            <a:endParaRPr lang="en-US" dirty="0"/>
          </a:p>
          <a:p>
            <a:r>
              <a:rPr lang="en-US" dirty="0"/>
              <a:t>In the continuous world, both the forward and inverse Fourier transforms are integrals. But when we digitize the process, we replace those integrals with sums. That’s what we see in this figure — the smooth area under the curve is replaced by a set of thin rectangular strips. Each strip has a height equal to the function value at a sample point, and a width equal to the sampling interval.</a:t>
            </a:r>
          </a:p>
          <a:p>
            <a:r>
              <a:rPr lang="en-US" dirty="0"/>
              <a:t>In the time domain, that width is delta-t, the spacing between time samples. In the frequency domain, it’s delta-u, the spacing between frequency samples.</a:t>
            </a:r>
          </a:p>
          <a:p>
            <a:endParaRPr lang="en-US" dirty="0"/>
          </a:p>
          <a:p>
            <a:r>
              <a:rPr lang="en-US" dirty="0"/>
              <a:t>When we perform a forward Fourier transform, the discretization introduces a factor of delta-t. When we perform the inverse transform, the discretization introduces a factor of delta-u. Multiply those together, and you get delta-t times delta-u — which we know is equal to one over capital N.</a:t>
            </a:r>
          </a:p>
          <a:p>
            <a:r>
              <a:rPr lang="en-US" dirty="0"/>
              <a:t>This is why, in the inverse discrete Fourier transform, we include the 1 over N factor — it accounts for both steps of discretization: first in time, then in frequency.</a:t>
            </a:r>
          </a:p>
          <a:p>
            <a:endParaRPr lang="en-US" dirty="0"/>
          </a:p>
          <a:p>
            <a:r>
              <a:rPr lang="en-US" dirty="0"/>
              <a:t>And remember, there’s one more difference between the forward and inverse formulas: the forward transform uses a minus sign in the exponent, and the inverse transform uses a plus sign. This sign change is what lets the two operations perfectly undo each other.</a:t>
            </a:r>
          </a:p>
          <a:p>
            <a:r>
              <a:rPr lang="en-US" dirty="0"/>
              <a:t>So, the 1 over N is there because of how sampling replaces integrals with sums in both domains. It’s the scaling factor that ensures the forward and inverse transforms work together exactly.</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25</a:t>
            </a:fld>
            <a:endParaRPr lang="en-US"/>
          </a:p>
        </p:txBody>
      </p:sp>
    </p:spTree>
    <p:extLst>
      <p:ext uri="{BB962C8B-B14F-4D97-AF65-F5344CB8AC3E}">
        <p14:creationId xmlns:p14="http://schemas.microsoft.com/office/powerpoint/2010/main" val="21831116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second way to look at the discrete Fourier transform is from the perspective of harmonics.</a:t>
            </a:r>
          </a:p>
          <a:p>
            <a:r>
              <a:rPr lang="en-US" dirty="0"/>
              <a:t>When we do a forward DFT, we can think of it as multiplying our vector of time samples by a square matrix of complex exponentials. This matrix acts like a rotation in a high-dimensional space — it changes our coordinates from the time-domain representation to the frequency-domain representation.</a:t>
            </a:r>
          </a:p>
          <a:p>
            <a:endParaRPr lang="en-US" dirty="0"/>
          </a:p>
          <a:p>
            <a:r>
              <a:rPr lang="en-US" dirty="0"/>
              <a:t>The set of Fourier basis functions — the sinusoids at different discrete frequencies — form an orthonormal basis. That means they are all perpendicular to each other in this mathematical space. The forward transform rotates our coordinates from the “time axis” basis to the “frequency axis” basis. The inverse transform simply rotates them back.</a:t>
            </a:r>
          </a:p>
          <a:p>
            <a:endParaRPr lang="en-US" dirty="0"/>
          </a:p>
          <a:p>
            <a:r>
              <a:rPr lang="en-US" dirty="0"/>
              <a:t>This idea generalizes. In one dimension, the Fourier basis is just sines and cosines. But in two or three dimensions, or on a sphere, we can define more complex sinusoidal patterns, called </a:t>
            </a:r>
            <a:r>
              <a:rPr lang="en-US" b="1" dirty="0"/>
              <a:t>harmonics</a:t>
            </a:r>
            <a:r>
              <a:rPr lang="en-US" dirty="0"/>
              <a:t>. On a sphere, these are the spherical harmonics — each one corresponding to a certain “frequency” pattern over the surface.</a:t>
            </a:r>
          </a:p>
          <a:p>
            <a:endParaRPr lang="en-US" dirty="0"/>
          </a:p>
          <a:p>
            <a:r>
              <a:rPr lang="en-US" dirty="0"/>
              <a:t>The key property is the same: if you take two different harmonics and compute their inner product, the result is zero — they are orthogonal. If you take one harmonic and do an inner product with itself, you get one — it’s normalized.</a:t>
            </a:r>
          </a:p>
          <a:p>
            <a:r>
              <a:rPr lang="en-US" dirty="0"/>
              <a:t>So whether we are talking about simple sines and cosines, or more complex spherical harmonics, the Fourier transform is still just expressing a signal in terms of an orthogonal set of basis functions, then rotating between these bases.</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26</a:t>
            </a:fld>
            <a:endParaRPr lang="en-US"/>
          </a:p>
        </p:txBody>
      </p:sp>
    </p:spTree>
    <p:extLst>
      <p:ext uri="{BB962C8B-B14F-4D97-AF65-F5344CB8AC3E}">
        <p14:creationId xmlns:p14="http://schemas.microsoft.com/office/powerpoint/2010/main" val="37025546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Here we’re looking at a particular orthonormal basis used in Fourier analysis.</a:t>
            </a:r>
          </a:p>
          <a:p>
            <a:endParaRPr lang="en-US" dirty="0"/>
          </a:p>
          <a:p>
            <a:r>
              <a:rPr lang="en-US" dirty="0"/>
              <a:t>Our basis functions have the form:</a:t>
            </a:r>
          </a:p>
          <a:p>
            <a:r>
              <a:rPr lang="en-US" i="1" dirty="0"/>
              <a:t>e to the power of j, two pi, m times t divided by capital T</a:t>
            </a:r>
            <a:endParaRPr lang="en-US" dirty="0"/>
          </a:p>
          <a:p>
            <a:r>
              <a:rPr lang="en-US" dirty="0"/>
              <a:t>where </a:t>
            </a:r>
            <a:r>
              <a:rPr lang="en-US" i="1" dirty="0"/>
              <a:t>m</a:t>
            </a:r>
            <a:r>
              <a:rPr lang="en-US" dirty="0"/>
              <a:t> is the frequency index.</a:t>
            </a:r>
          </a:p>
          <a:p>
            <a:r>
              <a:rPr lang="en-US" dirty="0"/>
              <a:t>If we take two of these basis functions, one with index </a:t>
            </a:r>
            <a:r>
              <a:rPr lang="en-US" i="1" dirty="0"/>
              <a:t>m</a:t>
            </a:r>
            <a:r>
              <a:rPr lang="en-US" dirty="0"/>
              <a:t> and the other with index </a:t>
            </a:r>
            <a:r>
              <a:rPr lang="en-US" i="1" dirty="0"/>
              <a:t>n</a:t>
            </a:r>
            <a:r>
              <a:rPr lang="en-US" dirty="0"/>
              <a:t>, and compute their inner product — meaning we integrate the product of one and the complex conjugate of the other over the full interval from zero to capital T — two things can happen:</a:t>
            </a:r>
          </a:p>
          <a:p>
            <a:endParaRPr lang="en-US" dirty="0"/>
          </a:p>
          <a:p>
            <a:r>
              <a:rPr lang="en-US" dirty="0"/>
              <a:t>If </a:t>
            </a:r>
            <a:r>
              <a:rPr lang="en-US" i="1" dirty="0"/>
              <a:t>m</a:t>
            </a:r>
            <a:r>
              <a:rPr lang="en-US" dirty="0"/>
              <a:t> and </a:t>
            </a:r>
            <a:r>
              <a:rPr lang="en-US" i="1" dirty="0"/>
              <a:t>n</a:t>
            </a:r>
            <a:r>
              <a:rPr lang="en-US" dirty="0"/>
              <a:t> are different, the integral is zero. That means the functions are </a:t>
            </a:r>
            <a:r>
              <a:rPr lang="en-US" b="1" dirty="0"/>
              <a:t>orthogonal</a:t>
            </a:r>
            <a:r>
              <a:rPr lang="en-US" dirty="0"/>
              <a:t> — they share no common component.</a:t>
            </a:r>
          </a:p>
          <a:p>
            <a:r>
              <a:rPr lang="en-US" dirty="0"/>
              <a:t>If </a:t>
            </a:r>
            <a:r>
              <a:rPr lang="en-US" i="1" dirty="0"/>
              <a:t>m</a:t>
            </a:r>
            <a:r>
              <a:rPr lang="en-US" dirty="0"/>
              <a:t> and </a:t>
            </a:r>
            <a:r>
              <a:rPr lang="en-US" i="1" dirty="0"/>
              <a:t>n</a:t>
            </a:r>
            <a:r>
              <a:rPr lang="en-US" dirty="0"/>
              <a:t> are the same, the integral is one. That means each basis function has </a:t>
            </a:r>
            <a:r>
              <a:rPr lang="en-US" b="1" dirty="0"/>
              <a:t>a unit norm</a:t>
            </a:r>
            <a:r>
              <a:rPr lang="en-US" dirty="0"/>
              <a:t>, or length equal to one.</a:t>
            </a:r>
          </a:p>
          <a:p>
            <a:r>
              <a:rPr lang="en-US" dirty="0"/>
              <a:t>This is exactly what “orthonormal” means: the functions are orthogonal to each other, and each one has length one.</a:t>
            </a:r>
          </a:p>
          <a:p>
            <a:endParaRPr lang="en-US" dirty="0"/>
          </a:p>
          <a:p>
            <a:r>
              <a:rPr lang="en-US" dirty="0"/>
              <a:t>Because the Fourier basis has this orthonormal property, we can represent any signal as a sum of these basis functions without losing information. And we can go back and forth between the time-domain representation and the frequency-domain representation using the discrete Fourier transform and its inverse, knowing that the relationship is exact when the sampling theorem is satisfied.</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27</a:t>
            </a:fld>
            <a:endParaRPr lang="en-US"/>
          </a:p>
        </p:txBody>
      </p:sp>
    </p:spTree>
    <p:extLst>
      <p:ext uri="{BB962C8B-B14F-4D97-AF65-F5344CB8AC3E}">
        <p14:creationId xmlns:p14="http://schemas.microsoft.com/office/powerpoint/2010/main" val="31840221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What we see here is just another way to write the discrete Fourier transform and its inverse — same math, just different symbols. You’ll often see different papers or books use different notations, so it’s important to recognize that they all mean the same thing.</a:t>
            </a:r>
          </a:p>
          <a:p>
            <a:endParaRPr lang="en-US" dirty="0"/>
          </a:p>
          <a:p>
            <a:r>
              <a:rPr lang="en-US" dirty="0"/>
              <a:t>Let’s say we have </a:t>
            </a:r>
            <a:r>
              <a:rPr lang="en-US" b="1" dirty="0"/>
              <a:t>N</a:t>
            </a:r>
            <a:r>
              <a:rPr lang="en-US" dirty="0"/>
              <a:t> data points in the time domain. We’ll call them </a:t>
            </a:r>
            <a:r>
              <a:rPr lang="en-US" i="1" dirty="0"/>
              <a:t>h k</a:t>
            </a:r>
            <a:r>
              <a:rPr lang="en-US" dirty="0"/>
              <a:t>, where k runs from zero to N minus one. These are our measured samples — they could represent anything, such as temperature values taken at different times.</a:t>
            </a:r>
          </a:p>
          <a:p>
            <a:endParaRPr lang="en-US" dirty="0"/>
          </a:p>
          <a:p>
            <a:r>
              <a:rPr lang="en-US" dirty="0"/>
              <a:t>To get the frequency-domain representation, we compute </a:t>
            </a:r>
            <a:r>
              <a:rPr lang="en-US" i="1" dirty="0"/>
              <a:t>H n</a:t>
            </a:r>
            <a:r>
              <a:rPr lang="en-US" dirty="0"/>
              <a:t>, the Fourier coefficients, using the formula:</a:t>
            </a:r>
          </a:p>
          <a:p>
            <a:r>
              <a:rPr lang="en-US" i="1" dirty="0"/>
              <a:t>H n equals the sum from k equals zero to N minus one of h k times e to the power of minus j, two pi, k n divided by N.</a:t>
            </a:r>
            <a:endParaRPr lang="en-US" dirty="0"/>
          </a:p>
          <a:p>
            <a:r>
              <a:rPr lang="en-US" dirty="0"/>
              <a:t>This is the forward discrete Fourier transform. The minus sign in the exponent tells us we’re rotating our coordinates in one direction in this N-dimensional space.</a:t>
            </a:r>
          </a:p>
          <a:p>
            <a:endParaRPr lang="en-US" dirty="0"/>
          </a:p>
          <a:p>
            <a:r>
              <a:rPr lang="en-US" dirty="0"/>
              <a:t>The inverse transform takes us back from the frequency coefficients </a:t>
            </a:r>
            <a:r>
              <a:rPr lang="en-US" i="1" dirty="0"/>
              <a:t>H n</a:t>
            </a:r>
            <a:r>
              <a:rPr lang="en-US" dirty="0"/>
              <a:t> to the time samples </a:t>
            </a:r>
            <a:r>
              <a:rPr lang="en-US" i="1" dirty="0"/>
              <a:t>h k</a:t>
            </a:r>
            <a:r>
              <a:rPr lang="en-US" dirty="0"/>
              <a:t>:</a:t>
            </a:r>
          </a:p>
          <a:p>
            <a:r>
              <a:rPr lang="en-US" i="1" dirty="0"/>
              <a:t>h k equals one over N, times the sum from n equals zero to N minus one of H n times e to the power of plus j, two pi, k n divided by N.</a:t>
            </a:r>
            <a:endParaRPr lang="en-US" dirty="0"/>
          </a:p>
          <a:p>
            <a:r>
              <a:rPr lang="en-US" dirty="0"/>
              <a:t>Here, the plus sign in the exponent means we’re rotating back, and the factor of one over N is the scaling we discussed earlier — it accounts for the sampling steps in both time and frequency. Some definitions split the scaling evenly between the forward and inverse transforms to make them look perfectly symmetric, but that’s just a matter of convention.</a:t>
            </a:r>
          </a:p>
          <a:p>
            <a:endParaRPr lang="en-US" dirty="0"/>
          </a:p>
          <a:p>
            <a:r>
              <a:rPr lang="en-US" dirty="0"/>
              <a:t>The key points:</a:t>
            </a:r>
          </a:p>
          <a:p>
            <a:r>
              <a:rPr lang="en-US" dirty="0"/>
              <a:t>We have </a:t>
            </a:r>
            <a:r>
              <a:rPr lang="en-US" b="1" dirty="0"/>
              <a:t>N</a:t>
            </a:r>
            <a:r>
              <a:rPr lang="en-US" dirty="0"/>
              <a:t> samples, so we only need </a:t>
            </a:r>
            <a:r>
              <a:rPr lang="en-US" b="1" dirty="0"/>
              <a:t>N</a:t>
            </a:r>
            <a:r>
              <a:rPr lang="en-US" dirty="0"/>
              <a:t> orthogonal basis functions.</a:t>
            </a:r>
          </a:p>
          <a:p>
            <a:r>
              <a:rPr lang="en-US" dirty="0"/>
              <a:t>Those basis functions are harmonics whose frequencies differ by a constant increment.</a:t>
            </a:r>
          </a:p>
          <a:p>
            <a:r>
              <a:rPr lang="en-US" dirty="0"/>
              <a:t>The forward and inverse transforms are nearly symmetric — the main difference is the sign in the exponent and where we put the scaling factor.</a:t>
            </a:r>
          </a:p>
          <a:p>
            <a:endParaRPr lang="en-US" dirty="0"/>
          </a:p>
          <a:p>
            <a:r>
              <a:rPr lang="en-US" dirty="0"/>
              <a:t>From a computational point of view, each row of the Fourier transform matrix has N elements. To compute one Fourier coefficient, we do N multiplications and N additions. Since we have N coefficients to compute, the total work is proportional to N-squared.</a:t>
            </a:r>
          </a:p>
          <a:p>
            <a:r>
              <a:rPr lang="en-US" dirty="0"/>
              <a:t>This N-squared growth in computations was a big deal in the early days of signal processing, when N could be very large. That’s why the development of the Fast Fourier Transform, or FFT, was such a breakthrough — it reduced this cost dramatically.</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28</a:t>
            </a:fld>
            <a:endParaRPr lang="en-US"/>
          </a:p>
        </p:txBody>
      </p:sp>
    </p:spTree>
    <p:extLst>
      <p:ext uri="{BB962C8B-B14F-4D97-AF65-F5344CB8AC3E}">
        <p14:creationId xmlns:p14="http://schemas.microsoft.com/office/powerpoint/2010/main" val="38103315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Fast Fourier Transform, or FFT, is an efficient algorithm for computing the discrete Fourier transform. It was published by Cooley and Tukey in 1965, and it completely changed the way we do signal processing.</a:t>
            </a:r>
          </a:p>
          <a:p>
            <a:endParaRPr lang="en-US" dirty="0"/>
          </a:p>
          <a:p>
            <a:r>
              <a:rPr lang="en-US" dirty="0"/>
              <a:t>To give you an idea of its impact, in 1969, analyzing 2,048 data points from a seismic trace using the standard DFT took more than 13 hours. Using the FFT on the exact same machine, the same analysis took just 2.4 seconds. That’s an enormous improvement.</a:t>
            </a:r>
          </a:p>
          <a:p>
            <a:r>
              <a:rPr lang="en-US" dirty="0"/>
              <a:t>I remember when I was in primary school, a 2,000-point seismic data analysis could take more than a full day to process. But with FFT, the same task could be finished in under three seconds.</a:t>
            </a:r>
          </a:p>
          <a:p>
            <a:endParaRPr lang="en-US" dirty="0"/>
          </a:p>
          <a:p>
            <a:r>
              <a:rPr lang="en-US" dirty="0"/>
              <a:t>This kind of speedup is critical in many applications, especially those that need real-time results — whether it’s analyzing signals from an airplane’s sensors, monitoring seismic activity, or performing real-time image reconstruction.</a:t>
            </a:r>
          </a:p>
          <a:p>
            <a:r>
              <a:rPr lang="en-US" dirty="0"/>
              <a:t>The reason FFT is so powerful is that it reduces the computational complexity.</a:t>
            </a:r>
          </a:p>
          <a:p>
            <a:endParaRPr lang="en-US" dirty="0"/>
          </a:p>
          <a:p>
            <a:r>
              <a:rPr lang="en-US" dirty="0"/>
              <a:t>A naive DFT requires about N-squared operations — that’s N multiplications and additions for each of the N outputs.</a:t>
            </a:r>
          </a:p>
          <a:p>
            <a:r>
              <a:rPr lang="en-US" dirty="0"/>
              <a:t>The FFT reduces this to N times log-base-2 of N operations.</a:t>
            </a:r>
          </a:p>
          <a:p>
            <a:r>
              <a:rPr lang="en-US" dirty="0"/>
              <a:t>That’s a huge difference. For example, if N is 1,000, the log-base-2 of N is about 10. So instead of doing a million operations, we only need about ten thousand. The larger N gets, the more dramatic the savings become.</a:t>
            </a:r>
          </a:p>
          <a:p>
            <a:endParaRPr lang="en-US" dirty="0"/>
          </a:p>
          <a:p>
            <a:r>
              <a:rPr lang="en-US" dirty="0"/>
              <a:t>Because of this efficiency, FFT still plays an essential role in modern signal processing, and it’s also widely used in areas like medical imaging, machine learning, and convolution-based computations.</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29</a:t>
            </a:fld>
            <a:endParaRPr lang="en-US"/>
          </a:p>
        </p:txBody>
      </p:sp>
    </p:spTree>
    <p:extLst>
      <p:ext uri="{BB962C8B-B14F-4D97-AF65-F5344CB8AC3E}">
        <p14:creationId xmlns:p14="http://schemas.microsoft.com/office/powerpoint/2010/main" val="353695226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Because the inverse discrete Fourier transform is so similar to the forward transform, we can design a fast algorithm for it as well. This is called the inverse FFT, or IFFT.</a:t>
            </a:r>
          </a:p>
          <a:p>
            <a:endParaRPr lang="en-US" dirty="0"/>
          </a:p>
          <a:p>
            <a:r>
              <a:rPr lang="en-US" dirty="0"/>
              <a:t>In MATLAB, the </a:t>
            </a:r>
            <a:r>
              <a:rPr lang="en-US" dirty="0" err="1"/>
              <a:t>fft</a:t>
            </a:r>
            <a:r>
              <a:rPr lang="en-US" dirty="0"/>
              <a:t> function computes the forward FFT, and the </a:t>
            </a:r>
            <a:r>
              <a:rPr lang="en-US" dirty="0" err="1"/>
              <a:t>ifft</a:t>
            </a:r>
            <a:r>
              <a:rPr lang="en-US" dirty="0"/>
              <a:t> function computes the inverse FFT. For example, </a:t>
            </a:r>
            <a:r>
              <a:rPr lang="en-US" dirty="0" err="1"/>
              <a:t>fft</a:t>
            </a:r>
            <a:r>
              <a:rPr lang="en-US" dirty="0"/>
              <a:t> of X, N computes an N-point FFT. If the vector X has fewer than N points, it pads with zeros; if it has more, it truncates. The IFFT works the same way, just in reverse.</a:t>
            </a:r>
          </a:p>
          <a:p>
            <a:endParaRPr lang="en-US" dirty="0"/>
          </a:p>
          <a:p>
            <a:r>
              <a:rPr lang="en-US" dirty="0"/>
              <a:t>If we were to implement the Fourier transform exactly as in the mathematical definition, we would do a summation for each frequency index k. Each summation is essentially an inner product — it requires N multiplications and N additions. And we need to do this for each of the N output points. That’s N times N operations — N squared in total.</a:t>
            </a:r>
          </a:p>
          <a:p>
            <a:r>
              <a:rPr lang="en-US" dirty="0"/>
              <a:t>The FFT and IFFT are like built-in shortcuts. You don’t need to know all the details of how they work to use them — just like you don’t need to know how your phone connects to your friend when you press the call button. You can treat FFT and IFFT as black boxes: you give them the data, and they give you the result quickly and efficiently.</a:t>
            </a:r>
          </a:p>
          <a:p>
            <a:endParaRPr lang="en-US" dirty="0"/>
          </a:p>
          <a:p>
            <a:r>
              <a:rPr lang="en-US" dirty="0"/>
              <a:t>With FFT and IFFT, Fourier analysis becomes practical for real-time work. Once we can efficiently move between the time domain and the frequency domain, we can use this power for many applications — performing convolution, estimating spectra, removing noise, detecting patterns or contours in images, and much more.</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30</a:t>
            </a:fld>
            <a:endParaRPr lang="en-US"/>
          </a:p>
        </p:txBody>
      </p:sp>
    </p:spTree>
    <p:extLst>
      <p:ext uri="{BB962C8B-B14F-4D97-AF65-F5344CB8AC3E}">
        <p14:creationId xmlns:p14="http://schemas.microsoft.com/office/powerpoint/2010/main" val="23322668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look at our first example: how to compute convolution using the Fast Fourier Transform, or FFT.</a:t>
            </a:r>
          </a:p>
          <a:p>
            <a:endParaRPr lang="en-US" dirty="0"/>
          </a:p>
          <a:p>
            <a:r>
              <a:rPr lang="en-US" dirty="0"/>
              <a:t>You already know the direct method — the one we practiced in class. You take one sequence, flip it, shift it, multiply corresponding terms, and sum them up. Then you repeat for each shift. This gives the convolution directly in the time domain.</a:t>
            </a:r>
          </a:p>
          <a:p>
            <a:r>
              <a:rPr lang="en-US" dirty="0"/>
              <a:t>If the first sequence has length n and the second has length m, the convolution result has n plus m minus 1 points. That’s how many shifts we need to perform. And in terms of computation, this direct method takes time proportional to n squares, where n is roughly the size of the data.</a:t>
            </a:r>
          </a:p>
          <a:p>
            <a:r>
              <a:rPr lang="en-US" dirty="0"/>
              <a:t>But there’s a much faster, indirect method. Instead of doing the convolution directly in the time domain, we switch to the frequency domain using the FFT.</a:t>
            </a:r>
          </a:p>
          <a:p>
            <a:endParaRPr lang="en-US" dirty="0"/>
          </a:p>
          <a:p>
            <a:r>
              <a:rPr lang="en-US" dirty="0"/>
              <a:t>Here’s the MATLAB approach:</a:t>
            </a:r>
          </a:p>
          <a:p>
            <a:r>
              <a:rPr lang="en-US" dirty="0"/>
              <a:t>First, compute the FFT of x — that gives us its frequency spectrum.</a:t>
            </a:r>
          </a:p>
          <a:p>
            <a:r>
              <a:rPr lang="en-US" dirty="0"/>
              <a:t>Then, compute the FFT of y — the spectrum of the filter or second sequence.</a:t>
            </a:r>
          </a:p>
          <a:p>
            <a:r>
              <a:rPr lang="en-US" dirty="0"/>
              <a:t>In the frequency domain, convolution turns into multiplication. So we simply multiply the two spectra, element by element.</a:t>
            </a:r>
          </a:p>
          <a:p>
            <a:r>
              <a:rPr lang="en-US" dirty="0"/>
              <a:t>Finally, apply the inverse FFT to that product to return to the time domain.</a:t>
            </a:r>
          </a:p>
          <a:p>
            <a:r>
              <a:rPr lang="en-US" dirty="0"/>
              <a:t>This works because of the </a:t>
            </a:r>
            <a:r>
              <a:rPr lang="en-US" b="1" dirty="0"/>
              <a:t>convolution theorem</a:t>
            </a:r>
            <a:r>
              <a:rPr lang="en-US" dirty="0"/>
              <a:t> — it says convolution in the time domain is equivalent to multiplication in the frequency domain.</a:t>
            </a:r>
          </a:p>
          <a:p>
            <a:r>
              <a:rPr lang="en-US" dirty="0"/>
              <a:t>If you compare the results from the direct method and the FFT-based method in MATLAB, you’ll see they match exactly. The key difference is efficiency:</a:t>
            </a:r>
          </a:p>
          <a:p>
            <a:endParaRPr lang="en-US" dirty="0"/>
          </a:p>
          <a:p>
            <a:r>
              <a:rPr lang="en-US" dirty="0"/>
              <a:t>Direct convolution: about N square operations.</a:t>
            </a:r>
          </a:p>
          <a:p>
            <a:r>
              <a:rPr lang="en-US" dirty="0"/>
              <a:t>FFT-based convolution: about n log n operations — much faster for large n.</a:t>
            </a:r>
          </a:p>
          <a:p>
            <a:r>
              <a:rPr lang="en-US" dirty="0"/>
              <a:t>One small detail: in discrete Fourier analysis, both the time domain and the frequency domain are treated as periodic. That means this FFT-based convolution actually performs </a:t>
            </a:r>
            <a:r>
              <a:rPr lang="en-US" b="1" dirty="0"/>
              <a:t>circular convolution</a:t>
            </a:r>
            <a:r>
              <a:rPr lang="en-US" dirty="0"/>
              <a:t> unless you handle padding carefully.</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31</a:t>
            </a:fld>
            <a:endParaRPr lang="en-US"/>
          </a:p>
        </p:txBody>
      </p:sp>
    </p:spTree>
    <p:extLst>
      <p:ext uri="{BB962C8B-B14F-4D97-AF65-F5344CB8AC3E}">
        <p14:creationId xmlns:p14="http://schemas.microsoft.com/office/powerpoint/2010/main" val="198375992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look at a second example, and here’s where things get interesting.</a:t>
            </a:r>
          </a:p>
          <a:p>
            <a:endParaRPr lang="en-US" dirty="0"/>
          </a:p>
          <a:p>
            <a:r>
              <a:rPr lang="en-US" dirty="0"/>
              <a:t>We again compute convolution in two ways:</a:t>
            </a:r>
          </a:p>
          <a:p>
            <a:r>
              <a:rPr lang="en-US" dirty="0"/>
              <a:t>First, the direct method in the time domain.</a:t>
            </a:r>
          </a:p>
          <a:p>
            <a:r>
              <a:rPr lang="en-US" dirty="0"/>
              <a:t>Second, the FFT-based method, multiplying in the frequency domain and taking the inverse FFT.</a:t>
            </a:r>
          </a:p>
          <a:p>
            <a:endParaRPr lang="en-US" dirty="0"/>
          </a:p>
          <a:p>
            <a:r>
              <a:rPr lang="en-US" dirty="0"/>
              <a:t>This time, the results are different. Why?</a:t>
            </a:r>
          </a:p>
          <a:p>
            <a:r>
              <a:rPr lang="en-US" dirty="0"/>
              <a:t>It comes down to the fact that in discrete Fourier analysis, our signals are treated as </a:t>
            </a:r>
            <a:r>
              <a:rPr lang="en-US" b="1" dirty="0"/>
              <a:t>periodic,</a:t>
            </a:r>
            <a:r>
              <a:rPr lang="en-US" dirty="0"/>
              <a:t> not single, isolated sequences, but infinitely repeated copies.</a:t>
            </a:r>
          </a:p>
          <a:p>
            <a:r>
              <a:rPr lang="en-US" dirty="0"/>
              <a:t>Imagine x as one segment in time, and y as another. In the continuous world, when we shift one relative to the other, we only overlap the part that exists in the original copy. But in the discrete Fourier model, when you shift, parts of one copy can wrap around and overlap with the start of the other copy.</a:t>
            </a:r>
          </a:p>
          <a:p>
            <a:r>
              <a:rPr lang="en-US" dirty="0"/>
              <a:t>It’s as if your “neighbor” signal is spilling into your yard — and at the same time, you’re spilling into your other neighbor’s yard on the left.</a:t>
            </a:r>
          </a:p>
          <a:p>
            <a:endParaRPr lang="en-US" dirty="0"/>
          </a:p>
          <a:p>
            <a:r>
              <a:rPr lang="en-US" dirty="0"/>
              <a:t>That wrap-around interaction is exactly what </a:t>
            </a:r>
            <a:r>
              <a:rPr lang="en-US" b="1" dirty="0"/>
              <a:t>circular convolution</a:t>
            </a:r>
            <a:r>
              <a:rPr lang="en-US" dirty="0"/>
              <a:t> means:</a:t>
            </a:r>
          </a:p>
          <a:p>
            <a:r>
              <a:rPr lang="en-US" dirty="0"/>
              <a:t>The signals are treated as if arranged around a circle.</a:t>
            </a:r>
          </a:p>
          <a:p>
            <a:r>
              <a:rPr lang="en-US" dirty="0"/>
              <a:t>When you slide one past the end, it reappears at the other side.</a:t>
            </a:r>
          </a:p>
          <a:p>
            <a:r>
              <a:rPr lang="en-US" dirty="0"/>
              <a:t>The FFT-based convolution performs this circular convolution by default, which is why the result here doesn’t match the direct, linear convolution.</a:t>
            </a:r>
          </a:p>
          <a:p>
            <a:r>
              <a:rPr lang="en-US" dirty="0"/>
              <a:t>Later, we’ll see how to avoid this wrap-around effect so the FFT method matches the true linear convolution.</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32</a:t>
            </a:fld>
            <a:endParaRPr lang="en-US"/>
          </a:p>
        </p:txBody>
      </p:sp>
    </p:spTree>
    <p:extLst>
      <p:ext uri="{BB962C8B-B14F-4D97-AF65-F5344CB8AC3E}">
        <p14:creationId xmlns:p14="http://schemas.microsoft.com/office/powerpoint/2010/main" val="24796179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We just saw that FFT-based convolution gives us circular convolution by default, where the “neighboring” copies wrap around and interfere.</a:t>
            </a:r>
          </a:p>
          <a:p>
            <a:endParaRPr lang="en-US" dirty="0"/>
          </a:p>
          <a:p>
            <a:r>
              <a:rPr lang="en-US" dirty="0"/>
              <a:t>The simplest way to avoid that wrap-around is to make sure those neighbors are far enough away so they can’t overlap during the shift. That’s what </a:t>
            </a:r>
            <a:r>
              <a:rPr lang="en-US" b="1" dirty="0"/>
              <a:t>zero padding</a:t>
            </a:r>
            <a:r>
              <a:rPr lang="en-US" dirty="0"/>
              <a:t> does.</a:t>
            </a:r>
          </a:p>
          <a:p>
            <a:r>
              <a:rPr lang="en-US" dirty="0"/>
              <a:t>We take our original signals and append enough zeros to both so that the total length is at least N plus M minus 1, where N and M are the original lengths of the two sequences.</a:t>
            </a:r>
          </a:p>
          <a:p>
            <a:r>
              <a:rPr lang="en-US" dirty="0"/>
              <a:t>In this example, each signal is only 5 samples long, but we pad them out to length 16. Now, when we perform the FFT, multiply in the frequency domain, and take the inverse FFT, the “wrap-around” region is all zeros — so the result matches the direct, linear convolution exactly.</a:t>
            </a:r>
          </a:p>
          <a:p>
            <a:endParaRPr lang="en-US" dirty="0"/>
          </a:p>
          <a:p>
            <a:r>
              <a:rPr lang="en-US" dirty="0"/>
              <a:t>In other words, zero padding is like making your yard so wide that your neighbors are too far away to cause any trouble.</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33</a:t>
            </a:fld>
            <a:endParaRPr lang="en-US"/>
          </a:p>
        </p:txBody>
      </p:sp>
    </p:spTree>
    <p:extLst>
      <p:ext uri="{BB962C8B-B14F-4D97-AF65-F5344CB8AC3E}">
        <p14:creationId xmlns:p14="http://schemas.microsoft.com/office/powerpoint/2010/main" val="109651257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This picture shows the idea of zero padding in a visual way.</a:t>
            </a:r>
          </a:p>
          <a:p>
            <a:endParaRPr lang="en-US" dirty="0"/>
          </a:p>
          <a:p>
            <a:r>
              <a:rPr lang="en-US" dirty="0"/>
              <a:t>On top, the red triangles represent one signal, and the blue triangles represent the other. Without padding, these shapes are repeated periodically, so when you slide them for convolution, parts from the “neighboring copies” wrap around and interfere — that’s the circular convolution effect we saw earlier.</a:t>
            </a:r>
          </a:p>
          <a:p>
            <a:endParaRPr lang="en-US" dirty="0"/>
          </a:p>
          <a:p>
            <a:r>
              <a:rPr lang="en-US" dirty="0"/>
              <a:t>Now, by adding enough zeros, we artificially extend the period. This pushes the neighboring copies farther apart, so when we perform the convolution, only the single red copy and the single blue copy overlap. The neighbors never get close enough to contribute.</a:t>
            </a:r>
          </a:p>
          <a:p>
            <a:r>
              <a:rPr lang="en-US" dirty="0"/>
              <a:t>The result is that our circular convolution now matches the linear convolution exactly — because there’s no wrap-around. The earlier mismatch happened simply because we didn’t have enough zeros, so the neighbors still overlapped.</a:t>
            </a:r>
          </a:p>
          <a:p>
            <a:endParaRPr lang="en-US" dirty="0"/>
          </a:p>
          <a:p>
            <a:r>
              <a:rPr lang="en-US" dirty="0"/>
              <a:t>This is the essence of zero padding: make the “yard” wide enough so your neighbors can’t mess up your calculation.</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34</a:t>
            </a:fld>
            <a:endParaRPr lang="en-US"/>
          </a:p>
        </p:txBody>
      </p:sp>
    </p:spTree>
    <p:extLst>
      <p:ext uri="{BB962C8B-B14F-4D97-AF65-F5344CB8AC3E}">
        <p14:creationId xmlns:p14="http://schemas.microsoft.com/office/powerpoint/2010/main" val="13435086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If you’d like to explore these ideas further, MathWorks has some excellent tutorials and examples in its documentation.</a:t>
            </a:r>
          </a:p>
          <a:p>
            <a:endParaRPr lang="en-US" dirty="0"/>
          </a:p>
          <a:p>
            <a:r>
              <a:rPr lang="en-US" dirty="0"/>
              <a:t>This particular page walks through the relationship between linear and circular convolution in MATLAB. It explains the key conditions under which the two are equivalent, and shows how zero padding can be used to make circular convolution behave like linear convolution.</a:t>
            </a:r>
          </a:p>
          <a:p>
            <a:endParaRPr lang="en-US" dirty="0"/>
          </a:p>
          <a:p>
            <a:r>
              <a:rPr lang="en-US" dirty="0"/>
              <a:t>You’ll also find clear MATLAB examples here — creating vectors, padding them to the right length, applying the FFT, multiplying in the frequency domain, and using the inverse FFT to get back to the time domain.</a:t>
            </a:r>
          </a:p>
          <a:p>
            <a:r>
              <a:rPr lang="en-US" dirty="0"/>
              <a:t>So, if you want to reinforce what we’ve just covered or see it implemented step-by-step, this is a great place to start.</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35</a:t>
            </a:fld>
            <a:endParaRPr lang="en-US"/>
          </a:p>
        </p:txBody>
      </p:sp>
    </p:spTree>
    <p:extLst>
      <p:ext uri="{BB962C8B-B14F-4D97-AF65-F5344CB8AC3E}">
        <p14:creationId xmlns:p14="http://schemas.microsoft.com/office/powerpoint/2010/main" val="97785995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Our second example is spectral analysis.</a:t>
            </a:r>
          </a:p>
          <a:p>
            <a:r>
              <a:rPr lang="en-US" dirty="0"/>
              <a:t>Here, we use an important relationship: one divided by capital N is equal to delta t multiplied by delta nu.</a:t>
            </a:r>
            <a:br>
              <a:rPr lang="en-US" dirty="0"/>
            </a:br>
            <a:r>
              <a:rPr lang="en-US" dirty="0"/>
              <a:t>In words, delta t is the sampling interval in the time domain, and delta nu — sometimes called delta u — is the spacing between frequency samples in the Fourier domain.</a:t>
            </a:r>
          </a:p>
          <a:p>
            <a:endParaRPr lang="en-US" dirty="0"/>
          </a:p>
          <a:p>
            <a:r>
              <a:rPr lang="en-US" dirty="0"/>
              <a:t>What this tells us is that if we keep delta t fixed and the total number of samples N fixed, then our frequency spacing delta nu is also fixed. That means, if a signal contains two frequencies that are very close together, the spectrum may not have enough resolution to separate them.</a:t>
            </a:r>
          </a:p>
          <a:p>
            <a:endParaRPr lang="en-US" dirty="0"/>
          </a:p>
          <a:p>
            <a:r>
              <a:rPr lang="en-US" dirty="0"/>
              <a:t>One way to improve the resolution is called zero padding. This means we add zeros to the end of the time-domain signal, which increases the total number of samples N. Increasing N makes the spacing in the frequency domain, delta nu, smaller — giving us a finer frequency grid and better spectral resolution.</a:t>
            </a:r>
          </a:p>
          <a:p>
            <a:endParaRPr lang="en-US" dirty="0"/>
          </a:p>
          <a:p>
            <a:r>
              <a:rPr lang="en-US" dirty="0"/>
              <a:t>In this MATLAB example, we create a signal by adding two sinusoids.</a:t>
            </a:r>
            <a:br>
              <a:rPr lang="en-US" dirty="0"/>
            </a:br>
            <a:r>
              <a:rPr lang="en-US" dirty="0"/>
              <a:t>The first term is the cosine of two times pi times one hundred times t.</a:t>
            </a:r>
            <a:br>
              <a:rPr lang="en-US" dirty="0"/>
            </a:br>
            <a:r>
              <a:rPr lang="en-US" dirty="0"/>
              <a:t>The second term is the sine of two times pi times two-hundred two point five times t.</a:t>
            </a:r>
          </a:p>
          <a:p>
            <a:r>
              <a:rPr lang="en-US" dirty="0"/>
              <a:t>We sample t from zero to one second in steps of zero point zero </a:t>
            </a:r>
            <a:r>
              <a:rPr lang="en-US" dirty="0" err="1"/>
              <a:t>zero</a:t>
            </a:r>
            <a:r>
              <a:rPr lang="en-US" dirty="0"/>
              <a:t> one seconds, which corresponds to a sampling frequency of one kilohertz.</a:t>
            </a:r>
            <a:br>
              <a:rPr lang="en-US" dirty="0"/>
            </a:br>
            <a:r>
              <a:rPr lang="en-US" dirty="0"/>
              <a:t>Without zero padding, the frequency step size may be too large to clearly separate the peaks at one hundred hertz and one-hundred two point five hertz.</a:t>
            </a:r>
            <a:br>
              <a:rPr lang="en-US" dirty="0"/>
            </a:br>
            <a:r>
              <a:rPr lang="en-US" dirty="0"/>
              <a:t>With zero padding, the peaks become distinct.</a:t>
            </a:r>
          </a:p>
          <a:p>
            <a:endParaRPr lang="en-US" dirty="0"/>
          </a:p>
          <a:p>
            <a:r>
              <a:rPr lang="en-US" dirty="0"/>
              <a:t>If you want the full MATLAB walkthrough, you can follow the link at the bottom of the slide.</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36</a:t>
            </a:fld>
            <a:endParaRPr lang="en-US"/>
          </a:p>
        </p:txBody>
      </p:sp>
    </p:spTree>
    <p:extLst>
      <p:ext uri="{BB962C8B-B14F-4D97-AF65-F5344CB8AC3E}">
        <p14:creationId xmlns:p14="http://schemas.microsoft.com/office/powerpoint/2010/main" val="69550831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let’s see what happens when we perform the Fourier transform without using zero padding.</a:t>
            </a:r>
          </a:p>
          <a:p>
            <a:endParaRPr lang="en-US" dirty="0"/>
          </a:p>
          <a:p>
            <a:r>
              <a:rPr lang="en-US" dirty="0"/>
              <a:t>We take our signal x and compute its discrete Fourier transform using the FFT function.</a:t>
            </a:r>
            <a:br>
              <a:rPr lang="en-US" dirty="0"/>
            </a:br>
            <a:r>
              <a:rPr lang="en-US" dirty="0"/>
              <a:t>We keep only the first half of the spectrum, because for a real-valued signal, the second half is just the mirror image.</a:t>
            </a:r>
            <a:br>
              <a:rPr lang="en-US" dirty="0"/>
            </a:br>
            <a:r>
              <a:rPr lang="en-US" dirty="0"/>
              <a:t>Then we normalize by dividing by the length of x, and scale the amplitudes appropriately.</a:t>
            </a:r>
            <a:br>
              <a:rPr lang="en-US" dirty="0"/>
            </a:br>
            <a:r>
              <a:rPr lang="en-US" dirty="0"/>
              <a:t>The frequency axis is calculated from zero to half the sampling rate, in steps of the frequency resolution.</a:t>
            </a:r>
          </a:p>
          <a:p>
            <a:endParaRPr lang="en-US" dirty="0"/>
          </a:p>
          <a:p>
            <a:r>
              <a:rPr lang="en-US" dirty="0"/>
              <a:t>On the plot, you see two peaks in blue. The first peak is at exactly one hundred hertz — that one is well captured because it matches the frequency grid.</a:t>
            </a:r>
            <a:br>
              <a:rPr lang="en-US" dirty="0"/>
            </a:br>
            <a:r>
              <a:rPr lang="en-US" dirty="0"/>
              <a:t>The second component, however, is at one hundred two point five hertz, which does not align neatly with the frequency samples.</a:t>
            </a:r>
            <a:br>
              <a:rPr lang="en-US" dirty="0"/>
            </a:br>
            <a:endParaRPr lang="en-US" dirty="0"/>
          </a:p>
          <a:p>
            <a:r>
              <a:rPr lang="en-US" dirty="0"/>
              <a:t>As a result, the peak is lower than it should be — you can see that it only reaches about half of its true amplitude — and it spreads into nearby frequency bins.</a:t>
            </a:r>
          </a:p>
          <a:p>
            <a:endParaRPr lang="en-US" dirty="0"/>
          </a:p>
          <a:p>
            <a:r>
              <a:rPr lang="en-US" dirty="0"/>
              <a:t>This illustrates the limitation of the frequency resolution when we don’t use zero padding.</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37</a:t>
            </a:fld>
            <a:endParaRPr lang="en-US"/>
          </a:p>
        </p:txBody>
      </p:sp>
    </p:spTree>
    <p:extLst>
      <p:ext uri="{BB962C8B-B14F-4D97-AF65-F5344CB8AC3E}">
        <p14:creationId xmlns:p14="http://schemas.microsoft.com/office/powerpoint/2010/main" val="321229490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let’s see what happens when we use zero padding.</a:t>
            </a:r>
            <a:br>
              <a:rPr lang="en-US" dirty="0"/>
            </a:br>
            <a:endParaRPr lang="en-US" dirty="0"/>
          </a:p>
          <a:p>
            <a:r>
              <a:rPr lang="en-US" dirty="0"/>
              <a:t>We take our original signal and extend it in the time domain by adding a large number of zeros at the end.</a:t>
            </a:r>
            <a:br>
              <a:rPr lang="en-US" dirty="0"/>
            </a:br>
            <a:r>
              <a:rPr lang="en-US" dirty="0"/>
              <a:t>This does not change the actual information in the signal, but it does increase the total number of samples.</a:t>
            </a:r>
          </a:p>
          <a:p>
            <a:r>
              <a:rPr lang="en-US" dirty="0"/>
              <a:t>When we compute the Fourier transform of this longer sequence, the frequency spacing between the points in the spectrum becomes smaller.</a:t>
            </a:r>
            <a:br>
              <a:rPr lang="en-US" dirty="0"/>
            </a:br>
            <a:endParaRPr lang="en-US" dirty="0"/>
          </a:p>
          <a:p>
            <a:r>
              <a:rPr lang="en-US" dirty="0"/>
              <a:t>This means we get a finer frequency grid — more points between zero and the Nyquist frequency.</a:t>
            </a:r>
          </a:p>
          <a:p>
            <a:r>
              <a:rPr lang="en-US" dirty="0"/>
              <a:t>As a result, when we plot the spectrum, both peaks — the one at one hundred hertz and the one at one hundred two point five hertz — are now represented much more accurately.</a:t>
            </a:r>
            <a:br>
              <a:rPr lang="en-US" dirty="0"/>
            </a:br>
            <a:endParaRPr lang="en-US" dirty="0"/>
          </a:p>
          <a:p>
            <a:r>
              <a:rPr lang="en-US" dirty="0"/>
              <a:t>You can see that their amplitudes are correctly estimated, and the peaks are sharper.</a:t>
            </a:r>
          </a:p>
          <a:p>
            <a:r>
              <a:rPr lang="en-US" dirty="0"/>
              <a:t>So, zero padding is a simple but powerful trick for improving the visual resolution of your spectrum.</a:t>
            </a:r>
            <a:br>
              <a:rPr lang="en-US" dirty="0"/>
            </a:br>
            <a:r>
              <a:rPr lang="en-US" dirty="0"/>
              <a:t>It doesn’t actually add new information, but it lets you see the frequency components more clearly.</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38</a:t>
            </a:fld>
            <a:endParaRPr lang="en-US"/>
          </a:p>
        </p:txBody>
      </p:sp>
    </p:spTree>
    <p:extLst>
      <p:ext uri="{BB962C8B-B14F-4D97-AF65-F5344CB8AC3E}">
        <p14:creationId xmlns:p14="http://schemas.microsoft.com/office/powerpoint/2010/main" val="211087057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Before we wrap up, I want to highlight something that often feels like magic in signal processing.</a:t>
            </a:r>
            <a:br>
              <a:rPr lang="en-US" dirty="0"/>
            </a:br>
            <a:endParaRPr lang="en-US" dirty="0"/>
          </a:p>
          <a:p>
            <a:r>
              <a:rPr lang="en-US" dirty="0"/>
              <a:t>A signal cannot be both time-limited and band-limited at the same time.</a:t>
            </a:r>
          </a:p>
          <a:p>
            <a:r>
              <a:rPr lang="en-US" dirty="0"/>
              <a:t>If a signal is strictly limited in time — meaning it exists only within a certain interval — its frequency spectrum will stretch infinitely.</a:t>
            </a:r>
            <a:br>
              <a:rPr lang="en-US" dirty="0"/>
            </a:br>
            <a:r>
              <a:rPr lang="en-US" dirty="0"/>
              <a:t>And if a signal is strictly limited in frequency — meaning it contains only a finite range of frequencies — then it must extend infinitely in time.</a:t>
            </a:r>
          </a:p>
          <a:p>
            <a:endParaRPr lang="en-US" dirty="0"/>
          </a:p>
          <a:p>
            <a:r>
              <a:rPr lang="en-US" dirty="0"/>
              <a:t>In practice, we often work with signals that are </a:t>
            </a:r>
            <a:r>
              <a:rPr lang="en-US" i="1" dirty="0"/>
              <a:t>approximately</a:t>
            </a:r>
            <a:r>
              <a:rPr lang="en-US" dirty="0"/>
              <a:t> time-limited and </a:t>
            </a:r>
            <a:r>
              <a:rPr lang="en-US" i="1" dirty="0"/>
              <a:t>approximately</a:t>
            </a:r>
            <a:r>
              <a:rPr lang="en-US" dirty="0"/>
              <a:t> band-limited.</a:t>
            </a:r>
            <a:br>
              <a:rPr lang="en-US" dirty="0"/>
            </a:br>
            <a:r>
              <a:rPr lang="en-US" dirty="0"/>
              <a:t>This approximation, along with clever techniques like sampling, zero padding, and windowing, allows us to do what might seem impossible — turning the “impossible” into something that works perfectly well for our needs.</a:t>
            </a:r>
            <a:br>
              <a:rPr lang="en-US" dirty="0"/>
            </a:br>
            <a:r>
              <a:rPr lang="en-US" dirty="0"/>
              <a:t>That’s the kind of “magic” you see every day in signal processing</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39</a:t>
            </a:fld>
            <a:endParaRPr lang="en-US"/>
          </a:p>
        </p:txBody>
      </p:sp>
    </p:spTree>
    <p:extLst>
      <p:ext uri="{BB962C8B-B14F-4D97-AF65-F5344CB8AC3E}">
        <p14:creationId xmlns:p14="http://schemas.microsoft.com/office/powerpoint/2010/main" val="226633907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let’s step back and look at the big picture.</a:t>
            </a:r>
            <a:br>
              <a:rPr lang="en-US" dirty="0"/>
            </a:br>
            <a:r>
              <a:rPr lang="en-US" dirty="0"/>
              <a:t>Everything we’ve discussed so far seems to work perfectly — but there’s an important approximation hidden here.</a:t>
            </a:r>
          </a:p>
          <a:p>
            <a:r>
              <a:rPr lang="en-US" dirty="0"/>
              <a:t>We often say: if a signal is finite in time — meaning it has a limited duration — then its Fourier spectrum is also limited to a finite interval.</a:t>
            </a:r>
            <a:br>
              <a:rPr lang="en-US" dirty="0"/>
            </a:br>
            <a:endParaRPr lang="en-US" dirty="0"/>
          </a:p>
          <a:p>
            <a:r>
              <a:rPr lang="en-US" dirty="0"/>
              <a:t>In reality, that’s not strictly true.</a:t>
            </a:r>
            <a:br>
              <a:rPr lang="en-US" dirty="0"/>
            </a:br>
            <a:r>
              <a:rPr lang="en-US" dirty="0"/>
              <a:t>If a signal is perfectly finite in the time domain, its spectrum will actually extend infinitely. It will get smaller and smaller as you move away from the center, but it never truly stops.</a:t>
            </a:r>
          </a:p>
          <a:p>
            <a:r>
              <a:rPr lang="en-US" dirty="0"/>
              <a:t>You might argue that if we take the frequency range from minus </a:t>
            </a:r>
            <a:r>
              <a:rPr lang="en-US" b="1" dirty="0"/>
              <a:t>W</a:t>
            </a:r>
            <a:r>
              <a:rPr lang="en-US" dirty="0"/>
              <a:t> to plus </a:t>
            </a:r>
            <a:r>
              <a:rPr lang="en-US" b="1" dirty="0"/>
              <a:t>W</a:t>
            </a:r>
            <a:r>
              <a:rPr lang="en-US" dirty="0"/>
              <a:t>, and make </a:t>
            </a:r>
            <a:r>
              <a:rPr lang="en-US" b="1" dirty="0"/>
              <a:t>W</a:t>
            </a:r>
            <a:r>
              <a:rPr lang="en-US" dirty="0"/>
              <a:t> large enough, the parts outside this range become so small that they can be ignored.</a:t>
            </a:r>
            <a:br>
              <a:rPr lang="en-US" dirty="0"/>
            </a:br>
            <a:r>
              <a:rPr lang="en-US" dirty="0"/>
              <a:t>And yes, in practical engineering, we often do that. But from a mathematical point of view, we have to be careful.</a:t>
            </a:r>
          </a:p>
          <a:p>
            <a:endParaRPr lang="en-US" dirty="0"/>
          </a:p>
          <a:p>
            <a:r>
              <a:rPr lang="en-US" dirty="0"/>
              <a:t>Why?</a:t>
            </a:r>
            <a:br>
              <a:rPr lang="en-US" dirty="0"/>
            </a:br>
            <a:r>
              <a:rPr lang="en-US" dirty="0"/>
              <a:t>Because when we discretize, the spectrum is periodically repeated — we get infinitely many copies of it.</a:t>
            </a:r>
            <a:br>
              <a:rPr lang="en-US" dirty="0"/>
            </a:br>
            <a:r>
              <a:rPr lang="en-US" dirty="0"/>
              <a:t>Even if a single copy has very small values far away from the center, those small values from </a:t>
            </a:r>
            <a:r>
              <a:rPr lang="en-US" i="1" dirty="0"/>
              <a:t>every</a:t>
            </a:r>
            <a:r>
              <a:rPr lang="en-US" dirty="0"/>
              <a:t> copy can add up.</a:t>
            </a:r>
            <a:br>
              <a:rPr lang="en-US" dirty="0"/>
            </a:br>
            <a:r>
              <a:rPr lang="en-US" dirty="0"/>
              <a:t>The further away a copy is, the less it contributes — but since there are infinitely many of them, the sum of all those tiny contributions might still be significant.</a:t>
            </a:r>
          </a:p>
          <a:p>
            <a:r>
              <a:rPr lang="en-US" dirty="0"/>
              <a:t>This is why convergence is not always guaranteed and why mathematical rigor is important when making these approximations.</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40</a:t>
            </a:fld>
            <a:endParaRPr lang="en-US"/>
          </a:p>
        </p:txBody>
      </p:sp>
    </p:spTree>
    <p:extLst>
      <p:ext uri="{BB962C8B-B14F-4D97-AF65-F5344CB8AC3E}">
        <p14:creationId xmlns:p14="http://schemas.microsoft.com/office/powerpoint/2010/main" val="194576330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 me give you a simple example to show why “getting smaller” isn’t always enough.</a:t>
            </a:r>
          </a:p>
          <a:p>
            <a:endParaRPr lang="en-US" dirty="0"/>
          </a:p>
          <a:p>
            <a:r>
              <a:rPr lang="en-US" dirty="0"/>
              <a:t>Imagine a curve where the height at any point is equal to one divided by the position along the horizontal axis. As you move farther to the right, the values get smaller and smaller — for example, at position one the value is one, at position two it’s one-half, at position three it’s one-third, at position four it’s one-fourth, and so on.</a:t>
            </a:r>
          </a:p>
          <a:p>
            <a:endParaRPr lang="en-US" dirty="0"/>
          </a:p>
          <a:p>
            <a:r>
              <a:rPr lang="en-US" dirty="0"/>
              <a:t>You might think: “These numbers are tiny — if we keep adding them, the total should stay small.”</a:t>
            </a:r>
          </a:p>
          <a:p>
            <a:r>
              <a:rPr lang="en-US" dirty="0"/>
              <a:t>But here’s the surprising fact: even if you start far out, like at one over one million, and then keep adding one over two million, one over three million, and so on, the total will still grow without limit.</a:t>
            </a:r>
          </a:p>
          <a:p>
            <a:endParaRPr lang="en-US" dirty="0"/>
          </a:p>
          <a:p>
            <a:r>
              <a:rPr lang="en-US" dirty="0"/>
              <a:t>In other words, an infinite number of tiny contributions can still add up to something infinitely large.</a:t>
            </a:r>
          </a:p>
          <a:p>
            <a:r>
              <a:rPr lang="en-US" dirty="0"/>
              <a:t>And this is exactly the kind of situation we face in Fourier analysis: very small contributions from infinitely many frequency copies can still combine into something significant.</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41</a:t>
            </a:fld>
            <a:endParaRPr lang="en-US"/>
          </a:p>
        </p:txBody>
      </p:sp>
    </p:spTree>
    <p:extLst>
      <p:ext uri="{BB962C8B-B14F-4D97-AF65-F5344CB8AC3E}">
        <p14:creationId xmlns:p14="http://schemas.microsoft.com/office/powerpoint/2010/main" val="392397420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This idea connects to the famous wheat and chessboard problem, which is a classic example of exponential growth.</a:t>
            </a:r>
          </a:p>
          <a:p>
            <a:endParaRPr lang="en-US" dirty="0"/>
          </a:p>
          <a:p>
            <a:r>
              <a:rPr lang="en-US" dirty="0"/>
              <a:t>Imagine a chessboard with sixty-four squares. On the first square, you place one grain of wheat. On the next square, you double it — two grains. On the third square, you double it again — four grains. Then eight, sixteen, thirty-two, and so on. By the time you fill all the squares, the total number of grains becomes unimaginably large — enough to cover the Earth with a thick layer of wheat.</a:t>
            </a:r>
          </a:p>
          <a:p>
            <a:r>
              <a:rPr lang="en-US" dirty="0"/>
              <a:t>This illustrates how quickly exponential growth can get out of control.</a:t>
            </a:r>
          </a:p>
          <a:p>
            <a:endParaRPr lang="en-US" dirty="0"/>
          </a:p>
          <a:p>
            <a:r>
              <a:rPr lang="en-US" dirty="0"/>
              <a:t>Now, in our Fourier problem, for our approximation trick to work, the leftover terms — those tiny contributions from far-away frequencies — must shrink faster than one divided by the position number. That means the function must be smooth enough so that its spectrum decays quickly.</a:t>
            </a:r>
          </a:p>
          <a:p>
            <a:endParaRPr lang="en-US" dirty="0"/>
          </a:p>
          <a:p>
            <a:r>
              <a:rPr lang="en-US" dirty="0"/>
              <a:t>In fact, for most practical functions, after some pre-processing and smoothing, the decay is even faster — often like one divided by the position number squared. And in that case, adding up all the small contributions still gives you a small total. This is what allows our approach to work.</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42</a:t>
            </a:fld>
            <a:endParaRPr lang="en-US"/>
          </a:p>
        </p:txBody>
      </p:sp>
    </p:spTree>
    <p:extLst>
      <p:ext uri="{BB962C8B-B14F-4D97-AF65-F5344CB8AC3E}">
        <p14:creationId xmlns:p14="http://schemas.microsoft.com/office/powerpoint/2010/main" val="36900944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at this point, we have completed the main part of our discussion on Fourier analysis. In preparing these lectures, I’ve drawn from multiple resources — including this excellent textbook from Stanford University’s course “The Fourier Transform and Its Applications” — as well as my own insights and examples.</a:t>
            </a:r>
          </a:p>
          <a:p>
            <a:endParaRPr lang="en-US" dirty="0"/>
          </a:p>
          <a:p>
            <a:r>
              <a:rPr lang="en-US" dirty="0"/>
              <a:t>This textbook is designed for a full semester, and it’s quite comprehensive. My goal here has been to distill the most essential concepts for our biomedical engineering context. I’ve also added examples and explanations from other sources, as well as my own understanding, to create what I like to think of as a “BME version” of linear systems and Fourier analysis.</a:t>
            </a:r>
          </a:p>
          <a:p>
            <a:endParaRPr lang="en-US" dirty="0"/>
          </a:p>
          <a:p>
            <a:r>
              <a:rPr lang="en-US" dirty="0"/>
              <a:t>So far, you have all the core material. In the next lecture, our teaching assistant will go over some homework problems to help reinforce your understanding and sharpen your skills. After that, we’ll move on to our next major topic — network image quality.</a:t>
            </a:r>
          </a:p>
          <a:p>
            <a:r>
              <a:rPr lang="en-US" dirty="0"/>
              <a:t>That means the most mathematically challenging part of the course — Fourier analysis — is now behind us.</a:t>
            </a:r>
          </a:p>
          <a:p>
            <a:endParaRPr lang="en-US"/>
          </a:p>
          <a:p>
            <a:endParaRPr lang="en-US" dirty="0"/>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43</a:t>
            </a:fld>
            <a:endParaRPr lang="en-US"/>
          </a:p>
        </p:txBody>
      </p:sp>
    </p:spTree>
    <p:extLst>
      <p:ext uri="{BB962C8B-B14F-4D97-AF65-F5344CB8AC3E}">
        <p14:creationId xmlns:p14="http://schemas.microsoft.com/office/powerpoint/2010/main" val="33333314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4125" name="Line 29"/>
          <p:cNvSpPr>
            <a:spLocks noChangeShapeType="1"/>
          </p:cNvSpPr>
          <p:nvPr userDrawn="1"/>
        </p:nvSpPr>
        <p:spPr bwMode="auto">
          <a:xfrm>
            <a:off x="1117600" y="457200"/>
            <a:ext cx="0" cy="6096000"/>
          </a:xfrm>
          <a:prstGeom prst="line">
            <a:avLst/>
          </a:prstGeom>
          <a:noFill/>
          <a:ln w="9525">
            <a:solidFill>
              <a:schemeClr val="bg1"/>
            </a:solidFill>
            <a:round/>
            <a:headEnd/>
            <a:tailEnd/>
          </a:ln>
        </p:spPr>
        <p:txBody>
          <a:bodyPr wrap="none" anchor="ctr"/>
          <a:lstStyle/>
          <a:p>
            <a:endParaRPr lang="en-US" sz="2400"/>
          </a:p>
        </p:txBody>
      </p:sp>
      <p:sp>
        <p:nvSpPr>
          <p:cNvPr id="4126" name="Line 30"/>
          <p:cNvSpPr>
            <a:spLocks noChangeShapeType="1"/>
          </p:cNvSpPr>
          <p:nvPr userDrawn="1"/>
        </p:nvSpPr>
        <p:spPr bwMode="auto">
          <a:xfrm>
            <a:off x="1117600" y="6553200"/>
            <a:ext cx="10566400" cy="0"/>
          </a:xfrm>
          <a:prstGeom prst="line">
            <a:avLst/>
          </a:prstGeom>
          <a:noFill/>
          <a:ln w="9525">
            <a:solidFill>
              <a:schemeClr val="bg1"/>
            </a:solidFill>
            <a:round/>
            <a:headEnd/>
            <a:tailEnd/>
          </a:ln>
        </p:spPr>
        <p:txBody>
          <a:bodyPr wrap="none" anchor="ctr"/>
          <a:lstStyle/>
          <a:p>
            <a:endParaRPr lang="en-US" sz="2400"/>
          </a:p>
        </p:txBody>
      </p:sp>
      <p:sp>
        <p:nvSpPr>
          <p:cNvPr id="4127" name="Line 31"/>
          <p:cNvSpPr>
            <a:spLocks noChangeShapeType="1"/>
          </p:cNvSpPr>
          <p:nvPr userDrawn="1"/>
        </p:nvSpPr>
        <p:spPr bwMode="auto">
          <a:xfrm flipV="1">
            <a:off x="11684000" y="5791200"/>
            <a:ext cx="0" cy="762000"/>
          </a:xfrm>
          <a:prstGeom prst="line">
            <a:avLst/>
          </a:prstGeom>
          <a:noFill/>
          <a:ln w="9525">
            <a:solidFill>
              <a:schemeClr val="bg1"/>
            </a:solidFill>
            <a:round/>
            <a:headEnd/>
            <a:tailEnd/>
          </a:ln>
        </p:spPr>
        <p:txBody>
          <a:bodyPr wrap="none" anchor="ctr"/>
          <a:lstStyle/>
          <a:p>
            <a:endParaRPr lang="en-US" sz="2400"/>
          </a:p>
        </p:txBody>
      </p:sp>
      <p:sp>
        <p:nvSpPr>
          <p:cNvPr id="4128" name="Line 32"/>
          <p:cNvSpPr>
            <a:spLocks noChangeShapeType="1"/>
          </p:cNvSpPr>
          <p:nvPr userDrawn="1"/>
        </p:nvSpPr>
        <p:spPr bwMode="auto">
          <a:xfrm flipH="1">
            <a:off x="8636000" y="5791200"/>
            <a:ext cx="3048000" cy="0"/>
          </a:xfrm>
          <a:prstGeom prst="line">
            <a:avLst/>
          </a:prstGeom>
          <a:noFill/>
          <a:ln w="9525">
            <a:solidFill>
              <a:schemeClr val="bg1"/>
            </a:solidFill>
            <a:round/>
            <a:headEnd/>
            <a:tailEnd/>
          </a:ln>
        </p:spPr>
        <p:txBody>
          <a:bodyPr wrap="none" anchor="ctr"/>
          <a:lstStyle/>
          <a:p>
            <a:endParaRPr lang="en-US" sz="2400"/>
          </a:p>
        </p:txBody>
      </p:sp>
      <p:sp>
        <p:nvSpPr>
          <p:cNvPr id="4131" name="Line 35"/>
          <p:cNvSpPr>
            <a:spLocks noChangeShapeType="1"/>
          </p:cNvSpPr>
          <p:nvPr userDrawn="1"/>
        </p:nvSpPr>
        <p:spPr bwMode="auto">
          <a:xfrm>
            <a:off x="1117600" y="457200"/>
            <a:ext cx="1727200" cy="0"/>
          </a:xfrm>
          <a:prstGeom prst="line">
            <a:avLst/>
          </a:prstGeom>
          <a:noFill/>
          <a:ln w="9525">
            <a:solidFill>
              <a:schemeClr val="bg1"/>
            </a:solidFill>
            <a:round/>
            <a:headEnd/>
            <a:tailEnd/>
          </a:ln>
        </p:spPr>
        <p:txBody>
          <a:bodyPr wrap="none" anchor="ctr"/>
          <a:lstStyle/>
          <a:p>
            <a:endParaRPr lang="en-US" sz="24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03200" y="152400"/>
            <a:ext cx="11785600" cy="838200"/>
          </a:xfrm>
        </p:spPr>
        <p:txBody>
          <a:bodyPr/>
          <a:lstStyle>
            <a:lvl1pPr>
              <a:defRPr sz="4000" b="1">
                <a:solidFill>
                  <a:schemeClr val="tx1"/>
                </a:solidFill>
              </a:defRPr>
            </a:lvl1pPr>
          </a:lstStyle>
          <a:p>
            <a:r>
              <a:rPr lang="en-US" dirty="0"/>
              <a:t>Click to edit Master title style</a:t>
            </a:r>
          </a:p>
        </p:txBody>
      </p:sp>
      <p:sp>
        <p:nvSpPr>
          <p:cNvPr id="3" name="Content Placeholder 2"/>
          <p:cNvSpPr>
            <a:spLocks noGrp="1"/>
          </p:cNvSpPr>
          <p:nvPr>
            <p:ph idx="1"/>
          </p:nvPr>
        </p:nvSpPr>
        <p:spPr>
          <a:xfrm>
            <a:off x="203200" y="1066800"/>
            <a:ext cx="11785600" cy="4419600"/>
          </a:xfrm>
        </p:spPr>
        <p:txBody>
          <a:bodyPr/>
          <a:lstStyle>
            <a:lvl1pPr>
              <a:defRPr sz="2800" b="1"/>
            </a:lvl1pPr>
          </a:lstStyle>
          <a:p>
            <a:pPr lvl="0"/>
            <a:r>
              <a:rPr lang="en-US" dirty="0"/>
              <a:t>Click to edit Master text styles</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Slide Number Placeholder 3"/>
          <p:cNvSpPr>
            <a:spLocks noGrp="1"/>
          </p:cNvSpPr>
          <p:nvPr>
            <p:ph type="sldNum" sz="quarter" idx="10"/>
          </p:nvPr>
        </p:nvSpPr>
        <p:spPr>
          <a:xfrm>
            <a:off x="146051" y="6288088"/>
            <a:ext cx="1219200" cy="457200"/>
          </a:xfrm>
          <a:prstGeom prst="rect">
            <a:avLst/>
          </a:prstGeom>
        </p:spPr>
        <p:txBody>
          <a:bodyPr/>
          <a:lstStyle>
            <a:lvl1pPr>
              <a:defRPr/>
            </a:lvl1pPr>
          </a:lstStyle>
          <a:p>
            <a:fld id="{42551609-7012-4524-8F91-CAEC89A8DA26}" type="slidenum">
              <a:rPr lang="en-US"/>
              <a:pPr/>
              <a:t>‹#›</a:t>
            </a:fld>
            <a:endParaRPr lang="en-US">
              <a:solidFill>
                <a:schemeClr val="tx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17600" y="16764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00800" y="16764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a:xfrm>
            <a:off x="146051" y="6288088"/>
            <a:ext cx="1219200" cy="457200"/>
          </a:xfrm>
          <a:prstGeom prst="rect">
            <a:avLst/>
          </a:prstGeom>
        </p:spPr>
        <p:txBody>
          <a:bodyPr/>
          <a:lstStyle>
            <a:lvl1pPr>
              <a:defRPr/>
            </a:lvl1pPr>
          </a:lstStyle>
          <a:p>
            <a:fld id="{EC38EB37-9F67-488F-AFCB-318363D4DA79}" type="slidenum">
              <a:rPr lang="en-US"/>
              <a:pPr/>
              <a:t>‹#›</a:t>
            </a:fld>
            <a:endParaRPr lang="en-US">
              <a:solidFill>
                <a:schemeClr val="tx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0"/>
          </p:nvPr>
        </p:nvSpPr>
        <p:spPr>
          <a:xfrm>
            <a:off x="146051" y="6288088"/>
            <a:ext cx="1219200" cy="457200"/>
          </a:xfrm>
          <a:prstGeom prst="rect">
            <a:avLst/>
          </a:prstGeom>
        </p:spPr>
        <p:txBody>
          <a:bodyPr/>
          <a:lstStyle>
            <a:lvl1pPr>
              <a:defRPr/>
            </a:lvl1pPr>
          </a:lstStyle>
          <a:p>
            <a:fld id="{325EC937-4EEB-42FF-9745-F8ECC712C67B}" type="slidenum">
              <a:rPr lang="en-US"/>
              <a:pPr/>
              <a:t>‹#›</a:t>
            </a:fld>
            <a:endParaRPr lang="en-US">
              <a:solidFill>
                <a:schemeClr val="tx1"/>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a:xfrm>
            <a:off x="146051" y="6288088"/>
            <a:ext cx="1219200" cy="457200"/>
          </a:xfrm>
          <a:prstGeom prst="rect">
            <a:avLst/>
          </a:prstGeom>
        </p:spPr>
        <p:txBody>
          <a:bodyPr/>
          <a:lstStyle>
            <a:lvl1pPr>
              <a:defRPr/>
            </a:lvl1pPr>
          </a:lstStyle>
          <a:p>
            <a:fld id="{26E09F27-08E5-47E1-9081-CDEF6FA99715}" type="slidenum">
              <a:rPr lang="en-US"/>
              <a:pPr/>
              <a:t>‹#›</a:t>
            </a:fld>
            <a:endParaRPr lang="en-US">
              <a:solidFill>
                <a:schemeClr val="tx1"/>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a:xfrm>
            <a:off x="146051" y="6288088"/>
            <a:ext cx="1219200" cy="457200"/>
          </a:xfrm>
          <a:prstGeom prst="rect">
            <a:avLst/>
          </a:prstGeom>
        </p:spPr>
        <p:txBody>
          <a:bodyPr/>
          <a:lstStyle>
            <a:lvl1pPr>
              <a:defRPr/>
            </a:lvl1pPr>
          </a:lstStyle>
          <a:p>
            <a:fld id="{CC251E47-B223-48F4-A299-CE4A766087D6}" type="slidenum">
              <a:rPr lang="en-US"/>
              <a:pPr/>
              <a:t>‹#›</a:t>
            </a:fld>
            <a:endParaRPr lang="en-US">
              <a:solidFill>
                <a:schemeClr val="tx1"/>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a:xfrm>
            <a:off x="146051" y="6288088"/>
            <a:ext cx="1219200" cy="457200"/>
          </a:xfrm>
          <a:prstGeom prst="rect">
            <a:avLst/>
          </a:prstGeom>
        </p:spPr>
        <p:txBody>
          <a:bodyPr/>
          <a:lstStyle>
            <a:lvl1pPr>
              <a:defRPr/>
            </a:lvl1pPr>
          </a:lstStyle>
          <a:p>
            <a:fld id="{5BB27830-E813-4D5B-BECC-EB4E76333BEB}" type="slidenum">
              <a:rPr lang="en-US"/>
              <a:pPr/>
              <a:t>‹#›</a:t>
            </a:fld>
            <a:endParaRPr lang="en-US">
              <a:solidFill>
                <a:schemeClr val="tx1"/>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a:xfrm>
            <a:off x="146051" y="6288088"/>
            <a:ext cx="1219200" cy="457200"/>
          </a:xfrm>
          <a:prstGeom prst="rect">
            <a:avLst/>
          </a:prstGeom>
        </p:spPr>
        <p:txBody>
          <a:bodyPr/>
          <a:lstStyle>
            <a:lvl1pPr>
              <a:defRPr/>
            </a:lvl1pPr>
          </a:lstStyle>
          <a:p>
            <a:fld id="{8950E5CE-EF1E-495C-8D34-E9307ADFFB20}" type="slidenum">
              <a:rPr lang="en-US"/>
              <a:pPr/>
              <a:t>‹#›</a:t>
            </a:fld>
            <a:endParaRPr lang="en-US">
              <a:solidFill>
                <a:schemeClr val="tx1"/>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a:xfrm>
            <a:off x="146051" y="6288088"/>
            <a:ext cx="1219200" cy="457200"/>
          </a:xfrm>
          <a:prstGeom prst="rect">
            <a:avLst/>
          </a:prstGeom>
        </p:spPr>
        <p:txBody>
          <a:bodyPr/>
          <a:lstStyle>
            <a:lvl1pPr>
              <a:defRPr/>
            </a:lvl1pPr>
          </a:lstStyle>
          <a:p>
            <a:fld id="{EDA7D03F-0D9F-4D6E-A9DA-DA22B08C88FB}" type="slidenum">
              <a:rPr lang="en-US"/>
              <a:pPr/>
              <a:t>‹#›</a:t>
            </a:fld>
            <a:endParaRPr lang="en-US">
              <a:solidFill>
                <a:schemeClr val="tx1"/>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90000" y="304800"/>
            <a:ext cx="25908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17600" y="304800"/>
            <a:ext cx="75692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a:xfrm>
            <a:off x="146051" y="6288088"/>
            <a:ext cx="1219200" cy="457200"/>
          </a:xfrm>
          <a:prstGeom prst="rect">
            <a:avLst/>
          </a:prstGeom>
        </p:spPr>
        <p:txBody>
          <a:bodyPr/>
          <a:lstStyle>
            <a:lvl1pPr>
              <a:defRPr/>
            </a:lvl1pPr>
          </a:lstStyle>
          <a:p>
            <a:fld id="{5D488692-0FB6-433E-9CFB-08D03A34DD8A}" type="slidenum">
              <a:rPr lang="en-US"/>
              <a:pPr/>
              <a:t>‹#›</a:t>
            </a:fld>
            <a:endParaRPr lang="en-US">
              <a:solidFill>
                <a:schemeClr val="tx1"/>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117600" y="304800"/>
            <a:ext cx="10363200" cy="1143000"/>
          </a:xfrm>
          <a:prstGeom prst="rect">
            <a:avLst/>
          </a:prstGeom>
          <a:noFill/>
          <a:ln w="9525">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1117600" y="1676400"/>
            <a:ext cx="10363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p:txBody>
      </p:sp>
      <p:sp>
        <p:nvSpPr>
          <p:cNvPr id="1042" name="Line 18"/>
          <p:cNvSpPr>
            <a:spLocks noChangeShapeType="1"/>
          </p:cNvSpPr>
          <p:nvPr userDrawn="1"/>
        </p:nvSpPr>
        <p:spPr bwMode="auto">
          <a:xfrm>
            <a:off x="203200" y="6629400"/>
            <a:ext cx="711200" cy="0"/>
          </a:xfrm>
          <a:prstGeom prst="line">
            <a:avLst/>
          </a:prstGeom>
          <a:noFill/>
          <a:ln w="9525">
            <a:solidFill>
              <a:schemeClr val="bg1"/>
            </a:solidFill>
            <a:round/>
            <a:headEnd/>
            <a:tailEnd/>
          </a:ln>
        </p:spPr>
        <p:txBody>
          <a:bodyPr/>
          <a:lstStyle/>
          <a:p>
            <a:endParaRPr lang="en-US" sz="2400"/>
          </a:p>
        </p:txBody>
      </p:sp>
      <p:sp>
        <p:nvSpPr>
          <p:cNvPr id="1043" name="Line 19"/>
          <p:cNvSpPr>
            <a:spLocks noChangeShapeType="1"/>
          </p:cNvSpPr>
          <p:nvPr userDrawn="1"/>
        </p:nvSpPr>
        <p:spPr bwMode="auto">
          <a:xfrm flipV="1">
            <a:off x="203200" y="6400800"/>
            <a:ext cx="0" cy="228600"/>
          </a:xfrm>
          <a:prstGeom prst="line">
            <a:avLst/>
          </a:prstGeom>
          <a:noFill/>
          <a:ln w="9525">
            <a:solidFill>
              <a:schemeClr val="bg1"/>
            </a:solidFill>
            <a:round/>
            <a:headEnd/>
            <a:tailEnd/>
          </a:ln>
        </p:spPr>
        <p:txBody>
          <a:bodyPr wrap="none" anchor="ctr"/>
          <a:lstStyle/>
          <a:p>
            <a:endParaRPr lang="en-US" sz="2400"/>
          </a:p>
        </p:txBody>
      </p:sp>
      <p:sp>
        <p:nvSpPr>
          <p:cNvPr id="1044" name="Line 20"/>
          <p:cNvSpPr>
            <a:spLocks noChangeShapeType="1"/>
          </p:cNvSpPr>
          <p:nvPr userDrawn="1"/>
        </p:nvSpPr>
        <p:spPr bwMode="auto">
          <a:xfrm>
            <a:off x="203200" y="6400800"/>
            <a:ext cx="304800" cy="0"/>
          </a:xfrm>
          <a:prstGeom prst="line">
            <a:avLst/>
          </a:prstGeom>
          <a:noFill/>
          <a:ln w="9525">
            <a:solidFill>
              <a:schemeClr val="bg1"/>
            </a:solidFill>
            <a:round/>
            <a:headEnd/>
            <a:tailEnd/>
          </a:ln>
        </p:spPr>
        <p:txBody>
          <a:bodyPr wrap="none" anchor="ctr"/>
          <a:lstStyle/>
          <a:p>
            <a:endParaRPr lang="en-US" sz="24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p:titleStyle>
    <p:bodyStyle>
      <a:lvl1pPr marL="0" indent="0" algn="l" rtl="0" fontAlgn="base">
        <a:spcBef>
          <a:spcPct val="20000"/>
        </a:spcBef>
        <a:spcAft>
          <a:spcPct val="0"/>
        </a:spcAft>
        <a:buClr>
          <a:srgbClr val="691638"/>
        </a:buClr>
        <a:buNone/>
        <a:defRPr sz="24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s://dsp.stackexchange.com/questions/37480/formulating-a-function-on-matlab-for-the-shannon-interpolation-formula"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8" Type="http://schemas.openxmlformats.org/officeDocument/2006/relationships/image" Target="../media/image15.wmf"/><Relationship Id="rId13" Type="http://schemas.openxmlformats.org/officeDocument/2006/relationships/image" Target="../media/image17.w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oleObject" Target="../embeddings/oleObject6.bin"/><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4.wmf"/><Relationship Id="rId11" Type="http://schemas.openxmlformats.org/officeDocument/2006/relationships/oleObject" Target="../embeddings/oleObject5.bin"/><Relationship Id="rId5" Type="http://schemas.openxmlformats.org/officeDocument/2006/relationships/oleObject" Target="../embeddings/oleObject2.bin"/><Relationship Id="rId15" Type="http://schemas.openxmlformats.org/officeDocument/2006/relationships/image" Target="../media/image18.wmf"/><Relationship Id="rId10" Type="http://schemas.openxmlformats.org/officeDocument/2006/relationships/image" Target="../media/image16.wmf"/><Relationship Id="rId4" Type="http://schemas.openxmlformats.org/officeDocument/2006/relationships/image" Target="../media/image13.wmf"/><Relationship Id="rId9" Type="http://schemas.openxmlformats.org/officeDocument/2006/relationships/oleObject" Target="../embeddings/oleObject4.bin"/><Relationship Id="rId14" Type="http://schemas.openxmlformats.org/officeDocument/2006/relationships/oleObject" Target="../embeddings/oleObject7.bin"/></Relationships>
</file>

<file path=ppt/slides/_rels/slide10.xml.rels><?xml version="1.0" encoding="UTF-8" standalone="yes"?>
<Relationships xmlns="http://schemas.openxmlformats.org/package/2006/relationships"><Relationship Id="rId8" Type="http://schemas.openxmlformats.org/officeDocument/2006/relationships/image" Target="../media/image21.wmf"/><Relationship Id="rId13" Type="http://schemas.openxmlformats.org/officeDocument/2006/relationships/oleObject" Target="../embeddings/oleObject13.bin"/><Relationship Id="rId18" Type="http://schemas.openxmlformats.org/officeDocument/2006/relationships/oleObject" Target="../embeddings/oleObject16.bin"/><Relationship Id="rId3" Type="http://schemas.openxmlformats.org/officeDocument/2006/relationships/oleObject" Target="../embeddings/oleObject8.bin"/><Relationship Id="rId21" Type="http://schemas.openxmlformats.org/officeDocument/2006/relationships/image" Target="../media/image27.wmf"/><Relationship Id="rId7" Type="http://schemas.openxmlformats.org/officeDocument/2006/relationships/oleObject" Target="../embeddings/oleObject10.bin"/><Relationship Id="rId12" Type="http://schemas.openxmlformats.org/officeDocument/2006/relationships/image" Target="../media/image23.wmf"/><Relationship Id="rId17" Type="http://schemas.openxmlformats.org/officeDocument/2006/relationships/oleObject" Target="../embeddings/oleObject15.bin"/><Relationship Id="rId2" Type="http://schemas.openxmlformats.org/officeDocument/2006/relationships/notesSlide" Target="../notesSlides/notesSlide10.xml"/><Relationship Id="rId16" Type="http://schemas.openxmlformats.org/officeDocument/2006/relationships/image" Target="../media/image25.wmf"/><Relationship Id="rId20" Type="http://schemas.openxmlformats.org/officeDocument/2006/relationships/oleObject" Target="../embeddings/oleObject17.bin"/><Relationship Id="rId1" Type="http://schemas.openxmlformats.org/officeDocument/2006/relationships/slideLayout" Target="../slideLayouts/slideLayout2.xml"/><Relationship Id="rId6" Type="http://schemas.openxmlformats.org/officeDocument/2006/relationships/image" Target="../media/image20.wmf"/><Relationship Id="rId11" Type="http://schemas.openxmlformats.org/officeDocument/2006/relationships/oleObject" Target="../embeddings/oleObject12.bin"/><Relationship Id="rId24" Type="http://schemas.openxmlformats.org/officeDocument/2006/relationships/image" Target="../media/image28.wmf"/><Relationship Id="rId5" Type="http://schemas.openxmlformats.org/officeDocument/2006/relationships/oleObject" Target="../embeddings/oleObject9.bin"/><Relationship Id="rId15" Type="http://schemas.openxmlformats.org/officeDocument/2006/relationships/oleObject" Target="../embeddings/oleObject14.bin"/><Relationship Id="rId23" Type="http://schemas.openxmlformats.org/officeDocument/2006/relationships/oleObject" Target="../embeddings/oleObject19.bin"/><Relationship Id="rId10" Type="http://schemas.openxmlformats.org/officeDocument/2006/relationships/image" Target="../media/image22.wmf"/><Relationship Id="rId19" Type="http://schemas.openxmlformats.org/officeDocument/2006/relationships/image" Target="../media/image26.wmf"/><Relationship Id="rId4" Type="http://schemas.openxmlformats.org/officeDocument/2006/relationships/image" Target="../media/image19.wmf"/><Relationship Id="rId9" Type="http://schemas.openxmlformats.org/officeDocument/2006/relationships/oleObject" Target="../embeddings/oleObject11.bin"/><Relationship Id="rId14" Type="http://schemas.openxmlformats.org/officeDocument/2006/relationships/image" Target="../media/image24.wmf"/><Relationship Id="rId22" Type="http://schemas.openxmlformats.org/officeDocument/2006/relationships/oleObject" Target="../embeddings/oleObject18.bin"/></Relationships>
</file>

<file path=ppt/slides/_rels/slide11.xml.rels><?xml version="1.0" encoding="UTF-8" standalone="yes"?>
<Relationships xmlns="http://schemas.openxmlformats.org/package/2006/relationships"><Relationship Id="rId8" Type="http://schemas.openxmlformats.org/officeDocument/2006/relationships/image" Target="../media/image22.wmf"/><Relationship Id="rId13" Type="http://schemas.openxmlformats.org/officeDocument/2006/relationships/oleObject" Target="../embeddings/oleObject25.bin"/><Relationship Id="rId18" Type="http://schemas.openxmlformats.org/officeDocument/2006/relationships/image" Target="../media/image33.wmf"/><Relationship Id="rId3" Type="http://schemas.openxmlformats.org/officeDocument/2006/relationships/oleObject" Target="../embeddings/oleObject20.bin"/><Relationship Id="rId21" Type="http://schemas.openxmlformats.org/officeDocument/2006/relationships/oleObject" Target="../embeddings/oleObject29.bin"/><Relationship Id="rId7" Type="http://schemas.openxmlformats.org/officeDocument/2006/relationships/oleObject" Target="../embeddings/oleObject22.bin"/><Relationship Id="rId12" Type="http://schemas.openxmlformats.org/officeDocument/2006/relationships/image" Target="../media/image24.wmf"/><Relationship Id="rId17" Type="http://schemas.openxmlformats.org/officeDocument/2006/relationships/oleObject" Target="../embeddings/oleObject27.bin"/><Relationship Id="rId2" Type="http://schemas.openxmlformats.org/officeDocument/2006/relationships/notesSlide" Target="../notesSlides/notesSlide11.xml"/><Relationship Id="rId16" Type="http://schemas.openxmlformats.org/officeDocument/2006/relationships/image" Target="../media/image32.wmf"/><Relationship Id="rId20" Type="http://schemas.openxmlformats.org/officeDocument/2006/relationships/image" Target="../media/image34.wmf"/><Relationship Id="rId1" Type="http://schemas.openxmlformats.org/officeDocument/2006/relationships/slideLayout" Target="../slideLayouts/slideLayout2.xml"/><Relationship Id="rId6" Type="http://schemas.openxmlformats.org/officeDocument/2006/relationships/image" Target="../media/image25.wmf"/><Relationship Id="rId11" Type="http://schemas.openxmlformats.org/officeDocument/2006/relationships/oleObject" Target="../embeddings/oleObject24.bin"/><Relationship Id="rId5" Type="http://schemas.openxmlformats.org/officeDocument/2006/relationships/oleObject" Target="../embeddings/oleObject21.bin"/><Relationship Id="rId15" Type="http://schemas.openxmlformats.org/officeDocument/2006/relationships/oleObject" Target="../embeddings/oleObject26.bin"/><Relationship Id="rId23" Type="http://schemas.openxmlformats.org/officeDocument/2006/relationships/image" Target="../media/image7.png"/><Relationship Id="rId10" Type="http://schemas.openxmlformats.org/officeDocument/2006/relationships/image" Target="../media/image30.wmf"/><Relationship Id="rId19" Type="http://schemas.openxmlformats.org/officeDocument/2006/relationships/oleObject" Target="../embeddings/oleObject28.bin"/><Relationship Id="rId4" Type="http://schemas.openxmlformats.org/officeDocument/2006/relationships/image" Target="../media/image29.wmf"/><Relationship Id="rId9" Type="http://schemas.openxmlformats.org/officeDocument/2006/relationships/oleObject" Target="../embeddings/oleObject23.bin"/><Relationship Id="rId14" Type="http://schemas.openxmlformats.org/officeDocument/2006/relationships/image" Target="../media/image31.wmf"/><Relationship Id="rId22" Type="http://schemas.openxmlformats.org/officeDocument/2006/relationships/image" Target="../media/image35.w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2.png"/><Relationship Id="rId7" Type="http://schemas.openxmlformats.org/officeDocument/2006/relationships/image" Target="../media/image42.wmf"/><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oleObject" Target="../embeddings/oleObject31.bin"/><Relationship Id="rId5" Type="http://schemas.openxmlformats.org/officeDocument/2006/relationships/image" Target="../media/image41.wmf"/><Relationship Id="rId4" Type="http://schemas.openxmlformats.org/officeDocument/2006/relationships/oleObject" Target="../embeddings/oleObject30.bin"/></Relationships>
</file>

<file path=ppt/slides/_rels/slide17.xml.rels><?xml version="1.0" encoding="UTF-8" standalone="yes"?>
<Relationships xmlns="http://schemas.openxmlformats.org/package/2006/relationships"><Relationship Id="rId8" Type="http://schemas.openxmlformats.org/officeDocument/2006/relationships/image" Target="../media/image43.wmf"/><Relationship Id="rId3" Type="http://schemas.openxmlformats.org/officeDocument/2006/relationships/oleObject" Target="../embeddings/oleObject30.bin"/><Relationship Id="rId7" Type="http://schemas.openxmlformats.org/officeDocument/2006/relationships/oleObject" Target="../embeddings/oleObject32.bin"/><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42.wmf"/><Relationship Id="rId5" Type="http://schemas.openxmlformats.org/officeDocument/2006/relationships/oleObject" Target="../embeddings/oleObject31.bin"/><Relationship Id="rId4" Type="http://schemas.openxmlformats.org/officeDocument/2006/relationships/image" Target="../media/image41.wmf"/></Relationships>
</file>

<file path=ppt/slides/_rels/slide1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19.xml.rels><?xml version="1.0" encoding="UTF-8" standalone="yes"?>
<Relationships xmlns="http://schemas.openxmlformats.org/package/2006/relationships"><Relationship Id="rId3" Type="http://schemas.openxmlformats.org/officeDocument/2006/relationships/image" Target="../media/image46.gif"/><Relationship Id="rId7" Type="http://schemas.openxmlformats.org/officeDocument/2006/relationships/image" Target="../media/image48.wmf"/><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oleObject" Target="../embeddings/oleObject34.bin"/><Relationship Id="rId5" Type="http://schemas.openxmlformats.org/officeDocument/2006/relationships/image" Target="../media/image47.wmf"/><Relationship Id="rId4" Type="http://schemas.openxmlformats.org/officeDocument/2006/relationships/oleObject" Target="../embeddings/oleObject33.bin"/></Relationships>
</file>

<file path=ppt/slides/_rels/slide2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43.wmf"/><Relationship Id="rId5" Type="http://schemas.openxmlformats.org/officeDocument/2006/relationships/oleObject" Target="../embeddings/oleObject32.bin"/><Relationship Id="rId4" Type="http://schemas.openxmlformats.org/officeDocument/2006/relationships/image" Target="../media/image50.png"/></Relationships>
</file>

<file path=ppt/slides/_rels/slide2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53.wmf"/><Relationship Id="rId4" Type="http://schemas.openxmlformats.org/officeDocument/2006/relationships/oleObject" Target="../embeddings/oleObject35.bin"/></Relationships>
</file>

<file path=ppt/slides/_rels/slide2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55.wmf"/><Relationship Id="rId4" Type="http://schemas.openxmlformats.org/officeDocument/2006/relationships/oleObject" Target="../embeddings/oleObject36.bin"/></Relationships>
</file>

<file path=ppt/slides/_rels/slide2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7.gif"/><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37.bin"/><Relationship Id="rId7" Type="http://schemas.openxmlformats.org/officeDocument/2006/relationships/image" Target="../media/image62.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1.jpeg"/><Relationship Id="rId4" Type="http://schemas.openxmlformats.org/officeDocument/2006/relationships/image" Target="../media/image60.wmf"/></Relationships>
</file>

<file path=ppt/slides/_rels/slide2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www.mathworks.com/matlabcentral/answers/38066-difference-between-conv-ifft-fft-when-doing-convolution"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5.png"/></Relationships>
</file>

<file path=ppt/slides/_rels/slide3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3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hyperlink" Target="https://www.mathworks.com/help/signal/ug/amplitude-estimation-and-zero-padding.html" TargetMode="External"/><Relationship Id="rId4" Type="http://schemas.openxmlformats.org/officeDocument/2006/relationships/image" Target="../media/image72.png"/></Relationships>
</file>

<file path=ppt/slides/_rels/slide3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76.gif"/></Relationships>
</file>

<file path=ppt/slides/_rels/slide4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41.xml.rels><?xml version="1.0" encoding="UTF-8" standalone="yes"?>
<Relationships xmlns="http://schemas.openxmlformats.org/package/2006/relationships"><Relationship Id="rId3" Type="http://schemas.openxmlformats.org/officeDocument/2006/relationships/image" Target="../media/image78.gif"/><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77.png"/><Relationship Id="rId4" Type="http://schemas.openxmlformats.org/officeDocument/2006/relationships/image" Target="../media/image79.png"/></Relationships>
</file>

<file path=ppt/slides/_rels/slide42.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4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hyperlink" Target="https://see.stanford.edu/materials/lsoftaee261/book-fall-07.pdf" TargetMode="External"/><Relationship Id="rId4" Type="http://schemas.openxmlformats.org/officeDocument/2006/relationships/hyperlink" Target="https://see.stanford.edu/Course/EE26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31549" y="55626"/>
            <a:ext cx="1682262" cy="1600200"/>
          </a:xfrm>
          <a:prstGeom prst="rect">
            <a:avLst/>
          </a:prstGeom>
        </p:spPr>
      </p:pic>
      <p:pic>
        <p:nvPicPr>
          <p:cNvPr id="8194" name="Picture 2" descr="lgplogo2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4959" y="62178"/>
            <a:ext cx="6707205" cy="1274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0" y="4896962"/>
            <a:ext cx="9144000" cy="1961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5"/>
          <p:cNvSpPr txBox="1">
            <a:spLocks noChangeArrowheads="1"/>
          </p:cNvSpPr>
          <p:nvPr/>
        </p:nvSpPr>
        <p:spPr bwMode="auto">
          <a:xfrm>
            <a:off x="1524000" y="1722874"/>
            <a:ext cx="9144000" cy="3398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fontAlgn="base">
              <a:spcBef>
                <a:spcPct val="20000"/>
              </a:spcBef>
              <a:spcAft>
                <a:spcPct val="0"/>
              </a:spcAft>
              <a:buClr>
                <a:srgbClr val="691638"/>
              </a:buClr>
              <a:buNone/>
              <a:defRPr sz="2800">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algn="ctr">
              <a:lnSpc>
                <a:spcPct val="80000"/>
              </a:lnSpc>
              <a:spcBef>
                <a:spcPts val="0"/>
              </a:spcBef>
              <a:spcAft>
                <a:spcPts val="300"/>
              </a:spcAft>
            </a:pPr>
            <a:r>
              <a:rPr lang="en-US" sz="2400" dirty="0">
                <a:solidFill>
                  <a:schemeClr val="tx1"/>
                </a:solidFill>
              </a:rPr>
              <a:t>38655 BMED-2300-02</a:t>
            </a:r>
          </a:p>
          <a:p>
            <a:pPr algn="ctr">
              <a:lnSpc>
                <a:spcPct val="80000"/>
              </a:lnSpc>
              <a:spcBef>
                <a:spcPts val="600"/>
              </a:spcBef>
              <a:spcAft>
                <a:spcPts val="600"/>
              </a:spcAft>
            </a:pPr>
            <a:r>
              <a:rPr lang="en-US" sz="4400" b="1" dirty="0">
                <a:solidFill>
                  <a:schemeClr val="tx1"/>
                </a:solidFill>
              </a:rPr>
              <a:t>Lecture 8: Discrete FT</a:t>
            </a:r>
          </a:p>
          <a:p>
            <a:pPr algn="ctr">
              <a:lnSpc>
                <a:spcPct val="80000"/>
              </a:lnSpc>
              <a:spcBef>
                <a:spcPts val="0"/>
              </a:spcBef>
              <a:spcAft>
                <a:spcPts val="300"/>
              </a:spcAft>
            </a:pPr>
            <a:r>
              <a:rPr lang="en-US" sz="2400" dirty="0">
                <a:solidFill>
                  <a:schemeClr val="tx1"/>
                </a:solidFill>
              </a:rPr>
              <a:t>Ge Wang, PhD</a:t>
            </a:r>
          </a:p>
          <a:p>
            <a:pPr algn="ctr">
              <a:lnSpc>
                <a:spcPct val="80000"/>
              </a:lnSpc>
              <a:spcBef>
                <a:spcPts val="0"/>
              </a:spcBef>
              <a:spcAft>
                <a:spcPts val="300"/>
              </a:spcAft>
            </a:pPr>
            <a:r>
              <a:rPr lang="en-US" sz="2400" dirty="0">
                <a:solidFill>
                  <a:schemeClr val="tx1"/>
                </a:solidFill>
              </a:rPr>
              <a:t>Biomedical Imaging Center</a:t>
            </a:r>
          </a:p>
          <a:p>
            <a:pPr algn="ctr">
              <a:lnSpc>
                <a:spcPct val="80000"/>
              </a:lnSpc>
              <a:spcBef>
                <a:spcPts val="0"/>
              </a:spcBef>
              <a:spcAft>
                <a:spcPts val="300"/>
              </a:spcAft>
            </a:pPr>
            <a:r>
              <a:rPr lang="en-US" sz="2400" dirty="0">
                <a:solidFill>
                  <a:schemeClr val="tx1"/>
                </a:solidFill>
              </a:rPr>
              <a:t>CBIS/BME, RPI</a:t>
            </a:r>
          </a:p>
          <a:p>
            <a:pPr algn="ctr">
              <a:lnSpc>
                <a:spcPct val="80000"/>
              </a:lnSpc>
              <a:spcBef>
                <a:spcPts val="0"/>
              </a:spcBef>
              <a:spcAft>
                <a:spcPts val="300"/>
              </a:spcAft>
            </a:pPr>
            <a:r>
              <a:rPr lang="en-US" sz="2400" dirty="0">
                <a:solidFill>
                  <a:schemeClr val="tx1"/>
                </a:solidFill>
              </a:rPr>
              <a:t>wangg6@rpi.edu</a:t>
            </a:r>
          </a:p>
          <a:p>
            <a:pPr algn="ctr">
              <a:lnSpc>
                <a:spcPct val="80000"/>
              </a:lnSpc>
              <a:spcBef>
                <a:spcPts val="0"/>
              </a:spcBef>
              <a:spcAft>
                <a:spcPts val="300"/>
              </a:spcAft>
            </a:pPr>
            <a:endParaRPr lang="en-US" sz="2400" dirty="0">
              <a:solidFill>
                <a:schemeClr val="tx1"/>
              </a:solidFill>
            </a:endParaRPr>
          </a:p>
          <a:p>
            <a:pPr algn="ctr">
              <a:lnSpc>
                <a:spcPct val="80000"/>
              </a:lnSpc>
              <a:spcBef>
                <a:spcPts val="0"/>
              </a:spcBef>
              <a:spcAft>
                <a:spcPts val="0"/>
              </a:spcAft>
            </a:pPr>
            <a:endParaRPr lang="en-US" sz="2400" dirty="0">
              <a:solidFill>
                <a:schemeClr val="tx1"/>
              </a:solidFill>
            </a:endParaRPr>
          </a:p>
          <a:p>
            <a:pPr>
              <a:lnSpc>
                <a:spcPct val="80000"/>
              </a:lnSpc>
              <a:spcBef>
                <a:spcPts val="0"/>
              </a:spcBef>
              <a:spcAft>
                <a:spcPts val="0"/>
              </a:spcAft>
            </a:pPr>
            <a:endParaRPr lang="en-US" sz="2400" dirty="0">
              <a:solidFill>
                <a:schemeClr val="tx1"/>
              </a:solidFill>
            </a:endParaRPr>
          </a:p>
          <a:p>
            <a:pPr>
              <a:lnSpc>
                <a:spcPct val="80000"/>
              </a:lnSpc>
              <a:spcBef>
                <a:spcPts val="0"/>
              </a:spcBef>
              <a:spcAft>
                <a:spcPts val="0"/>
              </a:spcAft>
            </a:pPr>
            <a:endParaRPr lang="en-US" sz="2400" dirty="0">
              <a:solidFill>
                <a:schemeClr val="tx1"/>
              </a:solidFill>
            </a:endParaRPr>
          </a:p>
        </p:txBody>
      </p:sp>
    </p:spTree>
    <p:extLst>
      <p:ext uri="{BB962C8B-B14F-4D97-AF65-F5344CB8AC3E}">
        <p14:creationId xmlns:p14="http://schemas.microsoft.com/office/powerpoint/2010/main" val="4111854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and green course schedule&#10;&#10;AI-generated content may be incorrect.">
            <a:extLst>
              <a:ext uri="{FF2B5EF4-FFF2-40B4-BE49-F238E27FC236}">
                <a16:creationId xmlns:a16="http://schemas.microsoft.com/office/drawing/2014/main" id="{A7CB98B9-F1ED-5CFF-355A-C21675942484}"/>
              </a:ext>
            </a:extLst>
          </p:cNvPr>
          <p:cNvPicPr>
            <a:picLocks noChangeAspect="1"/>
          </p:cNvPicPr>
          <p:nvPr/>
        </p:nvPicPr>
        <p:blipFill>
          <a:blip r:embed="rId3">
            <a:extLst>
              <a:ext uri="{28A0092B-C50C-407E-A947-70E740481C1C}">
                <a14:useLocalDpi xmlns:a14="http://schemas.microsoft.com/office/drawing/2010/main" val="0"/>
              </a:ext>
            </a:extLst>
          </a:blip>
          <a:srcRect r="29143"/>
          <a:stretch>
            <a:fillRect/>
          </a:stretch>
        </p:blipFill>
        <p:spPr>
          <a:xfrm>
            <a:off x="1643923" y="63708"/>
            <a:ext cx="6958211" cy="5523782"/>
          </a:xfrm>
          <a:prstGeom prst="rect">
            <a:avLst/>
          </a:prstGeom>
        </p:spPr>
      </p:pic>
    </p:spTree>
    <p:extLst>
      <p:ext uri="{BB962C8B-B14F-4D97-AF65-F5344CB8AC3E}">
        <p14:creationId xmlns:p14="http://schemas.microsoft.com/office/powerpoint/2010/main" val="1460005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Sampling Theorem</a:t>
            </a:r>
          </a:p>
        </p:txBody>
      </p:sp>
      <p:pic>
        <p:nvPicPr>
          <p:cNvPr id="4" name="Picture 3"/>
          <p:cNvPicPr>
            <a:picLocks noChangeAspect="1"/>
          </p:cNvPicPr>
          <p:nvPr/>
        </p:nvPicPr>
        <p:blipFill>
          <a:blip r:embed="rId3"/>
          <a:stretch>
            <a:fillRect/>
          </a:stretch>
        </p:blipFill>
        <p:spPr>
          <a:xfrm>
            <a:off x="1524001" y="1414791"/>
            <a:ext cx="7293525" cy="4364958"/>
          </a:xfrm>
          <a:prstGeom prst="rect">
            <a:avLst/>
          </a:prstGeom>
        </p:spPr>
      </p:pic>
      <p:cxnSp>
        <p:nvCxnSpPr>
          <p:cNvPr id="5" name="Straight Connector 4"/>
          <p:cNvCxnSpPr/>
          <p:nvPr/>
        </p:nvCxnSpPr>
        <p:spPr bwMode="auto">
          <a:xfrm>
            <a:off x="6095868" y="6222559"/>
            <a:ext cx="1264457" cy="0"/>
          </a:xfrm>
          <a:prstGeom prst="line">
            <a:avLst/>
          </a:prstGeom>
          <a:solidFill>
            <a:schemeClr val="accent1"/>
          </a:solidFill>
          <a:ln w="38100" cap="flat" cmpd="sng" algn="ctr">
            <a:solidFill>
              <a:srgbClr val="FF0000"/>
            </a:solidFill>
            <a:prstDash val="solid"/>
            <a:round/>
            <a:headEnd type="none" w="med" len="med"/>
            <a:tailEnd type="none" w="med" len="med"/>
          </a:ln>
          <a:effectLst/>
        </p:spPr>
      </p:cxnSp>
      <p:sp>
        <p:nvSpPr>
          <p:cNvPr id="6" name="Rectangle 5"/>
          <p:cNvSpPr/>
          <p:nvPr/>
        </p:nvSpPr>
        <p:spPr bwMode="auto">
          <a:xfrm>
            <a:off x="8260473" y="5048278"/>
            <a:ext cx="557053" cy="97215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pic>
        <p:nvPicPr>
          <p:cNvPr id="7" name="Picture 6"/>
          <p:cNvPicPr>
            <a:picLocks noChangeAspect="1"/>
          </p:cNvPicPr>
          <p:nvPr/>
        </p:nvPicPr>
        <p:blipFill>
          <a:blip r:embed="rId4"/>
          <a:stretch>
            <a:fillRect/>
          </a:stretch>
        </p:blipFill>
        <p:spPr>
          <a:xfrm>
            <a:off x="6093500" y="5779749"/>
            <a:ext cx="1266825" cy="400050"/>
          </a:xfrm>
          <a:prstGeom prst="rect">
            <a:avLst/>
          </a:prstGeom>
        </p:spPr>
      </p:pic>
      <p:sp>
        <p:nvSpPr>
          <p:cNvPr id="8" name="Rectangle 7"/>
          <p:cNvSpPr/>
          <p:nvPr/>
        </p:nvSpPr>
        <p:spPr bwMode="auto">
          <a:xfrm>
            <a:off x="6838926" y="3450740"/>
            <a:ext cx="667265" cy="383059"/>
          </a:xfrm>
          <a:prstGeom prst="rect">
            <a:avLst/>
          </a:prstGeom>
          <a:solidFill>
            <a:srgbClr val="FF000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pic>
        <p:nvPicPr>
          <p:cNvPr id="9" name="Picture 8" descr="http://www.magic-emoji.com/emoji/images/83_emoji_iphone_black_diamond_suit.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6200000">
            <a:off x="7636892" y="739805"/>
            <a:ext cx="1702055" cy="17020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57043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If </a:t>
            </a:r>
            <a:r>
              <a:rPr lang="en-US" dirty="0" err="1"/>
              <a:t>Pequals</a:t>
            </a:r>
            <a:r>
              <a:rPr lang="en-US" dirty="0"/>
              <a:t> to2W</a:t>
            </a:r>
          </a:p>
        </p:txBody>
      </p:sp>
      <p:pic>
        <p:nvPicPr>
          <p:cNvPr id="71682" name="Picture 2" descr="Image result for sin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246355"/>
            <a:ext cx="8407658" cy="4924876"/>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Arrow Connector 7"/>
          <p:cNvCxnSpPr/>
          <p:nvPr/>
        </p:nvCxnSpPr>
        <p:spPr bwMode="auto">
          <a:xfrm flipV="1">
            <a:off x="5727829" y="2716808"/>
            <a:ext cx="0" cy="1210962"/>
          </a:xfrm>
          <a:prstGeom prst="straightConnector1">
            <a:avLst/>
          </a:prstGeom>
          <a:solidFill>
            <a:schemeClr val="accent1"/>
          </a:solidFill>
          <a:ln w="38100" cap="flat" cmpd="sng" algn="ctr">
            <a:solidFill>
              <a:srgbClr val="0066FF"/>
            </a:solidFill>
            <a:prstDash val="solid"/>
            <a:round/>
            <a:headEnd type="none" w="med" len="med"/>
            <a:tailEnd type="triangle"/>
          </a:ln>
          <a:effectLst/>
        </p:spPr>
      </p:cxnSp>
      <p:cxnSp>
        <p:nvCxnSpPr>
          <p:cNvPr id="11" name="Straight Arrow Connector 10"/>
          <p:cNvCxnSpPr/>
          <p:nvPr/>
        </p:nvCxnSpPr>
        <p:spPr bwMode="auto">
          <a:xfrm flipV="1">
            <a:off x="9208316" y="2716808"/>
            <a:ext cx="0" cy="1210962"/>
          </a:xfrm>
          <a:prstGeom prst="straightConnector1">
            <a:avLst/>
          </a:prstGeom>
          <a:solidFill>
            <a:schemeClr val="accent1"/>
          </a:solidFill>
          <a:ln w="38100" cap="flat" cmpd="sng" algn="ctr">
            <a:solidFill>
              <a:srgbClr val="0066FF"/>
            </a:solidFill>
            <a:prstDash val="solid"/>
            <a:round/>
            <a:headEnd type="none" w="med" len="med"/>
            <a:tailEnd type="triangle"/>
          </a:ln>
          <a:effectLst/>
        </p:spPr>
      </p:cxnSp>
      <p:cxnSp>
        <p:nvCxnSpPr>
          <p:cNvPr id="12" name="Straight Arrow Connector 11"/>
          <p:cNvCxnSpPr/>
          <p:nvPr/>
        </p:nvCxnSpPr>
        <p:spPr bwMode="auto">
          <a:xfrm flipV="1">
            <a:off x="7482489" y="2757997"/>
            <a:ext cx="0" cy="1210962"/>
          </a:xfrm>
          <a:prstGeom prst="straightConnector1">
            <a:avLst/>
          </a:prstGeom>
          <a:solidFill>
            <a:schemeClr val="accent1"/>
          </a:solidFill>
          <a:ln w="38100" cap="flat" cmpd="sng" algn="ctr">
            <a:solidFill>
              <a:srgbClr val="0066FF"/>
            </a:solidFill>
            <a:prstDash val="solid"/>
            <a:round/>
            <a:headEnd type="none" w="med" len="med"/>
            <a:tailEnd type="triangle"/>
          </a:ln>
          <a:effectLst/>
        </p:spPr>
      </p:cxnSp>
      <p:cxnSp>
        <p:nvCxnSpPr>
          <p:cNvPr id="15" name="Straight Arrow Connector 14"/>
          <p:cNvCxnSpPr/>
          <p:nvPr/>
        </p:nvCxnSpPr>
        <p:spPr bwMode="auto">
          <a:xfrm flipV="1">
            <a:off x="3954634" y="2737402"/>
            <a:ext cx="0" cy="1210962"/>
          </a:xfrm>
          <a:prstGeom prst="straightConnector1">
            <a:avLst/>
          </a:prstGeom>
          <a:solidFill>
            <a:schemeClr val="accent1"/>
          </a:solidFill>
          <a:ln w="38100" cap="flat" cmpd="sng" algn="ctr">
            <a:solidFill>
              <a:srgbClr val="0066FF"/>
            </a:solidFill>
            <a:prstDash val="solid"/>
            <a:round/>
            <a:headEnd type="none" w="med" len="med"/>
            <a:tailEnd type="triangle"/>
          </a:ln>
          <a:effectLst/>
        </p:spPr>
      </p:cxnSp>
      <p:cxnSp>
        <p:nvCxnSpPr>
          <p:cNvPr id="16" name="Straight Arrow Connector 15"/>
          <p:cNvCxnSpPr/>
          <p:nvPr/>
        </p:nvCxnSpPr>
        <p:spPr bwMode="auto">
          <a:xfrm flipV="1">
            <a:off x="2228807" y="2778591"/>
            <a:ext cx="0" cy="1210962"/>
          </a:xfrm>
          <a:prstGeom prst="straightConnector1">
            <a:avLst/>
          </a:prstGeom>
          <a:solidFill>
            <a:schemeClr val="accent1"/>
          </a:solidFill>
          <a:ln w="38100" cap="flat" cmpd="sng" algn="ctr">
            <a:solidFill>
              <a:srgbClr val="0066FF"/>
            </a:solidFill>
            <a:prstDash val="solid"/>
            <a:round/>
            <a:headEnd type="none" w="med" len="med"/>
            <a:tailEnd type="triangle"/>
          </a:ln>
          <a:effectLst/>
        </p:spPr>
      </p:cxnSp>
    </p:spTree>
    <p:extLst>
      <p:ext uri="{BB962C8B-B14F-4D97-AF65-F5344CB8AC3E}">
        <p14:creationId xmlns:p14="http://schemas.microsoft.com/office/powerpoint/2010/main" val="3217871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par>
                                <p:cTn id="17" presetID="10"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2913229" y="1129039"/>
            <a:ext cx="6519547" cy="5138937"/>
          </a:xfrm>
          <a:prstGeom prst="rect">
            <a:avLst/>
          </a:prstGeom>
        </p:spPr>
      </p:pic>
      <p:sp>
        <p:nvSpPr>
          <p:cNvPr id="2" name="Title 1"/>
          <p:cNvSpPr>
            <a:spLocks noGrp="1"/>
          </p:cNvSpPr>
          <p:nvPr>
            <p:ph type="title"/>
          </p:nvPr>
        </p:nvSpPr>
        <p:spPr>
          <a:xfrm>
            <a:off x="1524000" y="152400"/>
            <a:ext cx="9144000" cy="838200"/>
          </a:xfrm>
        </p:spPr>
        <p:txBody>
          <a:bodyPr/>
          <a:lstStyle/>
          <a:p>
            <a:r>
              <a:rPr lang="en-US" dirty="0"/>
              <a:t>Derivation of the Sampling Theorem</a:t>
            </a:r>
          </a:p>
        </p:txBody>
      </p:sp>
      <p:cxnSp>
        <p:nvCxnSpPr>
          <p:cNvPr id="5" name="Straight Connector 4"/>
          <p:cNvCxnSpPr/>
          <p:nvPr/>
        </p:nvCxnSpPr>
        <p:spPr bwMode="auto">
          <a:xfrm>
            <a:off x="3874488" y="1722921"/>
            <a:ext cx="2710475" cy="0"/>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6" name="Straight Connector 5"/>
          <p:cNvCxnSpPr/>
          <p:nvPr/>
        </p:nvCxnSpPr>
        <p:spPr bwMode="auto">
          <a:xfrm>
            <a:off x="3691113" y="3935128"/>
            <a:ext cx="1264457" cy="0"/>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7" name="Straight Connector 6"/>
          <p:cNvCxnSpPr/>
          <p:nvPr/>
        </p:nvCxnSpPr>
        <p:spPr bwMode="auto">
          <a:xfrm>
            <a:off x="5681938" y="3935128"/>
            <a:ext cx="1264457" cy="0"/>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8" name="Straight Connector 7"/>
          <p:cNvCxnSpPr/>
          <p:nvPr/>
        </p:nvCxnSpPr>
        <p:spPr bwMode="auto">
          <a:xfrm>
            <a:off x="4967094" y="4742046"/>
            <a:ext cx="2036420" cy="0"/>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9" name="Straight Connector 8"/>
          <p:cNvCxnSpPr/>
          <p:nvPr/>
        </p:nvCxnSpPr>
        <p:spPr bwMode="auto">
          <a:xfrm>
            <a:off x="4222275" y="6239100"/>
            <a:ext cx="2464068" cy="0"/>
          </a:xfrm>
          <a:prstGeom prst="line">
            <a:avLst/>
          </a:prstGeom>
          <a:solidFill>
            <a:schemeClr val="accent1"/>
          </a:solidFill>
          <a:ln w="38100" cap="flat" cmpd="sng" algn="ctr">
            <a:solidFill>
              <a:srgbClr val="FF0000"/>
            </a:solidFill>
            <a:prstDash val="solid"/>
            <a:round/>
            <a:headEnd type="none" w="med" len="med"/>
            <a:tailEnd type="none" w="med" len="med"/>
          </a:ln>
          <a:effectLst/>
        </p:spPr>
      </p:cxnSp>
      <p:sp>
        <p:nvSpPr>
          <p:cNvPr id="4" name="Rectangle 3"/>
          <p:cNvSpPr/>
          <p:nvPr/>
        </p:nvSpPr>
        <p:spPr>
          <a:xfrm>
            <a:off x="1827276" y="6267976"/>
            <a:ext cx="4370324" cy="461665"/>
          </a:xfrm>
          <a:prstGeom prst="rect">
            <a:avLst/>
          </a:prstGeom>
        </p:spPr>
        <p:txBody>
          <a:bodyPr wrap="square">
            <a:spAutoFit/>
          </a:bodyPr>
          <a:lstStyle/>
          <a:p>
            <a:pPr algn="r"/>
            <a:r>
              <a:rPr lang="en-US" sz="1200" dirty="0">
                <a:hlinkClick r:id="rId4"/>
              </a:rPr>
              <a:t>https://dsp.stackexchange.com/questions/37480/formulating-a-function-on-matlab-for-the-shannon-interpolation-formula</a:t>
            </a:r>
            <a:r>
              <a:rPr lang="en-US" sz="1200" dirty="0"/>
              <a:t> </a:t>
            </a:r>
          </a:p>
        </p:txBody>
      </p:sp>
    </p:spTree>
    <p:extLst>
      <p:ext uri="{BB962C8B-B14F-4D97-AF65-F5344CB8AC3E}">
        <p14:creationId xmlns:p14="http://schemas.microsoft.com/office/powerpoint/2010/main" val="40815325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Good Case: </a:t>
            </a:r>
            <a:r>
              <a:rPr lang="en-US" dirty="0">
                <a:solidFill>
                  <a:srgbClr val="FF0000"/>
                </a:solidFill>
              </a:rPr>
              <a:t>True</a:t>
            </a:r>
            <a:r>
              <a:rPr lang="en-US" dirty="0"/>
              <a:t> versus </a:t>
            </a:r>
            <a:r>
              <a:rPr lang="en-US" dirty="0">
                <a:solidFill>
                  <a:srgbClr val="0000FF"/>
                </a:solidFill>
              </a:rPr>
              <a:t>Sampled</a:t>
            </a:r>
          </a:p>
        </p:txBody>
      </p:sp>
      <p:pic>
        <p:nvPicPr>
          <p:cNvPr id="4" name="Picture 3"/>
          <p:cNvPicPr>
            <a:picLocks noChangeAspect="1"/>
          </p:cNvPicPr>
          <p:nvPr/>
        </p:nvPicPr>
        <p:blipFill>
          <a:blip r:embed="rId3"/>
          <a:stretch>
            <a:fillRect/>
          </a:stretch>
        </p:blipFill>
        <p:spPr>
          <a:xfrm>
            <a:off x="1965106" y="1006344"/>
            <a:ext cx="6297521" cy="5699256"/>
          </a:xfrm>
          <a:prstGeom prst="rect">
            <a:avLst/>
          </a:prstGeom>
        </p:spPr>
      </p:pic>
    </p:spTree>
    <p:extLst>
      <p:ext uri="{BB962C8B-B14F-4D97-AF65-F5344CB8AC3E}">
        <p14:creationId xmlns:p14="http://schemas.microsoft.com/office/powerpoint/2010/main" val="42513692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Bad Case: </a:t>
            </a:r>
            <a:r>
              <a:rPr lang="en-US" dirty="0">
                <a:solidFill>
                  <a:srgbClr val="FF0000"/>
                </a:solidFill>
              </a:rPr>
              <a:t>True</a:t>
            </a:r>
            <a:r>
              <a:rPr lang="en-US" dirty="0"/>
              <a:t> versus </a:t>
            </a:r>
            <a:r>
              <a:rPr lang="en-US" dirty="0">
                <a:solidFill>
                  <a:srgbClr val="0000FF"/>
                </a:solidFill>
              </a:rPr>
              <a:t>Sampled</a:t>
            </a:r>
            <a:endParaRPr lang="en-US" dirty="0"/>
          </a:p>
        </p:txBody>
      </p:sp>
      <p:pic>
        <p:nvPicPr>
          <p:cNvPr id="3" name="Picture 2"/>
          <p:cNvPicPr>
            <a:picLocks noChangeAspect="1"/>
          </p:cNvPicPr>
          <p:nvPr/>
        </p:nvPicPr>
        <p:blipFill>
          <a:blip r:embed="rId3"/>
          <a:stretch>
            <a:fillRect/>
          </a:stretch>
        </p:blipFill>
        <p:spPr>
          <a:xfrm>
            <a:off x="1813896" y="990600"/>
            <a:ext cx="6329008" cy="5596922"/>
          </a:xfrm>
          <a:prstGeom prst="rect">
            <a:avLst/>
          </a:prstGeom>
        </p:spPr>
      </p:pic>
    </p:spTree>
    <p:extLst>
      <p:ext uri="{BB962C8B-B14F-4D97-AF65-F5344CB8AC3E}">
        <p14:creationId xmlns:p14="http://schemas.microsoft.com/office/powerpoint/2010/main" val="1893646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 Picture</a:t>
            </a:r>
          </a:p>
        </p:txBody>
      </p:sp>
      <p:pic>
        <p:nvPicPr>
          <p:cNvPr id="4" name="Picture 3"/>
          <p:cNvPicPr/>
          <p:nvPr/>
        </p:nvPicPr>
        <p:blipFill>
          <a:blip r:embed="rId3"/>
          <a:stretch>
            <a:fillRect/>
          </a:stretch>
        </p:blipFill>
        <p:spPr>
          <a:xfrm>
            <a:off x="1871873" y="1282329"/>
            <a:ext cx="5355093" cy="5329060"/>
          </a:xfrm>
          <a:prstGeom prst="rect">
            <a:avLst/>
          </a:prstGeom>
        </p:spPr>
      </p:pic>
      <p:pic>
        <p:nvPicPr>
          <p:cNvPr id="5" name="Picture 4" descr="http://www.magic-emoji.com/emoji/images/83_emoji_iphone_black_diamond_suit.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7015548" y="773671"/>
            <a:ext cx="1702055" cy="17020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69625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Text Box 3"/>
          <p:cNvSpPr txBox="1">
            <a:spLocks noChangeArrowheads="1"/>
          </p:cNvSpPr>
          <p:nvPr/>
        </p:nvSpPr>
        <p:spPr bwMode="auto">
          <a:xfrm>
            <a:off x="1524000" y="990600"/>
            <a:ext cx="24513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ja-JP" sz="2000" b="1" dirty="0">
                <a:latin typeface="+mn-lt"/>
                <a:ea typeface="MS PGothic" panose="020B0600070205080204" pitchFamily="34" charset="-128"/>
              </a:rPr>
              <a:t>Continuous Signal</a:t>
            </a:r>
          </a:p>
        </p:txBody>
      </p:sp>
      <p:sp>
        <p:nvSpPr>
          <p:cNvPr id="38916" name="Text Box 4"/>
          <p:cNvSpPr txBox="1">
            <a:spLocks noChangeArrowheads="1"/>
          </p:cNvSpPr>
          <p:nvPr/>
        </p:nvSpPr>
        <p:spPr bwMode="auto">
          <a:xfrm>
            <a:off x="1524001" y="3048000"/>
            <a:ext cx="385900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ja-JP" sz="2000" b="1" dirty="0">
                <a:latin typeface="+mn-lt"/>
                <a:ea typeface="MS PGothic" panose="020B0600070205080204" pitchFamily="34" charset="-128"/>
              </a:rPr>
              <a:t>Shah Function (Impulse Train)</a:t>
            </a:r>
          </a:p>
        </p:txBody>
      </p:sp>
      <p:grpSp>
        <p:nvGrpSpPr>
          <p:cNvPr id="38917" name="Group 5"/>
          <p:cNvGrpSpPr>
            <a:grpSpLocks/>
          </p:cNvGrpSpPr>
          <p:nvPr/>
        </p:nvGrpSpPr>
        <p:grpSpPr bwMode="auto">
          <a:xfrm>
            <a:off x="3179816" y="914401"/>
            <a:ext cx="5381625" cy="2073275"/>
            <a:chOff x="1057" y="982"/>
            <a:chExt cx="3390" cy="1306"/>
          </a:xfrm>
        </p:grpSpPr>
        <p:sp>
          <p:nvSpPr>
            <p:cNvPr id="38956" name="Line 6"/>
            <p:cNvSpPr>
              <a:spLocks noChangeShapeType="1"/>
            </p:cNvSpPr>
            <p:nvPr/>
          </p:nvSpPr>
          <p:spPr bwMode="auto">
            <a:xfrm>
              <a:off x="1057" y="2085"/>
              <a:ext cx="333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n-lt"/>
              </a:endParaRPr>
            </a:p>
          </p:txBody>
        </p:sp>
        <p:sp>
          <p:nvSpPr>
            <p:cNvPr id="38957" name="Line 7"/>
            <p:cNvSpPr>
              <a:spLocks noChangeShapeType="1"/>
            </p:cNvSpPr>
            <p:nvPr/>
          </p:nvSpPr>
          <p:spPr bwMode="auto">
            <a:xfrm flipV="1">
              <a:off x="1953" y="1042"/>
              <a:ext cx="0" cy="110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n-lt"/>
              </a:endParaRPr>
            </a:p>
          </p:txBody>
        </p:sp>
        <p:sp>
          <p:nvSpPr>
            <p:cNvPr id="38958" name="Freeform 8"/>
            <p:cNvSpPr>
              <a:spLocks/>
            </p:cNvSpPr>
            <p:nvPr/>
          </p:nvSpPr>
          <p:spPr bwMode="auto">
            <a:xfrm>
              <a:off x="1202" y="1224"/>
              <a:ext cx="3037" cy="861"/>
            </a:xfrm>
            <a:custGeom>
              <a:avLst/>
              <a:gdLst>
                <a:gd name="T0" fmla="*/ 0 w 3037"/>
                <a:gd name="T1" fmla="*/ 538 h 1005"/>
                <a:gd name="T2" fmla="*/ 175 w 3037"/>
                <a:gd name="T3" fmla="*/ 484 h 1005"/>
                <a:gd name="T4" fmla="*/ 413 w 3037"/>
                <a:gd name="T5" fmla="*/ 373 h 1005"/>
                <a:gd name="T6" fmla="*/ 532 w 3037"/>
                <a:gd name="T7" fmla="*/ 386 h 1005"/>
                <a:gd name="T8" fmla="*/ 607 w 3037"/>
                <a:gd name="T9" fmla="*/ 386 h 1005"/>
                <a:gd name="T10" fmla="*/ 651 w 3037"/>
                <a:gd name="T11" fmla="*/ 367 h 1005"/>
                <a:gd name="T12" fmla="*/ 720 w 3037"/>
                <a:gd name="T13" fmla="*/ 342 h 1005"/>
                <a:gd name="T14" fmla="*/ 801 w 3037"/>
                <a:gd name="T15" fmla="*/ 346 h 1005"/>
                <a:gd name="T16" fmla="*/ 883 w 3037"/>
                <a:gd name="T17" fmla="*/ 373 h 1005"/>
                <a:gd name="T18" fmla="*/ 1039 w 3037"/>
                <a:gd name="T19" fmla="*/ 352 h 1005"/>
                <a:gd name="T20" fmla="*/ 1158 w 3037"/>
                <a:gd name="T21" fmla="*/ 282 h 1005"/>
                <a:gd name="T22" fmla="*/ 1252 w 3037"/>
                <a:gd name="T23" fmla="*/ 214 h 1005"/>
                <a:gd name="T24" fmla="*/ 1390 w 3037"/>
                <a:gd name="T25" fmla="*/ 187 h 1005"/>
                <a:gd name="T26" fmla="*/ 1553 w 3037"/>
                <a:gd name="T27" fmla="*/ 235 h 1005"/>
                <a:gd name="T28" fmla="*/ 1697 w 3037"/>
                <a:gd name="T29" fmla="*/ 235 h 1005"/>
                <a:gd name="T30" fmla="*/ 1828 w 3037"/>
                <a:gd name="T31" fmla="*/ 143 h 1005"/>
                <a:gd name="T32" fmla="*/ 1966 w 3037"/>
                <a:gd name="T33" fmla="*/ 22 h 1005"/>
                <a:gd name="T34" fmla="*/ 2054 w 3037"/>
                <a:gd name="T35" fmla="*/ 12 h 1005"/>
                <a:gd name="T36" fmla="*/ 2129 w 3037"/>
                <a:gd name="T37" fmla="*/ 52 h 1005"/>
                <a:gd name="T38" fmla="*/ 2241 w 3037"/>
                <a:gd name="T39" fmla="*/ 191 h 1005"/>
                <a:gd name="T40" fmla="*/ 2423 w 3037"/>
                <a:gd name="T41" fmla="*/ 356 h 1005"/>
                <a:gd name="T42" fmla="*/ 2655 w 3037"/>
                <a:gd name="T43" fmla="*/ 450 h 1005"/>
                <a:gd name="T44" fmla="*/ 2799 w 3037"/>
                <a:gd name="T45" fmla="*/ 490 h 1005"/>
                <a:gd name="T46" fmla="*/ 3037 w 3037"/>
                <a:gd name="T47" fmla="*/ 541 h 100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037"/>
                <a:gd name="T73" fmla="*/ 0 h 1005"/>
                <a:gd name="T74" fmla="*/ 3037 w 3037"/>
                <a:gd name="T75" fmla="*/ 1005 h 100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037" h="1005">
                  <a:moveTo>
                    <a:pt x="0" y="999"/>
                  </a:moveTo>
                  <a:cubicBezTo>
                    <a:pt x="53" y="974"/>
                    <a:pt x="106" y="949"/>
                    <a:pt x="175" y="898"/>
                  </a:cubicBezTo>
                  <a:cubicBezTo>
                    <a:pt x="244" y="847"/>
                    <a:pt x="354" y="722"/>
                    <a:pt x="413" y="692"/>
                  </a:cubicBezTo>
                  <a:cubicBezTo>
                    <a:pt x="472" y="662"/>
                    <a:pt x="500" y="713"/>
                    <a:pt x="532" y="717"/>
                  </a:cubicBezTo>
                  <a:cubicBezTo>
                    <a:pt x="564" y="721"/>
                    <a:pt x="587" y="723"/>
                    <a:pt x="607" y="717"/>
                  </a:cubicBezTo>
                  <a:cubicBezTo>
                    <a:pt x="627" y="711"/>
                    <a:pt x="632" y="693"/>
                    <a:pt x="651" y="679"/>
                  </a:cubicBezTo>
                  <a:cubicBezTo>
                    <a:pt x="670" y="665"/>
                    <a:pt x="695" y="641"/>
                    <a:pt x="720" y="635"/>
                  </a:cubicBezTo>
                  <a:cubicBezTo>
                    <a:pt x="745" y="629"/>
                    <a:pt x="774" y="633"/>
                    <a:pt x="801" y="642"/>
                  </a:cubicBezTo>
                  <a:cubicBezTo>
                    <a:pt x="828" y="651"/>
                    <a:pt x="843" y="690"/>
                    <a:pt x="883" y="692"/>
                  </a:cubicBezTo>
                  <a:cubicBezTo>
                    <a:pt x="923" y="694"/>
                    <a:pt x="993" y="682"/>
                    <a:pt x="1039" y="654"/>
                  </a:cubicBezTo>
                  <a:cubicBezTo>
                    <a:pt x="1085" y="626"/>
                    <a:pt x="1122" y="566"/>
                    <a:pt x="1158" y="523"/>
                  </a:cubicBezTo>
                  <a:cubicBezTo>
                    <a:pt x="1194" y="480"/>
                    <a:pt x="1213" y="427"/>
                    <a:pt x="1252" y="398"/>
                  </a:cubicBezTo>
                  <a:cubicBezTo>
                    <a:pt x="1291" y="369"/>
                    <a:pt x="1340" y="341"/>
                    <a:pt x="1390" y="347"/>
                  </a:cubicBezTo>
                  <a:cubicBezTo>
                    <a:pt x="1440" y="353"/>
                    <a:pt x="1502" y="420"/>
                    <a:pt x="1553" y="435"/>
                  </a:cubicBezTo>
                  <a:cubicBezTo>
                    <a:pt x="1604" y="450"/>
                    <a:pt x="1651" y="463"/>
                    <a:pt x="1697" y="435"/>
                  </a:cubicBezTo>
                  <a:cubicBezTo>
                    <a:pt x="1743" y="407"/>
                    <a:pt x="1783" y="332"/>
                    <a:pt x="1828" y="266"/>
                  </a:cubicBezTo>
                  <a:cubicBezTo>
                    <a:pt x="1873" y="200"/>
                    <a:pt x="1928" y="82"/>
                    <a:pt x="1966" y="41"/>
                  </a:cubicBezTo>
                  <a:cubicBezTo>
                    <a:pt x="2004" y="0"/>
                    <a:pt x="2027" y="13"/>
                    <a:pt x="2054" y="22"/>
                  </a:cubicBezTo>
                  <a:cubicBezTo>
                    <a:pt x="2081" y="31"/>
                    <a:pt x="2098" y="42"/>
                    <a:pt x="2129" y="97"/>
                  </a:cubicBezTo>
                  <a:cubicBezTo>
                    <a:pt x="2160" y="152"/>
                    <a:pt x="2192" y="260"/>
                    <a:pt x="2241" y="354"/>
                  </a:cubicBezTo>
                  <a:cubicBezTo>
                    <a:pt x="2290" y="448"/>
                    <a:pt x="2354" y="581"/>
                    <a:pt x="2423" y="661"/>
                  </a:cubicBezTo>
                  <a:cubicBezTo>
                    <a:pt x="2492" y="741"/>
                    <a:pt x="2592" y="794"/>
                    <a:pt x="2655" y="836"/>
                  </a:cubicBezTo>
                  <a:cubicBezTo>
                    <a:pt x="2718" y="878"/>
                    <a:pt x="2735" y="883"/>
                    <a:pt x="2799" y="911"/>
                  </a:cubicBezTo>
                  <a:cubicBezTo>
                    <a:pt x="2863" y="939"/>
                    <a:pt x="2950" y="972"/>
                    <a:pt x="3037" y="1005"/>
                  </a:cubicBez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mn-lt"/>
              </a:endParaRPr>
            </a:p>
          </p:txBody>
        </p:sp>
        <p:graphicFrame>
          <p:nvGraphicFramePr>
            <p:cNvPr id="38959" name="Object 7"/>
            <p:cNvGraphicFramePr>
              <a:graphicFrameLocks noChangeAspect="1"/>
            </p:cNvGraphicFramePr>
            <p:nvPr/>
          </p:nvGraphicFramePr>
          <p:xfrm>
            <a:off x="1984" y="982"/>
            <a:ext cx="436" cy="285"/>
          </p:xfrm>
          <a:graphic>
            <a:graphicData uri="http://schemas.openxmlformats.org/presentationml/2006/ole">
              <mc:AlternateContent xmlns:mc="http://schemas.openxmlformats.org/markup-compatibility/2006">
                <mc:Choice xmlns:v="urn:schemas-microsoft-com:vml" Requires="v">
                  <p:oleObj name="Equation" r:id="rId3" imgW="330057" imgH="215806" progId="Equation.3">
                    <p:embed/>
                  </p:oleObj>
                </mc:Choice>
                <mc:Fallback>
                  <p:oleObj name="Equation" r:id="rId3" imgW="330057" imgH="215806"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4" y="982"/>
                          <a:ext cx="436"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960" name="Object 8"/>
            <p:cNvGraphicFramePr>
              <a:graphicFrameLocks noChangeAspect="1"/>
            </p:cNvGraphicFramePr>
            <p:nvPr/>
          </p:nvGraphicFramePr>
          <p:xfrm>
            <a:off x="4279" y="2104"/>
            <a:ext cx="168" cy="184"/>
          </p:xfrm>
          <a:graphic>
            <a:graphicData uri="http://schemas.openxmlformats.org/presentationml/2006/ole">
              <mc:AlternateContent xmlns:mc="http://schemas.openxmlformats.org/markup-compatibility/2006">
                <mc:Choice xmlns:v="urn:schemas-microsoft-com:vml" Requires="v">
                  <p:oleObj name="Equation" r:id="rId5" imgW="126835" imgH="139518" progId="Equation.3">
                    <p:embed/>
                  </p:oleObj>
                </mc:Choice>
                <mc:Fallback>
                  <p:oleObj name="Equation" r:id="rId5" imgW="126835" imgH="139518"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79" y="2104"/>
                          <a:ext cx="168"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3" name="Group 33"/>
          <p:cNvGrpSpPr>
            <a:grpSpLocks/>
          </p:cNvGrpSpPr>
          <p:nvPr/>
        </p:nvGrpSpPr>
        <p:grpSpPr bwMode="auto">
          <a:xfrm>
            <a:off x="2935289" y="4114800"/>
            <a:ext cx="5527675" cy="630238"/>
            <a:chOff x="1321" y="2736"/>
            <a:chExt cx="3482" cy="397"/>
          </a:xfrm>
        </p:grpSpPr>
        <p:sp>
          <p:nvSpPr>
            <p:cNvPr id="38944" name="Line 12"/>
            <p:cNvSpPr>
              <a:spLocks noChangeShapeType="1"/>
            </p:cNvSpPr>
            <p:nvPr/>
          </p:nvSpPr>
          <p:spPr bwMode="auto">
            <a:xfrm>
              <a:off x="1471" y="3133"/>
              <a:ext cx="333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n-lt"/>
              </a:endParaRPr>
            </a:p>
          </p:txBody>
        </p:sp>
        <p:sp>
          <p:nvSpPr>
            <p:cNvPr id="38945" name="Line 14"/>
            <p:cNvSpPr>
              <a:spLocks noChangeShapeType="1"/>
            </p:cNvSpPr>
            <p:nvPr/>
          </p:nvSpPr>
          <p:spPr bwMode="auto">
            <a:xfrm flipV="1">
              <a:off x="2361" y="2736"/>
              <a:ext cx="0" cy="394"/>
            </a:xfrm>
            <a:prstGeom prst="line">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latin typeface="+mn-lt"/>
              </a:endParaRPr>
            </a:p>
          </p:txBody>
        </p:sp>
        <p:sp>
          <p:nvSpPr>
            <p:cNvPr id="38946" name="Line 15"/>
            <p:cNvSpPr>
              <a:spLocks noChangeShapeType="1"/>
            </p:cNvSpPr>
            <p:nvPr/>
          </p:nvSpPr>
          <p:spPr bwMode="auto">
            <a:xfrm flipV="1">
              <a:off x="2701" y="2736"/>
              <a:ext cx="0" cy="394"/>
            </a:xfrm>
            <a:prstGeom prst="line">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latin typeface="+mn-lt"/>
              </a:endParaRPr>
            </a:p>
          </p:txBody>
        </p:sp>
        <p:sp>
          <p:nvSpPr>
            <p:cNvPr id="38947" name="Line 16"/>
            <p:cNvSpPr>
              <a:spLocks noChangeShapeType="1"/>
            </p:cNvSpPr>
            <p:nvPr/>
          </p:nvSpPr>
          <p:spPr bwMode="auto">
            <a:xfrm flipV="1">
              <a:off x="3039" y="2736"/>
              <a:ext cx="0" cy="394"/>
            </a:xfrm>
            <a:prstGeom prst="line">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latin typeface="+mn-lt"/>
              </a:endParaRPr>
            </a:p>
          </p:txBody>
        </p:sp>
        <p:sp>
          <p:nvSpPr>
            <p:cNvPr id="38948" name="Line 17"/>
            <p:cNvSpPr>
              <a:spLocks noChangeShapeType="1"/>
            </p:cNvSpPr>
            <p:nvPr/>
          </p:nvSpPr>
          <p:spPr bwMode="auto">
            <a:xfrm flipV="1">
              <a:off x="3378" y="2736"/>
              <a:ext cx="0" cy="394"/>
            </a:xfrm>
            <a:prstGeom prst="line">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latin typeface="+mn-lt"/>
              </a:endParaRPr>
            </a:p>
          </p:txBody>
        </p:sp>
        <p:sp>
          <p:nvSpPr>
            <p:cNvPr id="38949" name="Line 18"/>
            <p:cNvSpPr>
              <a:spLocks noChangeShapeType="1"/>
            </p:cNvSpPr>
            <p:nvPr/>
          </p:nvSpPr>
          <p:spPr bwMode="auto">
            <a:xfrm flipV="1">
              <a:off x="3717" y="2736"/>
              <a:ext cx="0" cy="394"/>
            </a:xfrm>
            <a:prstGeom prst="line">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latin typeface="+mn-lt"/>
              </a:endParaRPr>
            </a:p>
          </p:txBody>
        </p:sp>
        <p:sp>
          <p:nvSpPr>
            <p:cNvPr id="38950" name="Line 19"/>
            <p:cNvSpPr>
              <a:spLocks noChangeShapeType="1"/>
            </p:cNvSpPr>
            <p:nvPr/>
          </p:nvSpPr>
          <p:spPr bwMode="auto">
            <a:xfrm flipV="1">
              <a:off x="4056" y="2736"/>
              <a:ext cx="0" cy="394"/>
            </a:xfrm>
            <a:prstGeom prst="line">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latin typeface="+mn-lt"/>
              </a:endParaRPr>
            </a:p>
          </p:txBody>
        </p:sp>
        <p:sp>
          <p:nvSpPr>
            <p:cNvPr id="38951" name="Line 20"/>
            <p:cNvSpPr>
              <a:spLocks noChangeShapeType="1"/>
            </p:cNvSpPr>
            <p:nvPr/>
          </p:nvSpPr>
          <p:spPr bwMode="auto">
            <a:xfrm flipV="1">
              <a:off x="4394" y="2736"/>
              <a:ext cx="0" cy="394"/>
            </a:xfrm>
            <a:prstGeom prst="line">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latin typeface="+mn-lt"/>
              </a:endParaRPr>
            </a:p>
          </p:txBody>
        </p:sp>
        <p:sp>
          <p:nvSpPr>
            <p:cNvPr id="38952" name="Line 21"/>
            <p:cNvSpPr>
              <a:spLocks noChangeShapeType="1"/>
            </p:cNvSpPr>
            <p:nvPr/>
          </p:nvSpPr>
          <p:spPr bwMode="auto">
            <a:xfrm flipV="1">
              <a:off x="2019" y="2736"/>
              <a:ext cx="0" cy="394"/>
            </a:xfrm>
            <a:prstGeom prst="line">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latin typeface="+mn-lt"/>
              </a:endParaRPr>
            </a:p>
          </p:txBody>
        </p:sp>
        <p:sp>
          <p:nvSpPr>
            <p:cNvPr id="38953" name="Line 22"/>
            <p:cNvSpPr>
              <a:spLocks noChangeShapeType="1"/>
            </p:cNvSpPr>
            <p:nvPr/>
          </p:nvSpPr>
          <p:spPr bwMode="auto">
            <a:xfrm flipV="1">
              <a:off x="1675" y="2736"/>
              <a:ext cx="0" cy="394"/>
            </a:xfrm>
            <a:prstGeom prst="line">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latin typeface="+mn-lt"/>
              </a:endParaRPr>
            </a:p>
          </p:txBody>
        </p:sp>
        <p:sp>
          <p:nvSpPr>
            <p:cNvPr id="38954" name="Line 25"/>
            <p:cNvSpPr>
              <a:spLocks noChangeShapeType="1"/>
            </p:cNvSpPr>
            <p:nvPr/>
          </p:nvSpPr>
          <p:spPr bwMode="auto">
            <a:xfrm>
              <a:off x="1321" y="2971"/>
              <a:ext cx="231" cy="0"/>
            </a:xfrm>
            <a:prstGeom prst="line">
              <a:avLst/>
            </a:prstGeom>
            <a:noFill/>
            <a:ln w="381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mn-lt"/>
              </a:endParaRPr>
            </a:p>
          </p:txBody>
        </p:sp>
        <p:sp>
          <p:nvSpPr>
            <p:cNvPr id="38955" name="Line 26"/>
            <p:cNvSpPr>
              <a:spLocks noChangeShapeType="1"/>
            </p:cNvSpPr>
            <p:nvPr/>
          </p:nvSpPr>
          <p:spPr bwMode="auto">
            <a:xfrm>
              <a:off x="4490" y="2970"/>
              <a:ext cx="231" cy="0"/>
            </a:xfrm>
            <a:prstGeom prst="line">
              <a:avLst/>
            </a:prstGeom>
            <a:noFill/>
            <a:ln w="381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mn-lt"/>
              </a:endParaRPr>
            </a:p>
          </p:txBody>
        </p:sp>
      </p:grpSp>
      <p:sp>
        <p:nvSpPr>
          <p:cNvPr id="38919" name="Text Box 29"/>
          <p:cNvSpPr txBox="1">
            <a:spLocks noChangeArrowheads="1"/>
          </p:cNvSpPr>
          <p:nvPr/>
        </p:nvSpPr>
        <p:spPr bwMode="auto">
          <a:xfrm>
            <a:off x="1524000" y="5181600"/>
            <a:ext cx="240803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ja-JP" sz="2000" b="1" dirty="0">
                <a:latin typeface="+mn-lt"/>
                <a:ea typeface="MS PGothic" panose="020B0600070205080204" pitchFamily="34" charset="-128"/>
              </a:rPr>
              <a:t>Sampled Function</a:t>
            </a:r>
          </a:p>
        </p:txBody>
      </p:sp>
      <p:graphicFrame>
        <p:nvGraphicFramePr>
          <p:cNvPr id="38920" name="Object 2"/>
          <p:cNvGraphicFramePr>
            <a:graphicFrameLocks noChangeAspect="1"/>
          </p:cNvGraphicFramePr>
          <p:nvPr>
            <p:extLst>
              <p:ext uri="{D42A27DB-BD31-4B8C-83A1-F6EECF244321}">
                <p14:modId xmlns:p14="http://schemas.microsoft.com/office/powerpoint/2010/main" val="2290840245"/>
              </p:ext>
            </p:extLst>
          </p:nvPr>
        </p:nvGraphicFramePr>
        <p:xfrm>
          <a:off x="3452814" y="5393273"/>
          <a:ext cx="4840287" cy="904875"/>
        </p:xfrm>
        <a:graphic>
          <a:graphicData uri="http://schemas.openxmlformats.org/presentationml/2006/ole">
            <mc:AlternateContent xmlns:mc="http://schemas.openxmlformats.org/markup-compatibility/2006">
              <mc:Choice xmlns:v="urn:schemas-microsoft-com:vml" Requires="v">
                <p:oleObj name="Equation" r:id="rId7" imgW="2311200" imgH="431640" progId="Equation.DSMT4">
                  <p:embed/>
                </p:oleObj>
              </mc:Choice>
              <mc:Fallback>
                <p:oleObj name="Equation" r:id="rId7" imgW="2311200" imgH="431640" progId="Equation.DSMT4">
                  <p:embed/>
                  <p:pic>
                    <p:nvPicPr>
                      <p:cNvPr id="0" name=""/>
                      <p:cNvPicPr>
                        <a:picLocks noChangeAspect="1" noChangeArrowheads="1"/>
                      </p:cNvPicPr>
                      <p:nvPr/>
                    </p:nvPicPr>
                    <p:blipFill>
                      <a:blip r:embed="rId8"/>
                      <a:srcRect/>
                      <a:stretch>
                        <a:fillRect/>
                      </a:stretch>
                    </p:blipFill>
                    <p:spPr bwMode="auto">
                      <a:xfrm>
                        <a:off x="3452814" y="5393273"/>
                        <a:ext cx="4840287"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8921" name="Group 34"/>
          <p:cNvGrpSpPr>
            <a:grpSpLocks/>
          </p:cNvGrpSpPr>
          <p:nvPr/>
        </p:nvGrpSpPr>
        <p:grpSpPr bwMode="auto">
          <a:xfrm>
            <a:off x="2933700" y="3573464"/>
            <a:ext cx="5619750" cy="1601787"/>
            <a:chOff x="901" y="2454"/>
            <a:chExt cx="3540" cy="1009"/>
          </a:xfrm>
        </p:grpSpPr>
        <p:sp>
          <p:nvSpPr>
            <p:cNvPr id="38927" name="Line 35"/>
            <p:cNvSpPr>
              <a:spLocks noChangeShapeType="1"/>
            </p:cNvSpPr>
            <p:nvPr/>
          </p:nvSpPr>
          <p:spPr bwMode="auto">
            <a:xfrm>
              <a:off x="1051" y="3193"/>
              <a:ext cx="333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n-lt"/>
              </a:endParaRPr>
            </a:p>
          </p:txBody>
        </p:sp>
        <p:sp>
          <p:nvSpPr>
            <p:cNvPr id="38928" name="Line 36"/>
            <p:cNvSpPr>
              <a:spLocks noChangeShapeType="1"/>
            </p:cNvSpPr>
            <p:nvPr/>
          </p:nvSpPr>
          <p:spPr bwMode="auto">
            <a:xfrm flipV="1">
              <a:off x="1947" y="2582"/>
              <a:ext cx="0" cy="67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n-lt"/>
              </a:endParaRPr>
            </a:p>
          </p:txBody>
        </p:sp>
        <p:sp>
          <p:nvSpPr>
            <p:cNvPr id="38929" name="Line 37"/>
            <p:cNvSpPr>
              <a:spLocks noChangeShapeType="1"/>
            </p:cNvSpPr>
            <p:nvPr/>
          </p:nvSpPr>
          <p:spPr bwMode="auto">
            <a:xfrm flipV="1">
              <a:off x="1941" y="2796"/>
              <a:ext cx="0" cy="394"/>
            </a:xfrm>
            <a:prstGeom prst="line">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latin typeface="+mn-lt"/>
              </a:endParaRPr>
            </a:p>
          </p:txBody>
        </p:sp>
        <p:sp>
          <p:nvSpPr>
            <p:cNvPr id="38930" name="Line 38"/>
            <p:cNvSpPr>
              <a:spLocks noChangeShapeType="1"/>
            </p:cNvSpPr>
            <p:nvPr/>
          </p:nvSpPr>
          <p:spPr bwMode="auto">
            <a:xfrm flipV="1">
              <a:off x="2281" y="2796"/>
              <a:ext cx="0" cy="394"/>
            </a:xfrm>
            <a:prstGeom prst="line">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latin typeface="+mn-lt"/>
              </a:endParaRPr>
            </a:p>
          </p:txBody>
        </p:sp>
        <p:sp>
          <p:nvSpPr>
            <p:cNvPr id="38931" name="Line 39"/>
            <p:cNvSpPr>
              <a:spLocks noChangeShapeType="1"/>
            </p:cNvSpPr>
            <p:nvPr/>
          </p:nvSpPr>
          <p:spPr bwMode="auto">
            <a:xfrm flipV="1">
              <a:off x="2619" y="2796"/>
              <a:ext cx="0" cy="394"/>
            </a:xfrm>
            <a:prstGeom prst="line">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latin typeface="+mn-lt"/>
              </a:endParaRPr>
            </a:p>
          </p:txBody>
        </p:sp>
        <p:sp>
          <p:nvSpPr>
            <p:cNvPr id="38932" name="Line 40"/>
            <p:cNvSpPr>
              <a:spLocks noChangeShapeType="1"/>
            </p:cNvSpPr>
            <p:nvPr/>
          </p:nvSpPr>
          <p:spPr bwMode="auto">
            <a:xfrm flipV="1">
              <a:off x="2958" y="2796"/>
              <a:ext cx="0" cy="394"/>
            </a:xfrm>
            <a:prstGeom prst="line">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latin typeface="+mn-lt"/>
              </a:endParaRPr>
            </a:p>
          </p:txBody>
        </p:sp>
        <p:sp>
          <p:nvSpPr>
            <p:cNvPr id="38933" name="Line 41"/>
            <p:cNvSpPr>
              <a:spLocks noChangeShapeType="1"/>
            </p:cNvSpPr>
            <p:nvPr/>
          </p:nvSpPr>
          <p:spPr bwMode="auto">
            <a:xfrm flipV="1">
              <a:off x="3297" y="2796"/>
              <a:ext cx="0" cy="394"/>
            </a:xfrm>
            <a:prstGeom prst="line">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latin typeface="+mn-lt"/>
              </a:endParaRPr>
            </a:p>
          </p:txBody>
        </p:sp>
        <p:sp>
          <p:nvSpPr>
            <p:cNvPr id="38934" name="Line 42"/>
            <p:cNvSpPr>
              <a:spLocks noChangeShapeType="1"/>
            </p:cNvSpPr>
            <p:nvPr/>
          </p:nvSpPr>
          <p:spPr bwMode="auto">
            <a:xfrm flipV="1">
              <a:off x="3636" y="2796"/>
              <a:ext cx="0" cy="394"/>
            </a:xfrm>
            <a:prstGeom prst="line">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latin typeface="+mn-lt"/>
              </a:endParaRPr>
            </a:p>
          </p:txBody>
        </p:sp>
        <p:sp>
          <p:nvSpPr>
            <p:cNvPr id="38935" name="Line 43"/>
            <p:cNvSpPr>
              <a:spLocks noChangeShapeType="1"/>
            </p:cNvSpPr>
            <p:nvPr/>
          </p:nvSpPr>
          <p:spPr bwMode="auto">
            <a:xfrm flipV="1">
              <a:off x="3974" y="2796"/>
              <a:ext cx="0" cy="394"/>
            </a:xfrm>
            <a:prstGeom prst="line">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latin typeface="+mn-lt"/>
              </a:endParaRPr>
            </a:p>
          </p:txBody>
        </p:sp>
        <p:sp>
          <p:nvSpPr>
            <p:cNvPr id="38936" name="Line 44"/>
            <p:cNvSpPr>
              <a:spLocks noChangeShapeType="1"/>
            </p:cNvSpPr>
            <p:nvPr/>
          </p:nvSpPr>
          <p:spPr bwMode="auto">
            <a:xfrm flipV="1">
              <a:off x="1599" y="2796"/>
              <a:ext cx="0" cy="394"/>
            </a:xfrm>
            <a:prstGeom prst="line">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latin typeface="+mn-lt"/>
              </a:endParaRPr>
            </a:p>
          </p:txBody>
        </p:sp>
        <p:sp>
          <p:nvSpPr>
            <p:cNvPr id="38937" name="Line 45"/>
            <p:cNvSpPr>
              <a:spLocks noChangeShapeType="1"/>
            </p:cNvSpPr>
            <p:nvPr/>
          </p:nvSpPr>
          <p:spPr bwMode="auto">
            <a:xfrm flipV="1">
              <a:off x="1255" y="2796"/>
              <a:ext cx="0" cy="394"/>
            </a:xfrm>
            <a:prstGeom prst="line">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latin typeface="+mn-lt"/>
              </a:endParaRPr>
            </a:p>
          </p:txBody>
        </p:sp>
        <p:graphicFrame>
          <p:nvGraphicFramePr>
            <p:cNvPr id="38938" name="Object 4"/>
            <p:cNvGraphicFramePr>
              <a:graphicFrameLocks noChangeAspect="1"/>
            </p:cNvGraphicFramePr>
            <p:nvPr/>
          </p:nvGraphicFramePr>
          <p:xfrm>
            <a:off x="2000" y="2454"/>
            <a:ext cx="368" cy="285"/>
          </p:xfrm>
          <a:graphic>
            <a:graphicData uri="http://schemas.openxmlformats.org/presentationml/2006/ole">
              <mc:AlternateContent xmlns:mc="http://schemas.openxmlformats.org/markup-compatibility/2006">
                <mc:Choice xmlns:v="urn:schemas-microsoft-com:vml" Requires="v">
                  <p:oleObj name="Equation" r:id="rId9" imgW="279279" imgH="215806" progId="Equation.3">
                    <p:embed/>
                  </p:oleObj>
                </mc:Choice>
                <mc:Fallback>
                  <p:oleObj name="Equation" r:id="rId9" imgW="279279" imgH="215806"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00" y="2454"/>
                          <a:ext cx="368"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939" name="Object 5"/>
            <p:cNvGraphicFramePr>
              <a:graphicFrameLocks noChangeAspect="1"/>
            </p:cNvGraphicFramePr>
            <p:nvPr/>
          </p:nvGraphicFramePr>
          <p:xfrm>
            <a:off x="4273" y="3219"/>
            <a:ext cx="168" cy="184"/>
          </p:xfrm>
          <a:graphic>
            <a:graphicData uri="http://schemas.openxmlformats.org/presentationml/2006/ole">
              <mc:AlternateContent xmlns:mc="http://schemas.openxmlformats.org/markup-compatibility/2006">
                <mc:Choice xmlns:v="urn:schemas-microsoft-com:vml" Requires="v">
                  <p:oleObj name="Equation" r:id="rId11" imgW="126835" imgH="139518" progId="Equation.3">
                    <p:embed/>
                  </p:oleObj>
                </mc:Choice>
                <mc:Fallback>
                  <p:oleObj name="Equation" r:id="rId11" imgW="126835" imgH="139518"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73" y="3219"/>
                          <a:ext cx="168"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940" name="Line 48"/>
            <p:cNvSpPr>
              <a:spLocks noChangeShapeType="1"/>
            </p:cNvSpPr>
            <p:nvPr/>
          </p:nvSpPr>
          <p:spPr bwMode="auto">
            <a:xfrm>
              <a:off x="901" y="3031"/>
              <a:ext cx="231" cy="0"/>
            </a:xfrm>
            <a:prstGeom prst="line">
              <a:avLst/>
            </a:prstGeom>
            <a:noFill/>
            <a:ln w="381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mn-lt"/>
              </a:endParaRPr>
            </a:p>
          </p:txBody>
        </p:sp>
        <p:sp>
          <p:nvSpPr>
            <p:cNvPr id="38941" name="Line 49"/>
            <p:cNvSpPr>
              <a:spLocks noChangeShapeType="1"/>
            </p:cNvSpPr>
            <p:nvPr/>
          </p:nvSpPr>
          <p:spPr bwMode="auto">
            <a:xfrm>
              <a:off x="4070" y="3030"/>
              <a:ext cx="231" cy="0"/>
            </a:xfrm>
            <a:prstGeom prst="line">
              <a:avLst/>
            </a:prstGeom>
            <a:noFill/>
            <a:ln w="381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mn-lt"/>
              </a:endParaRPr>
            </a:p>
          </p:txBody>
        </p:sp>
        <p:graphicFrame>
          <p:nvGraphicFramePr>
            <p:cNvPr id="38942" name="Object 6"/>
            <p:cNvGraphicFramePr>
              <a:graphicFrameLocks noChangeAspect="1"/>
            </p:cNvGraphicFramePr>
            <p:nvPr/>
          </p:nvGraphicFramePr>
          <p:xfrm>
            <a:off x="2700" y="3262"/>
            <a:ext cx="184" cy="201"/>
          </p:xfrm>
          <a:graphic>
            <a:graphicData uri="http://schemas.openxmlformats.org/presentationml/2006/ole">
              <mc:AlternateContent xmlns:mc="http://schemas.openxmlformats.org/markup-compatibility/2006">
                <mc:Choice xmlns:v="urn:schemas-microsoft-com:vml" Requires="v">
                  <p:oleObj name="Equation" r:id="rId12" imgW="139680" imgH="152280" progId="Equation.DSMT4">
                    <p:embed/>
                  </p:oleObj>
                </mc:Choice>
                <mc:Fallback>
                  <p:oleObj name="Equation" r:id="rId12" imgW="139680" imgH="152280" progId="Equation.DSMT4">
                    <p:embed/>
                    <p:pic>
                      <p:nvPicPr>
                        <p:cNvPr id="0" name=""/>
                        <p:cNvPicPr>
                          <a:picLocks noChangeAspect="1" noChangeArrowheads="1"/>
                        </p:cNvPicPr>
                        <p:nvPr/>
                      </p:nvPicPr>
                      <p:blipFill>
                        <a:blip r:embed="rId13"/>
                        <a:srcRect/>
                        <a:stretch>
                          <a:fillRect/>
                        </a:stretch>
                      </p:blipFill>
                      <p:spPr bwMode="auto">
                        <a:xfrm>
                          <a:off x="2700" y="3262"/>
                          <a:ext cx="184"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943" name="Line 51"/>
            <p:cNvSpPr>
              <a:spLocks noChangeShapeType="1"/>
            </p:cNvSpPr>
            <p:nvPr/>
          </p:nvSpPr>
          <p:spPr bwMode="auto">
            <a:xfrm>
              <a:off x="2611" y="3258"/>
              <a:ext cx="350"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latin typeface="+mn-lt"/>
              </a:endParaRPr>
            </a:p>
          </p:txBody>
        </p:sp>
      </p:grpSp>
      <p:graphicFrame>
        <p:nvGraphicFramePr>
          <p:cNvPr id="38922" name="Object 3"/>
          <p:cNvGraphicFramePr>
            <a:graphicFrameLocks noChangeAspect="1"/>
          </p:cNvGraphicFramePr>
          <p:nvPr>
            <p:extLst>
              <p:ext uri="{D42A27DB-BD31-4B8C-83A1-F6EECF244321}">
                <p14:modId xmlns:p14="http://schemas.microsoft.com/office/powerpoint/2010/main" val="3461789260"/>
              </p:ext>
            </p:extLst>
          </p:nvPr>
        </p:nvGraphicFramePr>
        <p:xfrm>
          <a:off x="6369051" y="3314700"/>
          <a:ext cx="2328863" cy="808038"/>
        </p:xfrm>
        <a:graphic>
          <a:graphicData uri="http://schemas.openxmlformats.org/presentationml/2006/ole">
            <mc:AlternateContent xmlns:mc="http://schemas.openxmlformats.org/markup-compatibility/2006">
              <mc:Choice xmlns:v="urn:schemas-microsoft-com:vml" Requires="v">
                <p:oleObj name="Equation" r:id="rId14" imgW="1244520" imgH="431640" progId="Equation.DSMT4">
                  <p:embed/>
                </p:oleObj>
              </mc:Choice>
              <mc:Fallback>
                <p:oleObj name="Equation" r:id="rId14" imgW="1244520" imgH="431640" progId="Equation.DSMT4">
                  <p:embed/>
                  <p:pic>
                    <p:nvPicPr>
                      <p:cNvPr id="0" name=""/>
                      <p:cNvPicPr>
                        <a:picLocks noChangeAspect="1" noChangeArrowheads="1"/>
                      </p:cNvPicPr>
                      <p:nvPr/>
                    </p:nvPicPr>
                    <p:blipFill>
                      <a:blip r:embed="rId15"/>
                      <a:srcRect/>
                      <a:stretch>
                        <a:fillRect/>
                      </a:stretch>
                    </p:blipFill>
                    <p:spPr bwMode="auto">
                      <a:xfrm>
                        <a:off x="6369051" y="3314700"/>
                        <a:ext cx="2328863" cy="80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Title 1"/>
          <p:cNvSpPr>
            <a:spLocks noGrp="1"/>
          </p:cNvSpPr>
          <p:nvPr>
            <p:ph type="title"/>
          </p:nvPr>
        </p:nvSpPr>
        <p:spPr/>
        <p:txBody>
          <a:bodyPr/>
          <a:lstStyle/>
          <a:p>
            <a:r>
              <a:rPr lang="en-US" dirty="0">
                <a:latin typeface="+mn-lt"/>
              </a:rPr>
              <a:t>Signal Sampling</a:t>
            </a:r>
          </a:p>
        </p:txBody>
      </p:sp>
    </p:spTree>
    <p:extLst>
      <p:ext uri="{BB962C8B-B14F-4D97-AF65-F5344CB8AC3E}">
        <p14:creationId xmlns:p14="http://schemas.microsoft.com/office/powerpoint/2010/main" val="32080601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4" presetClass="path" presetSubtype="0" accel="50000" decel="50000" fill="hold" nodeType="clickEffect">
                                  <p:stCondLst>
                                    <p:cond delay="0"/>
                                  </p:stCondLst>
                                  <p:childTnLst>
                                    <p:animMotion origin="layout" path="M 0.00173 0.03194 L 0.00173 -0.30139 " pathEditMode="relative" rAng="0" ptsTypes="AA">
                                      <p:cBhvr>
                                        <p:cTn id="6" dur="2000" fill="hold"/>
                                        <p:tgtEl>
                                          <p:spTgt spid="3"/>
                                        </p:tgtEl>
                                        <p:attrNameLst>
                                          <p:attrName>ppt_x</p:attrName>
                                          <p:attrName>ppt_y</p:attrName>
                                        </p:attrNameLst>
                                      </p:cBhvr>
                                      <p:rCtr x="0" y="-167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Text Box 3"/>
          <p:cNvSpPr txBox="1">
            <a:spLocks noChangeArrowheads="1"/>
          </p:cNvSpPr>
          <p:nvPr/>
        </p:nvSpPr>
        <p:spPr bwMode="auto">
          <a:xfrm>
            <a:off x="1662292" y="1196623"/>
            <a:ext cx="240803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ja-JP" sz="2000" b="1" dirty="0">
                <a:latin typeface="+mn-lt"/>
                <a:ea typeface="MS PGothic" panose="020B0600070205080204" pitchFamily="34" charset="-128"/>
              </a:rPr>
              <a:t>Sampled Function</a:t>
            </a:r>
          </a:p>
        </p:txBody>
      </p:sp>
      <p:graphicFrame>
        <p:nvGraphicFramePr>
          <p:cNvPr id="43012" name="Object 2"/>
          <p:cNvGraphicFramePr>
            <a:graphicFrameLocks noChangeAspect="1"/>
          </p:cNvGraphicFramePr>
          <p:nvPr>
            <p:extLst>
              <p:ext uri="{D42A27DB-BD31-4B8C-83A1-F6EECF244321}">
                <p14:modId xmlns:p14="http://schemas.microsoft.com/office/powerpoint/2010/main" val="2539280413"/>
              </p:ext>
            </p:extLst>
          </p:nvPr>
        </p:nvGraphicFramePr>
        <p:xfrm>
          <a:off x="2863145" y="1508832"/>
          <a:ext cx="4840288" cy="904875"/>
        </p:xfrm>
        <a:graphic>
          <a:graphicData uri="http://schemas.openxmlformats.org/presentationml/2006/ole">
            <mc:AlternateContent xmlns:mc="http://schemas.openxmlformats.org/markup-compatibility/2006">
              <mc:Choice xmlns:v="urn:schemas-microsoft-com:vml" Requires="v">
                <p:oleObj name="Equation" r:id="rId3" imgW="2311200" imgH="431640" progId="Equation.DSMT4">
                  <p:embed/>
                </p:oleObj>
              </mc:Choice>
              <mc:Fallback>
                <p:oleObj name="Equation" r:id="rId3" imgW="2311200" imgH="431640" progId="Equation.DSMT4">
                  <p:embed/>
                  <p:pic>
                    <p:nvPicPr>
                      <p:cNvPr id="0" name=""/>
                      <p:cNvPicPr>
                        <a:picLocks noChangeAspect="1" noChangeArrowheads="1"/>
                      </p:cNvPicPr>
                      <p:nvPr/>
                    </p:nvPicPr>
                    <p:blipFill>
                      <a:blip r:embed="rId4"/>
                      <a:srcRect/>
                      <a:stretch>
                        <a:fillRect/>
                      </a:stretch>
                    </p:blipFill>
                    <p:spPr bwMode="auto">
                      <a:xfrm>
                        <a:off x="2863145" y="1508832"/>
                        <a:ext cx="4840288"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3013" name="Object 3"/>
          <p:cNvGraphicFramePr>
            <a:graphicFrameLocks noChangeAspect="1"/>
          </p:cNvGraphicFramePr>
          <p:nvPr>
            <p:extLst>
              <p:ext uri="{D42A27DB-BD31-4B8C-83A1-F6EECF244321}">
                <p14:modId xmlns:p14="http://schemas.microsoft.com/office/powerpoint/2010/main" val="1769967015"/>
              </p:ext>
            </p:extLst>
          </p:nvPr>
        </p:nvGraphicFramePr>
        <p:xfrm>
          <a:off x="2366259" y="2535944"/>
          <a:ext cx="6035675" cy="908050"/>
        </p:xfrm>
        <a:graphic>
          <a:graphicData uri="http://schemas.openxmlformats.org/presentationml/2006/ole">
            <mc:AlternateContent xmlns:mc="http://schemas.openxmlformats.org/markup-compatibility/2006">
              <mc:Choice xmlns:v="urn:schemas-microsoft-com:vml" Requires="v">
                <p:oleObj name="Equation" r:id="rId5" imgW="2882880" imgH="431640" progId="Equation.DSMT4">
                  <p:embed/>
                </p:oleObj>
              </mc:Choice>
              <mc:Fallback>
                <p:oleObj name="Equation" r:id="rId5" imgW="2882880" imgH="431640" progId="Equation.DSMT4">
                  <p:embed/>
                  <p:pic>
                    <p:nvPicPr>
                      <p:cNvPr id="0" name=""/>
                      <p:cNvPicPr>
                        <a:picLocks noChangeAspect="1" noChangeArrowheads="1"/>
                      </p:cNvPicPr>
                      <p:nvPr/>
                    </p:nvPicPr>
                    <p:blipFill>
                      <a:blip r:embed="rId6"/>
                      <a:srcRect/>
                      <a:stretch>
                        <a:fillRect/>
                      </a:stretch>
                    </p:blipFill>
                    <p:spPr bwMode="auto">
                      <a:xfrm>
                        <a:off x="2366259" y="2535944"/>
                        <a:ext cx="6035675"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43014" name="Group 6"/>
          <p:cNvGrpSpPr>
            <a:grpSpLocks/>
          </p:cNvGrpSpPr>
          <p:nvPr/>
        </p:nvGrpSpPr>
        <p:grpSpPr bwMode="auto">
          <a:xfrm>
            <a:off x="1599496" y="3723394"/>
            <a:ext cx="3000375" cy="1630362"/>
            <a:chOff x="460" y="2392"/>
            <a:chExt cx="1890" cy="1027"/>
          </a:xfrm>
        </p:grpSpPr>
        <p:sp>
          <p:nvSpPr>
            <p:cNvPr id="43057" name="Line 7"/>
            <p:cNvSpPr>
              <a:spLocks noChangeShapeType="1"/>
            </p:cNvSpPr>
            <p:nvPr/>
          </p:nvSpPr>
          <p:spPr bwMode="auto">
            <a:xfrm>
              <a:off x="460" y="3212"/>
              <a:ext cx="180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3058" name="Line 8"/>
            <p:cNvSpPr>
              <a:spLocks noChangeShapeType="1"/>
            </p:cNvSpPr>
            <p:nvPr/>
          </p:nvSpPr>
          <p:spPr bwMode="auto">
            <a:xfrm flipV="1">
              <a:off x="1311" y="2560"/>
              <a:ext cx="0" cy="75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43059" name="Group 9"/>
            <p:cNvGrpSpPr>
              <a:grpSpLocks/>
            </p:cNvGrpSpPr>
            <p:nvPr/>
          </p:nvGrpSpPr>
          <p:grpSpPr bwMode="auto">
            <a:xfrm>
              <a:off x="1010" y="2817"/>
              <a:ext cx="600" cy="395"/>
              <a:chOff x="1064" y="3093"/>
              <a:chExt cx="600" cy="395"/>
            </a:xfrm>
          </p:grpSpPr>
          <p:sp>
            <p:nvSpPr>
              <p:cNvPr id="43064" name="Line 10"/>
              <p:cNvSpPr>
                <a:spLocks noChangeShapeType="1"/>
              </p:cNvSpPr>
              <p:nvPr/>
            </p:nvSpPr>
            <p:spPr bwMode="auto">
              <a:xfrm flipV="1">
                <a:off x="1064" y="3094"/>
                <a:ext cx="187" cy="39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65" name="Line 11"/>
              <p:cNvSpPr>
                <a:spLocks noChangeShapeType="1"/>
              </p:cNvSpPr>
              <p:nvPr/>
            </p:nvSpPr>
            <p:spPr bwMode="auto">
              <a:xfrm>
                <a:off x="1246" y="3093"/>
                <a:ext cx="23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66" name="Line 12"/>
              <p:cNvSpPr>
                <a:spLocks noChangeShapeType="1"/>
              </p:cNvSpPr>
              <p:nvPr/>
            </p:nvSpPr>
            <p:spPr bwMode="auto">
              <a:xfrm flipH="1" flipV="1">
                <a:off x="1477" y="3095"/>
                <a:ext cx="187" cy="39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aphicFrame>
          <p:nvGraphicFramePr>
            <p:cNvPr id="43060" name="Object 11"/>
            <p:cNvGraphicFramePr>
              <a:graphicFrameLocks noChangeAspect="1"/>
            </p:cNvGraphicFramePr>
            <p:nvPr/>
          </p:nvGraphicFramePr>
          <p:xfrm>
            <a:off x="1363" y="2392"/>
            <a:ext cx="436" cy="285"/>
          </p:xfrm>
          <a:graphic>
            <a:graphicData uri="http://schemas.openxmlformats.org/presentationml/2006/ole">
              <mc:AlternateContent xmlns:mc="http://schemas.openxmlformats.org/markup-compatibility/2006">
                <mc:Choice xmlns:v="urn:schemas-microsoft-com:vml" Requires="v">
                  <p:oleObj name="Equation" r:id="rId7" imgW="330057" imgH="215806" progId="Equation.3">
                    <p:embed/>
                  </p:oleObj>
                </mc:Choice>
                <mc:Fallback>
                  <p:oleObj name="Equation" r:id="rId7" imgW="330057" imgH="215806"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63" y="2392"/>
                          <a:ext cx="436"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3061" name="Object 12"/>
            <p:cNvGraphicFramePr>
              <a:graphicFrameLocks noChangeAspect="1"/>
            </p:cNvGraphicFramePr>
            <p:nvPr/>
          </p:nvGraphicFramePr>
          <p:xfrm>
            <a:off x="1547" y="3163"/>
            <a:ext cx="313" cy="256"/>
          </p:xfrm>
          <a:graphic>
            <a:graphicData uri="http://schemas.openxmlformats.org/presentationml/2006/ole">
              <mc:AlternateContent xmlns:mc="http://schemas.openxmlformats.org/markup-compatibility/2006">
                <mc:Choice xmlns:v="urn:schemas-microsoft-com:vml" Requires="v">
                  <p:oleObj name="Equation" r:id="rId9" imgW="279400" imgH="228600" progId="Equation.3">
                    <p:embed/>
                  </p:oleObj>
                </mc:Choice>
                <mc:Fallback>
                  <p:oleObj name="Equation" r:id="rId9" imgW="279400" imgH="2286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47" y="3163"/>
                          <a:ext cx="313"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3062" name="Object 13"/>
            <p:cNvGraphicFramePr>
              <a:graphicFrameLocks noChangeAspect="1"/>
            </p:cNvGraphicFramePr>
            <p:nvPr/>
          </p:nvGraphicFramePr>
          <p:xfrm>
            <a:off x="1431" y="2712"/>
            <a:ext cx="151" cy="164"/>
          </p:xfrm>
          <a:graphic>
            <a:graphicData uri="http://schemas.openxmlformats.org/presentationml/2006/ole">
              <mc:AlternateContent xmlns:mc="http://schemas.openxmlformats.org/markup-compatibility/2006">
                <mc:Choice xmlns:v="urn:schemas-microsoft-com:vml" Requires="v">
                  <p:oleObj name="Equation" r:id="rId11" imgW="152268" imgH="164957" progId="Equation.3">
                    <p:embed/>
                  </p:oleObj>
                </mc:Choice>
                <mc:Fallback>
                  <p:oleObj name="Equation" r:id="rId11" imgW="152268" imgH="164957"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31" y="2712"/>
                          <a:ext cx="151"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3063" name="Object 14"/>
            <p:cNvGraphicFramePr>
              <a:graphicFrameLocks noChangeAspect="1"/>
            </p:cNvGraphicFramePr>
            <p:nvPr/>
          </p:nvGraphicFramePr>
          <p:xfrm>
            <a:off x="2208" y="3221"/>
            <a:ext cx="142" cy="156"/>
          </p:xfrm>
          <a:graphic>
            <a:graphicData uri="http://schemas.openxmlformats.org/presentationml/2006/ole">
              <mc:AlternateContent xmlns:mc="http://schemas.openxmlformats.org/markup-compatibility/2006">
                <mc:Choice xmlns:v="urn:schemas-microsoft-com:vml" Requires="v">
                  <p:oleObj name="Equation" r:id="rId13" imgW="126835" imgH="139518" progId="Equation.3">
                    <p:embed/>
                  </p:oleObj>
                </mc:Choice>
                <mc:Fallback>
                  <p:oleObj name="Equation" r:id="rId13" imgW="126835" imgH="139518"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208" y="3221"/>
                          <a:ext cx="142"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43034" name="Group 18"/>
          <p:cNvGrpSpPr>
            <a:grpSpLocks/>
          </p:cNvGrpSpPr>
          <p:nvPr/>
        </p:nvGrpSpPr>
        <p:grpSpPr bwMode="auto">
          <a:xfrm>
            <a:off x="5020559" y="3702756"/>
            <a:ext cx="4408487" cy="2117725"/>
            <a:chOff x="2615" y="2397"/>
            <a:chExt cx="2777" cy="1334"/>
          </a:xfrm>
        </p:grpSpPr>
        <p:sp>
          <p:nvSpPr>
            <p:cNvPr id="43036" name="Line 19"/>
            <p:cNvSpPr>
              <a:spLocks noChangeShapeType="1"/>
            </p:cNvSpPr>
            <p:nvPr/>
          </p:nvSpPr>
          <p:spPr bwMode="auto">
            <a:xfrm>
              <a:off x="2615" y="3225"/>
              <a:ext cx="268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3037" name="Line 20"/>
            <p:cNvSpPr>
              <a:spLocks noChangeShapeType="1"/>
            </p:cNvSpPr>
            <p:nvPr/>
          </p:nvSpPr>
          <p:spPr bwMode="auto">
            <a:xfrm flipV="1">
              <a:off x="3879" y="2573"/>
              <a:ext cx="0" cy="97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43038" name="Group 21"/>
            <p:cNvGrpSpPr>
              <a:grpSpLocks/>
            </p:cNvGrpSpPr>
            <p:nvPr/>
          </p:nvGrpSpPr>
          <p:grpSpPr bwMode="auto">
            <a:xfrm>
              <a:off x="3578" y="2974"/>
              <a:ext cx="600" cy="251"/>
              <a:chOff x="1064" y="3093"/>
              <a:chExt cx="600" cy="395"/>
            </a:xfrm>
          </p:grpSpPr>
          <p:sp>
            <p:nvSpPr>
              <p:cNvPr id="43054" name="Line 22"/>
              <p:cNvSpPr>
                <a:spLocks noChangeShapeType="1"/>
              </p:cNvSpPr>
              <p:nvPr/>
            </p:nvSpPr>
            <p:spPr bwMode="auto">
              <a:xfrm flipV="1">
                <a:off x="1064" y="3094"/>
                <a:ext cx="187" cy="39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55" name="Line 23"/>
              <p:cNvSpPr>
                <a:spLocks noChangeShapeType="1"/>
              </p:cNvSpPr>
              <p:nvPr/>
            </p:nvSpPr>
            <p:spPr bwMode="auto">
              <a:xfrm>
                <a:off x="1246" y="3093"/>
                <a:ext cx="23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56" name="Line 24"/>
              <p:cNvSpPr>
                <a:spLocks noChangeShapeType="1"/>
              </p:cNvSpPr>
              <p:nvPr/>
            </p:nvSpPr>
            <p:spPr bwMode="auto">
              <a:xfrm flipH="1" flipV="1">
                <a:off x="1477" y="3095"/>
                <a:ext cx="187" cy="39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aphicFrame>
          <p:nvGraphicFramePr>
            <p:cNvPr id="43039" name="Object 6"/>
            <p:cNvGraphicFramePr>
              <a:graphicFrameLocks noChangeAspect="1"/>
            </p:cNvGraphicFramePr>
            <p:nvPr/>
          </p:nvGraphicFramePr>
          <p:xfrm>
            <a:off x="3899" y="2397"/>
            <a:ext cx="502" cy="301"/>
          </p:xfrm>
          <a:graphic>
            <a:graphicData uri="http://schemas.openxmlformats.org/presentationml/2006/ole">
              <mc:AlternateContent xmlns:mc="http://schemas.openxmlformats.org/markup-compatibility/2006">
                <mc:Choice xmlns:v="urn:schemas-microsoft-com:vml" Requires="v">
                  <p:oleObj name="Equation" r:id="rId15" imgW="381000" imgH="228600" progId="Equation.3">
                    <p:embed/>
                  </p:oleObj>
                </mc:Choice>
                <mc:Fallback>
                  <p:oleObj name="Equation" r:id="rId15" imgW="381000" imgH="22860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899" y="2397"/>
                          <a:ext cx="502"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3040" name="Object 7"/>
            <p:cNvGraphicFramePr>
              <a:graphicFrameLocks noChangeAspect="1"/>
            </p:cNvGraphicFramePr>
            <p:nvPr/>
          </p:nvGraphicFramePr>
          <p:xfrm>
            <a:off x="4115" y="3176"/>
            <a:ext cx="313" cy="256"/>
          </p:xfrm>
          <a:graphic>
            <a:graphicData uri="http://schemas.openxmlformats.org/presentationml/2006/ole">
              <mc:AlternateContent xmlns:mc="http://schemas.openxmlformats.org/markup-compatibility/2006">
                <mc:Choice xmlns:v="urn:schemas-microsoft-com:vml" Requires="v">
                  <p:oleObj name="Equation" r:id="rId17" imgW="279400" imgH="228600" progId="Equation.3">
                    <p:embed/>
                  </p:oleObj>
                </mc:Choice>
                <mc:Fallback>
                  <p:oleObj name="Equation" r:id="rId17" imgW="279400" imgH="2286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15" y="3176"/>
                          <a:ext cx="313"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3041" name="Object 8"/>
            <p:cNvGraphicFramePr>
              <a:graphicFrameLocks noChangeAspect="1"/>
            </p:cNvGraphicFramePr>
            <p:nvPr/>
          </p:nvGraphicFramePr>
          <p:xfrm>
            <a:off x="4086" y="2826"/>
            <a:ext cx="196" cy="217"/>
          </p:xfrm>
          <a:graphic>
            <a:graphicData uri="http://schemas.openxmlformats.org/presentationml/2006/ole">
              <mc:AlternateContent xmlns:mc="http://schemas.openxmlformats.org/markup-compatibility/2006">
                <mc:Choice xmlns:v="urn:schemas-microsoft-com:vml" Requires="v">
                  <p:oleObj name="Equation" r:id="rId18" imgW="253800" imgH="279360" progId="Equation.DSMT4">
                    <p:embed/>
                  </p:oleObj>
                </mc:Choice>
                <mc:Fallback>
                  <p:oleObj name="Equation" r:id="rId18" imgW="253800" imgH="279360" progId="Equation.DSMT4">
                    <p:embed/>
                    <p:pic>
                      <p:nvPicPr>
                        <p:cNvPr id="0" name=""/>
                        <p:cNvPicPr>
                          <a:picLocks noChangeAspect="1" noChangeArrowheads="1"/>
                        </p:cNvPicPr>
                        <p:nvPr/>
                      </p:nvPicPr>
                      <p:blipFill>
                        <a:blip r:embed="rId19"/>
                        <a:srcRect/>
                        <a:stretch>
                          <a:fillRect/>
                        </a:stretch>
                      </p:blipFill>
                      <p:spPr bwMode="auto">
                        <a:xfrm>
                          <a:off x="4086" y="2826"/>
                          <a:ext cx="196"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43042" name="Group 28"/>
            <p:cNvGrpSpPr>
              <a:grpSpLocks/>
            </p:cNvGrpSpPr>
            <p:nvPr/>
          </p:nvGrpSpPr>
          <p:grpSpPr bwMode="auto">
            <a:xfrm>
              <a:off x="4411" y="2974"/>
              <a:ext cx="600" cy="251"/>
              <a:chOff x="1064" y="3093"/>
              <a:chExt cx="600" cy="395"/>
            </a:xfrm>
          </p:grpSpPr>
          <p:sp>
            <p:nvSpPr>
              <p:cNvPr id="43051" name="Line 29"/>
              <p:cNvSpPr>
                <a:spLocks noChangeShapeType="1"/>
              </p:cNvSpPr>
              <p:nvPr/>
            </p:nvSpPr>
            <p:spPr bwMode="auto">
              <a:xfrm flipV="1">
                <a:off x="1064" y="3094"/>
                <a:ext cx="187" cy="39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52" name="Line 30"/>
              <p:cNvSpPr>
                <a:spLocks noChangeShapeType="1"/>
              </p:cNvSpPr>
              <p:nvPr/>
            </p:nvSpPr>
            <p:spPr bwMode="auto">
              <a:xfrm>
                <a:off x="1246" y="3093"/>
                <a:ext cx="23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53" name="Line 31"/>
              <p:cNvSpPr>
                <a:spLocks noChangeShapeType="1"/>
              </p:cNvSpPr>
              <p:nvPr/>
            </p:nvSpPr>
            <p:spPr bwMode="auto">
              <a:xfrm flipH="1" flipV="1">
                <a:off x="1477" y="3095"/>
                <a:ext cx="187" cy="39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043" name="Group 32"/>
            <p:cNvGrpSpPr>
              <a:grpSpLocks/>
            </p:cNvGrpSpPr>
            <p:nvPr/>
          </p:nvGrpSpPr>
          <p:grpSpPr bwMode="auto">
            <a:xfrm>
              <a:off x="2746" y="2974"/>
              <a:ext cx="600" cy="251"/>
              <a:chOff x="1064" y="3093"/>
              <a:chExt cx="600" cy="395"/>
            </a:xfrm>
          </p:grpSpPr>
          <p:sp>
            <p:nvSpPr>
              <p:cNvPr id="43048" name="Line 33"/>
              <p:cNvSpPr>
                <a:spLocks noChangeShapeType="1"/>
              </p:cNvSpPr>
              <p:nvPr/>
            </p:nvSpPr>
            <p:spPr bwMode="auto">
              <a:xfrm flipV="1">
                <a:off x="1064" y="3094"/>
                <a:ext cx="187" cy="39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49" name="Line 34"/>
              <p:cNvSpPr>
                <a:spLocks noChangeShapeType="1"/>
              </p:cNvSpPr>
              <p:nvPr/>
            </p:nvSpPr>
            <p:spPr bwMode="auto">
              <a:xfrm>
                <a:off x="1246" y="3093"/>
                <a:ext cx="23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50" name="Line 35"/>
              <p:cNvSpPr>
                <a:spLocks noChangeShapeType="1"/>
              </p:cNvSpPr>
              <p:nvPr/>
            </p:nvSpPr>
            <p:spPr bwMode="auto">
              <a:xfrm flipH="1" flipV="1">
                <a:off x="1477" y="3095"/>
                <a:ext cx="187" cy="39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3044" name="Line 36"/>
            <p:cNvSpPr>
              <a:spLocks noChangeShapeType="1"/>
            </p:cNvSpPr>
            <p:nvPr/>
          </p:nvSpPr>
          <p:spPr bwMode="auto">
            <a:xfrm>
              <a:off x="4717" y="2717"/>
              <a:ext cx="0" cy="833"/>
            </a:xfrm>
            <a:prstGeom prst="line">
              <a:avLst/>
            </a:prstGeom>
            <a:noFill/>
            <a:ln w="9525">
              <a:solidFill>
                <a:schemeClr val="tx1"/>
              </a:solidFill>
              <a:prstDash val="dashDot"/>
              <a:round/>
              <a:headEnd/>
              <a:tailEnd/>
            </a:ln>
            <a:extLst>
              <a:ext uri="{909E8E84-426E-40DD-AFC4-6F175D3DCCD1}">
                <a14:hiddenFill xmlns:a14="http://schemas.microsoft.com/office/drawing/2010/main">
                  <a:noFill/>
                </a14:hiddenFill>
              </a:ext>
            </a:extLst>
          </p:spPr>
          <p:txBody>
            <a:bodyPr/>
            <a:lstStyle/>
            <a:p>
              <a:endParaRPr lang="en-US"/>
            </a:p>
          </p:txBody>
        </p:sp>
        <p:sp>
          <p:nvSpPr>
            <p:cNvPr id="43045" name="Line 37"/>
            <p:cNvSpPr>
              <a:spLocks noChangeShapeType="1"/>
            </p:cNvSpPr>
            <p:nvPr/>
          </p:nvSpPr>
          <p:spPr bwMode="auto">
            <a:xfrm>
              <a:off x="3884" y="3487"/>
              <a:ext cx="833" cy="0"/>
            </a:xfrm>
            <a:prstGeom prst="line">
              <a:avLst/>
            </a:prstGeom>
            <a:noFill/>
            <a:ln w="9525">
              <a:solidFill>
                <a:schemeClr val="tx1"/>
              </a:solidFill>
              <a:round/>
              <a:headEnd type="arrow" w="med" len="med"/>
              <a:tailEnd type="arrow"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43046" name="Object 9"/>
            <p:cNvGraphicFramePr>
              <a:graphicFrameLocks noChangeAspect="1"/>
            </p:cNvGraphicFramePr>
            <p:nvPr/>
          </p:nvGraphicFramePr>
          <p:xfrm>
            <a:off x="4216" y="3512"/>
            <a:ext cx="179" cy="219"/>
          </p:xfrm>
          <a:graphic>
            <a:graphicData uri="http://schemas.openxmlformats.org/presentationml/2006/ole">
              <mc:AlternateContent xmlns:mc="http://schemas.openxmlformats.org/markup-compatibility/2006">
                <mc:Choice xmlns:v="urn:schemas-microsoft-com:vml" Requires="v">
                  <p:oleObj name="Equation" r:id="rId20" imgW="228600" imgH="279360" progId="Equation.DSMT4">
                    <p:embed/>
                  </p:oleObj>
                </mc:Choice>
                <mc:Fallback>
                  <p:oleObj name="Equation" r:id="rId20" imgW="228600" imgH="279360" progId="Equation.DSMT4">
                    <p:embed/>
                    <p:pic>
                      <p:nvPicPr>
                        <p:cNvPr id="0" name=""/>
                        <p:cNvPicPr>
                          <a:picLocks noChangeAspect="1" noChangeArrowheads="1"/>
                        </p:cNvPicPr>
                        <p:nvPr/>
                      </p:nvPicPr>
                      <p:blipFill>
                        <a:blip r:embed="rId21"/>
                        <a:srcRect/>
                        <a:stretch>
                          <a:fillRect/>
                        </a:stretch>
                      </p:blipFill>
                      <p:spPr bwMode="auto">
                        <a:xfrm>
                          <a:off x="4216" y="3512"/>
                          <a:ext cx="179"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3047" name="Object 10"/>
            <p:cNvGraphicFramePr>
              <a:graphicFrameLocks noChangeAspect="1"/>
            </p:cNvGraphicFramePr>
            <p:nvPr/>
          </p:nvGraphicFramePr>
          <p:xfrm>
            <a:off x="5250" y="3227"/>
            <a:ext cx="142" cy="156"/>
          </p:xfrm>
          <a:graphic>
            <a:graphicData uri="http://schemas.openxmlformats.org/presentationml/2006/ole">
              <mc:AlternateContent xmlns:mc="http://schemas.openxmlformats.org/markup-compatibility/2006">
                <mc:Choice xmlns:v="urn:schemas-microsoft-com:vml" Requires="v">
                  <p:oleObj name="Equation" r:id="rId22" imgW="126835" imgH="139518" progId="Equation.3">
                    <p:embed/>
                  </p:oleObj>
                </mc:Choice>
                <mc:Fallback>
                  <p:oleObj name="Equation" r:id="rId22" imgW="126835" imgH="139518"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250" y="3227"/>
                          <a:ext cx="142"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43035" name="AutoShape 40"/>
          <p:cNvSpPr>
            <a:spLocks noChangeArrowheads="1"/>
          </p:cNvSpPr>
          <p:nvPr/>
        </p:nvSpPr>
        <p:spPr bwMode="auto">
          <a:xfrm>
            <a:off x="4329537" y="4307331"/>
            <a:ext cx="820737" cy="482604"/>
          </a:xfrm>
          <a:prstGeom prst="rightArrow">
            <a:avLst>
              <a:gd name="adj1" fmla="val 50000"/>
              <a:gd name="adj2" fmla="val 36218"/>
            </a:avLst>
          </a:prstGeom>
          <a:solidFill>
            <a:srgbClr val="FF0000"/>
          </a:solidFill>
          <a:ln w="9525">
            <a:noFill/>
            <a:miter lim="800000"/>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sp>
        <p:nvSpPr>
          <p:cNvPr id="43031" name="Text Box 42"/>
          <p:cNvSpPr txBox="1">
            <a:spLocks noChangeArrowheads="1"/>
          </p:cNvSpPr>
          <p:nvPr/>
        </p:nvSpPr>
        <p:spPr bwMode="auto">
          <a:xfrm>
            <a:off x="1502453" y="6033364"/>
            <a:ext cx="332815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ja-JP" sz="2000" b="1" dirty="0">
                <a:latin typeface="+mn-lt"/>
                <a:ea typeface="MS PGothic" panose="020B0600070205080204" pitchFamily="34" charset="-128"/>
              </a:rPr>
              <a:t>There will be no overlap if</a:t>
            </a:r>
          </a:p>
        </p:txBody>
      </p:sp>
      <p:graphicFrame>
        <p:nvGraphicFramePr>
          <p:cNvPr id="43032" name="Object 5"/>
          <p:cNvGraphicFramePr>
            <a:graphicFrameLocks noChangeAspect="1"/>
          </p:cNvGraphicFramePr>
          <p:nvPr>
            <p:extLst>
              <p:ext uri="{D42A27DB-BD31-4B8C-83A1-F6EECF244321}">
                <p14:modId xmlns:p14="http://schemas.microsoft.com/office/powerpoint/2010/main" val="2788535333"/>
              </p:ext>
            </p:extLst>
          </p:nvPr>
        </p:nvGraphicFramePr>
        <p:xfrm>
          <a:off x="4831645" y="5906371"/>
          <a:ext cx="1141413" cy="690563"/>
        </p:xfrm>
        <a:graphic>
          <a:graphicData uri="http://schemas.openxmlformats.org/presentationml/2006/ole">
            <mc:AlternateContent xmlns:mc="http://schemas.openxmlformats.org/markup-compatibility/2006">
              <mc:Choice xmlns:v="urn:schemas-microsoft-com:vml" Requires="v">
                <p:oleObj name="Equation" r:id="rId23" imgW="609480" imgH="368280" progId="Equation.DSMT4">
                  <p:embed/>
                </p:oleObj>
              </mc:Choice>
              <mc:Fallback>
                <p:oleObj name="Equation" r:id="rId23" imgW="609480" imgH="368280" progId="Equation.DSMT4">
                  <p:embed/>
                  <p:pic>
                    <p:nvPicPr>
                      <p:cNvPr id="0" name=""/>
                      <p:cNvPicPr>
                        <a:picLocks noChangeAspect="1" noChangeArrowheads="1"/>
                      </p:cNvPicPr>
                      <p:nvPr/>
                    </p:nvPicPr>
                    <p:blipFill>
                      <a:blip r:embed="rId24"/>
                      <a:srcRect/>
                      <a:stretch>
                        <a:fillRect/>
                      </a:stretch>
                    </p:blipFill>
                    <p:spPr bwMode="auto">
                      <a:xfrm>
                        <a:off x="4831645" y="5906371"/>
                        <a:ext cx="1141413"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3028" name="Text Box 47"/>
          <p:cNvSpPr txBox="1">
            <a:spLocks noChangeArrowheads="1"/>
          </p:cNvSpPr>
          <p:nvPr/>
        </p:nvSpPr>
        <p:spPr bwMode="auto">
          <a:xfrm>
            <a:off x="7152570" y="5862678"/>
            <a:ext cx="12747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ja-JP" sz="1800" dirty="0">
                <a:latin typeface="+mn-lt"/>
                <a:ea typeface="MS PGothic" panose="020B0600070205080204" pitchFamily="34" charset="-128"/>
              </a:rPr>
              <a:t>Sampling </a:t>
            </a:r>
          </a:p>
          <a:p>
            <a:pPr eaLnBrk="1" hangingPunct="1">
              <a:spcBef>
                <a:spcPct val="0"/>
              </a:spcBef>
              <a:buFontTx/>
              <a:buNone/>
            </a:pPr>
            <a:r>
              <a:rPr lang="en-US" altLang="ja-JP" sz="1800" dirty="0">
                <a:latin typeface="+mn-lt"/>
                <a:ea typeface="MS PGothic" panose="020B0600070205080204" pitchFamily="34" charset="-128"/>
              </a:rPr>
              <a:t>Frequency</a:t>
            </a:r>
          </a:p>
        </p:txBody>
      </p:sp>
      <p:sp>
        <p:nvSpPr>
          <p:cNvPr id="2" name="Title 1"/>
          <p:cNvSpPr>
            <a:spLocks noGrp="1"/>
          </p:cNvSpPr>
          <p:nvPr>
            <p:ph type="title"/>
          </p:nvPr>
        </p:nvSpPr>
        <p:spPr/>
        <p:txBody>
          <a:bodyPr/>
          <a:lstStyle/>
          <a:p>
            <a:r>
              <a:rPr lang="en-US" dirty="0"/>
              <a:t>Spectral Duplication</a:t>
            </a:r>
          </a:p>
        </p:txBody>
      </p:sp>
    </p:spTree>
    <p:extLst>
      <p:ext uri="{BB962C8B-B14F-4D97-AF65-F5344CB8AC3E}">
        <p14:creationId xmlns:p14="http://schemas.microsoft.com/office/powerpoint/2010/main" val="9769162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4466" name="Rectangle 2"/>
          <p:cNvSpPr>
            <a:spLocks noGrp="1" noChangeArrowheads="1"/>
          </p:cNvSpPr>
          <p:nvPr>
            <p:ph type="title"/>
          </p:nvPr>
        </p:nvSpPr>
        <p:spPr>
          <a:xfrm>
            <a:off x="1524000" y="0"/>
            <a:ext cx="9144000" cy="914400"/>
          </a:xfrm>
          <a:noFill/>
        </p:spPr>
        <p:txBody>
          <a:bodyPr/>
          <a:lstStyle/>
          <a:p>
            <a:pPr>
              <a:defRPr/>
            </a:pPr>
            <a:r>
              <a:rPr lang="en-US" altLang="ja-JP" b="1" dirty="0">
                <a:effectLst>
                  <a:outerShdw blurRad="38100" dist="38100" dir="2700000" algn="tl">
                    <a:srgbClr val="000000">
                      <a:alpha val="43137"/>
                    </a:srgbClr>
                  </a:outerShdw>
                </a:effectLst>
                <a:latin typeface="+mn-lt"/>
                <a:ea typeface="MS PGothic" pitchFamily="34" charset="-128"/>
              </a:rPr>
              <a:t>Nyquist Theorem</a:t>
            </a:r>
          </a:p>
        </p:txBody>
      </p:sp>
      <p:sp>
        <p:nvSpPr>
          <p:cNvPr id="45130" name="Text Box 4"/>
          <p:cNvSpPr txBox="1">
            <a:spLocks noChangeArrowheads="1"/>
          </p:cNvSpPr>
          <p:nvPr/>
        </p:nvSpPr>
        <p:spPr bwMode="auto">
          <a:xfrm>
            <a:off x="1870779" y="936421"/>
            <a:ext cx="352347" cy="398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ja-JP" sz="2000" b="1" dirty="0">
                <a:latin typeface="+mn-lt"/>
                <a:ea typeface="MS PGothic" panose="020B0600070205080204" pitchFamily="34" charset="-128"/>
              </a:rPr>
              <a:t>If</a:t>
            </a:r>
          </a:p>
        </p:txBody>
      </p:sp>
      <p:graphicFrame>
        <p:nvGraphicFramePr>
          <p:cNvPr id="45131" name="Object 14"/>
          <p:cNvGraphicFramePr>
            <a:graphicFrameLocks noChangeAspect="1"/>
          </p:cNvGraphicFramePr>
          <p:nvPr>
            <p:extLst>
              <p:ext uri="{D42A27DB-BD31-4B8C-83A1-F6EECF244321}">
                <p14:modId xmlns:p14="http://schemas.microsoft.com/office/powerpoint/2010/main" val="2123783917"/>
              </p:ext>
            </p:extLst>
          </p:nvPr>
        </p:nvGraphicFramePr>
        <p:xfrm>
          <a:off x="2223126" y="778175"/>
          <a:ext cx="1369479" cy="675674"/>
        </p:xfrm>
        <a:graphic>
          <a:graphicData uri="http://schemas.openxmlformats.org/presentationml/2006/ole">
            <mc:AlternateContent xmlns:mc="http://schemas.openxmlformats.org/markup-compatibility/2006">
              <mc:Choice xmlns:v="urn:schemas-microsoft-com:vml" Requires="v">
                <p:oleObj name="Equation" r:id="rId3" imgW="1015920" imgH="609480" progId="Equation.DSMT4">
                  <p:embed/>
                </p:oleObj>
              </mc:Choice>
              <mc:Fallback>
                <p:oleObj name="Equation" r:id="rId3" imgW="1015920" imgH="609480" progId="Equation.DSMT4">
                  <p:embed/>
                  <p:pic>
                    <p:nvPicPr>
                      <p:cNvPr id="0" name=""/>
                      <p:cNvPicPr>
                        <a:picLocks noChangeAspect="1" noChangeArrowheads="1"/>
                      </p:cNvPicPr>
                      <p:nvPr/>
                    </p:nvPicPr>
                    <p:blipFill>
                      <a:blip r:embed="rId4"/>
                      <a:srcRect/>
                      <a:stretch>
                        <a:fillRect/>
                      </a:stretch>
                    </p:blipFill>
                    <p:spPr bwMode="auto">
                      <a:xfrm>
                        <a:off x="2223126" y="778175"/>
                        <a:ext cx="1369479" cy="675674"/>
                      </a:xfrm>
                      <a:prstGeom prst="rect">
                        <a:avLst/>
                      </a:prstGeom>
                      <a:noFill/>
                      <a:ln>
                        <a:noFill/>
                      </a:ln>
                    </p:spPr>
                  </p:pic>
                </p:oleObj>
              </mc:Fallback>
            </mc:AlternateContent>
          </a:graphicData>
        </a:graphic>
      </p:graphicFrame>
      <p:sp>
        <p:nvSpPr>
          <p:cNvPr id="45060" name="Line 6"/>
          <p:cNvSpPr>
            <a:spLocks noChangeShapeType="1"/>
          </p:cNvSpPr>
          <p:nvPr/>
        </p:nvSpPr>
        <p:spPr bwMode="auto">
          <a:xfrm>
            <a:off x="3694817" y="2102929"/>
            <a:ext cx="42640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n-lt"/>
            </a:endParaRPr>
          </a:p>
        </p:txBody>
      </p:sp>
      <p:sp>
        <p:nvSpPr>
          <p:cNvPr id="45061" name="Line 7"/>
          <p:cNvSpPr>
            <a:spLocks noChangeShapeType="1"/>
          </p:cNvSpPr>
          <p:nvPr/>
        </p:nvSpPr>
        <p:spPr bwMode="auto">
          <a:xfrm flipV="1">
            <a:off x="5701416" y="1067880"/>
            <a:ext cx="0" cy="15398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mn-lt"/>
            </a:endParaRPr>
          </a:p>
        </p:txBody>
      </p:sp>
      <p:grpSp>
        <p:nvGrpSpPr>
          <p:cNvPr id="45062" name="Group 8"/>
          <p:cNvGrpSpPr>
            <a:grpSpLocks/>
          </p:cNvGrpSpPr>
          <p:nvPr/>
        </p:nvGrpSpPr>
        <p:grpSpPr bwMode="auto">
          <a:xfrm>
            <a:off x="5223578" y="1693354"/>
            <a:ext cx="952500" cy="398462"/>
            <a:chOff x="1064" y="3093"/>
            <a:chExt cx="600" cy="395"/>
          </a:xfrm>
        </p:grpSpPr>
        <p:sp>
          <p:nvSpPr>
            <p:cNvPr id="45127" name="Line 9"/>
            <p:cNvSpPr>
              <a:spLocks noChangeShapeType="1"/>
            </p:cNvSpPr>
            <p:nvPr/>
          </p:nvSpPr>
          <p:spPr bwMode="auto">
            <a:xfrm flipV="1">
              <a:off x="1064" y="3094"/>
              <a:ext cx="187" cy="393"/>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mn-lt"/>
              </a:endParaRPr>
            </a:p>
          </p:txBody>
        </p:sp>
        <p:sp>
          <p:nvSpPr>
            <p:cNvPr id="45128" name="Line 10"/>
            <p:cNvSpPr>
              <a:spLocks noChangeShapeType="1"/>
            </p:cNvSpPr>
            <p:nvPr/>
          </p:nvSpPr>
          <p:spPr bwMode="auto">
            <a:xfrm>
              <a:off x="1246" y="3093"/>
              <a:ext cx="238" cy="0"/>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mn-lt"/>
              </a:endParaRPr>
            </a:p>
          </p:txBody>
        </p:sp>
        <p:sp>
          <p:nvSpPr>
            <p:cNvPr id="45129" name="Line 11"/>
            <p:cNvSpPr>
              <a:spLocks noChangeShapeType="1"/>
            </p:cNvSpPr>
            <p:nvPr/>
          </p:nvSpPr>
          <p:spPr bwMode="auto">
            <a:xfrm flipH="1" flipV="1">
              <a:off x="1477" y="3095"/>
              <a:ext cx="187" cy="393"/>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mn-lt"/>
              </a:endParaRPr>
            </a:p>
          </p:txBody>
        </p:sp>
      </p:grpSp>
      <p:graphicFrame>
        <p:nvGraphicFramePr>
          <p:cNvPr id="45063" name="Object 2"/>
          <p:cNvGraphicFramePr>
            <a:graphicFrameLocks noChangeAspect="1"/>
          </p:cNvGraphicFramePr>
          <p:nvPr>
            <p:extLst>
              <p:ext uri="{D42A27DB-BD31-4B8C-83A1-F6EECF244321}">
                <p14:modId xmlns:p14="http://schemas.microsoft.com/office/powerpoint/2010/main" val="2286002602"/>
              </p:ext>
            </p:extLst>
          </p:nvPr>
        </p:nvGraphicFramePr>
        <p:xfrm>
          <a:off x="5733167" y="872616"/>
          <a:ext cx="657225" cy="393700"/>
        </p:xfrm>
        <a:graphic>
          <a:graphicData uri="http://schemas.openxmlformats.org/presentationml/2006/ole">
            <mc:AlternateContent xmlns:mc="http://schemas.openxmlformats.org/markup-compatibility/2006">
              <mc:Choice xmlns:v="urn:schemas-microsoft-com:vml" Requires="v">
                <p:oleObj name="Equation" r:id="rId5" imgW="381000" imgH="228600" progId="Equation.3">
                  <p:embed/>
                </p:oleObj>
              </mc:Choice>
              <mc:Fallback>
                <p:oleObj name="Equation" r:id="rId5" imgW="38100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33167" y="872616"/>
                        <a:ext cx="65722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5064" name="Object 3"/>
          <p:cNvGraphicFramePr>
            <a:graphicFrameLocks noChangeAspect="1"/>
          </p:cNvGraphicFramePr>
          <p:nvPr>
            <p:extLst>
              <p:ext uri="{D42A27DB-BD31-4B8C-83A1-F6EECF244321}">
                <p14:modId xmlns:p14="http://schemas.microsoft.com/office/powerpoint/2010/main" val="2934539209"/>
              </p:ext>
            </p:extLst>
          </p:nvPr>
        </p:nvGraphicFramePr>
        <p:xfrm>
          <a:off x="6042729" y="2045780"/>
          <a:ext cx="430213" cy="352425"/>
        </p:xfrm>
        <a:graphic>
          <a:graphicData uri="http://schemas.openxmlformats.org/presentationml/2006/ole">
            <mc:AlternateContent xmlns:mc="http://schemas.openxmlformats.org/markup-compatibility/2006">
              <mc:Choice xmlns:v="urn:schemas-microsoft-com:vml" Requires="v">
                <p:oleObj name="Equation" r:id="rId7" imgW="279400" imgH="228600" progId="Equation.3">
                  <p:embed/>
                </p:oleObj>
              </mc:Choice>
              <mc:Fallback>
                <p:oleObj name="Equation" r:id="rId7" imgW="279400" imgH="2286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42729" y="2045780"/>
                        <a:ext cx="430213"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45066" name="Group 15"/>
          <p:cNvGrpSpPr>
            <a:grpSpLocks/>
          </p:cNvGrpSpPr>
          <p:nvPr/>
        </p:nvGrpSpPr>
        <p:grpSpPr bwMode="auto">
          <a:xfrm>
            <a:off x="5893501" y="1694942"/>
            <a:ext cx="952500" cy="398463"/>
            <a:chOff x="1064" y="3093"/>
            <a:chExt cx="600" cy="395"/>
          </a:xfrm>
        </p:grpSpPr>
        <p:sp>
          <p:nvSpPr>
            <p:cNvPr id="45124" name="Line 16"/>
            <p:cNvSpPr>
              <a:spLocks noChangeShapeType="1"/>
            </p:cNvSpPr>
            <p:nvPr/>
          </p:nvSpPr>
          <p:spPr bwMode="auto">
            <a:xfrm flipV="1">
              <a:off x="1064" y="3094"/>
              <a:ext cx="187" cy="393"/>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mn-lt"/>
              </a:endParaRPr>
            </a:p>
          </p:txBody>
        </p:sp>
        <p:sp>
          <p:nvSpPr>
            <p:cNvPr id="45125" name="Line 17"/>
            <p:cNvSpPr>
              <a:spLocks noChangeShapeType="1"/>
            </p:cNvSpPr>
            <p:nvPr/>
          </p:nvSpPr>
          <p:spPr bwMode="auto">
            <a:xfrm>
              <a:off x="1246" y="3093"/>
              <a:ext cx="238" cy="0"/>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mn-lt"/>
              </a:endParaRPr>
            </a:p>
          </p:txBody>
        </p:sp>
        <p:sp>
          <p:nvSpPr>
            <p:cNvPr id="45126" name="Line 18"/>
            <p:cNvSpPr>
              <a:spLocks noChangeShapeType="1"/>
            </p:cNvSpPr>
            <p:nvPr/>
          </p:nvSpPr>
          <p:spPr bwMode="auto">
            <a:xfrm flipH="1" flipV="1">
              <a:off x="1477" y="3095"/>
              <a:ext cx="187" cy="393"/>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mn-lt"/>
              </a:endParaRPr>
            </a:p>
          </p:txBody>
        </p:sp>
      </p:grpSp>
      <p:sp>
        <p:nvSpPr>
          <p:cNvPr id="45067" name="Line 19"/>
          <p:cNvSpPr>
            <a:spLocks noChangeShapeType="1"/>
          </p:cNvSpPr>
          <p:nvPr/>
        </p:nvSpPr>
        <p:spPr bwMode="auto">
          <a:xfrm>
            <a:off x="6407853" y="1285366"/>
            <a:ext cx="0" cy="1322388"/>
          </a:xfrm>
          <a:prstGeom prst="line">
            <a:avLst/>
          </a:prstGeom>
          <a:noFill/>
          <a:ln w="9525">
            <a:solidFill>
              <a:schemeClr val="tx1"/>
            </a:solidFill>
            <a:prstDash val="dashDot"/>
            <a:round/>
            <a:headEnd/>
            <a:tailEnd/>
          </a:ln>
          <a:extLst>
            <a:ext uri="{909E8E84-426E-40DD-AFC4-6F175D3DCCD1}">
              <a14:hiddenFill xmlns:a14="http://schemas.microsoft.com/office/drawing/2010/main">
                <a:noFill/>
              </a14:hiddenFill>
            </a:ext>
          </a:extLst>
        </p:spPr>
        <p:txBody>
          <a:bodyPr/>
          <a:lstStyle/>
          <a:p>
            <a:endParaRPr lang="en-US">
              <a:latin typeface="+mn-lt"/>
            </a:endParaRPr>
          </a:p>
        </p:txBody>
      </p:sp>
      <p:sp>
        <p:nvSpPr>
          <p:cNvPr id="45068" name="Line 20"/>
          <p:cNvSpPr>
            <a:spLocks noChangeShapeType="1"/>
          </p:cNvSpPr>
          <p:nvPr/>
        </p:nvSpPr>
        <p:spPr bwMode="auto">
          <a:xfrm>
            <a:off x="5709353" y="2518854"/>
            <a:ext cx="687388" cy="0"/>
          </a:xfrm>
          <a:prstGeom prst="line">
            <a:avLst/>
          </a:prstGeom>
          <a:noFill/>
          <a:ln w="9525">
            <a:solidFill>
              <a:schemeClr val="tx1"/>
            </a:solidFill>
            <a:round/>
            <a:headEnd type="arrow" w="med" len="med"/>
            <a:tailEnd type="arrow" w="med" len="med"/>
          </a:ln>
          <a:extLst>
            <a:ext uri="{909E8E84-426E-40DD-AFC4-6F175D3DCCD1}">
              <a14:hiddenFill xmlns:a14="http://schemas.microsoft.com/office/drawing/2010/main">
                <a:noFill/>
              </a14:hiddenFill>
            </a:ext>
          </a:extLst>
        </p:spPr>
        <p:txBody>
          <a:bodyPr/>
          <a:lstStyle/>
          <a:p>
            <a:endParaRPr lang="en-US">
              <a:latin typeface="+mn-lt"/>
            </a:endParaRPr>
          </a:p>
        </p:txBody>
      </p:sp>
      <p:graphicFrame>
        <p:nvGraphicFramePr>
          <p:cNvPr id="45069" name="Object 5"/>
          <p:cNvGraphicFramePr>
            <a:graphicFrameLocks noChangeAspect="1"/>
          </p:cNvGraphicFramePr>
          <p:nvPr>
            <p:extLst>
              <p:ext uri="{D42A27DB-BD31-4B8C-83A1-F6EECF244321}">
                <p14:modId xmlns:p14="http://schemas.microsoft.com/office/powerpoint/2010/main" val="2794914370"/>
              </p:ext>
            </p:extLst>
          </p:nvPr>
        </p:nvGraphicFramePr>
        <p:xfrm>
          <a:off x="5999338" y="2553718"/>
          <a:ext cx="133984" cy="358293"/>
        </p:xfrm>
        <a:graphic>
          <a:graphicData uri="http://schemas.openxmlformats.org/presentationml/2006/ole">
            <mc:AlternateContent xmlns:mc="http://schemas.openxmlformats.org/markup-compatibility/2006">
              <mc:Choice xmlns:v="urn:schemas-microsoft-com:vml" Requires="v">
                <p:oleObj name="Equation" r:id="rId9" imgW="228600" imgH="609480" progId="Equation.DSMT4">
                  <p:embed/>
                </p:oleObj>
              </mc:Choice>
              <mc:Fallback>
                <p:oleObj name="Equation" r:id="rId9" imgW="228600" imgH="609480" progId="Equation.DSMT4">
                  <p:embed/>
                  <p:pic>
                    <p:nvPicPr>
                      <p:cNvPr id="0" name=""/>
                      <p:cNvPicPr>
                        <a:picLocks noChangeAspect="1" noChangeArrowheads="1"/>
                      </p:cNvPicPr>
                      <p:nvPr/>
                    </p:nvPicPr>
                    <p:blipFill>
                      <a:blip r:embed="rId10"/>
                      <a:srcRect/>
                      <a:stretch>
                        <a:fillRect/>
                      </a:stretch>
                    </p:blipFill>
                    <p:spPr bwMode="auto">
                      <a:xfrm>
                        <a:off x="5999338" y="2553718"/>
                        <a:ext cx="133984" cy="358293"/>
                      </a:xfrm>
                      <a:prstGeom prst="rect">
                        <a:avLst/>
                      </a:prstGeom>
                      <a:noFill/>
                      <a:ln>
                        <a:noFill/>
                      </a:ln>
                    </p:spPr>
                  </p:pic>
                </p:oleObj>
              </mc:Fallback>
            </mc:AlternateContent>
          </a:graphicData>
        </a:graphic>
      </p:graphicFrame>
      <p:graphicFrame>
        <p:nvGraphicFramePr>
          <p:cNvPr id="45070" name="Object 6"/>
          <p:cNvGraphicFramePr>
            <a:graphicFrameLocks noChangeAspect="1"/>
          </p:cNvGraphicFramePr>
          <p:nvPr>
            <p:extLst>
              <p:ext uri="{D42A27DB-BD31-4B8C-83A1-F6EECF244321}">
                <p14:modId xmlns:p14="http://schemas.microsoft.com/office/powerpoint/2010/main" val="4238546954"/>
              </p:ext>
            </p:extLst>
          </p:nvPr>
        </p:nvGraphicFramePr>
        <p:xfrm>
          <a:off x="7877879" y="2106104"/>
          <a:ext cx="225425" cy="247650"/>
        </p:xfrm>
        <a:graphic>
          <a:graphicData uri="http://schemas.openxmlformats.org/presentationml/2006/ole">
            <mc:AlternateContent xmlns:mc="http://schemas.openxmlformats.org/markup-compatibility/2006">
              <mc:Choice xmlns:v="urn:schemas-microsoft-com:vml" Requires="v">
                <p:oleObj name="Equation" r:id="rId11" imgW="126835" imgH="139518" progId="Equation.3">
                  <p:embed/>
                </p:oleObj>
              </mc:Choice>
              <mc:Fallback>
                <p:oleObj name="Equation" r:id="rId11" imgW="126835" imgH="139518"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877879" y="2106104"/>
                        <a:ext cx="225425"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45071" name="Group 23"/>
          <p:cNvGrpSpPr>
            <a:grpSpLocks/>
          </p:cNvGrpSpPr>
          <p:nvPr/>
        </p:nvGrpSpPr>
        <p:grpSpPr bwMode="auto">
          <a:xfrm>
            <a:off x="4542010" y="1690179"/>
            <a:ext cx="952500" cy="398462"/>
            <a:chOff x="1064" y="3093"/>
            <a:chExt cx="600" cy="395"/>
          </a:xfrm>
        </p:grpSpPr>
        <p:sp>
          <p:nvSpPr>
            <p:cNvPr id="45121" name="Line 24"/>
            <p:cNvSpPr>
              <a:spLocks noChangeShapeType="1"/>
            </p:cNvSpPr>
            <p:nvPr/>
          </p:nvSpPr>
          <p:spPr bwMode="auto">
            <a:xfrm flipV="1">
              <a:off x="1064" y="3094"/>
              <a:ext cx="187" cy="393"/>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mn-lt"/>
              </a:endParaRPr>
            </a:p>
          </p:txBody>
        </p:sp>
        <p:sp>
          <p:nvSpPr>
            <p:cNvPr id="45122" name="Line 25"/>
            <p:cNvSpPr>
              <a:spLocks noChangeShapeType="1"/>
            </p:cNvSpPr>
            <p:nvPr/>
          </p:nvSpPr>
          <p:spPr bwMode="auto">
            <a:xfrm>
              <a:off x="1246" y="3093"/>
              <a:ext cx="238" cy="0"/>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mn-lt"/>
              </a:endParaRPr>
            </a:p>
          </p:txBody>
        </p:sp>
        <p:sp>
          <p:nvSpPr>
            <p:cNvPr id="45123" name="Line 26"/>
            <p:cNvSpPr>
              <a:spLocks noChangeShapeType="1"/>
            </p:cNvSpPr>
            <p:nvPr/>
          </p:nvSpPr>
          <p:spPr bwMode="auto">
            <a:xfrm flipH="1" flipV="1">
              <a:off x="1477" y="3095"/>
              <a:ext cx="187" cy="393"/>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mn-lt"/>
              </a:endParaRPr>
            </a:p>
          </p:txBody>
        </p:sp>
      </p:grpSp>
      <p:grpSp>
        <p:nvGrpSpPr>
          <p:cNvPr id="45072" name="Group 27"/>
          <p:cNvGrpSpPr>
            <a:grpSpLocks/>
          </p:cNvGrpSpPr>
          <p:nvPr/>
        </p:nvGrpSpPr>
        <p:grpSpPr bwMode="auto">
          <a:xfrm>
            <a:off x="3877381" y="1687004"/>
            <a:ext cx="952500" cy="398462"/>
            <a:chOff x="1064" y="3093"/>
            <a:chExt cx="600" cy="395"/>
          </a:xfrm>
        </p:grpSpPr>
        <p:sp>
          <p:nvSpPr>
            <p:cNvPr id="45118" name="Line 28"/>
            <p:cNvSpPr>
              <a:spLocks noChangeShapeType="1"/>
            </p:cNvSpPr>
            <p:nvPr/>
          </p:nvSpPr>
          <p:spPr bwMode="auto">
            <a:xfrm flipV="1">
              <a:off x="1064" y="3094"/>
              <a:ext cx="187" cy="393"/>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mn-lt"/>
              </a:endParaRPr>
            </a:p>
          </p:txBody>
        </p:sp>
        <p:sp>
          <p:nvSpPr>
            <p:cNvPr id="45119" name="Line 29"/>
            <p:cNvSpPr>
              <a:spLocks noChangeShapeType="1"/>
            </p:cNvSpPr>
            <p:nvPr/>
          </p:nvSpPr>
          <p:spPr bwMode="auto">
            <a:xfrm>
              <a:off x="1246" y="3093"/>
              <a:ext cx="238" cy="0"/>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mn-lt"/>
              </a:endParaRPr>
            </a:p>
          </p:txBody>
        </p:sp>
        <p:sp>
          <p:nvSpPr>
            <p:cNvPr id="45120" name="Line 30"/>
            <p:cNvSpPr>
              <a:spLocks noChangeShapeType="1"/>
            </p:cNvSpPr>
            <p:nvPr/>
          </p:nvSpPr>
          <p:spPr bwMode="auto">
            <a:xfrm flipH="1" flipV="1">
              <a:off x="1477" y="3095"/>
              <a:ext cx="187" cy="393"/>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mn-lt"/>
              </a:endParaRPr>
            </a:p>
          </p:txBody>
        </p:sp>
      </p:grpSp>
      <p:grpSp>
        <p:nvGrpSpPr>
          <p:cNvPr id="45073" name="Group 31"/>
          <p:cNvGrpSpPr>
            <a:grpSpLocks/>
          </p:cNvGrpSpPr>
          <p:nvPr/>
        </p:nvGrpSpPr>
        <p:grpSpPr bwMode="auto">
          <a:xfrm>
            <a:off x="6556548" y="1696529"/>
            <a:ext cx="952500" cy="398462"/>
            <a:chOff x="1064" y="3093"/>
            <a:chExt cx="600" cy="395"/>
          </a:xfrm>
        </p:grpSpPr>
        <p:sp>
          <p:nvSpPr>
            <p:cNvPr id="45115" name="Line 32"/>
            <p:cNvSpPr>
              <a:spLocks noChangeShapeType="1"/>
            </p:cNvSpPr>
            <p:nvPr/>
          </p:nvSpPr>
          <p:spPr bwMode="auto">
            <a:xfrm flipV="1">
              <a:off x="1064" y="3094"/>
              <a:ext cx="187" cy="393"/>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mn-lt"/>
              </a:endParaRPr>
            </a:p>
          </p:txBody>
        </p:sp>
        <p:sp>
          <p:nvSpPr>
            <p:cNvPr id="45116" name="Line 33"/>
            <p:cNvSpPr>
              <a:spLocks noChangeShapeType="1"/>
            </p:cNvSpPr>
            <p:nvPr/>
          </p:nvSpPr>
          <p:spPr bwMode="auto">
            <a:xfrm>
              <a:off x="1246" y="3093"/>
              <a:ext cx="238" cy="0"/>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mn-lt"/>
              </a:endParaRPr>
            </a:p>
          </p:txBody>
        </p:sp>
        <p:sp>
          <p:nvSpPr>
            <p:cNvPr id="45117" name="Line 34"/>
            <p:cNvSpPr>
              <a:spLocks noChangeShapeType="1"/>
            </p:cNvSpPr>
            <p:nvPr/>
          </p:nvSpPr>
          <p:spPr bwMode="auto">
            <a:xfrm flipH="1" flipV="1">
              <a:off x="1477" y="3095"/>
              <a:ext cx="187" cy="393"/>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mn-lt"/>
              </a:endParaRPr>
            </a:p>
          </p:txBody>
        </p:sp>
      </p:grpSp>
      <p:sp>
        <p:nvSpPr>
          <p:cNvPr id="574518" name="Text Box 54"/>
          <p:cNvSpPr txBox="1">
            <a:spLocks noChangeArrowheads="1"/>
          </p:cNvSpPr>
          <p:nvPr/>
        </p:nvSpPr>
        <p:spPr bwMode="auto">
          <a:xfrm>
            <a:off x="7692141" y="1501177"/>
            <a:ext cx="11817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ja-JP" sz="2000" b="1" dirty="0">
                <a:latin typeface="+mn-lt"/>
                <a:ea typeface="MS PGothic" panose="020B0600070205080204" pitchFamily="34" charset="-128"/>
              </a:rPr>
              <a:t>Aliasing</a:t>
            </a:r>
          </a:p>
        </p:txBody>
      </p:sp>
      <p:sp>
        <p:nvSpPr>
          <p:cNvPr id="45094" name="Text Box 56"/>
          <p:cNvSpPr txBox="1">
            <a:spLocks noChangeArrowheads="1"/>
          </p:cNvSpPr>
          <p:nvPr/>
        </p:nvSpPr>
        <p:spPr bwMode="auto">
          <a:xfrm>
            <a:off x="1524000" y="3028890"/>
            <a:ext cx="48542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ja-JP" sz="2000" b="1" dirty="0">
                <a:solidFill>
                  <a:srgbClr val="FF0000"/>
                </a:solidFill>
                <a:latin typeface="+mn-lt"/>
                <a:ea typeface="MS PGothic" panose="020B0600070205080204" pitchFamily="34" charset="-128"/>
              </a:rPr>
              <a:t>When can we recover </a:t>
            </a:r>
            <a:r>
              <a:rPr lang="en-US" altLang="ja-JP" sz="2000" b="1" i="1" dirty="0">
                <a:solidFill>
                  <a:srgbClr val="FF0000"/>
                </a:solidFill>
                <a:latin typeface="+mn-lt"/>
                <a:ea typeface="MS PGothic" panose="020B0600070205080204" pitchFamily="34" charset="-128"/>
              </a:rPr>
              <a:t>F(u) </a:t>
            </a:r>
            <a:r>
              <a:rPr lang="en-US" altLang="ja-JP" sz="2000" b="1" dirty="0">
                <a:solidFill>
                  <a:srgbClr val="FF0000"/>
                </a:solidFill>
                <a:latin typeface="+mn-lt"/>
                <a:ea typeface="MS PGothic" panose="020B0600070205080204" pitchFamily="34" charset="-128"/>
              </a:rPr>
              <a:t>from </a:t>
            </a:r>
            <a:r>
              <a:rPr lang="en-US" altLang="ja-JP" sz="2000" b="1" i="1" dirty="0">
                <a:solidFill>
                  <a:srgbClr val="FF0000"/>
                </a:solidFill>
                <a:latin typeface="+mn-lt"/>
                <a:ea typeface="MS PGothic" panose="020B0600070205080204" pitchFamily="34" charset="-128"/>
              </a:rPr>
              <a:t>F</a:t>
            </a:r>
            <a:r>
              <a:rPr lang="en-US" altLang="ja-JP" sz="2000" b="1" i="1" baseline="-25000" dirty="0">
                <a:solidFill>
                  <a:srgbClr val="FF0000"/>
                </a:solidFill>
                <a:latin typeface="+mn-lt"/>
                <a:ea typeface="MS PGothic" panose="020B0600070205080204" pitchFamily="34" charset="-128"/>
              </a:rPr>
              <a:t>S</a:t>
            </a:r>
            <a:r>
              <a:rPr lang="en-US" altLang="ja-JP" sz="2000" b="1" i="1" dirty="0">
                <a:solidFill>
                  <a:srgbClr val="FF0000"/>
                </a:solidFill>
                <a:latin typeface="+mn-lt"/>
                <a:ea typeface="MS PGothic" panose="020B0600070205080204" pitchFamily="34" charset="-128"/>
              </a:rPr>
              <a:t>(u)</a:t>
            </a:r>
            <a:r>
              <a:rPr lang="en-US" altLang="ja-JP" sz="2000" b="1" dirty="0">
                <a:solidFill>
                  <a:srgbClr val="FF0000"/>
                </a:solidFill>
                <a:latin typeface="+mn-lt"/>
                <a:ea typeface="MS PGothic" panose="020B0600070205080204" pitchFamily="34" charset="-128"/>
              </a:rPr>
              <a:t>?</a:t>
            </a:r>
          </a:p>
        </p:txBody>
      </p:sp>
      <p:sp>
        <p:nvSpPr>
          <p:cNvPr id="45084" name="Text Box 60"/>
          <p:cNvSpPr txBox="1">
            <a:spLocks noChangeArrowheads="1"/>
          </p:cNvSpPr>
          <p:nvPr/>
        </p:nvSpPr>
        <p:spPr bwMode="auto">
          <a:xfrm>
            <a:off x="3119872" y="3600452"/>
            <a:ext cx="97975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ja-JP" sz="2000" b="1" dirty="0">
                <a:latin typeface="+mn-lt"/>
                <a:ea typeface="MS PGothic" panose="020B0600070205080204" pitchFamily="34" charset="-128"/>
              </a:rPr>
              <a:t>Only if</a:t>
            </a:r>
          </a:p>
        </p:txBody>
      </p:sp>
      <p:graphicFrame>
        <p:nvGraphicFramePr>
          <p:cNvPr id="45085" name="Object 8"/>
          <p:cNvGraphicFramePr>
            <a:graphicFrameLocks noChangeAspect="1"/>
          </p:cNvGraphicFramePr>
          <p:nvPr>
            <p:extLst>
              <p:ext uri="{D42A27DB-BD31-4B8C-83A1-F6EECF244321}">
                <p14:modId xmlns:p14="http://schemas.microsoft.com/office/powerpoint/2010/main" val="1679344947"/>
              </p:ext>
            </p:extLst>
          </p:nvPr>
        </p:nvGraphicFramePr>
        <p:xfrm>
          <a:off x="4242233" y="3426620"/>
          <a:ext cx="1141413" cy="690563"/>
        </p:xfrm>
        <a:graphic>
          <a:graphicData uri="http://schemas.openxmlformats.org/presentationml/2006/ole">
            <mc:AlternateContent xmlns:mc="http://schemas.openxmlformats.org/markup-compatibility/2006">
              <mc:Choice xmlns:v="urn:schemas-microsoft-com:vml" Requires="v">
                <p:oleObj name="Equation" r:id="rId13" imgW="609480" imgH="368280" progId="Equation.DSMT4">
                  <p:embed/>
                </p:oleObj>
              </mc:Choice>
              <mc:Fallback>
                <p:oleObj name="Equation" r:id="rId13" imgW="609480" imgH="368280" progId="Equation.DSMT4">
                  <p:embed/>
                  <p:pic>
                    <p:nvPicPr>
                      <p:cNvPr id="0" name=""/>
                      <p:cNvPicPr>
                        <a:picLocks noChangeAspect="1" noChangeArrowheads="1"/>
                      </p:cNvPicPr>
                      <p:nvPr/>
                    </p:nvPicPr>
                    <p:blipFill>
                      <a:blip r:embed="rId14"/>
                      <a:srcRect/>
                      <a:stretch>
                        <a:fillRect/>
                      </a:stretch>
                    </p:blipFill>
                    <p:spPr bwMode="auto">
                      <a:xfrm>
                        <a:off x="4242233" y="3426620"/>
                        <a:ext cx="1141413"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5086" name="Text Box 62"/>
          <p:cNvSpPr txBox="1">
            <a:spLocks noChangeArrowheads="1"/>
          </p:cNvSpPr>
          <p:nvPr/>
        </p:nvSpPr>
        <p:spPr bwMode="auto">
          <a:xfrm>
            <a:off x="5467784" y="3611565"/>
            <a:ext cx="2470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ja-JP" sz="2000">
                <a:latin typeface="+mn-lt"/>
                <a:ea typeface="MS PGothic" panose="020B0600070205080204" pitchFamily="34" charset="-128"/>
              </a:rPr>
              <a:t>(Nyquist Frequency)</a:t>
            </a:r>
          </a:p>
        </p:txBody>
      </p:sp>
      <p:sp>
        <p:nvSpPr>
          <p:cNvPr id="45087" name="Text Box 63"/>
          <p:cNvSpPr txBox="1">
            <a:spLocks noChangeArrowheads="1"/>
          </p:cNvSpPr>
          <p:nvPr/>
        </p:nvSpPr>
        <p:spPr bwMode="auto">
          <a:xfrm>
            <a:off x="3119871" y="4198939"/>
            <a:ext cx="15906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ja-JP" sz="2000" b="1">
                <a:latin typeface="+mn-lt"/>
                <a:ea typeface="MS PGothic" panose="020B0600070205080204" pitchFamily="34" charset="-128"/>
              </a:rPr>
              <a:t>We can use</a:t>
            </a:r>
          </a:p>
        </p:txBody>
      </p:sp>
      <p:graphicFrame>
        <p:nvGraphicFramePr>
          <p:cNvPr id="45088" name="Object 9"/>
          <p:cNvGraphicFramePr>
            <a:graphicFrameLocks noChangeAspect="1"/>
          </p:cNvGraphicFramePr>
          <p:nvPr>
            <p:extLst>
              <p:ext uri="{D42A27DB-BD31-4B8C-83A1-F6EECF244321}">
                <p14:modId xmlns:p14="http://schemas.microsoft.com/office/powerpoint/2010/main" val="3275277253"/>
              </p:ext>
            </p:extLst>
          </p:nvPr>
        </p:nvGraphicFramePr>
        <p:xfrm>
          <a:off x="4793096" y="4313747"/>
          <a:ext cx="2690813" cy="952500"/>
        </p:xfrm>
        <a:graphic>
          <a:graphicData uri="http://schemas.openxmlformats.org/presentationml/2006/ole">
            <mc:AlternateContent xmlns:mc="http://schemas.openxmlformats.org/markup-compatibility/2006">
              <mc:Choice xmlns:v="urn:schemas-microsoft-com:vml" Requires="v">
                <p:oleObj name="Equation" r:id="rId15" imgW="1434960" imgH="507960" progId="Equation.DSMT4">
                  <p:embed/>
                </p:oleObj>
              </mc:Choice>
              <mc:Fallback>
                <p:oleObj name="Equation" r:id="rId15" imgW="1434960" imgH="507960" progId="Equation.DSMT4">
                  <p:embed/>
                  <p:pic>
                    <p:nvPicPr>
                      <p:cNvPr id="0" name=""/>
                      <p:cNvPicPr>
                        <a:picLocks noChangeAspect="1" noChangeArrowheads="1"/>
                      </p:cNvPicPr>
                      <p:nvPr/>
                    </p:nvPicPr>
                    <p:blipFill>
                      <a:blip r:embed="rId16"/>
                      <a:srcRect/>
                      <a:stretch>
                        <a:fillRect/>
                      </a:stretch>
                    </p:blipFill>
                    <p:spPr bwMode="auto">
                      <a:xfrm>
                        <a:off x="4793096" y="4313747"/>
                        <a:ext cx="2690813"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5090" name="Text Box 66"/>
          <p:cNvSpPr txBox="1">
            <a:spLocks noChangeArrowheads="1"/>
          </p:cNvSpPr>
          <p:nvPr/>
        </p:nvSpPr>
        <p:spPr bwMode="auto">
          <a:xfrm>
            <a:off x="3119872" y="5429252"/>
            <a:ext cx="7986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ja-JP" sz="2000" b="1" dirty="0">
                <a:latin typeface="+mn-lt"/>
                <a:ea typeface="MS PGothic" panose="020B0600070205080204" pitchFamily="34" charset="-128"/>
              </a:rPr>
              <a:t>Then</a:t>
            </a:r>
          </a:p>
        </p:txBody>
      </p:sp>
      <p:graphicFrame>
        <p:nvGraphicFramePr>
          <p:cNvPr id="45091" name="Object 10"/>
          <p:cNvGraphicFramePr>
            <a:graphicFrameLocks noChangeAspect="1"/>
          </p:cNvGraphicFramePr>
          <p:nvPr>
            <p:extLst>
              <p:ext uri="{D42A27DB-BD31-4B8C-83A1-F6EECF244321}">
                <p14:modId xmlns:p14="http://schemas.microsoft.com/office/powerpoint/2010/main" val="2141526483"/>
              </p:ext>
            </p:extLst>
          </p:nvPr>
        </p:nvGraphicFramePr>
        <p:xfrm>
          <a:off x="3969185" y="5441953"/>
          <a:ext cx="2047875" cy="428625"/>
        </p:xfrm>
        <a:graphic>
          <a:graphicData uri="http://schemas.openxmlformats.org/presentationml/2006/ole">
            <mc:AlternateContent xmlns:mc="http://schemas.openxmlformats.org/markup-compatibility/2006">
              <mc:Choice xmlns:v="urn:schemas-microsoft-com:vml" Requires="v">
                <p:oleObj name="Equation" r:id="rId17" imgW="1091726" imgH="228501" progId="Equation.3">
                  <p:embed/>
                </p:oleObj>
              </mc:Choice>
              <mc:Fallback>
                <p:oleObj name="Equation" r:id="rId17" imgW="1091726" imgH="228501"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969185" y="5441953"/>
                        <a:ext cx="20478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5092" name="Object 11"/>
          <p:cNvGraphicFramePr>
            <a:graphicFrameLocks noChangeAspect="1"/>
          </p:cNvGraphicFramePr>
          <p:nvPr>
            <p:extLst>
              <p:ext uri="{D42A27DB-BD31-4B8C-83A1-F6EECF244321}">
                <p14:modId xmlns:p14="http://schemas.microsoft.com/office/powerpoint/2010/main" val="4215051002"/>
              </p:ext>
            </p:extLst>
          </p:nvPr>
        </p:nvGraphicFramePr>
        <p:xfrm>
          <a:off x="6726671" y="5432428"/>
          <a:ext cx="2000250" cy="404813"/>
        </p:xfrm>
        <a:graphic>
          <a:graphicData uri="http://schemas.openxmlformats.org/presentationml/2006/ole">
            <mc:AlternateContent xmlns:mc="http://schemas.openxmlformats.org/markup-compatibility/2006">
              <mc:Choice xmlns:v="urn:schemas-microsoft-com:vml" Requires="v">
                <p:oleObj name="Equation" r:id="rId19" imgW="1066337" imgH="215806" progId="Equation.3">
                  <p:embed/>
                </p:oleObj>
              </mc:Choice>
              <mc:Fallback>
                <p:oleObj name="Equation" r:id="rId19" imgW="1066337" imgH="215806"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726671" y="5432428"/>
                        <a:ext cx="2000250"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5093" name="Text Box 69"/>
          <p:cNvSpPr txBox="1">
            <a:spLocks noChangeArrowheads="1"/>
          </p:cNvSpPr>
          <p:nvPr/>
        </p:nvSpPr>
        <p:spPr bwMode="auto">
          <a:xfrm>
            <a:off x="6074209" y="5429252"/>
            <a:ext cx="64152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ja-JP" sz="2000" b="1">
                <a:latin typeface="+mn-lt"/>
                <a:ea typeface="MS PGothic" panose="020B0600070205080204" pitchFamily="34" charset="-128"/>
              </a:rPr>
              <a:t>and</a:t>
            </a:r>
          </a:p>
        </p:txBody>
      </p:sp>
      <p:sp>
        <p:nvSpPr>
          <p:cNvPr id="45082" name="Text Box 72"/>
          <p:cNvSpPr txBox="1">
            <a:spLocks noChangeArrowheads="1"/>
          </p:cNvSpPr>
          <p:nvPr/>
        </p:nvSpPr>
        <p:spPr bwMode="auto">
          <a:xfrm>
            <a:off x="2580916" y="6043100"/>
            <a:ext cx="5773737" cy="400050"/>
          </a:xfrm>
          <a:prstGeom prst="rect">
            <a:avLst/>
          </a:prstGeom>
          <a:solidFill>
            <a:srgbClr val="FF0000">
              <a:alpha val="5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ja-JP" sz="2000" b="1" dirty="0">
                <a:solidFill>
                  <a:srgbClr val="FF0000"/>
                </a:solidFill>
                <a:latin typeface="+mn-lt"/>
                <a:ea typeface="MS PGothic" panose="020B0600070205080204" pitchFamily="34" charset="-128"/>
              </a:rPr>
              <a:t>Sampling frequency must be greater than </a:t>
            </a:r>
          </a:p>
        </p:txBody>
      </p:sp>
      <p:graphicFrame>
        <p:nvGraphicFramePr>
          <p:cNvPr id="45083" name="Object 7"/>
          <p:cNvGraphicFramePr>
            <a:graphicFrameLocks noChangeAspect="1"/>
          </p:cNvGraphicFramePr>
          <p:nvPr>
            <p:extLst>
              <p:ext uri="{D42A27DB-BD31-4B8C-83A1-F6EECF244321}">
                <p14:modId xmlns:p14="http://schemas.microsoft.com/office/powerpoint/2010/main" val="4291882915"/>
              </p:ext>
            </p:extLst>
          </p:nvPr>
        </p:nvGraphicFramePr>
        <p:xfrm>
          <a:off x="7691078" y="6046276"/>
          <a:ext cx="663575" cy="428625"/>
        </p:xfrm>
        <a:graphic>
          <a:graphicData uri="http://schemas.openxmlformats.org/presentationml/2006/ole">
            <mc:AlternateContent xmlns:mc="http://schemas.openxmlformats.org/markup-compatibility/2006">
              <mc:Choice xmlns:v="urn:schemas-microsoft-com:vml" Requires="v">
                <p:oleObj name="Equation" r:id="rId21" imgW="355446" imgH="228501" progId="Equation.3">
                  <p:embed/>
                </p:oleObj>
              </mc:Choice>
              <mc:Fallback>
                <p:oleObj name="Equation" r:id="rId21" imgW="355446" imgH="228501"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691078" y="6046276"/>
                        <a:ext cx="6635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72" name="Picture 12" descr="http://www.magic-emoji.com/emoji/images/83_emoji_iphone_black_diamond_suit.png"/>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395156" y="3637169"/>
            <a:ext cx="2047875" cy="2569959"/>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Connector 2"/>
          <p:cNvCxnSpPr/>
          <p:nvPr/>
        </p:nvCxnSpPr>
        <p:spPr bwMode="auto">
          <a:xfrm>
            <a:off x="3603218" y="1693355"/>
            <a:ext cx="50801" cy="50801"/>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5" name="Straight Connector 4"/>
          <p:cNvCxnSpPr/>
          <p:nvPr/>
        </p:nvCxnSpPr>
        <p:spPr bwMode="auto">
          <a:xfrm>
            <a:off x="3694817" y="1684298"/>
            <a:ext cx="3997325"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sp>
        <p:nvSpPr>
          <p:cNvPr id="49" name="Rectangle 48"/>
          <p:cNvSpPr/>
          <p:nvPr/>
        </p:nvSpPr>
        <p:spPr bwMode="auto">
          <a:xfrm>
            <a:off x="5848809" y="1682821"/>
            <a:ext cx="344728" cy="420109"/>
          </a:xfrm>
          <a:prstGeom prst="rect">
            <a:avLst/>
          </a:prstGeom>
          <a:solidFill>
            <a:srgbClr val="FF000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Tree>
    <p:extLst>
      <p:ext uri="{BB962C8B-B14F-4D97-AF65-F5344CB8AC3E}">
        <p14:creationId xmlns:p14="http://schemas.microsoft.com/office/powerpoint/2010/main" val="35031242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45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49"/>
                                        </p:tgtEl>
                                        <p:attrNameLst>
                                          <p:attrName>style.visibility</p:attrName>
                                        </p:attrNameLst>
                                      </p:cBhvr>
                                      <p:to>
                                        <p:strVal val="visible"/>
                                      </p:to>
                                    </p:set>
                                    <p:animEffect transition="in" filter="fade">
                                      <p:cBhvr>
                                        <p:cTn id="16"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4518" grpId="0"/>
      <p:bldP spid="4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Non-unique?</a:t>
            </a:r>
          </a:p>
        </p:txBody>
      </p:sp>
      <p:cxnSp>
        <p:nvCxnSpPr>
          <p:cNvPr id="7" name="Straight Arrow Connector 6"/>
          <p:cNvCxnSpPr/>
          <p:nvPr/>
        </p:nvCxnSpPr>
        <p:spPr bwMode="auto">
          <a:xfrm>
            <a:off x="2092412" y="3917092"/>
            <a:ext cx="8056605"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 name="Straight Arrow Connector 7"/>
          <p:cNvCxnSpPr/>
          <p:nvPr/>
        </p:nvCxnSpPr>
        <p:spPr bwMode="auto">
          <a:xfrm rot="16200000">
            <a:off x="3986888" y="3917091"/>
            <a:ext cx="4547743"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0" name="Straight Connector 9"/>
          <p:cNvCxnSpPr/>
          <p:nvPr/>
        </p:nvCxnSpPr>
        <p:spPr bwMode="auto">
          <a:xfrm flipV="1">
            <a:off x="4808839" y="2465172"/>
            <a:ext cx="2903838" cy="2903838"/>
          </a:xfrm>
          <a:prstGeom prst="line">
            <a:avLst/>
          </a:prstGeom>
          <a:ln w="38100">
            <a:solidFill>
              <a:srgbClr val="FF000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11" name="Straight Connector 10"/>
          <p:cNvCxnSpPr/>
          <p:nvPr/>
        </p:nvCxnSpPr>
        <p:spPr bwMode="auto">
          <a:xfrm rot="16200000" flipV="1">
            <a:off x="4808839" y="2465172"/>
            <a:ext cx="2903838" cy="2903838"/>
          </a:xfrm>
          <a:prstGeom prst="line">
            <a:avLst/>
          </a:prstGeom>
          <a:ln w="38100">
            <a:solidFill>
              <a:srgbClr val="0000FF"/>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grpSp>
        <p:nvGrpSpPr>
          <p:cNvPr id="17" name="Group 16"/>
          <p:cNvGrpSpPr/>
          <p:nvPr/>
        </p:nvGrpSpPr>
        <p:grpSpPr>
          <a:xfrm>
            <a:off x="4808838" y="2465169"/>
            <a:ext cx="2903838" cy="2903842"/>
            <a:chOff x="3284838" y="2465169"/>
            <a:chExt cx="2903838" cy="2903842"/>
          </a:xfrm>
        </p:grpSpPr>
        <p:cxnSp>
          <p:nvCxnSpPr>
            <p:cNvPr id="14" name="Curved Connector 13"/>
            <p:cNvCxnSpPr/>
            <p:nvPr/>
          </p:nvCxnSpPr>
          <p:spPr bwMode="auto">
            <a:xfrm rot="5400000" flipH="1" flipV="1">
              <a:off x="3284838" y="3917091"/>
              <a:ext cx="1451920" cy="1451919"/>
            </a:xfrm>
            <a:prstGeom prst="curvedConnector3">
              <a:avLst/>
            </a:prstGeom>
            <a:solidFill>
              <a:schemeClr val="accent1"/>
            </a:solidFill>
            <a:ln w="9525" cap="flat" cmpd="sng" algn="ctr">
              <a:solidFill>
                <a:srgbClr val="FF0000"/>
              </a:solidFill>
              <a:prstDash val="dash"/>
              <a:round/>
              <a:headEnd type="none" w="med" len="med"/>
              <a:tailEnd type="none" w="med" len="med"/>
            </a:ln>
            <a:effectLst/>
          </p:spPr>
        </p:cxnSp>
        <p:cxnSp>
          <p:nvCxnSpPr>
            <p:cNvPr id="16" name="Curved Connector 15"/>
            <p:cNvCxnSpPr/>
            <p:nvPr/>
          </p:nvCxnSpPr>
          <p:spPr bwMode="auto">
            <a:xfrm rot="5400000" flipH="1" flipV="1">
              <a:off x="4736757" y="2465169"/>
              <a:ext cx="1451920" cy="1451919"/>
            </a:xfrm>
            <a:prstGeom prst="curvedConnector3">
              <a:avLst/>
            </a:prstGeom>
            <a:solidFill>
              <a:schemeClr val="accent1"/>
            </a:solidFill>
            <a:ln w="9525" cap="flat" cmpd="sng" algn="ctr">
              <a:solidFill>
                <a:srgbClr val="FF0000"/>
              </a:solidFill>
              <a:prstDash val="dash"/>
              <a:round/>
              <a:headEnd type="none" w="med" len="med"/>
              <a:tailEnd type="none" w="med" len="med"/>
            </a:ln>
            <a:effectLst/>
          </p:spPr>
        </p:cxnSp>
      </p:grpSp>
      <p:grpSp>
        <p:nvGrpSpPr>
          <p:cNvPr id="18" name="Group 17"/>
          <p:cNvGrpSpPr/>
          <p:nvPr/>
        </p:nvGrpSpPr>
        <p:grpSpPr>
          <a:xfrm flipH="1">
            <a:off x="4800597" y="2456928"/>
            <a:ext cx="2903838" cy="2903842"/>
            <a:chOff x="3284838" y="2465169"/>
            <a:chExt cx="2903838" cy="2903842"/>
          </a:xfrm>
        </p:grpSpPr>
        <p:cxnSp>
          <p:nvCxnSpPr>
            <p:cNvPr id="19" name="Curved Connector 18"/>
            <p:cNvCxnSpPr/>
            <p:nvPr/>
          </p:nvCxnSpPr>
          <p:spPr bwMode="auto">
            <a:xfrm rot="5400000" flipH="1" flipV="1">
              <a:off x="3284838" y="3917091"/>
              <a:ext cx="1451920" cy="1451919"/>
            </a:xfrm>
            <a:prstGeom prst="curvedConnector3">
              <a:avLst/>
            </a:prstGeom>
            <a:solidFill>
              <a:schemeClr val="accent1"/>
            </a:solidFill>
            <a:ln w="9525" cap="flat" cmpd="sng" algn="ctr">
              <a:solidFill>
                <a:srgbClr val="0000FF"/>
              </a:solidFill>
              <a:prstDash val="dash"/>
              <a:round/>
              <a:headEnd type="none" w="med" len="med"/>
              <a:tailEnd type="none" w="med" len="med"/>
            </a:ln>
            <a:effectLst/>
          </p:spPr>
        </p:cxnSp>
        <p:cxnSp>
          <p:nvCxnSpPr>
            <p:cNvPr id="20" name="Curved Connector 19"/>
            <p:cNvCxnSpPr/>
            <p:nvPr/>
          </p:nvCxnSpPr>
          <p:spPr bwMode="auto">
            <a:xfrm rot="5400000" flipH="1" flipV="1">
              <a:off x="4736757" y="2465169"/>
              <a:ext cx="1451920" cy="1451919"/>
            </a:xfrm>
            <a:prstGeom prst="curvedConnector3">
              <a:avLst/>
            </a:prstGeom>
            <a:solidFill>
              <a:schemeClr val="accent1"/>
            </a:solidFill>
            <a:ln w="9525" cap="flat" cmpd="sng" algn="ctr">
              <a:solidFill>
                <a:srgbClr val="0000FF"/>
              </a:solidFill>
              <a:prstDash val="dash"/>
              <a:round/>
              <a:headEnd type="none" w="med" len="med"/>
              <a:tailEnd type="none" w="med" len="med"/>
            </a:ln>
            <a:effectLst/>
          </p:spPr>
        </p:cxnSp>
      </p:grpSp>
      <p:sp>
        <p:nvSpPr>
          <p:cNvPr id="21" name="Rectangle 20"/>
          <p:cNvSpPr/>
          <p:nvPr/>
        </p:nvSpPr>
        <p:spPr bwMode="auto">
          <a:xfrm>
            <a:off x="4837672" y="2442520"/>
            <a:ext cx="2858520" cy="2926490"/>
          </a:xfrm>
          <a:prstGeom prst="rect">
            <a:avLst/>
          </a:prstGeom>
          <a:solidFill>
            <a:srgbClr val="FF000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Tree>
    <p:extLst>
      <p:ext uri="{BB962C8B-B14F-4D97-AF65-F5344CB8AC3E}">
        <p14:creationId xmlns:p14="http://schemas.microsoft.com/office/powerpoint/2010/main" val="2833016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1"/>
                                        </p:tgtEl>
                                      </p:cBhvr>
                                    </p:animEffect>
                                    <p:set>
                                      <p:cBhvr>
                                        <p:cTn id="7" dur="1" fill="hold">
                                          <p:stCondLst>
                                            <p:cond delay="499"/>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Digitization Not Finished Yet</a:t>
            </a:r>
          </a:p>
        </p:txBody>
      </p:sp>
      <p:pic>
        <p:nvPicPr>
          <p:cNvPr id="4" name="Picture 3"/>
          <p:cNvPicPr>
            <a:picLocks noChangeAspect="1"/>
          </p:cNvPicPr>
          <p:nvPr/>
        </p:nvPicPr>
        <p:blipFill>
          <a:blip r:embed="rId3"/>
          <a:stretch>
            <a:fillRect/>
          </a:stretch>
        </p:blipFill>
        <p:spPr>
          <a:xfrm>
            <a:off x="5467952" y="1391795"/>
            <a:ext cx="4164960" cy="1469986"/>
          </a:xfrm>
          <a:prstGeom prst="rect">
            <a:avLst/>
          </a:prstGeom>
        </p:spPr>
      </p:pic>
      <p:pic>
        <p:nvPicPr>
          <p:cNvPr id="5" name="Picture 4"/>
          <p:cNvPicPr>
            <a:picLocks noChangeAspect="1"/>
          </p:cNvPicPr>
          <p:nvPr/>
        </p:nvPicPr>
        <p:blipFill>
          <a:blip r:embed="rId4"/>
          <a:stretch>
            <a:fillRect/>
          </a:stretch>
        </p:blipFill>
        <p:spPr>
          <a:xfrm>
            <a:off x="2171702" y="3746563"/>
            <a:ext cx="6715125" cy="1962150"/>
          </a:xfrm>
          <a:prstGeom prst="rect">
            <a:avLst/>
          </a:prstGeom>
        </p:spPr>
      </p:pic>
      <p:pic>
        <p:nvPicPr>
          <p:cNvPr id="6" name="Picture 5"/>
          <p:cNvPicPr>
            <a:picLocks noChangeAspect="1"/>
          </p:cNvPicPr>
          <p:nvPr/>
        </p:nvPicPr>
        <p:blipFill>
          <a:blip r:embed="rId5"/>
          <a:stretch>
            <a:fillRect/>
          </a:stretch>
        </p:blipFill>
        <p:spPr>
          <a:xfrm>
            <a:off x="1524001" y="1207105"/>
            <a:ext cx="3438525" cy="1619250"/>
          </a:xfrm>
          <a:prstGeom prst="rect">
            <a:avLst/>
          </a:prstGeom>
        </p:spPr>
      </p:pic>
      <p:sp>
        <p:nvSpPr>
          <p:cNvPr id="9" name="Right Arrow 8"/>
          <p:cNvSpPr/>
          <p:nvPr/>
        </p:nvSpPr>
        <p:spPr bwMode="auto">
          <a:xfrm>
            <a:off x="4291479" y="4320619"/>
            <a:ext cx="892098" cy="479502"/>
          </a:xfrm>
          <a:prstGeom prst="rightArrow">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
        <p:nvSpPr>
          <p:cNvPr id="10" name="Right Arrow 9"/>
          <p:cNvSpPr/>
          <p:nvPr/>
        </p:nvSpPr>
        <p:spPr bwMode="auto">
          <a:xfrm>
            <a:off x="4269178" y="1207105"/>
            <a:ext cx="892098" cy="479502"/>
          </a:xfrm>
          <a:prstGeom prst="rightArrow">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Tree>
    <p:extLst>
      <p:ext uri="{BB962C8B-B14F-4D97-AF65-F5344CB8AC3E}">
        <p14:creationId xmlns:p14="http://schemas.microsoft.com/office/powerpoint/2010/main" val="17987802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Discretizing Spectrum</a:t>
            </a:r>
          </a:p>
        </p:txBody>
      </p:sp>
      <p:pic>
        <p:nvPicPr>
          <p:cNvPr id="4" name="Picture 3"/>
          <p:cNvPicPr>
            <a:picLocks noChangeAspect="1"/>
          </p:cNvPicPr>
          <p:nvPr/>
        </p:nvPicPr>
        <p:blipFill>
          <a:blip r:embed="rId3"/>
          <a:stretch>
            <a:fillRect/>
          </a:stretch>
        </p:blipFill>
        <p:spPr>
          <a:xfrm>
            <a:off x="1676401" y="1293721"/>
            <a:ext cx="6997697" cy="5104421"/>
          </a:xfrm>
          <a:prstGeom prst="rect">
            <a:avLst/>
          </a:prstGeom>
        </p:spPr>
      </p:pic>
      <p:sp>
        <p:nvSpPr>
          <p:cNvPr id="5" name="Rectangle 4"/>
          <p:cNvSpPr/>
          <p:nvPr/>
        </p:nvSpPr>
        <p:spPr bwMode="auto">
          <a:xfrm>
            <a:off x="2716255" y="1121262"/>
            <a:ext cx="531341" cy="296562"/>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
        <p:nvSpPr>
          <p:cNvPr id="6" name="Rectangle 5"/>
          <p:cNvSpPr/>
          <p:nvPr/>
        </p:nvSpPr>
        <p:spPr bwMode="auto">
          <a:xfrm>
            <a:off x="5682818" y="1135140"/>
            <a:ext cx="531341" cy="296562"/>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pic>
        <p:nvPicPr>
          <p:cNvPr id="7" name="Picture 6" descr="http://www.magic-emoji.com/emoji/images/83_emoji_iphone_black_diamond_suit.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7641378" y="807538"/>
            <a:ext cx="1702055" cy="17020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60282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From Continuous to Discrete</a:t>
            </a:r>
          </a:p>
        </p:txBody>
      </p:sp>
      <p:pic>
        <p:nvPicPr>
          <p:cNvPr id="4" name="Picture 3"/>
          <p:cNvPicPr>
            <a:picLocks noChangeAspect="1"/>
          </p:cNvPicPr>
          <p:nvPr/>
        </p:nvPicPr>
        <p:blipFill>
          <a:blip r:embed="rId3"/>
          <a:stretch>
            <a:fillRect/>
          </a:stretch>
        </p:blipFill>
        <p:spPr>
          <a:xfrm>
            <a:off x="1524000" y="1193589"/>
            <a:ext cx="8372840" cy="1704495"/>
          </a:xfrm>
          <a:prstGeom prst="rect">
            <a:avLst/>
          </a:prstGeom>
        </p:spPr>
      </p:pic>
      <p:sp>
        <p:nvSpPr>
          <p:cNvPr id="3" name="TextBox 2"/>
          <p:cNvSpPr txBox="1"/>
          <p:nvPr/>
        </p:nvSpPr>
        <p:spPr>
          <a:xfrm>
            <a:off x="3622356" y="3333806"/>
            <a:ext cx="800219" cy="646331"/>
          </a:xfrm>
          <a:prstGeom prst="rect">
            <a:avLst/>
          </a:prstGeom>
          <a:solidFill>
            <a:srgbClr val="00B0F0"/>
          </a:solidFill>
          <a:ln w="76200">
            <a:solidFill>
              <a:schemeClr val="tx1"/>
            </a:solidFill>
          </a:ln>
        </p:spPr>
        <p:txBody>
          <a:bodyPr wrap="none" rtlCol="0">
            <a:spAutoFit/>
          </a:bodyPr>
          <a:lstStyle/>
          <a:p>
            <a:r>
              <a:rPr lang="en-US" sz="3600" b="1" dirty="0"/>
              <a:t>f(t)</a:t>
            </a:r>
          </a:p>
        </p:txBody>
      </p:sp>
      <p:sp>
        <p:nvSpPr>
          <p:cNvPr id="5" name="TextBox 4"/>
          <p:cNvSpPr txBox="1"/>
          <p:nvPr/>
        </p:nvSpPr>
        <p:spPr>
          <a:xfrm>
            <a:off x="6707527" y="3333806"/>
            <a:ext cx="928459" cy="646331"/>
          </a:xfrm>
          <a:prstGeom prst="rect">
            <a:avLst/>
          </a:prstGeom>
          <a:solidFill>
            <a:srgbClr val="00B0F0"/>
          </a:solidFill>
          <a:ln w="76200">
            <a:solidFill>
              <a:schemeClr val="tx1"/>
            </a:solidFill>
          </a:ln>
        </p:spPr>
        <p:txBody>
          <a:bodyPr wrap="none" rtlCol="0">
            <a:spAutoFit/>
          </a:bodyPr>
          <a:lstStyle/>
          <a:p>
            <a:r>
              <a:rPr lang="en-US" sz="3600" b="1" i="1" dirty="0"/>
              <a:t>g</a:t>
            </a:r>
            <a:r>
              <a:rPr lang="en-US" sz="3600" b="1" dirty="0"/>
              <a:t>(t)</a:t>
            </a:r>
          </a:p>
        </p:txBody>
      </p:sp>
      <p:sp>
        <p:nvSpPr>
          <p:cNvPr id="6" name="TextBox 5"/>
          <p:cNvSpPr txBox="1"/>
          <p:nvPr/>
        </p:nvSpPr>
        <p:spPr>
          <a:xfrm>
            <a:off x="3558236" y="4980469"/>
            <a:ext cx="928459" cy="646331"/>
          </a:xfrm>
          <a:prstGeom prst="rect">
            <a:avLst/>
          </a:prstGeom>
          <a:solidFill>
            <a:srgbClr val="FF0000"/>
          </a:solidFill>
          <a:ln w="76200">
            <a:solidFill>
              <a:schemeClr val="tx1"/>
            </a:solidFill>
          </a:ln>
        </p:spPr>
        <p:txBody>
          <a:bodyPr wrap="none" rtlCol="0">
            <a:spAutoFit/>
          </a:bodyPr>
          <a:lstStyle/>
          <a:p>
            <a:r>
              <a:rPr lang="en-US" sz="3600" b="1" dirty="0"/>
              <a:t>F(t)</a:t>
            </a:r>
          </a:p>
        </p:txBody>
      </p:sp>
      <p:sp>
        <p:nvSpPr>
          <p:cNvPr id="7" name="TextBox 6"/>
          <p:cNvSpPr txBox="1"/>
          <p:nvPr/>
        </p:nvSpPr>
        <p:spPr>
          <a:xfrm>
            <a:off x="6643407" y="4980469"/>
            <a:ext cx="1005403" cy="646331"/>
          </a:xfrm>
          <a:prstGeom prst="rect">
            <a:avLst/>
          </a:prstGeom>
          <a:solidFill>
            <a:srgbClr val="FF0000"/>
          </a:solidFill>
          <a:ln w="76200">
            <a:solidFill>
              <a:schemeClr val="tx1"/>
            </a:solidFill>
          </a:ln>
        </p:spPr>
        <p:txBody>
          <a:bodyPr wrap="none" rtlCol="0">
            <a:spAutoFit/>
          </a:bodyPr>
          <a:lstStyle/>
          <a:p>
            <a:r>
              <a:rPr lang="en-US" sz="3600" b="1" i="1" dirty="0"/>
              <a:t>G</a:t>
            </a:r>
            <a:r>
              <a:rPr lang="en-US" sz="3600" b="1" dirty="0"/>
              <a:t>(t)</a:t>
            </a:r>
          </a:p>
        </p:txBody>
      </p:sp>
      <p:cxnSp>
        <p:nvCxnSpPr>
          <p:cNvPr id="11" name="Straight Arrow Connector 10"/>
          <p:cNvCxnSpPr/>
          <p:nvPr/>
        </p:nvCxnSpPr>
        <p:spPr bwMode="auto">
          <a:xfrm>
            <a:off x="4022464" y="3980136"/>
            <a:ext cx="0" cy="1000332"/>
          </a:xfrm>
          <a:prstGeom prst="straightConnector1">
            <a:avLst/>
          </a:prstGeom>
          <a:solidFill>
            <a:schemeClr val="accent1"/>
          </a:solidFill>
          <a:ln w="57150" cap="flat" cmpd="sng" algn="ctr">
            <a:solidFill>
              <a:schemeClr val="tx1"/>
            </a:solidFill>
            <a:prstDash val="solid"/>
            <a:round/>
            <a:headEnd type="triangle"/>
            <a:tailEnd type="triangle"/>
          </a:ln>
          <a:effectLst/>
        </p:spPr>
      </p:cxnSp>
      <p:cxnSp>
        <p:nvCxnSpPr>
          <p:cNvPr id="12" name="Straight Arrow Connector 11"/>
          <p:cNvCxnSpPr/>
          <p:nvPr/>
        </p:nvCxnSpPr>
        <p:spPr bwMode="auto">
          <a:xfrm>
            <a:off x="7107635" y="3980136"/>
            <a:ext cx="0" cy="1000332"/>
          </a:xfrm>
          <a:prstGeom prst="straightConnector1">
            <a:avLst/>
          </a:prstGeom>
          <a:solidFill>
            <a:schemeClr val="accent1"/>
          </a:solidFill>
          <a:ln w="57150" cap="flat" cmpd="sng" algn="ctr">
            <a:solidFill>
              <a:schemeClr val="tx1"/>
            </a:solidFill>
            <a:prstDash val="solid"/>
            <a:round/>
            <a:headEnd type="triangle"/>
            <a:tailEnd type="triangle"/>
          </a:ln>
          <a:effectLst/>
        </p:spPr>
      </p:cxnSp>
      <p:cxnSp>
        <p:nvCxnSpPr>
          <p:cNvPr id="15" name="Straight Arrow Connector 14"/>
          <p:cNvCxnSpPr>
            <a:stCxn id="3" idx="3"/>
            <a:endCxn id="5" idx="1"/>
          </p:cNvCxnSpPr>
          <p:nvPr/>
        </p:nvCxnSpPr>
        <p:spPr bwMode="auto">
          <a:xfrm>
            <a:off x="4422574" y="3656971"/>
            <a:ext cx="2284952" cy="0"/>
          </a:xfrm>
          <a:prstGeom prst="straightConnector1">
            <a:avLst/>
          </a:prstGeom>
          <a:solidFill>
            <a:schemeClr val="accent1"/>
          </a:solidFill>
          <a:ln w="57150" cap="flat" cmpd="sng" algn="ctr">
            <a:solidFill>
              <a:schemeClr val="tx1"/>
            </a:solidFill>
            <a:prstDash val="solid"/>
            <a:round/>
            <a:headEnd type="triangle"/>
            <a:tailEnd type="triangle"/>
          </a:ln>
          <a:effectLst/>
        </p:spPr>
      </p:cxnSp>
      <p:cxnSp>
        <p:nvCxnSpPr>
          <p:cNvPr id="18" name="Straight Arrow Connector 17"/>
          <p:cNvCxnSpPr>
            <a:stCxn id="6" idx="3"/>
            <a:endCxn id="7" idx="1"/>
          </p:cNvCxnSpPr>
          <p:nvPr/>
        </p:nvCxnSpPr>
        <p:spPr bwMode="auto">
          <a:xfrm>
            <a:off x="4486694" y="5303634"/>
            <a:ext cx="2156712" cy="0"/>
          </a:xfrm>
          <a:prstGeom prst="straightConnector1">
            <a:avLst/>
          </a:prstGeom>
          <a:solidFill>
            <a:schemeClr val="accent1"/>
          </a:solidFill>
          <a:ln w="57150" cap="flat" cmpd="sng" algn="ctr">
            <a:solidFill>
              <a:schemeClr val="tx1"/>
            </a:solidFill>
            <a:prstDash val="solid"/>
            <a:round/>
            <a:headEnd type="triangle"/>
            <a:tailEnd type="triangle"/>
          </a:ln>
          <a:effectLst/>
        </p:spPr>
      </p:cxnSp>
      <p:sp>
        <p:nvSpPr>
          <p:cNvPr id="21" name="TextBox 20"/>
          <p:cNvSpPr txBox="1"/>
          <p:nvPr/>
        </p:nvSpPr>
        <p:spPr>
          <a:xfrm>
            <a:off x="3234940" y="5752249"/>
            <a:ext cx="1611339" cy="400110"/>
          </a:xfrm>
          <a:prstGeom prst="rect">
            <a:avLst/>
          </a:prstGeom>
          <a:noFill/>
        </p:spPr>
        <p:txBody>
          <a:bodyPr wrap="none" rtlCol="0">
            <a:spAutoFit/>
          </a:bodyPr>
          <a:lstStyle/>
          <a:p>
            <a:r>
              <a:rPr lang="en-US" sz="2000" b="1" dirty="0"/>
              <a:t>Continuous</a:t>
            </a:r>
          </a:p>
        </p:txBody>
      </p:sp>
      <p:sp>
        <p:nvSpPr>
          <p:cNvPr id="22" name="TextBox 21"/>
          <p:cNvSpPr txBox="1"/>
          <p:nvPr/>
        </p:nvSpPr>
        <p:spPr>
          <a:xfrm>
            <a:off x="6534913" y="5752249"/>
            <a:ext cx="1196161" cy="400110"/>
          </a:xfrm>
          <a:prstGeom prst="rect">
            <a:avLst/>
          </a:prstGeom>
          <a:noFill/>
        </p:spPr>
        <p:txBody>
          <a:bodyPr wrap="none" rtlCol="0">
            <a:spAutoFit/>
          </a:bodyPr>
          <a:lstStyle/>
          <a:p>
            <a:r>
              <a:rPr lang="en-US" sz="2000" b="1" dirty="0"/>
              <a:t>Discrete</a:t>
            </a:r>
          </a:p>
        </p:txBody>
      </p:sp>
    </p:spTree>
    <p:extLst>
      <p:ext uri="{BB962C8B-B14F-4D97-AF65-F5344CB8AC3E}">
        <p14:creationId xmlns:p14="http://schemas.microsoft.com/office/powerpoint/2010/main" val="11395217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 Picture</a:t>
            </a:r>
          </a:p>
        </p:txBody>
      </p:sp>
      <p:pic>
        <p:nvPicPr>
          <p:cNvPr id="4" name="Picture 3"/>
          <p:cNvPicPr/>
          <p:nvPr/>
        </p:nvPicPr>
        <p:blipFill>
          <a:blip r:embed="rId3"/>
          <a:stretch>
            <a:fillRect/>
          </a:stretch>
        </p:blipFill>
        <p:spPr>
          <a:xfrm>
            <a:off x="1796757" y="990600"/>
            <a:ext cx="5355093" cy="5329060"/>
          </a:xfrm>
          <a:prstGeom prst="rect">
            <a:avLst/>
          </a:prstGeom>
        </p:spPr>
      </p:pic>
      <p:graphicFrame>
        <p:nvGraphicFramePr>
          <p:cNvPr id="5" name="Object 4"/>
          <p:cNvGraphicFramePr>
            <a:graphicFrameLocks noChangeAspect="1"/>
          </p:cNvGraphicFramePr>
          <p:nvPr>
            <p:extLst>
              <p:ext uri="{D42A27DB-BD31-4B8C-83A1-F6EECF244321}">
                <p14:modId xmlns:p14="http://schemas.microsoft.com/office/powerpoint/2010/main" val="3194908329"/>
              </p:ext>
            </p:extLst>
          </p:nvPr>
        </p:nvGraphicFramePr>
        <p:xfrm>
          <a:off x="479779" y="1089397"/>
          <a:ext cx="1612253" cy="657224"/>
        </p:xfrm>
        <a:graphic>
          <a:graphicData uri="http://schemas.openxmlformats.org/presentationml/2006/ole">
            <mc:AlternateContent xmlns:mc="http://schemas.openxmlformats.org/markup-compatibility/2006">
              <mc:Choice xmlns:v="urn:schemas-microsoft-com:vml" Requires="v">
                <p:oleObj name="Equation" r:id="rId4" imgW="977476" imgH="393529" progId="Equation.DSMT4">
                  <p:embed/>
                </p:oleObj>
              </mc:Choice>
              <mc:Fallback>
                <p:oleObj name="Equation" r:id="rId4" imgW="977476" imgH="393529" progId="Equation.DSMT4">
                  <p:embed/>
                  <p:pic>
                    <p:nvPicPr>
                      <p:cNvPr id="5"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9779" y="1089397"/>
                        <a:ext cx="1612253" cy="657224"/>
                      </a:xfrm>
                      <a:prstGeom prst="rect">
                        <a:avLst/>
                      </a:prstGeom>
                      <a:noFill/>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153923334"/>
              </p:ext>
            </p:extLst>
          </p:nvPr>
        </p:nvGraphicFramePr>
        <p:xfrm>
          <a:off x="6750778" y="5710060"/>
          <a:ext cx="1981200" cy="609600"/>
        </p:xfrm>
        <a:graphic>
          <a:graphicData uri="http://schemas.openxmlformats.org/presentationml/2006/ole">
            <mc:AlternateContent xmlns:mc="http://schemas.openxmlformats.org/markup-compatibility/2006">
              <mc:Choice xmlns:v="urn:schemas-microsoft-com:vml" Requires="v">
                <p:oleObj name="Equation" r:id="rId6" imgW="1307532" imgH="393529" progId="Equation.DSMT4">
                  <p:embed/>
                </p:oleObj>
              </mc:Choice>
              <mc:Fallback>
                <p:oleObj name="Equation" r:id="rId6" imgW="1307532" imgH="393529" progId="Equation.DSMT4">
                  <p:embed/>
                  <p:pic>
                    <p:nvPicPr>
                      <p:cNvPr id="7"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50778" y="5710060"/>
                        <a:ext cx="1981200" cy="609600"/>
                      </a:xfrm>
                      <a:prstGeom prst="rect">
                        <a:avLst/>
                      </a:prstGeom>
                      <a:noFill/>
                    </p:spPr>
                  </p:pic>
                </p:oleObj>
              </mc:Fallback>
            </mc:AlternateContent>
          </a:graphicData>
        </a:graphic>
      </p:graphicFrame>
      <p:pic>
        <p:nvPicPr>
          <p:cNvPr id="6" name="Picture 5" descr="http://www.magic-emoji.com/emoji/images/83_emoji_iphone_black_diamond_suit.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16200000">
            <a:off x="6940432" y="481942"/>
            <a:ext cx="1702055" cy="17020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4583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Variables</a:t>
            </a:r>
          </a:p>
        </p:txBody>
      </p:sp>
      <p:graphicFrame>
        <p:nvGraphicFramePr>
          <p:cNvPr id="5" name="Object 4"/>
          <p:cNvGraphicFramePr>
            <a:graphicFrameLocks noChangeAspect="1"/>
          </p:cNvGraphicFramePr>
          <p:nvPr>
            <p:extLst>
              <p:ext uri="{D42A27DB-BD31-4B8C-83A1-F6EECF244321}">
                <p14:modId xmlns:p14="http://schemas.microsoft.com/office/powerpoint/2010/main" val="1973781770"/>
              </p:ext>
            </p:extLst>
          </p:nvPr>
        </p:nvGraphicFramePr>
        <p:xfrm>
          <a:off x="4483747" y="1603740"/>
          <a:ext cx="2251128" cy="917657"/>
        </p:xfrm>
        <a:graphic>
          <a:graphicData uri="http://schemas.openxmlformats.org/presentationml/2006/ole">
            <mc:AlternateContent xmlns:mc="http://schemas.openxmlformats.org/markup-compatibility/2006">
              <mc:Choice xmlns:v="urn:schemas-microsoft-com:vml" Requires="v">
                <p:oleObj name="Equation" r:id="rId3" imgW="977476" imgH="393529" progId="Equation.DSMT4">
                  <p:embed/>
                </p:oleObj>
              </mc:Choice>
              <mc:Fallback>
                <p:oleObj name="Equation" r:id="rId3" imgW="977476" imgH="393529" progId="Equation.DSMT4">
                  <p:embed/>
                  <p:pic>
                    <p:nvPicPr>
                      <p:cNvPr id="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83747" y="1603740"/>
                        <a:ext cx="2251128" cy="917657"/>
                      </a:xfrm>
                      <a:prstGeom prst="rect">
                        <a:avLst/>
                      </a:prstGeom>
                      <a:noFill/>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133685532"/>
              </p:ext>
            </p:extLst>
          </p:nvPr>
        </p:nvGraphicFramePr>
        <p:xfrm>
          <a:off x="4483748" y="2978721"/>
          <a:ext cx="3254615" cy="1001420"/>
        </p:xfrm>
        <a:graphic>
          <a:graphicData uri="http://schemas.openxmlformats.org/presentationml/2006/ole">
            <mc:AlternateContent xmlns:mc="http://schemas.openxmlformats.org/markup-compatibility/2006">
              <mc:Choice xmlns:v="urn:schemas-microsoft-com:vml" Requires="v">
                <p:oleObj name="Equation" r:id="rId5" imgW="1307532" imgH="393529" progId="Equation.DSMT4">
                  <p:embed/>
                </p:oleObj>
              </mc:Choice>
              <mc:Fallback>
                <p:oleObj name="Equation" r:id="rId5" imgW="1307532" imgH="393529" progId="Equation.DSMT4">
                  <p:embed/>
                  <p:pic>
                    <p:nvPicPr>
                      <p:cNvPr id="7"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83748" y="2978721"/>
                        <a:ext cx="3254615" cy="1001420"/>
                      </a:xfrm>
                      <a:prstGeom prst="rect">
                        <a:avLst/>
                      </a:prstGeom>
                      <a:noFill/>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2839603939"/>
              </p:ext>
            </p:extLst>
          </p:nvPr>
        </p:nvGraphicFramePr>
        <p:xfrm>
          <a:off x="4483747" y="4437467"/>
          <a:ext cx="3468926" cy="1170347"/>
        </p:xfrm>
        <a:graphic>
          <a:graphicData uri="http://schemas.openxmlformats.org/presentationml/2006/ole">
            <mc:AlternateContent xmlns:mc="http://schemas.openxmlformats.org/markup-compatibility/2006">
              <mc:Choice xmlns:v="urn:schemas-microsoft-com:vml" Requires="v">
                <p:oleObj name="Equation" r:id="rId7" imgW="1091880" imgH="393480" progId="Equation.DSMT4">
                  <p:embed/>
                </p:oleObj>
              </mc:Choice>
              <mc:Fallback>
                <p:oleObj name="Equation" r:id="rId7" imgW="1091880" imgH="393480" progId="Equation.DSMT4">
                  <p:embed/>
                  <p:pic>
                    <p:nvPicPr>
                      <p:cNvPr id="6" name="Object 5"/>
                      <p:cNvPicPr>
                        <a:picLocks noChangeAspect="1" noChangeArrowheads="1"/>
                      </p:cNvPicPr>
                      <p:nvPr/>
                    </p:nvPicPr>
                    <p:blipFill>
                      <a:blip r:embed="rId8"/>
                      <a:srcRect/>
                      <a:stretch>
                        <a:fillRect/>
                      </a:stretch>
                    </p:blipFill>
                    <p:spPr bwMode="auto">
                      <a:xfrm>
                        <a:off x="4483747" y="4437467"/>
                        <a:ext cx="3468926" cy="1170347"/>
                      </a:xfrm>
                      <a:prstGeom prst="rect">
                        <a:avLst/>
                      </a:prstGeom>
                      <a:noFill/>
                    </p:spPr>
                  </p:pic>
                </p:oleObj>
              </mc:Fallback>
            </mc:AlternateContent>
          </a:graphicData>
        </a:graphic>
      </p:graphicFrame>
    </p:spTree>
    <p:extLst>
      <p:ext uri="{BB962C8B-B14F-4D97-AF65-F5344CB8AC3E}">
        <p14:creationId xmlns:p14="http://schemas.microsoft.com/office/powerpoint/2010/main" val="1941169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1" y="152400"/>
            <a:ext cx="7667625" cy="838200"/>
          </a:xfrm>
        </p:spPr>
        <p:txBody>
          <a:bodyPr/>
          <a:lstStyle/>
          <a:p>
            <a:r>
              <a:rPr lang="en-US" dirty="0"/>
              <a:t>Direct Fourier Transform of</a:t>
            </a:r>
          </a:p>
        </p:txBody>
      </p:sp>
      <p:pic>
        <p:nvPicPr>
          <p:cNvPr id="4" name="Content Placeholder 3"/>
          <p:cNvPicPr>
            <a:picLocks noGrp="1" noChangeAspect="1"/>
          </p:cNvPicPr>
          <p:nvPr>
            <p:ph idx="1"/>
          </p:nvPr>
        </p:nvPicPr>
        <p:blipFill>
          <a:blip r:embed="rId3"/>
          <a:stretch>
            <a:fillRect/>
          </a:stretch>
        </p:blipFill>
        <p:spPr>
          <a:xfrm>
            <a:off x="1767450" y="1387963"/>
            <a:ext cx="8657100" cy="3777272"/>
          </a:xfrm>
          <a:prstGeom prst="rect">
            <a:avLst/>
          </a:prstGeom>
        </p:spPr>
      </p:pic>
      <p:pic>
        <p:nvPicPr>
          <p:cNvPr id="5" name="Picture 4"/>
          <p:cNvPicPr>
            <a:picLocks noChangeAspect="1"/>
          </p:cNvPicPr>
          <p:nvPr/>
        </p:nvPicPr>
        <p:blipFill>
          <a:blip r:embed="rId4"/>
          <a:stretch>
            <a:fillRect/>
          </a:stretch>
        </p:blipFill>
        <p:spPr>
          <a:xfrm>
            <a:off x="8989449" y="105481"/>
            <a:ext cx="1242550" cy="951088"/>
          </a:xfrm>
          <a:prstGeom prst="rect">
            <a:avLst/>
          </a:prstGeom>
        </p:spPr>
      </p:pic>
      <p:sp>
        <p:nvSpPr>
          <p:cNvPr id="3" name="Rectangle 2"/>
          <p:cNvSpPr/>
          <p:nvPr/>
        </p:nvSpPr>
        <p:spPr bwMode="auto">
          <a:xfrm>
            <a:off x="1882347" y="4040660"/>
            <a:ext cx="6808573" cy="1025611"/>
          </a:xfrm>
          <a:prstGeom prst="rect">
            <a:avLst/>
          </a:prstGeom>
          <a:solidFill>
            <a:srgbClr val="FF000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Tree>
    <p:extLst>
      <p:ext uri="{BB962C8B-B14F-4D97-AF65-F5344CB8AC3E}">
        <p14:creationId xmlns:p14="http://schemas.microsoft.com/office/powerpoint/2010/main" val="1631278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Continuous FT of Sampled f(t)</a:t>
            </a:r>
          </a:p>
        </p:txBody>
      </p:sp>
      <p:pic>
        <p:nvPicPr>
          <p:cNvPr id="11" name="Picture 2" descr="https://12tonemusic.files.wordpress.com/2014/10/harmonic.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6026" y="2792919"/>
            <a:ext cx="6110869" cy="296494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Object 7"/>
          <p:cNvGraphicFramePr>
            <a:graphicFrameLocks noChangeAspect="1"/>
          </p:cNvGraphicFramePr>
          <p:nvPr>
            <p:extLst>
              <p:ext uri="{D42A27DB-BD31-4B8C-83A1-F6EECF244321}">
                <p14:modId xmlns:p14="http://schemas.microsoft.com/office/powerpoint/2010/main" val="1275410645"/>
              </p:ext>
            </p:extLst>
          </p:nvPr>
        </p:nvGraphicFramePr>
        <p:xfrm>
          <a:off x="2504280" y="1407903"/>
          <a:ext cx="3197232" cy="1174706"/>
        </p:xfrm>
        <a:graphic>
          <a:graphicData uri="http://schemas.openxmlformats.org/presentationml/2006/ole">
            <mc:AlternateContent xmlns:mc="http://schemas.openxmlformats.org/markup-compatibility/2006">
              <mc:Choice xmlns:v="urn:schemas-microsoft-com:vml" Requires="v">
                <p:oleObj name="Equation" r:id="rId4" imgW="1244520" imgH="469800" progId="Equation.DSMT4">
                  <p:embed/>
                </p:oleObj>
              </mc:Choice>
              <mc:Fallback>
                <p:oleObj name="Equation" r:id="rId4" imgW="1244520" imgH="469800" progId="Equation.DSMT4">
                  <p:embed/>
                  <p:pic>
                    <p:nvPicPr>
                      <p:cNvPr id="3" name="Object 2"/>
                      <p:cNvPicPr>
                        <a:picLocks noChangeAspect="1" noChangeArrowheads="1"/>
                      </p:cNvPicPr>
                      <p:nvPr/>
                    </p:nvPicPr>
                    <p:blipFill>
                      <a:blip r:embed="rId5"/>
                      <a:srcRect/>
                      <a:stretch>
                        <a:fillRect/>
                      </a:stretch>
                    </p:blipFill>
                    <p:spPr bwMode="auto">
                      <a:xfrm>
                        <a:off x="2504280" y="1407903"/>
                        <a:ext cx="3197232" cy="1174706"/>
                      </a:xfrm>
                      <a:prstGeom prst="rect">
                        <a:avLst/>
                      </a:prstGeom>
                      <a:noFill/>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3944556340"/>
              </p:ext>
            </p:extLst>
          </p:nvPr>
        </p:nvGraphicFramePr>
        <p:xfrm>
          <a:off x="6768969" y="1407859"/>
          <a:ext cx="3294062" cy="1174750"/>
        </p:xfrm>
        <a:graphic>
          <a:graphicData uri="http://schemas.openxmlformats.org/presentationml/2006/ole">
            <mc:AlternateContent xmlns:mc="http://schemas.openxmlformats.org/markup-compatibility/2006">
              <mc:Choice xmlns:v="urn:schemas-microsoft-com:vml" Requires="v">
                <p:oleObj name="Equation" r:id="rId6" imgW="1282680" imgH="469800" progId="Equation.DSMT4">
                  <p:embed/>
                </p:oleObj>
              </mc:Choice>
              <mc:Fallback>
                <p:oleObj name="Equation" r:id="rId6" imgW="1282680" imgH="469800" progId="Equation.DSMT4">
                  <p:embed/>
                  <p:pic>
                    <p:nvPicPr>
                      <p:cNvPr id="6" name="Object 5"/>
                      <p:cNvPicPr>
                        <a:picLocks noChangeAspect="1" noChangeArrowheads="1"/>
                      </p:cNvPicPr>
                      <p:nvPr/>
                    </p:nvPicPr>
                    <p:blipFill>
                      <a:blip r:embed="rId7"/>
                      <a:srcRect/>
                      <a:stretch>
                        <a:fillRect/>
                      </a:stretch>
                    </p:blipFill>
                    <p:spPr bwMode="auto">
                      <a:xfrm>
                        <a:off x="6768969" y="1407859"/>
                        <a:ext cx="3294062" cy="1174750"/>
                      </a:xfrm>
                      <a:prstGeom prst="rect">
                        <a:avLst/>
                      </a:prstGeom>
                      <a:noFill/>
                    </p:spPr>
                  </p:pic>
                </p:oleObj>
              </mc:Fallback>
            </mc:AlternateContent>
          </a:graphicData>
        </a:graphic>
      </p:graphicFrame>
      <p:sp>
        <p:nvSpPr>
          <p:cNvPr id="3" name="Right Arrow 2"/>
          <p:cNvSpPr/>
          <p:nvPr/>
        </p:nvSpPr>
        <p:spPr bwMode="auto">
          <a:xfrm>
            <a:off x="5889252" y="1854418"/>
            <a:ext cx="691979" cy="281632"/>
          </a:xfrm>
          <a:prstGeom prst="rightArrow">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Tree>
    <p:extLst>
      <p:ext uri="{BB962C8B-B14F-4D97-AF65-F5344CB8AC3E}">
        <p14:creationId xmlns:p14="http://schemas.microsoft.com/office/powerpoint/2010/main" val="7691924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Sampling in the Fourier Domain</a:t>
            </a:r>
          </a:p>
        </p:txBody>
      </p:sp>
      <p:pic>
        <p:nvPicPr>
          <p:cNvPr id="4" name="Picture 3"/>
          <p:cNvPicPr>
            <a:picLocks noChangeAspect="1"/>
          </p:cNvPicPr>
          <p:nvPr/>
        </p:nvPicPr>
        <p:blipFill>
          <a:blip r:embed="rId3"/>
          <a:stretch>
            <a:fillRect/>
          </a:stretch>
        </p:blipFill>
        <p:spPr>
          <a:xfrm>
            <a:off x="722002" y="1092201"/>
            <a:ext cx="7925774" cy="3303955"/>
          </a:xfrm>
          <a:prstGeom prst="rect">
            <a:avLst/>
          </a:prstGeom>
        </p:spPr>
      </p:pic>
      <p:pic>
        <p:nvPicPr>
          <p:cNvPr id="5" name="Picture 4"/>
          <p:cNvPicPr>
            <a:picLocks noChangeAspect="1"/>
          </p:cNvPicPr>
          <p:nvPr/>
        </p:nvPicPr>
        <p:blipFill>
          <a:blip r:embed="rId4"/>
          <a:stretch>
            <a:fillRect/>
          </a:stretch>
        </p:blipFill>
        <p:spPr>
          <a:xfrm>
            <a:off x="456061" y="4727039"/>
            <a:ext cx="5114925" cy="895350"/>
          </a:xfrm>
          <a:prstGeom prst="rect">
            <a:avLst/>
          </a:prstGeom>
        </p:spPr>
      </p:pic>
      <p:graphicFrame>
        <p:nvGraphicFramePr>
          <p:cNvPr id="6" name="Object 5"/>
          <p:cNvGraphicFramePr>
            <a:graphicFrameLocks noChangeAspect="1"/>
          </p:cNvGraphicFramePr>
          <p:nvPr>
            <p:extLst>
              <p:ext uri="{D42A27DB-BD31-4B8C-83A1-F6EECF244321}">
                <p14:modId xmlns:p14="http://schemas.microsoft.com/office/powerpoint/2010/main" val="3763235971"/>
              </p:ext>
            </p:extLst>
          </p:nvPr>
        </p:nvGraphicFramePr>
        <p:xfrm>
          <a:off x="6016216" y="4617166"/>
          <a:ext cx="2838344" cy="957601"/>
        </p:xfrm>
        <a:graphic>
          <a:graphicData uri="http://schemas.openxmlformats.org/presentationml/2006/ole">
            <mc:AlternateContent xmlns:mc="http://schemas.openxmlformats.org/markup-compatibility/2006">
              <mc:Choice xmlns:v="urn:schemas-microsoft-com:vml" Requires="v">
                <p:oleObj name="Equation" r:id="rId5" imgW="1091880" imgH="393480" progId="Equation.DSMT4">
                  <p:embed/>
                </p:oleObj>
              </mc:Choice>
              <mc:Fallback>
                <p:oleObj name="Equation" r:id="rId5" imgW="1091880" imgH="393480" progId="Equation.DSMT4">
                  <p:embed/>
                  <p:pic>
                    <p:nvPicPr>
                      <p:cNvPr id="6" name="Object 5"/>
                      <p:cNvPicPr>
                        <a:picLocks noChangeAspect="1" noChangeArrowheads="1"/>
                      </p:cNvPicPr>
                      <p:nvPr/>
                    </p:nvPicPr>
                    <p:blipFill>
                      <a:blip r:embed="rId6"/>
                      <a:srcRect/>
                      <a:stretch>
                        <a:fillRect/>
                      </a:stretch>
                    </p:blipFill>
                    <p:spPr bwMode="auto">
                      <a:xfrm>
                        <a:off x="6016216" y="4617166"/>
                        <a:ext cx="2838344" cy="957601"/>
                      </a:xfrm>
                      <a:prstGeom prst="rect">
                        <a:avLst/>
                      </a:prstGeom>
                      <a:noFill/>
                    </p:spPr>
                  </p:pic>
                </p:oleObj>
              </mc:Fallback>
            </mc:AlternateContent>
          </a:graphicData>
        </a:graphic>
      </p:graphicFrame>
      <p:sp>
        <p:nvSpPr>
          <p:cNvPr id="7" name="Rectangle 6"/>
          <p:cNvSpPr/>
          <p:nvPr/>
        </p:nvSpPr>
        <p:spPr bwMode="auto">
          <a:xfrm>
            <a:off x="5867935" y="4617166"/>
            <a:ext cx="3107337" cy="1025611"/>
          </a:xfrm>
          <a:prstGeom prst="rect">
            <a:avLst/>
          </a:prstGeom>
          <a:solidFill>
            <a:srgbClr val="FF000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cxnSp>
        <p:nvCxnSpPr>
          <p:cNvPr id="9" name="Curved Connector 8"/>
          <p:cNvCxnSpPr>
            <a:cxnSpLocks/>
            <a:stCxn id="7" idx="2"/>
            <a:endCxn id="5" idx="2"/>
          </p:cNvCxnSpPr>
          <p:nvPr/>
        </p:nvCxnSpPr>
        <p:spPr bwMode="auto">
          <a:xfrm rot="5400000" flipH="1">
            <a:off x="5207370" y="3428543"/>
            <a:ext cx="20387" cy="4408080"/>
          </a:xfrm>
          <a:prstGeom prst="curvedConnector3">
            <a:avLst>
              <a:gd name="adj1" fmla="val -1121303"/>
            </a:avLst>
          </a:prstGeom>
          <a:solidFill>
            <a:schemeClr val="accent1"/>
          </a:solidFill>
          <a:ln w="25400" cap="flat" cmpd="sng" algn="ctr">
            <a:solidFill>
              <a:schemeClr val="tx1"/>
            </a:solidFill>
            <a:prstDash val="solid"/>
            <a:round/>
            <a:headEnd type="none" w="med" len="med"/>
            <a:tailEnd type="triangle"/>
          </a:ln>
          <a:effectLst/>
        </p:spPr>
      </p:cxnSp>
      <p:cxnSp>
        <p:nvCxnSpPr>
          <p:cNvPr id="10" name="Curved Connector 9"/>
          <p:cNvCxnSpPr>
            <a:cxnSpLocks/>
            <a:stCxn id="5" idx="0"/>
          </p:cNvCxnSpPr>
          <p:nvPr/>
        </p:nvCxnSpPr>
        <p:spPr bwMode="auto">
          <a:xfrm rot="5400000" flipH="1" flipV="1">
            <a:off x="3531364" y="3539649"/>
            <a:ext cx="669550" cy="1705233"/>
          </a:xfrm>
          <a:prstGeom prst="curvedConnector3">
            <a:avLst>
              <a:gd name="adj1" fmla="val 50000"/>
            </a:avLst>
          </a:prstGeom>
          <a:solidFill>
            <a:schemeClr val="accent1"/>
          </a:solidFill>
          <a:ln w="25400" cap="flat" cmpd="sng" algn="ctr">
            <a:solidFill>
              <a:schemeClr val="tx1"/>
            </a:solidFill>
            <a:prstDash val="solid"/>
            <a:round/>
            <a:headEnd type="none" w="med" len="med"/>
            <a:tailEnd type="triangle"/>
          </a:ln>
          <a:effectLst/>
        </p:spPr>
      </p:cxnSp>
      <p:sp>
        <p:nvSpPr>
          <p:cNvPr id="13" name="Rectangle 12"/>
          <p:cNvSpPr/>
          <p:nvPr/>
        </p:nvSpPr>
        <p:spPr bwMode="auto">
          <a:xfrm>
            <a:off x="5688683" y="3418168"/>
            <a:ext cx="2703234" cy="977988"/>
          </a:xfrm>
          <a:prstGeom prst="rect">
            <a:avLst/>
          </a:prstGeom>
          <a:solidFill>
            <a:srgbClr val="FF000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Tree>
    <p:extLst>
      <p:ext uri="{BB962C8B-B14F-4D97-AF65-F5344CB8AC3E}">
        <p14:creationId xmlns:p14="http://schemas.microsoft.com/office/powerpoint/2010/main" val="21753775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Discrete Fourier Transform</a:t>
            </a:r>
          </a:p>
        </p:txBody>
      </p:sp>
      <p:pic>
        <p:nvPicPr>
          <p:cNvPr id="4" name="Picture 3"/>
          <p:cNvPicPr>
            <a:picLocks noChangeAspect="1"/>
          </p:cNvPicPr>
          <p:nvPr/>
        </p:nvPicPr>
        <p:blipFill>
          <a:blip r:embed="rId3"/>
          <a:stretch>
            <a:fillRect/>
          </a:stretch>
        </p:blipFill>
        <p:spPr>
          <a:xfrm>
            <a:off x="1034074" y="1597040"/>
            <a:ext cx="7888652" cy="3062654"/>
          </a:xfrm>
          <a:prstGeom prst="rect">
            <a:avLst/>
          </a:prstGeom>
        </p:spPr>
      </p:pic>
      <p:sp>
        <p:nvSpPr>
          <p:cNvPr id="6" name="Rectangle 5"/>
          <p:cNvSpPr/>
          <p:nvPr/>
        </p:nvSpPr>
        <p:spPr bwMode="auto">
          <a:xfrm>
            <a:off x="1212486" y="1976392"/>
            <a:ext cx="3358141" cy="907159"/>
          </a:xfrm>
          <a:prstGeom prst="rect">
            <a:avLst/>
          </a:prstGeom>
          <a:solidFill>
            <a:srgbClr val="FF000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Tree>
    <p:extLst>
      <p:ext uri="{BB962C8B-B14F-4D97-AF65-F5344CB8AC3E}">
        <p14:creationId xmlns:p14="http://schemas.microsoft.com/office/powerpoint/2010/main" val="9971455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of Integer Indices</a:t>
            </a:r>
          </a:p>
        </p:txBody>
      </p:sp>
      <p:pic>
        <p:nvPicPr>
          <p:cNvPr id="4" name="Picture 3"/>
          <p:cNvPicPr>
            <a:picLocks noChangeAspect="1"/>
          </p:cNvPicPr>
          <p:nvPr/>
        </p:nvPicPr>
        <p:blipFill>
          <a:blip r:embed="rId3"/>
          <a:stretch>
            <a:fillRect/>
          </a:stretch>
        </p:blipFill>
        <p:spPr>
          <a:xfrm>
            <a:off x="2040305" y="942793"/>
            <a:ext cx="8111391" cy="4027855"/>
          </a:xfrm>
          <a:prstGeom prst="rect">
            <a:avLst/>
          </a:prstGeom>
        </p:spPr>
      </p:pic>
      <p:graphicFrame>
        <p:nvGraphicFramePr>
          <p:cNvPr id="5" name="Object 4"/>
          <p:cNvGraphicFramePr>
            <a:graphicFrameLocks noChangeAspect="1"/>
          </p:cNvGraphicFramePr>
          <p:nvPr>
            <p:extLst>
              <p:ext uri="{D42A27DB-BD31-4B8C-83A1-F6EECF244321}">
                <p14:modId xmlns:p14="http://schemas.microsoft.com/office/powerpoint/2010/main" val="2398810486"/>
              </p:ext>
            </p:extLst>
          </p:nvPr>
        </p:nvGraphicFramePr>
        <p:xfrm>
          <a:off x="2290806" y="5090983"/>
          <a:ext cx="3717962" cy="1585485"/>
        </p:xfrm>
        <a:graphic>
          <a:graphicData uri="http://schemas.openxmlformats.org/presentationml/2006/ole">
            <mc:AlternateContent xmlns:mc="http://schemas.openxmlformats.org/markup-compatibility/2006">
              <mc:Choice xmlns:v="urn:schemas-microsoft-com:vml" Requires="v">
                <p:oleObj name="Equation" r:id="rId4" imgW="1739880" imgH="761760" progId="Equation.DSMT4">
                  <p:embed/>
                </p:oleObj>
              </mc:Choice>
              <mc:Fallback>
                <p:oleObj name="Equation" r:id="rId4" imgW="1739880" imgH="761760" progId="Equation.DSMT4">
                  <p:embed/>
                  <p:pic>
                    <p:nvPicPr>
                      <p:cNvPr id="5" name="Object 4"/>
                      <p:cNvPicPr>
                        <a:picLocks noChangeAspect="1" noChangeArrowheads="1"/>
                      </p:cNvPicPr>
                      <p:nvPr/>
                    </p:nvPicPr>
                    <p:blipFill>
                      <a:blip r:embed="rId5"/>
                      <a:srcRect/>
                      <a:stretch>
                        <a:fillRect/>
                      </a:stretch>
                    </p:blipFill>
                    <p:spPr bwMode="auto">
                      <a:xfrm>
                        <a:off x="2290806" y="5090983"/>
                        <a:ext cx="3717962" cy="1585485"/>
                      </a:xfrm>
                      <a:prstGeom prst="rect">
                        <a:avLst/>
                      </a:prstGeom>
                      <a:noFill/>
                    </p:spPr>
                  </p:pic>
                </p:oleObj>
              </mc:Fallback>
            </mc:AlternateContent>
          </a:graphicData>
        </a:graphic>
      </p:graphicFrame>
    </p:spTree>
    <p:extLst>
      <p:ext uri="{BB962C8B-B14F-4D97-AF65-F5344CB8AC3E}">
        <p14:creationId xmlns:p14="http://schemas.microsoft.com/office/powerpoint/2010/main" val="24307758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Inverse Discrete Fourier Transform</a:t>
            </a:r>
          </a:p>
        </p:txBody>
      </p:sp>
      <p:pic>
        <p:nvPicPr>
          <p:cNvPr id="4" name="Picture 3"/>
          <p:cNvPicPr>
            <a:picLocks noChangeAspect="1"/>
          </p:cNvPicPr>
          <p:nvPr/>
        </p:nvPicPr>
        <p:blipFill>
          <a:blip r:embed="rId3"/>
          <a:stretch>
            <a:fillRect/>
          </a:stretch>
        </p:blipFill>
        <p:spPr>
          <a:xfrm>
            <a:off x="2019789" y="890465"/>
            <a:ext cx="8000020" cy="3248268"/>
          </a:xfrm>
          <a:prstGeom prst="rect">
            <a:avLst/>
          </a:prstGeom>
        </p:spPr>
      </p:pic>
      <p:graphicFrame>
        <p:nvGraphicFramePr>
          <p:cNvPr id="5" name="Object 4"/>
          <p:cNvGraphicFramePr>
            <a:graphicFrameLocks noChangeAspect="1"/>
          </p:cNvGraphicFramePr>
          <p:nvPr>
            <p:extLst>
              <p:ext uri="{D42A27DB-BD31-4B8C-83A1-F6EECF244321}">
                <p14:modId xmlns:p14="http://schemas.microsoft.com/office/powerpoint/2010/main" val="3227368683"/>
              </p:ext>
            </p:extLst>
          </p:nvPr>
        </p:nvGraphicFramePr>
        <p:xfrm>
          <a:off x="2084387" y="4473361"/>
          <a:ext cx="3935413" cy="1585912"/>
        </p:xfrm>
        <a:graphic>
          <a:graphicData uri="http://schemas.openxmlformats.org/presentationml/2006/ole">
            <mc:AlternateContent xmlns:mc="http://schemas.openxmlformats.org/markup-compatibility/2006">
              <mc:Choice xmlns:v="urn:schemas-microsoft-com:vml" Requires="v">
                <p:oleObj name="Equation" r:id="rId4" imgW="1841400" imgH="761760" progId="Equation.DSMT4">
                  <p:embed/>
                </p:oleObj>
              </mc:Choice>
              <mc:Fallback>
                <p:oleObj name="Equation" r:id="rId4" imgW="1841400" imgH="761760" progId="Equation.DSMT4">
                  <p:embed/>
                  <p:pic>
                    <p:nvPicPr>
                      <p:cNvPr id="5" name="Object 4"/>
                      <p:cNvPicPr>
                        <a:picLocks noChangeAspect="1" noChangeArrowheads="1"/>
                      </p:cNvPicPr>
                      <p:nvPr/>
                    </p:nvPicPr>
                    <p:blipFill>
                      <a:blip r:embed="rId5"/>
                      <a:srcRect/>
                      <a:stretch>
                        <a:fillRect/>
                      </a:stretch>
                    </p:blipFill>
                    <p:spPr bwMode="auto">
                      <a:xfrm>
                        <a:off x="2084387" y="4473361"/>
                        <a:ext cx="3935413" cy="1585912"/>
                      </a:xfrm>
                      <a:prstGeom prst="rect">
                        <a:avLst/>
                      </a:prstGeom>
                      <a:noFill/>
                    </p:spPr>
                  </p:pic>
                </p:oleObj>
              </mc:Fallback>
            </mc:AlternateContent>
          </a:graphicData>
        </a:graphic>
      </p:graphicFrame>
      <p:sp>
        <p:nvSpPr>
          <p:cNvPr id="6" name="Rectangle 5"/>
          <p:cNvSpPr/>
          <p:nvPr/>
        </p:nvSpPr>
        <p:spPr bwMode="auto">
          <a:xfrm>
            <a:off x="3184969" y="3174083"/>
            <a:ext cx="378848" cy="907159"/>
          </a:xfrm>
          <a:prstGeom prst="rect">
            <a:avLst/>
          </a:prstGeom>
          <a:solidFill>
            <a:srgbClr val="FF000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
        <p:nvSpPr>
          <p:cNvPr id="7" name="Rectangle 6"/>
          <p:cNvSpPr/>
          <p:nvPr/>
        </p:nvSpPr>
        <p:spPr bwMode="auto">
          <a:xfrm>
            <a:off x="4792033" y="3258713"/>
            <a:ext cx="167730" cy="25821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Tree>
    <p:extLst>
      <p:ext uri="{BB962C8B-B14F-4D97-AF65-F5344CB8AC3E}">
        <p14:creationId xmlns:p14="http://schemas.microsoft.com/office/powerpoint/2010/main" val="2666981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1/N?</a:t>
            </a:r>
          </a:p>
        </p:txBody>
      </p:sp>
      <p:pic>
        <p:nvPicPr>
          <p:cNvPr id="4" name="Picture 3"/>
          <p:cNvPicPr>
            <a:picLocks noChangeAspect="1"/>
          </p:cNvPicPr>
          <p:nvPr/>
        </p:nvPicPr>
        <p:blipFill>
          <a:blip r:embed="rId3"/>
          <a:stretch>
            <a:fillRect/>
          </a:stretch>
        </p:blipFill>
        <p:spPr>
          <a:xfrm>
            <a:off x="2077428" y="954212"/>
            <a:ext cx="6886506" cy="4453167"/>
          </a:xfrm>
          <a:prstGeom prst="rect">
            <a:avLst/>
          </a:prstGeom>
        </p:spPr>
      </p:pic>
    </p:spTree>
    <p:extLst>
      <p:ext uri="{BB962C8B-B14F-4D97-AF65-F5344CB8AC3E}">
        <p14:creationId xmlns:p14="http://schemas.microsoft.com/office/powerpoint/2010/main" val="3765901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304800"/>
            <a:ext cx="9144000" cy="1143000"/>
          </a:xfrm>
        </p:spPr>
        <p:txBody>
          <a:bodyPr/>
          <a:lstStyle/>
          <a:p>
            <a:pPr algn="ctr"/>
            <a:r>
              <a:rPr lang="en-US" sz="3600" dirty="0"/>
              <a:t>Perspective 1: Discretization</a:t>
            </a:r>
          </a:p>
        </p:txBody>
      </p:sp>
      <p:pic>
        <p:nvPicPr>
          <p:cNvPr id="105474" name="Picture 2" descr="http://hyperphysics.phy-astr.gsu.edu/hbase/imgmth/iarea3.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5890" y="1447800"/>
            <a:ext cx="6935784" cy="43245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02871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52400"/>
            <a:ext cx="9144000" cy="838200"/>
          </a:xfrm>
        </p:spPr>
        <p:txBody>
          <a:bodyPr/>
          <a:lstStyle/>
          <a:p>
            <a:r>
              <a:rPr lang="en-US" dirty="0"/>
              <a:t>Perspective 2: Harmonics</a:t>
            </a:r>
          </a:p>
        </p:txBody>
      </p:sp>
      <p:sp>
        <p:nvSpPr>
          <p:cNvPr id="3" name="Content Placeholder 2"/>
          <p:cNvSpPr>
            <a:spLocks noGrp="1"/>
          </p:cNvSpPr>
          <p:nvPr>
            <p:ph idx="1"/>
          </p:nvPr>
        </p:nvSpPr>
        <p:spPr>
          <a:xfrm>
            <a:off x="1676400" y="1066801"/>
            <a:ext cx="6677508" cy="3461627"/>
          </a:xfrm>
        </p:spPr>
        <p:txBody>
          <a:bodyPr/>
          <a:lstStyle/>
          <a:p>
            <a:endParaRPr lang="en-US"/>
          </a:p>
        </p:txBody>
      </p:sp>
      <p:pic>
        <p:nvPicPr>
          <p:cNvPr id="92162" name="Picture 2" descr="http://i.stack.imgur.com/IW7wK.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1" y="1145457"/>
            <a:ext cx="6934822" cy="40700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01859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Orthonormal Basis</a:t>
            </a:r>
          </a:p>
        </p:txBody>
      </p:sp>
      <p:pic>
        <p:nvPicPr>
          <p:cNvPr id="4" name="Picture 3"/>
          <p:cNvPicPr>
            <a:picLocks noChangeAspect="1"/>
          </p:cNvPicPr>
          <p:nvPr/>
        </p:nvPicPr>
        <p:blipFill>
          <a:blip r:embed="rId3"/>
          <a:stretch>
            <a:fillRect/>
          </a:stretch>
        </p:blipFill>
        <p:spPr>
          <a:xfrm>
            <a:off x="2095989" y="1345729"/>
            <a:ext cx="6674664" cy="4072939"/>
          </a:xfrm>
          <a:prstGeom prst="rect">
            <a:avLst/>
          </a:prstGeom>
        </p:spPr>
      </p:pic>
      <p:pic>
        <p:nvPicPr>
          <p:cNvPr id="5" name="Picture 4" descr="http://www.magic-emoji.com/emoji/images/83_emoji_iphone_black_diamond_suit.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8632468" y="265069"/>
            <a:ext cx="1702055" cy="17020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92488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p:txBody>
          <a:bodyPr/>
          <a:lstStyle/>
          <a:p>
            <a:pPr eaLnBrk="1" hangingPunct="1"/>
            <a:r>
              <a:rPr lang="en-US" altLang="en-US" dirty="0"/>
              <a:t>Discrete FT in Different Notations</a:t>
            </a:r>
          </a:p>
        </p:txBody>
      </p:sp>
      <p:graphicFrame>
        <p:nvGraphicFramePr>
          <p:cNvPr id="14340" name="Object 8"/>
          <p:cNvGraphicFramePr>
            <a:graphicFrameLocks noChangeAspect="1"/>
          </p:cNvGraphicFramePr>
          <p:nvPr>
            <p:extLst>
              <p:ext uri="{D42A27DB-BD31-4B8C-83A1-F6EECF244321}">
                <p14:modId xmlns:p14="http://schemas.microsoft.com/office/powerpoint/2010/main" val="339602855"/>
              </p:ext>
            </p:extLst>
          </p:nvPr>
        </p:nvGraphicFramePr>
        <p:xfrm>
          <a:off x="863247" y="1367448"/>
          <a:ext cx="4142510" cy="2748136"/>
        </p:xfrm>
        <a:graphic>
          <a:graphicData uri="http://schemas.openxmlformats.org/presentationml/2006/ole">
            <mc:AlternateContent xmlns:mc="http://schemas.openxmlformats.org/markup-compatibility/2006">
              <mc:Choice xmlns:v="urn:schemas-microsoft-com:vml" Requires="v">
                <p:oleObj name="Equation" r:id="rId3" imgW="2565400" imgH="1701800" progId="Equation.3">
                  <p:embed/>
                </p:oleObj>
              </mc:Choice>
              <mc:Fallback>
                <p:oleObj name="Equation" r:id="rId3" imgW="2565400" imgH="1701800" progId="Equation.3">
                  <p:embed/>
                  <p:pic>
                    <p:nvPicPr>
                      <p:cNvPr id="1434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3247" y="1367448"/>
                        <a:ext cx="4142510" cy="2748136"/>
                      </a:xfrm>
                      <a:prstGeom prst="rect">
                        <a:avLst/>
                      </a:prstGeom>
                      <a:noFill/>
                      <a:ln>
                        <a:noFill/>
                      </a:ln>
                      <a:effectLst/>
                    </p:spPr>
                  </p:pic>
                </p:oleObj>
              </mc:Fallback>
            </mc:AlternateContent>
          </a:graphicData>
        </a:graphic>
      </p:graphicFrame>
      <p:pic>
        <p:nvPicPr>
          <p:cNvPr id="90142" name="Picture 30" descr="http://33.media.tumblr.com/77dba608644a2600a06d5864d8139b3d/tumblr_n86kihX8pI1rf74qlo1_1280.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3248" y="4467104"/>
            <a:ext cx="6705923" cy="122435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5149191" y="1092201"/>
            <a:ext cx="3903633" cy="3477875"/>
          </a:xfrm>
          <a:prstGeom prst="rect">
            <a:avLst/>
          </a:prstGeom>
          <a:noFill/>
        </p:spPr>
        <p:txBody>
          <a:bodyPr wrap="none" rtlCol="0">
            <a:spAutoFit/>
          </a:bodyPr>
          <a:lstStyle/>
          <a:p>
            <a:r>
              <a:rPr lang="en-US" sz="2000" b="1" dirty="0">
                <a:latin typeface="+mn-lt"/>
              </a:rPr>
              <a:t>Vector of N Elements</a:t>
            </a:r>
          </a:p>
          <a:p>
            <a:r>
              <a:rPr lang="en-US" sz="2000" b="1" dirty="0">
                <a:latin typeface="+mn-lt"/>
              </a:rPr>
              <a:t>Only Needs N Basis Functions</a:t>
            </a:r>
          </a:p>
          <a:p>
            <a:endParaRPr lang="en-US" sz="2000" b="1" dirty="0">
              <a:latin typeface="+mn-lt"/>
            </a:endParaRPr>
          </a:p>
          <a:p>
            <a:r>
              <a:rPr lang="en-US" sz="2000" b="1" dirty="0">
                <a:latin typeface="+mn-lt"/>
              </a:rPr>
              <a:t>N Harmonic Orthogonal</a:t>
            </a:r>
          </a:p>
          <a:p>
            <a:r>
              <a:rPr lang="en-US" sz="2000" b="1" dirty="0">
                <a:latin typeface="+mn-lt"/>
              </a:rPr>
              <a:t>Basis Functions Are Enough</a:t>
            </a:r>
          </a:p>
          <a:p>
            <a:endParaRPr lang="en-US" sz="2000" b="1" dirty="0">
              <a:latin typeface="+mn-lt"/>
            </a:endParaRPr>
          </a:p>
          <a:p>
            <a:r>
              <a:rPr lang="en-US" sz="2000" b="1" dirty="0">
                <a:latin typeface="+mn-lt"/>
              </a:rPr>
              <a:t>Frequencies Differ by</a:t>
            </a:r>
          </a:p>
          <a:p>
            <a:r>
              <a:rPr lang="en-US" sz="2000" b="1" dirty="0">
                <a:latin typeface="+mn-lt"/>
              </a:rPr>
              <a:t>Constant Increment</a:t>
            </a:r>
          </a:p>
          <a:p>
            <a:endParaRPr lang="en-US" sz="2000" b="1" dirty="0">
              <a:latin typeface="+mn-lt"/>
            </a:endParaRPr>
          </a:p>
          <a:p>
            <a:r>
              <a:rPr lang="en-US" sz="2000" b="1" dirty="0">
                <a:latin typeface="+mn-lt"/>
              </a:rPr>
              <a:t>Forward &amp; Inverse Transforms</a:t>
            </a:r>
          </a:p>
          <a:p>
            <a:r>
              <a:rPr lang="en-US" sz="2000" b="1" dirty="0">
                <a:latin typeface="+mn-lt"/>
              </a:rPr>
              <a:t>Are Symmetric</a:t>
            </a:r>
          </a:p>
        </p:txBody>
      </p:sp>
      <p:sp>
        <p:nvSpPr>
          <p:cNvPr id="6" name="Down Arrow 5"/>
          <p:cNvSpPr/>
          <p:nvPr/>
        </p:nvSpPr>
        <p:spPr bwMode="auto">
          <a:xfrm rot="14400000">
            <a:off x="1383848" y="3839359"/>
            <a:ext cx="342900" cy="552450"/>
          </a:xfrm>
          <a:prstGeom prst="downArrow">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pic>
        <p:nvPicPr>
          <p:cNvPr id="7" name="Picture 6" descr="http://www.magic-emoji.com/emoji/images/83_emoji_iphone_black_diamond_suit.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6200000">
            <a:off x="3239510" y="3672750"/>
            <a:ext cx="1702055" cy="1702055"/>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bwMode="auto">
          <a:xfrm>
            <a:off x="3728807" y="3127945"/>
            <a:ext cx="189372" cy="25821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pic>
        <p:nvPicPr>
          <p:cNvPr id="10" name="Picture 9"/>
          <p:cNvPicPr>
            <a:picLocks noChangeAspect="1"/>
          </p:cNvPicPr>
          <p:nvPr/>
        </p:nvPicPr>
        <p:blipFill>
          <a:blip r:embed="rId7"/>
          <a:stretch>
            <a:fillRect/>
          </a:stretch>
        </p:blipFill>
        <p:spPr>
          <a:xfrm>
            <a:off x="3101406" y="1681839"/>
            <a:ext cx="454261" cy="302841"/>
          </a:xfrm>
          <a:prstGeom prst="rect">
            <a:avLst/>
          </a:prstGeom>
        </p:spPr>
      </p:pic>
    </p:spTree>
    <p:extLst>
      <p:ext uri="{BB962C8B-B14F-4D97-AF65-F5344CB8AC3E}">
        <p14:creationId xmlns:p14="http://schemas.microsoft.com/office/powerpoint/2010/main" val="1341433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2133600" y="0"/>
            <a:ext cx="7772400" cy="1143000"/>
          </a:xfrm>
        </p:spPr>
        <p:txBody>
          <a:bodyPr/>
          <a:lstStyle/>
          <a:p>
            <a:pPr eaLnBrk="1" hangingPunct="1">
              <a:defRPr/>
            </a:pPr>
            <a:r>
              <a:rPr lang="en-US" dirty="0"/>
              <a:t>FFT</a:t>
            </a:r>
          </a:p>
        </p:txBody>
      </p:sp>
      <p:sp>
        <p:nvSpPr>
          <p:cNvPr id="17411" name="Rectangle 3"/>
          <p:cNvSpPr>
            <a:spLocks noGrp="1" noChangeArrowheads="1"/>
          </p:cNvSpPr>
          <p:nvPr>
            <p:ph type="body" idx="1"/>
          </p:nvPr>
        </p:nvSpPr>
        <p:spPr>
          <a:xfrm>
            <a:off x="2057400" y="1295401"/>
            <a:ext cx="8413955" cy="3787877"/>
          </a:xfrm>
        </p:spPr>
        <p:txBody>
          <a:bodyPr/>
          <a:lstStyle/>
          <a:p>
            <a:pPr marL="609600" indent="-609600">
              <a:lnSpc>
                <a:spcPct val="90000"/>
              </a:lnSpc>
              <a:buClrTx/>
              <a:buFont typeface="Arial" panose="020B0604020202020204" pitchFamily="34" charset="0"/>
              <a:buChar char="•"/>
              <a:defRPr/>
            </a:pPr>
            <a:r>
              <a:rPr lang="en-US" sz="2400" dirty="0">
                <a:solidFill>
                  <a:schemeClr val="tx1"/>
                </a:solidFill>
              </a:rPr>
              <a:t>Fast Fourier Transform (FFT) is an</a:t>
            </a:r>
            <a:r>
              <a:rPr lang="en-US" sz="2400" dirty="0">
                <a:solidFill>
                  <a:schemeClr val="tx1"/>
                </a:solidFill>
                <a:effectLst>
                  <a:outerShdw blurRad="38100" dist="38100" dir="2700000" algn="tl">
                    <a:srgbClr val="000000">
                      <a:alpha val="43137"/>
                    </a:srgbClr>
                  </a:outerShdw>
                </a:effectLst>
              </a:rPr>
              <a:t> efficient algorithm </a:t>
            </a:r>
            <a:r>
              <a:rPr lang="en-US" sz="2400" dirty="0">
                <a:solidFill>
                  <a:schemeClr val="tx1"/>
                </a:solidFill>
              </a:rPr>
              <a:t>for performing a discrete Fourier transform</a:t>
            </a:r>
          </a:p>
          <a:p>
            <a:pPr marL="609600" indent="-609600">
              <a:lnSpc>
                <a:spcPct val="90000"/>
              </a:lnSpc>
              <a:buClrTx/>
              <a:buFont typeface="Arial" panose="020B0604020202020204" pitchFamily="34" charset="0"/>
              <a:buChar char="•"/>
              <a:defRPr/>
            </a:pPr>
            <a:r>
              <a:rPr lang="en-US" sz="2400" dirty="0">
                <a:solidFill>
                  <a:schemeClr val="tx1"/>
                </a:solidFill>
              </a:rPr>
              <a:t>FFT published by Cooley &amp; </a:t>
            </a:r>
            <a:r>
              <a:rPr lang="en-US" sz="2400" dirty="0" err="1">
                <a:solidFill>
                  <a:schemeClr val="tx1"/>
                </a:solidFill>
              </a:rPr>
              <a:t>Tukey</a:t>
            </a:r>
            <a:r>
              <a:rPr lang="en-US" sz="2400" dirty="0">
                <a:solidFill>
                  <a:schemeClr val="tx1"/>
                </a:solidFill>
              </a:rPr>
              <a:t> in 1965</a:t>
            </a:r>
          </a:p>
          <a:p>
            <a:pPr marL="609600" indent="-609600">
              <a:lnSpc>
                <a:spcPct val="90000"/>
              </a:lnSpc>
              <a:buFontTx/>
              <a:buAutoNum type="arabicPeriod"/>
              <a:defRPr/>
            </a:pPr>
            <a:endParaRPr lang="en-US" sz="2400" dirty="0">
              <a:solidFill>
                <a:schemeClr val="tx1"/>
              </a:solidFill>
            </a:endParaRPr>
          </a:p>
          <a:p>
            <a:pPr>
              <a:lnSpc>
                <a:spcPct val="90000"/>
              </a:lnSpc>
              <a:defRPr/>
            </a:pPr>
            <a:r>
              <a:rPr lang="en-US" sz="2000" b="0" dirty="0">
                <a:solidFill>
                  <a:schemeClr val="tx1"/>
                </a:solidFill>
              </a:rPr>
              <a:t>In 1969, the 2048 point analysis of a seismic trace took 13 ½ hours. Using the FFT, the same task on the same machine took 2.4 seconds!</a:t>
            </a:r>
          </a:p>
        </p:txBody>
      </p:sp>
      <p:pic>
        <p:nvPicPr>
          <p:cNvPr id="2" name="Picture 1"/>
          <p:cNvPicPr>
            <a:picLocks noChangeAspect="1"/>
          </p:cNvPicPr>
          <p:nvPr/>
        </p:nvPicPr>
        <p:blipFill>
          <a:blip r:embed="rId3"/>
          <a:stretch>
            <a:fillRect/>
          </a:stretch>
        </p:blipFill>
        <p:spPr>
          <a:xfrm>
            <a:off x="4214813" y="3897415"/>
            <a:ext cx="3876675" cy="2676525"/>
          </a:xfrm>
          <a:prstGeom prst="rect">
            <a:avLst/>
          </a:prstGeom>
        </p:spPr>
      </p:pic>
    </p:spTree>
    <p:extLst>
      <p:ext uri="{BB962C8B-B14F-4D97-AF65-F5344CB8AC3E}">
        <p14:creationId xmlns:p14="http://schemas.microsoft.com/office/powerpoint/2010/main" val="6127037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FFT &amp; IFFT</a:t>
            </a:r>
          </a:p>
        </p:txBody>
      </p:sp>
      <p:pic>
        <p:nvPicPr>
          <p:cNvPr id="4" name="Picture 3"/>
          <p:cNvPicPr>
            <a:picLocks noChangeAspect="1"/>
          </p:cNvPicPr>
          <p:nvPr/>
        </p:nvPicPr>
        <p:blipFill>
          <a:blip r:embed="rId3"/>
          <a:stretch>
            <a:fillRect/>
          </a:stretch>
        </p:blipFill>
        <p:spPr>
          <a:xfrm>
            <a:off x="2024063" y="1352550"/>
            <a:ext cx="7110325" cy="3625850"/>
          </a:xfrm>
          <a:prstGeom prst="rect">
            <a:avLst/>
          </a:prstGeom>
        </p:spPr>
      </p:pic>
    </p:spTree>
    <p:extLst>
      <p:ext uri="{BB962C8B-B14F-4D97-AF65-F5344CB8AC3E}">
        <p14:creationId xmlns:p14="http://schemas.microsoft.com/office/powerpoint/2010/main" val="4829925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1: Discrete Convolution</a:t>
            </a:r>
          </a:p>
        </p:txBody>
      </p:sp>
      <p:sp>
        <p:nvSpPr>
          <p:cNvPr id="3" name="Rectangle 2"/>
          <p:cNvSpPr/>
          <p:nvPr/>
        </p:nvSpPr>
        <p:spPr>
          <a:xfrm>
            <a:off x="1440170" y="5262328"/>
            <a:ext cx="4531653" cy="461665"/>
          </a:xfrm>
          <a:prstGeom prst="rect">
            <a:avLst/>
          </a:prstGeom>
        </p:spPr>
        <p:txBody>
          <a:bodyPr wrap="square">
            <a:spAutoFit/>
          </a:bodyPr>
          <a:lstStyle/>
          <a:p>
            <a:pPr algn="r"/>
            <a:r>
              <a:rPr lang="en-US" sz="1200" dirty="0">
                <a:hlinkClick r:id="rId3"/>
              </a:rPr>
              <a:t>https://www.mathworks.com/matlabcentral/answers/38066-difference-between-conv-ifft-fft-when-doing-convolution</a:t>
            </a:r>
            <a:r>
              <a:rPr lang="en-US" sz="1200" dirty="0"/>
              <a:t> </a:t>
            </a:r>
          </a:p>
        </p:txBody>
      </p:sp>
      <p:pic>
        <p:nvPicPr>
          <p:cNvPr id="7" name="Picture 6"/>
          <p:cNvPicPr>
            <a:picLocks noChangeAspect="1"/>
          </p:cNvPicPr>
          <p:nvPr/>
        </p:nvPicPr>
        <p:blipFill>
          <a:blip r:embed="rId4"/>
          <a:stretch>
            <a:fillRect/>
          </a:stretch>
        </p:blipFill>
        <p:spPr>
          <a:xfrm>
            <a:off x="2262188" y="1443038"/>
            <a:ext cx="6650520" cy="3445052"/>
          </a:xfrm>
          <a:prstGeom prst="rect">
            <a:avLst/>
          </a:prstGeom>
        </p:spPr>
      </p:pic>
      <p:pic>
        <p:nvPicPr>
          <p:cNvPr id="6" name="Picture 5" descr="http://www.magic-emoji.com/emoji/images/83_emoji_iphone_black_diamond_suit.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6200000">
            <a:off x="6853222" y="3858347"/>
            <a:ext cx="2059486" cy="20594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03118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Circular Convolution</a:t>
            </a:r>
          </a:p>
        </p:txBody>
      </p:sp>
      <p:pic>
        <p:nvPicPr>
          <p:cNvPr id="4" name="Picture 3"/>
          <p:cNvPicPr>
            <a:picLocks noChangeAspect="1"/>
          </p:cNvPicPr>
          <p:nvPr/>
        </p:nvPicPr>
        <p:blipFill>
          <a:blip r:embed="rId3"/>
          <a:stretch>
            <a:fillRect/>
          </a:stretch>
        </p:blipFill>
        <p:spPr>
          <a:xfrm>
            <a:off x="2262188" y="990601"/>
            <a:ext cx="6967488" cy="3626556"/>
          </a:xfrm>
          <a:prstGeom prst="rect">
            <a:avLst/>
          </a:prstGeom>
        </p:spPr>
      </p:pic>
      <p:pic>
        <p:nvPicPr>
          <p:cNvPr id="5" name="Picture 4"/>
          <p:cNvPicPr>
            <a:picLocks noChangeAspect="1"/>
          </p:cNvPicPr>
          <p:nvPr/>
        </p:nvPicPr>
        <p:blipFill>
          <a:blip r:embed="rId4"/>
          <a:stretch>
            <a:fillRect/>
          </a:stretch>
        </p:blipFill>
        <p:spPr>
          <a:xfrm>
            <a:off x="6514481" y="3929967"/>
            <a:ext cx="3171388" cy="1051609"/>
          </a:xfrm>
          <a:prstGeom prst="rect">
            <a:avLst/>
          </a:prstGeom>
        </p:spPr>
      </p:pic>
      <p:grpSp>
        <p:nvGrpSpPr>
          <p:cNvPr id="13" name="Group 12"/>
          <p:cNvGrpSpPr/>
          <p:nvPr/>
        </p:nvGrpSpPr>
        <p:grpSpPr>
          <a:xfrm>
            <a:off x="1867077" y="5024937"/>
            <a:ext cx="6396789" cy="577516"/>
            <a:chOff x="1135781" y="5457660"/>
            <a:chExt cx="6396789" cy="577516"/>
          </a:xfrm>
        </p:grpSpPr>
        <p:sp>
          <p:nvSpPr>
            <p:cNvPr id="7" name="Isosceles Triangle 6"/>
            <p:cNvSpPr/>
            <p:nvPr/>
          </p:nvSpPr>
          <p:spPr bwMode="auto">
            <a:xfrm>
              <a:off x="1135781" y="5457660"/>
              <a:ext cx="1097280" cy="577516"/>
            </a:xfrm>
            <a:prstGeom prst="triangle">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
          <p:nvSpPr>
            <p:cNvPr id="8" name="Isosceles Triangle 7"/>
            <p:cNvSpPr/>
            <p:nvPr/>
          </p:nvSpPr>
          <p:spPr bwMode="auto">
            <a:xfrm>
              <a:off x="2182528" y="5457660"/>
              <a:ext cx="1097280" cy="577516"/>
            </a:xfrm>
            <a:prstGeom prst="triangle">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
          <p:nvSpPr>
            <p:cNvPr id="9" name="Isosceles Triangle 8"/>
            <p:cNvSpPr/>
            <p:nvPr/>
          </p:nvSpPr>
          <p:spPr bwMode="auto">
            <a:xfrm>
              <a:off x="3279808" y="5457660"/>
              <a:ext cx="1097280" cy="577516"/>
            </a:xfrm>
            <a:prstGeom prst="triangle">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
          <p:nvSpPr>
            <p:cNvPr id="10" name="Isosceles Triangle 9"/>
            <p:cNvSpPr/>
            <p:nvPr/>
          </p:nvSpPr>
          <p:spPr bwMode="auto">
            <a:xfrm>
              <a:off x="4377088" y="5457660"/>
              <a:ext cx="1097280" cy="577516"/>
            </a:xfrm>
            <a:prstGeom prst="triangle">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
          <p:nvSpPr>
            <p:cNvPr id="11" name="Isosceles Triangle 10"/>
            <p:cNvSpPr/>
            <p:nvPr/>
          </p:nvSpPr>
          <p:spPr bwMode="auto">
            <a:xfrm>
              <a:off x="5338010" y="5457660"/>
              <a:ext cx="1097280" cy="577516"/>
            </a:xfrm>
            <a:prstGeom prst="triangle">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
          <p:nvSpPr>
            <p:cNvPr id="12" name="Isosceles Triangle 11"/>
            <p:cNvSpPr/>
            <p:nvPr/>
          </p:nvSpPr>
          <p:spPr bwMode="auto">
            <a:xfrm>
              <a:off x="6435290" y="5457660"/>
              <a:ext cx="1097280" cy="577516"/>
            </a:xfrm>
            <a:prstGeom prst="triangle">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grpSp>
      <p:grpSp>
        <p:nvGrpSpPr>
          <p:cNvPr id="14" name="Group 13"/>
          <p:cNvGrpSpPr/>
          <p:nvPr/>
        </p:nvGrpSpPr>
        <p:grpSpPr>
          <a:xfrm>
            <a:off x="1909989" y="5716352"/>
            <a:ext cx="6396789" cy="577516"/>
            <a:chOff x="1135781" y="5457660"/>
            <a:chExt cx="6396789" cy="577516"/>
          </a:xfrm>
          <a:solidFill>
            <a:srgbClr val="0000FF"/>
          </a:solidFill>
        </p:grpSpPr>
        <p:sp>
          <p:nvSpPr>
            <p:cNvPr id="15" name="Isosceles Triangle 14"/>
            <p:cNvSpPr/>
            <p:nvPr/>
          </p:nvSpPr>
          <p:spPr bwMode="auto">
            <a:xfrm>
              <a:off x="1135781" y="5457660"/>
              <a:ext cx="1097280" cy="577516"/>
            </a:xfrm>
            <a:prstGeom prst="triangl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
          <p:nvSpPr>
            <p:cNvPr id="16" name="Isosceles Triangle 15"/>
            <p:cNvSpPr/>
            <p:nvPr/>
          </p:nvSpPr>
          <p:spPr bwMode="auto">
            <a:xfrm>
              <a:off x="2182528" y="5457660"/>
              <a:ext cx="1097280" cy="577516"/>
            </a:xfrm>
            <a:prstGeom prst="triangl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
          <p:nvSpPr>
            <p:cNvPr id="17" name="Isosceles Triangle 16"/>
            <p:cNvSpPr/>
            <p:nvPr/>
          </p:nvSpPr>
          <p:spPr bwMode="auto">
            <a:xfrm>
              <a:off x="3279808" y="5457660"/>
              <a:ext cx="1097280" cy="577516"/>
            </a:xfrm>
            <a:prstGeom prst="triangl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
          <p:nvSpPr>
            <p:cNvPr id="18" name="Isosceles Triangle 17"/>
            <p:cNvSpPr/>
            <p:nvPr/>
          </p:nvSpPr>
          <p:spPr bwMode="auto">
            <a:xfrm>
              <a:off x="4377088" y="5457660"/>
              <a:ext cx="1097280" cy="577516"/>
            </a:xfrm>
            <a:prstGeom prst="triangl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
          <p:nvSpPr>
            <p:cNvPr id="19" name="Isosceles Triangle 18"/>
            <p:cNvSpPr/>
            <p:nvPr/>
          </p:nvSpPr>
          <p:spPr bwMode="auto">
            <a:xfrm>
              <a:off x="5338010" y="5457660"/>
              <a:ext cx="1097280" cy="577516"/>
            </a:xfrm>
            <a:prstGeom prst="triangl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
          <p:nvSpPr>
            <p:cNvPr id="20" name="Isosceles Triangle 19"/>
            <p:cNvSpPr/>
            <p:nvPr/>
          </p:nvSpPr>
          <p:spPr bwMode="auto">
            <a:xfrm>
              <a:off x="6435290" y="5457660"/>
              <a:ext cx="1097280" cy="577516"/>
            </a:xfrm>
            <a:prstGeom prst="triangl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grpSp>
    </p:spTree>
    <p:extLst>
      <p:ext uri="{BB962C8B-B14F-4D97-AF65-F5344CB8AC3E}">
        <p14:creationId xmlns:p14="http://schemas.microsoft.com/office/powerpoint/2010/main" val="263026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2.77778E-6 1.48148E-6 L -0.25 1.48148E-6 " pathEditMode="relative" rAng="0" ptsTypes="AA">
                                      <p:cBhvr>
                                        <p:cTn id="6" dur="2000" fill="hold"/>
                                        <p:tgtEl>
                                          <p:spTgt spid="14"/>
                                        </p:tgtEl>
                                        <p:attrNameLst>
                                          <p:attrName>ppt_x</p:attrName>
                                          <p:attrName>ppt_y</p:attrName>
                                        </p:attrNameLst>
                                      </p:cBhvr>
                                      <p:rCtr x="-1250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Zero Padding</a:t>
            </a:r>
          </a:p>
        </p:txBody>
      </p:sp>
      <p:pic>
        <p:nvPicPr>
          <p:cNvPr id="4" name="Picture 3"/>
          <p:cNvPicPr>
            <a:picLocks noChangeAspect="1"/>
          </p:cNvPicPr>
          <p:nvPr/>
        </p:nvPicPr>
        <p:blipFill>
          <a:blip r:embed="rId3"/>
          <a:stretch>
            <a:fillRect/>
          </a:stretch>
        </p:blipFill>
        <p:spPr>
          <a:xfrm>
            <a:off x="1842735" y="1175384"/>
            <a:ext cx="6544861" cy="4507233"/>
          </a:xfrm>
          <a:prstGeom prst="rect">
            <a:avLst/>
          </a:prstGeom>
        </p:spPr>
      </p:pic>
    </p:spTree>
    <p:extLst>
      <p:ext uri="{BB962C8B-B14F-4D97-AF65-F5344CB8AC3E}">
        <p14:creationId xmlns:p14="http://schemas.microsoft.com/office/powerpoint/2010/main" val="10392487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Zero Padding Illustrated</a:t>
            </a:r>
          </a:p>
        </p:txBody>
      </p:sp>
      <p:sp>
        <p:nvSpPr>
          <p:cNvPr id="5" name="Isosceles Triangle 4"/>
          <p:cNvSpPr/>
          <p:nvPr/>
        </p:nvSpPr>
        <p:spPr bwMode="auto">
          <a:xfrm>
            <a:off x="2115971" y="990600"/>
            <a:ext cx="1097280" cy="577516"/>
          </a:xfrm>
          <a:prstGeom prst="triangle">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
        <p:nvSpPr>
          <p:cNvPr id="7" name="Isosceles Triangle 6"/>
          <p:cNvSpPr/>
          <p:nvPr/>
        </p:nvSpPr>
        <p:spPr bwMode="auto">
          <a:xfrm>
            <a:off x="4259998" y="990600"/>
            <a:ext cx="1097280" cy="577516"/>
          </a:xfrm>
          <a:prstGeom prst="triangle">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
        <p:nvSpPr>
          <p:cNvPr id="9" name="Isosceles Triangle 8"/>
          <p:cNvSpPr/>
          <p:nvPr/>
        </p:nvSpPr>
        <p:spPr bwMode="auto">
          <a:xfrm>
            <a:off x="6318200" y="990600"/>
            <a:ext cx="1097280" cy="577516"/>
          </a:xfrm>
          <a:prstGeom prst="triangle">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grpSp>
        <p:nvGrpSpPr>
          <p:cNvPr id="18" name="Group 17"/>
          <p:cNvGrpSpPr/>
          <p:nvPr/>
        </p:nvGrpSpPr>
        <p:grpSpPr>
          <a:xfrm>
            <a:off x="2158884" y="2904424"/>
            <a:ext cx="5299509" cy="577516"/>
            <a:chOff x="1378168" y="3174869"/>
            <a:chExt cx="5299509" cy="577516"/>
          </a:xfrm>
        </p:grpSpPr>
        <p:sp>
          <p:nvSpPr>
            <p:cNvPr id="12" name="Isosceles Triangle 11"/>
            <p:cNvSpPr/>
            <p:nvPr/>
          </p:nvSpPr>
          <p:spPr bwMode="auto">
            <a:xfrm>
              <a:off x="1378168" y="3174869"/>
              <a:ext cx="1097280" cy="577516"/>
            </a:xfrm>
            <a:prstGeom prst="triangle">
              <a:avLst/>
            </a:prstGeom>
            <a:solidFill>
              <a:srgbClr val="0000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
          <p:nvSpPr>
            <p:cNvPr id="14" name="Isosceles Triangle 13"/>
            <p:cNvSpPr/>
            <p:nvPr/>
          </p:nvSpPr>
          <p:spPr bwMode="auto">
            <a:xfrm>
              <a:off x="3522195" y="3174869"/>
              <a:ext cx="1097280" cy="577516"/>
            </a:xfrm>
            <a:prstGeom prst="triangle">
              <a:avLst/>
            </a:prstGeom>
            <a:solidFill>
              <a:srgbClr val="0000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
          <p:nvSpPr>
            <p:cNvPr id="16" name="Isosceles Triangle 15"/>
            <p:cNvSpPr/>
            <p:nvPr/>
          </p:nvSpPr>
          <p:spPr bwMode="auto">
            <a:xfrm>
              <a:off x="5580397" y="3174869"/>
              <a:ext cx="1097280" cy="577516"/>
            </a:xfrm>
            <a:prstGeom prst="triangle">
              <a:avLst/>
            </a:prstGeom>
            <a:solidFill>
              <a:srgbClr val="0000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grpSp>
      <p:cxnSp>
        <p:nvCxnSpPr>
          <p:cNvPr id="20" name="Straight Arrow Connector 19"/>
          <p:cNvCxnSpPr/>
          <p:nvPr/>
        </p:nvCxnSpPr>
        <p:spPr bwMode="auto">
          <a:xfrm>
            <a:off x="203200" y="2790525"/>
            <a:ext cx="854883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1" name="Straight Arrow Connector 20"/>
          <p:cNvCxnSpPr/>
          <p:nvPr/>
        </p:nvCxnSpPr>
        <p:spPr bwMode="auto">
          <a:xfrm>
            <a:off x="203200" y="3481940"/>
            <a:ext cx="854883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2" name="Straight Arrow Connector 21"/>
          <p:cNvCxnSpPr/>
          <p:nvPr/>
        </p:nvCxnSpPr>
        <p:spPr bwMode="auto">
          <a:xfrm>
            <a:off x="203200" y="5168561"/>
            <a:ext cx="854883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pic>
        <p:nvPicPr>
          <p:cNvPr id="23" name="Picture 22"/>
          <p:cNvPicPr>
            <a:picLocks noChangeAspect="1"/>
          </p:cNvPicPr>
          <p:nvPr/>
        </p:nvPicPr>
        <p:blipFill>
          <a:blip r:embed="rId3"/>
          <a:stretch>
            <a:fillRect/>
          </a:stretch>
        </p:blipFill>
        <p:spPr>
          <a:xfrm>
            <a:off x="3889676" y="4484910"/>
            <a:ext cx="2002056" cy="675886"/>
          </a:xfrm>
          <a:prstGeom prst="rect">
            <a:avLst/>
          </a:prstGeom>
        </p:spPr>
      </p:pic>
      <p:sp>
        <p:nvSpPr>
          <p:cNvPr id="25" name="Down Arrow 24"/>
          <p:cNvSpPr/>
          <p:nvPr/>
        </p:nvSpPr>
        <p:spPr bwMode="auto">
          <a:xfrm>
            <a:off x="4397283" y="3610871"/>
            <a:ext cx="822711" cy="866274"/>
          </a:xfrm>
          <a:prstGeom prst="downArrow">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
        <p:nvSpPr>
          <p:cNvPr id="26" name="Flowchart: Summing Junction 25"/>
          <p:cNvSpPr/>
          <p:nvPr/>
        </p:nvSpPr>
        <p:spPr bwMode="auto">
          <a:xfrm>
            <a:off x="4453066" y="1783891"/>
            <a:ext cx="721894" cy="721894"/>
          </a:xfrm>
          <a:prstGeom prst="flowChartSummingJunction">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pic>
        <p:nvPicPr>
          <p:cNvPr id="27" name="Picture 26"/>
          <p:cNvPicPr>
            <a:picLocks noChangeAspect="1"/>
          </p:cNvPicPr>
          <p:nvPr/>
        </p:nvPicPr>
        <p:blipFill>
          <a:blip r:embed="rId3"/>
          <a:stretch>
            <a:fillRect/>
          </a:stretch>
        </p:blipFill>
        <p:spPr>
          <a:xfrm>
            <a:off x="5854831" y="4477145"/>
            <a:ext cx="2002056" cy="675886"/>
          </a:xfrm>
          <a:prstGeom prst="rect">
            <a:avLst/>
          </a:prstGeom>
        </p:spPr>
      </p:pic>
      <p:pic>
        <p:nvPicPr>
          <p:cNvPr id="28" name="Picture 27"/>
          <p:cNvPicPr>
            <a:picLocks noChangeAspect="1"/>
          </p:cNvPicPr>
          <p:nvPr/>
        </p:nvPicPr>
        <p:blipFill>
          <a:blip r:embed="rId3"/>
          <a:stretch>
            <a:fillRect/>
          </a:stretch>
        </p:blipFill>
        <p:spPr>
          <a:xfrm>
            <a:off x="1706495" y="4477145"/>
            <a:ext cx="2002056" cy="675886"/>
          </a:xfrm>
          <a:prstGeom prst="rect">
            <a:avLst/>
          </a:prstGeom>
        </p:spPr>
      </p:pic>
    </p:spTree>
    <p:extLst>
      <p:ext uri="{BB962C8B-B14F-4D97-AF65-F5344CB8AC3E}">
        <p14:creationId xmlns:p14="http://schemas.microsoft.com/office/powerpoint/2010/main" val="699953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3.05556E-6 2.59259E-6 L -0.25 2.59259E-6 " pathEditMode="relative" rAng="0" ptsTypes="AA">
                                      <p:cBhvr>
                                        <p:cTn id="6" dur="2000" fill="hold"/>
                                        <p:tgtEl>
                                          <p:spTgt spid="18"/>
                                        </p:tgtEl>
                                        <p:attrNameLst>
                                          <p:attrName>ppt_x</p:attrName>
                                          <p:attrName>ppt_y</p:attrName>
                                        </p:attrNameLst>
                                      </p:cBhvr>
                                      <p:rCtr x="-1250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Further Reading</a:t>
            </a:r>
          </a:p>
        </p:txBody>
      </p:sp>
      <p:pic>
        <p:nvPicPr>
          <p:cNvPr id="6" name="Picture 5"/>
          <p:cNvPicPr>
            <a:picLocks noChangeAspect="1"/>
          </p:cNvPicPr>
          <p:nvPr/>
        </p:nvPicPr>
        <p:blipFill>
          <a:blip r:embed="rId3"/>
          <a:stretch>
            <a:fillRect/>
          </a:stretch>
        </p:blipFill>
        <p:spPr>
          <a:xfrm>
            <a:off x="1676400" y="900290"/>
            <a:ext cx="7275132" cy="4460983"/>
          </a:xfrm>
          <a:prstGeom prst="rect">
            <a:avLst/>
          </a:prstGeom>
        </p:spPr>
      </p:pic>
    </p:spTree>
    <p:extLst>
      <p:ext uri="{BB962C8B-B14F-4D97-AF65-F5344CB8AC3E}">
        <p14:creationId xmlns:p14="http://schemas.microsoft.com/office/powerpoint/2010/main" val="23578500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6293293" y="1370667"/>
            <a:ext cx="3943865" cy="3083293"/>
          </a:xfrm>
          <a:prstGeom prst="rect">
            <a:avLst/>
          </a:prstGeom>
        </p:spPr>
      </p:pic>
      <p:sp>
        <p:nvSpPr>
          <p:cNvPr id="2" name="Title 1"/>
          <p:cNvSpPr>
            <a:spLocks noGrp="1"/>
          </p:cNvSpPr>
          <p:nvPr>
            <p:ph type="title"/>
          </p:nvPr>
        </p:nvSpPr>
        <p:spPr/>
        <p:txBody>
          <a:bodyPr/>
          <a:lstStyle/>
          <a:p>
            <a:r>
              <a:rPr lang="en-US" dirty="0"/>
              <a:t>Application 2: Spectral Analysis</a:t>
            </a:r>
          </a:p>
        </p:txBody>
      </p:sp>
      <p:pic>
        <p:nvPicPr>
          <p:cNvPr id="4" name="Picture 3"/>
          <p:cNvPicPr>
            <a:picLocks noChangeAspect="1"/>
          </p:cNvPicPr>
          <p:nvPr/>
        </p:nvPicPr>
        <p:blipFill>
          <a:blip r:embed="rId4"/>
          <a:stretch>
            <a:fillRect/>
          </a:stretch>
        </p:blipFill>
        <p:spPr>
          <a:xfrm>
            <a:off x="1797492" y="1340008"/>
            <a:ext cx="3944308" cy="1868356"/>
          </a:xfrm>
          <a:prstGeom prst="rect">
            <a:avLst/>
          </a:prstGeom>
        </p:spPr>
      </p:pic>
      <p:sp>
        <p:nvSpPr>
          <p:cNvPr id="7" name="Rectangle 6"/>
          <p:cNvSpPr/>
          <p:nvPr/>
        </p:nvSpPr>
        <p:spPr>
          <a:xfrm>
            <a:off x="1797492" y="3376741"/>
            <a:ext cx="4572000" cy="1077218"/>
          </a:xfrm>
          <a:prstGeom prst="rect">
            <a:avLst/>
          </a:prstGeom>
        </p:spPr>
        <p:txBody>
          <a:bodyPr>
            <a:spAutoFit/>
          </a:bodyPr>
          <a:lstStyle/>
          <a:p>
            <a:r>
              <a:rPr lang="en-US" sz="1600" b="1" dirty="0">
                <a:solidFill>
                  <a:srgbClr val="404040"/>
                </a:solidFill>
                <a:latin typeface="+mn-lt"/>
              </a:rPr>
              <a:t>Fs equals to 1e3;</a:t>
            </a:r>
          </a:p>
          <a:p>
            <a:r>
              <a:rPr lang="en-US" sz="1600" b="1" dirty="0">
                <a:solidFill>
                  <a:srgbClr val="404040"/>
                </a:solidFill>
                <a:latin typeface="+mn-lt"/>
              </a:rPr>
              <a:t>t equals to 0:0.001:1‐0.001;</a:t>
            </a:r>
          </a:p>
          <a:p>
            <a:r>
              <a:rPr lang="en-US" sz="1600" b="1" dirty="0">
                <a:solidFill>
                  <a:srgbClr val="404040"/>
                </a:solidFill>
                <a:latin typeface="+mn-lt"/>
              </a:rPr>
              <a:t>x equals to cos(2*pi*100*t)+sin(2*pi*202.5*t);</a:t>
            </a:r>
          </a:p>
          <a:p>
            <a:r>
              <a:rPr lang="en-US" sz="1600" b="1" dirty="0">
                <a:solidFill>
                  <a:srgbClr val="404040"/>
                </a:solidFill>
                <a:latin typeface="+mn-lt"/>
              </a:rPr>
              <a:t>Plot(x(1:100));</a:t>
            </a:r>
          </a:p>
        </p:txBody>
      </p:sp>
      <p:sp>
        <p:nvSpPr>
          <p:cNvPr id="12" name="Rectangle 11"/>
          <p:cNvSpPr/>
          <p:nvPr/>
        </p:nvSpPr>
        <p:spPr>
          <a:xfrm>
            <a:off x="1797493" y="4938000"/>
            <a:ext cx="4264641" cy="584775"/>
          </a:xfrm>
          <a:prstGeom prst="rect">
            <a:avLst/>
          </a:prstGeom>
        </p:spPr>
        <p:txBody>
          <a:bodyPr wrap="square">
            <a:spAutoFit/>
          </a:bodyPr>
          <a:lstStyle/>
          <a:p>
            <a:pPr algn="r"/>
            <a:r>
              <a:rPr lang="en-US" sz="1600" dirty="0">
                <a:solidFill>
                  <a:srgbClr val="009900"/>
                </a:solidFill>
                <a:hlinkClick r:id="rId5"/>
              </a:rPr>
              <a:t>https://www.mathworks.com/help/signal/ug/amplitude-estimation-and-zero-padding.html</a:t>
            </a:r>
            <a:r>
              <a:rPr lang="en-US" sz="1600" dirty="0">
                <a:solidFill>
                  <a:srgbClr val="009900"/>
                </a:solidFill>
              </a:rPr>
              <a:t> </a:t>
            </a:r>
          </a:p>
        </p:txBody>
      </p:sp>
    </p:spTree>
    <p:extLst>
      <p:ext uri="{BB962C8B-B14F-4D97-AF65-F5344CB8AC3E}">
        <p14:creationId xmlns:p14="http://schemas.microsoft.com/office/powerpoint/2010/main" val="22537132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6315076" y="1466710"/>
            <a:ext cx="4081339" cy="3079334"/>
          </a:xfrm>
          <a:prstGeom prst="rect">
            <a:avLst/>
          </a:prstGeom>
        </p:spPr>
      </p:pic>
      <p:sp>
        <p:nvSpPr>
          <p:cNvPr id="2" name="Title 1"/>
          <p:cNvSpPr>
            <a:spLocks noGrp="1"/>
          </p:cNvSpPr>
          <p:nvPr>
            <p:ph type="title"/>
          </p:nvPr>
        </p:nvSpPr>
        <p:spPr/>
        <p:txBody>
          <a:bodyPr/>
          <a:lstStyle/>
          <a:p>
            <a:r>
              <a:rPr lang="en-US" dirty="0"/>
              <a:t>Without Zero Padding</a:t>
            </a:r>
          </a:p>
        </p:txBody>
      </p:sp>
      <p:sp>
        <p:nvSpPr>
          <p:cNvPr id="8" name="Rectangle 7"/>
          <p:cNvSpPr/>
          <p:nvPr/>
        </p:nvSpPr>
        <p:spPr>
          <a:xfrm>
            <a:off x="1752601" y="1935543"/>
            <a:ext cx="4562475" cy="3253968"/>
          </a:xfrm>
          <a:prstGeom prst="rect">
            <a:avLst/>
          </a:prstGeom>
        </p:spPr>
        <p:txBody>
          <a:bodyPr wrap="square">
            <a:spAutoFit/>
          </a:bodyPr>
          <a:lstStyle/>
          <a:p>
            <a:pPr>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err="1">
                <a:solidFill>
                  <a:srgbClr val="404040"/>
                </a:solidFill>
                <a:latin typeface="+mn-lt"/>
                <a:ea typeface="Times New Roman" panose="02020603050405020304" pitchFamily="18" charset="0"/>
                <a:cs typeface="Courier New" panose="02070309020205020404" pitchFamily="49" charset="0"/>
              </a:rPr>
              <a:t>xdft</a:t>
            </a:r>
            <a:r>
              <a:rPr lang="en-US" sz="1600" b="1" dirty="0">
                <a:solidFill>
                  <a:srgbClr val="404040"/>
                </a:solidFill>
                <a:latin typeface="+mn-lt"/>
                <a:ea typeface="Times New Roman" panose="02020603050405020304" pitchFamily="18" charset="0"/>
                <a:cs typeface="Courier New" panose="02070309020205020404" pitchFamily="49" charset="0"/>
              </a:rPr>
              <a:t> equals to </a:t>
            </a:r>
            <a:r>
              <a:rPr lang="en-US" sz="1600" b="1" dirty="0" err="1">
                <a:solidFill>
                  <a:srgbClr val="404040"/>
                </a:solidFill>
                <a:latin typeface="+mn-lt"/>
                <a:ea typeface="Times New Roman" panose="02020603050405020304" pitchFamily="18" charset="0"/>
                <a:cs typeface="Courier New" panose="02070309020205020404" pitchFamily="49" charset="0"/>
              </a:rPr>
              <a:t>fft</a:t>
            </a:r>
            <a:r>
              <a:rPr lang="en-US" sz="1600" b="1" dirty="0">
                <a:solidFill>
                  <a:srgbClr val="404040"/>
                </a:solidFill>
                <a:latin typeface="+mn-lt"/>
                <a:ea typeface="Times New Roman" panose="02020603050405020304" pitchFamily="18" charset="0"/>
                <a:cs typeface="Courier New" panose="02070309020205020404" pitchFamily="49" charset="0"/>
              </a:rPr>
              <a:t>(x);</a:t>
            </a:r>
            <a:endParaRPr lang="en-US" sz="1600" b="1" dirty="0">
              <a:latin typeface="+mn-lt"/>
              <a:ea typeface="Calibri" panose="020F0502020204030204" pitchFamily="34" charset="0"/>
              <a:cs typeface="Times New Roman" panose="02020603050405020304" pitchFamily="18" charset="0"/>
            </a:endParaRPr>
          </a:p>
          <a:p>
            <a:pPr>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err="1">
                <a:solidFill>
                  <a:srgbClr val="404040"/>
                </a:solidFill>
                <a:latin typeface="+mn-lt"/>
                <a:ea typeface="Times New Roman" panose="02020603050405020304" pitchFamily="18" charset="0"/>
                <a:cs typeface="Courier New" panose="02070309020205020404" pitchFamily="49" charset="0"/>
              </a:rPr>
              <a:t>xdft</a:t>
            </a:r>
            <a:r>
              <a:rPr lang="en-US" sz="1600" b="1" dirty="0">
                <a:solidFill>
                  <a:srgbClr val="404040"/>
                </a:solidFill>
                <a:latin typeface="+mn-lt"/>
                <a:ea typeface="Times New Roman" panose="02020603050405020304" pitchFamily="18" charset="0"/>
                <a:cs typeface="Courier New" panose="02070309020205020404" pitchFamily="49" charset="0"/>
              </a:rPr>
              <a:t> equals to </a:t>
            </a:r>
            <a:r>
              <a:rPr lang="en-US" sz="1600" b="1" dirty="0" err="1">
                <a:solidFill>
                  <a:srgbClr val="404040"/>
                </a:solidFill>
                <a:latin typeface="+mn-lt"/>
                <a:ea typeface="Times New Roman" panose="02020603050405020304" pitchFamily="18" charset="0"/>
                <a:cs typeface="Courier New" panose="02070309020205020404" pitchFamily="49" charset="0"/>
              </a:rPr>
              <a:t>xdft</a:t>
            </a:r>
            <a:r>
              <a:rPr lang="en-US" sz="1600" b="1" dirty="0">
                <a:solidFill>
                  <a:srgbClr val="404040"/>
                </a:solidFill>
                <a:latin typeface="+mn-lt"/>
                <a:ea typeface="Times New Roman" panose="02020603050405020304" pitchFamily="18" charset="0"/>
                <a:cs typeface="Courier New" panose="02070309020205020404" pitchFamily="49" charset="0"/>
              </a:rPr>
              <a:t>(1:length(x)/2+1);</a:t>
            </a:r>
            <a:endParaRPr lang="en-US" sz="1600" b="1" dirty="0">
              <a:latin typeface="+mn-lt"/>
              <a:ea typeface="Calibri" panose="020F0502020204030204" pitchFamily="34" charset="0"/>
              <a:cs typeface="Times New Roman" panose="02020603050405020304" pitchFamily="18" charset="0"/>
            </a:endParaRPr>
          </a:p>
          <a:p>
            <a:pPr>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err="1">
                <a:solidFill>
                  <a:srgbClr val="404040"/>
                </a:solidFill>
                <a:latin typeface="+mn-lt"/>
                <a:ea typeface="Times New Roman" panose="02020603050405020304" pitchFamily="18" charset="0"/>
                <a:cs typeface="Courier New" panose="02070309020205020404" pitchFamily="49" charset="0"/>
              </a:rPr>
              <a:t>xdft</a:t>
            </a:r>
            <a:r>
              <a:rPr lang="en-US" sz="1600" b="1" dirty="0">
                <a:solidFill>
                  <a:srgbClr val="404040"/>
                </a:solidFill>
                <a:latin typeface="+mn-lt"/>
                <a:ea typeface="Times New Roman" panose="02020603050405020304" pitchFamily="18" charset="0"/>
                <a:cs typeface="Courier New" panose="02070309020205020404" pitchFamily="49" charset="0"/>
              </a:rPr>
              <a:t> equals to </a:t>
            </a:r>
            <a:r>
              <a:rPr lang="en-US" sz="1600" b="1" dirty="0" err="1">
                <a:solidFill>
                  <a:srgbClr val="404040"/>
                </a:solidFill>
                <a:latin typeface="+mn-lt"/>
                <a:ea typeface="Times New Roman" panose="02020603050405020304" pitchFamily="18" charset="0"/>
                <a:cs typeface="Courier New" panose="02070309020205020404" pitchFamily="49" charset="0"/>
              </a:rPr>
              <a:t>xdft</a:t>
            </a:r>
            <a:r>
              <a:rPr lang="en-US" sz="1600" b="1" dirty="0">
                <a:solidFill>
                  <a:srgbClr val="404040"/>
                </a:solidFill>
                <a:latin typeface="+mn-lt"/>
                <a:ea typeface="Times New Roman" panose="02020603050405020304" pitchFamily="18" charset="0"/>
                <a:cs typeface="Courier New" panose="02070309020205020404" pitchFamily="49" charset="0"/>
              </a:rPr>
              <a:t>/length(x);</a:t>
            </a:r>
            <a:endParaRPr lang="en-US" sz="1600" b="1" dirty="0">
              <a:latin typeface="+mn-lt"/>
              <a:ea typeface="Calibri" panose="020F0502020204030204" pitchFamily="34" charset="0"/>
              <a:cs typeface="Times New Roman" panose="02020603050405020304" pitchFamily="18" charset="0"/>
            </a:endParaRPr>
          </a:p>
          <a:p>
            <a:pPr>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err="1">
                <a:solidFill>
                  <a:srgbClr val="404040"/>
                </a:solidFill>
                <a:latin typeface="+mn-lt"/>
                <a:ea typeface="Times New Roman" panose="02020603050405020304" pitchFamily="18" charset="0"/>
                <a:cs typeface="Courier New" panose="02070309020205020404" pitchFamily="49" charset="0"/>
              </a:rPr>
              <a:t>xdft</a:t>
            </a:r>
            <a:r>
              <a:rPr lang="en-US" sz="1600" b="1" dirty="0">
                <a:solidFill>
                  <a:srgbClr val="404040"/>
                </a:solidFill>
                <a:latin typeface="+mn-lt"/>
                <a:ea typeface="Times New Roman" panose="02020603050405020304" pitchFamily="18" charset="0"/>
                <a:cs typeface="Courier New" panose="02070309020205020404" pitchFamily="49" charset="0"/>
              </a:rPr>
              <a:t>(2:500) equals to 2*</a:t>
            </a:r>
            <a:r>
              <a:rPr lang="en-US" sz="1600" b="1" dirty="0" err="1">
                <a:solidFill>
                  <a:srgbClr val="404040"/>
                </a:solidFill>
                <a:latin typeface="+mn-lt"/>
                <a:ea typeface="Times New Roman" panose="02020603050405020304" pitchFamily="18" charset="0"/>
                <a:cs typeface="Courier New" panose="02070309020205020404" pitchFamily="49" charset="0"/>
              </a:rPr>
              <a:t>xdft</a:t>
            </a:r>
            <a:r>
              <a:rPr lang="en-US" sz="1600" b="1" dirty="0">
                <a:solidFill>
                  <a:srgbClr val="404040"/>
                </a:solidFill>
                <a:latin typeface="+mn-lt"/>
                <a:ea typeface="Times New Roman" panose="02020603050405020304" pitchFamily="18" charset="0"/>
                <a:cs typeface="Courier New" panose="02070309020205020404" pitchFamily="49" charset="0"/>
              </a:rPr>
              <a:t>(2:500);</a:t>
            </a:r>
            <a:endParaRPr lang="en-US" sz="1600" b="1" dirty="0">
              <a:latin typeface="+mn-lt"/>
              <a:ea typeface="Calibri" panose="020F0502020204030204" pitchFamily="34" charset="0"/>
              <a:cs typeface="Times New Roman" panose="02020603050405020304" pitchFamily="18" charset="0"/>
            </a:endParaRPr>
          </a:p>
          <a:p>
            <a:pPr>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err="1">
                <a:solidFill>
                  <a:srgbClr val="404040"/>
                </a:solidFill>
                <a:latin typeface="+mn-lt"/>
                <a:ea typeface="Times New Roman" panose="02020603050405020304" pitchFamily="18" charset="0"/>
                <a:cs typeface="Courier New" panose="02070309020205020404" pitchFamily="49" charset="0"/>
              </a:rPr>
              <a:t>freq</a:t>
            </a:r>
            <a:r>
              <a:rPr lang="en-US" sz="1600" b="1" dirty="0">
                <a:solidFill>
                  <a:srgbClr val="404040"/>
                </a:solidFill>
                <a:latin typeface="+mn-lt"/>
                <a:ea typeface="Times New Roman" panose="02020603050405020304" pitchFamily="18" charset="0"/>
                <a:cs typeface="Courier New" panose="02070309020205020404" pitchFamily="49" charset="0"/>
              </a:rPr>
              <a:t> equals to 0:Fs/length(x):Fs/2;</a:t>
            </a:r>
            <a:endParaRPr lang="en-US" sz="1600" b="1" dirty="0">
              <a:latin typeface="+mn-lt"/>
              <a:ea typeface="Calibri" panose="020F0502020204030204" pitchFamily="34" charset="0"/>
              <a:cs typeface="Times New Roman" panose="02020603050405020304" pitchFamily="18" charset="0"/>
            </a:endParaRPr>
          </a:p>
          <a:p>
            <a:pPr>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404040"/>
                </a:solidFill>
                <a:latin typeface="+mn-lt"/>
                <a:ea typeface="Times New Roman" panose="02020603050405020304" pitchFamily="18" charset="0"/>
                <a:cs typeface="Courier New" panose="02070309020205020404" pitchFamily="49" charset="0"/>
              </a:rPr>
              <a:t> </a:t>
            </a:r>
            <a:endParaRPr lang="en-US" sz="1600" b="1" dirty="0">
              <a:latin typeface="+mn-lt"/>
              <a:ea typeface="Calibri" panose="020F0502020204030204" pitchFamily="34" charset="0"/>
              <a:cs typeface="Times New Roman" panose="02020603050405020304" pitchFamily="18" charset="0"/>
            </a:endParaRPr>
          </a:p>
          <a:p>
            <a:pPr>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404040"/>
                </a:solidFill>
                <a:latin typeface="+mn-lt"/>
                <a:ea typeface="Times New Roman" panose="02020603050405020304" pitchFamily="18" charset="0"/>
                <a:cs typeface="Courier New" panose="02070309020205020404" pitchFamily="49" charset="0"/>
              </a:rPr>
              <a:t>plot(</a:t>
            </a:r>
            <a:r>
              <a:rPr lang="en-US" sz="1600" b="1" dirty="0" err="1">
                <a:solidFill>
                  <a:srgbClr val="404040"/>
                </a:solidFill>
                <a:latin typeface="+mn-lt"/>
                <a:ea typeface="Times New Roman" panose="02020603050405020304" pitchFamily="18" charset="0"/>
                <a:cs typeface="Courier New" panose="02070309020205020404" pitchFamily="49" charset="0"/>
              </a:rPr>
              <a:t>freq,abs</a:t>
            </a:r>
            <a:r>
              <a:rPr lang="en-US" sz="1600" b="1" dirty="0">
                <a:solidFill>
                  <a:srgbClr val="404040"/>
                </a:solidFill>
                <a:latin typeface="+mn-lt"/>
                <a:ea typeface="Times New Roman" panose="02020603050405020304" pitchFamily="18" charset="0"/>
                <a:cs typeface="Courier New" panose="02070309020205020404" pitchFamily="49" charset="0"/>
              </a:rPr>
              <a:t>(</a:t>
            </a:r>
            <a:r>
              <a:rPr lang="en-US" sz="1600" b="1" dirty="0" err="1">
                <a:solidFill>
                  <a:srgbClr val="404040"/>
                </a:solidFill>
                <a:latin typeface="+mn-lt"/>
                <a:ea typeface="Times New Roman" panose="02020603050405020304" pitchFamily="18" charset="0"/>
                <a:cs typeface="Courier New" panose="02070309020205020404" pitchFamily="49" charset="0"/>
              </a:rPr>
              <a:t>xdft</a:t>
            </a:r>
            <a:r>
              <a:rPr lang="en-US" sz="1600" b="1" dirty="0">
                <a:solidFill>
                  <a:srgbClr val="404040"/>
                </a:solidFill>
                <a:latin typeface="+mn-lt"/>
                <a:ea typeface="Times New Roman" panose="02020603050405020304" pitchFamily="18" charset="0"/>
                <a:cs typeface="Courier New" panose="02070309020205020404" pitchFamily="49" charset="0"/>
              </a:rPr>
              <a:t>))</a:t>
            </a:r>
            <a:endParaRPr lang="en-US" sz="1600" b="1" dirty="0">
              <a:latin typeface="+mn-lt"/>
              <a:ea typeface="Calibri" panose="020F0502020204030204" pitchFamily="34" charset="0"/>
              <a:cs typeface="Times New Roman" panose="02020603050405020304" pitchFamily="18" charset="0"/>
            </a:endParaRPr>
          </a:p>
          <a:p>
            <a:pPr>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404040"/>
                </a:solidFill>
                <a:latin typeface="+mn-lt"/>
                <a:ea typeface="Times New Roman" panose="02020603050405020304" pitchFamily="18" charset="0"/>
                <a:cs typeface="Courier New" panose="02070309020205020404" pitchFamily="49" charset="0"/>
              </a:rPr>
              <a:t>hold </a:t>
            </a:r>
            <a:r>
              <a:rPr lang="en-US" sz="1600" b="1" dirty="0">
                <a:solidFill>
                  <a:srgbClr val="A020F0"/>
                </a:solidFill>
                <a:latin typeface="+mn-lt"/>
                <a:ea typeface="Times New Roman" panose="02020603050405020304" pitchFamily="18" charset="0"/>
                <a:cs typeface="Courier New" panose="02070309020205020404" pitchFamily="49" charset="0"/>
              </a:rPr>
              <a:t>on</a:t>
            </a:r>
            <a:endParaRPr lang="en-US" sz="1600" b="1" dirty="0">
              <a:latin typeface="+mn-lt"/>
              <a:ea typeface="Calibri" panose="020F0502020204030204" pitchFamily="34" charset="0"/>
              <a:cs typeface="Times New Roman" panose="02020603050405020304" pitchFamily="18" charset="0"/>
            </a:endParaRPr>
          </a:p>
          <a:p>
            <a:pPr>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404040"/>
                </a:solidFill>
                <a:latin typeface="+mn-lt"/>
                <a:ea typeface="Times New Roman" panose="02020603050405020304" pitchFamily="18" charset="0"/>
                <a:cs typeface="Courier New" panose="02070309020205020404" pitchFamily="49" charset="0"/>
              </a:rPr>
              <a:t>plot(</a:t>
            </a:r>
            <a:r>
              <a:rPr lang="en-US" sz="1600" b="1" dirty="0" err="1">
                <a:solidFill>
                  <a:srgbClr val="404040"/>
                </a:solidFill>
                <a:latin typeface="+mn-lt"/>
                <a:ea typeface="Times New Roman" panose="02020603050405020304" pitchFamily="18" charset="0"/>
                <a:cs typeface="Courier New" panose="02070309020205020404" pitchFamily="49" charset="0"/>
              </a:rPr>
              <a:t>freq,ones</a:t>
            </a:r>
            <a:r>
              <a:rPr lang="en-US" sz="1600" b="1" dirty="0">
                <a:solidFill>
                  <a:srgbClr val="404040"/>
                </a:solidFill>
                <a:latin typeface="+mn-lt"/>
                <a:ea typeface="Times New Roman" panose="02020603050405020304" pitchFamily="18" charset="0"/>
                <a:cs typeface="Courier New" panose="02070309020205020404" pitchFamily="49" charset="0"/>
              </a:rPr>
              <a:t>(length(x)/2+1,1),</a:t>
            </a:r>
            <a:r>
              <a:rPr lang="en-US" sz="1600" b="1" dirty="0">
                <a:solidFill>
                  <a:srgbClr val="A020F0"/>
                </a:solidFill>
                <a:latin typeface="+mn-lt"/>
                <a:ea typeface="Times New Roman" panose="02020603050405020304" pitchFamily="18" charset="0"/>
                <a:cs typeface="Courier New" panose="02070309020205020404" pitchFamily="49" charset="0"/>
              </a:rPr>
              <a:t>'LineWidth'</a:t>
            </a:r>
            <a:r>
              <a:rPr lang="en-US" sz="1600" b="1" dirty="0">
                <a:solidFill>
                  <a:srgbClr val="404040"/>
                </a:solidFill>
                <a:latin typeface="+mn-lt"/>
                <a:ea typeface="Times New Roman" panose="02020603050405020304" pitchFamily="18" charset="0"/>
                <a:cs typeface="Courier New" panose="02070309020205020404" pitchFamily="49" charset="0"/>
              </a:rPr>
              <a:t>,2)</a:t>
            </a:r>
            <a:endParaRPr lang="en-US" sz="1600" b="1" dirty="0">
              <a:latin typeface="+mn-lt"/>
              <a:ea typeface="Calibri" panose="020F0502020204030204" pitchFamily="34" charset="0"/>
              <a:cs typeface="Times New Roman" panose="02020603050405020304" pitchFamily="18" charset="0"/>
            </a:endParaRPr>
          </a:p>
          <a:p>
            <a:pPr>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err="1">
                <a:solidFill>
                  <a:srgbClr val="404040"/>
                </a:solidFill>
                <a:latin typeface="+mn-lt"/>
                <a:ea typeface="Times New Roman" panose="02020603050405020304" pitchFamily="18" charset="0"/>
                <a:cs typeface="Courier New" panose="02070309020205020404" pitchFamily="49" charset="0"/>
              </a:rPr>
              <a:t>xlabel</a:t>
            </a:r>
            <a:r>
              <a:rPr lang="en-US" sz="1600" b="1" dirty="0">
                <a:solidFill>
                  <a:srgbClr val="404040"/>
                </a:solidFill>
                <a:latin typeface="+mn-lt"/>
                <a:ea typeface="Times New Roman" panose="02020603050405020304" pitchFamily="18" charset="0"/>
                <a:cs typeface="Courier New" panose="02070309020205020404" pitchFamily="49" charset="0"/>
              </a:rPr>
              <a:t>(</a:t>
            </a:r>
            <a:r>
              <a:rPr lang="en-US" sz="1600" b="1" dirty="0">
                <a:solidFill>
                  <a:srgbClr val="A020F0"/>
                </a:solidFill>
                <a:latin typeface="+mn-lt"/>
                <a:ea typeface="Times New Roman" panose="02020603050405020304" pitchFamily="18" charset="0"/>
                <a:cs typeface="Courier New" panose="02070309020205020404" pitchFamily="49" charset="0"/>
              </a:rPr>
              <a:t>'Hz'</a:t>
            </a:r>
            <a:r>
              <a:rPr lang="en-US" sz="1600" b="1" dirty="0">
                <a:solidFill>
                  <a:srgbClr val="404040"/>
                </a:solidFill>
                <a:latin typeface="+mn-lt"/>
                <a:ea typeface="Times New Roman" panose="02020603050405020304" pitchFamily="18" charset="0"/>
                <a:cs typeface="Courier New" panose="02070309020205020404" pitchFamily="49" charset="0"/>
              </a:rPr>
              <a:t>)</a:t>
            </a:r>
            <a:endParaRPr lang="en-US" sz="1600" b="1" dirty="0">
              <a:latin typeface="+mn-lt"/>
              <a:ea typeface="Calibri" panose="020F0502020204030204" pitchFamily="34" charset="0"/>
              <a:cs typeface="Times New Roman" panose="02020603050405020304" pitchFamily="18" charset="0"/>
            </a:endParaRPr>
          </a:p>
          <a:p>
            <a:pPr>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err="1">
                <a:solidFill>
                  <a:srgbClr val="404040"/>
                </a:solidFill>
                <a:latin typeface="+mn-lt"/>
                <a:ea typeface="Times New Roman" panose="02020603050405020304" pitchFamily="18" charset="0"/>
                <a:cs typeface="Courier New" panose="02070309020205020404" pitchFamily="49" charset="0"/>
              </a:rPr>
              <a:t>ylabel</a:t>
            </a:r>
            <a:r>
              <a:rPr lang="en-US" sz="1600" b="1" dirty="0">
                <a:solidFill>
                  <a:srgbClr val="404040"/>
                </a:solidFill>
                <a:latin typeface="+mn-lt"/>
                <a:ea typeface="Times New Roman" panose="02020603050405020304" pitchFamily="18" charset="0"/>
                <a:cs typeface="Courier New" panose="02070309020205020404" pitchFamily="49" charset="0"/>
              </a:rPr>
              <a:t>(</a:t>
            </a:r>
            <a:r>
              <a:rPr lang="en-US" sz="1600" b="1" dirty="0">
                <a:solidFill>
                  <a:srgbClr val="A020F0"/>
                </a:solidFill>
                <a:latin typeface="+mn-lt"/>
                <a:ea typeface="Times New Roman" panose="02020603050405020304" pitchFamily="18" charset="0"/>
                <a:cs typeface="Courier New" panose="02070309020205020404" pitchFamily="49" charset="0"/>
              </a:rPr>
              <a:t>'Amplitude'</a:t>
            </a:r>
            <a:r>
              <a:rPr lang="en-US" sz="1600" b="1" dirty="0">
                <a:solidFill>
                  <a:srgbClr val="404040"/>
                </a:solidFill>
                <a:latin typeface="+mn-lt"/>
                <a:ea typeface="Times New Roman" panose="02020603050405020304" pitchFamily="18" charset="0"/>
                <a:cs typeface="Courier New" panose="02070309020205020404" pitchFamily="49" charset="0"/>
              </a:rPr>
              <a:t>)</a:t>
            </a:r>
            <a:endParaRPr lang="en-US" sz="1600" b="1" dirty="0">
              <a:latin typeface="+mn-lt"/>
              <a:ea typeface="Calibri" panose="020F0502020204030204" pitchFamily="34" charset="0"/>
              <a:cs typeface="Times New Roman" panose="02020603050405020304" pitchFamily="18" charset="0"/>
            </a:endParaRPr>
          </a:p>
          <a:p>
            <a:pPr>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404040"/>
                </a:solidFill>
                <a:latin typeface="+mn-lt"/>
                <a:ea typeface="Times New Roman" panose="02020603050405020304" pitchFamily="18" charset="0"/>
                <a:cs typeface="Courier New" panose="02070309020205020404" pitchFamily="49" charset="0"/>
              </a:rPr>
              <a:t>hold </a:t>
            </a:r>
            <a:r>
              <a:rPr lang="en-US" sz="1600" b="1" dirty="0">
                <a:solidFill>
                  <a:srgbClr val="A020F0"/>
                </a:solidFill>
                <a:latin typeface="+mn-lt"/>
                <a:ea typeface="Times New Roman" panose="02020603050405020304" pitchFamily="18" charset="0"/>
                <a:cs typeface="Courier New" panose="02070309020205020404" pitchFamily="49" charset="0"/>
              </a:rPr>
              <a:t>off</a:t>
            </a:r>
            <a:endParaRPr lang="en-US" sz="1600" b="1" dirty="0">
              <a:latin typeface="+mn-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210423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Zero Padding</a:t>
            </a:r>
          </a:p>
        </p:txBody>
      </p:sp>
      <p:pic>
        <p:nvPicPr>
          <p:cNvPr id="4" name="Content Placeholder 3"/>
          <p:cNvPicPr>
            <a:picLocks noGrp="1" noChangeAspect="1"/>
          </p:cNvPicPr>
          <p:nvPr>
            <p:ph idx="1"/>
          </p:nvPr>
        </p:nvPicPr>
        <p:blipFill>
          <a:blip r:embed="rId3"/>
          <a:stretch>
            <a:fillRect/>
          </a:stretch>
        </p:blipFill>
        <p:spPr>
          <a:xfrm>
            <a:off x="6316724" y="1919677"/>
            <a:ext cx="3988416" cy="3018646"/>
          </a:xfrm>
          <a:prstGeom prst="rect">
            <a:avLst/>
          </a:prstGeom>
        </p:spPr>
      </p:pic>
      <p:sp>
        <p:nvSpPr>
          <p:cNvPr id="3" name="Rectangle 1"/>
          <p:cNvSpPr>
            <a:spLocks noChangeArrowheads="1"/>
          </p:cNvSpPr>
          <p:nvPr/>
        </p:nvSpPr>
        <p:spPr bwMode="auto">
          <a:xfrm>
            <a:off x="1762126" y="2189799"/>
            <a:ext cx="4929809" cy="2954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r>
              <a:rPr lang="en-US" altLang="en-US" sz="1600" b="1" dirty="0" err="1">
                <a:solidFill>
                  <a:srgbClr val="404040"/>
                </a:solidFill>
                <a:latin typeface="+mn-lt"/>
                <a:ea typeface="Times New Roman" panose="02020603050405020304" pitchFamily="18" charset="0"/>
                <a:cs typeface="Courier New" panose="02070309020205020404" pitchFamily="49" charset="0"/>
              </a:rPr>
              <a:t>xdft</a:t>
            </a:r>
            <a:r>
              <a:rPr lang="en-US" altLang="en-US" sz="1600" b="1" dirty="0">
                <a:solidFill>
                  <a:srgbClr val="404040"/>
                </a:solidFill>
                <a:latin typeface="+mn-lt"/>
                <a:ea typeface="Times New Roman" panose="02020603050405020304" pitchFamily="18" charset="0"/>
                <a:cs typeface="Courier New" panose="02070309020205020404" pitchFamily="49" charset="0"/>
              </a:rPr>
              <a:t> equals to </a:t>
            </a:r>
            <a:r>
              <a:rPr lang="en-US" altLang="en-US" sz="1600" b="1" dirty="0" err="1">
                <a:solidFill>
                  <a:srgbClr val="404040"/>
                </a:solidFill>
                <a:latin typeface="+mn-lt"/>
                <a:ea typeface="Times New Roman" panose="02020603050405020304" pitchFamily="18" charset="0"/>
                <a:cs typeface="Courier New" panose="02070309020205020404" pitchFamily="49" charset="0"/>
              </a:rPr>
              <a:t>fft</a:t>
            </a:r>
            <a:r>
              <a:rPr lang="en-US" altLang="en-US" sz="1600" b="1" dirty="0">
                <a:solidFill>
                  <a:srgbClr val="404040"/>
                </a:solidFill>
                <a:latin typeface="+mn-lt"/>
                <a:ea typeface="Times New Roman" panose="02020603050405020304" pitchFamily="18" charset="0"/>
                <a:cs typeface="Courier New" panose="02070309020205020404" pitchFamily="49" charset="0"/>
              </a:rPr>
              <a:t>(x,2000);</a:t>
            </a:r>
          </a:p>
          <a:p>
            <a:r>
              <a:rPr lang="en-US" altLang="en-US" sz="1600" b="1" dirty="0" err="1">
                <a:solidFill>
                  <a:srgbClr val="404040"/>
                </a:solidFill>
                <a:latin typeface="+mn-lt"/>
                <a:ea typeface="Times New Roman" panose="02020603050405020304" pitchFamily="18" charset="0"/>
                <a:cs typeface="Courier New" panose="02070309020205020404" pitchFamily="49" charset="0"/>
              </a:rPr>
              <a:t>xdft</a:t>
            </a:r>
            <a:r>
              <a:rPr lang="en-US" altLang="en-US" sz="1600" b="1" dirty="0">
                <a:solidFill>
                  <a:srgbClr val="404040"/>
                </a:solidFill>
                <a:latin typeface="+mn-lt"/>
                <a:ea typeface="Times New Roman" panose="02020603050405020304" pitchFamily="18" charset="0"/>
                <a:cs typeface="Courier New" panose="02070309020205020404" pitchFamily="49" charset="0"/>
              </a:rPr>
              <a:t> equals to </a:t>
            </a:r>
            <a:r>
              <a:rPr lang="en-US" altLang="en-US" sz="1600" b="1" dirty="0" err="1">
                <a:solidFill>
                  <a:srgbClr val="404040"/>
                </a:solidFill>
                <a:latin typeface="+mn-lt"/>
                <a:ea typeface="Times New Roman" panose="02020603050405020304" pitchFamily="18" charset="0"/>
                <a:cs typeface="Courier New" panose="02070309020205020404" pitchFamily="49" charset="0"/>
              </a:rPr>
              <a:t>xdft</a:t>
            </a:r>
            <a:r>
              <a:rPr lang="en-US" altLang="en-US" sz="1600" b="1" dirty="0">
                <a:solidFill>
                  <a:srgbClr val="404040"/>
                </a:solidFill>
                <a:latin typeface="+mn-lt"/>
                <a:ea typeface="Times New Roman" panose="02020603050405020304" pitchFamily="18" charset="0"/>
                <a:cs typeface="Courier New" panose="02070309020205020404" pitchFamily="49" charset="0"/>
              </a:rPr>
              <a:t>(1:length(</a:t>
            </a:r>
            <a:r>
              <a:rPr lang="en-US" altLang="en-US" sz="1600" b="1" dirty="0" err="1">
                <a:solidFill>
                  <a:srgbClr val="404040"/>
                </a:solidFill>
                <a:latin typeface="+mn-lt"/>
                <a:ea typeface="Times New Roman" panose="02020603050405020304" pitchFamily="18" charset="0"/>
                <a:cs typeface="Courier New" panose="02070309020205020404" pitchFamily="49" charset="0"/>
              </a:rPr>
              <a:t>xdft</a:t>
            </a:r>
            <a:r>
              <a:rPr lang="en-US" altLang="en-US" sz="1600" b="1" dirty="0">
                <a:solidFill>
                  <a:srgbClr val="404040"/>
                </a:solidFill>
                <a:latin typeface="+mn-lt"/>
                <a:ea typeface="Times New Roman" panose="02020603050405020304" pitchFamily="18" charset="0"/>
                <a:cs typeface="Courier New" panose="02070309020205020404" pitchFamily="49" charset="0"/>
              </a:rPr>
              <a:t>)/2+1);</a:t>
            </a:r>
          </a:p>
          <a:p>
            <a:r>
              <a:rPr lang="en-US" altLang="en-US" sz="1600" b="1" dirty="0" err="1">
                <a:solidFill>
                  <a:srgbClr val="404040"/>
                </a:solidFill>
                <a:latin typeface="+mn-lt"/>
                <a:ea typeface="Times New Roman" panose="02020603050405020304" pitchFamily="18" charset="0"/>
                <a:cs typeface="Courier New" panose="02070309020205020404" pitchFamily="49" charset="0"/>
              </a:rPr>
              <a:t>xdft</a:t>
            </a:r>
            <a:r>
              <a:rPr lang="en-US" altLang="en-US" sz="1600" b="1" dirty="0">
                <a:solidFill>
                  <a:srgbClr val="404040"/>
                </a:solidFill>
                <a:latin typeface="+mn-lt"/>
                <a:ea typeface="Times New Roman" panose="02020603050405020304" pitchFamily="18" charset="0"/>
                <a:cs typeface="Courier New" panose="02070309020205020404" pitchFamily="49" charset="0"/>
              </a:rPr>
              <a:t> equals to </a:t>
            </a:r>
            <a:r>
              <a:rPr lang="en-US" altLang="en-US" sz="1600" b="1" dirty="0" err="1">
                <a:solidFill>
                  <a:srgbClr val="404040"/>
                </a:solidFill>
                <a:latin typeface="+mn-lt"/>
                <a:ea typeface="Times New Roman" panose="02020603050405020304" pitchFamily="18" charset="0"/>
                <a:cs typeface="Courier New" panose="02070309020205020404" pitchFamily="49" charset="0"/>
              </a:rPr>
              <a:t>xdft</a:t>
            </a:r>
            <a:r>
              <a:rPr lang="en-US" altLang="en-US" sz="1600" b="1" dirty="0">
                <a:solidFill>
                  <a:srgbClr val="404040"/>
                </a:solidFill>
                <a:latin typeface="+mn-lt"/>
                <a:ea typeface="Times New Roman" panose="02020603050405020304" pitchFamily="18" charset="0"/>
                <a:cs typeface="Courier New" panose="02070309020205020404" pitchFamily="49" charset="0"/>
              </a:rPr>
              <a:t>/length(x);</a:t>
            </a:r>
          </a:p>
          <a:p>
            <a:r>
              <a:rPr lang="en-US" altLang="en-US" sz="1600" b="1" dirty="0" err="1">
                <a:solidFill>
                  <a:srgbClr val="404040"/>
                </a:solidFill>
                <a:latin typeface="+mn-lt"/>
                <a:ea typeface="Times New Roman" panose="02020603050405020304" pitchFamily="18" charset="0"/>
                <a:cs typeface="Courier New" panose="02070309020205020404" pitchFamily="49" charset="0"/>
              </a:rPr>
              <a:t>xdft</a:t>
            </a:r>
            <a:r>
              <a:rPr lang="en-US" altLang="en-US" sz="1600" b="1" dirty="0">
                <a:solidFill>
                  <a:srgbClr val="404040"/>
                </a:solidFill>
                <a:latin typeface="+mn-lt"/>
                <a:ea typeface="Times New Roman" panose="02020603050405020304" pitchFamily="18" charset="0"/>
                <a:cs typeface="Courier New" panose="02070309020205020404" pitchFamily="49" charset="0"/>
              </a:rPr>
              <a:t>(2:500) equals to 2*</a:t>
            </a:r>
            <a:r>
              <a:rPr lang="en-US" altLang="en-US" sz="1600" b="1" dirty="0" err="1">
                <a:solidFill>
                  <a:srgbClr val="404040"/>
                </a:solidFill>
                <a:latin typeface="+mn-lt"/>
                <a:ea typeface="Times New Roman" panose="02020603050405020304" pitchFamily="18" charset="0"/>
                <a:cs typeface="Courier New" panose="02070309020205020404" pitchFamily="49" charset="0"/>
              </a:rPr>
              <a:t>xdft</a:t>
            </a:r>
            <a:r>
              <a:rPr lang="en-US" altLang="en-US" sz="1600" b="1" dirty="0">
                <a:solidFill>
                  <a:srgbClr val="404040"/>
                </a:solidFill>
                <a:latin typeface="+mn-lt"/>
                <a:ea typeface="Times New Roman" panose="02020603050405020304" pitchFamily="18" charset="0"/>
                <a:cs typeface="Courier New" panose="02070309020205020404" pitchFamily="49" charset="0"/>
              </a:rPr>
              <a:t>(2:500);</a:t>
            </a:r>
          </a:p>
          <a:p>
            <a:r>
              <a:rPr lang="en-US" altLang="en-US" sz="1600" b="1" dirty="0" err="1">
                <a:solidFill>
                  <a:srgbClr val="404040"/>
                </a:solidFill>
                <a:latin typeface="+mn-lt"/>
                <a:ea typeface="Times New Roman" panose="02020603050405020304" pitchFamily="18" charset="0"/>
                <a:cs typeface="Courier New" panose="02070309020205020404" pitchFamily="49" charset="0"/>
              </a:rPr>
              <a:t>freq</a:t>
            </a:r>
            <a:r>
              <a:rPr lang="en-US" altLang="en-US" sz="1600" b="1" dirty="0">
                <a:solidFill>
                  <a:srgbClr val="404040"/>
                </a:solidFill>
                <a:latin typeface="+mn-lt"/>
                <a:ea typeface="Times New Roman" panose="02020603050405020304" pitchFamily="18" charset="0"/>
                <a:cs typeface="Courier New" panose="02070309020205020404" pitchFamily="49" charset="0"/>
              </a:rPr>
              <a:t> equals to0:Fs/(2*length(x)):Fs/2;</a:t>
            </a:r>
          </a:p>
          <a:p>
            <a:endParaRPr lang="en-US" altLang="en-US" sz="1600" b="1" dirty="0">
              <a:solidFill>
                <a:srgbClr val="404040"/>
              </a:solidFill>
              <a:latin typeface="+mn-lt"/>
              <a:ea typeface="Times New Roman" panose="02020603050405020304" pitchFamily="18" charset="0"/>
              <a:cs typeface="Courier New" panose="02070309020205020404" pitchFamily="49" charset="0"/>
            </a:endParaRPr>
          </a:p>
          <a:p>
            <a:r>
              <a:rPr lang="en-US" altLang="en-US" sz="1600" b="1" dirty="0">
                <a:solidFill>
                  <a:srgbClr val="404040"/>
                </a:solidFill>
                <a:latin typeface="+mn-lt"/>
                <a:ea typeface="Times New Roman" panose="02020603050405020304" pitchFamily="18" charset="0"/>
                <a:cs typeface="Courier New" panose="02070309020205020404" pitchFamily="49" charset="0"/>
              </a:rPr>
              <a:t>plot(</a:t>
            </a:r>
            <a:r>
              <a:rPr lang="en-US" altLang="en-US" sz="1600" b="1" dirty="0" err="1">
                <a:solidFill>
                  <a:srgbClr val="404040"/>
                </a:solidFill>
                <a:latin typeface="+mn-lt"/>
                <a:ea typeface="Times New Roman" panose="02020603050405020304" pitchFamily="18" charset="0"/>
                <a:cs typeface="Courier New" panose="02070309020205020404" pitchFamily="49" charset="0"/>
              </a:rPr>
              <a:t>freq,abs</a:t>
            </a:r>
            <a:r>
              <a:rPr lang="en-US" altLang="en-US" sz="1600" b="1" dirty="0">
                <a:solidFill>
                  <a:srgbClr val="404040"/>
                </a:solidFill>
                <a:latin typeface="+mn-lt"/>
                <a:ea typeface="Times New Roman" panose="02020603050405020304" pitchFamily="18" charset="0"/>
                <a:cs typeface="Courier New" panose="02070309020205020404" pitchFamily="49" charset="0"/>
              </a:rPr>
              <a:t>(</a:t>
            </a:r>
            <a:r>
              <a:rPr lang="en-US" altLang="en-US" sz="1600" b="1" dirty="0" err="1">
                <a:solidFill>
                  <a:srgbClr val="404040"/>
                </a:solidFill>
                <a:latin typeface="+mn-lt"/>
                <a:ea typeface="Times New Roman" panose="02020603050405020304" pitchFamily="18" charset="0"/>
                <a:cs typeface="Courier New" panose="02070309020205020404" pitchFamily="49" charset="0"/>
              </a:rPr>
              <a:t>xdft</a:t>
            </a:r>
            <a:r>
              <a:rPr lang="en-US" altLang="en-US" sz="1600" b="1" dirty="0">
                <a:solidFill>
                  <a:srgbClr val="404040"/>
                </a:solidFill>
                <a:latin typeface="+mn-lt"/>
                <a:ea typeface="Times New Roman" panose="02020603050405020304" pitchFamily="18" charset="0"/>
                <a:cs typeface="Courier New" panose="02070309020205020404" pitchFamily="49" charset="0"/>
              </a:rPr>
              <a:t>))</a:t>
            </a:r>
          </a:p>
          <a:p>
            <a:r>
              <a:rPr lang="en-US" altLang="en-US" sz="1600" b="1" dirty="0">
                <a:solidFill>
                  <a:srgbClr val="404040"/>
                </a:solidFill>
                <a:latin typeface="+mn-lt"/>
                <a:ea typeface="Times New Roman" panose="02020603050405020304" pitchFamily="18" charset="0"/>
                <a:cs typeface="Courier New" panose="02070309020205020404" pitchFamily="49" charset="0"/>
              </a:rPr>
              <a:t>hold </a:t>
            </a:r>
            <a:r>
              <a:rPr lang="en-US" altLang="en-US" sz="1600" b="1" dirty="0">
                <a:solidFill>
                  <a:srgbClr val="A020F0"/>
                </a:solidFill>
                <a:latin typeface="+mn-lt"/>
                <a:ea typeface="Times New Roman" panose="02020603050405020304" pitchFamily="18" charset="0"/>
                <a:cs typeface="Courier New" panose="02070309020205020404" pitchFamily="49" charset="0"/>
              </a:rPr>
              <a:t>on</a:t>
            </a:r>
          </a:p>
          <a:p>
            <a:r>
              <a:rPr lang="en-US" altLang="en-US" sz="1600" b="1" dirty="0">
                <a:solidFill>
                  <a:srgbClr val="404040"/>
                </a:solidFill>
                <a:latin typeface="+mn-lt"/>
                <a:ea typeface="Times New Roman" panose="02020603050405020304" pitchFamily="18" charset="0"/>
                <a:cs typeface="Courier New" panose="02070309020205020404" pitchFamily="49" charset="0"/>
              </a:rPr>
              <a:t>plot(</a:t>
            </a:r>
            <a:r>
              <a:rPr lang="en-US" altLang="en-US" sz="1600" b="1" dirty="0" err="1">
                <a:solidFill>
                  <a:srgbClr val="404040"/>
                </a:solidFill>
                <a:latin typeface="+mn-lt"/>
                <a:ea typeface="Times New Roman" panose="02020603050405020304" pitchFamily="18" charset="0"/>
                <a:cs typeface="Courier New" panose="02070309020205020404" pitchFamily="49" charset="0"/>
              </a:rPr>
              <a:t>freq,ones</a:t>
            </a:r>
            <a:r>
              <a:rPr lang="en-US" altLang="en-US" sz="1600" b="1" dirty="0">
                <a:solidFill>
                  <a:srgbClr val="404040"/>
                </a:solidFill>
                <a:latin typeface="+mn-lt"/>
                <a:ea typeface="Times New Roman" panose="02020603050405020304" pitchFamily="18" charset="0"/>
                <a:cs typeface="Courier New" panose="02070309020205020404" pitchFamily="49" charset="0"/>
              </a:rPr>
              <a:t>(2*length(x)/2+1,1),</a:t>
            </a:r>
            <a:r>
              <a:rPr lang="en-US" altLang="en-US" sz="1600" b="1" dirty="0">
                <a:solidFill>
                  <a:srgbClr val="A020F0"/>
                </a:solidFill>
                <a:latin typeface="+mn-lt"/>
                <a:ea typeface="Times New Roman" panose="02020603050405020304" pitchFamily="18" charset="0"/>
                <a:cs typeface="Courier New" panose="02070309020205020404" pitchFamily="49" charset="0"/>
              </a:rPr>
              <a:t>'LineWidth'</a:t>
            </a:r>
            <a:r>
              <a:rPr lang="en-US" altLang="en-US" sz="1600" b="1" dirty="0">
                <a:solidFill>
                  <a:srgbClr val="404040"/>
                </a:solidFill>
                <a:latin typeface="+mn-lt"/>
                <a:ea typeface="Times New Roman" panose="02020603050405020304" pitchFamily="18" charset="0"/>
                <a:cs typeface="Courier New" panose="02070309020205020404" pitchFamily="49" charset="0"/>
              </a:rPr>
              <a:t>,2)</a:t>
            </a:r>
          </a:p>
          <a:p>
            <a:r>
              <a:rPr lang="en-US" altLang="en-US" sz="1600" b="1" dirty="0" err="1">
                <a:solidFill>
                  <a:srgbClr val="404040"/>
                </a:solidFill>
                <a:latin typeface="+mn-lt"/>
                <a:ea typeface="Times New Roman" panose="02020603050405020304" pitchFamily="18" charset="0"/>
                <a:cs typeface="Courier New" panose="02070309020205020404" pitchFamily="49" charset="0"/>
              </a:rPr>
              <a:t>xlabel</a:t>
            </a:r>
            <a:r>
              <a:rPr lang="en-US" altLang="en-US" sz="1600" b="1" dirty="0">
                <a:solidFill>
                  <a:srgbClr val="404040"/>
                </a:solidFill>
                <a:latin typeface="+mn-lt"/>
                <a:ea typeface="Times New Roman" panose="02020603050405020304" pitchFamily="18" charset="0"/>
                <a:cs typeface="Courier New" panose="02070309020205020404" pitchFamily="49" charset="0"/>
              </a:rPr>
              <a:t>(</a:t>
            </a:r>
            <a:r>
              <a:rPr lang="en-US" altLang="en-US" sz="1600" b="1" dirty="0">
                <a:solidFill>
                  <a:srgbClr val="A020F0"/>
                </a:solidFill>
                <a:latin typeface="+mn-lt"/>
                <a:ea typeface="Times New Roman" panose="02020603050405020304" pitchFamily="18" charset="0"/>
                <a:cs typeface="Courier New" panose="02070309020205020404" pitchFamily="49" charset="0"/>
              </a:rPr>
              <a:t>'Hz'</a:t>
            </a:r>
            <a:r>
              <a:rPr lang="en-US" altLang="en-US" sz="1600" b="1" dirty="0">
                <a:solidFill>
                  <a:srgbClr val="404040"/>
                </a:solidFill>
                <a:latin typeface="+mn-lt"/>
                <a:ea typeface="Times New Roman" panose="02020603050405020304" pitchFamily="18" charset="0"/>
                <a:cs typeface="Courier New" panose="02070309020205020404" pitchFamily="49" charset="0"/>
              </a:rPr>
              <a:t>)</a:t>
            </a:r>
          </a:p>
          <a:p>
            <a:r>
              <a:rPr lang="en-US" altLang="en-US" sz="1600" b="1" dirty="0" err="1">
                <a:solidFill>
                  <a:srgbClr val="404040"/>
                </a:solidFill>
                <a:latin typeface="+mn-lt"/>
                <a:ea typeface="Times New Roman" panose="02020603050405020304" pitchFamily="18" charset="0"/>
                <a:cs typeface="Courier New" panose="02070309020205020404" pitchFamily="49" charset="0"/>
              </a:rPr>
              <a:t>ylabel</a:t>
            </a:r>
            <a:r>
              <a:rPr lang="en-US" altLang="en-US" sz="1600" b="1" dirty="0">
                <a:solidFill>
                  <a:srgbClr val="404040"/>
                </a:solidFill>
                <a:latin typeface="+mn-lt"/>
                <a:ea typeface="Times New Roman" panose="02020603050405020304" pitchFamily="18" charset="0"/>
                <a:cs typeface="Courier New" panose="02070309020205020404" pitchFamily="49" charset="0"/>
              </a:rPr>
              <a:t>(</a:t>
            </a:r>
            <a:r>
              <a:rPr lang="en-US" altLang="en-US" sz="1600" b="1" dirty="0">
                <a:solidFill>
                  <a:srgbClr val="A020F0"/>
                </a:solidFill>
                <a:latin typeface="+mn-lt"/>
                <a:ea typeface="Times New Roman" panose="02020603050405020304" pitchFamily="18" charset="0"/>
                <a:cs typeface="Courier New" panose="02070309020205020404" pitchFamily="49" charset="0"/>
              </a:rPr>
              <a:t>'Amplitude'</a:t>
            </a:r>
            <a:r>
              <a:rPr lang="en-US" altLang="en-US" sz="1600" b="1" dirty="0">
                <a:solidFill>
                  <a:srgbClr val="404040"/>
                </a:solidFill>
                <a:latin typeface="+mn-lt"/>
                <a:ea typeface="Times New Roman" panose="02020603050405020304" pitchFamily="18" charset="0"/>
                <a:cs typeface="Courier New" panose="02070309020205020404" pitchFamily="49" charset="0"/>
              </a:rPr>
              <a:t>)</a:t>
            </a:r>
          </a:p>
          <a:p>
            <a:r>
              <a:rPr lang="en-US" altLang="en-US" sz="1600" b="1" dirty="0">
                <a:solidFill>
                  <a:srgbClr val="404040"/>
                </a:solidFill>
                <a:latin typeface="+mn-lt"/>
                <a:ea typeface="Times New Roman" panose="02020603050405020304" pitchFamily="18" charset="0"/>
                <a:cs typeface="Courier New" panose="02070309020205020404" pitchFamily="49" charset="0"/>
              </a:rPr>
              <a:t>hold </a:t>
            </a:r>
            <a:r>
              <a:rPr lang="en-US" altLang="en-US" sz="1600" b="1" dirty="0">
                <a:solidFill>
                  <a:srgbClr val="A020F0"/>
                </a:solidFill>
                <a:latin typeface="+mn-lt"/>
                <a:ea typeface="Times New Roman" panose="02020603050405020304" pitchFamily="18" charset="0"/>
                <a:cs typeface="Courier New" panose="02070309020205020404" pitchFamily="49" charset="0"/>
              </a:rPr>
              <a:t>off</a:t>
            </a:r>
            <a:r>
              <a:rPr lang="en-US" altLang="en-US" sz="1600" b="1" dirty="0">
                <a:latin typeface="+mn-lt"/>
              </a:rPr>
              <a:t> </a:t>
            </a:r>
          </a:p>
        </p:txBody>
      </p:sp>
      <p:pic>
        <p:nvPicPr>
          <p:cNvPr id="5" name="Picture 4" descr="http://www.magic-emoji.com/emoji/images/83_emoji_iphone_black_diamond_suit.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8383523" y="98316"/>
            <a:ext cx="2059486" cy="20594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10776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Note: Impossible into Possible</a:t>
            </a:r>
          </a:p>
        </p:txBody>
      </p:sp>
      <p:pic>
        <p:nvPicPr>
          <p:cNvPr id="4" name="Picture 3"/>
          <p:cNvPicPr>
            <a:picLocks noChangeAspect="1"/>
          </p:cNvPicPr>
          <p:nvPr/>
        </p:nvPicPr>
        <p:blipFill>
          <a:blip r:embed="rId3"/>
          <a:stretch>
            <a:fillRect/>
          </a:stretch>
        </p:blipFill>
        <p:spPr>
          <a:xfrm>
            <a:off x="1775012" y="1063158"/>
            <a:ext cx="8740588" cy="557120"/>
          </a:xfrm>
          <a:prstGeom prst="rect">
            <a:avLst/>
          </a:prstGeom>
        </p:spPr>
      </p:pic>
      <p:pic>
        <p:nvPicPr>
          <p:cNvPr id="59394" name="Picture 2" descr="Image result for magi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8238" y="1692836"/>
            <a:ext cx="7313712" cy="42651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28347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p:nvPr/>
        </p:nvPicPr>
        <p:blipFill>
          <a:blip r:embed="rId3"/>
          <a:stretch>
            <a:fillRect/>
          </a:stretch>
        </p:blipFill>
        <p:spPr>
          <a:xfrm>
            <a:off x="1676401" y="904875"/>
            <a:ext cx="5355093" cy="5329060"/>
          </a:xfrm>
          <a:prstGeom prst="rect">
            <a:avLst/>
          </a:prstGeom>
        </p:spPr>
      </p:pic>
      <p:sp>
        <p:nvSpPr>
          <p:cNvPr id="2" name="Title 1"/>
          <p:cNvSpPr>
            <a:spLocks noGrp="1"/>
          </p:cNvSpPr>
          <p:nvPr>
            <p:ph type="title"/>
          </p:nvPr>
        </p:nvSpPr>
        <p:spPr>
          <a:xfrm>
            <a:off x="1676400" y="66675"/>
            <a:ext cx="8839200" cy="838200"/>
          </a:xfrm>
        </p:spPr>
        <p:txBody>
          <a:bodyPr/>
          <a:lstStyle/>
          <a:p>
            <a:r>
              <a:rPr lang="en-US" dirty="0"/>
              <a:t>Convergence Issue</a:t>
            </a:r>
          </a:p>
        </p:txBody>
      </p:sp>
      <p:sp>
        <p:nvSpPr>
          <p:cNvPr id="3" name="Oval 2"/>
          <p:cNvSpPr/>
          <p:nvPr/>
        </p:nvSpPr>
        <p:spPr bwMode="auto">
          <a:xfrm>
            <a:off x="4685521" y="3419676"/>
            <a:ext cx="542925" cy="542925"/>
          </a:xfrm>
          <a:prstGeom prst="ellipse">
            <a:avLst/>
          </a:prstGeom>
          <a:solidFill>
            <a:srgbClr val="FF000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pic>
        <p:nvPicPr>
          <p:cNvPr id="5" name="Picture 4" descr="http://www.wpclipart.com/blanks/buttons/round/button_round_gree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31493" y="4062131"/>
            <a:ext cx="1490954" cy="14909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6066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Increasingly Smaller, Not Enough</a:t>
            </a:r>
          </a:p>
        </p:txBody>
      </p:sp>
      <p:pic>
        <p:nvPicPr>
          <p:cNvPr id="56322" name="Picture 2" descr="Image result for divergent integral 1/x"/>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95820" y="1632891"/>
            <a:ext cx="3485403" cy="1900519"/>
          </a:xfrm>
          <a:prstGeom prst="rect">
            <a:avLst/>
          </a:prstGeom>
          <a:noFill/>
          <a:extLst>
            <a:ext uri="{909E8E84-426E-40DD-AFC4-6F175D3DCCD1}">
              <a14:hiddenFill xmlns:a14="http://schemas.microsoft.com/office/drawing/2010/main">
                <a:solidFill>
                  <a:srgbClr val="FFFFFF"/>
                </a:solidFill>
              </a14:hiddenFill>
            </a:ext>
          </a:extLst>
        </p:spPr>
      </p:pic>
      <p:pic>
        <p:nvPicPr>
          <p:cNvPr id="56324" name="Picture 4" descr="https://upload.wikimedia.org/wikipedia/commons/thumb/6/67/Integral_Test.svg/300px-Integral_Test.svg.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8690" y="1200906"/>
            <a:ext cx="5178425" cy="402191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http://www.wpclipart.com/blanks/buttons/round/button_round_green.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542357" y="3533409"/>
            <a:ext cx="1490954" cy="14909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10454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Wheat &amp; Chessboard Problem</a:t>
            </a:r>
          </a:p>
        </p:txBody>
      </p:sp>
      <p:sp>
        <p:nvSpPr>
          <p:cNvPr id="3" name="Content Placeholder 2"/>
          <p:cNvSpPr>
            <a:spLocks noGrp="1"/>
          </p:cNvSpPr>
          <p:nvPr>
            <p:ph idx="1"/>
          </p:nvPr>
        </p:nvSpPr>
        <p:spPr>
          <a:xfrm>
            <a:off x="1676400" y="5452866"/>
            <a:ext cx="5966178" cy="869576"/>
          </a:xfrm>
        </p:spPr>
        <p:txBody>
          <a:bodyPr/>
          <a:lstStyle/>
          <a:p>
            <a:r>
              <a:rPr lang="en-US" sz="2000" dirty="0">
                <a:solidFill>
                  <a:srgbClr val="FF0000"/>
                </a:solidFill>
              </a:rPr>
              <a:t>Exponential growth never can go on very long in a finite space with finite resources.</a:t>
            </a:r>
          </a:p>
        </p:txBody>
      </p:sp>
      <p:pic>
        <p:nvPicPr>
          <p:cNvPr id="58370" name="Picture 2" descr="https://upload.wikimedia.org/wikipedia/commons/thumb/c/cd/Wheat_and_chessboard_problem.jpg/1280px-Wheat_and_chessboard_problem.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1668" y="1054059"/>
            <a:ext cx="5341312" cy="400598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http://www.wpclipart.com/blanks/buttons/round/button_round_gree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54855" y="3057051"/>
            <a:ext cx="1490954" cy="14909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17665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a:fillRect/>
          </a:stretch>
        </p:blipFill>
        <p:spPr>
          <a:xfrm>
            <a:off x="1748119" y="1524911"/>
            <a:ext cx="4007224" cy="3768350"/>
          </a:xfrm>
          <a:prstGeom prst="rect">
            <a:avLst/>
          </a:prstGeom>
        </p:spPr>
      </p:pic>
      <p:sp>
        <p:nvSpPr>
          <p:cNvPr id="6" name="Rectangle 5"/>
          <p:cNvSpPr/>
          <p:nvPr/>
        </p:nvSpPr>
        <p:spPr>
          <a:xfrm>
            <a:off x="1748120" y="776520"/>
            <a:ext cx="5970493" cy="461665"/>
          </a:xfrm>
          <a:prstGeom prst="rect">
            <a:avLst/>
          </a:prstGeom>
          <a:solidFill>
            <a:schemeClr val="bg1"/>
          </a:solidFill>
        </p:spPr>
        <p:txBody>
          <a:bodyPr wrap="square">
            <a:spAutoFit/>
          </a:bodyPr>
          <a:lstStyle/>
          <a:p>
            <a:r>
              <a:rPr lang="en-US" dirty="0">
                <a:solidFill>
                  <a:srgbClr val="FF0000"/>
                </a:solidFill>
                <a:latin typeface="+mn-lt"/>
                <a:hlinkClick r:id="rId4"/>
              </a:rPr>
              <a:t>https://see.stanford.edu/Course/EE261</a:t>
            </a:r>
            <a:endParaRPr lang="en-US" dirty="0">
              <a:solidFill>
                <a:srgbClr val="FF0000"/>
              </a:solidFill>
              <a:latin typeface="+mn-lt"/>
            </a:endParaRPr>
          </a:p>
        </p:txBody>
      </p:sp>
      <p:sp>
        <p:nvSpPr>
          <p:cNvPr id="8" name="Rectangle 7"/>
          <p:cNvSpPr/>
          <p:nvPr/>
        </p:nvSpPr>
        <p:spPr>
          <a:xfrm>
            <a:off x="1748120" y="5579990"/>
            <a:ext cx="4460770" cy="830997"/>
          </a:xfrm>
          <a:prstGeom prst="rect">
            <a:avLst/>
          </a:prstGeom>
        </p:spPr>
        <p:txBody>
          <a:bodyPr wrap="square">
            <a:spAutoFit/>
          </a:bodyPr>
          <a:lstStyle/>
          <a:p>
            <a:r>
              <a:rPr lang="en-US" dirty="0">
                <a:latin typeface="+mn-lt"/>
                <a:hlinkClick r:id="rId5"/>
              </a:rPr>
              <a:t>https://see.stanford.edu/materials/lsoftaee261/book-fall-07.pdf</a:t>
            </a:r>
            <a:r>
              <a:rPr lang="en-US" dirty="0">
                <a:latin typeface="+mn-lt"/>
              </a:rPr>
              <a:t> </a:t>
            </a:r>
          </a:p>
        </p:txBody>
      </p:sp>
      <p:pic>
        <p:nvPicPr>
          <p:cNvPr id="9" name="Picture 8"/>
          <p:cNvPicPr>
            <a:picLocks noChangeAspect="1"/>
          </p:cNvPicPr>
          <p:nvPr/>
        </p:nvPicPr>
        <p:blipFill>
          <a:blip r:embed="rId6"/>
          <a:stretch>
            <a:fillRect/>
          </a:stretch>
        </p:blipFill>
        <p:spPr>
          <a:xfrm>
            <a:off x="6436660" y="1524911"/>
            <a:ext cx="2975361" cy="3385756"/>
          </a:xfrm>
          <a:prstGeom prst="rect">
            <a:avLst/>
          </a:prstGeom>
          <a:ln w="38100">
            <a:solidFill>
              <a:srgbClr val="FF0000"/>
            </a:solidFill>
          </a:ln>
        </p:spPr>
      </p:pic>
    </p:spTree>
    <p:extLst>
      <p:ext uri="{BB962C8B-B14F-4D97-AF65-F5344CB8AC3E}">
        <p14:creationId xmlns:p14="http://schemas.microsoft.com/office/powerpoint/2010/main" val="2672000621"/>
      </p:ext>
    </p:extLst>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cap="flat" cmpd="sng" algn="ctr">
          <a:solidFill>
            <a:schemeClr val="tx1"/>
          </a:solid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sz="1800" dirty="0" err="1" smtClean="0"/>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116"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9590</TotalTime>
  <Words>12078</Words>
  <Application>Microsoft Office PowerPoint</Application>
  <PresentationFormat>Widescreen</PresentationFormat>
  <Paragraphs>599</Paragraphs>
  <Slides>43</Slides>
  <Notes>43</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43</vt:i4>
      </vt:variant>
    </vt:vector>
  </HeadingPairs>
  <TitlesOfParts>
    <vt:vector size="48" baseType="lpstr">
      <vt:lpstr>Arial</vt:lpstr>
      <vt:lpstr>Times</vt:lpstr>
      <vt:lpstr>Times New Roman</vt:lpstr>
      <vt:lpstr>Blank Presentation</vt:lpstr>
      <vt:lpstr>Equation</vt:lpstr>
      <vt:lpstr>PowerPoint Presentation</vt:lpstr>
      <vt:lpstr>PowerPoint Presentation</vt:lpstr>
      <vt:lpstr>Sampling Theorem</vt:lpstr>
      <vt:lpstr>What If Pequals to2W</vt:lpstr>
      <vt:lpstr>Derivation of the Sampling Theorem</vt:lpstr>
      <vt:lpstr>Good Case: True versus Sampled</vt:lpstr>
      <vt:lpstr>Bad Case: True versus Sampled</vt:lpstr>
      <vt:lpstr>Big Picture</vt:lpstr>
      <vt:lpstr>Signal Sampling</vt:lpstr>
      <vt:lpstr>Spectral Duplication</vt:lpstr>
      <vt:lpstr>Nyquist Theorem</vt:lpstr>
      <vt:lpstr>Why Non-unique?</vt:lpstr>
      <vt:lpstr>Digitization Not Finished Yet</vt:lpstr>
      <vt:lpstr>Discretizing Spectrum</vt:lpstr>
      <vt:lpstr>From Continuous to Discrete</vt:lpstr>
      <vt:lpstr>Big Picture</vt:lpstr>
      <vt:lpstr>Key Variables</vt:lpstr>
      <vt:lpstr>Direct Fourier Transform of</vt:lpstr>
      <vt:lpstr>Continuous FT of Sampled f(t)</vt:lpstr>
      <vt:lpstr>Sampling in the Fourier Domain</vt:lpstr>
      <vt:lpstr>Discrete Fourier Transform</vt:lpstr>
      <vt:lpstr>Use of Integer Indices</vt:lpstr>
      <vt:lpstr>Inverse Discrete Fourier Transform</vt:lpstr>
      <vt:lpstr>Why 1/N?</vt:lpstr>
      <vt:lpstr>Perspective 1: Discretization</vt:lpstr>
      <vt:lpstr>Perspective 2: Harmonics</vt:lpstr>
      <vt:lpstr>Orthonormal Basis</vt:lpstr>
      <vt:lpstr>Discrete FT in Different Notations</vt:lpstr>
      <vt:lpstr>FFT</vt:lpstr>
      <vt:lpstr>FFT &amp; IFFT</vt:lpstr>
      <vt:lpstr>Application 1: Discrete Convolution</vt:lpstr>
      <vt:lpstr>Circular Convolution</vt:lpstr>
      <vt:lpstr>Zero Padding</vt:lpstr>
      <vt:lpstr>Zero Padding Illustrated</vt:lpstr>
      <vt:lpstr>Further Reading</vt:lpstr>
      <vt:lpstr>Application 2: Spectral Analysis</vt:lpstr>
      <vt:lpstr>Without Zero Padding</vt:lpstr>
      <vt:lpstr>Zero Padding</vt:lpstr>
      <vt:lpstr>Note: Impossible into Possible</vt:lpstr>
      <vt:lpstr>Convergence Issue</vt:lpstr>
      <vt:lpstr>Increasingly Smaller, Not Enough</vt:lpstr>
      <vt:lpstr>Wheat &amp; Chessboard Problem</vt:lpstr>
      <vt:lpstr>PowerPoint Presentation</vt:lpstr>
    </vt:vector>
  </TitlesOfParts>
  <Company>Virginia Tech</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VT PowerPoint Template2</dc:title>
  <dc:creator>David Stanley</dc:creator>
  <cp:lastModifiedBy>Manik, Md Motaleb Hossen</cp:lastModifiedBy>
  <cp:revision>2484</cp:revision>
  <cp:lastPrinted>2012-03-08T21:40:16Z</cp:lastPrinted>
  <dcterms:created xsi:type="dcterms:W3CDTF">2006-10-23T16:36:06Z</dcterms:created>
  <dcterms:modified xsi:type="dcterms:W3CDTF">2025-08-23T03:28:14Z</dcterms:modified>
</cp:coreProperties>
</file>