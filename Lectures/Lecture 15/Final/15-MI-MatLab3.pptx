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174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p:restoredTop sz="60313" autoAdjust="0"/>
  </p:normalViewPr>
  <p:slideViewPr>
    <p:cSldViewPr>
      <p:cViewPr varScale="1">
        <p:scale>
          <a:sx n="85" d="100"/>
          <a:sy n="85" d="100"/>
        </p:scale>
        <p:origin x="126" y="318"/>
      </p:cViewPr>
      <p:guideLst>
        <p:guide orient="horz" pos="2880"/>
        <p:guide pos="2880"/>
      </p:guideLst>
    </p:cSldViewPr>
  </p:slideViewPr>
  <p:notesTextViewPr>
    <p:cViewPr>
      <p:scale>
        <a:sx n="165" d="100"/>
        <a:sy n="16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577663F-180C-E844-9351-0DB93E4DE3BA}" type="datetimeFigureOut">
              <a:rPr lang="en-US" smtClean="0"/>
              <a:t>9/12/2025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C79DC8B-2DF6-574A-9710-AB043F63DBAC}" type="slidenum">
              <a:rPr lang="en-US" smtClean="0"/>
              <a:t>‹#›</a:t>
            </a:fld>
            <a:endParaRPr lang="en-US"/>
          </a:p>
        </p:txBody>
      </p:sp>
    </p:spTree>
    <p:extLst>
      <p:ext uri="{BB962C8B-B14F-4D97-AF65-F5344CB8AC3E}">
        <p14:creationId xmlns:p14="http://schemas.microsoft.com/office/powerpoint/2010/main" val="2494789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Hello everyone, and welcome back.</a:t>
            </a:r>
            <a:br>
              <a:rPr lang="en-US" dirty="0"/>
            </a:br>
            <a:endParaRPr lang="en-US" dirty="0"/>
          </a:p>
          <a:p>
            <a:r>
              <a:rPr lang="en-US" dirty="0"/>
              <a:t>Today, we will give the last MatLab lecture to explore how it can be used to demonstrate CT image reconstruction, that you’ve been learning in this course.</a:t>
            </a:r>
          </a:p>
          <a:p>
            <a:endParaRPr lang="en-US" dirty="0"/>
          </a:p>
          <a:p>
            <a:r>
              <a:rPr lang="en-US" dirty="0"/>
              <a:t>The image you see here is an example from GE’s “Revolution CT.” This technology allows us to capture extremely high-resolution images of the human body. In this case, you can see a detailed 3D view of the skull, including the blood vessels—arteries, veins, and even tiny capillaries.</a:t>
            </a:r>
          </a:p>
          <a:p>
            <a:endParaRPr lang="en-US" dirty="0"/>
          </a:p>
          <a:p>
            <a:r>
              <a:rPr lang="en-US" dirty="0"/>
              <a:t>If you’re curious, the link at the bottom of the slide will take you to the website where this example came from. They have several other fascinating images that show how CT technology is evolving to provide ever-sharper and more detailed views inside the human body. These advances are not just technical achievements—they are vital for clinical use, helping doctors diagnose and treat patients with much greater precision.</a:t>
            </a:r>
          </a:p>
          <a:p>
            <a:endParaRPr lang="en-US" dirty="0"/>
          </a:p>
          <a:p>
            <a:r>
              <a:rPr lang="en-US" dirty="0"/>
              <a:t>As we go through this lecture, I’ll also remind you that all the MATLAB code examples we’ll be using are available on the LMS. If you’d like to follow along or try them yourself later, you’ll find everything there.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a:t>
            </a:fld>
            <a:endParaRPr lang="en-US"/>
          </a:p>
        </p:txBody>
      </p:sp>
    </p:spTree>
    <p:extLst>
      <p:ext uri="{BB962C8B-B14F-4D97-AF65-F5344CB8AC3E}">
        <p14:creationId xmlns:p14="http://schemas.microsoft.com/office/powerpoint/2010/main" val="2077244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quick look at our course schedule to see where we stand.</a:t>
            </a:r>
            <a:br>
              <a:rPr lang="en-US" dirty="0"/>
            </a:br>
            <a:endParaRPr lang="en-US" dirty="0"/>
          </a:p>
          <a:p>
            <a:r>
              <a:rPr lang="en-US" dirty="0"/>
              <a:t>As you can see, we’ve been moving steadily through the topics—starting with the basics, like introduction, systems, and Fourier series, and then building up to signal processing and MATLAB practice.</a:t>
            </a:r>
          </a:p>
          <a:p>
            <a:endParaRPr lang="en-US" dirty="0"/>
          </a:p>
          <a:p>
            <a:r>
              <a:rPr lang="en-US" dirty="0"/>
              <a:t>Currently, we are on track with the section on computed tomography, or CT. This means you already have the mathematical and signal processing foundation, and now we are applying it directly to medical imaging.</a:t>
            </a:r>
          </a:p>
          <a:p>
            <a:r>
              <a:rPr lang="en-US" dirty="0"/>
              <a:t>So yes, we are on schedule, and today’s focus on MATLAB and CT fits exactly into the larger flow of the course.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1533228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before we dive into today’s material, just a quick reminder.</a:t>
            </a:r>
            <a:br>
              <a:rPr lang="en-US" dirty="0"/>
            </a:br>
            <a:endParaRPr lang="en-US" dirty="0"/>
          </a:p>
          <a:p>
            <a:r>
              <a:rPr lang="en-US" dirty="0"/>
              <a:t>If you’d like to follow along with the examples, please make sure you have MATLAB installed, along with the Signal Processing Toolbox and the Image Processing Toolbox. These are essential for running the code.</a:t>
            </a:r>
          </a:p>
          <a:p>
            <a:endParaRPr lang="en-US" dirty="0"/>
          </a:p>
          <a:p>
            <a:r>
              <a:rPr lang="en-US" dirty="0"/>
              <a:t>If you haven’t set this up yet, don’t worry—it’s simple. Just download the zip file I’ve posted on LMS, extract all the files, and place them into your MATLAB folder. Once that’s done, you’ll be ready to run the scripts, either as we go through them in class or later on your own time at home.</a:t>
            </a:r>
          </a:p>
          <a:p>
            <a:r>
              <a:rPr lang="en-US" dirty="0"/>
              <a:t>Alright, with that setup in place, let’s move on to the theory of CT.</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3</a:t>
            </a:fld>
            <a:endParaRPr lang="en-US"/>
          </a:p>
        </p:txBody>
      </p:sp>
    </p:spTree>
    <p:extLst>
      <p:ext uri="{BB962C8B-B14F-4D97-AF65-F5344CB8AC3E}">
        <p14:creationId xmlns:p14="http://schemas.microsoft.com/office/powerpoint/2010/main" val="1476473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step into the theory of CT.</a:t>
            </a:r>
            <a:br>
              <a:rPr lang="en-US" dirty="0"/>
            </a:br>
            <a:endParaRPr lang="en-US" dirty="0"/>
          </a:p>
          <a:p>
            <a:r>
              <a:rPr lang="en-US" dirty="0"/>
              <a:t>What I’ll give you here is a general overview, much of which should feel like a review from our earlier classes.</a:t>
            </a:r>
          </a:p>
          <a:p>
            <a:endParaRPr lang="en-US" dirty="0"/>
          </a:p>
          <a:p>
            <a:r>
              <a:rPr lang="en-US" dirty="0"/>
              <a:t>The basic idea is this: CT uses X-ray projections taken from many different angles around the body. As the X-rays pass through, they are attenuated—that means they are weakened—depending on the different properties of the tissues they pass through. Dense tissues like bone attenuate more, while soft tissues attenuate less.</a:t>
            </a:r>
          </a:p>
          <a:p>
            <a:endParaRPr lang="en-US" dirty="0"/>
          </a:p>
          <a:p>
            <a:r>
              <a:rPr lang="en-US" dirty="0"/>
              <a:t>By collecting all these projections from multiple views, we build up enough information to start reconstructing what’s inside the body. That’s the foundation of computed tomography.</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4</a:t>
            </a:fld>
            <a:endParaRPr lang="en-US"/>
          </a:p>
        </p:txBody>
      </p:sp>
    </p:spTree>
    <p:extLst>
      <p:ext uri="{BB962C8B-B14F-4D97-AF65-F5344CB8AC3E}">
        <p14:creationId xmlns:p14="http://schemas.microsoft.com/office/powerpoint/2010/main" val="3931521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So, let’s look a little closer at the general theory of CT.</a:t>
            </a:r>
          </a:p>
          <a:p>
            <a:endParaRPr lang="en-US" dirty="0"/>
          </a:p>
          <a:p>
            <a:r>
              <a:rPr lang="en-US" dirty="0"/>
              <a:t>When X-rays pass through the body, different tissues attenuate the beam in different ways. For example, bone blocks attenuate X-rays much more strongly than muscle or soft tissue. This difference is exactly what gives us useful information.</a:t>
            </a:r>
          </a:p>
          <a:p>
            <a:endParaRPr lang="en-US" dirty="0"/>
          </a:p>
          <a:p>
            <a:r>
              <a:rPr lang="en-US" dirty="0"/>
              <a:t>Now, the challenge is that each X-ray image we take is really just a 2D projection. You can see that in the picture on the left. If we only had this single projection, we would miss most of the information about what lies behind or to the side of the structures.</a:t>
            </a:r>
          </a:p>
          <a:p>
            <a:r>
              <a:rPr lang="en-US" dirty="0"/>
              <a:t>So what do we do? We take projections from many different angles—like the images you see in the middle. Each projection adds a different piece of information.</a:t>
            </a:r>
          </a:p>
          <a:p>
            <a:endParaRPr lang="en-US" dirty="0"/>
          </a:p>
          <a:p>
            <a:r>
              <a:rPr lang="en-US" dirty="0"/>
              <a:t>Then comes the key step: we solve what’s called an inverse problem. Mathematically, this is done using the Radon transform and its inverse. By combining all of those projections through the inverse Radon transform, we can reconstruct a detailed image of the body’s interior. </a:t>
            </a:r>
          </a:p>
          <a:p>
            <a:endParaRPr lang="en-US" dirty="0"/>
          </a:p>
          <a:p>
            <a:r>
              <a:rPr lang="en-US" dirty="0"/>
              <a:t>That’s what you see on the right: a 3D CT reconstruction where bones and tissues are highlighted in different colors.</a:t>
            </a:r>
          </a:p>
          <a:p>
            <a:r>
              <a:rPr lang="en-US" dirty="0"/>
              <a:t>In this class, to keep things simpler, we will mostly work with 2D imaging cases when applying the Radon transform in MATLAB. But remember, the same principle extends to full 3D CT in clinical practice.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5</a:t>
            </a:fld>
            <a:endParaRPr lang="en-US"/>
          </a:p>
        </p:txBody>
      </p:sp>
    </p:spTree>
    <p:extLst>
      <p:ext uri="{BB962C8B-B14F-4D97-AF65-F5344CB8AC3E}">
        <p14:creationId xmlns:p14="http://schemas.microsoft.com/office/powerpoint/2010/main" val="3918599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talk about the resolution of CT reconstruction.</a:t>
            </a:r>
          </a:p>
          <a:p>
            <a:endParaRPr lang="en-US" dirty="0"/>
          </a:p>
          <a:p>
            <a:r>
              <a:rPr lang="en-US" dirty="0"/>
              <a:t>Two key factors determine how sharp or detailed your reconstructed image will be.</a:t>
            </a:r>
          </a:p>
          <a:p>
            <a:r>
              <a:rPr lang="en-US" dirty="0"/>
              <a:t>First, the </a:t>
            </a:r>
            <a:r>
              <a:rPr lang="en-US" b="1" dirty="0"/>
              <a:t>number of rays</a:t>
            </a:r>
            <a:r>
              <a:rPr lang="en-US" dirty="0"/>
              <a:t>, or the number of X-rays passing through the object at each angle. This directly affects the </a:t>
            </a:r>
            <a:r>
              <a:rPr lang="en-US" b="1" dirty="0"/>
              <a:t>radial component</a:t>
            </a:r>
            <a:r>
              <a:rPr lang="en-US" dirty="0"/>
              <a:t> of spatial resolution—that is, how finely we can distinguish details along a line from the center outward.</a:t>
            </a:r>
          </a:p>
          <a:p>
            <a:r>
              <a:rPr lang="en-US" dirty="0"/>
              <a:t>Second, the </a:t>
            </a:r>
            <a:r>
              <a:rPr lang="en-US" b="1" dirty="0"/>
              <a:t>number of views</a:t>
            </a:r>
            <a:r>
              <a:rPr lang="en-US" dirty="0"/>
              <a:t>, or the number of different angles, is often denoted by theta. This controls the </a:t>
            </a:r>
            <a:r>
              <a:rPr lang="en-US" b="1" dirty="0"/>
              <a:t>circumferential component</a:t>
            </a:r>
            <a:r>
              <a:rPr lang="en-US" dirty="0"/>
              <a:t> of resolution—how well we can distinguish details as we go around the circle.</a:t>
            </a:r>
          </a:p>
          <a:p>
            <a:r>
              <a:rPr lang="en-US" dirty="0"/>
              <a:t>On the cartoon CT slice shown here, you can see both components: the radial resolution going outward from the center, and the circumferential resolution wrapping around the image.</a:t>
            </a:r>
          </a:p>
          <a:p>
            <a:endParaRPr lang="en-US" dirty="0"/>
          </a:p>
          <a:p>
            <a:r>
              <a:rPr lang="en-US" dirty="0"/>
              <a:t>So, to summarize: the more rays you use, and the more views you collect, the higher the resolution of your reconstruction. On the other hand, using fewer rays or fewer views leads to blurrier images with less detail.</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6</a:t>
            </a:fld>
            <a:endParaRPr lang="en-US"/>
          </a:p>
        </p:txBody>
      </p:sp>
    </p:spTree>
    <p:extLst>
      <p:ext uri="{BB962C8B-B14F-4D97-AF65-F5344CB8AC3E}">
        <p14:creationId xmlns:p14="http://schemas.microsoft.com/office/powerpoint/2010/main" val="1462606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talk about the Radon transform.</a:t>
            </a:r>
          </a:p>
          <a:p>
            <a:endParaRPr lang="en-US" dirty="0"/>
          </a:p>
          <a:p>
            <a:r>
              <a:rPr lang="en-US" dirty="0"/>
              <a:t>The Radon transform is essentially a way to represent X-ray projection data, and the result is something called a </a:t>
            </a:r>
            <a:r>
              <a:rPr lang="en-US" b="1" dirty="0"/>
              <a:t>sinogram</a:t>
            </a:r>
            <a:r>
              <a:rPr lang="en-US" dirty="0"/>
              <a:t>. A sinogram is just an image that shows how the projections vary as we rotate around the object.</a:t>
            </a:r>
          </a:p>
          <a:p>
            <a:r>
              <a:rPr lang="en-US" dirty="0"/>
              <a:t>This representation also tells us something about the characteristics of the sample. For example, objects that are closer to the center of the field of view show up as regions of higher amplitude in the sinogram.</a:t>
            </a:r>
          </a:p>
          <a:p>
            <a:endParaRPr lang="en-US" dirty="0"/>
          </a:p>
          <a:p>
            <a:r>
              <a:rPr lang="en-US" dirty="0"/>
              <a:t>Here you can see the mathematical definition of the Radon transform. Don’t worry about memorizing the equation—what matters is understanding that it describes how the function </a:t>
            </a:r>
            <a:r>
              <a:rPr lang="en-US" i="1" dirty="0"/>
              <a:t>f of x and y</a:t>
            </a:r>
            <a:r>
              <a:rPr lang="en-US" dirty="0"/>
              <a:t>, our object, is projected along different angles, which we denote by theta.</a:t>
            </a:r>
          </a:p>
          <a:p>
            <a:r>
              <a:rPr lang="en-US" dirty="0"/>
              <a:t>On the left, you see the same setup we discussed earlier, with X-rays passing through the object at angle theta. And on the right, you see an example sinogram. Notice the bright, wavy line: that corresponds to the yellow circular object in the field of view. Because it’s closer to the center, its contribution to the sinogram has a higher amplitude, and it traces this curve as the angle changes.</a:t>
            </a:r>
          </a:p>
          <a:p>
            <a:endParaRPr lang="en-US" dirty="0"/>
          </a:p>
          <a:p>
            <a:r>
              <a:rPr lang="en-US" dirty="0"/>
              <a:t>So the sinogram is the bridge between the raw projection data we collect and the reconstructed CT image we want to build.</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7</a:t>
            </a:fld>
            <a:endParaRPr lang="en-US"/>
          </a:p>
        </p:txBody>
      </p:sp>
    </p:spTree>
    <p:extLst>
      <p:ext uri="{BB962C8B-B14F-4D97-AF65-F5344CB8AC3E}">
        <p14:creationId xmlns:p14="http://schemas.microsoft.com/office/powerpoint/2010/main" val="322547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So far, we’ve looked at the Radon transform. But to actually reconstruct an image, we also need the </a:t>
            </a:r>
            <a:r>
              <a:rPr lang="en-US" b="1" dirty="0"/>
              <a:t>inverse Radon transform</a:t>
            </a:r>
            <a:r>
              <a:rPr lang="en-US" dirty="0"/>
              <a:t>. This process relies on something called the </a:t>
            </a:r>
            <a:r>
              <a:rPr lang="en-US" b="1" dirty="0"/>
              <a:t>Fourier slice theorem</a:t>
            </a:r>
            <a:r>
              <a:rPr lang="en-US" dirty="0"/>
              <a:t>.</a:t>
            </a:r>
          </a:p>
          <a:p>
            <a:endParaRPr lang="en-US" dirty="0"/>
          </a:p>
          <a:p>
            <a:r>
              <a:rPr lang="en-US" dirty="0"/>
              <a:t>Here’s the idea in simpler terms. If we take the </a:t>
            </a:r>
            <a:r>
              <a:rPr lang="en-US" b="1" dirty="0"/>
              <a:t>one-dimensional Fourier transform</a:t>
            </a:r>
            <a:r>
              <a:rPr lang="en-US" dirty="0"/>
              <a:t> of a Radon transform projection profile at a specific angle phi, that result is the same as taking the </a:t>
            </a:r>
            <a:r>
              <a:rPr lang="en-US" b="1" dirty="0"/>
              <a:t>two-dimensional Fourier transform</a:t>
            </a:r>
            <a:r>
              <a:rPr lang="en-US" dirty="0"/>
              <a:t> of the object and looking along a line at that same angle phi.</a:t>
            </a:r>
          </a:p>
          <a:p>
            <a:endParaRPr lang="en-US" dirty="0"/>
          </a:p>
          <a:p>
            <a:r>
              <a:rPr lang="en-US" dirty="0"/>
              <a:t>That’s powerful because it means each projection we acquire gives us a slice, or a line, through the object’s 2D Fourier transform. When we combine all these slices from projections taken at many different angles, we can fill in the complete 2D Fourier transform of the object.</a:t>
            </a:r>
          </a:p>
          <a:p>
            <a:r>
              <a:rPr lang="en-US" dirty="0"/>
              <a:t>And once we have the full 2D Fourier transform, we can simply apply the </a:t>
            </a:r>
            <a:r>
              <a:rPr lang="en-US" b="1" dirty="0"/>
              <a:t>inverse two-dimensional Fourier transform</a:t>
            </a:r>
            <a:r>
              <a:rPr lang="en-US" dirty="0"/>
              <a:t> to reconstruct the original image.</a:t>
            </a:r>
          </a:p>
          <a:p>
            <a:endParaRPr lang="en-US" dirty="0"/>
          </a:p>
          <a:p>
            <a:r>
              <a:rPr lang="en-US" dirty="0"/>
              <a:t>The diagram here shows this step by step. Each projection corresponds to one line in Fourier space. Change the angle, and you get another line, and then another. As we add up all these lines at different angles, the Fourier space is gradually filled. Finally, applying the inverse Fourier transform brings us back to a reconstructed image in real space.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8</a:t>
            </a:fld>
            <a:endParaRPr lang="en-US"/>
          </a:p>
        </p:txBody>
      </p:sp>
    </p:spTree>
    <p:extLst>
      <p:ext uri="{BB962C8B-B14F-4D97-AF65-F5344CB8AC3E}">
        <p14:creationId xmlns:p14="http://schemas.microsoft.com/office/powerpoint/2010/main" val="1966618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The next key idea is </a:t>
            </a:r>
            <a:r>
              <a:rPr lang="en-US" b="1" dirty="0"/>
              <a:t>back-projection</a:t>
            </a:r>
            <a:r>
              <a:rPr lang="en-US" dirty="0"/>
              <a:t>, which is the standard method for reconstructing CT slices.</a:t>
            </a:r>
          </a:p>
          <a:p>
            <a:endParaRPr lang="en-US" dirty="0"/>
          </a:p>
          <a:p>
            <a:r>
              <a:rPr lang="en-US" dirty="0"/>
              <a:t>Here’s how it works: we start with the sinogram, which contains all the projection data. For each projection, we take its information and “back-project” it—that means we spread that projection back across the image space at the angle where it was acquired.</a:t>
            </a:r>
          </a:p>
          <a:p>
            <a:r>
              <a:rPr lang="en-US" dirty="0"/>
              <a:t>Let’s look at this cartoon example. Imagine we have a large oval, and inside it are two smaller red ovals. If we take a projection from the top down, the sinogram shows two bright spots that correspond to those red ovals. When we back-project this data, we get a blurry reconstruction along that one angle.</a:t>
            </a:r>
          </a:p>
          <a:p>
            <a:endParaRPr lang="en-US" dirty="0"/>
          </a:p>
          <a:p>
            <a:r>
              <a:rPr lang="en-US" dirty="0"/>
              <a:t>Now, let’s do the same from a side view. Again, the sinogram shows two high-amplitude areas, and when we back-project that projection, we get another blurry reconstruction, but this time along the side angle.</a:t>
            </a:r>
          </a:p>
          <a:p>
            <a:endParaRPr lang="en-US" dirty="0"/>
          </a:p>
          <a:p>
            <a:r>
              <a:rPr lang="en-US" dirty="0"/>
              <a:t>At this point, we have two back-projections. When we combine them, the overlap starts to suggest the locations of the two smaller ovals inside the larger one. Of course, with only two projections, the result is quite rough—in this case, it looks more like two squares.</a:t>
            </a:r>
          </a:p>
          <a:p>
            <a:r>
              <a:rPr lang="en-US" dirty="0"/>
              <a:t>But as we add more and more projections from many different angles, the combined back-projections gradually approximate the true shapes. With enough views, the reconstruction recovers the original sample very accurately.</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9</a:t>
            </a:fld>
            <a:endParaRPr lang="en-US"/>
          </a:p>
        </p:txBody>
      </p:sp>
    </p:spTree>
    <p:extLst>
      <p:ext uri="{BB962C8B-B14F-4D97-AF65-F5344CB8AC3E}">
        <p14:creationId xmlns:p14="http://schemas.microsoft.com/office/powerpoint/2010/main" val="1702838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move from simple back-projection to </a:t>
            </a:r>
            <a:r>
              <a:rPr lang="en-US" b="1" dirty="0"/>
              <a:t>filtered back-projection</a:t>
            </a:r>
            <a:r>
              <a:rPr lang="en-US" dirty="0"/>
              <a:t>, or FBP.</a:t>
            </a:r>
          </a:p>
          <a:p>
            <a:endParaRPr lang="en-US" dirty="0"/>
          </a:p>
          <a:p>
            <a:r>
              <a:rPr lang="en-US" dirty="0"/>
              <a:t>As we saw in the last example, back-projection is the standard way of reconstructing CT slices. We take the sinogram, back-project each view, and combine them. But here’s the problem: if we simply use unfiltered back-projection, the resulting image often looks blurry. That’s because the projections overlap in a way that smears out the details.</a:t>
            </a:r>
          </a:p>
          <a:p>
            <a:r>
              <a:rPr lang="en-US" dirty="0"/>
              <a:t>To fix this, we apply a </a:t>
            </a:r>
            <a:r>
              <a:rPr lang="en-US" b="1" dirty="0"/>
              <a:t>filter in the sinogram space before back-projecting</a:t>
            </a:r>
            <a:r>
              <a:rPr lang="en-US" dirty="0"/>
              <a:t>. Filtering helps sharpen the edges and preserve the fine details that would otherwise be lost.</a:t>
            </a:r>
          </a:p>
          <a:p>
            <a:endParaRPr lang="en-US" dirty="0"/>
          </a:p>
          <a:p>
            <a:r>
              <a:rPr lang="en-US" dirty="0"/>
              <a:t>Look at the images here. In the top row, we have a sinogram and its back-projected image. Notice how the back-projection produces just a fuzzy, grayish blob with poorly defined boundaries.</a:t>
            </a:r>
          </a:p>
          <a:p>
            <a:endParaRPr lang="en-US" dirty="0"/>
          </a:p>
          <a:p>
            <a:r>
              <a:rPr lang="en-US" dirty="0"/>
              <a:t>Now, in the bottom row, the sinogram has first been filtered. After reconstruction, the image is much clearer—you can actually see the circular structure with sharp edges, and even a smaller circle inside it, which could represent something like a tumor.</a:t>
            </a:r>
          </a:p>
          <a:p>
            <a:r>
              <a:rPr lang="en-US" dirty="0"/>
              <a:t>On the right side, you see examples of different filters that can be applied, such as the </a:t>
            </a:r>
            <a:r>
              <a:rPr lang="en-US" b="1" dirty="0"/>
              <a:t>Ram-Lak filter</a:t>
            </a:r>
            <a:r>
              <a:rPr lang="en-US" dirty="0"/>
              <a:t>, the </a:t>
            </a:r>
            <a:r>
              <a:rPr lang="en-US" b="1" dirty="0"/>
              <a:t>Shepp-Logan filter</a:t>
            </a:r>
            <a:r>
              <a:rPr lang="en-US" dirty="0"/>
              <a:t>, and the </a:t>
            </a:r>
            <a:r>
              <a:rPr lang="en-US" b="1" dirty="0"/>
              <a:t>Hamming filter</a:t>
            </a:r>
            <a:r>
              <a:rPr lang="en-US" dirty="0"/>
              <a:t>. Each of these adjusts the frequency content of the sinogram differently, but they all serve the same purpose: to enhance contrast and reduce blurring in the final reconstructed image.</a:t>
            </a:r>
          </a:p>
          <a:p>
            <a:endParaRPr lang="en-US" dirty="0"/>
          </a:p>
          <a:p>
            <a:r>
              <a:rPr lang="en-US" dirty="0"/>
              <a:t>So in summary, filtered back-projection is one of the most widely used methods in CT, because it gives us images that are both accurate and sharp enough for clinical use.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10</a:t>
            </a:fld>
            <a:endParaRPr lang="en-US"/>
          </a:p>
        </p:txBody>
      </p:sp>
    </p:spTree>
    <p:extLst>
      <p:ext uri="{BB962C8B-B14F-4D97-AF65-F5344CB8AC3E}">
        <p14:creationId xmlns:p14="http://schemas.microsoft.com/office/powerpoint/2010/main" val="3349568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Here’s something pretty cool to look at—this is </a:t>
            </a:r>
            <a:r>
              <a:rPr lang="en-US" b="1" dirty="0"/>
              <a:t>filtered back-projection in progress</a:t>
            </a:r>
            <a:r>
              <a:rPr lang="en-US" dirty="0"/>
              <a:t>.</a:t>
            </a:r>
          </a:p>
          <a:p>
            <a:r>
              <a:rPr lang="en-US" dirty="0"/>
              <a:t>What you’re seeing here starts with the original sinogram. Then, as the algorithm processes each view, the back-projections are gradually added together. Step by step, the image begins to take shape.</a:t>
            </a:r>
          </a:p>
          <a:p>
            <a:endParaRPr lang="en-US" dirty="0"/>
          </a:p>
          <a:p>
            <a:r>
              <a:rPr lang="en-US" dirty="0"/>
              <a:t>It’s almost like watching the reconstruction unfold in real time. As more and more views are included, the overlapping lines come together, and the original phantom—or the sample image we started with—slowly reappears.</a:t>
            </a:r>
          </a:p>
          <a:p>
            <a:r>
              <a:rPr lang="en-US" dirty="0"/>
              <a:t>This gives you a visual sense of how CT actually builds up an image: not from a single snapshot, but from many projections combined through filtered back-projection.</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11</a:t>
            </a:fld>
            <a:endParaRPr lang="en-US"/>
          </a:p>
        </p:txBody>
      </p:sp>
    </p:spTree>
    <p:extLst>
      <p:ext uri="{BB962C8B-B14F-4D97-AF65-F5344CB8AC3E}">
        <p14:creationId xmlns:p14="http://schemas.microsoft.com/office/powerpoint/2010/main" val="2613604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how do we use MATLAB to demonstrate these CT principles?</a:t>
            </a:r>
            <a:br>
              <a:rPr lang="en-US" dirty="0"/>
            </a:br>
            <a:r>
              <a:rPr lang="en-US" dirty="0"/>
              <a:t>MATLAB gives us two distinct simulation paths: </a:t>
            </a:r>
            <a:r>
              <a:rPr lang="en-US" b="1" dirty="0"/>
              <a:t>parallel-beam CT</a:t>
            </a:r>
            <a:r>
              <a:rPr lang="en-US" dirty="0"/>
              <a:t> and </a:t>
            </a:r>
            <a:r>
              <a:rPr lang="en-US" b="1" dirty="0"/>
              <a:t>fan-beam CT</a:t>
            </a:r>
            <a:r>
              <a:rPr lang="en-US" dirty="0"/>
              <a:t>. We’ll explore both, step by step.</a:t>
            </a:r>
          </a:p>
          <a:p>
            <a:endParaRPr lang="en-US" dirty="0"/>
          </a:p>
          <a:p>
            <a:r>
              <a:rPr lang="en-US" dirty="0"/>
              <a:t>For our demonstrations, we’ll work with three simple </a:t>
            </a:r>
            <a:r>
              <a:rPr lang="en-US" b="1" dirty="0"/>
              <a:t>phantoms</a:t>
            </a:r>
            <a:r>
              <a:rPr lang="en-US" dirty="0"/>
              <a:t>—that is, test images used to evaluate reconstruction methods:</a:t>
            </a:r>
          </a:p>
          <a:p>
            <a:r>
              <a:rPr lang="en-US" b="1" dirty="0"/>
              <a:t>Square-in-square phantom:</a:t>
            </a:r>
            <a:r>
              <a:rPr lang="en-US" dirty="0"/>
              <a:t> a small bright square centered inside a larger dark square.</a:t>
            </a:r>
          </a:p>
          <a:p>
            <a:r>
              <a:rPr lang="en-US" b="1" dirty="0"/>
              <a:t>Circle phantom with a nodule:</a:t>
            </a:r>
            <a:r>
              <a:rPr lang="en-US" dirty="0"/>
              <a:t> a large gray circle with a small bright circle near the edge—think of that dot as a mock “tumor.”</a:t>
            </a:r>
          </a:p>
          <a:p>
            <a:r>
              <a:rPr lang="en-US" b="1" dirty="0"/>
              <a:t>Shepp–Logan phantom:</a:t>
            </a:r>
            <a:r>
              <a:rPr lang="en-US" dirty="0"/>
              <a:t> a standard test object that comes with MATLAB. It’s widely used in our field, so researchers can compare results fairly—if two groups reconstruct the same Shepp–Logan phantom, their images are directly comparable.</a:t>
            </a:r>
          </a:p>
          <a:p>
            <a:endParaRPr lang="en-US" dirty="0"/>
          </a:p>
          <a:p>
            <a:r>
              <a:rPr lang="en-US" dirty="0"/>
              <a:t>We’ll first apply </a:t>
            </a:r>
            <a:r>
              <a:rPr lang="en-US" b="1" dirty="0"/>
              <a:t>parallel-beam</a:t>
            </a:r>
            <a:r>
              <a:rPr lang="en-US" dirty="0"/>
              <a:t> tools and then switch to </a:t>
            </a:r>
            <a:r>
              <a:rPr lang="en-US" b="1" dirty="0"/>
              <a:t>fan-beam</a:t>
            </a:r>
            <a:r>
              <a:rPr lang="en-US" dirty="0"/>
              <a:t> tools, so you can see how the algorithms behave on the same phantoms.</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12</a:t>
            </a:fld>
            <a:endParaRPr lang="en-US"/>
          </a:p>
        </p:txBody>
      </p:sp>
    </p:spTree>
    <p:extLst>
      <p:ext uri="{BB962C8B-B14F-4D97-AF65-F5344CB8AC3E}">
        <p14:creationId xmlns:p14="http://schemas.microsoft.com/office/powerpoint/2010/main" val="3968255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Let’s begin with </a:t>
            </a:r>
            <a:r>
              <a:rPr lang="en-US" b="1" dirty="0"/>
              <a:t>parallel-beam CT</a:t>
            </a:r>
            <a:r>
              <a:rPr lang="en-US" dirty="0"/>
              <a:t>.</a:t>
            </a:r>
          </a:p>
          <a:p>
            <a:endParaRPr lang="en-US" dirty="0"/>
          </a:p>
          <a:p>
            <a:r>
              <a:rPr lang="en-US" dirty="0"/>
              <a:t>In MATLAB, the main tool for simulating this is the </a:t>
            </a:r>
            <a:r>
              <a:rPr lang="en-US" b="1" dirty="0"/>
              <a:t>Radon transform function</a:t>
            </a:r>
            <a:r>
              <a:rPr lang="en-US" dirty="0"/>
              <a:t>, simply called </a:t>
            </a:r>
            <a:r>
              <a:rPr lang="en-US" sz="1200" kern="1200" dirty="0">
                <a:solidFill>
                  <a:schemeClr val="tx1"/>
                </a:solidFill>
                <a:latin typeface="+mn-lt"/>
                <a:ea typeface="+mn-ea"/>
                <a:cs typeface="+mn-cs"/>
              </a:rPr>
              <a:t>radon</a:t>
            </a:r>
            <a:r>
              <a:rPr lang="en-US" dirty="0"/>
              <a:t>. This function takes an image—our phantom—and generates its parallel-beam projections at different rotation angles.</a:t>
            </a:r>
          </a:p>
          <a:p>
            <a:endParaRPr lang="en-US" dirty="0"/>
          </a:p>
          <a:p>
            <a:r>
              <a:rPr lang="en-US" dirty="0"/>
              <a:t>In a parallel-beam setup, the X-ray beams are arranged so that they travel in perfectly parallel lines as they pass through the object and reach the detector. Each projection corresponds to summing the values of the image pixels along those parallel paths.</a:t>
            </a:r>
          </a:p>
          <a:p>
            <a:endParaRPr lang="en-US" dirty="0"/>
          </a:p>
          <a:p>
            <a:r>
              <a:rPr lang="en-US" dirty="0"/>
              <a:t>So when you hear me say “parallel-beam CT,” think of it as collecting straight, evenly spaced rays, rotating around the object, and storing all of that information in a sinogram. MATLAB’s </a:t>
            </a:r>
            <a:r>
              <a:rPr lang="en-US" sz="1200" kern="1200" dirty="0">
                <a:solidFill>
                  <a:schemeClr val="tx1"/>
                </a:solidFill>
                <a:latin typeface="+mn-lt"/>
                <a:ea typeface="+mn-ea"/>
                <a:cs typeface="+mn-cs"/>
              </a:rPr>
              <a:t>radon</a:t>
            </a:r>
            <a:r>
              <a:rPr lang="en-US" dirty="0"/>
              <a:t> function gives us exactly that.</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13</a:t>
            </a:fld>
            <a:endParaRPr lang="en-US"/>
          </a:p>
        </p:txBody>
      </p:sp>
    </p:spTree>
    <p:extLst>
      <p:ext uri="{BB962C8B-B14F-4D97-AF65-F5344CB8AC3E}">
        <p14:creationId xmlns:p14="http://schemas.microsoft.com/office/powerpoint/2010/main" val="1672951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go deeper into how MATLAB’s </a:t>
            </a:r>
            <a:r>
              <a:rPr lang="en-US" sz="1200" b="1" kern="1200" dirty="0">
                <a:solidFill>
                  <a:schemeClr val="tx1"/>
                </a:solidFill>
                <a:latin typeface="+mn-lt"/>
                <a:ea typeface="+mn-ea"/>
                <a:cs typeface="+mn-cs"/>
              </a:rPr>
              <a:t>radon</a:t>
            </a:r>
            <a:r>
              <a:rPr lang="en-US" dirty="0"/>
              <a:t> function works for parallel-beam CT.</a:t>
            </a:r>
          </a:p>
          <a:p>
            <a:endParaRPr lang="en-US" dirty="0"/>
          </a:p>
          <a:p>
            <a:r>
              <a:rPr lang="en-US" dirty="0"/>
              <a:t>Think of the simulated beams as rays spaced one pixel apart. These beams are projected from the source, travel in straight parallel lines, pass through the object, and arrive at the detector on the other side.</a:t>
            </a:r>
          </a:p>
          <a:p>
            <a:r>
              <a:rPr lang="en-US" dirty="0"/>
              <a:t>In practice, both the beams and the detector array rotate together around the center of the image. The amount of rotation is controlled by the angle </a:t>
            </a:r>
            <a:r>
              <a:rPr lang="en-US" b="1" dirty="0"/>
              <a:t>theta</a:t>
            </a:r>
            <a:r>
              <a:rPr lang="en-US" dirty="0"/>
              <a:t>, which we provide as an input to the function. So by sweeping through many angles, we gather projections from all around the object.</a:t>
            </a:r>
          </a:p>
          <a:p>
            <a:endParaRPr lang="en-US" dirty="0"/>
          </a:p>
          <a:p>
            <a:r>
              <a:rPr lang="en-US" dirty="0"/>
              <a:t>The MATLAB function looks like this:</a:t>
            </a:r>
            <a:br>
              <a:rPr lang="en-US" dirty="0"/>
            </a:br>
            <a:r>
              <a:rPr lang="en-US" sz="1200" b="1" kern="1200" dirty="0">
                <a:solidFill>
                  <a:schemeClr val="tx1"/>
                </a:solidFill>
                <a:latin typeface="+mn-lt"/>
                <a:ea typeface="+mn-ea"/>
                <a:cs typeface="+mn-cs"/>
              </a:rPr>
              <a:t>R, x p equals radon I, theta;</a:t>
            </a:r>
            <a:endParaRPr lang="en-US" dirty="0"/>
          </a:p>
          <a:p>
            <a:r>
              <a:rPr lang="en-US" dirty="0"/>
              <a:t>Here’s what each part means:</a:t>
            </a:r>
          </a:p>
          <a:p>
            <a:r>
              <a:rPr lang="en-US" b="1" dirty="0"/>
              <a:t>R</a:t>
            </a:r>
            <a:r>
              <a:rPr lang="en-US" dirty="0"/>
              <a:t> is the result—it contains the projection values, essentially the amplitudes of the rays.</a:t>
            </a:r>
          </a:p>
          <a:p>
            <a:r>
              <a:rPr lang="en-US" b="1" dirty="0"/>
              <a:t>X p</a:t>
            </a:r>
            <a:r>
              <a:rPr lang="en-US" dirty="0"/>
              <a:t> gives the detector positions, if you need to keep track of them.</a:t>
            </a:r>
          </a:p>
          <a:p>
            <a:r>
              <a:rPr lang="en-US" b="1" dirty="0"/>
              <a:t>I</a:t>
            </a:r>
            <a:r>
              <a:rPr lang="en-US" dirty="0"/>
              <a:t> is simply your input image, or phantom.</a:t>
            </a:r>
          </a:p>
          <a:p>
            <a:r>
              <a:rPr lang="en-US" b="1" dirty="0"/>
              <a:t>theta</a:t>
            </a:r>
            <a:r>
              <a:rPr lang="en-US" dirty="0"/>
              <a:t> is the set of rotation angles you want to use.</a:t>
            </a:r>
          </a:p>
          <a:p>
            <a:endParaRPr lang="en-US" dirty="0"/>
          </a:p>
          <a:p>
            <a:r>
              <a:rPr lang="en-US" dirty="0"/>
              <a:t>So, in one line of code, MATLAB takes your image and simulates what the parallel-beam projections would look like at the specified angles.</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14</a:t>
            </a:fld>
            <a:endParaRPr lang="en-US"/>
          </a:p>
        </p:txBody>
      </p:sp>
    </p:spTree>
    <p:extLst>
      <p:ext uri="{BB962C8B-B14F-4D97-AF65-F5344CB8AC3E}">
        <p14:creationId xmlns:p14="http://schemas.microsoft.com/office/powerpoint/2010/main" val="500545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Let’s look at our first MATLAB example for </a:t>
            </a:r>
            <a:r>
              <a:rPr lang="en-US" b="1" dirty="0"/>
              <a:t>parallel-beam CT</a:t>
            </a:r>
            <a:r>
              <a:rPr lang="en-US" dirty="0"/>
              <a:t>.</a:t>
            </a:r>
          </a:p>
          <a:p>
            <a:endParaRPr lang="en-US" dirty="0"/>
          </a:p>
          <a:p>
            <a:r>
              <a:rPr lang="en-US" dirty="0"/>
              <a:t>If you’ve downloaded the materials, the code is called </a:t>
            </a:r>
            <a:r>
              <a:rPr lang="en-US" b="1" dirty="0"/>
              <a:t>E x 1 parallel dot m</a:t>
            </a:r>
            <a:r>
              <a:rPr lang="en-US" dirty="0"/>
              <a:t>. You can try running it now or later on your own. Inside the script, at </a:t>
            </a:r>
            <a:r>
              <a:rPr lang="en-US" b="1" dirty="0"/>
              <a:t>line 5</a:t>
            </a:r>
            <a:r>
              <a:rPr lang="en-US" dirty="0"/>
              <a:t>, there’s a variable called </a:t>
            </a:r>
            <a:r>
              <a:rPr lang="en-US" i="1" dirty="0"/>
              <a:t>p type</a:t>
            </a:r>
            <a:r>
              <a:rPr lang="en-US" dirty="0"/>
              <a:t>. By changing </a:t>
            </a:r>
            <a:r>
              <a:rPr lang="en-US" i="1" dirty="0"/>
              <a:t>the p-type</a:t>
            </a:r>
            <a:r>
              <a:rPr lang="en-US" dirty="0"/>
              <a:t> to 1, 2, or 3, you can switch between the three phantoms: the square, the circle with a small circle inside, or the Shepp–Logan phantom.</a:t>
            </a:r>
          </a:p>
          <a:p>
            <a:endParaRPr lang="en-US" dirty="0"/>
          </a:p>
          <a:p>
            <a:r>
              <a:rPr lang="en-US" dirty="0"/>
              <a:t>Here’s what happens when you run the code. On the left, you see the </a:t>
            </a:r>
            <a:r>
              <a:rPr lang="en-US" b="1" dirty="0"/>
              <a:t>image domain</a:t>
            </a:r>
            <a:r>
              <a:rPr lang="en-US" dirty="0"/>
              <a:t>, in this case, just a simple white square. As the red arrow rotates, it represents the projection angle, which we call </a:t>
            </a:r>
            <a:r>
              <a:rPr lang="en-US" b="1" dirty="0"/>
              <a:t>theta</a:t>
            </a:r>
            <a:r>
              <a:rPr lang="en-US" dirty="0"/>
              <a:t>. Each angle contributes new data to the sinogram.</a:t>
            </a:r>
          </a:p>
          <a:p>
            <a:r>
              <a:rPr lang="en-US" dirty="0"/>
              <a:t>On the right, you see the </a:t>
            </a:r>
            <a:r>
              <a:rPr lang="en-US" b="1" dirty="0"/>
              <a:t>sinogram domain</a:t>
            </a:r>
            <a:r>
              <a:rPr lang="en-US" dirty="0"/>
              <a:t>. Notice how information is gradually added as theta changes. For the square, the sinogram has a symmetric, crisscrossing pattern.</a:t>
            </a:r>
          </a:p>
          <a:p>
            <a:endParaRPr lang="en-US" dirty="0"/>
          </a:p>
          <a:p>
            <a:r>
              <a:rPr lang="en-US" dirty="0"/>
              <a:t>If you switch to the second phantom—the large circle with a small white dot—the sinogram looks different. The small dot produces a </a:t>
            </a:r>
            <a:r>
              <a:rPr lang="en-US" b="1" dirty="0"/>
              <a:t>wavy curve</a:t>
            </a:r>
            <a:r>
              <a:rPr lang="en-US" dirty="0"/>
              <a:t> in the sinogram because the detector gets closer to and farther from the dot as it rotates.</a:t>
            </a:r>
          </a:p>
          <a:p>
            <a:endParaRPr lang="en-US" dirty="0"/>
          </a:p>
          <a:p>
            <a:r>
              <a:rPr lang="en-US" dirty="0"/>
              <a:t>Finally, with the Shepp–Logan phantom, the sinogram becomes much more complex. There are many structures inside that phantom, and each one leaves its signature on the sinogram. This complexity is much closer to what you would see in a real CT scan of the human brain, where multiple tissues and structures contribute overlapping patterns.</a:t>
            </a:r>
          </a:p>
          <a:p>
            <a:endParaRPr lang="en-US" dirty="0"/>
          </a:p>
          <a:p>
            <a:r>
              <a:rPr lang="en-US" dirty="0"/>
              <a:t>So the sinogram is really just another way of saying: here’s how the object looks from every possible angle.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15</a:t>
            </a:fld>
            <a:endParaRPr lang="en-US"/>
          </a:p>
        </p:txBody>
      </p:sp>
    </p:spTree>
    <p:extLst>
      <p:ext uri="{BB962C8B-B14F-4D97-AF65-F5344CB8AC3E}">
        <p14:creationId xmlns:p14="http://schemas.microsoft.com/office/powerpoint/2010/main" val="4207650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try a simple experiment with the code.</a:t>
            </a:r>
          </a:p>
          <a:p>
            <a:endParaRPr lang="en-US" dirty="0"/>
          </a:p>
          <a:p>
            <a:r>
              <a:rPr lang="en-US" dirty="0"/>
              <a:t>In the script, there’s a parameter called the </a:t>
            </a:r>
            <a:r>
              <a:rPr lang="en-US" b="1" dirty="0"/>
              <a:t>theta step</a:t>
            </a:r>
            <a:r>
              <a:rPr lang="en-US" dirty="0"/>
              <a:t>. This sets how finely we sample the rotation angles. For example, if the step is 1, MATLAB computes projections at 0, 1, 2, 3 degrees, and so on, all the way to 180. But if we change the step to 5, then MATLAB only samples at 0, 5, 10, 15 degrees, and so on.</a:t>
            </a:r>
          </a:p>
          <a:p>
            <a:endParaRPr lang="en-US" dirty="0"/>
          </a:p>
          <a:p>
            <a:r>
              <a:rPr lang="en-US" dirty="0"/>
              <a:t>Here’s what happens when we make that change. The sinogram becomes much coarser. You can see it here for the square phantom: instead of smooth, continuous curves, the sinogram looks blocky, because we’ve skipped over many intermediate angles.</a:t>
            </a:r>
          </a:p>
          <a:p>
            <a:r>
              <a:rPr lang="en-US" dirty="0"/>
              <a:t>What does this mean for reconstruction? It means lower resolution. If we try to reconstruct an image from this sinogram, the result will appear streaky or blocky, because we don’t have enough angular information to fill in the details.</a:t>
            </a:r>
          </a:p>
          <a:p>
            <a:endParaRPr lang="en-US" dirty="0"/>
          </a:p>
          <a:p>
            <a:r>
              <a:rPr lang="en-US" dirty="0"/>
              <a:t>So the takeaway is: to get a high-resolution reconstruction, we want a </a:t>
            </a:r>
            <a:r>
              <a:rPr lang="en-US" b="1" dirty="0"/>
              <a:t>small theta step</a:t>
            </a:r>
            <a:r>
              <a:rPr lang="en-US" dirty="0"/>
              <a:t>, which gives us many angular views. Fewer angles make the computation faster, but the image quality suffers.</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16</a:t>
            </a:fld>
            <a:endParaRPr lang="en-US"/>
          </a:p>
        </p:txBody>
      </p:sp>
    </p:spTree>
    <p:extLst>
      <p:ext uri="{BB962C8B-B14F-4D97-AF65-F5344CB8AC3E}">
        <p14:creationId xmlns:p14="http://schemas.microsoft.com/office/powerpoint/2010/main" val="1883469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see what happens if we change the </a:t>
            </a:r>
            <a:r>
              <a:rPr lang="en-US" b="1" dirty="0"/>
              <a:t>maximum theta value</a:t>
            </a:r>
            <a:r>
              <a:rPr lang="en-US" dirty="0"/>
              <a:t>.</a:t>
            </a:r>
          </a:p>
          <a:p>
            <a:endParaRPr lang="en-US" dirty="0"/>
          </a:p>
          <a:p>
            <a:r>
              <a:rPr lang="en-US" dirty="0"/>
              <a:t>Previously, we collected projections from 0 all the way up to 180 degrees. But what if we stop early—say, at just 45 degrees?</a:t>
            </a:r>
          </a:p>
          <a:p>
            <a:r>
              <a:rPr lang="en-US" dirty="0"/>
              <a:t>When we do that, the sinogram is essentially </a:t>
            </a:r>
            <a:r>
              <a:rPr lang="en-US" b="1" dirty="0"/>
              <a:t>truncated</a:t>
            </a:r>
            <a:r>
              <a:rPr lang="en-US" dirty="0"/>
              <a:t>. Instead of showing information from a full half-circle of projections, it only covers a small portion of the angles. In other words, we’ve only scanned part of the sample.</a:t>
            </a:r>
          </a:p>
          <a:p>
            <a:endParaRPr lang="en-US" dirty="0"/>
          </a:p>
          <a:p>
            <a:r>
              <a:rPr lang="en-US" dirty="0"/>
              <a:t>What does that mean for reconstruction? If we only gather projections from 0 to 45 degrees, then when we try to reconstruct the image, we’re missing most of the information. The result will be incomplete and inaccurate, because the algorithm never saw the object from the other directions.</a:t>
            </a:r>
          </a:p>
          <a:p>
            <a:endParaRPr lang="en-US" dirty="0"/>
          </a:p>
          <a:p>
            <a:r>
              <a:rPr lang="en-US" dirty="0"/>
              <a:t>So, limiting the maximum theta is like taking photos of a sculpture but only from one side—you lose the complete picture. To get a full and accurate reconstruction, we need projections across the whole angular range.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17</a:t>
            </a:fld>
            <a:endParaRPr lang="en-US"/>
          </a:p>
        </p:txBody>
      </p:sp>
    </p:spTree>
    <p:extLst>
      <p:ext uri="{BB962C8B-B14F-4D97-AF65-F5344CB8AC3E}">
        <p14:creationId xmlns:p14="http://schemas.microsoft.com/office/powerpoint/2010/main" val="3651259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So far, we’ve seen how to use the forward Radon transform with MATLAB’s </a:t>
            </a:r>
            <a:r>
              <a:rPr lang="en-US" sz="1200" kern="1200" dirty="0">
                <a:solidFill>
                  <a:schemeClr val="tx1"/>
                </a:solidFill>
                <a:latin typeface="+mn-lt"/>
                <a:ea typeface="+mn-ea"/>
                <a:cs typeface="+mn-cs"/>
              </a:rPr>
              <a:t>radon</a:t>
            </a:r>
            <a:r>
              <a:rPr lang="en-US" dirty="0"/>
              <a:t> function. But to actually reconstruct an image, we need the </a:t>
            </a:r>
            <a:r>
              <a:rPr lang="en-US" b="1" dirty="0"/>
              <a:t>inverse Radon transform</a:t>
            </a:r>
            <a:r>
              <a:rPr lang="en-US" dirty="0"/>
              <a:t>, which in MATLAB is implemented as the function </a:t>
            </a:r>
            <a:r>
              <a:rPr lang="en-US" sz="1200" b="1" kern="1200" dirty="0" err="1">
                <a:solidFill>
                  <a:schemeClr val="tx1"/>
                </a:solidFill>
                <a:latin typeface="+mn-lt"/>
                <a:ea typeface="+mn-ea"/>
                <a:cs typeface="+mn-cs"/>
              </a:rPr>
              <a:t>iradon</a:t>
            </a:r>
            <a:r>
              <a:rPr lang="en-US" dirty="0"/>
              <a:t>.</a:t>
            </a:r>
          </a:p>
          <a:p>
            <a:r>
              <a:rPr lang="en-US" dirty="0"/>
              <a:t>This function performs </a:t>
            </a:r>
            <a:r>
              <a:rPr lang="en-US" b="1" dirty="0"/>
              <a:t>back-projection</a:t>
            </a:r>
            <a:r>
              <a:rPr lang="en-US" dirty="0"/>
              <a:t> for parallel-beam sinograms, and it can also carry out </a:t>
            </a:r>
            <a:r>
              <a:rPr lang="en-US" b="1" dirty="0"/>
              <a:t>filtered back-projection</a:t>
            </a:r>
            <a:r>
              <a:rPr lang="en-US" dirty="0"/>
              <a:t> if we choose.</a:t>
            </a:r>
          </a:p>
          <a:p>
            <a:endParaRPr lang="en-US" dirty="0"/>
          </a:p>
          <a:p>
            <a:r>
              <a:rPr lang="en-US" dirty="0"/>
              <a:t>Here’s the format of the function:</a:t>
            </a:r>
            <a:br>
              <a:rPr lang="en-US" dirty="0"/>
            </a:br>
            <a:r>
              <a:rPr lang="en-US" sz="1200" b="1" kern="1200" dirty="0">
                <a:solidFill>
                  <a:schemeClr val="tx1"/>
                </a:solidFill>
                <a:latin typeface="+mn-lt"/>
                <a:ea typeface="+mn-ea"/>
                <a:cs typeface="+mn-cs"/>
              </a:rPr>
              <a:t>I equals I radon R, theta, </a:t>
            </a:r>
            <a:r>
              <a:rPr lang="en-US" sz="1200" b="1" kern="1200" dirty="0" err="1">
                <a:solidFill>
                  <a:schemeClr val="tx1"/>
                </a:solidFill>
                <a:latin typeface="+mn-lt"/>
                <a:ea typeface="+mn-ea"/>
                <a:cs typeface="+mn-cs"/>
              </a:rPr>
              <a:t>interp</a:t>
            </a:r>
            <a:r>
              <a:rPr lang="en-US" sz="1200" b="1" kern="1200" dirty="0">
                <a:solidFill>
                  <a:schemeClr val="tx1"/>
                </a:solidFill>
                <a:latin typeface="+mn-lt"/>
                <a:ea typeface="+mn-ea"/>
                <a:cs typeface="+mn-cs"/>
              </a:rPr>
              <a:t>, filter;</a:t>
            </a:r>
            <a:endParaRPr lang="en-US" dirty="0"/>
          </a:p>
          <a:p>
            <a:r>
              <a:rPr lang="en-US" b="1" dirty="0"/>
              <a:t>I</a:t>
            </a:r>
            <a:r>
              <a:rPr lang="en-US" dirty="0"/>
              <a:t> is the reconstructed image, the output we want.</a:t>
            </a:r>
          </a:p>
          <a:p>
            <a:r>
              <a:rPr lang="en-US" b="1" dirty="0"/>
              <a:t>R</a:t>
            </a:r>
            <a:r>
              <a:rPr lang="en-US" dirty="0"/>
              <a:t> is the sinogram, the input data we’ve collected.</a:t>
            </a:r>
          </a:p>
          <a:p>
            <a:r>
              <a:rPr lang="en-US" b="1" dirty="0"/>
              <a:t>theta</a:t>
            </a:r>
            <a:r>
              <a:rPr lang="en-US" dirty="0"/>
              <a:t> is the set of rotation angles used.</a:t>
            </a:r>
          </a:p>
          <a:p>
            <a:r>
              <a:rPr lang="en-US" b="1" dirty="0" err="1"/>
              <a:t>Interp</a:t>
            </a:r>
            <a:r>
              <a:rPr lang="en-US" dirty="0"/>
              <a:t> is the interpolation method—this tells MATLAB how to fill in values between samples.</a:t>
            </a:r>
          </a:p>
          <a:p>
            <a:r>
              <a:rPr lang="en-US" b="1" dirty="0"/>
              <a:t>The filter</a:t>
            </a:r>
            <a:r>
              <a:rPr lang="en-US" dirty="0"/>
              <a:t> is the filter we want to apply for filtered back-projection.</a:t>
            </a:r>
          </a:p>
          <a:p>
            <a:endParaRPr lang="en-US" dirty="0"/>
          </a:p>
          <a:p>
            <a:r>
              <a:rPr lang="en-US" dirty="0"/>
              <a:t>The last two arguments, interpolation and filter, are optional. That means you could just write </a:t>
            </a:r>
            <a:r>
              <a:rPr lang="en-US" sz="1200" b="1" kern="1200" dirty="0">
                <a:solidFill>
                  <a:schemeClr val="tx1"/>
                </a:solidFill>
                <a:latin typeface="+mn-lt"/>
                <a:ea typeface="+mn-ea"/>
                <a:cs typeface="+mn-cs"/>
              </a:rPr>
              <a:t>I radon R, theta</a:t>
            </a:r>
            <a:r>
              <a:rPr lang="en-US" dirty="0"/>
              <a:t> to perform simple, unfiltered back-projection. But if you include a filter, such as Ram-Lak or Shepp–Logan, MATLAB will automatically implement filtered back-projection, giving you a sharper and more accurate image.</a:t>
            </a:r>
          </a:p>
          <a:p>
            <a:endParaRPr lang="en-US" dirty="0"/>
          </a:p>
          <a:p>
            <a:r>
              <a:rPr lang="en-US" dirty="0"/>
              <a:t>So, in short, </a:t>
            </a:r>
            <a:r>
              <a:rPr lang="en-US" sz="1200" kern="1200" dirty="0">
                <a:solidFill>
                  <a:schemeClr val="tx1"/>
                </a:solidFill>
                <a:latin typeface="+mn-lt"/>
                <a:ea typeface="+mn-ea"/>
                <a:cs typeface="+mn-cs"/>
              </a:rPr>
              <a:t>radon</a:t>
            </a:r>
            <a:r>
              <a:rPr lang="en-US" dirty="0"/>
              <a:t> simulates the projections, while </a:t>
            </a:r>
            <a:r>
              <a:rPr lang="en-US" sz="1200" kern="1200" dirty="0" err="1">
                <a:solidFill>
                  <a:schemeClr val="tx1"/>
                </a:solidFill>
                <a:latin typeface="+mn-lt"/>
                <a:ea typeface="+mn-ea"/>
                <a:cs typeface="+mn-cs"/>
              </a:rPr>
              <a:t>iradon</a:t>
            </a:r>
            <a:r>
              <a:rPr lang="en-US" dirty="0"/>
              <a:t> reconstructs the image from those projections. Together, they form the foundation of CT simulation in MATLAB.</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18</a:t>
            </a:fld>
            <a:endParaRPr lang="en-US"/>
          </a:p>
        </p:txBody>
      </p:sp>
    </p:spTree>
    <p:extLst>
      <p:ext uri="{BB962C8B-B14F-4D97-AF65-F5344CB8AC3E}">
        <p14:creationId xmlns:p14="http://schemas.microsoft.com/office/powerpoint/2010/main" val="772292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Let’s walk through </a:t>
            </a:r>
            <a:r>
              <a:rPr lang="en-US" b="1" dirty="0"/>
              <a:t>Example 2: Parallel-beam back-projection</a:t>
            </a:r>
            <a:r>
              <a:rPr lang="en-US" dirty="0"/>
              <a:t>.</a:t>
            </a:r>
          </a:p>
          <a:p>
            <a:endParaRPr lang="en-US" dirty="0"/>
          </a:p>
          <a:p>
            <a:r>
              <a:rPr lang="en-US" dirty="0"/>
              <a:t>The code for this is called </a:t>
            </a:r>
            <a:r>
              <a:rPr lang="en-US" b="1" dirty="0"/>
              <a:t>E x 2 parallel back dot m</a:t>
            </a:r>
            <a:r>
              <a:rPr lang="en-US" dirty="0"/>
              <a:t>. Inside the script, </a:t>
            </a:r>
            <a:r>
              <a:rPr lang="en-US" b="1" dirty="0"/>
              <a:t>line 32</a:t>
            </a:r>
            <a:r>
              <a:rPr lang="en-US" dirty="0"/>
              <a:t> runs a normal back-projection with no filter, and </a:t>
            </a:r>
            <a:r>
              <a:rPr lang="en-US" b="1" dirty="0"/>
              <a:t>line 35</a:t>
            </a:r>
            <a:r>
              <a:rPr lang="en-US" dirty="0"/>
              <a:t> applies a filtered back-projection.</a:t>
            </a:r>
          </a:p>
          <a:p>
            <a:endParaRPr lang="en-US" dirty="0"/>
          </a:p>
          <a:p>
            <a:r>
              <a:rPr lang="en-US" dirty="0"/>
              <a:t>In this case, I’ve included the </a:t>
            </a:r>
            <a:r>
              <a:rPr lang="en-US" b="1" dirty="0"/>
              <a:t>Hamming filter</a:t>
            </a:r>
            <a:r>
              <a:rPr lang="en-US" dirty="0"/>
              <a:t> as an example. But MATLAB also supports other filter types, such as </a:t>
            </a:r>
            <a:r>
              <a:rPr lang="en-US" b="1" dirty="0"/>
              <a:t>Ram-Lak</a:t>
            </a:r>
            <a:r>
              <a:rPr lang="en-US" dirty="0"/>
              <a:t>, </a:t>
            </a:r>
            <a:r>
              <a:rPr lang="en-US" b="1" dirty="0"/>
              <a:t>Shepp–Logan</a:t>
            </a:r>
            <a:r>
              <a:rPr lang="en-US" dirty="0"/>
              <a:t>, </a:t>
            </a:r>
            <a:r>
              <a:rPr lang="en-US" b="1" dirty="0"/>
              <a:t>Cosine</a:t>
            </a:r>
            <a:r>
              <a:rPr lang="en-US" dirty="0"/>
              <a:t>, and </a:t>
            </a:r>
            <a:r>
              <a:rPr lang="en-US" b="1" dirty="0"/>
              <a:t>Hann</a:t>
            </a:r>
            <a:r>
              <a:rPr lang="en-US" dirty="0"/>
              <a:t>. You can even design your own filter and add it as an input if you want to experiment.</a:t>
            </a:r>
          </a:p>
          <a:p>
            <a:r>
              <a:rPr lang="en-US" dirty="0"/>
              <a:t>Now let’s compare the results. On the left, you see the reconstruction of a simple white square using unfiltered back-projection. Notice how the image shows streaks and a kind of “cross” pattern—that’s the artifact caused by overlapping unfiltered projections.</a:t>
            </a:r>
          </a:p>
          <a:p>
            <a:r>
              <a:rPr lang="en-US" dirty="0"/>
              <a:t>On the right, you see the result with filtered back-projection. The square is much cleaner, with sharper edges and less background noise. The filter removes the smearing and helps reveal the actual structure.</a:t>
            </a:r>
          </a:p>
          <a:p>
            <a:endParaRPr lang="en-US" dirty="0"/>
          </a:p>
          <a:p>
            <a:r>
              <a:rPr lang="en-US" dirty="0"/>
              <a:t>If you change the phantom, such as using the Shepp–Logan phantom, you may notice that different filters give slightly different results. Some filters are better for enhancing edges, while others help reduce blurriness or noise. This is why in practice, the choice of filter depends on what details are most important for your application.</a:t>
            </a:r>
          </a:p>
          <a:p>
            <a:endParaRPr lang="en-US" dirty="0"/>
          </a:p>
          <a:p>
            <a:r>
              <a:rPr lang="en-US" dirty="0"/>
              <a:t>So this example shows us the power of filtering—without it, back-projection images can be full of artifacts, but with it, we get reconstructions that are much more useful and accurate.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19</a:t>
            </a:fld>
            <a:endParaRPr lang="en-US"/>
          </a:p>
        </p:txBody>
      </p:sp>
    </p:spTree>
    <p:extLst>
      <p:ext uri="{BB962C8B-B14F-4D97-AF65-F5344CB8AC3E}">
        <p14:creationId xmlns:p14="http://schemas.microsoft.com/office/powerpoint/2010/main" val="160502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take a closer look at how changing the </a:t>
            </a:r>
            <a:r>
              <a:rPr lang="en-US" b="1" dirty="0"/>
              <a:t>maximum theta</a:t>
            </a:r>
            <a:r>
              <a:rPr lang="en-US" dirty="0"/>
              <a:t> or the </a:t>
            </a:r>
            <a:r>
              <a:rPr lang="en-US" b="1" dirty="0"/>
              <a:t>theta step</a:t>
            </a:r>
            <a:r>
              <a:rPr lang="en-US" dirty="0"/>
              <a:t> affects reconstruction.</a:t>
            </a:r>
          </a:p>
          <a:p>
            <a:endParaRPr lang="en-US" dirty="0"/>
          </a:p>
          <a:p>
            <a:r>
              <a:rPr lang="en-US" dirty="0"/>
              <a:t>By default, our code uses a maximum theta of 180 degrees and a step size of 1 degree. But what happens if we adjust those values?</a:t>
            </a:r>
          </a:p>
          <a:p>
            <a:r>
              <a:rPr lang="en-US" dirty="0"/>
              <a:t>On the left, you see the case where </a:t>
            </a:r>
            <a:r>
              <a:rPr lang="en-US" b="1" dirty="0"/>
              <a:t>max theta is 180</a:t>
            </a:r>
            <a:r>
              <a:rPr lang="en-US" dirty="0"/>
              <a:t> and the </a:t>
            </a:r>
            <a:r>
              <a:rPr lang="en-US" b="1" dirty="0"/>
              <a:t>step is 5</a:t>
            </a:r>
            <a:r>
              <a:rPr lang="en-US" dirty="0"/>
              <a:t>. Here, we’re still covering the full range of angles, but we’re sampling them more coarsely. As a result, the back-projected image shows more artifacts—notice the diagonal streaks in the unfiltered image. Filtering helps reduce some of these, but the square edges are still less crisp compared to the default case.</a:t>
            </a:r>
          </a:p>
          <a:p>
            <a:endParaRPr lang="en-US" dirty="0"/>
          </a:p>
          <a:p>
            <a:r>
              <a:rPr lang="en-US" dirty="0"/>
              <a:t>On the right, we have </a:t>
            </a:r>
            <a:r>
              <a:rPr lang="en-US" b="1" dirty="0"/>
              <a:t>max theta reduced to 90 degrees</a:t>
            </a:r>
            <a:r>
              <a:rPr lang="en-US" dirty="0"/>
              <a:t> with a </a:t>
            </a:r>
            <a:r>
              <a:rPr lang="en-US" b="1" dirty="0"/>
              <a:t>step of 1</a:t>
            </a:r>
            <a:r>
              <a:rPr lang="en-US" dirty="0"/>
              <a:t>. Now the issue is different: we’ve cut the angular range in half, so the reconstruction is incomplete. The square looks more rounded at the edges, and you see stronger cross-like artifacts in the background.</a:t>
            </a:r>
          </a:p>
          <a:p>
            <a:endParaRPr lang="en-US" dirty="0"/>
          </a:p>
          <a:p>
            <a:r>
              <a:rPr lang="en-US" dirty="0"/>
              <a:t>So here’s the key takeaway:</a:t>
            </a:r>
          </a:p>
          <a:p>
            <a:r>
              <a:rPr lang="en-US" dirty="0"/>
              <a:t>Increasing the </a:t>
            </a:r>
            <a:r>
              <a:rPr lang="en-US" b="1" dirty="0"/>
              <a:t>step size</a:t>
            </a:r>
            <a:r>
              <a:rPr lang="en-US" dirty="0"/>
              <a:t> (fewer sampled angles) makes the reconstructions less defined.</a:t>
            </a:r>
          </a:p>
          <a:p>
            <a:r>
              <a:rPr lang="en-US" dirty="0"/>
              <a:t>Reducing the </a:t>
            </a:r>
            <a:r>
              <a:rPr lang="en-US" b="1" dirty="0"/>
              <a:t>maximum angle</a:t>
            </a:r>
            <a:r>
              <a:rPr lang="en-US" dirty="0"/>
              <a:t> (smaller angular coverage) lowers resolution and produces incomplete images.</a:t>
            </a:r>
          </a:p>
          <a:p>
            <a:r>
              <a:rPr lang="en-US" dirty="0"/>
              <a:t>In real CT scanning, both of these parameters matter. More angles mean better images but also more computation and radiation dose. Fewer angles save time and dose but reduce quality.</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20</a:t>
            </a:fld>
            <a:endParaRPr lang="en-US"/>
          </a:p>
        </p:txBody>
      </p:sp>
    </p:spTree>
    <p:extLst>
      <p:ext uri="{BB962C8B-B14F-4D97-AF65-F5344CB8AC3E}">
        <p14:creationId xmlns:p14="http://schemas.microsoft.com/office/powerpoint/2010/main" val="252615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turn to the second type of CT geometry that MATLAB can simulate, which is </a:t>
            </a:r>
            <a:r>
              <a:rPr lang="en-US" b="1" dirty="0"/>
              <a:t>fan-beam CT</a:t>
            </a:r>
            <a:r>
              <a:rPr lang="en-US" dirty="0"/>
              <a:t>.</a:t>
            </a:r>
          </a:p>
          <a:p>
            <a:endParaRPr lang="en-US" dirty="0"/>
          </a:p>
          <a:p>
            <a:r>
              <a:rPr lang="en-US" dirty="0"/>
              <a:t>Unlike parallel-beam CT, where all the X-ray beams are perfectly parallel, in fan-beam CT, the rays spread out from a single source point, forming a fan shape as they pass through the object. This setup is much closer to how real CT scanners work today, because the source rotates around the patient while the rays diverge outward.</a:t>
            </a:r>
          </a:p>
          <a:p>
            <a:endParaRPr lang="en-US" dirty="0"/>
          </a:p>
          <a:p>
            <a:r>
              <a:rPr lang="en-US" dirty="0"/>
              <a:t>As I mentioned in class, fan-beam geometry introduces some additional considerations compared to the parallel-beam case, but it also gives us more realistic simulations. MATLAB provides dedicated functions to handle fan-beam CT, which we’ll look at in the next slides.</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21</a:t>
            </a:fld>
            <a:endParaRPr lang="en-US"/>
          </a:p>
        </p:txBody>
      </p:sp>
    </p:spTree>
    <p:extLst>
      <p:ext uri="{BB962C8B-B14F-4D97-AF65-F5344CB8AC3E}">
        <p14:creationId xmlns:p14="http://schemas.microsoft.com/office/powerpoint/2010/main" val="3704667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look at MATLAB’s </a:t>
            </a:r>
            <a:r>
              <a:rPr lang="en-US" b="1" dirty="0" err="1"/>
              <a:t>fanbeam</a:t>
            </a:r>
            <a:r>
              <a:rPr lang="en-US" dirty="0"/>
              <a:t> function.</a:t>
            </a:r>
          </a:p>
          <a:p>
            <a:endParaRPr lang="en-US" dirty="0"/>
          </a:p>
          <a:p>
            <a:r>
              <a:rPr lang="en-US" dirty="0"/>
              <a:t>In this geometry, the X-rays don’t travel in parallel lines like before. Instead, they spread out in a </a:t>
            </a:r>
            <a:r>
              <a:rPr lang="en-US" b="1" dirty="0"/>
              <a:t>fan shape</a:t>
            </a:r>
            <a:r>
              <a:rPr lang="en-US" dirty="0"/>
              <a:t> from a single point called the </a:t>
            </a:r>
            <a:r>
              <a:rPr lang="en-US" b="1" dirty="0"/>
              <a:t>beam vertex</a:t>
            </a:r>
            <a:r>
              <a:rPr lang="en-US" dirty="0"/>
              <a:t>. You can see that illustrated here: the source is at the top, and the rays diverge outward, passing through the sample.</a:t>
            </a:r>
          </a:p>
          <a:p>
            <a:r>
              <a:rPr lang="en-US" dirty="0"/>
              <a:t>On the opposite side, we have the detector array that records how much of the X-rays make it through.</a:t>
            </a:r>
          </a:p>
          <a:p>
            <a:endParaRPr lang="en-US" dirty="0"/>
          </a:p>
          <a:p>
            <a:r>
              <a:rPr lang="en-US" dirty="0"/>
              <a:t>There’s also an important parameter here called </a:t>
            </a:r>
            <a:r>
              <a:rPr lang="en-US" b="1" dirty="0"/>
              <a:t>D</a:t>
            </a:r>
            <a:r>
              <a:rPr lang="en-US" dirty="0"/>
              <a:t>. This is the distance from the fan-beam vertex—that is, the source position—to the center of rotation of the sample. For something simple, like a square phantom, D might just be the length of the diagonal. For a human body, D would be the distance from the source to the center of the patient.</a:t>
            </a:r>
          </a:p>
          <a:p>
            <a:r>
              <a:rPr lang="en-US" dirty="0"/>
              <a:t>As in parallel-beam CT, both the source and detector rotate together around the object at different angles, which we denote by theta. By sweeping through all these angles, we collect the fan-beam projection data needed for reconstruction.</a:t>
            </a:r>
          </a:p>
          <a:p>
            <a:endParaRPr lang="en-US" dirty="0"/>
          </a:p>
          <a:p>
            <a:r>
              <a:rPr lang="en-US" dirty="0"/>
              <a:t>So, the </a:t>
            </a:r>
            <a:r>
              <a:rPr lang="en-US" dirty="0" err="1"/>
              <a:t>fanbeam</a:t>
            </a:r>
            <a:r>
              <a:rPr lang="en-US" dirty="0"/>
              <a:t> function in MATLAB allows us to simulate this geometry directly, bringing us closer to how modern CT scanners actually operate.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22</a:t>
            </a:fld>
            <a:endParaRPr lang="en-US"/>
          </a:p>
        </p:txBody>
      </p:sp>
    </p:spTree>
    <p:extLst>
      <p:ext uri="{BB962C8B-B14F-4D97-AF65-F5344CB8AC3E}">
        <p14:creationId xmlns:p14="http://schemas.microsoft.com/office/powerpoint/2010/main" val="2238981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look at the </a:t>
            </a:r>
            <a:r>
              <a:rPr lang="en-US" b="1" dirty="0" err="1"/>
              <a:t>fanbeam</a:t>
            </a:r>
            <a:r>
              <a:rPr lang="en-US" dirty="0"/>
              <a:t> function in MATLAB in more detail.</a:t>
            </a:r>
          </a:p>
          <a:p>
            <a:endParaRPr lang="en-US" dirty="0"/>
          </a:p>
          <a:p>
            <a:r>
              <a:rPr lang="en-US" dirty="0"/>
              <a:t>This function calculates projection data for a specified fan-beam geometry. Unlike the parallel-beam case, here the </a:t>
            </a:r>
            <a:r>
              <a:rPr lang="en-US" b="1" dirty="0"/>
              <a:t>rotation angles are fixed from 0 to 360 degrees</a:t>
            </a:r>
            <a:r>
              <a:rPr lang="en-US" dirty="0"/>
              <a:t>. That means you can’t restrict the scan to only half a circle, like 0 to 180, or just 0 to 45. The </a:t>
            </a:r>
            <a:r>
              <a:rPr lang="en-US" dirty="0" err="1"/>
              <a:t>fanbeam</a:t>
            </a:r>
            <a:r>
              <a:rPr lang="en-US" dirty="0"/>
              <a:t> function always assumes a full rotation.</a:t>
            </a:r>
          </a:p>
          <a:p>
            <a:endParaRPr lang="en-US" dirty="0"/>
          </a:p>
          <a:p>
            <a:r>
              <a:rPr lang="en-US" dirty="0"/>
              <a:t>Here’s what the function looks like:</a:t>
            </a:r>
          </a:p>
          <a:p>
            <a:r>
              <a:rPr lang="en-US" sz="1200" b="1" kern="1200" dirty="0">
                <a:solidFill>
                  <a:schemeClr val="tx1"/>
                </a:solidFill>
                <a:latin typeface="+mn-lt"/>
                <a:ea typeface="+mn-ea"/>
                <a:cs typeface="+mn-cs"/>
              </a:rPr>
              <a:t>F1, sensor pos 1, fan rot angles 1] equals fan beam P, D, ‘Fan Sensor Spacing', dsensor1;</a:t>
            </a:r>
            <a:endParaRPr lang="en-US" dirty="0"/>
          </a:p>
          <a:p>
            <a:r>
              <a:rPr lang="en-US" dirty="0"/>
              <a:t>Let’s break it down:</a:t>
            </a:r>
          </a:p>
          <a:p>
            <a:r>
              <a:rPr lang="en-US" b="1" dirty="0"/>
              <a:t>F1</a:t>
            </a:r>
            <a:r>
              <a:rPr lang="en-US" dirty="0"/>
              <a:t> is the fan-beam projection data, the main output you need.</a:t>
            </a:r>
          </a:p>
          <a:p>
            <a:r>
              <a:rPr lang="en-US" b="1" dirty="0"/>
              <a:t>Sensor pos 1</a:t>
            </a:r>
            <a:r>
              <a:rPr lang="en-US" dirty="0"/>
              <a:t> gives the positions of the detectors.</a:t>
            </a:r>
          </a:p>
          <a:p>
            <a:r>
              <a:rPr lang="en-US" b="1" dirty="0"/>
              <a:t>Fan rot angles 1</a:t>
            </a:r>
            <a:r>
              <a:rPr lang="en-US" dirty="0"/>
              <a:t> lists the rotation angles used.</a:t>
            </a:r>
          </a:p>
          <a:p>
            <a:r>
              <a:rPr lang="en-US" b="1" dirty="0"/>
              <a:t>P</a:t>
            </a:r>
            <a:r>
              <a:rPr lang="en-US" dirty="0"/>
              <a:t> is your input image, or phantom.</a:t>
            </a:r>
          </a:p>
          <a:p>
            <a:r>
              <a:rPr lang="en-US" b="1" dirty="0"/>
              <a:t>D</a:t>
            </a:r>
            <a:r>
              <a:rPr lang="en-US" dirty="0"/>
              <a:t> is the distance from the source vertex to the object’s center of rotation.</a:t>
            </a:r>
          </a:p>
          <a:p>
            <a:r>
              <a:rPr lang="en-US" b="1" dirty="0"/>
              <a:t>‘Fan Sensor Spacing'</a:t>
            </a:r>
            <a:r>
              <a:rPr lang="en-US" dirty="0"/>
              <a:t> is a property name, which tells MATLAB you’re specifying the spacing between detectors.</a:t>
            </a:r>
          </a:p>
          <a:p>
            <a:r>
              <a:rPr lang="en-US" b="1" dirty="0" err="1"/>
              <a:t>Dsensor</a:t>
            </a:r>
            <a:r>
              <a:rPr lang="en-US" b="1" dirty="0"/>
              <a:t> 1</a:t>
            </a:r>
            <a:r>
              <a:rPr lang="en-US" dirty="0"/>
              <a:t> is the actual spacing value.</a:t>
            </a:r>
          </a:p>
          <a:p>
            <a:endParaRPr lang="en-US" dirty="0"/>
          </a:p>
          <a:p>
            <a:r>
              <a:rPr lang="en-US" dirty="0"/>
              <a:t>Those last two inputs are </a:t>
            </a:r>
            <a:r>
              <a:rPr lang="en-US" b="1" dirty="0"/>
              <a:t>optional</a:t>
            </a:r>
            <a:r>
              <a:rPr lang="en-US" dirty="0"/>
              <a:t>. You can run the function with just the image and the distance, and MATLAB will use default detector spacing. But if you want more control—say, to change the resolution or field of view—you can specify these additional arguments.</a:t>
            </a:r>
          </a:p>
          <a:p>
            <a:r>
              <a:rPr lang="en-US" dirty="0"/>
              <a:t>So in short: </a:t>
            </a:r>
            <a:r>
              <a:rPr lang="en-US" dirty="0" err="1"/>
              <a:t>fanbeam</a:t>
            </a:r>
            <a:r>
              <a:rPr lang="en-US" dirty="0"/>
              <a:t> gives you projection data over a full 360 degrees, with flexibility to adjust sensor spacing if needed.</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23</a:t>
            </a:fld>
            <a:endParaRPr lang="en-US"/>
          </a:p>
        </p:txBody>
      </p:sp>
    </p:spTree>
    <p:extLst>
      <p:ext uri="{BB962C8B-B14F-4D97-AF65-F5344CB8AC3E}">
        <p14:creationId xmlns:p14="http://schemas.microsoft.com/office/powerpoint/2010/main" val="3752074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that we’ve seen how MATLAB generates fan-beam projections, the next step is to reconstruct an image from them. For that, we use the </a:t>
            </a:r>
            <a:r>
              <a:rPr lang="en-US" b="1" dirty="0"/>
              <a:t>I fan beam</a:t>
            </a:r>
            <a:r>
              <a:rPr lang="en-US" dirty="0"/>
              <a:t> function.</a:t>
            </a:r>
          </a:p>
          <a:p>
            <a:endParaRPr lang="en-US" dirty="0"/>
          </a:p>
          <a:p>
            <a:r>
              <a:rPr lang="en-US" dirty="0"/>
              <a:t>Here’s what happens under the hood: </a:t>
            </a:r>
            <a:r>
              <a:rPr lang="en-US" b="1" dirty="0"/>
              <a:t>I fan beam first converts the fan-beam data into equivalent parallel-beam projections.</a:t>
            </a:r>
            <a:r>
              <a:rPr lang="en-US" dirty="0"/>
              <a:t> Once that’s done, it applies the same </a:t>
            </a:r>
            <a:r>
              <a:rPr lang="en-US" b="1" dirty="0"/>
              <a:t>filtered back-projection algorithm</a:t>
            </a:r>
            <a:r>
              <a:rPr lang="en-US" dirty="0"/>
              <a:t> we studied earlier to perform the inverse Radon transform and reconstruct the image.</a:t>
            </a:r>
          </a:p>
          <a:p>
            <a:endParaRPr lang="en-US" dirty="0"/>
          </a:p>
          <a:p>
            <a:r>
              <a:rPr lang="en-US" dirty="0"/>
              <a:t>The function looks like this:</a:t>
            </a:r>
          </a:p>
          <a:p>
            <a:r>
              <a:rPr lang="en-US" sz="1200" b="1" kern="1200" dirty="0">
                <a:solidFill>
                  <a:schemeClr val="tx1"/>
                </a:solidFill>
                <a:latin typeface="+mn-lt"/>
                <a:ea typeface="+mn-ea"/>
                <a:cs typeface="+mn-cs"/>
              </a:rPr>
              <a:t>I fan 1 equals I fan beam F1, D, ‘Fan Sensor Spacing', </a:t>
            </a:r>
            <a:r>
              <a:rPr lang="en-US" sz="1200" b="1" kern="1200" dirty="0" err="1">
                <a:solidFill>
                  <a:schemeClr val="tx1"/>
                </a:solidFill>
                <a:latin typeface="+mn-lt"/>
                <a:ea typeface="+mn-ea"/>
                <a:cs typeface="+mn-cs"/>
              </a:rPr>
              <a:t>dsensor</a:t>
            </a:r>
            <a:r>
              <a:rPr lang="en-US" sz="1200" b="1" kern="1200" dirty="0">
                <a:solidFill>
                  <a:schemeClr val="tx1"/>
                </a:solidFill>
                <a:latin typeface="+mn-lt"/>
                <a:ea typeface="+mn-ea"/>
                <a:cs typeface="+mn-cs"/>
              </a:rPr>
              <a:t> 1);</a:t>
            </a:r>
            <a:endParaRPr lang="en-US" dirty="0"/>
          </a:p>
          <a:p>
            <a:r>
              <a:rPr lang="en-US" dirty="0"/>
              <a:t>Breaking it down:</a:t>
            </a:r>
          </a:p>
          <a:p>
            <a:r>
              <a:rPr lang="en-US" b="1" dirty="0"/>
              <a:t>Ifan1</a:t>
            </a:r>
            <a:r>
              <a:rPr lang="en-US" dirty="0"/>
              <a:t> is the reconstructed image, the output.</a:t>
            </a:r>
          </a:p>
          <a:p>
            <a:r>
              <a:rPr lang="en-US" b="1" dirty="0"/>
              <a:t>F1</a:t>
            </a:r>
            <a:r>
              <a:rPr lang="en-US" dirty="0"/>
              <a:t> is the sinogram data produced by the </a:t>
            </a:r>
            <a:r>
              <a:rPr lang="en-US" dirty="0" err="1"/>
              <a:t>fanbeam</a:t>
            </a:r>
            <a:r>
              <a:rPr lang="en-US" dirty="0"/>
              <a:t> function.</a:t>
            </a:r>
          </a:p>
          <a:p>
            <a:r>
              <a:rPr lang="en-US" b="1" dirty="0"/>
              <a:t>D</a:t>
            </a:r>
            <a:r>
              <a:rPr lang="en-US" dirty="0"/>
              <a:t> is the distance from the source to the object’s center.</a:t>
            </a:r>
          </a:p>
          <a:p>
            <a:r>
              <a:rPr lang="en-US" b="1" dirty="0"/>
              <a:t>‘Fan Sensor Spacing'</a:t>
            </a:r>
            <a:r>
              <a:rPr lang="en-US" dirty="0"/>
              <a:t> is the property name that tells MATLAB you’re specifying detector spacing.</a:t>
            </a:r>
          </a:p>
          <a:p>
            <a:r>
              <a:rPr lang="en-US" b="1" dirty="0"/>
              <a:t>D sensor 1</a:t>
            </a:r>
            <a:r>
              <a:rPr lang="en-US" dirty="0"/>
              <a:t> is the actual spacing value.</a:t>
            </a:r>
          </a:p>
          <a:p>
            <a:endParaRPr lang="en-US" dirty="0"/>
          </a:p>
          <a:p>
            <a:r>
              <a:rPr lang="en-US" dirty="0"/>
              <a:t>The last two inputs are optional—you can let MATLAB use default spacing if you don’t need to adjust it.</a:t>
            </a:r>
          </a:p>
          <a:p>
            <a:r>
              <a:rPr lang="en-US" dirty="0"/>
              <a:t>So, just like with parallel-beam CT, we have a pair of functions: </a:t>
            </a:r>
            <a:r>
              <a:rPr lang="en-US" b="1" dirty="0"/>
              <a:t>fan beam</a:t>
            </a:r>
            <a:r>
              <a:rPr lang="en-US" dirty="0"/>
              <a:t> to simulate the projections, and </a:t>
            </a:r>
            <a:r>
              <a:rPr lang="en-US" b="1" dirty="0"/>
              <a:t>I-fan beam</a:t>
            </a:r>
            <a:r>
              <a:rPr lang="en-US" dirty="0"/>
              <a:t> to reconstruct the image. Together, they allow us to model fan-beam CT entirely within MATLAB.</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24</a:t>
            </a:fld>
            <a:endParaRPr lang="en-US"/>
          </a:p>
        </p:txBody>
      </p:sp>
    </p:spTree>
    <p:extLst>
      <p:ext uri="{BB962C8B-B14F-4D97-AF65-F5344CB8AC3E}">
        <p14:creationId xmlns:p14="http://schemas.microsoft.com/office/powerpoint/2010/main" val="4698884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move to </a:t>
            </a:r>
            <a:r>
              <a:rPr lang="en-US" b="1" dirty="0"/>
              <a:t>Example 3: Fan-beam CT</a:t>
            </a:r>
            <a:r>
              <a:rPr lang="en-US" dirty="0"/>
              <a:t>.</a:t>
            </a:r>
          </a:p>
          <a:p>
            <a:endParaRPr lang="en-US" dirty="0"/>
          </a:p>
          <a:p>
            <a:r>
              <a:rPr lang="en-US" dirty="0"/>
              <a:t>If you run the script </a:t>
            </a:r>
            <a:r>
              <a:rPr lang="en-US" b="1" dirty="0"/>
              <a:t>E x 3 fan beam dot m</a:t>
            </a:r>
            <a:r>
              <a:rPr lang="en-US" dirty="0"/>
              <a:t>, you’ll see how MATLAB handles this geometry. Inside the code, at </a:t>
            </a:r>
            <a:r>
              <a:rPr lang="en-US" b="1" dirty="0"/>
              <a:t>line 25</a:t>
            </a:r>
            <a:r>
              <a:rPr lang="en-US" dirty="0"/>
              <a:t>, there’s a parameter called </a:t>
            </a:r>
            <a:r>
              <a:rPr lang="en-US" b="1" dirty="0"/>
              <a:t>D</a:t>
            </a:r>
            <a:r>
              <a:rPr lang="en-US" dirty="0"/>
              <a:t>. By convention, D is set to be slightly larger than half the diagonal length of the image. Then, at </a:t>
            </a:r>
            <a:r>
              <a:rPr lang="en-US" b="1" dirty="0"/>
              <a:t>line 26</a:t>
            </a:r>
            <a:r>
              <a:rPr lang="en-US" dirty="0"/>
              <a:t>, the </a:t>
            </a:r>
            <a:r>
              <a:rPr lang="en-US" b="1" dirty="0"/>
              <a:t>D sensor</a:t>
            </a:r>
            <a:r>
              <a:rPr lang="en-US" dirty="0"/>
              <a:t> value is set to 1, which specifies the spacing between detector elements.</a:t>
            </a:r>
          </a:p>
          <a:p>
            <a:endParaRPr lang="en-US" dirty="0"/>
          </a:p>
          <a:p>
            <a:r>
              <a:rPr lang="en-US" dirty="0"/>
              <a:t>On the left, you can see the fan-beam sinogram for a simple square phantom. On the right, you see the reconstruction using filtered back-projection. The square shape is clear and recognizable, but you may also notice small dots or speckles near the corners. These are reconstruction artifacts, and if you run this code on your own computer, you’ll probably see them more clearly.</a:t>
            </a:r>
          </a:p>
          <a:p>
            <a:r>
              <a:rPr lang="en-US" dirty="0"/>
              <a:t>For more complex phantoms, the sinogram looks similar to what we saw in earlier examples, but extended over a full </a:t>
            </a:r>
            <a:r>
              <a:rPr lang="en-US" b="1" dirty="0"/>
              <a:t>0 to 360 degrees</a:t>
            </a:r>
            <a:r>
              <a:rPr lang="en-US" dirty="0"/>
              <a:t>. </a:t>
            </a:r>
          </a:p>
          <a:p>
            <a:endParaRPr lang="en-US" dirty="0"/>
          </a:p>
          <a:p>
            <a:r>
              <a:rPr lang="en-US" dirty="0"/>
              <a:t>The reconstructions in those cases often show diagonal streaks or artifacts around the edges. Even so, the important structural information inside the phantom—like the outlines of shapes—remains fairly accurate.</a:t>
            </a:r>
          </a:p>
          <a:p>
            <a:r>
              <a:rPr lang="en-US" dirty="0"/>
              <a:t>So, fan-beam CT in MATLAB gives us realistic results, but it also shows us that no reconstruction is perfect. Artifacts are always a part of the process, and learning how to recognize and minimize them is a big part of CT imaging.</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25</a:t>
            </a:fld>
            <a:endParaRPr lang="en-US"/>
          </a:p>
        </p:txBody>
      </p:sp>
    </p:spTree>
    <p:extLst>
      <p:ext uri="{BB962C8B-B14F-4D97-AF65-F5344CB8AC3E}">
        <p14:creationId xmlns:p14="http://schemas.microsoft.com/office/powerpoint/2010/main" val="714267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experiment with </a:t>
            </a:r>
            <a:r>
              <a:rPr lang="en-US" b="1" dirty="0"/>
              <a:t>sensor spacing</a:t>
            </a:r>
            <a:r>
              <a:rPr lang="en-US" dirty="0"/>
              <a:t> in fan-beam CT.</a:t>
            </a:r>
          </a:p>
          <a:p>
            <a:endParaRPr lang="en-US" dirty="0"/>
          </a:p>
          <a:p>
            <a:r>
              <a:rPr lang="en-US" dirty="0"/>
              <a:t>In our code, this is the </a:t>
            </a:r>
            <a:r>
              <a:rPr lang="en-US" b="1" dirty="0"/>
              <a:t>D sensor</a:t>
            </a:r>
            <a:r>
              <a:rPr lang="en-US" dirty="0"/>
              <a:t> value on line 26. By default, we set it to 1. But what happens if we change it?</a:t>
            </a:r>
          </a:p>
          <a:p>
            <a:r>
              <a:rPr lang="en-US" dirty="0"/>
              <a:t>On the left, we set </a:t>
            </a:r>
            <a:r>
              <a:rPr lang="en-US" b="1" dirty="0"/>
              <a:t>D sensor equals 0.5</a:t>
            </a:r>
            <a:r>
              <a:rPr lang="en-US" dirty="0"/>
              <a:t>. This means the detectors are closer together, giving us finer sampling. The result is higher resolution—you can clearly see the square shape, with only minor artifacts.</a:t>
            </a:r>
          </a:p>
          <a:p>
            <a:r>
              <a:rPr lang="en-US" dirty="0"/>
              <a:t>In the middle, we keep </a:t>
            </a:r>
            <a:r>
              <a:rPr lang="en-US" b="1" dirty="0"/>
              <a:t>the D sensor equal to 1,</a:t>
            </a:r>
            <a:r>
              <a:rPr lang="en-US" dirty="0"/>
              <a:t> the default value. The reconstruction is still decent, but not quite as sharp as when we used the smaller spacing.</a:t>
            </a:r>
          </a:p>
          <a:p>
            <a:r>
              <a:rPr lang="en-US" dirty="0"/>
              <a:t>On the right, we set </a:t>
            </a:r>
            <a:r>
              <a:rPr lang="en-US" b="1" dirty="0"/>
              <a:t>D sensor equals 5</a:t>
            </a:r>
            <a:r>
              <a:rPr lang="en-US" dirty="0"/>
              <a:t>. Now the detector spacing is wide, so we lose a lot of detail. The reconstruction looks blurred and distorted—the square shape is almost unrecognizable, more like a rounded blob.</a:t>
            </a:r>
          </a:p>
          <a:p>
            <a:endParaRPr lang="en-US" dirty="0"/>
          </a:p>
          <a:p>
            <a:r>
              <a:rPr lang="en-US" dirty="0"/>
              <a:t>So the key point here is: </a:t>
            </a:r>
            <a:r>
              <a:rPr lang="en-US" b="1" dirty="0"/>
              <a:t>resolution is directly related to detector spacing. Smaller spacing means higher resolution. Larger spacing means lower resolution.</a:t>
            </a:r>
            <a:endParaRPr lang="en-US" dirty="0"/>
          </a:p>
          <a:p>
            <a:r>
              <a:rPr lang="en-US" dirty="0"/>
              <a:t>In practice, of course, reducing sensor spacing increases data size and computational load. But if the spacing is too large, the resolution drops too much to be useful. Finding the right balance is part of designing and operating a CT system.</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26</a:t>
            </a:fld>
            <a:endParaRPr lang="en-US"/>
          </a:p>
        </p:txBody>
      </p:sp>
    </p:spTree>
    <p:extLst>
      <p:ext uri="{BB962C8B-B14F-4D97-AF65-F5344CB8AC3E}">
        <p14:creationId xmlns:p14="http://schemas.microsoft.com/office/powerpoint/2010/main" val="3211677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Now let’s test what happens when we change the parameter </a:t>
            </a:r>
            <a:r>
              <a:rPr lang="en-US" b="1" dirty="0"/>
              <a:t>D</a:t>
            </a:r>
            <a:r>
              <a:rPr lang="en-US" dirty="0"/>
              <a:t> in our fan-beam simulation.</a:t>
            </a:r>
          </a:p>
          <a:p>
            <a:r>
              <a:rPr lang="en-US" dirty="0"/>
              <a:t>Remember, </a:t>
            </a:r>
            <a:r>
              <a:rPr lang="en-US" b="1" dirty="0"/>
              <a:t>D</a:t>
            </a:r>
            <a:r>
              <a:rPr lang="en-US" dirty="0"/>
              <a:t> is the distance from the fan-beam source vertex to the center of the object. In our code, this is set in </a:t>
            </a:r>
            <a:r>
              <a:rPr lang="en-US" b="1" dirty="0"/>
              <a:t>line 28</a:t>
            </a:r>
            <a:r>
              <a:rPr lang="en-US" dirty="0"/>
              <a:t>. The default value is 191, which is roughly half the diagonal length of the image.</a:t>
            </a:r>
          </a:p>
          <a:p>
            <a:endParaRPr lang="en-US" dirty="0"/>
          </a:p>
          <a:p>
            <a:r>
              <a:rPr lang="en-US" dirty="0"/>
              <a:t>Here’s what happens:</a:t>
            </a:r>
          </a:p>
          <a:p>
            <a:r>
              <a:rPr lang="en-US" dirty="0"/>
              <a:t>On the left, with </a:t>
            </a:r>
            <a:r>
              <a:rPr lang="en-US" b="1" dirty="0"/>
              <a:t>D equals 191 (default)</a:t>
            </a:r>
            <a:r>
              <a:rPr lang="en-US" dirty="0"/>
              <a:t>, the reconstruction looks good. The square phantom is sharp, and the resolution is reasonable.</a:t>
            </a:r>
          </a:p>
          <a:p>
            <a:r>
              <a:rPr lang="en-US" dirty="0"/>
              <a:t>In the middle, when we increase D to</a:t>
            </a:r>
            <a:r>
              <a:rPr lang="en-US" b="1" dirty="0"/>
              <a:t> 300,</a:t>
            </a:r>
            <a:r>
              <a:rPr lang="en-US" dirty="0"/>
              <a:t> the resolution decreases. The edges become less clear, and faint artifacts start to appear in the background.</a:t>
            </a:r>
          </a:p>
          <a:p>
            <a:r>
              <a:rPr lang="en-US" dirty="0"/>
              <a:t>On the right, with </a:t>
            </a:r>
            <a:r>
              <a:rPr lang="en-US" b="1" dirty="0"/>
              <a:t>D equals 500</a:t>
            </a:r>
            <a:r>
              <a:rPr lang="en-US" dirty="0"/>
              <a:t>, the resolution drops significantly. The square no longer looks crisp—it appears distorted, and the background shows strong artifacts.</a:t>
            </a:r>
          </a:p>
          <a:p>
            <a:r>
              <a:rPr lang="en-US" dirty="0"/>
              <a:t>So the rule here is: </a:t>
            </a:r>
            <a:r>
              <a:rPr lang="en-US" b="1" dirty="0"/>
              <a:t>the farther away the source is from the object, the lower the reconstruction resolution.</a:t>
            </a:r>
            <a:endParaRPr lang="en-US" dirty="0"/>
          </a:p>
          <a:p>
            <a:endParaRPr lang="en-US" dirty="0"/>
          </a:p>
          <a:p>
            <a:r>
              <a:rPr lang="en-US" dirty="0"/>
              <a:t>This simulation is useful not only for learning but also for system design. It shows that if we set the source too far from the patient, image resolution suffers. By keeping the source-object distance within a good range, we can achieve sharper reconstructions.</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27</a:t>
            </a:fld>
            <a:endParaRPr lang="en-US"/>
          </a:p>
        </p:txBody>
      </p:sp>
    </p:spTree>
    <p:extLst>
      <p:ext uri="{BB962C8B-B14F-4D97-AF65-F5344CB8AC3E}">
        <p14:creationId xmlns:p14="http://schemas.microsoft.com/office/powerpoint/2010/main" val="3473297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That wraps up our MATLAB section for today.</a:t>
            </a:r>
            <a:br>
              <a:rPr lang="en-US" dirty="0"/>
            </a:br>
            <a:endParaRPr lang="en-US" dirty="0"/>
          </a:p>
          <a:p>
            <a:r>
              <a:rPr lang="en-US" dirty="0"/>
              <a:t>You’ll use MATLAB’s </a:t>
            </a:r>
            <a:r>
              <a:rPr lang="en-US" sz="1200" b="1" kern="1200" dirty="0">
                <a:solidFill>
                  <a:schemeClr val="tx1"/>
                </a:solidFill>
                <a:latin typeface="+mn-lt"/>
                <a:ea typeface="+mn-ea"/>
                <a:cs typeface="+mn-cs"/>
              </a:rPr>
              <a:t>radon</a:t>
            </a:r>
            <a:r>
              <a:rPr lang="en-US" dirty="0"/>
              <a:t> and </a:t>
            </a:r>
            <a:r>
              <a:rPr lang="en-US" sz="1200" b="1" kern="1200" dirty="0" err="1">
                <a:solidFill>
                  <a:schemeClr val="tx1"/>
                </a:solidFill>
                <a:latin typeface="+mn-lt"/>
                <a:ea typeface="+mn-ea"/>
                <a:cs typeface="+mn-cs"/>
              </a:rPr>
              <a:t>iradon</a:t>
            </a:r>
            <a:r>
              <a:rPr lang="en-US" dirty="0"/>
              <a:t> functions to work with an </a:t>
            </a:r>
            <a:r>
              <a:rPr lang="en-US" b="1" dirty="0"/>
              <a:t>ellipse</a:t>
            </a:r>
            <a:r>
              <a:rPr lang="en-US" dirty="0"/>
              <a:t> phantom—generate the projections, form the sinogram, and reconstruct the image.</a:t>
            </a:r>
          </a:p>
          <a:p>
            <a:endParaRPr lang="en-US" dirty="0"/>
          </a:p>
          <a:p>
            <a:r>
              <a:rPr lang="en-US" dirty="0"/>
              <a:t>Please make sure your submission clearly shows:</a:t>
            </a:r>
          </a:p>
          <a:p>
            <a:r>
              <a:rPr lang="en-US" dirty="0"/>
              <a:t>the input ellipse image,</a:t>
            </a:r>
          </a:p>
          <a:p>
            <a:r>
              <a:rPr lang="en-US" dirty="0"/>
              <a:t>the sinogram you generated, and</a:t>
            </a:r>
          </a:p>
          <a:p>
            <a:r>
              <a:rPr lang="en-US" dirty="0"/>
              <a:t>The reconstructed image (try both unfiltered and filtered back-projection, and note which filter you used).</a:t>
            </a:r>
          </a:p>
          <a:p>
            <a:r>
              <a:rPr lang="en-US" dirty="0"/>
              <a:t>If you run into issues, double-check that the </a:t>
            </a:r>
            <a:r>
              <a:rPr lang="en-US" b="1" dirty="0"/>
              <a:t>Signal Processing</a:t>
            </a:r>
            <a:r>
              <a:rPr lang="en-US" dirty="0"/>
              <a:t> and </a:t>
            </a:r>
            <a:r>
              <a:rPr lang="en-US" b="1" dirty="0"/>
              <a:t>Image Processing</a:t>
            </a:r>
            <a:r>
              <a:rPr lang="en-US" dirty="0"/>
              <a:t> Toolboxes are installed, and verify your angle settings and interpolation options.</a:t>
            </a:r>
          </a:p>
          <a:p>
            <a:endParaRPr lang="en-US" dirty="0"/>
          </a:p>
          <a:p>
            <a:r>
              <a:rPr lang="en-US" dirty="0"/>
              <a:t>Great work today. Next time, we’ll build on this and discuss how to interpret artifacts and improve reconstruction quality.</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28</a:t>
            </a:fld>
            <a:endParaRPr lang="en-US"/>
          </a:p>
        </p:txBody>
      </p:sp>
    </p:spTree>
    <p:extLst>
      <p:ext uri="{BB962C8B-B14F-4D97-AF65-F5344CB8AC3E}">
        <p14:creationId xmlns:p14="http://schemas.microsoft.com/office/powerpoint/2010/main" val="22085852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And finally, let me remind you about your </a:t>
            </a:r>
            <a:r>
              <a:rPr lang="en-US" b="1" dirty="0"/>
              <a:t>second homework assignment</a:t>
            </a:r>
            <a:r>
              <a:rPr lang="en-US" dirty="0"/>
              <a:t>.</a:t>
            </a:r>
          </a:p>
          <a:p>
            <a:r>
              <a:rPr lang="en-US" dirty="0"/>
              <a:t>From the </a:t>
            </a:r>
            <a:r>
              <a:rPr lang="en-US" b="1" dirty="0"/>
              <a:t>Green Book</a:t>
            </a:r>
            <a:r>
              <a:rPr lang="en-US" dirty="0"/>
              <a:t>, please complete problems </a:t>
            </a:r>
            <a:r>
              <a:rPr lang="en-US" b="1" dirty="0"/>
              <a:t>1.14, 1.15, and 1.18</a:t>
            </a:r>
            <a:r>
              <a:rPr lang="en-US" dirty="0"/>
              <a:t>. </a:t>
            </a:r>
          </a:p>
          <a:p>
            <a:endParaRPr lang="en-US" dirty="0"/>
          </a:p>
          <a:p>
            <a:r>
              <a:rPr lang="en-US" dirty="0"/>
              <a:t>In addition, there’s an </a:t>
            </a:r>
            <a:r>
              <a:rPr lang="en-US" b="1" dirty="0"/>
              <a:t>optional project</a:t>
            </a:r>
            <a:r>
              <a:rPr lang="en-US" dirty="0"/>
              <a:t> for those of you who want to take on something more creative. As part of the </a:t>
            </a:r>
            <a:r>
              <a:rPr lang="en-US" dirty="0" err="1"/>
              <a:t>Art_X</a:t>
            </a:r>
            <a:r>
              <a:rPr lang="en-US" dirty="0"/>
              <a:t> initiative, you can design a concept for a </a:t>
            </a:r>
            <a:r>
              <a:rPr lang="en-US" b="1" dirty="0"/>
              <a:t>portable CT scanner</a:t>
            </a:r>
            <a:r>
              <a:rPr lang="en-US" dirty="0"/>
              <a:t>—for example, one mounted inside a self-driving car, or a CT scanner designed for a completely novel application.</a:t>
            </a:r>
          </a:p>
          <a:p>
            <a:endParaRPr lang="en-US" dirty="0"/>
          </a:p>
          <a:p>
            <a:r>
              <a:rPr lang="en-US" dirty="0"/>
              <a:t>To get inspired, I’ve included two references here at the bottom of the slide, which showcase some innovative CT scanner designs. These papers, including some from Dr. Wang’s group, may give you ideas for how CT technology can be adapted beyond the traditional hospital setting.</a:t>
            </a:r>
          </a:p>
          <a:p>
            <a:r>
              <a:rPr lang="en-US" dirty="0"/>
              <a:t>Again, the design project is optional—but the Green Book problems are required.</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29</a:t>
            </a:fld>
            <a:endParaRPr lang="en-US"/>
          </a:p>
        </p:txBody>
      </p:sp>
    </p:spTree>
    <p:extLst>
      <p:ext uri="{BB962C8B-B14F-4D97-AF65-F5344CB8AC3E}">
        <p14:creationId xmlns:p14="http://schemas.microsoft.com/office/powerpoint/2010/main" val="35164030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And with that, we’ll wrap up today’s session.</a:t>
            </a:r>
          </a:p>
          <a:p>
            <a:r>
              <a:rPr lang="en-US" dirty="0"/>
              <a:t>Thank you all for joining the class and following along. We’ve covered a lot—from the basic theory of CT, to the Radon transform, back-projection, filtered back-projection, and finally MATLAB implementations for both parallel-beam and fan-beam geometries.</a:t>
            </a:r>
          </a:p>
          <a:p>
            <a:endParaRPr lang="en-US" dirty="0"/>
          </a:p>
          <a:p>
            <a:r>
              <a:rPr lang="en-US" dirty="0"/>
              <a:t>Please remember to finish your homework assignments and, if you’re interested, explore the optional design project for something creative.</a:t>
            </a:r>
          </a:p>
          <a:p>
            <a:endParaRPr lang="en-US" dirty="0"/>
          </a:p>
          <a:p>
            <a:r>
              <a:rPr lang="en-US" dirty="0"/>
              <a:t>That’s all for today. Once again—thank you, and I look forward to seeing you next time.</a:t>
            </a:r>
          </a:p>
          <a:p>
            <a:endParaRPr lang="en-US" dirty="0"/>
          </a:p>
        </p:txBody>
      </p:sp>
      <p:sp>
        <p:nvSpPr>
          <p:cNvPr id="4" name="Slide Number Placeholder 3"/>
          <p:cNvSpPr>
            <a:spLocks noGrp="1"/>
          </p:cNvSpPr>
          <p:nvPr>
            <p:ph type="sldNum" sz="quarter" idx="5"/>
          </p:nvPr>
        </p:nvSpPr>
        <p:spPr/>
        <p:txBody>
          <a:bodyPr/>
          <a:lstStyle/>
          <a:p>
            <a:fld id="{1C79DC8B-2DF6-574A-9710-AB043F63DBAC}" type="slidenum">
              <a:rPr lang="en-US" smtClean="0"/>
              <a:t>30</a:t>
            </a:fld>
            <a:endParaRPr lang="en-US"/>
          </a:p>
        </p:txBody>
      </p:sp>
    </p:spTree>
    <p:extLst>
      <p:ext uri="{BB962C8B-B14F-4D97-AF65-F5344CB8AC3E}">
        <p14:creationId xmlns:p14="http://schemas.microsoft.com/office/powerpoint/2010/main" val="3654604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677108"/>
          </a:xfrm>
          <a:prstGeom prst="rect">
            <a:avLst/>
          </a:prstGeom>
        </p:spPr>
        <p:txBody>
          <a:bodyPr wrap="square" lIns="0" tIns="0" rIns="0" bIns="0">
            <a:spAutoFit/>
          </a:bodyPr>
          <a:lstStyle>
            <a:lvl1pPr>
              <a:defRPr sz="4400" b="0" i="0">
                <a:solidFill>
                  <a:schemeClr val="tx1"/>
                </a:solidFill>
                <a:latin typeface="Microsoft Sans Serif"/>
                <a:cs typeface="Microsoft Sans Serif"/>
              </a:defRPr>
            </a:lvl1pPr>
          </a:lstStyle>
          <a:p>
            <a:endParaRPr/>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Microsoft Sans Serif"/>
                <a:cs typeface="Microsoft Sans Serif"/>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517" y="171704"/>
            <a:ext cx="11410967" cy="677108"/>
          </a:xfrm>
          <a:prstGeom prst="rect">
            <a:avLst/>
          </a:prstGeom>
        </p:spPr>
        <p:txBody>
          <a:bodyPr wrap="square" lIns="0" tIns="0" rIns="0" bIns="0">
            <a:spAutoFit/>
          </a:bodyPr>
          <a:lstStyle>
            <a:lvl1pPr>
              <a:defRPr sz="4400"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a:xfrm>
            <a:off x="534551" y="1050414"/>
            <a:ext cx="8799407" cy="369332"/>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www.zmescience.com/medicine/inside-human-body-real-time-gifs-demo-power-ct-sca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mathworks.com/help/images/radon-transform.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mathworks.com/help/images/the-inverse-radon-transformation.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hyperlink" Target="http://www.mathworks.com/help/images/radon-transform.html?refresh=true"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content.iospress.com/articles/journal-of-x-ray-science-and-technology/xst00453" TargetMode="External"/><Relationship Id="rId5" Type="http://schemas.openxmlformats.org/officeDocument/2006/relationships/hyperlink" Target="https://arxiv.org/ftp/arxiv/papers/1312/1312.6046.pdf" TargetMode="External"/><Relationship Id="rId4" Type="http://schemas.openxmlformats.org/officeDocument/2006/relationships/image" Target="../media/image39.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17357" y="5334000"/>
            <a:ext cx="5524500" cy="1027845"/>
          </a:xfrm>
          <a:prstGeom prst="rect">
            <a:avLst/>
          </a:prstGeom>
        </p:spPr>
        <p:txBody>
          <a:bodyPr vert="horz" wrap="square" lIns="0" tIns="286385" rIns="0" bIns="0" rtlCol="0">
            <a:spAutoFit/>
          </a:bodyPr>
          <a:lstStyle/>
          <a:p>
            <a:pPr algn="ctr">
              <a:spcBef>
                <a:spcPts val="2255"/>
              </a:spcBef>
            </a:pPr>
            <a:r>
              <a:rPr sz="4800" b="1" spc="-20" dirty="0">
                <a:latin typeface="Arial" panose="020B0604020202020204" pitchFamily="34" charset="0"/>
                <a:cs typeface="Arial" panose="020B0604020202020204" pitchFamily="34" charset="0"/>
              </a:rPr>
              <a:t>MATLAB</a:t>
            </a:r>
            <a:r>
              <a:rPr sz="4800" b="1" spc="-130" dirty="0">
                <a:latin typeface="Arial" panose="020B0604020202020204" pitchFamily="34" charset="0"/>
                <a:cs typeface="Arial" panose="020B0604020202020204" pitchFamily="34" charset="0"/>
              </a:rPr>
              <a:t> </a:t>
            </a:r>
            <a:r>
              <a:rPr sz="4800" b="1" dirty="0">
                <a:latin typeface="Arial" panose="020B0604020202020204" pitchFamily="34" charset="0"/>
                <a:cs typeface="Arial" panose="020B0604020202020204" pitchFamily="34" charset="0"/>
              </a:rPr>
              <a:t>III:</a:t>
            </a:r>
            <a:r>
              <a:rPr sz="4800" b="1" spc="-125" dirty="0">
                <a:latin typeface="Arial" panose="020B0604020202020204" pitchFamily="34" charset="0"/>
                <a:cs typeface="Arial" panose="020B0604020202020204" pitchFamily="34" charset="0"/>
              </a:rPr>
              <a:t> </a:t>
            </a:r>
            <a:r>
              <a:rPr sz="4800" b="1" spc="-25" dirty="0">
                <a:latin typeface="Arial" panose="020B0604020202020204" pitchFamily="34" charset="0"/>
                <a:cs typeface="Arial" panose="020B0604020202020204" pitchFamily="34" charset="0"/>
              </a:rPr>
              <a:t>CT</a:t>
            </a:r>
            <a:endParaRPr sz="4800" b="1" dirty="0">
              <a:latin typeface="Arial" panose="020B0604020202020204" pitchFamily="34" charset="0"/>
              <a:cs typeface="Arial" panose="020B0604020202020204" pitchFamily="34" charset="0"/>
            </a:endParaRPr>
          </a:p>
        </p:txBody>
      </p:sp>
      <p:pic>
        <p:nvPicPr>
          <p:cNvPr id="3" name="object 3"/>
          <p:cNvPicPr/>
          <p:nvPr/>
        </p:nvPicPr>
        <p:blipFill>
          <a:blip r:embed="rId3" cstate="print"/>
          <a:stretch>
            <a:fillRect/>
          </a:stretch>
        </p:blipFill>
        <p:spPr>
          <a:xfrm>
            <a:off x="1717357" y="399953"/>
            <a:ext cx="5524500" cy="4991100"/>
          </a:xfrm>
          <a:prstGeom prst="rect">
            <a:avLst/>
          </a:prstGeom>
        </p:spPr>
      </p:pic>
      <p:sp>
        <p:nvSpPr>
          <p:cNvPr id="4" name="object 4"/>
          <p:cNvSpPr txBox="1"/>
          <p:nvPr/>
        </p:nvSpPr>
        <p:spPr>
          <a:xfrm>
            <a:off x="228600" y="6506667"/>
            <a:ext cx="8502015" cy="258404"/>
          </a:xfrm>
          <a:prstGeom prst="rect">
            <a:avLst/>
          </a:prstGeom>
        </p:spPr>
        <p:txBody>
          <a:bodyPr vert="horz" wrap="square" lIns="0" tIns="12065" rIns="0" bIns="0" rtlCol="0">
            <a:spAutoFit/>
          </a:bodyPr>
          <a:lstStyle/>
          <a:p>
            <a:pPr marL="12700">
              <a:spcBef>
                <a:spcPts val="95"/>
              </a:spcBef>
            </a:pPr>
            <a:r>
              <a:rPr sz="1600" spc="-20" dirty="0">
                <a:latin typeface="Microsoft Sans Serif"/>
                <a:cs typeface="Microsoft Sans Serif"/>
                <a:hlinkClick r:id="rId4"/>
              </a:rPr>
              <a:t>https://www.zmescience.com/medicine/inside-human-</a:t>
            </a:r>
            <a:r>
              <a:rPr sz="1600" spc="-10" dirty="0">
                <a:latin typeface="Microsoft Sans Serif"/>
                <a:cs typeface="Microsoft Sans Serif"/>
                <a:hlinkClick r:id="rId4"/>
              </a:rPr>
              <a:t>body-</a:t>
            </a:r>
            <a:r>
              <a:rPr sz="1600" spc="-20" dirty="0">
                <a:latin typeface="Microsoft Sans Serif"/>
                <a:cs typeface="Microsoft Sans Serif"/>
                <a:hlinkClick r:id="rId4"/>
              </a:rPr>
              <a:t>real-time-</a:t>
            </a:r>
            <a:r>
              <a:rPr sz="1600" spc="-10" dirty="0">
                <a:latin typeface="Microsoft Sans Serif"/>
                <a:cs typeface="Microsoft Sans Serif"/>
                <a:hlinkClick r:id="rId4"/>
              </a:rPr>
              <a:t>gifs-demo-power-ct-scan/</a:t>
            </a:r>
            <a:endParaRPr sz="1600" dirty="0">
              <a:latin typeface="Microsoft Sans Serif"/>
              <a:cs typeface="Microsoft Sans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green table with white text&#10;&#10;AI-generated content may be incorrect.">
            <a:extLst>
              <a:ext uri="{FF2B5EF4-FFF2-40B4-BE49-F238E27FC236}">
                <a16:creationId xmlns:a16="http://schemas.microsoft.com/office/drawing/2014/main" id="{88E865D8-F936-04AF-977C-FB3F192BF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52400"/>
            <a:ext cx="8369108" cy="6324600"/>
          </a:xfrm>
          <a:prstGeom prst="rect">
            <a:avLst/>
          </a:prstGeom>
        </p:spPr>
      </p:pic>
    </p:spTree>
    <p:extLst>
      <p:ext uri="{BB962C8B-B14F-4D97-AF65-F5344CB8AC3E}">
        <p14:creationId xmlns:p14="http://schemas.microsoft.com/office/powerpoint/2010/main" val="119689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 y="171705"/>
            <a:ext cx="12192000" cy="1066394"/>
          </a:xfrm>
          <a:prstGeom prst="rect">
            <a:avLst/>
          </a:prstGeom>
        </p:spPr>
        <p:txBody>
          <a:bodyPr vert="horz" wrap="square" lIns="0" tIns="324561" rIns="0" bIns="0" rtlCol="0">
            <a:spAutoFit/>
          </a:bodyPr>
          <a:lstStyle/>
          <a:p>
            <a:pPr algn="ctr">
              <a:spcBef>
                <a:spcPts val="105"/>
              </a:spcBef>
            </a:pPr>
            <a:r>
              <a:rPr sz="4800" b="1" spc="-10" dirty="0">
                <a:latin typeface="Arial" panose="020B0604020202020204" pitchFamily="34" charset="0"/>
                <a:cs typeface="Arial" panose="020B0604020202020204" pitchFamily="34" charset="0"/>
              </a:rPr>
              <a:t>Reminders</a:t>
            </a:r>
            <a:endParaRPr b="1" spc="-10" dirty="0">
              <a:latin typeface="Arial" panose="020B0604020202020204" pitchFamily="34" charset="0"/>
              <a:cs typeface="Arial" panose="020B0604020202020204" pitchFamily="34" charset="0"/>
            </a:endParaRPr>
          </a:p>
        </p:txBody>
      </p:sp>
      <p:sp>
        <p:nvSpPr>
          <p:cNvPr id="3" name="object 3"/>
          <p:cNvSpPr txBox="1"/>
          <p:nvPr/>
        </p:nvSpPr>
        <p:spPr>
          <a:xfrm>
            <a:off x="1524000" y="1676400"/>
            <a:ext cx="9753600" cy="2085827"/>
          </a:xfrm>
          <a:prstGeom prst="rect">
            <a:avLst/>
          </a:prstGeom>
        </p:spPr>
        <p:txBody>
          <a:bodyPr vert="horz" wrap="square" lIns="0" tIns="13335" rIns="0" bIns="0" rtlCol="0">
            <a:spAutoFit/>
          </a:bodyPr>
          <a:lstStyle/>
          <a:p>
            <a:pPr marL="355600" marR="178435" indent="-342900" algn="just">
              <a:spcBef>
                <a:spcPts val="105"/>
              </a:spcBef>
              <a:buChar char="•"/>
              <a:tabLst>
                <a:tab pos="355600" algn="l"/>
              </a:tabLst>
            </a:pPr>
            <a:r>
              <a:rPr sz="3200" dirty="0">
                <a:latin typeface="Microsoft Sans Serif"/>
                <a:cs typeface="Microsoft Sans Serif"/>
              </a:rPr>
              <a:t>Make</a:t>
            </a:r>
            <a:r>
              <a:rPr sz="3200" spc="-30" dirty="0">
                <a:latin typeface="Microsoft Sans Serif"/>
                <a:cs typeface="Microsoft Sans Serif"/>
              </a:rPr>
              <a:t> </a:t>
            </a:r>
            <a:r>
              <a:rPr sz="3200" dirty="0">
                <a:latin typeface="Microsoft Sans Serif"/>
                <a:cs typeface="Microsoft Sans Serif"/>
              </a:rPr>
              <a:t>sure</a:t>
            </a:r>
            <a:r>
              <a:rPr sz="3200" spc="-30" dirty="0">
                <a:latin typeface="Microsoft Sans Serif"/>
                <a:cs typeface="Microsoft Sans Serif"/>
              </a:rPr>
              <a:t> </a:t>
            </a:r>
            <a:r>
              <a:rPr sz="3200" dirty="0">
                <a:latin typeface="Microsoft Sans Serif"/>
                <a:cs typeface="Microsoft Sans Serif"/>
              </a:rPr>
              <a:t>you</a:t>
            </a:r>
            <a:r>
              <a:rPr sz="3200" spc="-30" dirty="0">
                <a:latin typeface="Microsoft Sans Serif"/>
                <a:cs typeface="Microsoft Sans Serif"/>
              </a:rPr>
              <a:t> </a:t>
            </a:r>
            <a:r>
              <a:rPr sz="3200" dirty="0">
                <a:latin typeface="Microsoft Sans Serif"/>
                <a:cs typeface="Microsoft Sans Serif"/>
              </a:rPr>
              <a:t>have</a:t>
            </a:r>
            <a:r>
              <a:rPr sz="3200" spc="-25" dirty="0">
                <a:latin typeface="Microsoft Sans Serif"/>
                <a:cs typeface="Microsoft Sans Serif"/>
              </a:rPr>
              <a:t> </a:t>
            </a:r>
            <a:r>
              <a:rPr sz="3200" spc="-10" dirty="0">
                <a:latin typeface="Microsoft Sans Serif"/>
                <a:cs typeface="Microsoft Sans Serif"/>
              </a:rPr>
              <a:t>MATLAB</a:t>
            </a:r>
            <a:r>
              <a:rPr sz="3200" spc="-30" dirty="0">
                <a:latin typeface="Microsoft Sans Serif"/>
                <a:cs typeface="Microsoft Sans Serif"/>
              </a:rPr>
              <a:t> </a:t>
            </a:r>
            <a:r>
              <a:rPr sz="3200" dirty="0">
                <a:latin typeface="Microsoft Sans Serif"/>
                <a:cs typeface="Microsoft Sans Serif"/>
              </a:rPr>
              <a:t>and</a:t>
            </a:r>
            <a:r>
              <a:rPr sz="3200" spc="-30" dirty="0">
                <a:latin typeface="Microsoft Sans Serif"/>
                <a:cs typeface="Microsoft Sans Serif"/>
              </a:rPr>
              <a:t> </a:t>
            </a:r>
            <a:r>
              <a:rPr sz="3200" spc="-25" dirty="0">
                <a:latin typeface="Microsoft Sans Serif"/>
                <a:cs typeface="Microsoft Sans Serif"/>
              </a:rPr>
              <a:t>the </a:t>
            </a:r>
            <a:r>
              <a:rPr sz="3200" dirty="0">
                <a:latin typeface="Microsoft Sans Serif"/>
                <a:cs typeface="Microsoft Sans Serif"/>
              </a:rPr>
              <a:t>toolboxes</a:t>
            </a:r>
            <a:r>
              <a:rPr sz="3200" spc="-25" dirty="0">
                <a:latin typeface="Microsoft Sans Serif"/>
                <a:cs typeface="Microsoft Sans Serif"/>
              </a:rPr>
              <a:t> </a:t>
            </a:r>
            <a:r>
              <a:rPr sz="3200" dirty="0">
                <a:latin typeface="Microsoft Sans Serif"/>
                <a:cs typeface="Microsoft Sans Serif"/>
              </a:rPr>
              <a:t>(</a:t>
            </a:r>
            <a:r>
              <a:rPr sz="3200" b="1" dirty="0">
                <a:latin typeface="Arial"/>
                <a:cs typeface="Arial"/>
              </a:rPr>
              <a:t>Signal</a:t>
            </a:r>
            <a:r>
              <a:rPr sz="3200" b="1" spc="-85" dirty="0">
                <a:latin typeface="Arial"/>
                <a:cs typeface="Arial"/>
              </a:rPr>
              <a:t> </a:t>
            </a:r>
            <a:r>
              <a:rPr sz="3200" b="1" dirty="0">
                <a:latin typeface="Arial"/>
                <a:cs typeface="Arial"/>
              </a:rPr>
              <a:t>Processing</a:t>
            </a:r>
            <a:r>
              <a:rPr sz="3200" dirty="0">
                <a:latin typeface="Microsoft Sans Serif"/>
                <a:cs typeface="Microsoft Sans Serif"/>
              </a:rPr>
              <a:t>,</a:t>
            </a:r>
            <a:r>
              <a:rPr sz="3200" spc="-35" dirty="0">
                <a:latin typeface="Microsoft Sans Serif"/>
                <a:cs typeface="Microsoft Sans Serif"/>
              </a:rPr>
              <a:t> </a:t>
            </a:r>
            <a:r>
              <a:rPr sz="3200" b="1" spc="-10" dirty="0">
                <a:latin typeface="Arial"/>
                <a:cs typeface="Arial"/>
              </a:rPr>
              <a:t>Image </a:t>
            </a:r>
            <a:r>
              <a:rPr sz="3200" b="1" dirty="0">
                <a:latin typeface="Arial"/>
                <a:cs typeface="Arial"/>
              </a:rPr>
              <a:t>Processing</a:t>
            </a:r>
            <a:r>
              <a:rPr sz="3200" dirty="0">
                <a:latin typeface="Microsoft Sans Serif"/>
                <a:cs typeface="Microsoft Sans Serif"/>
              </a:rPr>
              <a:t>)</a:t>
            </a:r>
            <a:r>
              <a:rPr sz="3200" spc="-25" dirty="0">
                <a:latin typeface="Microsoft Sans Serif"/>
                <a:cs typeface="Microsoft Sans Serif"/>
              </a:rPr>
              <a:t> </a:t>
            </a:r>
            <a:r>
              <a:rPr sz="3200" spc="-10" dirty="0">
                <a:latin typeface="Microsoft Sans Serif"/>
                <a:cs typeface="Microsoft Sans Serif"/>
              </a:rPr>
              <a:t>installed</a:t>
            </a:r>
            <a:endParaRPr sz="3200" dirty="0">
              <a:latin typeface="Microsoft Sans Serif"/>
              <a:cs typeface="Microsoft Sans Serif"/>
            </a:endParaRPr>
          </a:p>
          <a:p>
            <a:pPr marL="355600" marR="5080" indent="-342900" algn="just">
              <a:spcBef>
                <a:spcPts val="770"/>
              </a:spcBef>
              <a:buChar char="•"/>
              <a:tabLst>
                <a:tab pos="355600" algn="l"/>
              </a:tabLst>
            </a:pPr>
            <a:r>
              <a:rPr sz="3200" dirty="0">
                <a:latin typeface="Microsoft Sans Serif"/>
                <a:cs typeface="Microsoft Sans Serif"/>
              </a:rPr>
              <a:t>Download</a:t>
            </a:r>
            <a:r>
              <a:rPr sz="3200" spc="-25" dirty="0">
                <a:latin typeface="Microsoft Sans Serif"/>
                <a:cs typeface="Microsoft Sans Serif"/>
              </a:rPr>
              <a:t> </a:t>
            </a:r>
            <a:r>
              <a:rPr sz="3200" dirty="0">
                <a:latin typeface="Microsoft Sans Serif"/>
                <a:cs typeface="Microsoft Sans Serif"/>
              </a:rPr>
              <a:t>the</a:t>
            </a:r>
            <a:r>
              <a:rPr sz="3200" spc="-10" dirty="0">
                <a:latin typeface="Microsoft Sans Serif"/>
                <a:cs typeface="Microsoft Sans Serif"/>
              </a:rPr>
              <a:t> </a:t>
            </a:r>
            <a:r>
              <a:rPr sz="3200" dirty="0">
                <a:latin typeface="Microsoft Sans Serif"/>
                <a:cs typeface="Microsoft Sans Serif"/>
              </a:rPr>
              <a:t>zip</a:t>
            </a:r>
            <a:r>
              <a:rPr sz="3200" spc="10" dirty="0">
                <a:latin typeface="Microsoft Sans Serif"/>
                <a:cs typeface="Microsoft Sans Serif"/>
              </a:rPr>
              <a:t> </a:t>
            </a:r>
            <a:r>
              <a:rPr sz="3200" dirty="0">
                <a:latin typeface="Microsoft Sans Serif"/>
                <a:cs typeface="Microsoft Sans Serif"/>
              </a:rPr>
              <a:t>file</a:t>
            </a:r>
            <a:r>
              <a:rPr sz="3200" spc="-10" dirty="0">
                <a:latin typeface="Microsoft Sans Serif"/>
                <a:cs typeface="Microsoft Sans Serif"/>
              </a:rPr>
              <a:t> </a:t>
            </a:r>
            <a:r>
              <a:rPr sz="3200" dirty="0">
                <a:latin typeface="Microsoft Sans Serif"/>
                <a:cs typeface="Microsoft Sans Serif"/>
              </a:rPr>
              <a:t>from</a:t>
            </a:r>
            <a:r>
              <a:rPr sz="3200" spc="5" dirty="0">
                <a:latin typeface="Microsoft Sans Serif"/>
                <a:cs typeface="Microsoft Sans Serif"/>
              </a:rPr>
              <a:t> </a:t>
            </a:r>
            <a:r>
              <a:rPr sz="3200" dirty="0">
                <a:latin typeface="Microsoft Sans Serif"/>
                <a:cs typeface="Microsoft Sans Serif"/>
              </a:rPr>
              <a:t>LMS</a:t>
            </a:r>
            <a:r>
              <a:rPr sz="3200" spc="-10" dirty="0">
                <a:latin typeface="Microsoft Sans Serif"/>
                <a:cs typeface="Microsoft Sans Serif"/>
              </a:rPr>
              <a:t> </a:t>
            </a:r>
            <a:r>
              <a:rPr sz="3200" spc="-25" dirty="0">
                <a:latin typeface="Microsoft Sans Serif"/>
                <a:cs typeface="Microsoft Sans Serif"/>
              </a:rPr>
              <a:t>and </a:t>
            </a:r>
            <a:r>
              <a:rPr sz="3200" dirty="0">
                <a:latin typeface="Microsoft Sans Serif"/>
                <a:cs typeface="Microsoft Sans Serif"/>
              </a:rPr>
              <a:t>extract</a:t>
            </a:r>
            <a:r>
              <a:rPr sz="3200" spc="-55" dirty="0">
                <a:latin typeface="Microsoft Sans Serif"/>
                <a:cs typeface="Microsoft Sans Serif"/>
              </a:rPr>
              <a:t> </a:t>
            </a:r>
            <a:r>
              <a:rPr sz="3200" dirty="0">
                <a:latin typeface="Microsoft Sans Serif"/>
                <a:cs typeface="Microsoft Sans Serif"/>
              </a:rPr>
              <a:t>all</a:t>
            </a:r>
            <a:r>
              <a:rPr sz="3200" spc="-35" dirty="0">
                <a:latin typeface="Microsoft Sans Serif"/>
                <a:cs typeface="Microsoft Sans Serif"/>
              </a:rPr>
              <a:t> </a:t>
            </a:r>
            <a:r>
              <a:rPr sz="3200" dirty="0">
                <a:latin typeface="Microsoft Sans Serif"/>
                <a:cs typeface="Microsoft Sans Serif"/>
              </a:rPr>
              <a:t>files</a:t>
            </a:r>
            <a:r>
              <a:rPr sz="3200" spc="-40" dirty="0">
                <a:latin typeface="Microsoft Sans Serif"/>
                <a:cs typeface="Microsoft Sans Serif"/>
              </a:rPr>
              <a:t> </a:t>
            </a:r>
            <a:r>
              <a:rPr sz="3200" dirty="0">
                <a:latin typeface="Microsoft Sans Serif"/>
                <a:cs typeface="Microsoft Sans Serif"/>
              </a:rPr>
              <a:t>into</a:t>
            </a:r>
            <a:r>
              <a:rPr sz="3200" spc="-25" dirty="0">
                <a:latin typeface="Microsoft Sans Serif"/>
                <a:cs typeface="Microsoft Sans Serif"/>
              </a:rPr>
              <a:t> </a:t>
            </a:r>
            <a:r>
              <a:rPr sz="3200" dirty="0">
                <a:latin typeface="Microsoft Sans Serif"/>
                <a:cs typeface="Microsoft Sans Serif"/>
              </a:rPr>
              <a:t>your</a:t>
            </a:r>
            <a:r>
              <a:rPr sz="3200" spc="-45" dirty="0">
                <a:latin typeface="Microsoft Sans Serif"/>
                <a:cs typeface="Microsoft Sans Serif"/>
              </a:rPr>
              <a:t> </a:t>
            </a:r>
            <a:r>
              <a:rPr sz="3200" spc="-10" dirty="0">
                <a:latin typeface="Microsoft Sans Serif"/>
                <a:cs typeface="Microsoft Sans Serif"/>
              </a:rPr>
              <a:t>MATLAB</a:t>
            </a:r>
            <a:r>
              <a:rPr sz="3200" spc="-35" dirty="0">
                <a:latin typeface="Microsoft Sans Serif"/>
                <a:cs typeface="Microsoft Sans Serif"/>
              </a:rPr>
              <a:t> </a:t>
            </a:r>
            <a:r>
              <a:rPr sz="3200" spc="-10" dirty="0">
                <a:latin typeface="Microsoft Sans Serif"/>
                <a:cs typeface="Microsoft Sans Serif"/>
              </a:rPr>
              <a:t>folder</a:t>
            </a:r>
            <a:endParaRPr sz="3200" dirty="0">
              <a:latin typeface="Microsoft Sans Serif"/>
              <a:cs typeface="Microsoft Sans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3066416"/>
            <a:ext cx="12192000" cy="752129"/>
          </a:xfrm>
          <a:prstGeom prst="rect">
            <a:avLst/>
          </a:prstGeom>
        </p:spPr>
        <p:txBody>
          <a:bodyPr vert="horz" wrap="square" lIns="0" tIns="13335" rIns="0" bIns="0" rtlCol="0">
            <a:spAutoFit/>
          </a:bodyPr>
          <a:lstStyle/>
          <a:p>
            <a:pPr marL="12700" algn="ctr">
              <a:spcBef>
                <a:spcPts val="105"/>
              </a:spcBef>
            </a:pPr>
            <a:r>
              <a:rPr sz="4800" b="1" dirty="0">
                <a:latin typeface="Arial" panose="020B0604020202020204" pitchFamily="34" charset="0"/>
                <a:cs typeface="Arial" panose="020B0604020202020204" pitchFamily="34" charset="0"/>
              </a:rPr>
              <a:t>Theory</a:t>
            </a:r>
            <a:r>
              <a:rPr sz="4800" b="1" spc="40" dirty="0">
                <a:latin typeface="Arial" panose="020B0604020202020204" pitchFamily="34" charset="0"/>
                <a:cs typeface="Arial" panose="020B0604020202020204" pitchFamily="34" charset="0"/>
              </a:rPr>
              <a:t> </a:t>
            </a:r>
            <a:r>
              <a:rPr sz="4800" b="1" dirty="0">
                <a:latin typeface="Arial" panose="020B0604020202020204" pitchFamily="34" charset="0"/>
                <a:cs typeface="Arial" panose="020B0604020202020204" pitchFamily="34" charset="0"/>
              </a:rPr>
              <a:t>of</a:t>
            </a:r>
            <a:r>
              <a:rPr sz="4800" b="1" spc="35" dirty="0">
                <a:latin typeface="Arial" panose="020B0604020202020204" pitchFamily="34" charset="0"/>
                <a:cs typeface="Arial" panose="020B0604020202020204" pitchFamily="34" charset="0"/>
              </a:rPr>
              <a:t> </a:t>
            </a:r>
            <a:r>
              <a:rPr sz="4800" b="1" spc="-25" dirty="0">
                <a:latin typeface="Arial" panose="020B0604020202020204" pitchFamily="34" charset="0"/>
                <a:cs typeface="Arial" panose="020B0604020202020204" pitchFamily="34" charset="0"/>
              </a:rPr>
              <a:t>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1705"/>
            <a:ext cx="12192000" cy="1066394"/>
          </a:xfrm>
          <a:prstGeom prst="rect">
            <a:avLst/>
          </a:prstGeom>
        </p:spPr>
        <p:txBody>
          <a:bodyPr vert="horz" wrap="square" lIns="0" tIns="324561" rIns="0" bIns="0" rtlCol="0">
            <a:spAutoFit/>
          </a:bodyPr>
          <a:lstStyle/>
          <a:p>
            <a:pPr algn="ctr">
              <a:spcBef>
                <a:spcPts val="105"/>
              </a:spcBef>
            </a:pPr>
            <a:r>
              <a:rPr sz="4800" b="1" spc="-25" dirty="0">
                <a:latin typeface="Arial" panose="020B0604020202020204" pitchFamily="34" charset="0"/>
                <a:cs typeface="Arial" panose="020B0604020202020204" pitchFamily="34" charset="0"/>
              </a:rPr>
              <a:t>CT</a:t>
            </a:r>
            <a:r>
              <a:rPr lang="en-US" sz="4800" b="1" spc="-25" dirty="0">
                <a:latin typeface="Arial" panose="020B0604020202020204" pitchFamily="34" charset="0"/>
                <a:cs typeface="Arial" panose="020B0604020202020204" pitchFamily="34" charset="0"/>
              </a:rPr>
              <a:t> Process</a:t>
            </a:r>
            <a:endParaRPr sz="4800" b="1" spc="-25" dirty="0">
              <a:latin typeface="Arial" panose="020B0604020202020204" pitchFamily="34" charset="0"/>
              <a:cs typeface="Arial" panose="020B0604020202020204" pitchFamily="34" charset="0"/>
            </a:endParaRPr>
          </a:p>
        </p:txBody>
      </p:sp>
      <p:sp>
        <p:nvSpPr>
          <p:cNvPr id="3" name="object 3"/>
          <p:cNvSpPr txBox="1"/>
          <p:nvPr/>
        </p:nvSpPr>
        <p:spPr>
          <a:xfrm>
            <a:off x="381001" y="1536620"/>
            <a:ext cx="11049000" cy="1052211"/>
          </a:xfrm>
          <a:prstGeom prst="rect">
            <a:avLst/>
          </a:prstGeom>
        </p:spPr>
        <p:txBody>
          <a:bodyPr vert="horz" wrap="square" lIns="0" tIns="99695" rIns="0" bIns="0" rtlCol="0">
            <a:spAutoFit/>
          </a:bodyPr>
          <a:lstStyle/>
          <a:p>
            <a:pPr marL="354965" indent="-342265">
              <a:spcBef>
                <a:spcPts val="785"/>
              </a:spcBef>
              <a:buChar char="•"/>
              <a:tabLst>
                <a:tab pos="354965" algn="l"/>
              </a:tabLst>
            </a:pPr>
            <a:r>
              <a:rPr sz="2800" spc="-10" dirty="0">
                <a:latin typeface="Microsoft Sans Serif"/>
                <a:cs typeface="Microsoft Sans Serif"/>
              </a:rPr>
              <a:t>X-</a:t>
            </a:r>
            <a:r>
              <a:rPr sz="2800" dirty="0">
                <a:latin typeface="Microsoft Sans Serif"/>
                <a:cs typeface="Microsoft Sans Serif"/>
              </a:rPr>
              <a:t>ray</a:t>
            </a:r>
            <a:r>
              <a:rPr sz="2800" spc="-40" dirty="0">
                <a:latin typeface="Microsoft Sans Serif"/>
                <a:cs typeface="Microsoft Sans Serif"/>
              </a:rPr>
              <a:t> </a:t>
            </a:r>
            <a:r>
              <a:rPr sz="2800" dirty="0">
                <a:latin typeface="Microsoft Sans Serif"/>
                <a:cs typeface="Microsoft Sans Serif"/>
              </a:rPr>
              <a:t>projections</a:t>
            </a:r>
            <a:r>
              <a:rPr sz="2800" spc="-35" dirty="0">
                <a:latin typeface="Microsoft Sans Serif"/>
                <a:cs typeface="Microsoft Sans Serif"/>
              </a:rPr>
              <a:t> </a:t>
            </a:r>
            <a:r>
              <a:rPr sz="2800" dirty="0">
                <a:latin typeface="Microsoft Sans Serif"/>
                <a:cs typeface="Microsoft Sans Serif"/>
              </a:rPr>
              <a:t>are</a:t>
            </a:r>
            <a:r>
              <a:rPr sz="2800" spc="-40" dirty="0">
                <a:latin typeface="Microsoft Sans Serif"/>
                <a:cs typeface="Microsoft Sans Serif"/>
              </a:rPr>
              <a:t> </a:t>
            </a:r>
            <a:r>
              <a:rPr sz="2800" dirty="0">
                <a:latin typeface="Microsoft Sans Serif"/>
                <a:cs typeface="Microsoft Sans Serif"/>
              </a:rPr>
              <a:t>taken</a:t>
            </a:r>
            <a:r>
              <a:rPr sz="2800" spc="-45" dirty="0">
                <a:latin typeface="Microsoft Sans Serif"/>
                <a:cs typeface="Microsoft Sans Serif"/>
              </a:rPr>
              <a:t> </a:t>
            </a:r>
            <a:r>
              <a:rPr sz="2800" dirty="0">
                <a:latin typeface="Microsoft Sans Serif"/>
                <a:cs typeface="Microsoft Sans Serif"/>
              </a:rPr>
              <a:t>at</a:t>
            </a:r>
            <a:r>
              <a:rPr sz="2800" spc="-30" dirty="0">
                <a:latin typeface="Microsoft Sans Serif"/>
                <a:cs typeface="Microsoft Sans Serif"/>
              </a:rPr>
              <a:t> </a:t>
            </a:r>
            <a:r>
              <a:rPr sz="2800" dirty="0">
                <a:latin typeface="Microsoft Sans Serif"/>
                <a:cs typeface="Microsoft Sans Serif"/>
              </a:rPr>
              <a:t>multiple</a:t>
            </a:r>
            <a:r>
              <a:rPr sz="2800" spc="-30" dirty="0">
                <a:latin typeface="Microsoft Sans Serif"/>
                <a:cs typeface="Microsoft Sans Serif"/>
              </a:rPr>
              <a:t> </a:t>
            </a:r>
            <a:r>
              <a:rPr sz="2800" spc="-10" dirty="0">
                <a:latin typeface="Microsoft Sans Serif"/>
                <a:cs typeface="Microsoft Sans Serif"/>
              </a:rPr>
              <a:t>views</a:t>
            </a:r>
            <a:endParaRPr sz="2400" dirty="0">
              <a:latin typeface="Microsoft Sans Serif"/>
              <a:cs typeface="Microsoft Sans Serif"/>
            </a:endParaRPr>
          </a:p>
          <a:p>
            <a:pPr marL="355600" marR="5080" indent="-342900">
              <a:spcBef>
                <a:spcPts val="655"/>
              </a:spcBef>
              <a:buChar char="•"/>
              <a:tabLst>
                <a:tab pos="355600" algn="l"/>
              </a:tabLst>
            </a:pPr>
            <a:r>
              <a:rPr sz="2800" dirty="0">
                <a:latin typeface="Microsoft Sans Serif"/>
                <a:cs typeface="Microsoft Sans Serif"/>
              </a:rPr>
              <a:t>Solve</a:t>
            </a:r>
            <a:r>
              <a:rPr sz="2800" spc="-30" dirty="0">
                <a:latin typeface="Microsoft Sans Serif"/>
                <a:cs typeface="Microsoft Sans Serif"/>
              </a:rPr>
              <a:t> </a:t>
            </a:r>
            <a:r>
              <a:rPr sz="2800" dirty="0">
                <a:latin typeface="Microsoft Sans Serif"/>
                <a:cs typeface="Microsoft Sans Serif"/>
              </a:rPr>
              <a:t>the</a:t>
            </a:r>
            <a:r>
              <a:rPr sz="2800" spc="-35" dirty="0">
                <a:latin typeface="Microsoft Sans Serif"/>
                <a:cs typeface="Microsoft Sans Serif"/>
              </a:rPr>
              <a:t> </a:t>
            </a:r>
            <a:r>
              <a:rPr sz="2800" dirty="0">
                <a:latin typeface="Microsoft Sans Serif"/>
                <a:cs typeface="Microsoft Sans Serif"/>
              </a:rPr>
              <a:t>inverse</a:t>
            </a:r>
            <a:r>
              <a:rPr sz="2800" spc="-35" dirty="0">
                <a:latin typeface="Microsoft Sans Serif"/>
                <a:cs typeface="Microsoft Sans Serif"/>
              </a:rPr>
              <a:t> </a:t>
            </a:r>
            <a:r>
              <a:rPr sz="2800" dirty="0">
                <a:latin typeface="Microsoft Sans Serif"/>
                <a:cs typeface="Microsoft Sans Serif"/>
              </a:rPr>
              <a:t>problem</a:t>
            </a:r>
            <a:r>
              <a:rPr sz="2800" spc="-10" dirty="0">
                <a:latin typeface="Microsoft Sans Serif"/>
                <a:cs typeface="Microsoft Sans Serif"/>
              </a:rPr>
              <a:t> </a:t>
            </a:r>
            <a:r>
              <a:rPr sz="2800" dirty="0">
                <a:latin typeface="Microsoft Sans Serif"/>
                <a:cs typeface="Microsoft Sans Serif"/>
              </a:rPr>
              <a:t>to</a:t>
            </a:r>
            <a:r>
              <a:rPr sz="2800" spc="-35" dirty="0">
                <a:latin typeface="Microsoft Sans Serif"/>
                <a:cs typeface="Microsoft Sans Serif"/>
              </a:rPr>
              <a:t> </a:t>
            </a:r>
            <a:r>
              <a:rPr sz="2800" dirty="0">
                <a:latin typeface="Microsoft Sans Serif"/>
                <a:cs typeface="Microsoft Sans Serif"/>
              </a:rPr>
              <a:t>get</a:t>
            </a:r>
            <a:r>
              <a:rPr sz="2800" spc="-35" dirty="0">
                <a:latin typeface="Microsoft Sans Serif"/>
                <a:cs typeface="Microsoft Sans Serif"/>
              </a:rPr>
              <a:t> </a:t>
            </a:r>
            <a:r>
              <a:rPr sz="2800" spc="-10" dirty="0">
                <a:latin typeface="Microsoft Sans Serif"/>
                <a:cs typeface="Microsoft Sans Serif"/>
              </a:rPr>
              <a:t>tomographic </a:t>
            </a:r>
            <a:r>
              <a:rPr sz="2800" dirty="0">
                <a:latin typeface="Microsoft Sans Serif"/>
                <a:cs typeface="Microsoft Sans Serif"/>
              </a:rPr>
              <a:t>information</a:t>
            </a:r>
            <a:r>
              <a:rPr sz="2800" spc="-45" dirty="0">
                <a:latin typeface="Microsoft Sans Serif"/>
                <a:cs typeface="Microsoft Sans Serif"/>
              </a:rPr>
              <a:t> </a:t>
            </a:r>
            <a:r>
              <a:rPr sz="2800" dirty="0">
                <a:latin typeface="Microsoft Sans Serif"/>
                <a:cs typeface="Microsoft Sans Serif"/>
              </a:rPr>
              <a:t>(CT</a:t>
            </a:r>
            <a:r>
              <a:rPr sz="2800" spc="-10" dirty="0">
                <a:latin typeface="Microsoft Sans Serif"/>
                <a:cs typeface="Microsoft Sans Serif"/>
              </a:rPr>
              <a:t>)</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609600" y="2653346"/>
            <a:ext cx="7707633" cy="40329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1705"/>
            <a:ext cx="12192001" cy="1066394"/>
          </a:xfrm>
          <a:prstGeom prst="rect">
            <a:avLst/>
          </a:prstGeom>
        </p:spPr>
        <p:txBody>
          <a:bodyPr vert="horz" wrap="square" lIns="0" tIns="324561" rIns="0" bIns="0" rtlCol="0">
            <a:spAutoFit/>
          </a:bodyPr>
          <a:lstStyle/>
          <a:p>
            <a:pPr marL="365760" algn="ctr">
              <a:spcBef>
                <a:spcPts val="105"/>
              </a:spcBef>
            </a:pPr>
            <a:r>
              <a:rPr lang="en-US" sz="4800" b="1" dirty="0">
                <a:latin typeface="Arial" panose="020B0604020202020204" pitchFamily="34" charset="0"/>
                <a:cs typeface="Arial" panose="020B0604020202020204" pitchFamily="34" charset="0"/>
              </a:rPr>
              <a:t>Sampling &amp; </a:t>
            </a:r>
            <a:r>
              <a:rPr sz="4800" b="1" dirty="0">
                <a:latin typeface="Arial" panose="020B0604020202020204" pitchFamily="34" charset="0"/>
                <a:cs typeface="Arial" panose="020B0604020202020204" pitchFamily="34" charset="0"/>
              </a:rPr>
              <a:t>Resolution</a:t>
            </a:r>
            <a:endParaRPr sz="4800" b="1" spc="-10" dirty="0">
              <a:latin typeface="Arial" panose="020B0604020202020204" pitchFamily="34" charset="0"/>
              <a:cs typeface="Arial" panose="020B0604020202020204" pitchFamily="34" charset="0"/>
            </a:endParaRPr>
          </a:p>
        </p:txBody>
      </p:sp>
      <p:sp>
        <p:nvSpPr>
          <p:cNvPr id="3" name="object 3"/>
          <p:cNvSpPr txBox="1"/>
          <p:nvPr/>
        </p:nvSpPr>
        <p:spPr>
          <a:xfrm>
            <a:off x="183514" y="1624330"/>
            <a:ext cx="7938134" cy="1818005"/>
          </a:xfrm>
          <a:prstGeom prst="rect">
            <a:avLst/>
          </a:prstGeom>
        </p:spPr>
        <p:txBody>
          <a:bodyPr vert="horz" wrap="square" lIns="0" tIns="12065" rIns="0" bIns="0" rtlCol="0">
            <a:spAutoFit/>
          </a:bodyPr>
          <a:lstStyle/>
          <a:p>
            <a:pPr marL="355600" marR="5080" indent="-342900">
              <a:spcBef>
                <a:spcPts val="95"/>
              </a:spcBef>
              <a:buFont typeface="Microsoft Sans Serif"/>
              <a:buChar char="•"/>
              <a:tabLst>
                <a:tab pos="355600" algn="l"/>
              </a:tabLst>
            </a:pPr>
            <a:r>
              <a:rPr sz="2800" b="1" dirty="0">
                <a:latin typeface="Arial"/>
                <a:cs typeface="Arial"/>
              </a:rPr>
              <a:t>Number</a:t>
            </a:r>
            <a:r>
              <a:rPr sz="2800" b="1" spc="-70" dirty="0">
                <a:latin typeface="Arial"/>
                <a:cs typeface="Arial"/>
              </a:rPr>
              <a:t> </a:t>
            </a:r>
            <a:r>
              <a:rPr sz="2800" b="1" dirty="0">
                <a:latin typeface="Arial"/>
                <a:cs typeface="Arial"/>
              </a:rPr>
              <a:t>of</a:t>
            </a:r>
            <a:r>
              <a:rPr sz="2800" b="1" spc="-90" dirty="0">
                <a:latin typeface="Arial"/>
                <a:cs typeface="Arial"/>
              </a:rPr>
              <a:t> </a:t>
            </a:r>
            <a:r>
              <a:rPr sz="2800" b="1" dirty="0">
                <a:latin typeface="Arial"/>
                <a:cs typeface="Arial"/>
              </a:rPr>
              <a:t>rays</a:t>
            </a:r>
            <a:r>
              <a:rPr sz="2800" b="1" spc="-45" dirty="0">
                <a:latin typeface="Arial"/>
                <a:cs typeface="Arial"/>
              </a:rPr>
              <a:t> </a:t>
            </a:r>
            <a:r>
              <a:rPr sz="2800" dirty="0">
                <a:latin typeface="Microsoft Sans Serif"/>
                <a:cs typeface="Microsoft Sans Serif"/>
              </a:rPr>
              <a:t>affects</a:t>
            </a:r>
            <a:r>
              <a:rPr sz="2800" spc="-80" dirty="0">
                <a:latin typeface="Microsoft Sans Serif"/>
                <a:cs typeface="Microsoft Sans Serif"/>
              </a:rPr>
              <a:t> </a:t>
            </a:r>
            <a:r>
              <a:rPr sz="2800" dirty="0">
                <a:latin typeface="Microsoft Sans Serif"/>
                <a:cs typeface="Microsoft Sans Serif"/>
              </a:rPr>
              <a:t>the</a:t>
            </a:r>
            <a:r>
              <a:rPr sz="2800" spc="-50" dirty="0">
                <a:latin typeface="Microsoft Sans Serif"/>
                <a:cs typeface="Microsoft Sans Serif"/>
              </a:rPr>
              <a:t> </a:t>
            </a:r>
            <a:r>
              <a:rPr sz="2800" dirty="0">
                <a:latin typeface="Microsoft Sans Serif"/>
                <a:cs typeface="Microsoft Sans Serif"/>
              </a:rPr>
              <a:t>radial</a:t>
            </a:r>
            <a:r>
              <a:rPr sz="2800" spc="-55" dirty="0">
                <a:latin typeface="Microsoft Sans Serif"/>
                <a:cs typeface="Microsoft Sans Serif"/>
              </a:rPr>
              <a:t> </a:t>
            </a:r>
            <a:r>
              <a:rPr sz="2800" dirty="0">
                <a:latin typeface="Microsoft Sans Serif"/>
                <a:cs typeface="Microsoft Sans Serif"/>
              </a:rPr>
              <a:t>component</a:t>
            </a:r>
            <a:r>
              <a:rPr sz="2800" spc="-45" dirty="0">
                <a:latin typeface="Microsoft Sans Serif"/>
                <a:cs typeface="Microsoft Sans Serif"/>
              </a:rPr>
              <a:t> </a:t>
            </a:r>
            <a:r>
              <a:rPr sz="2800" spc="-25" dirty="0">
                <a:latin typeface="Microsoft Sans Serif"/>
                <a:cs typeface="Microsoft Sans Serif"/>
              </a:rPr>
              <a:t>of </a:t>
            </a:r>
            <a:r>
              <a:rPr sz="2800" dirty="0">
                <a:latin typeface="Microsoft Sans Serif"/>
                <a:cs typeface="Microsoft Sans Serif"/>
              </a:rPr>
              <a:t>spatial</a:t>
            </a:r>
            <a:r>
              <a:rPr sz="2800" spc="-45" dirty="0">
                <a:latin typeface="Microsoft Sans Serif"/>
                <a:cs typeface="Microsoft Sans Serif"/>
              </a:rPr>
              <a:t> </a:t>
            </a:r>
            <a:r>
              <a:rPr sz="2800" spc="-10" dirty="0">
                <a:latin typeface="Microsoft Sans Serif"/>
                <a:cs typeface="Microsoft Sans Serif"/>
              </a:rPr>
              <a:t>resolution</a:t>
            </a:r>
            <a:endParaRPr sz="2800">
              <a:latin typeface="Microsoft Sans Serif"/>
              <a:cs typeface="Microsoft Sans Serif"/>
            </a:endParaRPr>
          </a:p>
          <a:p>
            <a:pPr marL="355600" marR="581660" indent="-342900">
              <a:spcBef>
                <a:spcPts val="675"/>
              </a:spcBef>
              <a:buFont typeface="Microsoft Sans Serif"/>
              <a:buChar char="•"/>
              <a:tabLst>
                <a:tab pos="355600" algn="l"/>
              </a:tabLst>
            </a:pPr>
            <a:r>
              <a:rPr sz="2800" b="1" dirty="0">
                <a:latin typeface="Arial"/>
                <a:cs typeface="Arial"/>
              </a:rPr>
              <a:t>Number</a:t>
            </a:r>
            <a:r>
              <a:rPr sz="2800" b="1" spc="-50" dirty="0">
                <a:latin typeface="Arial"/>
                <a:cs typeface="Arial"/>
              </a:rPr>
              <a:t> </a:t>
            </a:r>
            <a:r>
              <a:rPr sz="2800" b="1" dirty="0">
                <a:latin typeface="Arial"/>
                <a:cs typeface="Arial"/>
              </a:rPr>
              <a:t>of</a:t>
            </a:r>
            <a:r>
              <a:rPr sz="2800" b="1" spc="-80" dirty="0">
                <a:latin typeface="Arial"/>
                <a:cs typeface="Arial"/>
              </a:rPr>
              <a:t> </a:t>
            </a:r>
            <a:r>
              <a:rPr sz="2800" b="1" dirty="0">
                <a:latin typeface="Arial"/>
                <a:cs typeface="Arial"/>
              </a:rPr>
              <a:t>views</a:t>
            </a:r>
            <a:r>
              <a:rPr sz="2800" b="1" spc="-60" dirty="0">
                <a:latin typeface="Arial"/>
                <a:cs typeface="Arial"/>
              </a:rPr>
              <a:t> </a:t>
            </a:r>
            <a:r>
              <a:rPr sz="2800" dirty="0">
                <a:latin typeface="Microsoft Sans Serif"/>
                <a:cs typeface="Microsoft Sans Serif"/>
              </a:rPr>
              <a:t>affects</a:t>
            </a:r>
            <a:r>
              <a:rPr sz="2800" spc="-65" dirty="0">
                <a:latin typeface="Microsoft Sans Serif"/>
                <a:cs typeface="Microsoft Sans Serif"/>
              </a:rPr>
              <a:t> </a:t>
            </a:r>
            <a:r>
              <a:rPr sz="2800" dirty="0">
                <a:latin typeface="Microsoft Sans Serif"/>
                <a:cs typeface="Microsoft Sans Serif"/>
              </a:rPr>
              <a:t>the</a:t>
            </a:r>
            <a:r>
              <a:rPr sz="2800" spc="-35" dirty="0">
                <a:latin typeface="Microsoft Sans Serif"/>
                <a:cs typeface="Microsoft Sans Serif"/>
              </a:rPr>
              <a:t> </a:t>
            </a:r>
            <a:r>
              <a:rPr sz="2800" spc="-10" dirty="0">
                <a:latin typeface="Microsoft Sans Serif"/>
                <a:cs typeface="Microsoft Sans Serif"/>
              </a:rPr>
              <a:t>circumferential </a:t>
            </a:r>
            <a:r>
              <a:rPr sz="2800" dirty="0">
                <a:latin typeface="Microsoft Sans Serif"/>
                <a:cs typeface="Microsoft Sans Serif"/>
              </a:rPr>
              <a:t>component</a:t>
            </a:r>
            <a:r>
              <a:rPr sz="2800" spc="-35" dirty="0">
                <a:latin typeface="Microsoft Sans Serif"/>
                <a:cs typeface="Microsoft Sans Serif"/>
              </a:rPr>
              <a:t> </a:t>
            </a:r>
            <a:r>
              <a:rPr sz="2800" dirty="0">
                <a:latin typeface="Microsoft Sans Serif"/>
                <a:cs typeface="Microsoft Sans Serif"/>
              </a:rPr>
              <a:t>of</a:t>
            </a:r>
            <a:r>
              <a:rPr sz="2800" spc="-55" dirty="0">
                <a:latin typeface="Microsoft Sans Serif"/>
                <a:cs typeface="Microsoft Sans Serif"/>
              </a:rPr>
              <a:t> </a:t>
            </a:r>
            <a:r>
              <a:rPr sz="2800" spc="-10" dirty="0">
                <a:latin typeface="Microsoft Sans Serif"/>
                <a:cs typeface="Microsoft Sans Serif"/>
              </a:rPr>
              <a:t>resolution</a:t>
            </a:r>
            <a:endParaRPr sz="2800">
              <a:latin typeface="Microsoft Sans Serif"/>
              <a:cs typeface="Microsoft Sans Serif"/>
            </a:endParaRPr>
          </a:p>
        </p:txBody>
      </p:sp>
      <p:pic>
        <p:nvPicPr>
          <p:cNvPr id="4" name="object 4"/>
          <p:cNvPicPr/>
          <p:nvPr/>
        </p:nvPicPr>
        <p:blipFill>
          <a:blip r:embed="rId3" cstate="print"/>
          <a:stretch>
            <a:fillRect/>
          </a:stretch>
        </p:blipFill>
        <p:spPr>
          <a:xfrm>
            <a:off x="3914775" y="3733800"/>
            <a:ext cx="4314825" cy="2781300"/>
          </a:xfrm>
          <a:prstGeom prst="rect">
            <a:avLst/>
          </a:prstGeom>
        </p:spPr>
      </p:pic>
      <p:pic>
        <p:nvPicPr>
          <p:cNvPr id="5" name="object 5"/>
          <p:cNvPicPr/>
          <p:nvPr/>
        </p:nvPicPr>
        <p:blipFill>
          <a:blip r:embed="rId4" cstate="print"/>
          <a:stretch>
            <a:fillRect/>
          </a:stretch>
        </p:blipFill>
        <p:spPr>
          <a:xfrm>
            <a:off x="990599" y="3971925"/>
            <a:ext cx="2724150" cy="2266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 y="171705"/>
            <a:ext cx="12192000" cy="1066394"/>
          </a:xfrm>
          <a:prstGeom prst="rect">
            <a:avLst/>
          </a:prstGeom>
        </p:spPr>
        <p:txBody>
          <a:bodyPr vert="horz" wrap="square" lIns="0" tIns="324561" rIns="0" bIns="0" rtlCol="0">
            <a:spAutoFit/>
          </a:bodyPr>
          <a:lstStyle/>
          <a:p>
            <a:pPr algn="ctr">
              <a:spcBef>
                <a:spcPts val="105"/>
              </a:spcBef>
            </a:pPr>
            <a:r>
              <a:rPr sz="4800" b="1" dirty="0">
                <a:latin typeface="Arial" panose="020B0604020202020204" pitchFamily="34" charset="0"/>
                <a:cs typeface="Arial" panose="020B0604020202020204" pitchFamily="34" charset="0"/>
              </a:rPr>
              <a:t>Radon</a:t>
            </a:r>
            <a:r>
              <a:rPr sz="4800" b="1" spc="55" dirty="0">
                <a:latin typeface="Arial" panose="020B0604020202020204" pitchFamily="34" charset="0"/>
                <a:cs typeface="Arial" panose="020B0604020202020204" pitchFamily="34" charset="0"/>
              </a:rPr>
              <a:t> </a:t>
            </a:r>
            <a:r>
              <a:rPr lang="en-US" sz="4800" b="1" spc="-10" dirty="0">
                <a:latin typeface="Arial" panose="020B0604020202020204" pitchFamily="34" charset="0"/>
                <a:cs typeface="Arial" panose="020B0604020202020204" pitchFamily="34" charset="0"/>
              </a:rPr>
              <a:t>T</a:t>
            </a:r>
            <a:r>
              <a:rPr sz="4800" b="1" spc="-10" dirty="0">
                <a:latin typeface="Arial" panose="020B0604020202020204" pitchFamily="34" charset="0"/>
                <a:cs typeface="Arial" panose="020B0604020202020204" pitchFamily="34" charset="0"/>
              </a:rPr>
              <a:t>ransform</a:t>
            </a:r>
          </a:p>
        </p:txBody>
      </p:sp>
      <p:sp>
        <p:nvSpPr>
          <p:cNvPr id="3" name="object 3"/>
          <p:cNvSpPr txBox="1"/>
          <p:nvPr/>
        </p:nvSpPr>
        <p:spPr>
          <a:xfrm>
            <a:off x="685800" y="1570540"/>
            <a:ext cx="7533640" cy="2198370"/>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Representation</a:t>
            </a:r>
            <a:r>
              <a:rPr sz="2800" spc="-40" dirty="0">
                <a:latin typeface="Microsoft Sans Serif"/>
                <a:cs typeface="Microsoft Sans Serif"/>
              </a:rPr>
              <a:t> </a:t>
            </a:r>
            <a:r>
              <a:rPr sz="2800" dirty="0">
                <a:latin typeface="Microsoft Sans Serif"/>
                <a:cs typeface="Microsoft Sans Serif"/>
              </a:rPr>
              <a:t>of</a:t>
            </a:r>
            <a:r>
              <a:rPr sz="2800" spc="-50" dirty="0">
                <a:latin typeface="Microsoft Sans Serif"/>
                <a:cs typeface="Microsoft Sans Serif"/>
              </a:rPr>
              <a:t> </a:t>
            </a:r>
            <a:r>
              <a:rPr sz="2800" dirty="0">
                <a:latin typeface="Microsoft Sans Serif"/>
                <a:cs typeface="Microsoft Sans Serif"/>
              </a:rPr>
              <a:t>the</a:t>
            </a:r>
            <a:r>
              <a:rPr sz="2800" spc="-40" dirty="0">
                <a:latin typeface="Microsoft Sans Serif"/>
                <a:cs typeface="Microsoft Sans Serif"/>
              </a:rPr>
              <a:t> </a:t>
            </a:r>
            <a:r>
              <a:rPr sz="2800" dirty="0">
                <a:latin typeface="Microsoft Sans Serif"/>
                <a:cs typeface="Microsoft Sans Serif"/>
              </a:rPr>
              <a:t>X-ray</a:t>
            </a:r>
            <a:r>
              <a:rPr sz="2800" spc="-45" dirty="0">
                <a:latin typeface="Microsoft Sans Serif"/>
                <a:cs typeface="Microsoft Sans Serif"/>
              </a:rPr>
              <a:t> </a:t>
            </a:r>
            <a:r>
              <a:rPr sz="2800" dirty="0">
                <a:latin typeface="Microsoft Sans Serif"/>
                <a:cs typeface="Microsoft Sans Serif"/>
              </a:rPr>
              <a:t>projection</a:t>
            </a:r>
            <a:r>
              <a:rPr sz="2800" spc="-55" dirty="0">
                <a:latin typeface="Microsoft Sans Serif"/>
                <a:cs typeface="Microsoft Sans Serif"/>
              </a:rPr>
              <a:t> </a:t>
            </a:r>
            <a:r>
              <a:rPr sz="2800" dirty="0">
                <a:latin typeface="Microsoft Sans Serif"/>
                <a:cs typeface="Microsoft Sans Serif"/>
              </a:rPr>
              <a:t>data</a:t>
            </a:r>
            <a:r>
              <a:rPr sz="2800" spc="-40" dirty="0">
                <a:latin typeface="Microsoft Sans Serif"/>
                <a:cs typeface="Microsoft Sans Serif"/>
              </a:rPr>
              <a:t> </a:t>
            </a:r>
            <a:r>
              <a:rPr sz="2800" spc="-25" dirty="0">
                <a:latin typeface="Microsoft Sans Serif"/>
                <a:cs typeface="Microsoft Sans Serif"/>
              </a:rPr>
              <a:t>in </a:t>
            </a:r>
            <a:r>
              <a:rPr sz="2800" dirty="0">
                <a:latin typeface="Microsoft Sans Serif"/>
                <a:cs typeface="Microsoft Sans Serif"/>
              </a:rPr>
              <a:t>the</a:t>
            </a:r>
            <a:r>
              <a:rPr sz="2800" spc="5" dirty="0">
                <a:latin typeface="Microsoft Sans Serif"/>
                <a:cs typeface="Microsoft Sans Serif"/>
              </a:rPr>
              <a:t> </a:t>
            </a:r>
            <a:r>
              <a:rPr sz="2800" dirty="0">
                <a:latin typeface="Microsoft Sans Serif"/>
                <a:cs typeface="Microsoft Sans Serif"/>
              </a:rPr>
              <a:t>form</a:t>
            </a:r>
            <a:r>
              <a:rPr sz="2800" spc="-5" dirty="0">
                <a:latin typeface="Microsoft Sans Serif"/>
                <a:cs typeface="Microsoft Sans Serif"/>
              </a:rPr>
              <a:t> </a:t>
            </a:r>
            <a:r>
              <a:rPr sz="2800" dirty="0">
                <a:latin typeface="Microsoft Sans Serif"/>
                <a:cs typeface="Microsoft Sans Serif"/>
              </a:rPr>
              <a:t>of</a:t>
            </a:r>
            <a:r>
              <a:rPr sz="2800" spc="-5" dirty="0">
                <a:latin typeface="Microsoft Sans Serif"/>
                <a:cs typeface="Microsoft Sans Serif"/>
              </a:rPr>
              <a:t> </a:t>
            </a:r>
            <a:r>
              <a:rPr sz="2800" dirty="0">
                <a:latin typeface="Microsoft Sans Serif"/>
                <a:cs typeface="Microsoft Sans Serif"/>
              </a:rPr>
              <a:t>a</a:t>
            </a:r>
            <a:r>
              <a:rPr sz="2800" spc="5" dirty="0">
                <a:latin typeface="Microsoft Sans Serif"/>
                <a:cs typeface="Microsoft Sans Serif"/>
              </a:rPr>
              <a:t> </a:t>
            </a:r>
            <a:r>
              <a:rPr sz="2800" b="1" spc="-10" dirty="0">
                <a:solidFill>
                  <a:srgbClr val="FF0000"/>
                </a:solidFill>
                <a:latin typeface="Arial"/>
                <a:cs typeface="Arial"/>
              </a:rPr>
              <a:t>sinogram</a:t>
            </a:r>
            <a:endParaRPr sz="2800">
              <a:latin typeface="Arial"/>
              <a:cs typeface="Arial"/>
            </a:endParaRPr>
          </a:p>
          <a:p>
            <a:pPr marL="354965" indent="-342265">
              <a:spcBef>
                <a:spcPts val="675"/>
              </a:spcBef>
              <a:buChar char="•"/>
              <a:tabLst>
                <a:tab pos="354965" algn="l"/>
              </a:tabLst>
            </a:pPr>
            <a:r>
              <a:rPr sz="2800" dirty="0">
                <a:latin typeface="Microsoft Sans Serif"/>
                <a:cs typeface="Microsoft Sans Serif"/>
              </a:rPr>
              <a:t>Indicates</a:t>
            </a:r>
            <a:r>
              <a:rPr sz="2800" spc="-55" dirty="0">
                <a:latin typeface="Microsoft Sans Serif"/>
                <a:cs typeface="Microsoft Sans Serif"/>
              </a:rPr>
              <a:t> </a:t>
            </a:r>
            <a:r>
              <a:rPr sz="2800" dirty="0">
                <a:latin typeface="Microsoft Sans Serif"/>
                <a:cs typeface="Microsoft Sans Serif"/>
              </a:rPr>
              <a:t>characteristics</a:t>
            </a:r>
            <a:r>
              <a:rPr sz="2800" spc="-70" dirty="0">
                <a:latin typeface="Microsoft Sans Serif"/>
                <a:cs typeface="Microsoft Sans Serif"/>
              </a:rPr>
              <a:t> </a:t>
            </a:r>
            <a:r>
              <a:rPr sz="2800" dirty="0">
                <a:latin typeface="Microsoft Sans Serif"/>
                <a:cs typeface="Microsoft Sans Serif"/>
              </a:rPr>
              <a:t>of</a:t>
            </a:r>
            <a:r>
              <a:rPr sz="2800" spc="-45" dirty="0">
                <a:latin typeface="Microsoft Sans Serif"/>
                <a:cs typeface="Microsoft Sans Serif"/>
              </a:rPr>
              <a:t> </a:t>
            </a:r>
            <a:r>
              <a:rPr sz="2800" dirty="0">
                <a:latin typeface="Microsoft Sans Serif"/>
                <a:cs typeface="Microsoft Sans Serif"/>
              </a:rPr>
              <a:t>the</a:t>
            </a:r>
            <a:r>
              <a:rPr sz="2800" spc="-50" dirty="0">
                <a:latin typeface="Microsoft Sans Serif"/>
                <a:cs typeface="Microsoft Sans Serif"/>
              </a:rPr>
              <a:t> </a:t>
            </a:r>
            <a:r>
              <a:rPr sz="2800" spc="-10" dirty="0">
                <a:latin typeface="Microsoft Sans Serif"/>
                <a:cs typeface="Microsoft Sans Serif"/>
              </a:rPr>
              <a:t>sample</a:t>
            </a:r>
            <a:endParaRPr sz="2800">
              <a:latin typeface="Microsoft Sans Serif"/>
              <a:cs typeface="Microsoft Sans Serif"/>
            </a:endParaRPr>
          </a:p>
          <a:p>
            <a:pPr marL="756285" marR="213995" indent="-287020">
              <a:spcBef>
                <a:spcPts val="590"/>
              </a:spcBef>
            </a:pPr>
            <a:r>
              <a:rPr sz="2400" spc="630" dirty="0">
                <a:latin typeface="Microsoft Sans Serif"/>
                <a:cs typeface="Microsoft Sans Serif"/>
              </a:rPr>
              <a:t>–</a:t>
            </a:r>
            <a:r>
              <a:rPr sz="2400" spc="220" dirty="0">
                <a:latin typeface="Microsoft Sans Serif"/>
                <a:cs typeface="Microsoft Sans Serif"/>
              </a:rPr>
              <a:t> </a:t>
            </a:r>
            <a:r>
              <a:rPr sz="2400" dirty="0">
                <a:latin typeface="Microsoft Sans Serif"/>
                <a:cs typeface="Microsoft Sans Serif"/>
              </a:rPr>
              <a:t>Objects</a:t>
            </a:r>
            <a:r>
              <a:rPr sz="2400" spc="-35" dirty="0">
                <a:latin typeface="Microsoft Sans Serif"/>
                <a:cs typeface="Microsoft Sans Serif"/>
              </a:rPr>
              <a:t> </a:t>
            </a:r>
            <a:r>
              <a:rPr sz="2400" dirty="0">
                <a:latin typeface="Microsoft Sans Serif"/>
                <a:cs typeface="Microsoft Sans Serif"/>
              </a:rPr>
              <a:t>closer to</a:t>
            </a:r>
            <a:r>
              <a:rPr sz="2400" spc="-20" dirty="0">
                <a:latin typeface="Microsoft Sans Serif"/>
                <a:cs typeface="Microsoft Sans Serif"/>
              </a:rPr>
              <a:t> </a:t>
            </a:r>
            <a:r>
              <a:rPr sz="2400" dirty="0">
                <a:latin typeface="Microsoft Sans Serif"/>
                <a:cs typeface="Microsoft Sans Serif"/>
              </a:rPr>
              <a:t>the</a:t>
            </a:r>
            <a:r>
              <a:rPr sz="2400" spc="-30" dirty="0">
                <a:latin typeface="Microsoft Sans Serif"/>
                <a:cs typeface="Microsoft Sans Serif"/>
              </a:rPr>
              <a:t> </a:t>
            </a:r>
            <a:r>
              <a:rPr sz="2400" dirty="0">
                <a:latin typeface="Microsoft Sans Serif"/>
                <a:cs typeface="Microsoft Sans Serif"/>
              </a:rPr>
              <a:t>field</a:t>
            </a:r>
            <a:r>
              <a:rPr sz="2400" spc="-10" dirty="0">
                <a:latin typeface="Microsoft Sans Serif"/>
                <a:cs typeface="Microsoft Sans Serif"/>
              </a:rPr>
              <a:t> </a:t>
            </a:r>
            <a:r>
              <a:rPr sz="2400" dirty="0">
                <a:latin typeface="Microsoft Sans Serif"/>
                <a:cs typeface="Microsoft Sans Serif"/>
              </a:rPr>
              <a:t>of</a:t>
            </a:r>
            <a:r>
              <a:rPr sz="2400" spc="-15" dirty="0">
                <a:latin typeface="Microsoft Sans Serif"/>
                <a:cs typeface="Microsoft Sans Serif"/>
              </a:rPr>
              <a:t> </a:t>
            </a:r>
            <a:r>
              <a:rPr sz="2400" dirty="0">
                <a:latin typeface="Microsoft Sans Serif"/>
                <a:cs typeface="Microsoft Sans Serif"/>
              </a:rPr>
              <a:t>view</a:t>
            </a:r>
            <a:r>
              <a:rPr sz="2400" spc="-10" dirty="0">
                <a:latin typeface="Microsoft Sans Serif"/>
                <a:cs typeface="Microsoft Sans Serif"/>
              </a:rPr>
              <a:t> </a:t>
            </a:r>
            <a:r>
              <a:rPr sz="2400" dirty="0">
                <a:latin typeface="Microsoft Sans Serif"/>
                <a:cs typeface="Microsoft Sans Serif"/>
              </a:rPr>
              <a:t>produce</a:t>
            </a:r>
            <a:r>
              <a:rPr sz="2400" spc="-10" dirty="0">
                <a:latin typeface="Microsoft Sans Serif"/>
                <a:cs typeface="Microsoft Sans Serif"/>
              </a:rPr>
              <a:t> </a:t>
            </a:r>
            <a:r>
              <a:rPr sz="2400" dirty="0">
                <a:latin typeface="Microsoft Sans Serif"/>
                <a:cs typeface="Microsoft Sans Serif"/>
              </a:rPr>
              <a:t>a</a:t>
            </a:r>
            <a:r>
              <a:rPr sz="2400" spc="-20" dirty="0">
                <a:latin typeface="Microsoft Sans Serif"/>
                <a:cs typeface="Microsoft Sans Serif"/>
              </a:rPr>
              <a:t> high </a:t>
            </a:r>
            <a:r>
              <a:rPr sz="2400" dirty="0">
                <a:latin typeface="Microsoft Sans Serif"/>
                <a:cs typeface="Microsoft Sans Serif"/>
              </a:rPr>
              <a:t>amplitude</a:t>
            </a:r>
            <a:r>
              <a:rPr sz="2400" spc="-20" dirty="0">
                <a:latin typeface="Microsoft Sans Serif"/>
                <a:cs typeface="Microsoft Sans Serif"/>
              </a:rPr>
              <a:t> </a:t>
            </a:r>
            <a:r>
              <a:rPr sz="2400" dirty="0">
                <a:latin typeface="Microsoft Sans Serif"/>
                <a:cs typeface="Microsoft Sans Serif"/>
              </a:rPr>
              <a:t>in</a:t>
            </a:r>
            <a:r>
              <a:rPr sz="2400" spc="-50" dirty="0">
                <a:latin typeface="Microsoft Sans Serif"/>
                <a:cs typeface="Microsoft Sans Serif"/>
              </a:rPr>
              <a:t> </a:t>
            </a:r>
            <a:r>
              <a:rPr sz="2400" dirty="0">
                <a:latin typeface="Microsoft Sans Serif"/>
                <a:cs typeface="Microsoft Sans Serif"/>
              </a:rPr>
              <a:t>the</a:t>
            </a:r>
            <a:r>
              <a:rPr sz="2400" spc="-35" dirty="0">
                <a:latin typeface="Microsoft Sans Serif"/>
                <a:cs typeface="Microsoft Sans Serif"/>
              </a:rPr>
              <a:t> </a:t>
            </a:r>
            <a:r>
              <a:rPr sz="2400" spc="-10" dirty="0">
                <a:latin typeface="Microsoft Sans Serif"/>
                <a:cs typeface="Microsoft Sans Serif"/>
              </a:rPr>
              <a:t>sinogram</a:t>
            </a:r>
            <a:endParaRPr sz="2400">
              <a:latin typeface="Microsoft Sans Serif"/>
              <a:cs typeface="Microsoft Sans Serif"/>
            </a:endParaRPr>
          </a:p>
        </p:txBody>
      </p:sp>
      <p:grpSp>
        <p:nvGrpSpPr>
          <p:cNvPr id="4" name="object 4"/>
          <p:cNvGrpSpPr/>
          <p:nvPr/>
        </p:nvGrpSpPr>
        <p:grpSpPr>
          <a:xfrm>
            <a:off x="1588135" y="3756212"/>
            <a:ext cx="6267450" cy="2910205"/>
            <a:chOff x="1438275" y="3810000"/>
            <a:chExt cx="6267450" cy="2910205"/>
          </a:xfrm>
        </p:grpSpPr>
        <p:pic>
          <p:nvPicPr>
            <p:cNvPr id="5" name="object 5"/>
            <p:cNvPicPr/>
            <p:nvPr/>
          </p:nvPicPr>
          <p:blipFill>
            <a:blip r:embed="rId3" cstate="print"/>
            <a:stretch>
              <a:fillRect/>
            </a:stretch>
          </p:blipFill>
          <p:spPr>
            <a:xfrm>
              <a:off x="1438275" y="3810000"/>
              <a:ext cx="6267450" cy="752475"/>
            </a:xfrm>
            <a:prstGeom prst="rect">
              <a:avLst/>
            </a:prstGeom>
          </p:spPr>
        </p:pic>
        <p:pic>
          <p:nvPicPr>
            <p:cNvPr id="6" name="object 6"/>
            <p:cNvPicPr/>
            <p:nvPr/>
          </p:nvPicPr>
          <p:blipFill>
            <a:blip r:embed="rId4" cstate="print"/>
            <a:stretch>
              <a:fillRect/>
            </a:stretch>
          </p:blipFill>
          <p:spPr>
            <a:xfrm>
              <a:off x="1827784" y="4416031"/>
              <a:ext cx="5488559" cy="2303653"/>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517" y="171704"/>
            <a:ext cx="11410967" cy="789652"/>
          </a:xfrm>
          <a:prstGeom prst="rect">
            <a:avLst/>
          </a:prstGeom>
        </p:spPr>
        <p:txBody>
          <a:bodyPr vert="horz" wrap="square" lIns="0" tIns="50495" rIns="0" bIns="0" rtlCol="0">
            <a:spAutoFit/>
          </a:bodyPr>
          <a:lstStyle/>
          <a:p>
            <a:pPr marR="5080" algn="ctr">
              <a:spcBef>
                <a:spcPts val="95"/>
              </a:spcBef>
            </a:pPr>
            <a:r>
              <a:rPr sz="4800" b="1" spc="-10" dirty="0">
                <a:latin typeface="Arial" panose="020B0604020202020204" pitchFamily="34" charset="0"/>
                <a:cs typeface="Arial" panose="020B0604020202020204" pitchFamily="34" charset="0"/>
              </a:rPr>
              <a:t>Fourier </a:t>
            </a:r>
            <a:r>
              <a:rPr lang="en-US" sz="4800" b="1" spc="-10" dirty="0">
                <a:latin typeface="Arial" panose="020B0604020202020204" pitchFamily="34" charset="0"/>
                <a:cs typeface="Arial" panose="020B0604020202020204" pitchFamily="34" charset="0"/>
              </a:rPr>
              <a:t>S</a:t>
            </a:r>
            <a:r>
              <a:rPr sz="4800" b="1" dirty="0">
                <a:latin typeface="Arial" panose="020B0604020202020204" pitchFamily="34" charset="0"/>
                <a:cs typeface="Arial" panose="020B0604020202020204" pitchFamily="34" charset="0"/>
              </a:rPr>
              <a:t>lice</a:t>
            </a:r>
            <a:r>
              <a:rPr sz="4800" b="1" spc="-25" dirty="0">
                <a:latin typeface="Arial" panose="020B0604020202020204" pitchFamily="34" charset="0"/>
                <a:cs typeface="Arial" panose="020B0604020202020204" pitchFamily="34" charset="0"/>
              </a:rPr>
              <a:t> </a:t>
            </a:r>
            <a:r>
              <a:rPr lang="en-US" sz="4800" b="1" spc="-10" dirty="0">
                <a:latin typeface="Arial" panose="020B0604020202020204" pitchFamily="34" charset="0"/>
                <a:cs typeface="Arial" panose="020B0604020202020204" pitchFamily="34" charset="0"/>
              </a:rPr>
              <a:t>T</a:t>
            </a:r>
            <a:r>
              <a:rPr sz="4800" b="1" spc="-10" dirty="0">
                <a:latin typeface="Arial" panose="020B0604020202020204" pitchFamily="34" charset="0"/>
                <a:cs typeface="Arial" panose="020B0604020202020204" pitchFamily="34" charset="0"/>
              </a:rPr>
              <a:t>heorem</a:t>
            </a:r>
            <a:endParaRPr sz="4800" b="1" dirty="0">
              <a:latin typeface="Arial" panose="020B0604020202020204" pitchFamily="34" charset="0"/>
              <a:cs typeface="Arial" panose="020B0604020202020204" pitchFamily="34" charset="0"/>
            </a:endParaRPr>
          </a:p>
        </p:txBody>
      </p:sp>
      <p:sp>
        <p:nvSpPr>
          <p:cNvPr id="3" name="object 3"/>
          <p:cNvSpPr txBox="1"/>
          <p:nvPr/>
        </p:nvSpPr>
        <p:spPr>
          <a:xfrm>
            <a:off x="243783" y="1292328"/>
            <a:ext cx="7715884" cy="3695700"/>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1D</a:t>
            </a:r>
            <a:r>
              <a:rPr sz="2800" spc="-25" dirty="0">
                <a:latin typeface="Microsoft Sans Serif"/>
                <a:cs typeface="Microsoft Sans Serif"/>
              </a:rPr>
              <a:t> </a:t>
            </a:r>
            <a:r>
              <a:rPr sz="2800" dirty="0">
                <a:latin typeface="Microsoft Sans Serif"/>
                <a:cs typeface="Microsoft Sans Serif"/>
              </a:rPr>
              <a:t>Fourier</a:t>
            </a:r>
            <a:r>
              <a:rPr sz="2800" spc="-65" dirty="0">
                <a:latin typeface="Microsoft Sans Serif"/>
                <a:cs typeface="Microsoft Sans Serif"/>
              </a:rPr>
              <a:t> </a:t>
            </a:r>
            <a:r>
              <a:rPr sz="2800" spc="-10" dirty="0">
                <a:latin typeface="Microsoft Sans Serif"/>
                <a:cs typeface="Microsoft Sans Serif"/>
              </a:rPr>
              <a:t>Transform</a:t>
            </a:r>
            <a:r>
              <a:rPr sz="2800" spc="-30" dirty="0">
                <a:latin typeface="Microsoft Sans Serif"/>
                <a:cs typeface="Microsoft Sans Serif"/>
              </a:rPr>
              <a:t> </a:t>
            </a:r>
            <a:r>
              <a:rPr sz="2800" dirty="0">
                <a:latin typeface="Microsoft Sans Serif"/>
                <a:cs typeface="Microsoft Sans Serif"/>
              </a:rPr>
              <a:t>(FT)</a:t>
            </a:r>
            <a:r>
              <a:rPr sz="2800" spc="-30" dirty="0">
                <a:latin typeface="Microsoft Sans Serif"/>
                <a:cs typeface="Microsoft Sans Serif"/>
              </a:rPr>
              <a:t> </a:t>
            </a:r>
            <a:r>
              <a:rPr sz="2800" dirty="0">
                <a:latin typeface="Microsoft Sans Serif"/>
                <a:cs typeface="Microsoft Sans Serif"/>
              </a:rPr>
              <a:t>of</a:t>
            </a:r>
            <a:r>
              <a:rPr sz="2800" spc="-30" dirty="0">
                <a:latin typeface="Microsoft Sans Serif"/>
                <a:cs typeface="Microsoft Sans Serif"/>
              </a:rPr>
              <a:t> </a:t>
            </a:r>
            <a:r>
              <a:rPr sz="2800" dirty="0">
                <a:latin typeface="Microsoft Sans Serif"/>
                <a:cs typeface="Microsoft Sans Serif"/>
              </a:rPr>
              <a:t>the</a:t>
            </a:r>
            <a:r>
              <a:rPr sz="2800" spc="-40" dirty="0">
                <a:latin typeface="Microsoft Sans Serif"/>
                <a:cs typeface="Microsoft Sans Serif"/>
              </a:rPr>
              <a:t> </a:t>
            </a:r>
            <a:r>
              <a:rPr sz="2800" dirty="0">
                <a:latin typeface="Microsoft Sans Serif"/>
                <a:cs typeface="Microsoft Sans Serif"/>
              </a:rPr>
              <a:t>RT</a:t>
            </a:r>
            <a:r>
              <a:rPr sz="2800" spc="-75" dirty="0">
                <a:latin typeface="Microsoft Sans Serif"/>
                <a:cs typeface="Microsoft Sans Serif"/>
              </a:rPr>
              <a:t> </a:t>
            </a:r>
            <a:r>
              <a:rPr sz="2800" spc="-10" dirty="0">
                <a:latin typeface="Microsoft Sans Serif"/>
                <a:cs typeface="Microsoft Sans Serif"/>
              </a:rPr>
              <a:t>projection </a:t>
            </a:r>
            <a:r>
              <a:rPr sz="2800" dirty="0">
                <a:latin typeface="Microsoft Sans Serif"/>
                <a:cs typeface="Microsoft Sans Serif"/>
              </a:rPr>
              <a:t>profile</a:t>
            </a:r>
            <a:r>
              <a:rPr sz="2800" spc="-25" dirty="0">
                <a:latin typeface="Microsoft Sans Serif"/>
                <a:cs typeface="Microsoft Sans Serif"/>
              </a:rPr>
              <a:t> </a:t>
            </a:r>
            <a:r>
              <a:rPr sz="2800" dirty="0">
                <a:latin typeface="Microsoft Sans Serif"/>
                <a:cs typeface="Microsoft Sans Serif"/>
              </a:rPr>
              <a:t>acquired</a:t>
            </a:r>
            <a:r>
              <a:rPr sz="2800" spc="-15" dirty="0">
                <a:latin typeface="Microsoft Sans Serif"/>
                <a:cs typeface="Microsoft Sans Serif"/>
              </a:rPr>
              <a:t> </a:t>
            </a:r>
            <a:r>
              <a:rPr sz="2800" dirty="0">
                <a:latin typeface="Microsoft Sans Serif"/>
                <a:cs typeface="Microsoft Sans Serif"/>
              </a:rPr>
              <a:t>at</a:t>
            </a:r>
            <a:r>
              <a:rPr sz="2800" spc="-30" dirty="0">
                <a:latin typeface="Microsoft Sans Serif"/>
                <a:cs typeface="Microsoft Sans Serif"/>
              </a:rPr>
              <a:t> </a:t>
            </a:r>
            <a:r>
              <a:rPr sz="2800" dirty="0">
                <a:latin typeface="Microsoft Sans Serif"/>
                <a:cs typeface="Microsoft Sans Serif"/>
              </a:rPr>
              <a:t>angle</a:t>
            </a:r>
            <a:r>
              <a:rPr sz="2800" spc="-30" dirty="0">
                <a:latin typeface="Microsoft Sans Serif"/>
                <a:cs typeface="Microsoft Sans Serif"/>
              </a:rPr>
              <a:t> </a:t>
            </a:r>
            <a:r>
              <a:rPr sz="2800" dirty="0">
                <a:latin typeface="Microsoft Sans Serif"/>
                <a:cs typeface="Microsoft Sans Serif"/>
              </a:rPr>
              <a:t>φ</a:t>
            </a:r>
            <a:r>
              <a:rPr sz="2800" spc="-30" dirty="0">
                <a:latin typeface="Microsoft Sans Serif"/>
                <a:cs typeface="Microsoft Sans Serif"/>
              </a:rPr>
              <a:t> </a:t>
            </a:r>
            <a:r>
              <a:rPr sz="2800" dirty="0">
                <a:latin typeface="Microsoft Sans Serif"/>
                <a:cs typeface="Microsoft Sans Serif"/>
              </a:rPr>
              <a:t>is</a:t>
            </a:r>
            <a:r>
              <a:rPr sz="2800" spc="-35" dirty="0">
                <a:latin typeface="Microsoft Sans Serif"/>
                <a:cs typeface="Microsoft Sans Serif"/>
              </a:rPr>
              <a:t> </a:t>
            </a:r>
            <a:r>
              <a:rPr sz="2800" dirty="0">
                <a:latin typeface="Microsoft Sans Serif"/>
                <a:cs typeface="Microsoft Sans Serif"/>
              </a:rPr>
              <a:t>equivalent</a:t>
            </a:r>
            <a:r>
              <a:rPr sz="2800" spc="-15" dirty="0">
                <a:latin typeface="Microsoft Sans Serif"/>
                <a:cs typeface="Microsoft Sans Serif"/>
              </a:rPr>
              <a:t> </a:t>
            </a:r>
            <a:r>
              <a:rPr sz="2800" dirty="0">
                <a:latin typeface="Microsoft Sans Serif"/>
                <a:cs typeface="Microsoft Sans Serif"/>
              </a:rPr>
              <a:t>to</a:t>
            </a:r>
            <a:r>
              <a:rPr sz="2800" spc="-35" dirty="0">
                <a:latin typeface="Microsoft Sans Serif"/>
                <a:cs typeface="Microsoft Sans Serif"/>
              </a:rPr>
              <a:t> </a:t>
            </a:r>
            <a:r>
              <a:rPr sz="2800" spc="-25" dirty="0">
                <a:latin typeface="Microsoft Sans Serif"/>
                <a:cs typeface="Microsoft Sans Serif"/>
              </a:rPr>
              <a:t>the </a:t>
            </a:r>
            <a:r>
              <a:rPr sz="2800" dirty="0">
                <a:latin typeface="Microsoft Sans Serif"/>
                <a:cs typeface="Microsoft Sans Serif"/>
              </a:rPr>
              <a:t>value</a:t>
            </a:r>
            <a:r>
              <a:rPr sz="2800" spc="-15" dirty="0">
                <a:latin typeface="Microsoft Sans Serif"/>
                <a:cs typeface="Microsoft Sans Serif"/>
              </a:rPr>
              <a:t> </a:t>
            </a:r>
            <a:r>
              <a:rPr sz="2800" dirty="0">
                <a:latin typeface="Microsoft Sans Serif"/>
                <a:cs typeface="Microsoft Sans Serif"/>
              </a:rPr>
              <a:t>of</a:t>
            </a:r>
            <a:r>
              <a:rPr sz="2800" spc="-10" dirty="0">
                <a:latin typeface="Microsoft Sans Serif"/>
                <a:cs typeface="Microsoft Sans Serif"/>
              </a:rPr>
              <a:t> </a:t>
            </a:r>
            <a:r>
              <a:rPr sz="2800" dirty="0">
                <a:latin typeface="Microsoft Sans Serif"/>
                <a:cs typeface="Microsoft Sans Serif"/>
              </a:rPr>
              <a:t>the</a:t>
            </a:r>
            <a:r>
              <a:rPr sz="2800" spc="-5" dirty="0">
                <a:latin typeface="Microsoft Sans Serif"/>
                <a:cs typeface="Microsoft Sans Serif"/>
              </a:rPr>
              <a:t> </a:t>
            </a:r>
            <a:r>
              <a:rPr sz="2800" dirty="0">
                <a:latin typeface="Microsoft Sans Serif"/>
                <a:cs typeface="Microsoft Sans Serif"/>
              </a:rPr>
              <a:t>2D</a:t>
            </a:r>
            <a:r>
              <a:rPr sz="2800" spc="-10" dirty="0">
                <a:latin typeface="Microsoft Sans Serif"/>
                <a:cs typeface="Microsoft Sans Serif"/>
              </a:rPr>
              <a:t> </a:t>
            </a:r>
            <a:r>
              <a:rPr sz="2800" dirty="0">
                <a:latin typeface="Microsoft Sans Serif"/>
                <a:cs typeface="Microsoft Sans Serif"/>
              </a:rPr>
              <a:t>FT</a:t>
            </a:r>
            <a:r>
              <a:rPr sz="2800" spc="-45" dirty="0">
                <a:latin typeface="Microsoft Sans Serif"/>
                <a:cs typeface="Microsoft Sans Serif"/>
              </a:rPr>
              <a:t> </a:t>
            </a:r>
            <a:r>
              <a:rPr sz="2800" dirty="0">
                <a:latin typeface="Microsoft Sans Serif"/>
                <a:cs typeface="Microsoft Sans Serif"/>
              </a:rPr>
              <a:t>of</a:t>
            </a:r>
            <a:r>
              <a:rPr sz="2800" spc="-5" dirty="0">
                <a:latin typeface="Microsoft Sans Serif"/>
                <a:cs typeface="Microsoft Sans Serif"/>
              </a:rPr>
              <a:t> </a:t>
            </a:r>
            <a:r>
              <a:rPr sz="2800" dirty="0">
                <a:latin typeface="Microsoft Sans Serif"/>
                <a:cs typeface="Microsoft Sans Serif"/>
              </a:rPr>
              <a:t>f(x,y)</a:t>
            </a:r>
            <a:r>
              <a:rPr sz="2800" spc="-20" dirty="0">
                <a:latin typeface="Microsoft Sans Serif"/>
                <a:cs typeface="Microsoft Sans Serif"/>
              </a:rPr>
              <a:t> </a:t>
            </a:r>
            <a:r>
              <a:rPr sz="2800" dirty="0">
                <a:latin typeface="Microsoft Sans Serif"/>
                <a:cs typeface="Microsoft Sans Serif"/>
              </a:rPr>
              <a:t>along</a:t>
            </a:r>
            <a:r>
              <a:rPr sz="2800" spc="-10" dirty="0">
                <a:latin typeface="Microsoft Sans Serif"/>
                <a:cs typeface="Microsoft Sans Serif"/>
              </a:rPr>
              <a:t> </a:t>
            </a:r>
            <a:r>
              <a:rPr sz="2800" dirty="0">
                <a:latin typeface="Microsoft Sans Serif"/>
                <a:cs typeface="Microsoft Sans Serif"/>
              </a:rPr>
              <a:t>a</a:t>
            </a:r>
            <a:r>
              <a:rPr sz="2800" spc="-5" dirty="0">
                <a:latin typeface="Microsoft Sans Serif"/>
                <a:cs typeface="Microsoft Sans Serif"/>
              </a:rPr>
              <a:t> </a:t>
            </a:r>
            <a:r>
              <a:rPr sz="2800" dirty="0">
                <a:latin typeface="Microsoft Sans Serif"/>
                <a:cs typeface="Microsoft Sans Serif"/>
              </a:rPr>
              <a:t>line at </a:t>
            </a:r>
            <a:r>
              <a:rPr sz="2800" spc="-25" dirty="0">
                <a:latin typeface="Microsoft Sans Serif"/>
                <a:cs typeface="Microsoft Sans Serif"/>
              </a:rPr>
              <a:t>the </a:t>
            </a:r>
            <a:r>
              <a:rPr sz="2800" dirty="0">
                <a:latin typeface="Microsoft Sans Serif"/>
                <a:cs typeface="Microsoft Sans Serif"/>
              </a:rPr>
              <a:t>inclination</a:t>
            </a:r>
            <a:r>
              <a:rPr sz="2800" spc="-95" dirty="0">
                <a:latin typeface="Microsoft Sans Serif"/>
                <a:cs typeface="Microsoft Sans Serif"/>
              </a:rPr>
              <a:t> </a:t>
            </a:r>
            <a:r>
              <a:rPr sz="2800" dirty="0">
                <a:latin typeface="Microsoft Sans Serif"/>
                <a:cs typeface="Microsoft Sans Serif"/>
              </a:rPr>
              <a:t>angle</a:t>
            </a:r>
            <a:r>
              <a:rPr sz="2800" spc="-90" dirty="0">
                <a:latin typeface="Microsoft Sans Serif"/>
                <a:cs typeface="Microsoft Sans Serif"/>
              </a:rPr>
              <a:t> </a:t>
            </a:r>
            <a:r>
              <a:rPr sz="2800" spc="-50" dirty="0">
                <a:latin typeface="Microsoft Sans Serif"/>
                <a:cs typeface="Microsoft Sans Serif"/>
              </a:rPr>
              <a:t>φ</a:t>
            </a:r>
            <a:endParaRPr sz="2800" dirty="0">
              <a:latin typeface="Microsoft Sans Serif"/>
              <a:cs typeface="Microsoft Sans Serif"/>
            </a:endParaRPr>
          </a:p>
          <a:p>
            <a:pPr marL="355600" marR="401955" indent="-342900">
              <a:spcBef>
                <a:spcPts val="675"/>
              </a:spcBef>
              <a:buChar char="•"/>
              <a:tabLst>
                <a:tab pos="355600" algn="l"/>
              </a:tabLst>
            </a:pPr>
            <a:r>
              <a:rPr sz="2800" dirty="0">
                <a:latin typeface="Microsoft Sans Serif"/>
                <a:cs typeface="Microsoft Sans Serif"/>
              </a:rPr>
              <a:t>Putting</a:t>
            </a:r>
            <a:r>
              <a:rPr sz="2800" spc="-35" dirty="0">
                <a:latin typeface="Microsoft Sans Serif"/>
                <a:cs typeface="Microsoft Sans Serif"/>
              </a:rPr>
              <a:t> </a:t>
            </a:r>
            <a:r>
              <a:rPr sz="2800" dirty="0">
                <a:latin typeface="Microsoft Sans Serif"/>
                <a:cs typeface="Microsoft Sans Serif"/>
              </a:rPr>
              <a:t>together</a:t>
            </a:r>
            <a:r>
              <a:rPr sz="2800" spc="-45" dirty="0">
                <a:latin typeface="Microsoft Sans Serif"/>
                <a:cs typeface="Microsoft Sans Serif"/>
              </a:rPr>
              <a:t> </a:t>
            </a:r>
            <a:r>
              <a:rPr sz="2800" dirty="0">
                <a:latin typeface="Microsoft Sans Serif"/>
                <a:cs typeface="Microsoft Sans Serif"/>
              </a:rPr>
              <a:t>RT</a:t>
            </a:r>
            <a:r>
              <a:rPr sz="2800" spc="-100" dirty="0">
                <a:latin typeface="Microsoft Sans Serif"/>
                <a:cs typeface="Microsoft Sans Serif"/>
              </a:rPr>
              <a:t> </a:t>
            </a:r>
            <a:r>
              <a:rPr sz="2800" dirty="0">
                <a:latin typeface="Microsoft Sans Serif"/>
                <a:cs typeface="Microsoft Sans Serif"/>
              </a:rPr>
              <a:t>profiles</a:t>
            </a:r>
            <a:r>
              <a:rPr sz="2800" spc="-45" dirty="0">
                <a:latin typeface="Microsoft Sans Serif"/>
                <a:cs typeface="Microsoft Sans Serif"/>
              </a:rPr>
              <a:t> </a:t>
            </a:r>
            <a:r>
              <a:rPr sz="2800" dirty="0">
                <a:latin typeface="Microsoft Sans Serif"/>
                <a:cs typeface="Microsoft Sans Serif"/>
              </a:rPr>
              <a:t>at</a:t>
            </a:r>
            <a:r>
              <a:rPr sz="2800" spc="-55" dirty="0">
                <a:latin typeface="Microsoft Sans Serif"/>
                <a:cs typeface="Microsoft Sans Serif"/>
              </a:rPr>
              <a:t> </a:t>
            </a:r>
            <a:r>
              <a:rPr sz="2800" dirty="0">
                <a:latin typeface="Microsoft Sans Serif"/>
                <a:cs typeface="Microsoft Sans Serif"/>
              </a:rPr>
              <a:t>all</a:t>
            </a:r>
            <a:r>
              <a:rPr sz="2800" spc="-45" dirty="0">
                <a:latin typeface="Microsoft Sans Serif"/>
                <a:cs typeface="Microsoft Sans Serif"/>
              </a:rPr>
              <a:t> </a:t>
            </a:r>
            <a:r>
              <a:rPr sz="2800" spc="-10" dirty="0">
                <a:latin typeface="Microsoft Sans Serif"/>
                <a:cs typeface="Microsoft Sans Serif"/>
              </a:rPr>
              <a:t>acquisition </a:t>
            </a:r>
            <a:r>
              <a:rPr sz="2800" dirty="0">
                <a:latin typeface="Microsoft Sans Serif"/>
                <a:cs typeface="Microsoft Sans Serif"/>
              </a:rPr>
              <a:t>angles</a:t>
            </a:r>
            <a:r>
              <a:rPr sz="2800" spc="-30" dirty="0">
                <a:latin typeface="Microsoft Sans Serif"/>
                <a:cs typeface="Microsoft Sans Serif"/>
              </a:rPr>
              <a:t> </a:t>
            </a:r>
            <a:r>
              <a:rPr sz="2800" dirty="0">
                <a:latin typeface="Microsoft Sans Serif"/>
                <a:cs typeface="Microsoft Sans Serif"/>
              </a:rPr>
              <a:t>yields</a:t>
            </a:r>
            <a:r>
              <a:rPr sz="2800" spc="-35" dirty="0">
                <a:latin typeface="Microsoft Sans Serif"/>
                <a:cs typeface="Microsoft Sans Serif"/>
              </a:rPr>
              <a:t> </a:t>
            </a:r>
            <a:r>
              <a:rPr sz="2800" dirty="0">
                <a:latin typeface="Microsoft Sans Serif"/>
                <a:cs typeface="Microsoft Sans Serif"/>
              </a:rPr>
              <a:t>the</a:t>
            </a:r>
            <a:r>
              <a:rPr sz="2800" spc="-35" dirty="0">
                <a:latin typeface="Microsoft Sans Serif"/>
                <a:cs typeface="Microsoft Sans Serif"/>
              </a:rPr>
              <a:t> </a:t>
            </a:r>
            <a:r>
              <a:rPr sz="2800" dirty="0">
                <a:latin typeface="Microsoft Sans Serif"/>
                <a:cs typeface="Microsoft Sans Serif"/>
              </a:rPr>
              <a:t>full</a:t>
            </a:r>
            <a:r>
              <a:rPr sz="2800" spc="-40" dirty="0">
                <a:latin typeface="Microsoft Sans Serif"/>
                <a:cs typeface="Microsoft Sans Serif"/>
              </a:rPr>
              <a:t> </a:t>
            </a:r>
            <a:r>
              <a:rPr sz="2800" dirty="0">
                <a:latin typeface="Microsoft Sans Serif"/>
                <a:cs typeface="Microsoft Sans Serif"/>
              </a:rPr>
              <a:t>2D</a:t>
            </a:r>
            <a:r>
              <a:rPr sz="2800" spc="-5" dirty="0">
                <a:latin typeface="Microsoft Sans Serif"/>
                <a:cs typeface="Microsoft Sans Serif"/>
              </a:rPr>
              <a:t> </a:t>
            </a:r>
            <a:r>
              <a:rPr sz="2800" spc="-25" dirty="0">
                <a:latin typeface="Microsoft Sans Serif"/>
                <a:cs typeface="Microsoft Sans Serif"/>
              </a:rPr>
              <a:t>FT</a:t>
            </a:r>
            <a:endParaRPr sz="2800" dirty="0">
              <a:latin typeface="Microsoft Sans Serif"/>
              <a:cs typeface="Microsoft Sans Serif"/>
            </a:endParaRPr>
          </a:p>
          <a:p>
            <a:pPr marL="354965" marR="2938780" indent="-342900">
              <a:lnSpc>
                <a:spcPts val="4040"/>
              </a:lnSpc>
              <a:spcBef>
                <a:spcPts val="90"/>
              </a:spcBef>
              <a:buChar char="•"/>
              <a:tabLst>
                <a:tab pos="405765" algn="l"/>
              </a:tabLst>
            </a:pPr>
            <a:r>
              <a:rPr sz="2800" dirty="0">
                <a:latin typeface="Microsoft Sans Serif"/>
                <a:cs typeface="Microsoft Sans Serif"/>
              </a:rPr>
              <a:t>Image can</a:t>
            </a:r>
            <a:r>
              <a:rPr sz="2800" spc="-20" dirty="0">
                <a:latin typeface="Microsoft Sans Serif"/>
                <a:cs typeface="Microsoft Sans Serif"/>
              </a:rPr>
              <a:t> </a:t>
            </a:r>
            <a:r>
              <a:rPr sz="2800" dirty="0">
                <a:latin typeface="Microsoft Sans Serif"/>
                <a:cs typeface="Microsoft Sans Serif"/>
              </a:rPr>
              <a:t>be</a:t>
            </a:r>
            <a:r>
              <a:rPr sz="2800" spc="-20" dirty="0">
                <a:latin typeface="Microsoft Sans Serif"/>
                <a:cs typeface="Microsoft Sans Serif"/>
              </a:rPr>
              <a:t> </a:t>
            </a:r>
            <a:r>
              <a:rPr sz="2800" spc="-10" dirty="0">
                <a:latin typeface="Microsoft Sans Serif"/>
                <a:cs typeface="Microsoft Sans Serif"/>
              </a:rPr>
              <a:t>reconstructed 	</a:t>
            </a:r>
            <a:r>
              <a:rPr sz="2800" dirty="0">
                <a:latin typeface="Microsoft Sans Serif"/>
                <a:cs typeface="Microsoft Sans Serif"/>
              </a:rPr>
              <a:t>using</a:t>
            </a:r>
            <a:r>
              <a:rPr sz="2800" spc="-25" dirty="0">
                <a:latin typeface="Microsoft Sans Serif"/>
                <a:cs typeface="Microsoft Sans Serif"/>
              </a:rPr>
              <a:t> </a:t>
            </a:r>
            <a:r>
              <a:rPr sz="2800" dirty="0">
                <a:latin typeface="Microsoft Sans Serif"/>
                <a:cs typeface="Microsoft Sans Serif"/>
              </a:rPr>
              <a:t>the</a:t>
            </a:r>
            <a:r>
              <a:rPr sz="2800" spc="-25" dirty="0">
                <a:latin typeface="Microsoft Sans Serif"/>
                <a:cs typeface="Microsoft Sans Serif"/>
              </a:rPr>
              <a:t> </a:t>
            </a:r>
            <a:r>
              <a:rPr sz="2800" dirty="0">
                <a:latin typeface="Microsoft Sans Serif"/>
                <a:cs typeface="Microsoft Sans Serif"/>
              </a:rPr>
              <a:t>inverse</a:t>
            </a:r>
            <a:r>
              <a:rPr sz="2800" spc="-40" dirty="0">
                <a:latin typeface="Microsoft Sans Serif"/>
                <a:cs typeface="Microsoft Sans Serif"/>
              </a:rPr>
              <a:t> </a:t>
            </a:r>
            <a:r>
              <a:rPr sz="2800" dirty="0">
                <a:latin typeface="Microsoft Sans Serif"/>
                <a:cs typeface="Microsoft Sans Serif"/>
              </a:rPr>
              <a:t>2D</a:t>
            </a:r>
            <a:r>
              <a:rPr sz="2800" spc="-35" dirty="0">
                <a:latin typeface="Microsoft Sans Serif"/>
                <a:cs typeface="Microsoft Sans Serif"/>
              </a:rPr>
              <a:t> </a:t>
            </a:r>
            <a:r>
              <a:rPr sz="2800" spc="-25" dirty="0">
                <a:latin typeface="Microsoft Sans Serif"/>
                <a:cs typeface="Microsoft Sans Serif"/>
              </a:rPr>
              <a:t>FT</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4572949" y="4465495"/>
            <a:ext cx="3386718" cy="17070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5"/>
            <a:ext cx="11410967" cy="1004839"/>
          </a:xfrm>
          <a:prstGeom prst="rect">
            <a:avLst/>
          </a:prstGeom>
        </p:spPr>
        <p:txBody>
          <a:bodyPr vert="horz" wrap="square" lIns="0" tIns="324561" rIns="0" bIns="0" rtlCol="0">
            <a:spAutoFit/>
          </a:bodyPr>
          <a:lstStyle/>
          <a:p>
            <a:pPr marL="2350135">
              <a:spcBef>
                <a:spcPts val="105"/>
              </a:spcBef>
            </a:pPr>
            <a:r>
              <a:rPr dirty="0"/>
              <a:t>Back-</a:t>
            </a:r>
            <a:r>
              <a:rPr spc="-10" dirty="0"/>
              <a:t>projection</a:t>
            </a:r>
          </a:p>
        </p:txBody>
      </p:sp>
      <p:sp>
        <p:nvSpPr>
          <p:cNvPr id="3" name="object 3"/>
          <p:cNvSpPr txBox="1"/>
          <p:nvPr/>
        </p:nvSpPr>
        <p:spPr>
          <a:xfrm>
            <a:off x="533400" y="1176544"/>
            <a:ext cx="11410967" cy="1050288"/>
          </a:xfrm>
          <a:prstGeom prst="rect">
            <a:avLst/>
          </a:prstGeom>
        </p:spPr>
        <p:txBody>
          <a:bodyPr vert="horz" wrap="square" lIns="0" tIns="97790" rIns="0" bIns="0" rtlCol="0">
            <a:spAutoFit/>
          </a:bodyPr>
          <a:lstStyle/>
          <a:p>
            <a:pPr marL="356235" indent="-343535" algn="just">
              <a:spcBef>
                <a:spcPts val="770"/>
              </a:spcBef>
              <a:buChar char="•"/>
              <a:tabLst>
                <a:tab pos="356235" algn="l"/>
              </a:tabLst>
            </a:pPr>
            <a:r>
              <a:rPr sz="2800" dirty="0">
                <a:latin typeface="Microsoft Sans Serif"/>
                <a:cs typeface="Microsoft Sans Serif"/>
              </a:rPr>
              <a:t>Standard</a:t>
            </a:r>
            <a:r>
              <a:rPr sz="2800" spc="-35" dirty="0">
                <a:latin typeface="Microsoft Sans Serif"/>
                <a:cs typeface="Microsoft Sans Serif"/>
              </a:rPr>
              <a:t> </a:t>
            </a:r>
            <a:r>
              <a:rPr sz="2800" dirty="0">
                <a:latin typeface="Microsoft Sans Serif"/>
                <a:cs typeface="Microsoft Sans Serif"/>
              </a:rPr>
              <a:t>method</a:t>
            </a:r>
            <a:r>
              <a:rPr sz="2800" spc="-60" dirty="0">
                <a:latin typeface="Microsoft Sans Serif"/>
                <a:cs typeface="Microsoft Sans Serif"/>
              </a:rPr>
              <a:t> </a:t>
            </a:r>
            <a:r>
              <a:rPr sz="2800" dirty="0">
                <a:latin typeface="Microsoft Sans Serif"/>
                <a:cs typeface="Microsoft Sans Serif"/>
              </a:rPr>
              <a:t>of</a:t>
            </a:r>
            <a:r>
              <a:rPr sz="2800" spc="-55" dirty="0">
                <a:latin typeface="Microsoft Sans Serif"/>
                <a:cs typeface="Microsoft Sans Serif"/>
              </a:rPr>
              <a:t> </a:t>
            </a:r>
            <a:r>
              <a:rPr sz="2800" dirty="0">
                <a:latin typeface="Microsoft Sans Serif"/>
                <a:cs typeface="Microsoft Sans Serif"/>
              </a:rPr>
              <a:t>reconstructing</a:t>
            </a:r>
            <a:r>
              <a:rPr sz="2800" spc="-65" dirty="0">
                <a:latin typeface="Microsoft Sans Serif"/>
                <a:cs typeface="Microsoft Sans Serif"/>
              </a:rPr>
              <a:t> </a:t>
            </a:r>
            <a:r>
              <a:rPr sz="2800" dirty="0">
                <a:latin typeface="Microsoft Sans Serif"/>
                <a:cs typeface="Microsoft Sans Serif"/>
              </a:rPr>
              <a:t>CT</a:t>
            </a:r>
            <a:r>
              <a:rPr sz="2800" spc="-75" dirty="0">
                <a:latin typeface="Microsoft Sans Serif"/>
                <a:cs typeface="Microsoft Sans Serif"/>
              </a:rPr>
              <a:t> </a:t>
            </a:r>
            <a:r>
              <a:rPr sz="2800" spc="-10" dirty="0">
                <a:latin typeface="Microsoft Sans Serif"/>
                <a:cs typeface="Microsoft Sans Serif"/>
              </a:rPr>
              <a:t>slices</a:t>
            </a:r>
            <a:endParaRPr sz="2800" dirty="0">
              <a:latin typeface="Microsoft Sans Serif"/>
              <a:cs typeface="Microsoft Sans Serif"/>
            </a:endParaRPr>
          </a:p>
          <a:p>
            <a:pPr marL="355600" marR="23495" indent="-342900" algn="just">
              <a:spcBef>
                <a:spcPts val="675"/>
              </a:spcBef>
              <a:buChar char="•"/>
              <a:tabLst>
                <a:tab pos="355600" algn="l"/>
              </a:tabLst>
            </a:pPr>
            <a:r>
              <a:rPr lang="en-US" sz="2800" dirty="0">
                <a:latin typeface="Microsoft Sans Serif"/>
                <a:cs typeface="Microsoft Sans Serif"/>
              </a:rPr>
              <a:t>Each view can be </a:t>
            </a:r>
            <a:r>
              <a:rPr sz="2800" spc="-10" dirty="0">
                <a:latin typeface="Microsoft Sans Serif"/>
                <a:cs typeface="Microsoft Sans Serif"/>
              </a:rPr>
              <a:t>back-</a:t>
            </a:r>
            <a:r>
              <a:rPr sz="2800" dirty="0">
                <a:latin typeface="Microsoft Sans Serif"/>
                <a:cs typeface="Microsoft Sans Serif"/>
              </a:rPr>
              <a:t>project</a:t>
            </a:r>
            <a:r>
              <a:rPr lang="en-US" sz="2800" dirty="0">
                <a:latin typeface="Microsoft Sans Serif"/>
                <a:cs typeface="Microsoft Sans Serif"/>
              </a:rPr>
              <a:t>ed</a:t>
            </a:r>
            <a:r>
              <a:rPr lang="en-US" sz="2800" spc="-10" dirty="0">
                <a:latin typeface="Microsoft Sans Serif"/>
                <a:cs typeface="Microsoft Sans Serif"/>
              </a:rPr>
              <a:t> </a:t>
            </a:r>
            <a:r>
              <a:rPr sz="2800" dirty="0">
                <a:latin typeface="Microsoft Sans Serif"/>
                <a:cs typeface="Microsoft Sans Serif"/>
              </a:rPr>
              <a:t>to</a:t>
            </a:r>
            <a:r>
              <a:rPr sz="2800" spc="-25" dirty="0">
                <a:latin typeface="Microsoft Sans Serif"/>
                <a:cs typeface="Microsoft Sans Serif"/>
              </a:rPr>
              <a:t> </a:t>
            </a:r>
            <a:r>
              <a:rPr lang="en-US" sz="2800" dirty="0">
                <a:latin typeface="Microsoft Sans Serif"/>
                <a:cs typeface="Microsoft Sans Serif"/>
              </a:rPr>
              <a:t>reconstruct</a:t>
            </a:r>
            <a:r>
              <a:rPr sz="2800" spc="-25" dirty="0">
                <a:latin typeface="Microsoft Sans Serif"/>
                <a:cs typeface="Microsoft Sans Serif"/>
              </a:rPr>
              <a:t> </a:t>
            </a:r>
            <a:r>
              <a:rPr sz="2800" dirty="0">
                <a:latin typeface="Microsoft Sans Serif"/>
                <a:cs typeface="Microsoft Sans Serif"/>
              </a:rPr>
              <a:t>the</a:t>
            </a:r>
            <a:r>
              <a:rPr sz="2800" spc="-25" dirty="0">
                <a:latin typeface="Microsoft Sans Serif"/>
                <a:cs typeface="Microsoft Sans Serif"/>
              </a:rPr>
              <a:t> </a:t>
            </a:r>
            <a:r>
              <a:rPr sz="2800" spc="-10" dirty="0">
                <a:latin typeface="Microsoft Sans Serif"/>
                <a:cs typeface="Microsoft Sans Serif"/>
              </a:rPr>
              <a:t>image</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533400" y="2579868"/>
            <a:ext cx="6705599" cy="41026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1705"/>
            <a:ext cx="12191999" cy="1066394"/>
          </a:xfrm>
          <a:prstGeom prst="rect">
            <a:avLst/>
          </a:prstGeom>
        </p:spPr>
        <p:txBody>
          <a:bodyPr vert="horz" wrap="square" lIns="0" tIns="324561" rIns="0" bIns="0" rtlCol="0">
            <a:spAutoFit/>
          </a:bodyPr>
          <a:lstStyle/>
          <a:p>
            <a:pPr algn="ctr">
              <a:spcBef>
                <a:spcPts val="105"/>
              </a:spcBef>
            </a:pPr>
            <a:r>
              <a:rPr sz="4800" b="1" dirty="0">
                <a:latin typeface="Arial" panose="020B0604020202020204" pitchFamily="34" charset="0"/>
                <a:cs typeface="Arial" panose="020B0604020202020204" pitchFamily="34" charset="0"/>
              </a:rPr>
              <a:t>Filtered</a:t>
            </a:r>
            <a:r>
              <a:rPr sz="4800" b="1" spc="-125" dirty="0">
                <a:latin typeface="Arial" panose="020B0604020202020204" pitchFamily="34" charset="0"/>
                <a:cs typeface="Arial" panose="020B0604020202020204" pitchFamily="34" charset="0"/>
              </a:rPr>
              <a:t> </a:t>
            </a:r>
            <a:r>
              <a:rPr lang="en-US" sz="4800" b="1" spc="-10" dirty="0">
                <a:latin typeface="Arial" panose="020B0604020202020204" pitchFamily="34" charset="0"/>
                <a:cs typeface="Arial" panose="020B0604020202020204" pitchFamily="34" charset="0"/>
              </a:rPr>
              <a:t>B</a:t>
            </a:r>
            <a:r>
              <a:rPr sz="4800" b="1" spc="-10" dirty="0">
                <a:latin typeface="Arial" panose="020B0604020202020204" pitchFamily="34" charset="0"/>
                <a:cs typeface="Arial" panose="020B0604020202020204" pitchFamily="34" charset="0"/>
              </a:rPr>
              <a:t>ack-</a:t>
            </a:r>
            <a:r>
              <a:rPr lang="en-US" sz="4800" b="1" spc="-10" dirty="0">
                <a:latin typeface="Arial" panose="020B0604020202020204" pitchFamily="34" charset="0"/>
                <a:cs typeface="Arial" panose="020B0604020202020204" pitchFamily="34" charset="0"/>
              </a:rPr>
              <a:t>P</a:t>
            </a:r>
            <a:r>
              <a:rPr sz="4800" b="1" dirty="0">
                <a:latin typeface="Arial" panose="020B0604020202020204" pitchFamily="34" charset="0"/>
                <a:cs typeface="Arial" panose="020B0604020202020204" pitchFamily="34" charset="0"/>
              </a:rPr>
              <a:t>rojection</a:t>
            </a:r>
            <a:r>
              <a:rPr sz="4800" b="1" spc="-130" dirty="0">
                <a:latin typeface="Arial" panose="020B0604020202020204" pitchFamily="34" charset="0"/>
                <a:cs typeface="Arial" panose="020B0604020202020204" pitchFamily="34" charset="0"/>
              </a:rPr>
              <a:t> </a:t>
            </a:r>
            <a:r>
              <a:rPr sz="4800" b="1" spc="-10" dirty="0">
                <a:latin typeface="Arial" panose="020B0604020202020204" pitchFamily="34" charset="0"/>
                <a:cs typeface="Arial" panose="020B0604020202020204" pitchFamily="34" charset="0"/>
              </a:rPr>
              <a:t>(FBP)</a:t>
            </a:r>
          </a:p>
        </p:txBody>
      </p:sp>
      <p:sp>
        <p:nvSpPr>
          <p:cNvPr id="3" name="object 3"/>
          <p:cNvSpPr txBox="1"/>
          <p:nvPr/>
        </p:nvSpPr>
        <p:spPr>
          <a:xfrm>
            <a:off x="190499" y="1238099"/>
            <a:ext cx="11810999" cy="1009892"/>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lang="en-US" sz="3200" dirty="0">
                <a:latin typeface="Arial" panose="020B0604020202020204" pitchFamily="34" charset="0"/>
                <a:cs typeface="Arial" panose="020B0604020202020204" pitchFamily="34" charset="0"/>
              </a:rPr>
              <a:t>Direct</a:t>
            </a:r>
            <a:r>
              <a:rPr sz="3200" spc="-40"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back-</a:t>
            </a:r>
            <a:r>
              <a:rPr sz="3200" dirty="0">
                <a:latin typeface="Arial" panose="020B0604020202020204" pitchFamily="34" charset="0"/>
                <a:cs typeface="Arial" panose="020B0604020202020204" pitchFamily="34" charset="0"/>
              </a:rPr>
              <a:t>projection</a:t>
            </a:r>
            <a:r>
              <a:rPr sz="3200" spc="-50"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from</a:t>
            </a:r>
            <a:r>
              <a:rPr sz="3200" spc="-50"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a</a:t>
            </a:r>
            <a:r>
              <a:rPr sz="3200" spc="-4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sinogram</a:t>
            </a:r>
            <a:r>
              <a:rPr sz="3200" spc="-1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produce</a:t>
            </a:r>
            <a:r>
              <a:rPr lang="en-US" sz="3200" dirty="0">
                <a:latin typeface="Arial" panose="020B0604020202020204" pitchFamily="34" charset="0"/>
                <a:cs typeface="Arial" panose="020B0604020202020204" pitchFamily="34" charset="0"/>
              </a:rPr>
              <a:t>s</a:t>
            </a:r>
            <a:r>
              <a:rPr sz="3200" spc="-3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a</a:t>
            </a:r>
            <a:r>
              <a:rPr sz="3200" spc="-30"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blurry</a:t>
            </a:r>
            <a:r>
              <a:rPr sz="3200" spc="-35"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image</a:t>
            </a:r>
            <a:endParaRPr lang="en-US" sz="3200" spc="-10" dirty="0">
              <a:latin typeface="Arial" panose="020B0604020202020204" pitchFamily="34" charset="0"/>
              <a:cs typeface="Arial" panose="020B0604020202020204" pitchFamily="34" charset="0"/>
            </a:endParaRPr>
          </a:p>
          <a:p>
            <a:pPr marL="355600" marR="5080" indent="-342900">
              <a:spcBef>
                <a:spcPts val="95"/>
              </a:spcBef>
              <a:buChar char="•"/>
              <a:tabLst>
                <a:tab pos="355600" algn="l"/>
              </a:tabLst>
            </a:pPr>
            <a:r>
              <a:rPr lang="en-US" sz="3200" spc="-10" dirty="0">
                <a:latin typeface="Arial" panose="020B0604020202020204" pitchFamily="34" charset="0"/>
                <a:cs typeface="Arial" panose="020B0604020202020204" pitchFamily="34" charset="0"/>
              </a:rPr>
              <a:t>Filtration (Ramp filter) </a:t>
            </a:r>
            <a:r>
              <a:rPr sz="3200" dirty="0">
                <a:latin typeface="Arial" panose="020B0604020202020204" pitchFamily="34" charset="0"/>
                <a:cs typeface="Arial" panose="020B0604020202020204" pitchFamily="34" charset="0"/>
              </a:rPr>
              <a:t>is</a:t>
            </a:r>
            <a:r>
              <a:rPr sz="3200" spc="-2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required</a:t>
            </a:r>
            <a:r>
              <a:rPr sz="3200" spc="-10"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in</a:t>
            </a:r>
            <a:r>
              <a:rPr sz="3200" spc="-15"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the</a:t>
            </a:r>
            <a:r>
              <a:rPr sz="3200" spc="-20" dirty="0">
                <a:latin typeface="Arial" panose="020B0604020202020204" pitchFamily="34" charset="0"/>
                <a:cs typeface="Arial" panose="020B0604020202020204" pitchFamily="34" charset="0"/>
              </a:rPr>
              <a:t> </a:t>
            </a:r>
            <a:r>
              <a:rPr sz="3200" dirty="0">
                <a:latin typeface="Arial" panose="020B0604020202020204" pitchFamily="34" charset="0"/>
                <a:cs typeface="Arial" panose="020B0604020202020204" pitchFamily="34" charset="0"/>
              </a:rPr>
              <a:t>sinogram</a:t>
            </a:r>
            <a:r>
              <a:rPr sz="3200" spc="-5" dirty="0">
                <a:latin typeface="Arial" panose="020B0604020202020204" pitchFamily="34" charset="0"/>
                <a:cs typeface="Arial" panose="020B0604020202020204" pitchFamily="34" charset="0"/>
              </a:rPr>
              <a:t> </a:t>
            </a:r>
            <a:r>
              <a:rPr sz="3200" spc="-10" dirty="0">
                <a:latin typeface="Arial" panose="020B0604020202020204" pitchFamily="34" charset="0"/>
                <a:cs typeface="Arial" panose="020B0604020202020204" pitchFamily="34" charset="0"/>
              </a:rPr>
              <a:t>space</a:t>
            </a:r>
            <a:endParaRPr sz="3200" dirty="0">
              <a:latin typeface="Arial" panose="020B0604020202020204" pitchFamily="34" charset="0"/>
              <a:cs typeface="Arial" panose="020B0604020202020204" pitchFamily="34" charset="0"/>
            </a:endParaRPr>
          </a:p>
        </p:txBody>
      </p:sp>
      <p:pic>
        <p:nvPicPr>
          <p:cNvPr id="4" name="object 4"/>
          <p:cNvPicPr/>
          <p:nvPr/>
        </p:nvPicPr>
        <p:blipFill>
          <a:blip r:embed="rId3" cstate="print"/>
          <a:stretch>
            <a:fillRect/>
          </a:stretch>
        </p:blipFill>
        <p:spPr>
          <a:xfrm>
            <a:off x="190499" y="2660784"/>
            <a:ext cx="3733800" cy="2959117"/>
          </a:xfrm>
          <a:prstGeom prst="rect">
            <a:avLst/>
          </a:prstGeom>
        </p:spPr>
      </p:pic>
      <p:pic>
        <p:nvPicPr>
          <p:cNvPr id="5" name="object 5"/>
          <p:cNvPicPr/>
          <p:nvPr/>
        </p:nvPicPr>
        <p:blipFill>
          <a:blip r:embed="rId4" cstate="print"/>
          <a:stretch>
            <a:fillRect/>
          </a:stretch>
        </p:blipFill>
        <p:spPr>
          <a:xfrm>
            <a:off x="4191000" y="2634280"/>
            <a:ext cx="3352800" cy="33054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71705"/>
            <a:ext cx="12192001" cy="1004839"/>
          </a:xfrm>
          <a:prstGeom prst="rect">
            <a:avLst/>
          </a:prstGeom>
        </p:spPr>
        <p:txBody>
          <a:bodyPr vert="horz" wrap="square" lIns="0" tIns="324561" rIns="0" bIns="0" rtlCol="0">
            <a:spAutoFit/>
          </a:bodyPr>
          <a:lstStyle/>
          <a:p>
            <a:pPr algn="ctr">
              <a:spcBef>
                <a:spcPts val="105"/>
              </a:spcBef>
            </a:pPr>
            <a:r>
              <a:rPr dirty="0"/>
              <a:t>FBP</a:t>
            </a:r>
            <a:r>
              <a:rPr spc="-45" dirty="0"/>
              <a:t> </a:t>
            </a:r>
            <a:r>
              <a:rPr dirty="0"/>
              <a:t>in</a:t>
            </a:r>
            <a:r>
              <a:rPr spc="35" dirty="0"/>
              <a:t> </a:t>
            </a:r>
            <a:r>
              <a:rPr lang="en-US" spc="-10" dirty="0"/>
              <a:t>P</a:t>
            </a:r>
            <a:r>
              <a:rPr spc="-10" dirty="0"/>
              <a:t>rogress</a:t>
            </a:r>
          </a:p>
        </p:txBody>
      </p:sp>
      <p:pic>
        <p:nvPicPr>
          <p:cNvPr id="3" name="object 3"/>
          <p:cNvPicPr/>
          <p:nvPr/>
        </p:nvPicPr>
        <p:blipFill>
          <a:blip r:embed="rId3" cstate="print"/>
          <a:stretch>
            <a:fillRect/>
          </a:stretch>
        </p:blipFill>
        <p:spPr>
          <a:xfrm>
            <a:off x="1600200" y="1524000"/>
            <a:ext cx="5419471" cy="47971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60681" y="675177"/>
            <a:ext cx="7722870" cy="1854200"/>
          </a:xfrm>
          <a:prstGeom prst="rect">
            <a:avLst/>
          </a:prstGeom>
        </p:spPr>
        <p:txBody>
          <a:bodyPr vert="horz" wrap="square" lIns="0" tIns="12065" rIns="0" bIns="0" rtlCol="0">
            <a:spAutoFit/>
          </a:bodyPr>
          <a:lstStyle/>
          <a:p>
            <a:pPr marL="12700">
              <a:spcBef>
                <a:spcPts val="95"/>
              </a:spcBef>
            </a:pPr>
            <a:r>
              <a:rPr sz="4000" dirty="0">
                <a:latin typeface="Microsoft Sans Serif"/>
                <a:cs typeface="Microsoft Sans Serif"/>
              </a:rPr>
              <a:t>How</a:t>
            </a:r>
            <a:r>
              <a:rPr sz="4000" spc="-50" dirty="0">
                <a:latin typeface="Microsoft Sans Serif"/>
                <a:cs typeface="Microsoft Sans Serif"/>
              </a:rPr>
              <a:t> </a:t>
            </a:r>
            <a:r>
              <a:rPr sz="4000" dirty="0">
                <a:latin typeface="Microsoft Sans Serif"/>
                <a:cs typeface="Microsoft Sans Serif"/>
              </a:rPr>
              <a:t>can</a:t>
            </a:r>
            <a:r>
              <a:rPr sz="4000" spc="-30" dirty="0">
                <a:latin typeface="Microsoft Sans Serif"/>
                <a:cs typeface="Microsoft Sans Serif"/>
              </a:rPr>
              <a:t> </a:t>
            </a:r>
            <a:r>
              <a:rPr sz="4000" dirty="0">
                <a:latin typeface="Microsoft Sans Serif"/>
                <a:cs typeface="Microsoft Sans Serif"/>
              </a:rPr>
              <a:t>we</a:t>
            </a:r>
            <a:r>
              <a:rPr sz="4000" spc="-55" dirty="0">
                <a:latin typeface="Microsoft Sans Serif"/>
                <a:cs typeface="Microsoft Sans Serif"/>
              </a:rPr>
              <a:t> </a:t>
            </a:r>
            <a:r>
              <a:rPr sz="4000" dirty="0">
                <a:latin typeface="Microsoft Sans Serif"/>
                <a:cs typeface="Microsoft Sans Serif"/>
              </a:rPr>
              <a:t>use</a:t>
            </a:r>
            <a:r>
              <a:rPr sz="4000" spc="-45" dirty="0">
                <a:latin typeface="Microsoft Sans Serif"/>
                <a:cs typeface="Microsoft Sans Serif"/>
              </a:rPr>
              <a:t> </a:t>
            </a:r>
            <a:r>
              <a:rPr sz="4000" spc="-10" dirty="0">
                <a:latin typeface="Microsoft Sans Serif"/>
                <a:cs typeface="Microsoft Sans Serif"/>
              </a:rPr>
              <a:t>MATLAB</a:t>
            </a:r>
            <a:r>
              <a:rPr sz="4000" spc="-55" dirty="0">
                <a:latin typeface="Microsoft Sans Serif"/>
                <a:cs typeface="Microsoft Sans Serif"/>
              </a:rPr>
              <a:t> </a:t>
            </a:r>
            <a:r>
              <a:rPr sz="4000" dirty="0">
                <a:latin typeface="Microsoft Sans Serif"/>
                <a:cs typeface="Microsoft Sans Serif"/>
              </a:rPr>
              <a:t>for</a:t>
            </a:r>
            <a:r>
              <a:rPr sz="4000" spc="-45" dirty="0">
                <a:latin typeface="Microsoft Sans Serif"/>
                <a:cs typeface="Microsoft Sans Serif"/>
              </a:rPr>
              <a:t> </a:t>
            </a:r>
            <a:r>
              <a:rPr sz="4000" spc="-25" dirty="0">
                <a:latin typeface="Microsoft Sans Serif"/>
                <a:cs typeface="Microsoft Sans Serif"/>
              </a:rPr>
              <a:t>CT?</a:t>
            </a:r>
            <a:endParaRPr sz="4000" dirty="0">
              <a:latin typeface="Microsoft Sans Serif"/>
              <a:cs typeface="Microsoft Sans Serif"/>
            </a:endParaRPr>
          </a:p>
          <a:p>
            <a:pPr marL="2179955" indent="-563880">
              <a:buAutoNum type="arabicPeriod"/>
              <a:tabLst>
                <a:tab pos="2179955" algn="l"/>
              </a:tabLst>
            </a:pPr>
            <a:r>
              <a:rPr sz="4000" dirty="0">
                <a:latin typeface="Microsoft Sans Serif"/>
                <a:cs typeface="Microsoft Sans Serif"/>
              </a:rPr>
              <a:t>Parallel</a:t>
            </a:r>
            <a:r>
              <a:rPr lang="en-US" sz="4000" spc="-70" dirty="0">
                <a:latin typeface="Microsoft Sans Serif"/>
                <a:cs typeface="Microsoft Sans Serif"/>
              </a:rPr>
              <a:t>-</a:t>
            </a:r>
            <a:r>
              <a:rPr sz="4000" dirty="0">
                <a:latin typeface="Microsoft Sans Serif"/>
                <a:cs typeface="Microsoft Sans Serif"/>
              </a:rPr>
              <a:t>beam</a:t>
            </a:r>
            <a:r>
              <a:rPr sz="4000" spc="-70" dirty="0">
                <a:latin typeface="Microsoft Sans Serif"/>
                <a:cs typeface="Microsoft Sans Serif"/>
              </a:rPr>
              <a:t> </a:t>
            </a:r>
            <a:r>
              <a:rPr sz="4000" spc="-35" dirty="0">
                <a:latin typeface="Microsoft Sans Serif"/>
                <a:cs typeface="Microsoft Sans Serif"/>
              </a:rPr>
              <a:t>CT</a:t>
            </a:r>
            <a:endParaRPr sz="4000" dirty="0">
              <a:latin typeface="Microsoft Sans Serif"/>
              <a:cs typeface="Microsoft Sans Serif"/>
            </a:endParaRPr>
          </a:p>
          <a:p>
            <a:pPr marL="2588260" indent="-563880">
              <a:buAutoNum type="arabicPeriod"/>
              <a:tabLst>
                <a:tab pos="2588260" algn="l"/>
              </a:tabLst>
            </a:pPr>
            <a:r>
              <a:rPr sz="4000" dirty="0">
                <a:latin typeface="Microsoft Sans Serif"/>
                <a:cs typeface="Microsoft Sans Serif"/>
              </a:rPr>
              <a:t>Fan</a:t>
            </a:r>
            <a:r>
              <a:rPr lang="en-US" sz="4000" spc="-20" dirty="0">
                <a:latin typeface="Microsoft Sans Serif"/>
                <a:cs typeface="Microsoft Sans Serif"/>
              </a:rPr>
              <a:t>-</a:t>
            </a:r>
            <a:r>
              <a:rPr sz="4000" dirty="0">
                <a:latin typeface="Microsoft Sans Serif"/>
                <a:cs typeface="Microsoft Sans Serif"/>
              </a:rPr>
              <a:t>beam</a:t>
            </a:r>
            <a:r>
              <a:rPr sz="4000" spc="-20" dirty="0">
                <a:latin typeface="Microsoft Sans Serif"/>
                <a:cs typeface="Microsoft Sans Serif"/>
              </a:rPr>
              <a:t> </a:t>
            </a:r>
            <a:r>
              <a:rPr sz="4000" spc="-25" dirty="0">
                <a:latin typeface="Microsoft Sans Serif"/>
                <a:cs typeface="Microsoft Sans Serif"/>
              </a:rPr>
              <a:t>CT</a:t>
            </a:r>
            <a:endParaRPr sz="4000" dirty="0">
              <a:latin typeface="Microsoft Sans Serif"/>
              <a:cs typeface="Microsoft Sans Serif"/>
            </a:endParaRPr>
          </a:p>
        </p:txBody>
      </p:sp>
      <p:pic>
        <p:nvPicPr>
          <p:cNvPr id="3" name="object 3"/>
          <p:cNvPicPr/>
          <p:nvPr/>
        </p:nvPicPr>
        <p:blipFill>
          <a:blip r:embed="rId3" cstate="print"/>
          <a:stretch>
            <a:fillRect/>
          </a:stretch>
        </p:blipFill>
        <p:spPr>
          <a:xfrm>
            <a:off x="152400" y="2895600"/>
            <a:ext cx="2356874" cy="2495727"/>
          </a:xfrm>
          <a:prstGeom prst="rect">
            <a:avLst/>
          </a:prstGeom>
        </p:spPr>
      </p:pic>
      <p:pic>
        <p:nvPicPr>
          <p:cNvPr id="4" name="object 4"/>
          <p:cNvPicPr/>
          <p:nvPr/>
        </p:nvPicPr>
        <p:blipFill>
          <a:blip r:embed="rId4" cstate="print"/>
          <a:stretch>
            <a:fillRect/>
          </a:stretch>
        </p:blipFill>
        <p:spPr>
          <a:xfrm>
            <a:off x="2922316" y="2891504"/>
            <a:ext cx="2179824" cy="2495727"/>
          </a:xfrm>
          <a:prstGeom prst="rect">
            <a:avLst/>
          </a:prstGeom>
        </p:spPr>
      </p:pic>
      <p:pic>
        <p:nvPicPr>
          <p:cNvPr id="5" name="object 5"/>
          <p:cNvPicPr/>
          <p:nvPr/>
        </p:nvPicPr>
        <p:blipFill>
          <a:blip r:embed="rId5" cstate="print"/>
          <a:stretch>
            <a:fillRect/>
          </a:stretch>
        </p:blipFill>
        <p:spPr>
          <a:xfrm>
            <a:off x="5440597" y="2891504"/>
            <a:ext cx="2328993" cy="24957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3158" y="3066416"/>
            <a:ext cx="4839842" cy="690574"/>
          </a:xfrm>
          <a:prstGeom prst="rect">
            <a:avLst/>
          </a:prstGeom>
        </p:spPr>
        <p:txBody>
          <a:bodyPr vert="horz" wrap="square" lIns="0" tIns="13335" rIns="0" bIns="0" rtlCol="0">
            <a:spAutoFit/>
          </a:bodyPr>
          <a:lstStyle/>
          <a:p>
            <a:pPr marL="12700">
              <a:spcBef>
                <a:spcPts val="105"/>
              </a:spcBef>
            </a:pPr>
            <a:r>
              <a:rPr dirty="0"/>
              <a:t>Parallel</a:t>
            </a:r>
            <a:r>
              <a:rPr lang="en-US" spc="-50" dirty="0"/>
              <a:t>-B</a:t>
            </a:r>
            <a:r>
              <a:rPr dirty="0"/>
              <a:t>eam</a:t>
            </a:r>
            <a:r>
              <a:rPr spc="-30" dirty="0"/>
              <a:t> </a:t>
            </a:r>
            <a:r>
              <a:rPr spc="-25" dirty="0"/>
              <a:t>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9" y="171705"/>
            <a:ext cx="8677282" cy="1004839"/>
          </a:xfrm>
          <a:prstGeom prst="rect">
            <a:avLst/>
          </a:prstGeom>
        </p:spPr>
        <p:txBody>
          <a:bodyPr vert="horz" wrap="square" lIns="0" tIns="324561" rIns="0" bIns="0" rtlCol="0">
            <a:spAutoFit/>
          </a:bodyPr>
          <a:lstStyle/>
          <a:p>
            <a:pPr marL="1637030">
              <a:spcBef>
                <a:spcPts val="105"/>
              </a:spcBef>
            </a:pPr>
            <a:r>
              <a:rPr dirty="0"/>
              <a:t>Parallel</a:t>
            </a:r>
            <a:r>
              <a:rPr lang="en-US" spc="-55" dirty="0"/>
              <a:t>-</a:t>
            </a:r>
            <a:r>
              <a:rPr dirty="0"/>
              <a:t>beam:</a:t>
            </a:r>
            <a:r>
              <a:rPr spc="-40" dirty="0"/>
              <a:t> </a:t>
            </a:r>
            <a:r>
              <a:rPr b="1" i="1" spc="-10" dirty="0">
                <a:latin typeface="Arial"/>
                <a:cs typeface="Arial"/>
              </a:rPr>
              <a:t>radon</a:t>
            </a:r>
          </a:p>
        </p:txBody>
      </p:sp>
      <p:pic>
        <p:nvPicPr>
          <p:cNvPr id="3" name="object 3"/>
          <p:cNvPicPr/>
          <p:nvPr/>
        </p:nvPicPr>
        <p:blipFill>
          <a:blip r:embed="rId3" cstate="print"/>
          <a:stretch>
            <a:fillRect/>
          </a:stretch>
        </p:blipFill>
        <p:spPr>
          <a:xfrm>
            <a:off x="1540566" y="3219341"/>
            <a:ext cx="3635883" cy="2657475"/>
          </a:xfrm>
          <a:prstGeom prst="rect">
            <a:avLst/>
          </a:prstGeom>
        </p:spPr>
      </p:pic>
      <p:sp>
        <p:nvSpPr>
          <p:cNvPr id="4" name="object 4"/>
          <p:cNvSpPr txBox="1"/>
          <p:nvPr/>
        </p:nvSpPr>
        <p:spPr>
          <a:xfrm>
            <a:off x="16565" y="1176544"/>
            <a:ext cx="9584635" cy="4549322"/>
          </a:xfrm>
          <a:prstGeom prst="rect">
            <a:avLst/>
          </a:prstGeom>
        </p:spPr>
        <p:txBody>
          <a:bodyPr vert="horz" wrap="square" lIns="0" tIns="12065" rIns="0" bIns="0" rtlCol="0">
            <a:spAutoFit/>
          </a:bodyPr>
          <a:lstStyle/>
          <a:p>
            <a:pPr marL="355600" marR="615950" indent="-342900">
              <a:spcBef>
                <a:spcPts val="95"/>
              </a:spcBef>
              <a:buChar char="•"/>
              <a:tabLst>
                <a:tab pos="355600" algn="l"/>
              </a:tabLst>
            </a:pPr>
            <a:r>
              <a:rPr sz="2800" dirty="0">
                <a:latin typeface="Microsoft Sans Serif"/>
                <a:cs typeface="Microsoft Sans Serif"/>
              </a:rPr>
              <a:t>Beams</a:t>
            </a:r>
            <a:r>
              <a:rPr sz="2800" spc="-20" dirty="0">
                <a:latin typeface="Microsoft Sans Serif"/>
                <a:cs typeface="Microsoft Sans Serif"/>
              </a:rPr>
              <a:t> </a:t>
            </a:r>
            <a:r>
              <a:rPr sz="2800" dirty="0">
                <a:latin typeface="Microsoft Sans Serif"/>
                <a:cs typeface="Microsoft Sans Serif"/>
              </a:rPr>
              <a:t>(1</a:t>
            </a:r>
            <a:r>
              <a:rPr sz="2800" spc="-25" dirty="0">
                <a:latin typeface="Microsoft Sans Serif"/>
                <a:cs typeface="Microsoft Sans Serif"/>
              </a:rPr>
              <a:t> </a:t>
            </a:r>
            <a:r>
              <a:rPr sz="2800" dirty="0">
                <a:latin typeface="Microsoft Sans Serif"/>
                <a:cs typeface="Microsoft Sans Serif"/>
              </a:rPr>
              <a:t>pixel</a:t>
            </a:r>
            <a:r>
              <a:rPr sz="2800" spc="-40" dirty="0">
                <a:latin typeface="Microsoft Sans Serif"/>
                <a:cs typeface="Microsoft Sans Serif"/>
              </a:rPr>
              <a:t> </a:t>
            </a:r>
            <a:r>
              <a:rPr sz="2800" dirty="0">
                <a:latin typeface="Microsoft Sans Serif"/>
                <a:cs typeface="Microsoft Sans Serif"/>
              </a:rPr>
              <a:t>apart)</a:t>
            </a:r>
            <a:r>
              <a:rPr sz="2800" spc="-25" dirty="0">
                <a:latin typeface="Microsoft Sans Serif"/>
                <a:cs typeface="Microsoft Sans Serif"/>
              </a:rPr>
              <a:t> </a:t>
            </a:r>
            <a:r>
              <a:rPr sz="2800" dirty="0">
                <a:latin typeface="Microsoft Sans Serif"/>
                <a:cs typeface="Microsoft Sans Serif"/>
              </a:rPr>
              <a:t>from</a:t>
            </a:r>
            <a:r>
              <a:rPr sz="2800" spc="-15" dirty="0">
                <a:latin typeface="Microsoft Sans Serif"/>
                <a:cs typeface="Microsoft Sans Serif"/>
              </a:rPr>
              <a:t> </a:t>
            </a:r>
            <a:r>
              <a:rPr sz="2800" dirty="0">
                <a:latin typeface="Microsoft Sans Serif"/>
                <a:cs typeface="Microsoft Sans Serif"/>
              </a:rPr>
              <a:t>the</a:t>
            </a:r>
            <a:r>
              <a:rPr sz="2800" spc="-35" dirty="0">
                <a:latin typeface="Microsoft Sans Serif"/>
                <a:cs typeface="Microsoft Sans Serif"/>
              </a:rPr>
              <a:t> </a:t>
            </a:r>
            <a:r>
              <a:rPr sz="2800" dirty="0">
                <a:latin typeface="Microsoft Sans Serif"/>
                <a:cs typeface="Microsoft Sans Serif"/>
              </a:rPr>
              <a:t>source</a:t>
            </a:r>
            <a:r>
              <a:rPr sz="2800" spc="-25" dirty="0">
                <a:latin typeface="Microsoft Sans Serif"/>
                <a:cs typeface="Microsoft Sans Serif"/>
              </a:rPr>
              <a:t> are </a:t>
            </a:r>
            <a:r>
              <a:rPr sz="2800" dirty="0">
                <a:latin typeface="Microsoft Sans Serif"/>
                <a:cs typeface="Microsoft Sans Serif"/>
              </a:rPr>
              <a:t>projected</a:t>
            </a:r>
            <a:r>
              <a:rPr sz="2800" spc="-45" dirty="0">
                <a:latin typeface="Microsoft Sans Serif"/>
                <a:cs typeface="Microsoft Sans Serif"/>
              </a:rPr>
              <a:t> </a:t>
            </a:r>
            <a:r>
              <a:rPr sz="2800" dirty="0">
                <a:latin typeface="Microsoft Sans Serif"/>
                <a:cs typeface="Microsoft Sans Serif"/>
              </a:rPr>
              <a:t>parallel</a:t>
            </a:r>
            <a:r>
              <a:rPr sz="2800" spc="-30" dirty="0">
                <a:latin typeface="Microsoft Sans Serif"/>
                <a:cs typeface="Microsoft Sans Serif"/>
              </a:rPr>
              <a:t> </a:t>
            </a:r>
            <a:r>
              <a:rPr sz="2800" dirty="0">
                <a:latin typeface="Microsoft Sans Serif"/>
                <a:cs typeface="Microsoft Sans Serif"/>
              </a:rPr>
              <a:t>to</a:t>
            </a:r>
            <a:r>
              <a:rPr sz="2800" spc="-50" dirty="0">
                <a:latin typeface="Microsoft Sans Serif"/>
                <a:cs typeface="Microsoft Sans Serif"/>
              </a:rPr>
              <a:t> </a:t>
            </a:r>
            <a:r>
              <a:rPr sz="2800" dirty="0">
                <a:latin typeface="Microsoft Sans Serif"/>
                <a:cs typeface="Microsoft Sans Serif"/>
              </a:rPr>
              <a:t>the</a:t>
            </a:r>
            <a:r>
              <a:rPr sz="2800" spc="-45" dirty="0">
                <a:latin typeface="Microsoft Sans Serif"/>
                <a:cs typeface="Microsoft Sans Serif"/>
              </a:rPr>
              <a:t> </a:t>
            </a:r>
            <a:r>
              <a:rPr sz="2800" dirty="0">
                <a:latin typeface="Microsoft Sans Serif"/>
                <a:cs typeface="Microsoft Sans Serif"/>
              </a:rPr>
              <a:t>detector</a:t>
            </a:r>
            <a:r>
              <a:rPr sz="2800" spc="-50" dirty="0">
                <a:latin typeface="Microsoft Sans Serif"/>
                <a:cs typeface="Microsoft Sans Serif"/>
              </a:rPr>
              <a:t> </a:t>
            </a:r>
            <a:r>
              <a:rPr sz="2800" dirty="0">
                <a:latin typeface="Microsoft Sans Serif"/>
                <a:cs typeface="Microsoft Sans Serif"/>
              </a:rPr>
              <a:t>and</a:t>
            </a:r>
            <a:r>
              <a:rPr sz="2800" spc="-45" dirty="0">
                <a:latin typeface="Microsoft Sans Serif"/>
                <a:cs typeface="Microsoft Sans Serif"/>
              </a:rPr>
              <a:t> </a:t>
            </a:r>
            <a:r>
              <a:rPr sz="2800" spc="-10" dirty="0">
                <a:latin typeface="Microsoft Sans Serif"/>
                <a:cs typeface="Microsoft Sans Serif"/>
              </a:rPr>
              <a:t>sample</a:t>
            </a:r>
            <a:endParaRPr sz="2800" dirty="0">
              <a:latin typeface="Microsoft Sans Serif"/>
              <a:cs typeface="Microsoft Sans Serif"/>
            </a:endParaRPr>
          </a:p>
          <a:p>
            <a:pPr marL="355600" marR="179070" indent="-342900">
              <a:spcBef>
                <a:spcPts val="675"/>
              </a:spcBef>
              <a:buChar char="•"/>
              <a:tabLst>
                <a:tab pos="355600" algn="l"/>
              </a:tabLst>
            </a:pPr>
            <a:r>
              <a:rPr sz="2800" dirty="0">
                <a:latin typeface="Microsoft Sans Serif"/>
                <a:cs typeface="Microsoft Sans Serif"/>
              </a:rPr>
              <a:t>Parallel</a:t>
            </a:r>
            <a:r>
              <a:rPr sz="2800" spc="-40" dirty="0">
                <a:latin typeface="Microsoft Sans Serif"/>
                <a:cs typeface="Microsoft Sans Serif"/>
              </a:rPr>
              <a:t> </a:t>
            </a:r>
            <a:r>
              <a:rPr sz="2800" dirty="0">
                <a:latin typeface="Microsoft Sans Serif"/>
                <a:cs typeface="Microsoft Sans Serif"/>
              </a:rPr>
              <a:t>beams</a:t>
            </a:r>
            <a:r>
              <a:rPr sz="2800" spc="-40" dirty="0">
                <a:latin typeface="Microsoft Sans Serif"/>
                <a:cs typeface="Microsoft Sans Serif"/>
              </a:rPr>
              <a:t> </a:t>
            </a:r>
            <a:r>
              <a:rPr sz="2800" dirty="0">
                <a:latin typeface="Microsoft Sans Serif"/>
                <a:cs typeface="Microsoft Sans Serif"/>
              </a:rPr>
              <a:t>and</a:t>
            </a:r>
            <a:r>
              <a:rPr sz="2800" spc="-40" dirty="0">
                <a:latin typeface="Microsoft Sans Serif"/>
                <a:cs typeface="Microsoft Sans Serif"/>
              </a:rPr>
              <a:t> </a:t>
            </a:r>
            <a:r>
              <a:rPr sz="2800" dirty="0">
                <a:latin typeface="Microsoft Sans Serif"/>
                <a:cs typeface="Microsoft Sans Serif"/>
              </a:rPr>
              <a:t>detector</a:t>
            </a:r>
            <a:r>
              <a:rPr sz="2800" spc="-45" dirty="0">
                <a:latin typeface="Microsoft Sans Serif"/>
                <a:cs typeface="Microsoft Sans Serif"/>
              </a:rPr>
              <a:t> </a:t>
            </a:r>
            <a:r>
              <a:rPr sz="2800" dirty="0">
                <a:latin typeface="Microsoft Sans Serif"/>
                <a:cs typeface="Microsoft Sans Serif"/>
              </a:rPr>
              <a:t>are</a:t>
            </a:r>
            <a:r>
              <a:rPr sz="2800" spc="-50" dirty="0">
                <a:latin typeface="Microsoft Sans Serif"/>
                <a:cs typeface="Microsoft Sans Serif"/>
              </a:rPr>
              <a:t> </a:t>
            </a:r>
            <a:r>
              <a:rPr sz="2800" dirty="0">
                <a:latin typeface="Microsoft Sans Serif"/>
                <a:cs typeface="Microsoft Sans Serif"/>
              </a:rPr>
              <a:t>rotated</a:t>
            </a:r>
            <a:r>
              <a:rPr sz="2800" spc="-45" dirty="0">
                <a:latin typeface="Microsoft Sans Serif"/>
                <a:cs typeface="Microsoft Sans Serif"/>
              </a:rPr>
              <a:t> </a:t>
            </a:r>
            <a:r>
              <a:rPr sz="2800" spc="-10" dirty="0">
                <a:latin typeface="Microsoft Sans Serif"/>
                <a:cs typeface="Microsoft Sans Serif"/>
              </a:rPr>
              <a:t>around </a:t>
            </a:r>
            <a:r>
              <a:rPr sz="2800" dirty="0">
                <a:latin typeface="Microsoft Sans Serif"/>
                <a:cs typeface="Microsoft Sans Serif"/>
              </a:rPr>
              <a:t>the</a:t>
            </a:r>
            <a:r>
              <a:rPr sz="2800" spc="-15" dirty="0">
                <a:latin typeface="Microsoft Sans Serif"/>
                <a:cs typeface="Microsoft Sans Serif"/>
              </a:rPr>
              <a:t> </a:t>
            </a:r>
            <a:r>
              <a:rPr sz="2800" dirty="0">
                <a:latin typeface="Microsoft Sans Serif"/>
                <a:cs typeface="Microsoft Sans Serif"/>
              </a:rPr>
              <a:t>center</a:t>
            </a:r>
            <a:r>
              <a:rPr sz="2800" spc="-20" dirty="0">
                <a:latin typeface="Microsoft Sans Serif"/>
                <a:cs typeface="Microsoft Sans Serif"/>
              </a:rPr>
              <a:t> </a:t>
            </a:r>
            <a:r>
              <a:rPr sz="2800" dirty="0">
                <a:latin typeface="Microsoft Sans Serif"/>
                <a:cs typeface="Microsoft Sans Serif"/>
              </a:rPr>
              <a:t>of</a:t>
            </a:r>
            <a:r>
              <a:rPr sz="2800" spc="-10" dirty="0">
                <a:latin typeface="Microsoft Sans Serif"/>
                <a:cs typeface="Microsoft Sans Serif"/>
              </a:rPr>
              <a:t> </a:t>
            </a:r>
            <a:r>
              <a:rPr sz="2800" dirty="0">
                <a:latin typeface="Microsoft Sans Serif"/>
                <a:cs typeface="Microsoft Sans Serif"/>
              </a:rPr>
              <a:t>the</a:t>
            </a:r>
            <a:r>
              <a:rPr sz="2800" spc="-20" dirty="0">
                <a:latin typeface="Microsoft Sans Serif"/>
                <a:cs typeface="Microsoft Sans Serif"/>
              </a:rPr>
              <a:t> </a:t>
            </a:r>
            <a:r>
              <a:rPr sz="2800" dirty="0">
                <a:latin typeface="Microsoft Sans Serif"/>
                <a:cs typeface="Microsoft Sans Serif"/>
              </a:rPr>
              <a:t>image</a:t>
            </a:r>
            <a:r>
              <a:rPr sz="2800" spc="-5" dirty="0">
                <a:latin typeface="Microsoft Sans Serif"/>
                <a:cs typeface="Microsoft Sans Serif"/>
              </a:rPr>
              <a:t> </a:t>
            </a:r>
            <a:r>
              <a:rPr sz="2800" dirty="0">
                <a:latin typeface="Microsoft Sans Serif"/>
                <a:cs typeface="Microsoft Sans Serif"/>
              </a:rPr>
              <a:t>at</a:t>
            </a:r>
            <a:r>
              <a:rPr sz="2800" spc="-15" dirty="0">
                <a:latin typeface="Microsoft Sans Serif"/>
                <a:cs typeface="Microsoft Sans Serif"/>
              </a:rPr>
              <a:t> </a:t>
            </a:r>
            <a:r>
              <a:rPr sz="2800" dirty="0">
                <a:latin typeface="Microsoft Sans Serif"/>
                <a:cs typeface="Microsoft Sans Serif"/>
              </a:rPr>
              <a:t>an</a:t>
            </a:r>
            <a:r>
              <a:rPr sz="2800" spc="-10" dirty="0">
                <a:latin typeface="Microsoft Sans Serif"/>
                <a:cs typeface="Microsoft Sans Serif"/>
              </a:rPr>
              <a:t> </a:t>
            </a:r>
            <a:r>
              <a:rPr sz="2800" dirty="0">
                <a:latin typeface="Microsoft Sans Serif"/>
                <a:cs typeface="Microsoft Sans Serif"/>
              </a:rPr>
              <a:t>angle</a:t>
            </a:r>
            <a:r>
              <a:rPr sz="2800" spc="-25" dirty="0">
                <a:latin typeface="Microsoft Sans Serif"/>
                <a:cs typeface="Microsoft Sans Serif"/>
              </a:rPr>
              <a:t> </a:t>
            </a:r>
            <a:r>
              <a:rPr sz="2800" dirty="0">
                <a:latin typeface="Microsoft Sans Serif"/>
                <a:cs typeface="Microsoft Sans Serif"/>
              </a:rPr>
              <a:t>theta</a:t>
            </a:r>
            <a:r>
              <a:rPr sz="2800" spc="20" dirty="0">
                <a:latin typeface="Microsoft Sans Serif"/>
                <a:cs typeface="Microsoft Sans Serif"/>
              </a:rPr>
              <a:t> </a:t>
            </a:r>
            <a:r>
              <a:rPr sz="2800" spc="-60" dirty="0">
                <a:latin typeface="Microsoft Sans Serif"/>
                <a:cs typeface="Microsoft Sans Serif"/>
              </a:rPr>
              <a:t>θ</a:t>
            </a:r>
            <a:endParaRPr sz="2800" dirty="0">
              <a:latin typeface="Microsoft Sans Serif"/>
              <a:cs typeface="Microsoft Sans Serif"/>
            </a:endParaRPr>
          </a:p>
          <a:p>
            <a:pPr>
              <a:spcBef>
                <a:spcPts val="120"/>
              </a:spcBef>
            </a:pPr>
            <a:endParaRPr sz="2800" dirty="0">
              <a:latin typeface="Microsoft Sans Serif"/>
              <a:cs typeface="Microsoft Sans Serif"/>
            </a:endParaRPr>
          </a:p>
          <a:p>
            <a:pPr marL="4210685" algn="ctr"/>
            <a:r>
              <a:rPr sz="2800" dirty="0">
                <a:solidFill>
                  <a:srgbClr val="00AF50"/>
                </a:solidFill>
                <a:latin typeface="Microsoft Sans Serif"/>
                <a:cs typeface="Microsoft Sans Serif"/>
              </a:rPr>
              <a:t>[R,</a:t>
            </a:r>
            <a:r>
              <a:rPr sz="2800" spc="-20" dirty="0">
                <a:solidFill>
                  <a:srgbClr val="00AF50"/>
                </a:solidFill>
                <a:latin typeface="Microsoft Sans Serif"/>
                <a:cs typeface="Microsoft Sans Serif"/>
              </a:rPr>
              <a:t> </a:t>
            </a:r>
            <a:r>
              <a:rPr sz="2800" dirty="0">
                <a:solidFill>
                  <a:srgbClr val="00AF50"/>
                </a:solidFill>
                <a:latin typeface="Microsoft Sans Serif"/>
                <a:cs typeface="Microsoft Sans Serif"/>
              </a:rPr>
              <a:t>xp]</a:t>
            </a:r>
            <a:r>
              <a:rPr sz="2800" spc="-10" dirty="0">
                <a:solidFill>
                  <a:srgbClr val="00AF50"/>
                </a:solidFill>
                <a:latin typeface="Microsoft Sans Serif"/>
                <a:cs typeface="Microsoft Sans Serif"/>
              </a:rPr>
              <a:t> </a:t>
            </a:r>
            <a:r>
              <a:rPr lang="en-US" sz="2800" dirty="0">
                <a:solidFill>
                  <a:srgbClr val="00AF50"/>
                </a:solidFill>
                <a:latin typeface="Microsoft Sans Serif"/>
                <a:cs typeface="Microsoft Sans Serif"/>
              </a:rPr>
              <a:t>equals</a:t>
            </a:r>
            <a:r>
              <a:rPr sz="2800" spc="-10" dirty="0">
                <a:solidFill>
                  <a:srgbClr val="00AF50"/>
                </a:solidFill>
                <a:latin typeface="Microsoft Sans Serif"/>
                <a:cs typeface="Microsoft Sans Serif"/>
              </a:rPr>
              <a:t> </a:t>
            </a:r>
            <a:r>
              <a:rPr sz="2800" dirty="0">
                <a:solidFill>
                  <a:srgbClr val="00AF50"/>
                </a:solidFill>
                <a:latin typeface="Microsoft Sans Serif"/>
                <a:cs typeface="Microsoft Sans Serif"/>
              </a:rPr>
              <a:t>radon(I,</a:t>
            </a:r>
            <a:r>
              <a:rPr sz="2800" spc="-10" dirty="0">
                <a:solidFill>
                  <a:srgbClr val="00AF50"/>
                </a:solidFill>
                <a:latin typeface="Microsoft Sans Serif"/>
                <a:cs typeface="Microsoft Sans Serif"/>
              </a:rPr>
              <a:t> theta);</a:t>
            </a:r>
            <a:endParaRPr sz="2800" dirty="0">
              <a:latin typeface="Microsoft Sans Serif"/>
              <a:cs typeface="Microsoft Sans Serif"/>
            </a:endParaRPr>
          </a:p>
          <a:p>
            <a:pPr marL="4213860" algn="ctr">
              <a:spcBef>
                <a:spcPts val="2895"/>
              </a:spcBef>
            </a:pPr>
            <a:r>
              <a:rPr sz="2400" b="1" dirty="0">
                <a:latin typeface="Arial"/>
                <a:cs typeface="Arial"/>
              </a:rPr>
              <a:t>R</a:t>
            </a:r>
            <a:r>
              <a:rPr sz="2400" b="1" spc="-10" dirty="0">
                <a:latin typeface="Arial"/>
                <a:cs typeface="Arial"/>
              </a:rPr>
              <a:t> </a:t>
            </a:r>
            <a:r>
              <a:rPr lang="en-US" sz="2400" dirty="0">
                <a:latin typeface="Microsoft Sans Serif"/>
                <a:cs typeface="Microsoft Sans Serif"/>
              </a:rPr>
              <a:t>equals</a:t>
            </a:r>
            <a:r>
              <a:rPr sz="2400" spc="15" dirty="0">
                <a:latin typeface="Microsoft Sans Serif"/>
                <a:cs typeface="Microsoft Sans Serif"/>
              </a:rPr>
              <a:t> </a:t>
            </a:r>
            <a:r>
              <a:rPr sz="2400" spc="-20" dirty="0">
                <a:latin typeface="Microsoft Sans Serif"/>
                <a:cs typeface="Microsoft Sans Serif"/>
              </a:rPr>
              <a:t>value</a:t>
            </a:r>
            <a:endParaRPr sz="2400" dirty="0">
              <a:latin typeface="Microsoft Sans Serif"/>
              <a:cs typeface="Microsoft Sans Serif"/>
            </a:endParaRPr>
          </a:p>
          <a:p>
            <a:pPr marL="4212590" algn="ctr">
              <a:spcBef>
                <a:spcPts val="5"/>
              </a:spcBef>
            </a:pPr>
            <a:r>
              <a:rPr sz="2400" b="1" dirty="0" err="1">
                <a:latin typeface="Arial"/>
                <a:cs typeface="Arial"/>
              </a:rPr>
              <a:t>xp</a:t>
            </a:r>
            <a:r>
              <a:rPr sz="2400" b="1" spc="-20" dirty="0">
                <a:latin typeface="Arial"/>
                <a:cs typeface="Arial"/>
              </a:rPr>
              <a:t> </a:t>
            </a:r>
            <a:r>
              <a:rPr lang="en-US" sz="2400" dirty="0">
                <a:latin typeface="Microsoft Sans Serif"/>
                <a:cs typeface="Microsoft Sans Serif"/>
              </a:rPr>
              <a:t>equals</a:t>
            </a:r>
            <a:r>
              <a:rPr sz="2400" spc="-5" dirty="0">
                <a:latin typeface="Microsoft Sans Serif"/>
                <a:cs typeface="Microsoft Sans Serif"/>
              </a:rPr>
              <a:t> </a:t>
            </a:r>
            <a:r>
              <a:rPr sz="2400" dirty="0">
                <a:latin typeface="Microsoft Sans Serif"/>
                <a:cs typeface="Microsoft Sans Serif"/>
              </a:rPr>
              <a:t>detector</a:t>
            </a:r>
            <a:r>
              <a:rPr sz="2400" spc="20" dirty="0">
                <a:latin typeface="Microsoft Sans Serif"/>
                <a:cs typeface="Microsoft Sans Serif"/>
              </a:rPr>
              <a:t> </a:t>
            </a:r>
            <a:r>
              <a:rPr sz="2400" spc="-10" dirty="0">
                <a:latin typeface="Microsoft Sans Serif"/>
                <a:cs typeface="Microsoft Sans Serif"/>
              </a:rPr>
              <a:t>locations</a:t>
            </a:r>
            <a:endParaRPr sz="2400" dirty="0">
              <a:latin typeface="Microsoft Sans Serif"/>
              <a:cs typeface="Microsoft Sans Serif"/>
            </a:endParaRPr>
          </a:p>
          <a:p>
            <a:pPr marL="4211955" algn="ctr"/>
            <a:r>
              <a:rPr sz="2400" b="1" dirty="0">
                <a:latin typeface="Arial"/>
                <a:cs typeface="Arial"/>
              </a:rPr>
              <a:t>I</a:t>
            </a:r>
            <a:r>
              <a:rPr sz="2400" b="1" spc="-45" dirty="0">
                <a:latin typeface="Arial"/>
                <a:cs typeface="Arial"/>
              </a:rPr>
              <a:t> </a:t>
            </a:r>
            <a:r>
              <a:rPr lang="en-US" sz="2400" dirty="0">
                <a:latin typeface="Microsoft Sans Serif"/>
                <a:cs typeface="Microsoft Sans Serif"/>
              </a:rPr>
              <a:t>equals</a:t>
            </a:r>
            <a:r>
              <a:rPr sz="2400" spc="-10" dirty="0">
                <a:latin typeface="Microsoft Sans Serif"/>
                <a:cs typeface="Microsoft Sans Serif"/>
              </a:rPr>
              <a:t> </a:t>
            </a:r>
            <a:r>
              <a:rPr sz="2400" dirty="0">
                <a:latin typeface="Microsoft Sans Serif"/>
                <a:cs typeface="Microsoft Sans Serif"/>
              </a:rPr>
              <a:t>input</a:t>
            </a:r>
            <a:r>
              <a:rPr sz="2400" spc="15" dirty="0">
                <a:latin typeface="Microsoft Sans Serif"/>
                <a:cs typeface="Microsoft Sans Serif"/>
              </a:rPr>
              <a:t> </a:t>
            </a:r>
            <a:r>
              <a:rPr sz="2400" spc="-10" dirty="0">
                <a:latin typeface="Microsoft Sans Serif"/>
                <a:cs typeface="Microsoft Sans Serif"/>
              </a:rPr>
              <a:t>image</a:t>
            </a:r>
            <a:endParaRPr sz="2400" dirty="0">
              <a:latin typeface="Microsoft Sans Serif"/>
              <a:cs typeface="Microsoft Sans Serif"/>
            </a:endParaRPr>
          </a:p>
          <a:p>
            <a:pPr marL="4211320" algn="ctr"/>
            <a:r>
              <a:rPr sz="2400" b="1" dirty="0">
                <a:latin typeface="Arial"/>
                <a:cs typeface="Arial"/>
              </a:rPr>
              <a:t>theta</a:t>
            </a:r>
            <a:r>
              <a:rPr sz="2400" b="1" spc="-65" dirty="0">
                <a:latin typeface="Arial"/>
                <a:cs typeface="Arial"/>
              </a:rPr>
              <a:t> </a:t>
            </a:r>
            <a:r>
              <a:rPr lang="en-US" sz="2400" dirty="0">
                <a:latin typeface="Microsoft Sans Serif"/>
                <a:cs typeface="Microsoft Sans Serif"/>
              </a:rPr>
              <a:t>equals</a:t>
            </a:r>
            <a:r>
              <a:rPr sz="2400" spc="-30" dirty="0">
                <a:latin typeface="Microsoft Sans Serif"/>
                <a:cs typeface="Microsoft Sans Serif"/>
              </a:rPr>
              <a:t> </a:t>
            </a:r>
            <a:r>
              <a:rPr sz="2400" dirty="0">
                <a:latin typeface="Microsoft Sans Serif"/>
                <a:cs typeface="Microsoft Sans Serif"/>
              </a:rPr>
              <a:t>rotation</a:t>
            </a:r>
            <a:r>
              <a:rPr sz="2400" spc="-35" dirty="0">
                <a:latin typeface="Microsoft Sans Serif"/>
                <a:cs typeface="Microsoft Sans Serif"/>
              </a:rPr>
              <a:t> </a:t>
            </a:r>
            <a:r>
              <a:rPr sz="2400" spc="-20" dirty="0">
                <a:latin typeface="Microsoft Sans Serif"/>
                <a:cs typeface="Microsoft Sans Serif"/>
              </a:rPr>
              <a:t>angle</a:t>
            </a:r>
            <a:endParaRPr sz="2400" dirty="0">
              <a:latin typeface="Microsoft Sans Serif"/>
              <a:cs typeface="Microsoft Sans Serif"/>
            </a:endParaRPr>
          </a:p>
        </p:txBody>
      </p:sp>
      <p:sp>
        <p:nvSpPr>
          <p:cNvPr id="5" name="object 5"/>
          <p:cNvSpPr txBox="1"/>
          <p:nvPr/>
        </p:nvSpPr>
        <p:spPr>
          <a:xfrm>
            <a:off x="1009704" y="6109174"/>
            <a:ext cx="4926330" cy="228268"/>
          </a:xfrm>
          <a:prstGeom prst="rect">
            <a:avLst/>
          </a:prstGeom>
        </p:spPr>
        <p:txBody>
          <a:bodyPr vert="horz" wrap="square" lIns="0" tIns="12700" rIns="0" bIns="0" rtlCol="0">
            <a:spAutoFit/>
          </a:bodyPr>
          <a:lstStyle/>
          <a:p>
            <a:pPr marL="12700">
              <a:spcBef>
                <a:spcPts val="100"/>
              </a:spcBef>
            </a:pPr>
            <a:r>
              <a:rPr sz="1400" spc="-10" dirty="0">
                <a:solidFill>
                  <a:srgbClr val="006FC0"/>
                </a:solidFill>
                <a:latin typeface="Microsoft Sans Serif"/>
                <a:cs typeface="Microsoft Sans Serif"/>
              </a:rPr>
              <a:t>https://</a:t>
            </a:r>
            <a:r>
              <a:rPr sz="1400" spc="-10" dirty="0">
                <a:solidFill>
                  <a:srgbClr val="006FC0"/>
                </a:solidFill>
                <a:latin typeface="Microsoft Sans Serif"/>
                <a:cs typeface="Microsoft Sans Serif"/>
                <a:hlinkClick r:id="rId4"/>
              </a:rPr>
              <a:t>www.mathworks.com/help/images/radon-transform.html</a:t>
            </a:r>
            <a:endParaRPr sz="1400">
              <a:latin typeface="Microsoft Sans Serif"/>
              <a:cs typeface="Microsoft Sans Serif"/>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26784"/>
            <a:ext cx="6400165" cy="697230"/>
          </a:xfrm>
          <a:prstGeom prst="rect">
            <a:avLst/>
          </a:prstGeom>
        </p:spPr>
        <p:txBody>
          <a:bodyPr vert="horz" wrap="square" lIns="0" tIns="13335" rIns="0" bIns="0" rtlCol="0">
            <a:spAutoFit/>
          </a:bodyPr>
          <a:lstStyle/>
          <a:p>
            <a:pPr marL="12700">
              <a:spcBef>
                <a:spcPts val="105"/>
              </a:spcBef>
            </a:pPr>
            <a:r>
              <a:rPr dirty="0"/>
              <a:t>Example</a:t>
            </a:r>
            <a:r>
              <a:rPr spc="-45" dirty="0"/>
              <a:t> </a:t>
            </a:r>
            <a:r>
              <a:rPr dirty="0"/>
              <a:t>1:</a:t>
            </a:r>
            <a:r>
              <a:rPr spc="-15" dirty="0"/>
              <a:t> </a:t>
            </a:r>
            <a:r>
              <a:rPr dirty="0"/>
              <a:t>Parallel</a:t>
            </a:r>
            <a:r>
              <a:rPr spc="-45" dirty="0"/>
              <a:t> </a:t>
            </a:r>
            <a:r>
              <a:rPr spc="-20" dirty="0"/>
              <a:t>beam</a:t>
            </a:r>
          </a:p>
        </p:txBody>
      </p:sp>
      <p:grpSp>
        <p:nvGrpSpPr>
          <p:cNvPr id="3" name="object 3"/>
          <p:cNvGrpSpPr/>
          <p:nvPr/>
        </p:nvGrpSpPr>
        <p:grpSpPr>
          <a:xfrm>
            <a:off x="2597328" y="3866800"/>
            <a:ext cx="1548130" cy="1564005"/>
            <a:chOff x="2980234" y="4122945"/>
            <a:chExt cx="1548130" cy="1564005"/>
          </a:xfrm>
        </p:grpSpPr>
        <p:pic>
          <p:nvPicPr>
            <p:cNvPr id="4" name="object 4"/>
            <p:cNvPicPr/>
            <p:nvPr/>
          </p:nvPicPr>
          <p:blipFill>
            <a:blip r:embed="rId3" cstate="print"/>
            <a:stretch>
              <a:fillRect/>
            </a:stretch>
          </p:blipFill>
          <p:spPr>
            <a:xfrm>
              <a:off x="2980234" y="4131161"/>
              <a:ext cx="1547594" cy="1541791"/>
            </a:xfrm>
            <a:prstGeom prst="rect">
              <a:avLst/>
            </a:prstGeom>
          </p:spPr>
        </p:pic>
        <p:sp>
          <p:nvSpPr>
            <p:cNvPr id="5" name="object 5"/>
            <p:cNvSpPr/>
            <p:nvPr/>
          </p:nvSpPr>
          <p:spPr>
            <a:xfrm>
              <a:off x="3725033" y="4122945"/>
              <a:ext cx="49530" cy="1547495"/>
            </a:xfrm>
            <a:custGeom>
              <a:avLst/>
              <a:gdLst/>
              <a:ahLst/>
              <a:cxnLst/>
              <a:rect l="l" t="t" r="r" b="b"/>
              <a:pathLst>
                <a:path w="49529" h="1547495">
                  <a:moveTo>
                    <a:pt x="0" y="1439853"/>
                  </a:moveTo>
                  <a:lnTo>
                    <a:pt x="24762" y="1547429"/>
                  </a:lnTo>
                  <a:lnTo>
                    <a:pt x="49524" y="1439853"/>
                  </a:lnTo>
                </a:path>
                <a:path w="49529" h="1547495">
                  <a:moveTo>
                    <a:pt x="24762" y="0"/>
                  </a:moveTo>
                  <a:lnTo>
                    <a:pt x="24762" y="1547429"/>
                  </a:lnTo>
                </a:path>
              </a:pathLst>
            </a:custGeom>
            <a:ln w="33015">
              <a:solidFill>
                <a:srgbClr val="FF0000"/>
              </a:solidFill>
            </a:ln>
          </p:spPr>
          <p:txBody>
            <a:bodyPr wrap="square" lIns="0" tIns="0" rIns="0" bIns="0" rtlCol="0"/>
            <a:lstStyle/>
            <a:p>
              <a:endParaRPr/>
            </a:p>
          </p:txBody>
        </p:sp>
      </p:grpSp>
      <p:grpSp>
        <p:nvGrpSpPr>
          <p:cNvPr id="6" name="object 6"/>
          <p:cNvGrpSpPr/>
          <p:nvPr/>
        </p:nvGrpSpPr>
        <p:grpSpPr>
          <a:xfrm>
            <a:off x="4698153" y="3228553"/>
            <a:ext cx="1433195" cy="2839720"/>
            <a:chOff x="5081058" y="3484699"/>
            <a:chExt cx="1433195" cy="2839720"/>
          </a:xfrm>
        </p:grpSpPr>
        <p:sp>
          <p:nvSpPr>
            <p:cNvPr id="7" name="object 7"/>
            <p:cNvSpPr/>
            <p:nvPr/>
          </p:nvSpPr>
          <p:spPr>
            <a:xfrm>
              <a:off x="5082010" y="6315874"/>
              <a:ext cx="1415415" cy="0"/>
            </a:xfrm>
            <a:custGeom>
              <a:avLst/>
              <a:gdLst/>
              <a:ahLst/>
              <a:cxnLst/>
              <a:rect l="l" t="t" r="r" b="b"/>
              <a:pathLst>
                <a:path w="1415414">
                  <a:moveTo>
                    <a:pt x="0" y="0"/>
                  </a:moveTo>
                  <a:lnTo>
                    <a:pt x="1415247" y="0"/>
                  </a:lnTo>
                </a:path>
              </a:pathLst>
            </a:custGeom>
            <a:ln w="3175">
              <a:solidFill>
                <a:srgbClr val="000000"/>
              </a:solidFill>
            </a:ln>
          </p:spPr>
          <p:txBody>
            <a:bodyPr wrap="square" lIns="0" tIns="0" rIns="0" bIns="0" rtlCol="0"/>
            <a:lstStyle/>
            <a:p>
              <a:endParaRPr/>
            </a:p>
          </p:txBody>
        </p:sp>
        <p:sp>
          <p:nvSpPr>
            <p:cNvPr id="8" name="object 8"/>
            <p:cNvSpPr/>
            <p:nvPr/>
          </p:nvSpPr>
          <p:spPr>
            <a:xfrm>
              <a:off x="6501367" y="6319998"/>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9" name="object 9"/>
            <p:cNvSpPr/>
            <p:nvPr/>
          </p:nvSpPr>
          <p:spPr>
            <a:xfrm>
              <a:off x="5082010" y="3485652"/>
              <a:ext cx="0" cy="2830830"/>
            </a:xfrm>
            <a:custGeom>
              <a:avLst/>
              <a:gdLst/>
              <a:ahLst/>
              <a:cxnLst/>
              <a:rect l="l" t="t" r="r" b="b"/>
              <a:pathLst>
                <a:path h="2830829">
                  <a:moveTo>
                    <a:pt x="0" y="2830222"/>
                  </a:moveTo>
                  <a:lnTo>
                    <a:pt x="0" y="0"/>
                  </a:lnTo>
                </a:path>
              </a:pathLst>
            </a:custGeom>
            <a:ln w="3175">
              <a:solidFill>
                <a:srgbClr val="000000"/>
              </a:solidFill>
            </a:ln>
          </p:spPr>
          <p:txBody>
            <a:bodyPr wrap="square" lIns="0" tIns="0" rIns="0" bIns="0" rtlCol="0"/>
            <a:lstStyle/>
            <a:p>
              <a:endParaRPr/>
            </a:p>
          </p:txBody>
        </p:sp>
        <p:sp>
          <p:nvSpPr>
            <p:cNvPr id="10" name="object 10"/>
            <p:cNvSpPr/>
            <p:nvPr/>
          </p:nvSpPr>
          <p:spPr>
            <a:xfrm>
              <a:off x="5086225" y="3489860"/>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11" name="object 11"/>
            <p:cNvSpPr/>
            <p:nvPr/>
          </p:nvSpPr>
          <p:spPr>
            <a:xfrm>
              <a:off x="5082010" y="6282852"/>
              <a:ext cx="0" cy="33020"/>
            </a:xfrm>
            <a:custGeom>
              <a:avLst/>
              <a:gdLst/>
              <a:ahLst/>
              <a:cxnLst/>
              <a:rect l="l" t="t" r="r" b="b"/>
              <a:pathLst>
                <a:path h="33020">
                  <a:moveTo>
                    <a:pt x="0" y="33021"/>
                  </a:moveTo>
                  <a:lnTo>
                    <a:pt x="0" y="0"/>
                  </a:lnTo>
                </a:path>
              </a:pathLst>
            </a:custGeom>
            <a:ln w="3175">
              <a:solidFill>
                <a:srgbClr val="000000"/>
              </a:solidFill>
            </a:ln>
          </p:spPr>
          <p:txBody>
            <a:bodyPr wrap="square" lIns="0" tIns="0" rIns="0" bIns="0" rtlCol="0"/>
            <a:lstStyle/>
            <a:p>
              <a:endParaRPr/>
            </a:p>
          </p:txBody>
        </p:sp>
        <p:sp>
          <p:nvSpPr>
            <p:cNvPr id="12" name="object 12"/>
            <p:cNvSpPr/>
            <p:nvPr/>
          </p:nvSpPr>
          <p:spPr>
            <a:xfrm>
              <a:off x="5086225" y="6286976"/>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13" name="object 13"/>
            <p:cNvSpPr/>
            <p:nvPr/>
          </p:nvSpPr>
          <p:spPr>
            <a:xfrm>
              <a:off x="5471042" y="6282852"/>
              <a:ext cx="0" cy="33020"/>
            </a:xfrm>
            <a:custGeom>
              <a:avLst/>
              <a:gdLst/>
              <a:ahLst/>
              <a:cxnLst/>
              <a:rect l="l" t="t" r="r" b="b"/>
              <a:pathLst>
                <a:path h="33020">
                  <a:moveTo>
                    <a:pt x="0" y="33021"/>
                  </a:moveTo>
                  <a:lnTo>
                    <a:pt x="0" y="0"/>
                  </a:lnTo>
                </a:path>
              </a:pathLst>
            </a:custGeom>
            <a:ln w="3175">
              <a:solidFill>
                <a:srgbClr val="000000"/>
              </a:solidFill>
            </a:ln>
          </p:spPr>
          <p:txBody>
            <a:bodyPr wrap="square" lIns="0" tIns="0" rIns="0" bIns="0" rtlCol="0"/>
            <a:lstStyle/>
            <a:p>
              <a:endParaRPr/>
            </a:p>
          </p:txBody>
        </p:sp>
        <p:sp>
          <p:nvSpPr>
            <p:cNvPr id="14" name="object 14"/>
            <p:cNvSpPr/>
            <p:nvPr/>
          </p:nvSpPr>
          <p:spPr>
            <a:xfrm>
              <a:off x="5475257" y="6286976"/>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15" name="object 15"/>
            <p:cNvSpPr/>
            <p:nvPr/>
          </p:nvSpPr>
          <p:spPr>
            <a:xfrm>
              <a:off x="5860075" y="6282852"/>
              <a:ext cx="0" cy="33020"/>
            </a:xfrm>
            <a:custGeom>
              <a:avLst/>
              <a:gdLst/>
              <a:ahLst/>
              <a:cxnLst/>
              <a:rect l="l" t="t" r="r" b="b"/>
              <a:pathLst>
                <a:path h="33020">
                  <a:moveTo>
                    <a:pt x="0" y="33021"/>
                  </a:moveTo>
                  <a:lnTo>
                    <a:pt x="0" y="0"/>
                  </a:lnTo>
                </a:path>
              </a:pathLst>
            </a:custGeom>
            <a:ln w="3175">
              <a:solidFill>
                <a:srgbClr val="000000"/>
              </a:solidFill>
            </a:ln>
          </p:spPr>
          <p:txBody>
            <a:bodyPr wrap="square" lIns="0" tIns="0" rIns="0" bIns="0" rtlCol="0"/>
            <a:lstStyle/>
            <a:p>
              <a:endParaRPr/>
            </a:p>
          </p:txBody>
        </p:sp>
        <p:sp>
          <p:nvSpPr>
            <p:cNvPr id="16" name="object 16"/>
            <p:cNvSpPr/>
            <p:nvPr/>
          </p:nvSpPr>
          <p:spPr>
            <a:xfrm>
              <a:off x="5864290" y="6286976"/>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17" name="object 17"/>
            <p:cNvSpPr/>
            <p:nvPr/>
          </p:nvSpPr>
          <p:spPr>
            <a:xfrm>
              <a:off x="6248897" y="6282852"/>
              <a:ext cx="0" cy="33020"/>
            </a:xfrm>
            <a:custGeom>
              <a:avLst/>
              <a:gdLst/>
              <a:ahLst/>
              <a:cxnLst/>
              <a:rect l="l" t="t" r="r" b="b"/>
              <a:pathLst>
                <a:path h="33020">
                  <a:moveTo>
                    <a:pt x="0" y="33021"/>
                  </a:moveTo>
                  <a:lnTo>
                    <a:pt x="0" y="0"/>
                  </a:lnTo>
                </a:path>
              </a:pathLst>
            </a:custGeom>
            <a:ln w="3175">
              <a:solidFill>
                <a:srgbClr val="000000"/>
              </a:solidFill>
            </a:ln>
          </p:spPr>
          <p:txBody>
            <a:bodyPr wrap="square" lIns="0" tIns="0" rIns="0" bIns="0" rtlCol="0"/>
            <a:lstStyle/>
            <a:p>
              <a:endParaRPr/>
            </a:p>
          </p:txBody>
        </p:sp>
        <p:sp>
          <p:nvSpPr>
            <p:cNvPr id="18" name="object 18"/>
            <p:cNvSpPr/>
            <p:nvPr/>
          </p:nvSpPr>
          <p:spPr>
            <a:xfrm>
              <a:off x="6253006" y="6286976"/>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19" name="object 19"/>
            <p:cNvSpPr/>
            <p:nvPr/>
          </p:nvSpPr>
          <p:spPr>
            <a:xfrm>
              <a:off x="5082010" y="6059431"/>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20" name="object 20"/>
            <p:cNvSpPr/>
            <p:nvPr/>
          </p:nvSpPr>
          <p:spPr>
            <a:xfrm>
              <a:off x="5119522" y="6063555"/>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21" name="object 21"/>
            <p:cNvSpPr/>
            <p:nvPr/>
          </p:nvSpPr>
          <p:spPr>
            <a:xfrm>
              <a:off x="5082010" y="5670375"/>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22" name="object 22"/>
            <p:cNvSpPr/>
            <p:nvPr/>
          </p:nvSpPr>
          <p:spPr>
            <a:xfrm>
              <a:off x="5119522" y="5674509"/>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23" name="object 23"/>
            <p:cNvSpPr/>
            <p:nvPr/>
          </p:nvSpPr>
          <p:spPr>
            <a:xfrm>
              <a:off x="5082010" y="5281603"/>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24" name="object 24"/>
            <p:cNvSpPr/>
            <p:nvPr/>
          </p:nvSpPr>
          <p:spPr>
            <a:xfrm>
              <a:off x="5119522" y="5285706"/>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25" name="object 25"/>
            <p:cNvSpPr/>
            <p:nvPr/>
          </p:nvSpPr>
          <p:spPr>
            <a:xfrm>
              <a:off x="5082010" y="4900784"/>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26" name="object 26"/>
            <p:cNvSpPr/>
            <p:nvPr/>
          </p:nvSpPr>
          <p:spPr>
            <a:xfrm>
              <a:off x="5119522" y="4904887"/>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27" name="object 27"/>
            <p:cNvSpPr/>
            <p:nvPr/>
          </p:nvSpPr>
          <p:spPr>
            <a:xfrm>
              <a:off x="5082010" y="4511970"/>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28" name="object 28"/>
            <p:cNvSpPr/>
            <p:nvPr/>
          </p:nvSpPr>
          <p:spPr>
            <a:xfrm>
              <a:off x="5119522" y="4516072"/>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29" name="object 29"/>
            <p:cNvSpPr/>
            <p:nvPr/>
          </p:nvSpPr>
          <p:spPr>
            <a:xfrm>
              <a:off x="5082010" y="4122945"/>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30" name="object 30"/>
            <p:cNvSpPr/>
            <p:nvPr/>
          </p:nvSpPr>
          <p:spPr>
            <a:xfrm>
              <a:off x="5119522" y="4127048"/>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sp>
          <p:nvSpPr>
            <p:cNvPr id="31" name="object 31"/>
            <p:cNvSpPr/>
            <p:nvPr/>
          </p:nvSpPr>
          <p:spPr>
            <a:xfrm>
              <a:off x="5082010" y="3734131"/>
              <a:ext cx="33655" cy="0"/>
            </a:xfrm>
            <a:custGeom>
              <a:avLst/>
              <a:gdLst/>
              <a:ahLst/>
              <a:cxnLst/>
              <a:rect l="l" t="t" r="r" b="b"/>
              <a:pathLst>
                <a:path w="33654">
                  <a:moveTo>
                    <a:pt x="0" y="0"/>
                  </a:moveTo>
                  <a:lnTo>
                    <a:pt x="33402" y="0"/>
                  </a:lnTo>
                </a:path>
              </a:pathLst>
            </a:custGeom>
            <a:ln w="3175">
              <a:solidFill>
                <a:srgbClr val="000000"/>
              </a:solidFill>
            </a:ln>
          </p:spPr>
          <p:txBody>
            <a:bodyPr wrap="square" lIns="0" tIns="0" rIns="0" bIns="0" rtlCol="0"/>
            <a:lstStyle/>
            <a:p>
              <a:endParaRPr/>
            </a:p>
          </p:txBody>
        </p:sp>
        <p:sp>
          <p:nvSpPr>
            <p:cNvPr id="32" name="object 32"/>
            <p:cNvSpPr/>
            <p:nvPr/>
          </p:nvSpPr>
          <p:spPr>
            <a:xfrm>
              <a:off x="5119522" y="3738234"/>
              <a:ext cx="8255" cy="0"/>
            </a:xfrm>
            <a:custGeom>
              <a:avLst/>
              <a:gdLst/>
              <a:ahLst/>
              <a:cxnLst/>
              <a:rect l="l" t="t" r="r" b="b"/>
              <a:pathLst>
                <a:path w="8254">
                  <a:moveTo>
                    <a:pt x="0" y="0"/>
                  </a:moveTo>
                  <a:lnTo>
                    <a:pt x="8218" y="0"/>
                  </a:lnTo>
                </a:path>
              </a:pathLst>
            </a:custGeom>
            <a:ln w="8255">
              <a:solidFill>
                <a:srgbClr val="000000"/>
              </a:solidFill>
            </a:ln>
          </p:spPr>
          <p:txBody>
            <a:bodyPr wrap="square" lIns="0" tIns="0" rIns="0" bIns="0" rtlCol="0"/>
            <a:lstStyle/>
            <a:p>
              <a:endParaRPr/>
            </a:p>
          </p:txBody>
        </p:sp>
      </p:grpSp>
      <p:sp>
        <p:nvSpPr>
          <p:cNvPr id="33" name="object 33"/>
          <p:cNvSpPr txBox="1"/>
          <p:nvPr/>
        </p:nvSpPr>
        <p:spPr>
          <a:xfrm>
            <a:off x="90677" y="1011931"/>
            <a:ext cx="7238365" cy="3104696"/>
          </a:xfrm>
          <a:prstGeom prst="rect">
            <a:avLst/>
          </a:prstGeom>
        </p:spPr>
        <p:txBody>
          <a:bodyPr vert="horz" wrap="square" lIns="0" tIns="97790" rIns="0" bIns="0" rtlCol="0">
            <a:spAutoFit/>
          </a:bodyPr>
          <a:lstStyle/>
          <a:p>
            <a:pPr marL="405765" indent="-342265">
              <a:spcBef>
                <a:spcPts val="770"/>
              </a:spcBef>
              <a:buChar char="•"/>
              <a:tabLst>
                <a:tab pos="405765" algn="l"/>
              </a:tabLst>
            </a:pPr>
            <a:r>
              <a:rPr sz="2800" dirty="0">
                <a:latin typeface="Microsoft Sans Serif"/>
                <a:cs typeface="Microsoft Sans Serif"/>
              </a:rPr>
              <a:t>Run</a:t>
            </a:r>
            <a:r>
              <a:rPr sz="2800" spc="-15" dirty="0">
                <a:latin typeface="Microsoft Sans Serif"/>
                <a:cs typeface="Microsoft Sans Serif"/>
              </a:rPr>
              <a:t> </a:t>
            </a:r>
            <a:r>
              <a:rPr sz="2800" spc="-10" dirty="0">
                <a:latin typeface="Microsoft Sans Serif"/>
                <a:cs typeface="Microsoft Sans Serif"/>
              </a:rPr>
              <a:t>Ex1_parallel.m</a:t>
            </a:r>
            <a:endParaRPr sz="2800" dirty="0">
              <a:latin typeface="Microsoft Sans Serif"/>
              <a:cs typeface="Microsoft Sans Serif"/>
            </a:endParaRPr>
          </a:p>
          <a:p>
            <a:pPr marL="406400" marR="55880" indent="-342900">
              <a:spcBef>
                <a:spcPts val="675"/>
              </a:spcBef>
              <a:buChar char="•"/>
              <a:tabLst>
                <a:tab pos="406400" algn="l"/>
              </a:tabLst>
            </a:pPr>
            <a:r>
              <a:rPr sz="2800" dirty="0">
                <a:latin typeface="Microsoft Sans Serif"/>
                <a:cs typeface="Microsoft Sans Serif"/>
              </a:rPr>
              <a:t>As</a:t>
            </a:r>
            <a:r>
              <a:rPr sz="2800" spc="-45" dirty="0">
                <a:latin typeface="Microsoft Sans Serif"/>
                <a:cs typeface="Microsoft Sans Serif"/>
              </a:rPr>
              <a:t> </a:t>
            </a:r>
            <a:r>
              <a:rPr sz="2800" dirty="0">
                <a:latin typeface="Microsoft Sans Serif"/>
                <a:cs typeface="Microsoft Sans Serif"/>
              </a:rPr>
              <a:t>θ</a:t>
            </a:r>
            <a:r>
              <a:rPr sz="2800" spc="-30" dirty="0">
                <a:latin typeface="Microsoft Sans Serif"/>
                <a:cs typeface="Microsoft Sans Serif"/>
              </a:rPr>
              <a:t> </a:t>
            </a:r>
            <a:r>
              <a:rPr sz="2800" dirty="0">
                <a:latin typeface="Microsoft Sans Serif"/>
                <a:cs typeface="Microsoft Sans Serif"/>
              </a:rPr>
              <a:t>(red</a:t>
            </a:r>
            <a:r>
              <a:rPr sz="2800" spc="-35" dirty="0">
                <a:latin typeface="Microsoft Sans Serif"/>
                <a:cs typeface="Microsoft Sans Serif"/>
              </a:rPr>
              <a:t> </a:t>
            </a:r>
            <a:r>
              <a:rPr sz="2800" dirty="0">
                <a:latin typeface="Microsoft Sans Serif"/>
                <a:cs typeface="Microsoft Sans Serif"/>
              </a:rPr>
              <a:t>arrow)</a:t>
            </a:r>
            <a:r>
              <a:rPr sz="2800" spc="-10" dirty="0">
                <a:latin typeface="Microsoft Sans Serif"/>
                <a:cs typeface="Microsoft Sans Serif"/>
              </a:rPr>
              <a:t> </a:t>
            </a:r>
            <a:r>
              <a:rPr sz="2800" dirty="0">
                <a:latin typeface="Microsoft Sans Serif"/>
                <a:cs typeface="Microsoft Sans Serif"/>
              </a:rPr>
              <a:t>is</a:t>
            </a:r>
            <a:r>
              <a:rPr sz="2800" spc="-35" dirty="0">
                <a:latin typeface="Microsoft Sans Serif"/>
                <a:cs typeface="Microsoft Sans Serif"/>
              </a:rPr>
              <a:t> </a:t>
            </a:r>
            <a:r>
              <a:rPr sz="2800" dirty="0">
                <a:latin typeface="Microsoft Sans Serif"/>
                <a:cs typeface="Microsoft Sans Serif"/>
              </a:rPr>
              <a:t>changing,</a:t>
            </a:r>
            <a:r>
              <a:rPr sz="2800" spc="-25" dirty="0">
                <a:latin typeface="Microsoft Sans Serif"/>
                <a:cs typeface="Microsoft Sans Serif"/>
              </a:rPr>
              <a:t> </a:t>
            </a:r>
            <a:r>
              <a:rPr sz="2800" dirty="0">
                <a:latin typeface="Microsoft Sans Serif"/>
                <a:cs typeface="Microsoft Sans Serif"/>
              </a:rPr>
              <a:t>information</a:t>
            </a:r>
            <a:r>
              <a:rPr sz="2800" spc="-20" dirty="0">
                <a:latin typeface="Microsoft Sans Serif"/>
                <a:cs typeface="Microsoft Sans Serif"/>
              </a:rPr>
              <a:t> </a:t>
            </a:r>
            <a:r>
              <a:rPr sz="2800" spc="-25" dirty="0">
                <a:latin typeface="Microsoft Sans Serif"/>
                <a:cs typeface="Microsoft Sans Serif"/>
              </a:rPr>
              <a:t>is </a:t>
            </a:r>
            <a:r>
              <a:rPr sz="2800" dirty="0">
                <a:latin typeface="Microsoft Sans Serif"/>
                <a:cs typeface="Microsoft Sans Serif"/>
              </a:rPr>
              <a:t>added</a:t>
            </a:r>
            <a:r>
              <a:rPr sz="2800" spc="-10" dirty="0">
                <a:latin typeface="Microsoft Sans Serif"/>
                <a:cs typeface="Microsoft Sans Serif"/>
              </a:rPr>
              <a:t> </a:t>
            </a:r>
            <a:r>
              <a:rPr sz="2800" dirty="0">
                <a:latin typeface="Microsoft Sans Serif"/>
                <a:cs typeface="Microsoft Sans Serif"/>
              </a:rPr>
              <a:t>to</a:t>
            </a:r>
            <a:r>
              <a:rPr sz="2800" spc="-20" dirty="0">
                <a:latin typeface="Microsoft Sans Serif"/>
                <a:cs typeface="Microsoft Sans Serif"/>
              </a:rPr>
              <a:t> </a:t>
            </a:r>
            <a:r>
              <a:rPr sz="2800" dirty="0">
                <a:latin typeface="Microsoft Sans Serif"/>
                <a:cs typeface="Microsoft Sans Serif"/>
              </a:rPr>
              <a:t>the</a:t>
            </a:r>
            <a:r>
              <a:rPr sz="2800" spc="5" dirty="0">
                <a:latin typeface="Microsoft Sans Serif"/>
                <a:cs typeface="Microsoft Sans Serif"/>
              </a:rPr>
              <a:t> </a:t>
            </a:r>
            <a:r>
              <a:rPr sz="2800" spc="-10" dirty="0">
                <a:latin typeface="Microsoft Sans Serif"/>
                <a:cs typeface="Microsoft Sans Serif"/>
              </a:rPr>
              <a:t>sinogram!</a:t>
            </a:r>
            <a:endParaRPr lang="en-US" sz="2800" dirty="0">
              <a:latin typeface="Microsoft Sans Serif"/>
              <a:cs typeface="Microsoft Sans Serif"/>
            </a:endParaRPr>
          </a:p>
          <a:p>
            <a:pPr marR="1769745" algn="r">
              <a:spcBef>
                <a:spcPts val="1930"/>
              </a:spcBef>
            </a:pPr>
            <a:r>
              <a:rPr lang="en-US" sz="850" dirty="0">
                <a:latin typeface="Arial MT"/>
                <a:cs typeface="Arial MT"/>
              </a:rPr>
              <a:t>R</a:t>
            </a:r>
            <a:r>
              <a:rPr lang="en-US" sz="1050" baseline="-31746" dirty="0">
                <a:latin typeface="Symbol"/>
                <a:cs typeface="Symbol"/>
              </a:rPr>
              <a:t></a:t>
            </a:r>
            <a:r>
              <a:rPr lang="en-US" sz="1050" spc="112" baseline="-31746" dirty="0">
                <a:latin typeface="Times New Roman"/>
                <a:cs typeface="Times New Roman"/>
              </a:rPr>
              <a:t> </a:t>
            </a:r>
            <a:r>
              <a:rPr lang="en-US" sz="850" spc="-20" dirty="0">
                <a:latin typeface="Arial MT"/>
                <a:cs typeface="Arial MT"/>
              </a:rPr>
              <a:t>(X</a:t>
            </a:r>
            <a:r>
              <a:rPr lang="en-US" sz="900" spc="-20" dirty="0">
                <a:latin typeface="Symbol"/>
                <a:cs typeface="Symbol"/>
              </a:rPr>
              <a:t></a:t>
            </a:r>
            <a:r>
              <a:rPr lang="en-US" sz="850" spc="-20" dirty="0">
                <a:latin typeface="Arial MT"/>
                <a:cs typeface="Arial MT"/>
              </a:rPr>
              <a:t>)</a:t>
            </a:r>
            <a:endParaRPr lang="en-US" sz="850" dirty="0">
              <a:latin typeface="Arial MT"/>
              <a:cs typeface="Arial MT"/>
            </a:endParaRPr>
          </a:p>
          <a:p>
            <a:pPr>
              <a:lnSpc>
                <a:spcPct val="100000"/>
              </a:lnSpc>
            </a:pPr>
            <a:endParaRPr sz="850" dirty="0">
              <a:latin typeface="Arial MT"/>
              <a:cs typeface="Arial MT"/>
            </a:endParaRPr>
          </a:p>
          <a:p>
            <a:pPr>
              <a:spcBef>
                <a:spcPts val="275"/>
              </a:spcBef>
            </a:pPr>
            <a:endParaRPr sz="850" dirty="0">
              <a:latin typeface="Arial MT"/>
              <a:cs typeface="Arial MT"/>
            </a:endParaRPr>
          </a:p>
          <a:p>
            <a:pPr marL="1732280" algn="ctr"/>
            <a:r>
              <a:rPr sz="850" spc="-25" dirty="0">
                <a:latin typeface="Arial MT"/>
                <a:cs typeface="Arial MT"/>
              </a:rPr>
              <a:t>150</a:t>
            </a:r>
            <a:endParaRPr sz="850" dirty="0">
              <a:latin typeface="Arial MT"/>
              <a:cs typeface="Arial MT"/>
            </a:endParaRPr>
          </a:p>
          <a:p>
            <a:pPr>
              <a:lnSpc>
                <a:spcPct val="100000"/>
              </a:lnSpc>
            </a:pPr>
            <a:endParaRPr sz="850" dirty="0">
              <a:latin typeface="Arial MT"/>
              <a:cs typeface="Arial MT"/>
            </a:endParaRPr>
          </a:p>
          <a:p>
            <a:pPr>
              <a:spcBef>
                <a:spcPts val="85"/>
              </a:spcBef>
            </a:pPr>
            <a:endParaRPr sz="850" dirty="0">
              <a:latin typeface="Arial MT"/>
              <a:cs typeface="Arial MT"/>
            </a:endParaRPr>
          </a:p>
          <a:p>
            <a:pPr marL="1732280" algn="ctr"/>
            <a:r>
              <a:rPr sz="850" spc="-25" dirty="0">
                <a:latin typeface="Arial MT"/>
                <a:cs typeface="Arial MT"/>
              </a:rPr>
              <a:t>100</a:t>
            </a:r>
            <a:endParaRPr sz="850" dirty="0">
              <a:latin typeface="Arial MT"/>
              <a:cs typeface="Arial MT"/>
            </a:endParaRPr>
          </a:p>
          <a:p>
            <a:pPr>
              <a:lnSpc>
                <a:spcPct val="100000"/>
              </a:lnSpc>
            </a:pPr>
            <a:endParaRPr sz="850" dirty="0">
              <a:latin typeface="Arial MT"/>
              <a:cs typeface="Arial MT"/>
            </a:endParaRPr>
          </a:p>
          <a:p>
            <a:pPr>
              <a:spcBef>
                <a:spcPts val="90"/>
              </a:spcBef>
            </a:pPr>
            <a:endParaRPr sz="850" dirty="0">
              <a:latin typeface="Arial MT"/>
              <a:cs typeface="Arial MT"/>
            </a:endParaRPr>
          </a:p>
          <a:p>
            <a:pPr marL="1790064" algn="ctr"/>
            <a:r>
              <a:rPr sz="850" spc="-25" dirty="0">
                <a:latin typeface="Arial MT"/>
                <a:cs typeface="Arial MT"/>
              </a:rPr>
              <a:t>50</a:t>
            </a:r>
            <a:endParaRPr sz="850" dirty="0">
              <a:latin typeface="Arial MT"/>
              <a:cs typeface="Arial MT"/>
            </a:endParaRPr>
          </a:p>
        </p:txBody>
      </p:sp>
      <p:sp>
        <p:nvSpPr>
          <p:cNvPr id="34" name="object 34"/>
          <p:cNvSpPr txBox="1"/>
          <p:nvPr/>
        </p:nvSpPr>
        <p:spPr>
          <a:xfrm>
            <a:off x="4661643" y="6071907"/>
            <a:ext cx="85725" cy="142988"/>
          </a:xfrm>
          <a:prstGeom prst="rect">
            <a:avLst/>
          </a:prstGeom>
        </p:spPr>
        <p:txBody>
          <a:bodyPr vert="horz" wrap="square" lIns="0" tIns="12065" rIns="0" bIns="0" rtlCol="0">
            <a:spAutoFit/>
          </a:bodyPr>
          <a:lstStyle/>
          <a:p>
            <a:pPr marL="12700">
              <a:spcBef>
                <a:spcPts val="95"/>
              </a:spcBef>
            </a:pPr>
            <a:r>
              <a:rPr sz="850" spc="-50" dirty="0">
                <a:latin typeface="Arial MT"/>
                <a:cs typeface="Arial MT"/>
              </a:rPr>
              <a:t>0</a:t>
            </a:r>
            <a:endParaRPr sz="850">
              <a:latin typeface="Arial MT"/>
              <a:cs typeface="Arial MT"/>
            </a:endParaRPr>
          </a:p>
        </p:txBody>
      </p:sp>
      <p:sp>
        <p:nvSpPr>
          <p:cNvPr id="35" name="object 35"/>
          <p:cNvSpPr txBox="1"/>
          <p:nvPr/>
        </p:nvSpPr>
        <p:spPr>
          <a:xfrm>
            <a:off x="4777551" y="6060850"/>
            <a:ext cx="1252220" cy="316230"/>
          </a:xfrm>
          <a:prstGeom prst="rect">
            <a:avLst/>
          </a:prstGeom>
        </p:spPr>
        <p:txBody>
          <a:bodyPr vert="horz" wrap="square" lIns="0" tIns="22860" rIns="0" bIns="0" rtlCol="0">
            <a:spAutoFit/>
          </a:bodyPr>
          <a:lstStyle/>
          <a:p>
            <a:pPr marR="64769" algn="r">
              <a:spcBef>
                <a:spcPts val="180"/>
              </a:spcBef>
              <a:tabLst>
                <a:tab pos="363855" algn="l"/>
                <a:tab pos="752475" algn="l"/>
              </a:tabLst>
            </a:pPr>
            <a:r>
              <a:rPr sz="850" spc="-25" dirty="0">
                <a:latin typeface="Arial MT"/>
                <a:cs typeface="Arial MT"/>
              </a:rPr>
              <a:t>60</a:t>
            </a:r>
            <a:r>
              <a:rPr sz="850" dirty="0">
                <a:latin typeface="Arial MT"/>
                <a:cs typeface="Arial MT"/>
              </a:rPr>
              <a:t>	</a:t>
            </a:r>
            <a:r>
              <a:rPr sz="850" spc="-25" dirty="0">
                <a:latin typeface="Arial MT"/>
                <a:cs typeface="Arial MT"/>
              </a:rPr>
              <a:t>120</a:t>
            </a:r>
            <a:r>
              <a:rPr sz="850" dirty="0">
                <a:latin typeface="Arial MT"/>
                <a:cs typeface="Arial MT"/>
              </a:rPr>
              <a:t>	</a:t>
            </a:r>
            <a:r>
              <a:rPr sz="850" spc="-25" dirty="0">
                <a:latin typeface="Arial MT"/>
                <a:cs typeface="Arial MT"/>
              </a:rPr>
              <a:t>180</a:t>
            </a:r>
            <a:endParaRPr sz="850">
              <a:latin typeface="Arial MT"/>
              <a:cs typeface="Arial MT"/>
            </a:endParaRPr>
          </a:p>
          <a:p>
            <a:pPr marR="5080" algn="r">
              <a:spcBef>
                <a:spcPts val="105"/>
              </a:spcBef>
            </a:pPr>
            <a:r>
              <a:rPr sz="850" spc="-10" dirty="0">
                <a:latin typeface="Arial MT"/>
                <a:cs typeface="Arial MT"/>
              </a:rPr>
              <a:t>Rotation</a:t>
            </a:r>
            <a:r>
              <a:rPr sz="850" dirty="0">
                <a:latin typeface="Arial MT"/>
                <a:cs typeface="Arial MT"/>
              </a:rPr>
              <a:t> </a:t>
            </a:r>
            <a:r>
              <a:rPr sz="850" spc="-10" dirty="0">
                <a:latin typeface="Arial MT"/>
                <a:cs typeface="Arial MT"/>
              </a:rPr>
              <a:t>angle</a:t>
            </a:r>
            <a:r>
              <a:rPr sz="900" spc="-10" dirty="0">
                <a:latin typeface="Symbol"/>
                <a:cs typeface="Symbol"/>
              </a:rPr>
              <a:t></a:t>
            </a:r>
            <a:r>
              <a:rPr sz="900" spc="5" dirty="0">
                <a:latin typeface="Times New Roman"/>
                <a:cs typeface="Times New Roman"/>
              </a:rPr>
              <a:t> </a:t>
            </a:r>
            <a:r>
              <a:rPr sz="850" spc="-10" dirty="0">
                <a:latin typeface="Arial MT"/>
                <a:cs typeface="Arial MT"/>
              </a:rPr>
              <a:t>(degrees)</a:t>
            </a:r>
            <a:endParaRPr sz="850">
              <a:latin typeface="Arial MT"/>
              <a:cs typeface="Arial MT"/>
            </a:endParaRPr>
          </a:p>
        </p:txBody>
      </p:sp>
      <p:sp>
        <p:nvSpPr>
          <p:cNvPr id="36" name="object 36"/>
          <p:cNvSpPr txBox="1"/>
          <p:nvPr/>
        </p:nvSpPr>
        <p:spPr>
          <a:xfrm>
            <a:off x="4454903" y="5335601"/>
            <a:ext cx="234315" cy="543560"/>
          </a:xfrm>
          <a:prstGeom prst="rect">
            <a:avLst/>
          </a:prstGeom>
        </p:spPr>
        <p:txBody>
          <a:bodyPr vert="horz" wrap="square" lIns="0" tIns="12065" rIns="0" bIns="0" rtlCol="0">
            <a:spAutoFit/>
          </a:bodyPr>
          <a:lstStyle/>
          <a:p>
            <a:pPr marL="12700">
              <a:spcBef>
                <a:spcPts val="95"/>
              </a:spcBef>
            </a:pPr>
            <a:r>
              <a:rPr sz="850" spc="-40" dirty="0">
                <a:latin typeface="Arial MT"/>
                <a:cs typeface="Arial MT"/>
              </a:rPr>
              <a:t>-</a:t>
            </a:r>
            <a:r>
              <a:rPr sz="850" spc="-25" dirty="0">
                <a:latin typeface="Arial MT"/>
                <a:cs typeface="Arial MT"/>
              </a:rPr>
              <a:t>100</a:t>
            </a:r>
            <a:endParaRPr sz="850">
              <a:latin typeface="Arial MT"/>
              <a:cs typeface="Arial MT"/>
            </a:endParaRPr>
          </a:p>
          <a:p>
            <a:pPr>
              <a:lnSpc>
                <a:spcPct val="100000"/>
              </a:lnSpc>
            </a:pPr>
            <a:endParaRPr sz="850">
              <a:latin typeface="Arial MT"/>
              <a:cs typeface="Arial MT"/>
            </a:endParaRPr>
          </a:p>
          <a:p>
            <a:pPr>
              <a:spcBef>
                <a:spcPts val="85"/>
              </a:spcBef>
            </a:pPr>
            <a:endParaRPr sz="850">
              <a:latin typeface="Arial MT"/>
              <a:cs typeface="Arial MT"/>
            </a:endParaRPr>
          </a:p>
          <a:p>
            <a:pPr marL="12700"/>
            <a:r>
              <a:rPr sz="850" spc="-40" dirty="0">
                <a:latin typeface="Arial MT"/>
                <a:cs typeface="Arial MT"/>
              </a:rPr>
              <a:t>-</a:t>
            </a:r>
            <a:r>
              <a:rPr sz="850" spc="-25" dirty="0">
                <a:latin typeface="Arial MT"/>
                <a:cs typeface="Arial MT"/>
              </a:rPr>
              <a:t>150</a:t>
            </a:r>
            <a:endParaRPr sz="850">
              <a:latin typeface="Arial MT"/>
              <a:cs typeface="Arial MT"/>
            </a:endParaRPr>
          </a:p>
        </p:txBody>
      </p:sp>
      <p:sp>
        <p:nvSpPr>
          <p:cNvPr id="37" name="object 37"/>
          <p:cNvSpPr txBox="1"/>
          <p:nvPr/>
        </p:nvSpPr>
        <p:spPr>
          <a:xfrm>
            <a:off x="4512752" y="4946524"/>
            <a:ext cx="176530" cy="142988"/>
          </a:xfrm>
          <a:prstGeom prst="rect">
            <a:avLst/>
          </a:prstGeom>
        </p:spPr>
        <p:txBody>
          <a:bodyPr vert="horz" wrap="square" lIns="0" tIns="12065" rIns="0" bIns="0" rtlCol="0">
            <a:spAutoFit/>
          </a:bodyPr>
          <a:lstStyle/>
          <a:p>
            <a:pPr marL="12700">
              <a:spcBef>
                <a:spcPts val="95"/>
              </a:spcBef>
            </a:pPr>
            <a:r>
              <a:rPr sz="850" spc="-40" dirty="0">
                <a:latin typeface="Arial MT"/>
                <a:cs typeface="Arial MT"/>
              </a:rPr>
              <a:t>-</a:t>
            </a:r>
            <a:r>
              <a:rPr sz="850" spc="-25" dirty="0">
                <a:latin typeface="Arial MT"/>
                <a:cs typeface="Arial MT"/>
              </a:rPr>
              <a:t>50</a:t>
            </a:r>
            <a:endParaRPr sz="850">
              <a:latin typeface="Arial MT"/>
              <a:cs typeface="Arial MT"/>
            </a:endParaRPr>
          </a:p>
        </p:txBody>
      </p:sp>
      <p:sp>
        <p:nvSpPr>
          <p:cNvPr id="38" name="object 38"/>
          <p:cNvSpPr txBox="1"/>
          <p:nvPr/>
        </p:nvSpPr>
        <p:spPr>
          <a:xfrm>
            <a:off x="4603899" y="4566020"/>
            <a:ext cx="85725" cy="142988"/>
          </a:xfrm>
          <a:prstGeom prst="rect">
            <a:avLst/>
          </a:prstGeom>
        </p:spPr>
        <p:txBody>
          <a:bodyPr vert="horz" wrap="square" lIns="0" tIns="12065" rIns="0" bIns="0" rtlCol="0">
            <a:spAutoFit/>
          </a:bodyPr>
          <a:lstStyle/>
          <a:p>
            <a:pPr marL="12700">
              <a:spcBef>
                <a:spcPts val="95"/>
              </a:spcBef>
            </a:pPr>
            <a:r>
              <a:rPr sz="850" spc="-50" dirty="0">
                <a:latin typeface="Arial MT"/>
                <a:cs typeface="Arial MT"/>
              </a:rPr>
              <a:t>0</a:t>
            </a:r>
            <a:endParaRPr sz="850">
              <a:latin typeface="Arial MT"/>
              <a:cs typeface="Arial MT"/>
            </a:endParaRPr>
          </a:p>
        </p:txBody>
      </p:sp>
      <p:sp>
        <p:nvSpPr>
          <p:cNvPr id="39" name="object 39"/>
          <p:cNvSpPr txBox="1"/>
          <p:nvPr/>
        </p:nvSpPr>
        <p:spPr>
          <a:xfrm>
            <a:off x="4263769" y="4018769"/>
            <a:ext cx="132409" cy="1276350"/>
          </a:xfrm>
          <a:prstGeom prst="rect">
            <a:avLst/>
          </a:prstGeom>
        </p:spPr>
        <p:txBody>
          <a:bodyPr vert="vert270" wrap="square" lIns="0" tIns="0" rIns="0" bIns="0" rtlCol="0">
            <a:spAutoFit/>
          </a:bodyPr>
          <a:lstStyle/>
          <a:p>
            <a:pPr marL="12700">
              <a:lnSpc>
                <a:spcPts val="1065"/>
              </a:lnSpc>
            </a:pPr>
            <a:r>
              <a:rPr sz="850" dirty="0">
                <a:latin typeface="Arial MT"/>
                <a:cs typeface="Arial MT"/>
              </a:rPr>
              <a:t>Sensor</a:t>
            </a:r>
            <a:r>
              <a:rPr sz="850" spc="-50" dirty="0">
                <a:latin typeface="Arial MT"/>
                <a:cs typeface="Arial MT"/>
              </a:rPr>
              <a:t> </a:t>
            </a:r>
            <a:r>
              <a:rPr sz="850" dirty="0">
                <a:latin typeface="Arial MT"/>
                <a:cs typeface="Arial MT"/>
              </a:rPr>
              <a:t>position</a:t>
            </a:r>
            <a:r>
              <a:rPr sz="850" spc="-40" dirty="0">
                <a:latin typeface="Arial MT"/>
                <a:cs typeface="Arial MT"/>
              </a:rPr>
              <a:t> </a:t>
            </a:r>
            <a:r>
              <a:rPr sz="850" dirty="0">
                <a:latin typeface="Arial MT"/>
                <a:cs typeface="Arial MT"/>
              </a:rPr>
              <a:t>X</a:t>
            </a:r>
            <a:r>
              <a:rPr sz="1350" baseline="-9259" dirty="0">
                <a:latin typeface="Symbol"/>
                <a:cs typeface="Symbol"/>
              </a:rPr>
              <a:t></a:t>
            </a:r>
            <a:r>
              <a:rPr sz="1350" spc="22" baseline="-9259" dirty="0">
                <a:latin typeface="Times New Roman"/>
                <a:cs typeface="Times New Roman"/>
              </a:rPr>
              <a:t> </a:t>
            </a:r>
            <a:r>
              <a:rPr sz="850" spc="-10" dirty="0">
                <a:latin typeface="Arial MT"/>
                <a:cs typeface="Arial MT"/>
              </a:rPr>
              <a:t>(pixels)</a:t>
            </a:r>
            <a:endParaRPr sz="850">
              <a:latin typeface="Arial MT"/>
              <a:cs typeface="Arial MT"/>
            </a:endParaRPr>
          </a:p>
        </p:txBody>
      </p:sp>
      <p:pic>
        <p:nvPicPr>
          <p:cNvPr id="40" name="object 40"/>
          <p:cNvPicPr/>
          <p:nvPr/>
        </p:nvPicPr>
        <p:blipFill>
          <a:blip r:embed="rId4" cstate="print"/>
          <a:stretch>
            <a:fillRect/>
          </a:stretch>
        </p:blipFill>
        <p:spPr>
          <a:xfrm>
            <a:off x="4707430" y="3229569"/>
            <a:ext cx="1406859" cy="2830158"/>
          </a:xfrm>
          <a:prstGeom prst="rect">
            <a:avLst/>
          </a:prstGeom>
        </p:spPr>
      </p:pic>
      <p:sp>
        <p:nvSpPr>
          <p:cNvPr id="41" name="object 41"/>
          <p:cNvSpPr txBox="1"/>
          <p:nvPr/>
        </p:nvSpPr>
        <p:spPr>
          <a:xfrm>
            <a:off x="388644" y="4528960"/>
            <a:ext cx="1732914" cy="330835"/>
          </a:xfrm>
          <a:prstGeom prst="rect">
            <a:avLst/>
          </a:prstGeom>
        </p:spPr>
        <p:txBody>
          <a:bodyPr vert="horz" wrap="square" lIns="0" tIns="12700" rIns="0" bIns="0" rtlCol="0">
            <a:spAutoFit/>
          </a:bodyPr>
          <a:lstStyle/>
          <a:p>
            <a:pPr marL="12700">
              <a:spcBef>
                <a:spcPts val="100"/>
              </a:spcBef>
            </a:pPr>
            <a:r>
              <a:rPr sz="2000" b="1" dirty="0">
                <a:latin typeface="Arial"/>
                <a:cs typeface="Arial"/>
              </a:rPr>
              <a:t>Image</a:t>
            </a:r>
            <a:r>
              <a:rPr sz="2000" b="1" spc="-35" dirty="0">
                <a:latin typeface="Arial"/>
                <a:cs typeface="Arial"/>
              </a:rPr>
              <a:t> </a:t>
            </a:r>
            <a:r>
              <a:rPr sz="2000" b="1" spc="-10" dirty="0">
                <a:latin typeface="Arial"/>
                <a:cs typeface="Arial"/>
              </a:rPr>
              <a:t>domain</a:t>
            </a:r>
            <a:endParaRPr sz="2000">
              <a:latin typeface="Arial"/>
              <a:cs typeface="Arial"/>
            </a:endParaRPr>
          </a:p>
        </p:txBody>
      </p:sp>
      <p:sp>
        <p:nvSpPr>
          <p:cNvPr id="42" name="object 42"/>
          <p:cNvSpPr txBox="1"/>
          <p:nvPr/>
        </p:nvSpPr>
        <p:spPr>
          <a:xfrm>
            <a:off x="6398894" y="4545572"/>
            <a:ext cx="1198245" cy="320601"/>
          </a:xfrm>
          <a:prstGeom prst="rect">
            <a:avLst/>
          </a:prstGeom>
        </p:spPr>
        <p:txBody>
          <a:bodyPr vert="horz" wrap="square" lIns="0" tIns="12700" rIns="0" bIns="0" rtlCol="0">
            <a:spAutoFit/>
          </a:bodyPr>
          <a:lstStyle/>
          <a:p>
            <a:pPr marL="12700">
              <a:spcBef>
                <a:spcPts val="100"/>
              </a:spcBef>
            </a:pPr>
            <a:r>
              <a:rPr sz="2000" b="1" spc="-10" dirty="0">
                <a:latin typeface="Arial"/>
                <a:cs typeface="Arial"/>
              </a:rPr>
              <a:t>Sinogram</a:t>
            </a:r>
            <a:endParaRPr sz="2000" dirty="0">
              <a:latin typeface="Arial"/>
              <a:cs typeface="Arial"/>
            </a:endParaRPr>
          </a:p>
        </p:txBody>
      </p:sp>
      <p:sp>
        <p:nvSpPr>
          <p:cNvPr id="43" name="object 43"/>
          <p:cNvSpPr txBox="1"/>
          <p:nvPr/>
        </p:nvSpPr>
        <p:spPr>
          <a:xfrm>
            <a:off x="90677" y="6519451"/>
            <a:ext cx="6497321" cy="289823"/>
          </a:xfrm>
          <a:prstGeom prst="rect">
            <a:avLst/>
          </a:prstGeom>
        </p:spPr>
        <p:txBody>
          <a:bodyPr vert="horz" wrap="square" lIns="0" tIns="12700" rIns="0" bIns="0" rtlCol="0">
            <a:spAutoFit/>
          </a:bodyPr>
          <a:lstStyle/>
          <a:p>
            <a:pPr marR="5080" algn="r">
              <a:spcBef>
                <a:spcPts val="100"/>
              </a:spcBef>
            </a:pPr>
            <a:r>
              <a:rPr dirty="0">
                <a:solidFill>
                  <a:srgbClr val="6F2F9F"/>
                </a:solidFill>
                <a:latin typeface="Microsoft Sans Serif"/>
                <a:cs typeface="Microsoft Sans Serif"/>
              </a:rPr>
              <a:t>*Change</a:t>
            </a:r>
            <a:r>
              <a:rPr spc="30" dirty="0">
                <a:solidFill>
                  <a:srgbClr val="6F2F9F"/>
                </a:solidFill>
                <a:latin typeface="Microsoft Sans Serif"/>
                <a:cs typeface="Microsoft Sans Serif"/>
              </a:rPr>
              <a:t> </a:t>
            </a:r>
            <a:r>
              <a:rPr dirty="0">
                <a:solidFill>
                  <a:srgbClr val="6F2F9F"/>
                </a:solidFill>
                <a:latin typeface="Microsoft Sans Serif"/>
                <a:cs typeface="Microsoft Sans Serif"/>
              </a:rPr>
              <a:t>p_type</a:t>
            </a:r>
            <a:r>
              <a:rPr spc="35" dirty="0">
                <a:solidFill>
                  <a:srgbClr val="6F2F9F"/>
                </a:solidFill>
                <a:latin typeface="Microsoft Sans Serif"/>
                <a:cs typeface="Microsoft Sans Serif"/>
              </a:rPr>
              <a:t> </a:t>
            </a:r>
            <a:r>
              <a:rPr b="1" dirty="0">
                <a:solidFill>
                  <a:srgbClr val="6F2F9F"/>
                </a:solidFill>
                <a:latin typeface="Arial"/>
                <a:cs typeface="Arial"/>
              </a:rPr>
              <a:t>(Line</a:t>
            </a:r>
            <a:r>
              <a:rPr b="1" spc="-15" dirty="0">
                <a:solidFill>
                  <a:srgbClr val="6F2F9F"/>
                </a:solidFill>
                <a:latin typeface="Arial"/>
                <a:cs typeface="Arial"/>
              </a:rPr>
              <a:t> </a:t>
            </a:r>
            <a:r>
              <a:rPr b="1" dirty="0">
                <a:solidFill>
                  <a:srgbClr val="6F2F9F"/>
                </a:solidFill>
                <a:latin typeface="Arial"/>
                <a:cs typeface="Arial"/>
              </a:rPr>
              <a:t>5)</a:t>
            </a:r>
            <a:r>
              <a:rPr b="1" spc="-10" dirty="0">
                <a:solidFill>
                  <a:srgbClr val="6F2F9F"/>
                </a:solidFill>
                <a:latin typeface="Arial"/>
                <a:cs typeface="Arial"/>
              </a:rPr>
              <a:t> </a:t>
            </a:r>
            <a:r>
              <a:rPr dirty="0">
                <a:solidFill>
                  <a:srgbClr val="6F2F9F"/>
                </a:solidFill>
                <a:latin typeface="Microsoft Sans Serif"/>
                <a:cs typeface="Microsoft Sans Serif"/>
              </a:rPr>
              <a:t>to 1,</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2,</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or</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3</a:t>
            </a:r>
            <a:r>
              <a:rPr spc="10" dirty="0">
                <a:solidFill>
                  <a:srgbClr val="6F2F9F"/>
                </a:solidFill>
                <a:latin typeface="Microsoft Sans Serif"/>
                <a:cs typeface="Microsoft Sans Serif"/>
              </a:rPr>
              <a:t> </a:t>
            </a:r>
            <a:r>
              <a:rPr spc="-25" dirty="0">
                <a:solidFill>
                  <a:srgbClr val="6F2F9F"/>
                </a:solidFill>
                <a:latin typeface="Microsoft Sans Serif"/>
                <a:cs typeface="Microsoft Sans Serif"/>
              </a:rPr>
              <a:t>for</a:t>
            </a:r>
            <a:r>
              <a:rPr lang="en-US" spc="-25" dirty="0">
                <a:latin typeface="Microsoft Sans Serif"/>
                <a:cs typeface="Microsoft Sans Serif"/>
              </a:rPr>
              <a:t> </a:t>
            </a:r>
            <a:r>
              <a:rPr dirty="0">
                <a:solidFill>
                  <a:srgbClr val="6F2F9F"/>
                </a:solidFill>
                <a:latin typeface="Microsoft Sans Serif"/>
                <a:cs typeface="Microsoft Sans Serif"/>
              </a:rPr>
              <a:t>different</a:t>
            </a:r>
            <a:r>
              <a:rPr spc="-35" dirty="0">
                <a:solidFill>
                  <a:srgbClr val="6F2F9F"/>
                </a:solidFill>
                <a:latin typeface="Microsoft Sans Serif"/>
                <a:cs typeface="Microsoft Sans Serif"/>
              </a:rPr>
              <a:t> </a:t>
            </a:r>
            <a:r>
              <a:rPr dirty="0">
                <a:solidFill>
                  <a:srgbClr val="6F2F9F"/>
                </a:solidFill>
                <a:latin typeface="Microsoft Sans Serif"/>
                <a:cs typeface="Microsoft Sans Serif"/>
              </a:rPr>
              <a:t>sample</a:t>
            </a:r>
            <a:r>
              <a:rPr spc="-30" dirty="0">
                <a:solidFill>
                  <a:srgbClr val="6F2F9F"/>
                </a:solidFill>
                <a:latin typeface="Microsoft Sans Serif"/>
                <a:cs typeface="Microsoft Sans Serif"/>
              </a:rPr>
              <a:t> </a:t>
            </a:r>
            <a:r>
              <a:rPr spc="-10" dirty="0">
                <a:solidFill>
                  <a:srgbClr val="6F2F9F"/>
                </a:solidFill>
                <a:latin typeface="Microsoft Sans Serif"/>
                <a:cs typeface="Microsoft Sans Serif"/>
              </a:rPr>
              <a:t>types*</a:t>
            </a:r>
            <a:endParaRPr dirty="0">
              <a:latin typeface="Microsoft Sans Serif"/>
              <a:cs typeface="Microsoft Sans Serif"/>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9" y="171705"/>
            <a:ext cx="8508626" cy="1004839"/>
          </a:xfrm>
          <a:prstGeom prst="rect">
            <a:avLst/>
          </a:prstGeom>
        </p:spPr>
        <p:txBody>
          <a:bodyPr vert="horz" wrap="square" lIns="0" tIns="324561" rIns="0" bIns="0" rtlCol="0">
            <a:spAutoFit/>
          </a:bodyPr>
          <a:lstStyle/>
          <a:p>
            <a:pPr marL="1092835">
              <a:spcBef>
                <a:spcPts val="105"/>
              </a:spcBef>
            </a:pPr>
            <a:r>
              <a:rPr dirty="0"/>
              <a:t>Example</a:t>
            </a:r>
            <a:r>
              <a:rPr spc="-45" dirty="0"/>
              <a:t> </a:t>
            </a:r>
            <a:r>
              <a:rPr dirty="0"/>
              <a:t>1:</a:t>
            </a:r>
            <a:r>
              <a:rPr spc="-15" dirty="0"/>
              <a:t> </a:t>
            </a:r>
            <a:r>
              <a:rPr dirty="0"/>
              <a:t>Parallel</a:t>
            </a:r>
            <a:r>
              <a:rPr lang="en-US" spc="-45" dirty="0"/>
              <a:t>-B</a:t>
            </a:r>
            <a:r>
              <a:rPr spc="-20" dirty="0"/>
              <a:t>eam</a:t>
            </a:r>
          </a:p>
        </p:txBody>
      </p:sp>
      <p:grpSp>
        <p:nvGrpSpPr>
          <p:cNvPr id="3" name="object 3"/>
          <p:cNvGrpSpPr/>
          <p:nvPr/>
        </p:nvGrpSpPr>
        <p:grpSpPr>
          <a:xfrm>
            <a:off x="2210244" y="2771695"/>
            <a:ext cx="4272915" cy="3361690"/>
            <a:chOff x="2542984" y="3024425"/>
            <a:chExt cx="4272915" cy="3361690"/>
          </a:xfrm>
        </p:grpSpPr>
        <p:sp>
          <p:nvSpPr>
            <p:cNvPr id="4" name="object 4"/>
            <p:cNvSpPr/>
            <p:nvPr/>
          </p:nvSpPr>
          <p:spPr>
            <a:xfrm>
              <a:off x="2543937" y="6375986"/>
              <a:ext cx="4251960" cy="0"/>
            </a:xfrm>
            <a:custGeom>
              <a:avLst/>
              <a:gdLst/>
              <a:ahLst/>
              <a:cxnLst/>
              <a:rect l="l" t="t" r="r" b="b"/>
              <a:pathLst>
                <a:path w="4251959">
                  <a:moveTo>
                    <a:pt x="0" y="0"/>
                  </a:moveTo>
                  <a:lnTo>
                    <a:pt x="4251665" y="0"/>
                  </a:lnTo>
                </a:path>
              </a:pathLst>
            </a:custGeom>
            <a:ln w="3175">
              <a:solidFill>
                <a:srgbClr val="000000"/>
              </a:solidFill>
            </a:ln>
          </p:spPr>
          <p:txBody>
            <a:bodyPr wrap="square" lIns="0" tIns="0" rIns="0" bIns="0" rtlCol="0"/>
            <a:lstStyle/>
            <a:p>
              <a:endParaRPr/>
            </a:p>
          </p:txBody>
        </p:sp>
        <p:sp>
          <p:nvSpPr>
            <p:cNvPr id="5" name="object 5"/>
            <p:cNvSpPr/>
            <p:nvPr/>
          </p:nvSpPr>
          <p:spPr>
            <a:xfrm>
              <a:off x="6800467" y="6380868"/>
              <a:ext cx="10160" cy="0"/>
            </a:xfrm>
            <a:custGeom>
              <a:avLst/>
              <a:gdLst/>
              <a:ahLst/>
              <a:cxnLst/>
              <a:rect l="l" t="t" r="r" b="b"/>
              <a:pathLst>
                <a:path w="10159">
                  <a:moveTo>
                    <a:pt x="0" y="0"/>
                  </a:moveTo>
                  <a:lnTo>
                    <a:pt x="10104" y="0"/>
                  </a:lnTo>
                </a:path>
              </a:pathLst>
            </a:custGeom>
            <a:ln w="9773">
              <a:solidFill>
                <a:srgbClr val="000000"/>
              </a:solidFill>
            </a:ln>
          </p:spPr>
          <p:txBody>
            <a:bodyPr wrap="square" lIns="0" tIns="0" rIns="0" bIns="0" rtlCol="0"/>
            <a:lstStyle/>
            <a:p>
              <a:endParaRPr/>
            </a:p>
          </p:txBody>
        </p:sp>
        <p:sp>
          <p:nvSpPr>
            <p:cNvPr id="6" name="object 6"/>
            <p:cNvSpPr/>
            <p:nvPr/>
          </p:nvSpPr>
          <p:spPr>
            <a:xfrm>
              <a:off x="2543937" y="3025377"/>
              <a:ext cx="0" cy="3350895"/>
            </a:xfrm>
            <a:custGeom>
              <a:avLst/>
              <a:gdLst/>
              <a:ahLst/>
              <a:cxnLst/>
              <a:rect l="l" t="t" r="r" b="b"/>
              <a:pathLst>
                <a:path h="3350895">
                  <a:moveTo>
                    <a:pt x="0" y="3350608"/>
                  </a:moveTo>
                  <a:lnTo>
                    <a:pt x="0" y="0"/>
                  </a:lnTo>
                </a:path>
              </a:pathLst>
            </a:custGeom>
            <a:ln w="3175">
              <a:solidFill>
                <a:srgbClr val="000000"/>
              </a:solidFill>
            </a:ln>
          </p:spPr>
          <p:txBody>
            <a:bodyPr wrap="square" lIns="0" tIns="0" rIns="0" bIns="0" rtlCol="0"/>
            <a:lstStyle/>
            <a:p>
              <a:endParaRPr/>
            </a:p>
          </p:txBody>
        </p:sp>
        <p:sp>
          <p:nvSpPr>
            <p:cNvPr id="7" name="object 7"/>
            <p:cNvSpPr/>
            <p:nvPr/>
          </p:nvSpPr>
          <p:spPr>
            <a:xfrm>
              <a:off x="2548827" y="3030359"/>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8" name="object 8"/>
            <p:cNvSpPr/>
            <p:nvPr/>
          </p:nvSpPr>
          <p:spPr>
            <a:xfrm>
              <a:off x="2543937"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9" name="object 9"/>
            <p:cNvSpPr/>
            <p:nvPr/>
          </p:nvSpPr>
          <p:spPr>
            <a:xfrm>
              <a:off x="2548827" y="6331998"/>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10" name="object 10"/>
            <p:cNvSpPr/>
            <p:nvPr/>
          </p:nvSpPr>
          <p:spPr>
            <a:xfrm>
              <a:off x="3102342"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11" name="object 11"/>
            <p:cNvSpPr/>
            <p:nvPr/>
          </p:nvSpPr>
          <p:spPr>
            <a:xfrm>
              <a:off x="3107207" y="6331998"/>
              <a:ext cx="10160" cy="0"/>
            </a:xfrm>
            <a:custGeom>
              <a:avLst/>
              <a:gdLst/>
              <a:ahLst/>
              <a:cxnLst/>
              <a:rect l="l" t="t" r="r" b="b"/>
              <a:pathLst>
                <a:path w="10160">
                  <a:moveTo>
                    <a:pt x="0" y="0"/>
                  </a:moveTo>
                  <a:lnTo>
                    <a:pt x="9730" y="0"/>
                  </a:lnTo>
                </a:path>
              </a:pathLst>
            </a:custGeom>
            <a:ln w="9773">
              <a:solidFill>
                <a:srgbClr val="000000"/>
              </a:solidFill>
            </a:ln>
          </p:spPr>
          <p:txBody>
            <a:bodyPr wrap="square" lIns="0" tIns="0" rIns="0" bIns="0" rtlCol="0"/>
            <a:lstStyle/>
            <a:p>
              <a:endParaRPr/>
            </a:p>
          </p:txBody>
        </p:sp>
        <p:sp>
          <p:nvSpPr>
            <p:cNvPr id="12" name="object 12"/>
            <p:cNvSpPr/>
            <p:nvPr/>
          </p:nvSpPr>
          <p:spPr>
            <a:xfrm>
              <a:off x="3660585"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13" name="object 13"/>
            <p:cNvSpPr/>
            <p:nvPr/>
          </p:nvSpPr>
          <p:spPr>
            <a:xfrm>
              <a:off x="3665575" y="6331998"/>
              <a:ext cx="10160" cy="0"/>
            </a:xfrm>
            <a:custGeom>
              <a:avLst/>
              <a:gdLst/>
              <a:ahLst/>
              <a:cxnLst/>
              <a:rect l="l" t="t" r="r" b="b"/>
              <a:pathLst>
                <a:path w="10160">
                  <a:moveTo>
                    <a:pt x="0" y="0"/>
                  </a:moveTo>
                  <a:lnTo>
                    <a:pt x="10104" y="0"/>
                  </a:lnTo>
                </a:path>
              </a:pathLst>
            </a:custGeom>
            <a:ln w="9773">
              <a:solidFill>
                <a:srgbClr val="000000"/>
              </a:solidFill>
            </a:ln>
          </p:spPr>
          <p:txBody>
            <a:bodyPr wrap="square" lIns="0" tIns="0" rIns="0" bIns="0" rtlCol="0"/>
            <a:lstStyle/>
            <a:p>
              <a:endParaRPr/>
            </a:p>
          </p:txBody>
        </p:sp>
        <p:sp>
          <p:nvSpPr>
            <p:cNvPr id="14" name="object 14"/>
            <p:cNvSpPr/>
            <p:nvPr/>
          </p:nvSpPr>
          <p:spPr>
            <a:xfrm>
              <a:off x="4219327"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15" name="object 15"/>
            <p:cNvSpPr/>
            <p:nvPr/>
          </p:nvSpPr>
          <p:spPr>
            <a:xfrm>
              <a:off x="4224192" y="6331998"/>
              <a:ext cx="10160" cy="0"/>
            </a:xfrm>
            <a:custGeom>
              <a:avLst/>
              <a:gdLst/>
              <a:ahLst/>
              <a:cxnLst/>
              <a:rect l="l" t="t" r="r" b="b"/>
              <a:pathLst>
                <a:path w="10160">
                  <a:moveTo>
                    <a:pt x="0" y="0"/>
                  </a:moveTo>
                  <a:lnTo>
                    <a:pt x="9730" y="0"/>
                  </a:lnTo>
                </a:path>
              </a:pathLst>
            </a:custGeom>
            <a:ln w="9773">
              <a:solidFill>
                <a:srgbClr val="000000"/>
              </a:solidFill>
            </a:ln>
          </p:spPr>
          <p:txBody>
            <a:bodyPr wrap="square" lIns="0" tIns="0" rIns="0" bIns="0" rtlCol="0"/>
            <a:lstStyle/>
            <a:p>
              <a:endParaRPr/>
            </a:p>
          </p:txBody>
        </p:sp>
        <p:sp>
          <p:nvSpPr>
            <p:cNvPr id="16" name="object 16"/>
            <p:cNvSpPr/>
            <p:nvPr/>
          </p:nvSpPr>
          <p:spPr>
            <a:xfrm>
              <a:off x="4777694"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17" name="object 17"/>
            <p:cNvSpPr/>
            <p:nvPr/>
          </p:nvSpPr>
          <p:spPr>
            <a:xfrm>
              <a:off x="4782559" y="6331998"/>
              <a:ext cx="10160" cy="0"/>
            </a:xfrm>
            <a:custGeom>
              <a:avLst/>
              <a:gdLst/>
              <a:ahLst/>
              <a:cxnLst/>
              <a:rect l="l" t="t" r="r" b="b"/>
              <a:pathLst>
                <a:path w="10160">
                  <a:moveTo>
                    <a:pt x="0" y="0"/>
                  </a:moveTo>
                  <a:lnTo>
                    <a:pt x="9730" y="0"/>
                  </a:lnTo>
                </a:path>
              </a:pathLst>
            </a:custGeom>
            <a:ln w="9773">
              <a:solidFill>
                <a:srgbClr val="000000"/>
              </a:solidFill>
            </a:ln>
          </p:spPr>
          <p:txBody>
            <a:bodyPr wrap="square" lIns="0" tIns="0" rIns="0" bIns="0" rtlCol="0"/>
            <a:lstStyle/>
            <a:p>
              <a:endParaRPr/>
            </a:p>
          </p:txBody>
        </p:sp>
        <p:sp>
          <p:nvSpPr>
            <p:cNvPr id="18" name="object 18"/>
            <p:cNvSpPr/>
            <p:nvPr/>
          </p:nvSpPr>
          <p:spPr>
            <a:xfrm>
              <a:off x="5336062"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19" name="object 19"/>
            <p:cNvSpPr/>
            <p:nvPr/>
          </p:nvSpPr>
          <p:spPr>
            <a:xfrm>
              <a:off x="5340927" y="6331998"/>
              <a:ext cx="10160" cy="0"/>
            </a:xfrm>
            <a:custGeom>
              <a:avLst/>
              <a:gdLst/>
              <a:ahLst/>
              <a:cxnLst/>
              <a:rect l="l" t="t" r="r" b="b"/>
              <a:pathLst>
                <a:path w="10160">
                  <a:moveTo>
                    <a:pt x="0" y="0"/>
                  </a:moveTo>
                  <a:lnTo>
                    <a:pt x="9730" y="0"/>
                  </a:lnTo>
                </a:path>
              </a:pathLst>
            </a:custGeom>
            <a:ln w="9773">
              <a:solidFill>
                <a:srgbClr val="000000"/>
              </a:solidFill>
            </a:ln>
          </p:spPr>
          <p:txBody>
            <a:bodyPr wrap="square" lIns="0" tIns="0" rIns="0" bIns="0" rtlCol="0"/>
            <a:lstStyle/>
            <a:p>
              <a:endParaRPr/>
            </a:p>
          </p:txBody>
        </p:sp>
        <p:sp>
          <p:nvSpPr>
            <p:cNvPr id="20" name="object 20"/>
            <p:cNvSpPr/>
            <p:nvPr/>
          </p:nvSpPr>
          <p:spPr>
            <a:xfrm>
              <a:off x="5894430"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21" name="object 21"/>
            <p:cNvSpPr/>
            <p:nvPr/>
          </p:nvSpPr>
          <p:spPr>
            <a:xfrm>
              <a:off x="5899295" y="6331998"/>
              <a:ext cx="10160" cy="0"/>
            </a:xfrm>
            <a:custGeom>
              <a:avLst/>
              <a:gdLst/>
              <a:ahLst/>
              <a:cxnLst/>
              <a:rect l="l" t="t" r="r" b="b"/>
              <a:pathLst>
                <a:path w="10160">
                  <a:moveTo>
                    <a:pt x="0" y="0"/>
                  </a:moveTo>
                  <a:lnTo>
                    <a:pt x="9730" y="0"/>
                  </a:lnTo>
                </a:path>
              </a:pathLst>
            </a:custGeom>
            <a:ln w="9773">
              <a:solidFill>
                <a:srgbClr val="000000"/>
              </a:solidFill>
            </a:ln>
          </p:spPr>
          <p:txBody>
            <a:bodyPr wrap="square" lIns="0" tIns="0" rIns="0" bIns="0" rtlCol="0"/>
            <a:lstStyle/>
            <a:p>
              <a:endParaRPr/>
            </a:p>
          </p:txBody>
        </p:sp>
        <p:sp>
          <p:nvSpPr>
            <p:cNvPr id="22" name="object 22"/>
            <p:cNvSpPr/>
            <p:nvPr/>
          </p:nvSpPr>
          <p:spPr>
            <a:xfrm>
              <a:off x="6452672" y="6327116"/>
              <a:ext cx="0" cy="48895"/>
            </a:xfrm>
            <a:custGeom>
              <a:avLst/>
              <a:gdLst/>
              <a:ahLst/>
              <a:cxnLst/>
              <a:rect l="l" t="t" r="r" b="b"/>
              <a:pathLst>
                <a:path h="48895">
                  <a:moveTo>
                    <a:pt x="0" y="48870"/>
                  </a:moveTo>
                  <a:lnTo>
                    <a:pt x="0" y="0"/>
                  </a:lnTo>
                </a:path>
              </a:pathLst>
            </a:custGeom>
            <a:ln w="3175">
              <a:solidFill>
                <a:srgbClr val="000000"/>
              </a:solidFill>
            </a:ln>
          </p:spPr>
          <p:txBody>
            <a:bodyPr wrap="square" lIns="0" tIns="0" rIns="0" bIns="0" rtlCol="0"/>
            <a:lstStyle/>
            <a:p>
              <a:endParaRPr/>
            </a:p>
          </p:txBody>
        </p:sp>
        <p:sp>
          <p:nvSpPr>
            <p:cNvPr id="23" name="object 23"/>
            <p:cNvSpPr/>
            <p:nvPr/>
          </p:nvSpPr>
          <p:spPr>
            <a:xfrm>
              <a:off x="6457662" y="6331998"/>
              <a:ext cx="10160" cy="0"/>
            </a:xfrm>
            <a:custGeom>
              <a:avLst/>
              <a:gdLst/>
              <a:ahLst/>
              <a:cxnLst/>
              <a:rect l="l" t="t" r="r" b="b"/>
              <a:pathLst>
                <a:path w="10160">
                  <a:moveTo>
                    <a:pt x="0" y="0"/>
                  </a:moveTo>
                  <a:lnTo>
                    <a:pt x="9979" y="0"/>
                  </a:lnTo>
                </a:path>
              </a:pathLst>
            </a:custGeom>
            <a:ln w="9773">
              <a:solidFill>
                <a:srgbClr val="000000"/>
              </a:solidFill>
            </a:ln>
          </p:spPr>
          <p:txBody>
            <a:bodyPr wrap="square" lIns="0" tIns="0" rIns="0" bIns="0" rtlCol="0"/>
            <a:lstStyle/>
            <a:p>
              <a:endParaRPr/>
            </a:p>
          </p:txBody>
        </p:sp>
        <p:sp>
          <p:nvSpPr>
            <p:cNvPr id="24" name="object 24"/>
            <p:cNvSpPr/>
            <p:nvPr/>
          </p:nvSpPr>
          <p:spPr>
            <a:xfrm>
              <a:off x="2543937" y="6072392"/>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25" name="object 25"/>
            <p:cNvSpPr/>
            <p:nvPr/>
          </p:nvSpPr>
          <p:spPr>
            <a:xfrm>
              <a:off x="2587947" y="6077274"/>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26" name="object 26"/>
            <p:cNvSpPr/>
            <p:nvPr/>
          </p:nvSpPr>
          <p:spPr>
            <a:xfrm>
              <a:off x="2543937" y="5611801"/>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27" name="object 27"/>
            <p:cNvSpPr/>
            <p:nvPr/>
          </p:nvSpPr>
          <p:spPr>
            <a:xfrm>
              <a:off x="2587947" y="5616695"/>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28" name="object 28"/>
            <p:cNvSpPr/>
            <p:nvPr/>
          </p:nvSpPr>
          <p:spPr>
            <a:xfrm>
              <a:off x="2543937" y="5151546"/>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29" name="object 29"/>
            <p:cNvSpPr/>
            <p:nvPr/>
          </p:nvSpPr>
          <p:spPr>
            <a:xfrm>
              <a:off x="2587947" y="5156403"/>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30" name="object 30"/>
            <p:cNvSpPr/>
            <p:nvPr/>
          </p:nvSpPr>
          <p:spPr>
            <a:xfrm>
              <a:off x="2543937" y="4700707"/>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31" name="object 31"/>
            <p:cNvSpPr/>
            <p:nvPr/>
          </p:nvSpPr>
          <p:spPr>
            <a:xfrm>
              <a:off x="2587947" y="4705564"/>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32" name="object 32"/>
            <p:cNvSpPr/>
            <p:nvPr/>
          </p:nvSpPr>
          <p:spPr>
            <a:xfrm>
              <a:off x="2543937" y="4240402"/>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33" name="object 33"/>
            <p:cNvSpPr/>
            <p:nvPr/>
          </p:nvSpPr>
          <p:spPr>
            <a:xfrm>
              <a:off x="2587947" y="4245259"/>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34" name="object 34"/>
            <p:cNvSpPr/>
            <p:nvPr/>
          </p:nvSpPr>
          <p:spPr>
            <a:xfrm>
              <a:off x="2543937" y="3779848"/>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35" name="object 35"/>
            <p:cNvSpPr/>
            <p:nvPr/>
          </p:nvSpPr>
          <p:spPr>
            <a:xfrm>
              <a:off x="2587947" y="3784706"/>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sp>
          <p:nvSpPr>
            <p:cNvPr id="36" name="object 36"/>
            <p:cNvSpPr/>
            <p:nvPr/>
          </p:nvSpPr>
          <p:spPr>
            <a:xfrm>
              <a:off x="2543937" y="3319544"/>
              <a:ext cx="39370" cy="0"/>
            </a:xfrm>
            <a:custGeom>
              <a:avLst/>
              <a:gdLst/>
              <a:ahLst/>
              <a:cxnLst/>
              <a:rect l="l" t="t" r="r" b="b"/>
              <a:pathLst>
                <a:path w="39369">
                  <a:moveTo>
                    <a:pt x="0" y="0"/>
                  </a:moveTo>
                  <a:lnTo>
                    <a:pt x="39120" y="0"/>
                  </a:lnTo>
                </a:path>
              </a:pathLst>
            </a:custGeom>
            <a:ln w="3175">
              <a:solidFill>
                <a:srgbClr val="000000"/>
              </a:solidFill>
            </a:ln>
          </p:spPr>
          <p:txBody>
            <a:bodyPr wrap="square" lIns="0" tIns="0" rIns="0" bIns="0" rtlCol="0"/>
            <a:lstStyle/>
            <a:p>
              <a:endParaRPr/>
            </a:p>
          </p:txBody>
        </p:sp>
        <p:sp>
          <p:nvSpPr>
            <p:cNvPr id="37" name="object 37"/>
            <p:cNvSpPr/>
            <p:nvPr/>
          </p:nvSpPr>
          <p:spPr>
            <a:xfrm>
              <a:off x="2587947" y="3324401"/>
              <a:ext cx="10160" cy="0"/>
            </a:xfrm>
            <a:custGeom>
              <a:avLst/>
              <a:gdLst/>
              <a:ahLst/>
              <a:cxnLst/>
              <a:rect l="l" t="t" r="r" b="b"/>
              <a:pathLst>
                <a:path w="10160">
                  <a:moveTo>
                    <a:pt x="0" y="0"/>
                  </a:moveTo>
                  <a:lnTo>
                    <a:pt x="9780" y="0"/>
                  </a:lnTo>
                </a:path>
              </a:pathLst>
            </a:custGeom>
            <a:ln w="9773">
              <a:solidFill>
                <a:srgbClr val="000000"/>
              </a:solidFill>
            </a:ln>
          </p:spPr>
          <p:txBody>
            <a:bodyPr wrap="square" lIns="0" tIns="0" rIns="0" bIns="0" rtlCol="0"/>
            <a:lstStyle/>
            <a:p>
              <a:endParaRPr/>
            </a:p>
          </p:txBody>
        </p:sp>
      </p:grpSp>
      <p:sp>
        <p:nvSpPr>
          <p:cNvPr id="38" name="object 38"/>
          <p:cNvSpPr txBox="1"/>
          <p:nvPr/>
        </p:nvSpPr>
        <p:spPr>
          <a:xfrm>
            <a:off x="152400" y="1371600"/>
            <a:ext cx="8150225" cy="2741135"/>
          </a:xfrm>
          <a:prstGeom prst="rect">
            <a:avLst/>
          </a:prstGeom>
        </p:spPr>
        <p:txBody>
          <a:bodyPr vert="horz" wrap="square" lIns="0" tIns="12065" rIns="0" bIns="0" rtlCol="0">
            <a:spAutoFit/>
          </a:bodyPr>
          <a:lstStyle/>
          <a:p>
            <a:pPr marL="406400" marR="55880" indent="-342900">
              <a:spcBef>
                <a:spcPts val="95"/>
              </a:spcBef>
              <a:buChar char="•"/>
              <a:tabLst>
                <a:tab pos="406400" algn="l"/>
              </a:tabLst>
            </a:pPr>
            <a:r>
              <a:rPr sz="2800" dirty="0">
                <a:latin typeface="Microsoft Sans Serif"/>
                <a:cs typeface="Microsoft Sans Serif"/>
              </a:rPr>
              <a:t>What</a:t>
            </a:r>
            <a:r>
              <a:rPr sz="2800" spc="-30" dirty="0">
                <a:latin typeface="Microsoft Sans Serif"/>
                <a:cs typeface="Microsoft Sans Serif"/>
              </a:rPr>
              <a:t> </a:t>
            </a:r>
            <a:r>
              <a:rPr sz="2800" dirty="0">
                <a:latin typeface="Microsoft Sans Serif"/>
                <a:cs typeface="Microsoft Sans Serif"/>
              </a:rPr>
              <a:t>happens</a:t>
            </a:r>
            <a:r>
              <a:rPr sz="2800" spc="-10" dirty="0">
                <a:latin typeface="Microsoft Sans Serif"/>
                <a:cs typeface="Microsoft Sans Serif"/>
              </a:rPr>
              <a:t> </a:t>
            </a:r>
            <a:r>
              <a:rPr sz="2800" dirty="0">
                <a:latin typeface="Microsoft Sans Serif"/>
                <a:cs typeface="Microsoft Sans Serif"/>
              </a:rPr>
              <a:t>when</a:t>
            </a:r>
            <a:r>
              <a:rPr sz="2800" spc="-10" dirty="0">
                <a:latin typeface="Microsoft Sans Serif"/>
                <a:cs typeface="Microsoft Sans Serif"/>
              </a:rPr>
              <a:t> </a:t>
            </a:r>
            <a:r>
              <a:rPr sz="2800" dirty="0">
                <a:latin typeface="Microsoft Sans Serif"/>
                <a:cs typeface="Microsoft Sans Serif"/>
              </a:rPr>
              <a:t>we</a:t>
            </a:r>
            <a:r>
              <a:rPr sz="2800" spc="-25" dirty="0">
                <a:latin typeface="Microsoft Sans Serif"/>
                <a:cs typeface="Microsoft Sans Serif"/>
              </a:rPr>
              <a:t> </a:t>
            </a:r>
            <a:r>
              <a:rPr sz="2800" dirty="0">
                <a:latin typeface="Microsoft Sans Serif"/>
                <a:cs typeface="Microsoft Sans Serif"/>
              </a:rPr>
              <a:t>change</a:t>
            </a:r>
            <a:r>
              <a:rPr sz="2800" spc="-15" dirty="0">
                <a:latin typeface="Microsoft Sans Serif"/>
                <a:cs typeface="Microsoft Sans Serif"/>
              </a:rPr>
              <a:t> </a:t>
            </a:r>
            <a:r>
              <a:rPr sz="2800" dirty="0">
                <a:latin typeface="Microsoft Sans Serif"/>
                <a:cs typeface="Microsoft Sans Serif"/>
              </a:rPr>
              <a:t>the</a:t>
            </a:r>
            <a:r>
              <a:rPr sz="2800" spc="10" dirty="0">
                <a:latin typeface="Microsoft Sans Serif"/>
                <a:cs typeface="Microsoft Sans Serif"/>
              </a:rPr>
              <a:t> </a:t>
            </a:r>
            <a:r>
              <a:rPr sz="2800" dirty="0">
                <a:latin typeface="Microsoft Sans Serif"/>
                <a:cs typeface="Microsoft Sans Serif"/>
              </a:rPr>
              <a:t>θ</a:t>
            </a:r>
            <a:r>
              <a:rPr sz="2800" spc="-20" dirty="0">
                <a:latin typeface="Microsoft Sans Serif"/>
                <a:cs typeface="Microsoft Sans Serif"/>
              </a:rPr>
              <a:t> </a:t>
            </a:r>
            <a:r>
              <a:rPr sz="2800" dirty="0">
                <a:latin typeface="Microsoft Sans Serif"/>
                <a:cs typeface="Microsoft Sans Serif"/>
              </a:rPr>
              <a:t>step</a:t>
            </a:r>
            <a:r>
              <a:rPr sz="2800" spc="-30" dirty="0">
                <a:latin typeface="Microsoft Sans Serif"/>
                <a:cs typeface="Microsoft Sans Serif"/>
              </a:rPr>
              <a:t> </a:t>
            </a:r>
            <a:r>
              <a:rPr sz="2800" spc="-10" dirty="0">
                <a:latin typeface="Microsoft Sans Serif"/>
                <a:cs typeface="Microsoft Sans Serif"/>
              </a:rPr>
              <a:t>(</a:t>
            </a:r>
            <a:r>
              <a:rPr sz="2800" b="1" spc="-10" dirty="0">
                <a:latin typeface="Arial"/>
                <a:cs typeface="Arial"/>
              </a:rPr>
              <a:t>Line </a:t>
            </a:r>
            <a:r>
              <a:rPr sz="2800" b="1" dirty="0">
                <a:latin typeface="Arial"/>
                <a:cs typeface="Arial"/>
              </a:rPr>
              <a:t>23</a:t>
            </a:r>
            <a:r>
              <a:rPr sz="2800" dirty="0">
                <a:latin typeface="Microsoft Sans Serif"/>
                <a:cs typeface="Microsoft Sans Serif"/>
              </a:rPr>
              <a:t>)</a:t>
            </a:r>
            <a:r>
              <a:rPr sz="2800" spc="-25" dirty="0">
                <a:latin typeface="Microsoft Sans Serif"/>
                <a:cs typeface="Microsoft Sans Serif"/>
              </a:rPr>
              <a:t> </a:t>
            </a:r>
            <a:r>
              <a:rPr sz="2800" dirty="0">
                <a:latin typeface="Microsoft Sans Serif"/>
                <a:cs typeface="Microsoft Sans Serif"/>
              </a:rPr>
              <a:t>to</a:t>
            </a:r>
            <a:r>
              <a:rPr sz="2800" spc="-25" dirty="0">
                <a:latin typeface="Microsoft Sans Serif"/>
                <a:cs typeface="Microsoft Sans Serif"/>
              </a:rPr>
              <a:t> </a:t>
            </a:r>
            <a:r>
              <a:rPr sz="2800" dirty="0">
                <a:latin typeface="Microsoft Sans Serif"/>
                <a:cs typeface="Microsoft Sans Serif"/>
              </a:rPr>
              <a:t>5?</a:t>
            </a:r>
            <a:r>
              <a:rPr sz="2800" spc="-20" dirty="0">
                <a:latin typeface="Microsoft Sans Serif"/>
                <a:cs typeface="Microsoft Sans Serif"/>
              </a:rPr>
              <a:t> </a:t>
            </a:r>
            <a:r>
              <a:rPr sz="2800" dirty="0">
                <a:latin typeface="Microsoft Sans Serif"/>
                <a:cs typeface="Microsoft Sans Serif"/>
              </a:rPr>
              <a:t>What</a:t>
            </a:r>
            <a:r>
              <a:rPr sz="2800" spc="-15" dirty="0">
                <a:latin typeface="Microsoft Sans Serif"/>
                <a:cs typeface="Microsoft Sans Serif"/>
              </a:rPr>
              <a:t> </a:t>
            </a:r>
            <a:r>
              <a:rPr sz="2800" dirty="0">
                <a:latin typeface="Microsoft Sans Serif"/>
                <a:cs typeface="Microsoft Sans Serif"/>
              </a:rPr>
              <a:t>is</a:t>
            </a:r>
            <a:r>
              <a:rPr sz="2800" spc="-30" dirty="0">
                <a:latin typeface="Microsoft Sans Serif"/>
                <a:cs typeface="Microsoft Sans Serif"/>
              </a:rPr>
              <a:t> </a:t>
            </a:r>
            <a:r>
              <a:rPr sz="2800" dirty="0">
                <a:latin typeface="Microsoft Sans Serif"/>
                <a:cs typeface="Microsoft Sans Serif"/>
              </a:rPr>
              <a:t>happening</a:t>
            </a:r>
            <a:r>
              <a:rPr sz="2800" spc="5" dirty="0">
                <a:latin typeface="Microsoft Sans Serif"/>
                <a:cs typeface="Microsoft Sans Serif"/>
              </a:rPr>
              <a:t> </a:t>
            </a:r>
            <a:r>
              <a:rPr sz="2800" spc="-10" dirty="0">
                <a:latin typeface="Microsoft Sans Serif"/>
                <a:cs typeface="Microsoft Sans Serif"/>
              </a:rPr>
              <a:t>here?</a:t>
            </a:r>
            <a:endParaRPr sz="2800">
              <a:latin typeface="Microsoft Sans Serif"/>
              <a:cs typeface="Microsoft Sans Serif"/>
            </a:endParaRPr>
          </a:p>
          <a:p>
            <a:pPr marL="202565" algn="ctr">
              <a:spcBef>
                <a:spcPts val="2010"/>
              </a:spcBef>
            </a:pPr>
            <a:r>
              <a:rPr sz="1000" dirty="0">
                <a:latin typeface="Arial MT"/>
                <a:cs typeface="Arial MT"/>
              </a:rPr>
              <a:t>R</a:t>
            </a:r>
            <a:r>
              <a:rPr sz="1275" baseline="-29411" dirty="0">
                <a:latin typeface="Symbol"/>
                <a:cs typeface="Symbol"/>
              </a:rPr>
              <a:t></a:t>
            </a:r>
            <a:r>
              <a:rPr sz="1275" spc="112" baseline="-29411" dirty="0">
                <a:latin typeface="Times New Roman"/>
                <a:cs typeface="Times New Roman"/>
              </a:rPr>
              <a:t> </a:t>
            </a:r>
            <a:r>
              <a:rPr sz="1000" spc="-20" dirty="0">
                <a:latin typeface="Arial MT"/>
                <a:cs typeface="Arial MT"/>
              </a:rPr>
              <a:t>(X</a:t>
            </a:r>
            <a:r>
              <a:rPr sz="1050" spc="-20" dirty="0">
                <a:latin typeface="Symbol"/>
                <a:cs typeface="Symbol"/>
              </a:rPr>
              <a:t></a:t>
            </a:r>
            <a:r>
              <a:rPr sz="1000" spc="-20" dirty="0">
                <a:latin typeface="Arial MT"/>
                <a:cs typeface="Arial MT"/>
              </a:rPr>
              <a:t>)</a:t>
            </a:r>
            <a:endParaRPr sz="1000">
              <a:latin typeface="Arial MT"/>
              <a:cs typeface="Arial MT"/>
            </a:endParaRPr>
          </a:p>
          <a:p>
            <a:pPr>
              <a:lnSpc>
                <a:spcPct val="100000"/>
              </a:lnSpc>
            </a:pPr>
            <a:endParaRPr sz="1000">
              <a:latin typeface="Arial MT"/>
              <a:cs typeface="Arial MT"/>
            </a:endParaRPr>
          </a:p>
          <a:p>
            <a:pPr>
              <a:spcBef>
                <a:spcPts val="345"/>
              </a:spcBef>
            </a:pPr>
            <a:endParaRPr sz="1000">
              <a:latin typeface="Arial MT"/>
              <a:cs typeface="Arial MT"/>
            </a:endParaRPr>
          </a:p>
          <a:p>
            <a:pPr marL="1813560"/>
            <a:r>
              <a:rPr sz="1000" spc="-25" dirty="0">
                <a:latin typeface="Arial MT"/>
                <a:cs typeface="Arial MT"/>
              </a:rPr>
              <a:t>150</a:t>
            </a:r>
            <a:endParaRPr sz="1000">
              <a:latin typeface="Arial MT"/>
              <a:cs typeface="Arial MT"/>
            </a:endParaRPr>
          </a:p>
          <a:p>
            <a:pPr>
              <a:lnSpc>
                <a:spcPct val="100000"/>
              </a:lnSpc>
            </a:pPr>
            <a:endParaRPr sz="1000">
              <a:latin typeface="Arial MT"/>
              <a:cs typeface="Arial MT"/>
            </a:endParaRPr>
          </a:p>
          <a:p>
            <a:pPr>
              <a:spcBef>
                <a:spcPts val="130"/>
              </a:spcBef>
            </a:pPr>
            <a:endParaRPr sz="1000">
              <a:latin typeface="Arial MT"/>
              <a:cs typeface="Arial MT"/>
            </a:endParaRPr>
          </a:p>
          <a:p>
            <a:pPr marL="1813560"/>
            <a:r>
              <a:rPr sz="1000" spc="-25" dirty="0">
                <a:latin typeface="Arial MT"/>
                <a:cs typeface="Arial MT"/>
              </a:rPr>
              <a:t>100</a:t>
            </a:r>
            <a:endParaRPr sz="1000">
              <a:latin typeface="Arial MT"/>
              <a:cs typeface="Arial MT"/>
            </a:endParaRPr>
          </a:p>
          <a:p>
            <a:pPr>
              <a:lnSpc>
                <a:spcPct val="100000"/>
              </a:lnSpc>
            </a:pPr>
            <a:endParaRPr sz="1000">
              <a:latin typeface="Arial MT"/>
              <a:cs typeface="Arial MT"/>
            </a:endParaRPr>
          </a:p>
          <a:p>
            <a:pPr>
              <a:spcBef>
                <a:spcPts val="125"/>
              </a:spcBef>
            </a:pPr>
            <a:endParaRPr sz="1000">
              <a:latin typeface="Arial MT"/>
              <a:cs typeface="Arial MT"/>
            </a:endParaRPr>
          </a:p>
          <a:p>
            <a:pPr marL="1882139"/>
            <a:r>
              <a:rPr sz="1000" spc="-25" dirty="0">
                <a:latin typeface="Arial MT"/>
                <a:cs typeface="Arial MT"/>
              </a:rPr>
              <a:t>50</a:t>
            </a:r>
            <a:endParaRPr sz="1000">
              <a:latin typeface="Arial MT"/>
              <a:cs typeface="Arial MT"/>
            </a:endParaRPr>
          </a:p>
        </p:txBody>
      </p:sp>
      <p:sp>
        <p:nvSpPr>
          <p:cNvPr id="39" name="object 39"/>
          <p:cNvSpPr txBox="1"/>
          <p:nvPr/>
        </p:nvSpPr>
        <p:spPr>
          <a:xfrm>
            <a:off x="2169155" y="6140010"/>
            <a:ext cx="96520" cy="166712"/>
          </a:xfrm>
          <a:prstGeom prst="rect">
            <a:avLst/>
          </a:prstGeom>
        </p:spPr>
        <p:txBody>
          <a:bodyPr vert="horz" wrap="square" lIns="0" tIns="12700" rIns="0" bIns="0" rtlCol="0">
            <a:spAutoFit/>
          </a:bodyPr>
          <a:lstStyle/>
          <a:p>
            <a:pPr marL="12700">
              <a:spcBef>
                <a:spcPts val="100"/>
              </a:spcBef>
            </a:pPr>
            <a:r>
              <a:rPr sz="1000" spc="-50" dirty="0">
                <a:latin typeface="Arial MT"/>
                <a:cs typeface="Arial MT"/>
              </a:rPr>
              <a:t>0</a:t>
            </a:r>
            <a:endParaRPr sz="1000">
              <a:latin typeface="Arial MT"/>
              <a:cs typeface="Arial MT"/>
            </a:endParaRPr>
          </a:p>
        </p:txBody>
      </p:sp>
      <p:sp>
        <p:nvSpPr>
          <p:cNvPr id="40" name="object 40"/>
          <p:cNvSpPr txBox="1"/>
          <p:nvPr/>
        </p:nvSpPr>
        <p:spPr>
          <a:xfrm>
            <a:off x="2688390" y="6140010"/>
            <a:ext cx="162560" cy="166712"/>
          </a:xfrm>
          <a:prstGeom prst="rect">
            <a:avLst/>
          </a:prstGeom>
        </p:spPr>
        <p:txBody>
          <a:bodyPr vert="horz" wrap="square" lIns="0" tIns="12700" rIns="0" bIns="0" rtlCol="0">
            <a:spAutoFit/>
          </a:bodyPr>
          <a:lstStyle/>
          <a:p>
            <a:pPr marL="12700">
              <a:spcBef>
                <a:spcPts val="100"/>
              </a:spcBef>
            </a:pPr>
            <a:r>
              <a:rPr sz="1000" spc="-25" dirty="0">
                <a:latin typeface="Arial MT"/>
                <a:cs typeface="Arial MT"/>
              </a:rPr>
              <a:t>26</a:t>
            </a:r>
            <a:endParaRPr sz="1000">
              <a:latin typeface="Arial MT"/>
              <a:cs typeface="Arial MT"/>
            </a:endParaRPr>
          </a:p>
        </p:txBody>
      </p:sp>
      <p:sp>
        <p:nvSpPr>
          <p:cNvPr id="41" name="object 41"/>
          <p:cNvSpPr txBox="1"/>
          <p:nvPr/>
        </p:nvSpPr>
        <p:spPr>
          <a:xfrm>
            <a:off x="3246782" y="6140010"/>
            <a:ext cx="162560" cy="166712"/>
          </a:xfrm>
          <a:prstGeom prst="rect">
            <a:avLst/>
          </a:prstGeom>
        </p:spPr>
        <p:txBody>
          <a:bodyPr vert="horz" wrap="square" lIns="0" tIns="12700" rIns="0" bIns="0" rtlCol="0">
            <a:spAutoFit/>
          </a:bodyPr>
          <a:lstStyle/>
          <a:p>
            <a:pPr marL="12700">
              <a:spcBef>
                <a:spcPts val="100"/>
              </a:spcBef>
            </a:pPr>
            <a:r>
              <a:rPr sz="1000" spc="-25" dirty="0">
                <a:latin typeface="Arial MT"/>
                <a:cs typeface="Arial MT"/>
              </a:rPr>
              <a:t>52</a:t>
            </a:r>
            <a:endParaRPr sz="1000">
              <a:latin typeface="Arial MT"/>
              <a:cs typeface="Arial MT"/>
            </a:endParaRPr>
          </a:p>
        </p:txBody>
      </p:sp>
      <p:sp>
        <p:nvSpPr>
          <p:cNvPr id="42" name="object 42"/>
          <p:cNvSpPr txBox="1"/>
          <p:nvPr/>
        </p:nvSpPr>
        <p:spPr>
          <a:xfrm>
            <a:off x="3589587" y="6126921"/>
            <a:ext cx="1534160" cy="354583"/>
          </a:xfrm>
          <a:prstGeom prst="rect">
            <a:avLst/>
          </a:prstGeom>
        </p:spPr>
        <p:txBody>
          <a:bodyPr vert="horz" wrap="square" lIns="0" tIns="26034" rIns="0" bIns="0" rtlCol="0">
            <a:spAutoFit/>
          </a:bodyPr>
          <a:lstStyle/>
          <a:p>
            <a:pPr marR="5080" algn="r">
              <a:spcBef>
                <a:spcPts val="204"/>
              </a:spcBef>
              <a:tabLst>
                <a:tab pos="528320" algn="l"/>
                <a:tab pos="1087120" algn="l"/>
              </a:tabLst>
            </a:pPr>
            <a:r>
              <a:rPr sz="1000" spc="-25" dirty="0">
                <a:latin typeface="Arial MT"/>
                <a:cs typeface="Arial MT"/>
              </a:rPr>
              <a:t>78</a:t>
            </a:r>
            <a:r>
              <a:rPr sz="1000" dirty="0">
                <a:latin typeface="Arial MT"/>
                <a:cs typeface="Arial MT"/>
              </a:rPr>
              <a:t>	</a:t>
            </a:r>
            <a:r>
              <a:rPr sz="1000" spc="-25" dirty="0">
                <a:latin typeface="Arial MT"/>
                <a:cs typeface="Arial MT"/>
              </a:rPr>
              <a:t>103</a:t>
            </a:r>
            <a:r>
              <a:rPr sz="1000" dirty="0">
                <a:latin typeface="Arial MT"/>
                <a:cs typeface="Arial MT"/>
              </a:rPr>
              <a:t>	</a:t>
            </a:r>
            <a:r>
              <a:rPr sz="1000" spc="-25" dirty="0">
                <a:latin typeface="Arial MT"/>
                <a:cs typeface="Arial MT"/>
              </a:rPr>
              <a:t>129</a:t>
            </a:r>
            <a:endParaRPr sz="1000">
              <a:latin typeface="Arial MT"/>
              <a:cs typeface="Arial MT"/>
            </a:endParaRPr>
          </a:p>
          <a:p>
            <a:pPr marR="61594" algn="r">
              <a:spcBef>
                <a:spcPts val="140"/>
              </a:spcBef>
            </a:pPr>
            <a:r>
              <a:rPr sz="1000" dirty="0">
                <a:latin typeface="Arial MT"/>
                <a:cs typeface="Arial MT"/>
              </a:rPr>
              <a:t>Rotation</a:t>
            </a:r>
            <a:r>
              <a:rPr sz="1000" spc="-15" dirty="0">
                <a:latin typeface="Arial MT"/>
                <a:cs typeface="Arial MT"/>
              </a:rPr>
              <a:t> </a:t>
            </a:r>
            <a:r>
              <a:rPr sz="1000" dirty="0">
                <a:latin typeface="Arial MT"/>
                <a:cs typeface="Arial MT"/>
              </a:rPr>
              <a:t>angle</a:t>
            </a:r>
            <a:r>
              <a:rPr sz="1050" dirty="0">
                <a:latin typeface="Symbol"/>
                <a:cs typeface="Symbol"/>
              </a:rPr>
              <a:t></a:t>
            </a:r>
            <a:r>
              <a:rPr sz="1050" spc="-10" dirty="0">
                <a:latin typeface="Times New Roman"/>
                <a:cs typeface="Times New Roman"/>
              </a:rPr>
              <a:t> </a:t>
            </a:r>
            <a:r>
              <a:rPr sz="1000" spc="-10" dirty="0">
                <a:latin typeface="Arial MT"/>
                <a:cs typeface="Arial MT"/>
              </a:rPr>
              <a:t>(degrees)</a:t>
            </a:r>
            <a:endParaRPr sz="1000">
              <a:latin typeface="Arial MT"/>
              <a:cs typeface="Arial MT"/>
            </a:endParaRPr>
          </a:p>
        </p:txBody>
      </p:sp>
      <p:sp>
        <p:nvSpPr>
          <p:cNvPr id="43" name="object 43"/>
          <p:cNvSpPr txBox="1"/>
          <p:nvPr/>
        </p:nvSpPr>
        <p:spPr>
          <a:xfrm>
            <a:off x="5451187" y="6140010"/>
            <a:ext cx="231140" cy="166712"/>
          </a:xfrm>
          <a:prstGeom prst="rect">
            <a:avLst/>
          </a:prstGeom>
        </p:spPr>
        <p:txBody>
          <a:bodyPr vert="horz" wrap="square" lIns="0" tIns="12700" rIns="0" bIns="0" rtlCol="0">
            <a:spAutoFit/>
          </a:bodyPr>
          <a:lstStyle/>
          <a:p>
            <a:pPr marL="12700">
              <a:spcBef>
                <a:spcPts val="100"/>
              </a:spcBef>
            </a:pPr>
            <a:r>
              <a:rPr sz="1000" spc="-25" dirty="0">
                <a:latin typeface="Arial MT"/>
                <a:cs typeface="Arial MT"/>
              </a:rPr>
              <a:t>155</a:t>
            </a:r>
            <a:endParaRPr sz="1000">
              <a:latin typeface="Arial MT"/>
              <a:cs typeface="Arial MT"/>
            </a:endParaRPr>
          </a:p>
        </p:txBody>
      </p:sp>
      <p:sp>
        <p:nvSpPr>
          <p:cNvPr id="44" name="object 44"/>
          <p:cNvSpPr txBox="1"/>
          <p:nvPr/>
        </p:nvSpPr>
        <p:spPr>
          <a:xfrm>
            <a:off x="6009555" y="6140010"/>
            <a:ext cx="231140" cy="166712"/>
          </a:xfrm>
          <a:prstGeom prst="rect">
            <a:avLst/>
          </a:prstGeom>
        </p:spPr>
        <p:txBody>
          <a:bodyPr vert="horz" wrap="square" lIns="0" tIns="12700" rIns="0" bIns="0" rtlCol="0">
            <a:spAutoFit/>
          </a:bodyPr>
          <a:lstStyle/>
          <a:p>
            <a:pPr marL="12700">
              <a:spcBef>
                <a:spcPts val="100"/>
              </a:spcBef>
            </a:pPr>
            <a:r>
              <a:rPr sz="1000" spc="-25" dirty="0">
                <a:latin typeface="Arial MT"/>
                <a:cs typeface="Arial MT"/>
              </a:rPr>
              <a:t>180</a:t>
            </a:r>
            <a:endParaRPr sz="1000">
              <a:latin typeface="Arial MT"/>
              <a:cs typeface="Arial MT"/>
            </a:endParaRPr>
          </a:p>
        </p:txBody>
      </p:sp>
      <p:sp>
        <p:nvSpPr>
          <p:cNvPr id="45" name="object 45"/>
          <p:cNvSpPr txBox="1"/>
          <p:nvPr/>
        </p:nvSpPr>
        <p:spPr>
          <a:xfrm>
            <a:off x="1914273" y="5728601"/>
            <a:ext cx="272415" cy="166712"/>
          </a:xfrm>
          <a:prstGeom prst="rect">
            <a:avLst/>
          </a:prstGeom>
        </p:spPr>
        <p:txBody>
          <a:bodyPr vert="horz" wrap="square" lIns="0" tIns="12700" rIns="0" bIns="0" rtlCol="0">
            <a:spAutoFit/>
          </a:bodyPr>
          <a:lstStyle/>
          <a:p>
            <a:pPr marL="12700">
              <a:spcBef>
                <a:spcPts val="100"/>
              </a:spcBef>
            </a:pPr>
            <a:r>
              <a:rPr sz="1000" spc="-40" dirty="0">
                <a:latin typeface="Arial MT"/>
                <a:cs typeface="Arial MT"/>
              </a:rPr>
              <a:t>-</a:t>
            </a:r>
            <a:r>
              <a:rPr sz="1000" spc="-25" dirty="0">
                <a:latin typeface="Arial MT"/>
                <a:cs typeface="Arial MT"/>
              </a:rPr>
              <a:t>150</a:t>
            </a:r>
            <a:endParaRPr sz="1000">
              <a:latin typeface="Arial MT"/>
              <a:cs typeface="Arial MT"/>
            </a:endParaRPr>
          </a:p>
        </p:txBody>
      </p:sp>
      <p:sp>
        <p:nvSpPr>
          <p:cNvPr id="46" name="object 46"/>
          <p:cNvSpPr txBox="1"/>
          <p:nvPr/>
        </p:nvSpPr>
        <p:spPr>
          <a:xfrm>
            <a:off x="1914273" y="5268321"/>
            <a:ext cx="272415" cy="166712"/>
          </a:xfrm>
          <a:prstGeom prst="rect">
            <a:avLst/>
          </a:prstGeom>
        </p:spPr>
        <p:txBody>
          <a:bodyPr vert="horz" wrap="square" lIns="0" tIns="12700" rIns="0" bIns="0" rtlCol="0">
            <a:spAutoFit/>
          </a:bodyPr>
          <a:lstStyle/>
          <a:p>
            <a:pPr marL="12700">
              <a:spcBef>
                <a:spcPts val="100"/>
              </a:spcBef>
            </a:pPr>
            <a:r>
              <a:rPr sz="1000" spc="-40" dirty="0">
                <a:latin typeface="Arial MT"/>
                <a:cs typeface="Arial MT"/>
              </a:rPr>
              <a:t>-</a:t>
            </a:r>
            <a:r>
              <a:rPr sz="1000" spc="-25" dirty="0">
                <a:latin typeface="Arial MT"/>
                <a:cs typeface="Arial MT"/>
              </a:rPr>
              <a:t>100</a:t>
            </a:r>
            <a:endParaRPr sz="1000">
              <a:latin typeface="Arial MT"/>
              <a:cs typeface="Arial MT"/>
            </a:endParaRPr>
          </a:p>
        </p:txBody>
      </p:sp>
      <p:sp>
        <p:nvSpPr>
          <p:cNvPr id="47" name="object 47"/>
          <p:cNvSpPr txBox="1"/>
          <p:nvPr/>
        </p:nvSpPr>
        <p:spPr>
          <a:xfrm>
            <a:off x="1983034" y="4807705"/>
            <a:ext cx="203835" cy="166712"/>
          </a:xfrm>
          <a:prstGeom prst="rect">
            <a:avLst/>
          </a:prstGeom>
        </p:spPr>
        <p:txBody>
          <a:bodyPr vert="horz" wrap="square" lIns="0" tIns="12700" rIns="0" bIns="0" rtlCol="0">
            <a:spAutoFit/>
          </a:bodyPr>
          <a:lstStyle/>
          <a:p>
            <a:pPr marL="12700">
              <a:spcBef>
                <a:spcPts val="100"/>
              </a:spcBef>
            </a:pPr>
            <a:r>
              <a:rPr sz="1000" spc="-40" dirty="0">
                <a:latin typeface="Arial MT"/>
                <a:cs typeface="Arial MT"/>
              </a:rPr>
              <a:t>-</a:t>
            </a:r>
            <a:r>
              <a:rPr sz="1000" spc="-25" dirty="0">
                <a:latin typeface="Arial MT"/>
                <a:cs typeface="Arial MT"/>
              </a:rPr>
              <a:t>50</a:t>
            </a:r>
            <a:endParaRPr sz="1000">
              <a:latin typeface="Arial MT"/>
              <a:cs typeface="Arial MT"/>
            </a:endParaRPr>
          </a:p>
        </p:txBody>
      </p:sp>
      <p:sp>
        <p:nvSpPr>
          <p:cNvPr id="48" name="object 48"/>
          <p:cNvSpPr txBox="1"/>
          <p:nvPr/>
        </p:nvSpPr>
        <p:spPr>
          <a:xfrm>
            <a:off x="2090614" y="4357239"/>
            <a:ext cx="96520" cy="166712"/>
          </a:xfrm>
          <a:prstGeom prst="rect">
            <a:avLst/>
          </a:prstGeom>
        </p:spPr>
        <p:txBody>
          <a:bodyPr vert="horz" wrap="square" lIns="0" tIns="12700" rIns="0" bIns="0" rtlCol="0">
            <a:spAutoFit/>
          </a:bodyPr>
          <a:lstStyle/>
          <a:p>
            <a:pPr marL="12700">
              <a:spcBef>
                <a:spcPts val="100"/>
              </a:spcBef>
            </a:pPr>
            <a:r>
              <a:rPr sz="1000" spc="-50" dirty="0">
                <a:latin typeface="Arial MT"/>
                <a:cs typeface="Arial MT"/>
              </a:rPr>
              <a:t>0</a:t>
            </a:r>
            <a:endParaRPr sz="1000">
              <a:latin typeface="Arial MT"/>
              <a:cs typeface="Arial MT"/>
            </a:endParaRPr>
          </a:p>
        </p:txBody>
      </p:sp>
      <p:sp>
        <p:nvSpPr>
          <p:cNvPr id="49" name="object 49"/>
          <p:cNvSpPr txBox="1"/>
          <p:nvPr/>
        </p:nvSpPr>
        <p:spPr>
          <a:xfrm>
            <a:off x="1688292" y="3709366"/>
            <a:ext cx="153888" cy="1506220"/>
          </a:xfrm>
          <a:prstGeom prst="rect">
            <a:avLst/>
          </a:prstGeom>
        </p:spPr>
        <p:txBody>
          <a:bodyPr vert="vert270" wrap="square" lIns="0" tIns="0" rIns="0" bIns="0" rtlCol="0">
            <a:spAutoFit/>
          </a:bodyPr>
          <a:lstStyle/>
          <a:p>
            <a:pPr marL="12700">
              <a:lnSpc>
                <a:spcPts val="1240"/>
              </a:lnSpc>
            </a:pPr>
            <a:r>
              <a:rPr sz="1000" dirty="0">
                <a:latin typeface="Arial MT"/>
                <a:cs typeface="Arial MT"/>
              </a:rPr>
              <a:t>Sensor</a:t>
            </a:r>
            <a:r>
              <a:rPr sz="1000" spc="-20" dirty="0">
                <a:latin typeface="Arial MT"/>
                <a:cs typeface="Arial MT"/>
              </a:rPr>
              <a:t> </a:t>
            </a:r>
            <a:r>
              <a:rPr sz="1000" dirty="0">
                <a:latin typeface="Arial MT"/>
                <a:cs typeface="Arial MT"/>
              </a:rPr>
              <a:t>position</a:t>
            </a:r>
            <a:r>
              <a:rPr sz="1000" spc="-15" dirty="0">
                <a:latin typeface="Arial MT"/>
                <a:cs typeface="Arial MT"/>
              </a:rPr>
              <a:t> </a:t>
            </a:r>
            <a:r>
              <a:rPr sz="1000" dirty="0">
                <a:latin typeface="Arial MT"/>
                <a:cs typeface="Arial MT"/>
              </a:rPr>
              <a:t>X</a:t>
            </a:r>
            <a:r>
              <a:rPr sz="1575" baseline="-7936" dirty="0">
                <a:latin typeface="Symbol"/>
                <a:cs typeface="Symbol"/>
              </a:rPr>
              <a:t></a:t>
            </a:r>
            <a:r>
              <a:rPr sz="1575" spc="89" baseline="-7936" dirty="0">
                <a:latin typeface="Times New Roman"/>
                <a:cs typeface="Times New Roman"/>
              </a:rPr>
              <a:t> </a:t>
            </a:r>
            <a:r>
              <a:rPr sz="1000" spc="-10" dirty="0">
                <a:latin typeface="Arial MT"/>
                <a:cs typeface="Arial MT"/>
              </a:rPr>
              <a:t>(pixels)</a:t>
            </a:r>
            <a:endParaRPr sz="1000">
              <a:latin typeface="Arial MT"/>
              <a:cs typeface="Arial MT"/>
            </a:endParaRPr>
          </a:p>
        </p:txBody>
      </p:sp>
      <p:pic>
        <p:nvPicPr>
          <p:cNvPr id="50" name="object 50"/>
          <p:cNvPicPr/>
          <p:nvPr/>
        </p:nvPicPr>
        <p:blipFill>
          <a:blip r:embed="rId3" cstate="print"/>
          <a:stretch>
            <a:fillRect/>
          </a:stretch>
        </p:blipFill>
        <p:spPr>
          <a:xfrm>
            <a:off x="2269877" y="2772722"/>
            <a:ext cx="4134328" cy="3350534"/>
          </a:xfrm>
          <a:prstGeom prst="rect">
            <a:avLst/>
          </a:prstGeom>
        </p:spPr>
      </p:pic>
      <p:sp>
        <p:nvSpPr>
          <p:cNvPr id="51" name="object 51"/>
          <p:cNvSpPr txBox="1"/>
          <p:nvPr/>
        </p:nvSpPr>
        <p:spPr>
          <a:xfrm>
            <a:off x="6635368" y="4082797"/>
            <a:ext cx="1931035" cy="1397635"/>
          </a:xfrm>
          <a:prstGeom prst="rect">
            <a:avLst/>
          </a:prstGeom>
        </p:spPr>
        <p:txBody>
          <a:bodyPr vert="horz" wrap="square" lIns="0" tIns="12700" rIns="0" bIns="0" rtlCol="0">
            <a:spAutoFit/>
          </a:bodyPr>
          <a:lstStyle/>
          <a:p>
            <a:pPr marL="12065" marR="5080" indent="-635" algn="ctr">
              <a:spcBef>
                <a:spcPts val="100"/>
              </a:spcBef>
            </a:pPr>
            <a:r>
              <a:rPr b="1" dirty="0">
                <a:solidFill>
                  <a:srgbClr val="00AF50"/>
                </a:solidFill>
                <a:latin typeface="Arial"/>
                <a:cs typeface="Arial"/>
              </a:rPr>
              <a:t>*Collected</a:t>
            </a:r>
            <a:r>
              <a:rPr b="1" spc="-35" dirty="0">
                <a:solidFill>
                  <a:srgbClr val="00AF50"/>
                </a:solidFill>
                <a:latin typeface="Arial"/>
                <a:cs typeface="Arial"/>
              </a:rPr>
              <a:t> </a:t>
            </a:r>
            <a:r>
              <a:rPr b="1" spc="-10" dirty="0">
                <a:solidFill>
                  <a:srgbClr val="00AF50"/>
                </a:solidFill>
                <a:latin typeface="Arial"/>
                <a:cs typeface="Arial"/>
              </a:rPr>
              <a:t>angles </a:t>
            </a:r>
            <a:r>
              <a:rPr b="1" dirty="0">
                <a:solidFill>
                  <a:srgbClr val="00AF50"/>
                </a:solidFill>
                <a:latin typeface="Arial"/>
                <a:cs typeface="Arial"/>
              </a:rPr>
              <a:t>are</a:t>
            </a:r>
            <a:r>
              <a:rPr b="1" spc="-15" dirty="0">
                <a:solidFill>
                  <a:srgbClr val="00AF50"/>
                </a:solidFill>
                <a:latin typeface="Arial"/>
                <a:cs typeface="Arial"/>
              </a:rPr>
              <a:t> </a:t>
            </a:r>
            <a:r>
              <a:rPr b="1" dirty="0">
                <a:solidFill>
                  <a:srgbClr val="00AF50"/>
                </a:solidFill>
                <a:latin typeface="Arial"/>
                <a:cs typeface="Arial"/>
              </a:rPr>
              <a:t>more</a:t>
            </a:r>
            <a:r>
              <a:rPr b="1" spc="-15" dirty="0">
                <a:solidFill>
                  <a:srgbClr val="00AF50"/>
                </a:solidFill>
                <a:latin typeface="Arial"/>
                <a:cs typeface="Arial"/>
              </a:rPr>
              <a:t> </a:t>
            </a:r>
            <a:r>
              <a:rPr b="1" spc="-10" dirty="0">
                <a:solidFill>
                  <a:srgbClr val="00AF50"/>
                </a:solidFill>
                <a:latin typeface="Arial"/>
                <a:cs typeface="Arial"/>
              </a:rPr>
              <a:t>discrete </a:t>
            </a:r>
            <a:r>
              <a:rPr b="1" dirty="0">
                <a:solidFill>
                  <a:srgbClr val="00AF50"/>
                </a:solidFill>
                <a:latin typeface="Arial"/>
                <a:cs typeface="Arial"/>
              </a:rPr>
              <a:t>(fewer</a:t>
            </a:r>
            <a:r>
              <a:rPr b="1" spc="-15" dirty="0">
                <a:solidFill>
                  <a:srgbClr val="00AF50"/>
                </a:solidFill>
                <a:latin typeface="Arial"/>
                <a:cs typeface="Arial"/>
              </a:rPr>
              <a:t> </a:t>
            </a:r>
            <a:r>
              <a:rPr b="1" spc="-10" dirty="0">
                <a:solidFill>
                  <a:srgbClr val="00AF50"/>
                </a:solidFill>
                <a:latin typeface="Arial"/>
                <a:cs typeface="Arial"/>
              </a:rPr>
              <a:t>angular </a:t>
            </a:r>
            <a:r>
              <a:rPr b="1" dirty="0">
                <a:solidFill>
                  <a:srgbClr val="00AF50"/>
                </a:solidFill>
                <a:latin typeface="Arial"/>
                <a:cs typeface="Arial"/>
              </a:rPr>
              <a:t>views,</a:t>
            </a:r>
            <a:r>
              <a:rPr b="1" spc="-20" dirty="0">
                <a:solidFill>
                  <a:srgbClr val="00AF50"/>
                </a:solidFill>
                <a:latin typeface="Arial"/>
                <a:cs typeface="Arial"/>
              </a:rPr>
              <a:t> </a:t>
            </a:r>
            <a:r>
              <a:rPr b="1" spc="-10" dirty="0">
                <a:solidFill>
                  <a:srgbClr val="00AF50"/>
                </a:solidFill>
                <a:latin typeface="Arial"/>
                <a:cs typeface="Arial"/>
              </a:rPr>
              <a:t>lower resolution)*</a:t>
            </a:r>
            <a:endParaRPr>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5"/>
            <a:ext cx="8430139" cy="1004839"/>
          </a:xfrm>
          <a:prstGeom prst="rect">
            <a:avLst/>
          </a:prstGeom>
        </p:spPr>
        <p:txBody>
          <a:bodyPr vert="horz" wrap="square" lIns="0" tIns="324561" rIns="0" bIns="0" rtlCol="0">
            <a:spAutoFit/>
          </a:bodyPr>
          <a:lstStyle/>
          <a:p>
            <a:pPr marL="1092835">
              <a:spcBef>
                <a:spcPts val="105"/>
              </a:spcBef>
            </a:pPr>
            <a:r>
              <a:rPr dirty="0"/>
              <a:t>Example</a:t>
            </a:r>
            <a:r>
              <a:rPr spc="-45" dirty="0"/>
              <a:t> </a:t>
            </a:r>
            <a:r>
              <a:rPr dirty="0"/>
              <a:t>1:</a:t>
            </a:r>
            <a:r>
              <a:rPr spc="-15" dirty="0"/>
              <a:t> </a:t>
            </a:r>
            <a:r>
              <a:rPr dirty="0"/>
              <a:t>Parallel</a:t>
            </a:r>
            <a:r>
              <a:rPr lang="en-US" spc="-45" dirty="0"/>
              <a:t>-B</a:t>
            </a:r>
            <a:r>
              <a:rPr spc="-20" dirty="0"/>
              <a:t>eam</a:t>
            </a:r>
          </a:p>
        </p:txBody>
      </p:sp>
      <p:sp>
        <p:nvSpPr>
          <p:cNvPr id="3" name="object 3"/>
          <p:cNvSpPr txBox="1"/>
          <p:nvPr/>
        </p:nvSpPr>
        <p:spPr>
          <a:xfrm>
            <a:off x="76200" y="1371600"/>
            <a:ext cx="7519670" cy="1320165"/>
          </a:xfrm>
          <a:prstGeom prst="rect">
            <a:avLst/>
          </a:prstGeom>
        </p:spPr>
        <p:txBody>
          <a:bodyPr vert="horz" wrap="square" lIns="0" tIns="12065" rIns="0" bIns="0" rtlCol="0">
            <a:spAutoFit/>
          </a:bodyPr>
          <a:lstStyle/>
          <a:p>
            <a:pPr marL="368300" marR="17780" indent="-342900">
              <a:spcBef>
                <a:spcPts val="95"/>
              </a:spcBef>
              <a:buChar char="•"/>
              <a:tabLst>
                <a:tab pos="368300" algn="l"/>
              </a:tabLst>
            </a:pPr>
            <a:r>
              <a:rPr sz="2800" dirty="0">
                <a:latin typeface="Microsoft Sans Serif"/>
                <a:cs typeface="Microsoft Sans Serif"/>
              </a:rPr>
              <a:t>What</a:t>
            </a:r>
            <a:r>
              <a:rPr sz="2800" spc="-25" dirty="0">
                <a:latin typeface="Microsoft Sans Serif"/>
                <a:cs typeface="Microsoft Sans Serif"/>
              </a:rPr>
              <a:t> </a:t>
            </a:r>
            <a:r>
              <a:rPr sz="2800" dirty="0">
                <a:latin typeface="Microsoft Sans Serif"/>
                <a:cs typeface="Microsoft Sans Serif"/>
              </a:rPr>
              <a:t>happens</a:t>
            </a:r>
            <a:r>
              <a:rPr sz="2800" spc="-10" dirty="0">
                <a:latin typeface="Microsoft Sans Serif"/>
                <a:cs typeface="Microsoft Sans Serif"/>
              </a:rPr>
              <a:t> </a:t>
            </a:r>
            <a:r>
              <a:rPr sz="2800" dirty="0">
                <a:latin typeface="Microsoft Sans Serif"/>
                <a:cs typeface="Microsoft Sans Serif"/>
              </a:rPr>
              <a:t>if</a:t>
            </a:r>
            <a:r>
              <a:rPr sz="2800" spc="-25" dirty="0">
                <a:latin typeface="Microsoft Sans Serif"/>
                <a:cs typeface="Microsoft Sans Serif"/>
              </a:rPr>
              <a:t> </a:t>
            </a:r>
            <a:r>
              <a:rPr sz="2800" dirty="0">
                <a:latin typeface="Microsoft Sans Serif"/>
                <a:cs typeface="Microsoft Sans Serif"/>
              </a:rPr>
              <a:t>you</a:t>
            </a:r>
            <a:r>
              <a:rPr sz="2800" spc="-15" dirty="0">
                <a:latin typeface="Microsoft Sans Serif"/>
                <a:cs typeface="Microsoft Sans Serif"/>
              </a:rPr>
              <a:t> </a:t>
            </a:r>
            <a:r>
              <a:rPr sz="2800" dirty="0">
                <a:latin typeface="Microsoft Sans Serif"/>
                <a:cs typeface="Microsoft Sans Serif"/>
              </a:rPr>
              <a:t>change</a:t>
            </a:r>
            <a:r>
              <a:rPr sz="2800" spc="-25" dirty="0">
                <a:latin typeface="Microsoft Sans Serif"/>
                <a:cs typeface="Microsoft Sans Serif"/>
              </a:rPr>
              <a:t> </a:t>
            </a:r>
            <a:r>
              <a:rPr sz="2800" dirty="0">
                <a:latin typeface="Microsoft Sans Serif"/>
                <a:cs typeface="Microsoft Sans Serif"/>
              </a:rPr>
              <a:t>the</a:t>
            </a:r>
            <a:r>
              <a:rPr sz="2800" spc="-15" dirty="0">
                <a:latin typeface="Microsoft Sans Serif"/>
                <a:cs typeface="Microsoft Sans Serif"/>
              </a:rPr>
              <a:t> </a:t>
            </a:r>
            <a:r>
              <a:rPr sz="2800" dirty="0">
                <a:latin typeface="Microsoft Sans Serif"/>
                <a:cs typeface="Microsoft Sans Serif"/>
              </a:rPr>
              <a:t>max</a:t>
            </a:r>
            <a:r>
              <a:rPr sz="2800" spc="25" dirty="0">
                <a:latin typeface="Microsoft Sans Serif"/>
                <a:cs typeface="Microsoft Sans Serif"/>
              </a:rPr>
              <a:t> </a:t>
            </a:r>
            <a:r>
              <a:rPr sz="2800" dirty="0">
                <a:latin typeface="Microsoft Sans Serif"/>
                <a:cs typeface="Microsoft Sans Serif"/>
              </a:rPr>
              <a:t>θ</a:t>
            </a:r>
            <a:r>
              <a:rPr sz="2800" spc="-15" dirty="0">
                <a:latin typeface="Microsoft Sans Serif"/>
                <a:cs typeface="Microsoft Sans Serif"/>
              </a:rPr>
              <a:t> </a:t>
            </a:r>
            <a:r>
              <a:rPr sz="2800" spc="-10" dirty="0">
                <a:latin typeface="Microsoft Sans Serif"/>
                <a:cs typeface="Microsoft Sans Serif"/>
              </a:rPr>
              <a:t>(</a:t>
            </a:r>
            <a:r>
              <a:rPr sz="2800" b="1" spc="-10" dirty="0">
                <a:latin typeface="Arial"/>
                <a:cs typeface="Arial"/>
              </a:rPr>
              <a:t>Line </a:t>
            </a:r>
            <a:r>
              <a:rPr sz="2800" b="1" dirty="0">
                <a:latin typeface="Arial"/>
                <a:cs typeface="Arial"/>
              </a:rPr>
              <a:t>22</a:t>
            </a:r>
            <a:r>
              <a:rPr sz="2800" dirty="0">
                <a:latin typeface="Microsoft Sans Serif"/>
                <a:cs typeface="Microsoft Sans Serif"/>
              </a:rPr>
              <a:t>)</a:t>
            </a:r>
            <a:r>
              <a:rPr sz="2800" spc="-30" dirty="0">
                <a:latin typeface="Microsoft Sans Serif"/>
                <a:cs typeface="Microsoft Sans Serif"/>
              </a:rPr>
              <a:t> </a:t>
            </a:r>
            <a:r>
              <a:rPr sz="2800" dirty="0">
                <a:latin typeface="Microsoft Sans Serif"/>
                <a:cs typeface="Microsoft Sans Serif"/>
              </a:rPr>
              <a:t>to</a:t>
            </a:r>
            <a:r>
              <a:rPr sz="2800" spc="-25" dirty="0">
                <a:latin typeface="Microsoft Sans Serif"/>
                <a:cs typeface="Microsoft Sans Serif"/>
              </a:rPr>
              <a:t> </a:t>
            </a:r>
            <a:r>
              <a:rPr sz="2800" dirty="0">
                <a:latin typeface="Microsoft Sans Serif"/>
                <a:cs typeface="Microsoft Sans Serif"/>
              </a:rPr>
              <a:t>45?</a:t>
            </a:r>
            <a:r>
              <a:rPr sz="2800" spc="-10" dirty="0">
                <a:latin typeface="Microsoft Sans Serif"/>
                <a:cs typeface="Microsoft Sans Serif"/>
              </a:rPr>
              <a:t> </a:t>
            </a:r>
            <a:r>
              <a:rPr sz="2800" dirty="0">
                <a:latin typeface="Microsoft Sans Serif"/>
                <a:cs typeface="Microsoft Sans Serif"/>
              </a:rPr>
              <a:t>What</a:t>
            </a:r>
            <a:r>
              <a:rPr sz="2800" spc="-35" dirty="0">
                <a:latin typeface="Microsoft Sans Serif"/>
                <a:cs typeface="Microsoft Sans Serif"/>
              </a:rPr>
              <a:t> </a:t>
            </a:r>
            <a:r>
              <a:rPr sz="2800" dirty="0">
                <a:latin typeface="Microsoft Sans Serif"/>
                <a:cs typeface="Microsoft Sans Serif"/>
              </a:rPr>
              <a:t>is</a:t>
            </a:r>
            <a:r>
              <a:rPr sz="2800" spc="-25" dirty="0">
                <a:latin typeface="Microsoft Sans Serif"/>
                <a:cs typeface="Microsoft Sans Serif"/>
              </a:rPr>
              <a:t> </a:t>
            </a:r>
            <a:r>
              <a:rPr sz="2800" dirty="0">
                <a:latin typeface="Microsoft Sans Serif"/>
                <a:cs typeface="Microsoft Sans Serif"/>
              </a:rPr>
              <a:t>happening </a:t>
            </a:r>
            <a:r>
              <a:rPr sz="2800" spc="-10" dirty="0">
                <a:latin typeface="Microsoft Sans Serif"/>
                <a:cs typeface="Microsoft Sans Serif"/>
              </a:rPr>
              <a:t>here?</a:t>
            </a:r>
            <a:endParaRPr sz="2800" dirty="0">
              <a:latin typeface="Microsoft Sans Serif"/>
              <a:cs typeface="Microsoft Sans Serif"/>
            </a:endParaRPr>
          </a:p>
          <a:p>
            <a:pPr marL="751840" algn="ctr">
              <a:spcBef>
                <a:spcPts val="2220"/>
              </a:spcBef>
            </a:pPr>
            <a:r>
              <a:rPr sz="950" dirty="0">
                <a:latin typeface="Arial MT"/>
                <a:cs typeface="Arial MT"/>
              </a:rPr>
              <a:t>R</a:t>
            </a:r>
            <a:r>
              <a:rPr sz="1200" baseline="-31250" dirty="0">
                <a:latin typeface="Symbol"/>
                <a:cs typeface="Symbol"/>
              </a:rPr>
              <a:t></a:t>
            </a:r>
            <a:r>
              <a:rPr sz="1200" spc="172" baseline="-31250" dirty="0">
                <a:latin typeface="Times New Roman"/>
                <a:cs typeface="Times New Roman"/>
              </a:rPr>
              <a:t> </a:t>
            </a:r>
            <a:r>
              <a:rPr sz="950" spc="-20" dirty="0">
                <a:latin typeface="Arial MT"/>
                <a:cs typeface="Arial MT"/>
              </a:rPr>
              <a:t>(X</a:t>
            </a:r>
            <a:r>
              <a:rPr sz="1050" spc="-20" dirty="0">
                <a:latin typeface="Symbol"/>
                <a:cs typeface="Symbol"/>
              </a:rPr>
              <a:t></a:t>
            </a:r>
            <a:r>
              <a:rPr sz="950" spc="-20" dirty="0">
                <a:latin typeface="Arial MT"/>
                <a:cs typeface="Arial MT"/>
              </a:rPr>
              <a:t>)</a:t>
            </a:r>
            <a:endParaRPr sz="950" dirty="0">
              <a:latin typeface="Arial MT"/>
              <a:cs typeface="Arial MT"/>
            </a:endParaRPr>
          </a:p>
        </p:txBody>
      </p:sp>
      <p:grpSp>
        <p:nvGrpSpPr>
          <p:cNvPr id="4" name="object 4"/>
          <p:cNvGrpSpPr/>
          <p:nvPr/>
        </p:nvGrpSpPr>
        <p:grpSpPr>
          <a:xfrm>
            <a:off x="2152275" y="2794116"/>
            <a:ext cx="4154170" cy="3268345"/>
            <a:chOff x="2599315" y="3046845"/>
            <a:chExt cx="4154170" cy="3268345"/>
          </a:xfrm>
        </p:grpSpPr>
        <p:pic>
          <p:nvPicPr>
            <p:cNvPr id="5" name="object 5"/>
            <p:cNvPicPr/>
            <p:nvPr/>
          </p:nvPicPr>
          <p:blipFill>
            <a:blip r:embed="rId3" cstate="print"/>
            <a:stretch>
              <a:fillRect/>
            </a:stretch>
          </p:blipFill>
          <p:spPr>
            <a:xfrm>
              <a:off x="2600268" y="3047870"/>
              <a:ext cx="4133624" cy="3257463"/>
            </a:xfrm>
            <a:prstGeom prst="rect">
              <a:avLst/>
            </a:prstGeom>
          </p:spPr>
        </p:pic>
        <p:sp>
          <p:nvSpPr>
            <p:cNvPr id="6" name="object 6"/>
            <p:cNvSpPr/>
            <p:nvPr/>
          </p:nvSpPr>
          <p:spPr>
            <a:xfrm>
              <a:off x="2600268" y="6305333"/>
              <a:ext cx="4133850" cy="0"/>
            </a:xfrm>
            <a:custGeom>
              <a:avLst/>
              <a:gdLst/>
              <a:ahLst/>
              <a:cxnLst/>
              <a:rect l="l" t="t" r="r" b="b"/>
              <a:pathLst>
                <a:path w="4133850">
                  <a:moveTo>
                    <a:pt x="0" y="0"/>
                  </a:moveTo>
                  <a:lnTo>
                    <a:pt x="4133539" y="0"/>
                  </a:lnTo>
                </a:path>
              </a:pathLst>
            </a:custGeom>
            <a:ln w="3175">
              <a:solidFill>
                <a:srgbClr val="000000"/>
              </a:solidFill>
            </a:ln>
          </p:spPr>
          <p:txBody>
            <a:bodyPr wrap="square" lIns="0" tIns="0" rIns="0" bIns="0" rtlCol="0"/>
            <a:lstStyle/>
            <a:p>
              <a:endParaRPr/>
            </a:p>
          </p:txBody>
        </p:sp>
        <p:sp>
          <p:nvSpPr>
            <p:cNvPr id="7" name="object 7"/>
            <p:cNvSpPr/>
            <p:nvPr/>
          </p:nvSpPr>
          <p:spPr>
            <a:xfrm>
              <a:off x="6738537" y="631008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8" name="object 8"/>
            <p:cNvSpPr/>
            <p:nvPr/>
          </p:nvSpPr>
          <p:spPr>
            <a:xfrm>
              <a:off x="2600268" y="3047797"/>
              <a:ext cx="4133850" cy="0"/>
            </a:xfrm>
            <a:custGeom>
              <a:avLst/>
              <a:gdLst/>
              <a:ahLst/>
              <a:cxnLst/>
              <a:rect l="l" t="t" r="r" b="b"/>
              <a:pathLst>
                <a:path w="4133850">
                  <a:moveTo>
                    <a:pt x="0" y="0"/>
                  </a:moveTo>
                  <a:lnTo>
                    <a:pt x="4133539" y="0"/>
                  </a:lnTo>
                </a:path>
              </a:pathLst>
            </a:custGeom>
            <a:ln w="3175">
              <a:solidFill>
                <a:srgbClr val="000000"/>
              </a:solidFill>
            </a:ln>
          </p:spPr>
          <p:txBody>
            <a:bodyPr wrap="square" lIns="0" tIns="0" rIns="0" bIns="0" rtlCol="0"/>
            <a:lstStyle/>
            <a:p>
              <a:endParaRPr/>
            </a:p>
          </p:txBody>
        </p:sp>
        <p:sp>
          <p:nvSpPr>
            <p:cNvPr id="9" name="object 9"/>
            <p:cNvSpPr/>
            <p:nvPr/>
          </p:nvSpPr>
          <p:spPr>
            <a:xfrm>
              <a:off x="6738537" y="305264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10" name="object 10"/>
            <p:cNvSpPr/>
            <p:nvPr/>
          </p:nvSpPr>
          <p:spPr>
            <a:xfrm>
              <a:off x="6733807" y="3047797"/>
              <a:ext cx="0" cy="3257550"/>
            </a:xfrm>
            <a:custGeom>
              <a:avLst/>
              <a:gdLst/>
              <a:ahLst/>
              <a:cxnLst/>
              <a:rect l="l" t="t" r="r" b="b"/>
              <a:pathLst>
                <a:path h="3257550">
                  <a:moveTo>
                    <a:pt x="0" y="0"/>
                  </a:moveTo>
                  <a:lnTo>
                    <a:pt x="0" y="3257536"/>
                  </a:lnTo>
                </a:path>
              </a:pathLst>
            </a:custGeom>
            <a:ln w="3175">
              <a:solidFill>
                <a:srgbClr val="000000"/>
              </a:solidFill>
            </a:ln>
          </p:spPr>
          <p:txBody>
            <a:bodyPr wrap="square" lIns="0" tIns="0" rIns="0" bIns="0" rtlCol="0"/>
            <a:lstStyle/>
            <a:p>
              <a:endParaRPr/>
            </a:p>
          </p:txBody>
        </p:sp>
        <p:sp>
          <p:nvSpPr>
            <p:cNvPr id="11" name="object 11"/>
            <p:cNvSpPr/>
            <p:nvPr/>
          </p:nvSpPr>
          <p:spPr>
            <a:xfrm>
              <a:off x="6738537" y="631008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12" name="object 12"/>
            <p:cNvSpPr/>
            <p:nvPr/>
          </p:nvSpPr>
          <p:spPr>
            <a:xfrm>
              <a:off x="2600268" y="3047797"/>
              <a:ext cx="0" cy="3257550"/>
            </a:xfrm>
            <a:custGeom>
              <a:avLst/>
              <a:gdLst/>
              <a:ahLst/>
              <a:cxnLst/>
              <a:rect l="l" t="t" r="r" b="b"/>
              <a:pathLst>
                <a:path h="3257550">
                  <a:moveTo>
                    <a:pt x="0" y="0"/>
                  </a:moveTo>
                  <a:lnTo>
                    <a:pt x="0" y="3257536"/>
                  </a:lnTo>
                </a:path>
              </a:pathLst>
            </a:custGeom>
            <a:ln w="3175">
              <a:solidFill>
                <a:srgbClr val="000000"/>
              </a:solidFill>
            </a:ln>
          </p:spPr>
          <p:txBody>
            <a:bodyPr wrap="square" lIns="0" tIns="0" rIns="0" bIns="0" rtlCol="0"/>
            <a:lstStyle/>
            <a:p>
              <a:endParaRPr/>
            </a:p>
          </p:txBody>
        </p:sp>
        <p:sp>
          <p:nvSpPr>
            <p:cNvPr id="13" name="object 13"/>
            <p:cNvSpPr/>
            <p:nvPr/>
          </p:nvSpPr>
          <p:spPr>
            <a:xfrm>
              <a:off x="2605022" y="6310080"/>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14" name="object 14"/>
            <p:cNvSpPr/>
            <p:nvPr/>
          </p:nvSpPr>
          <p:spPr>
            <a:xfrm>
              <a:off x="2600268" y="6305333"/>
              <a:ext cx="4133850" cy="0"/>
            </a:xfrm>
            <a:custGeom>
              <a:avLst/>
              <a:gdLst/>
              <a:ahLst/>
              <a:cxnLst/>
              <a:rect l="l" t="t" r="r" b="b"/>
              <a:pathLst>
                <a:path w="4133850">
                  <a:moveTo>
                    <a:pt x="0" y="0"/>
                  </a:moveTo>
                  <a:lnTo>
                    <a:pt x="4133539" y="0"/>
                  </a:lnTo>
                </a:path>
              </a:pathLst>
            </a:custGeom>
            <a:ln w="3175">
              <a:solidFill>
                <a:srgbClr val="000000"/>
              </a:solidFill>
            </a:ln>
          </p:spPr>
          <p:txBody>
            <a:bodyPr wrap="square" lIns="0" tIns="0" rIns="0" bIns="0" rtlCol="0"/>
            <a:lstStyle/>
            <a:p>
              <a:endParaRPr/>
            </a:p>
          </p:txBody>
        </p:sp>
        <p:sp>
          <p:nvSpPr>
            <p:cNvPr id="15" name="object 15"/>
            <p:cNvSpPr/>
            <p:nvPr/>
          </p:nvSpPr>
          <p:spPr>
            <a:xfrm>
              <a:off x="6738537" y="631008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16" name="object 16"/>
            <p:cNvSpPr/>
            <p:nvPr/>
          </p:nvSpPr>
          <p:spPr>
            <a:xfrm>
              <a:off x="2600268" y="3047797"/>
              <a:ext cx="0" cy="3257550"/>
            </a:xfrm>
            <a:custGeom>
              <a:avLst/>
              <a:gdLst/>
              <a:ahLst/>
              <a:cxnLst/>
              <a:rect l="l" t="t" r="r" b="b"/>
              <a:pathLst>
                <a:path h="3257550">
                  <a:moveTo>
                    <a:pt x="0" y="0"/>
                  </a:moveTo>
                  <a:lnTo>
                    <a:pt x="0" y="3257536"/>
                  </a:lnTo>
                </a:path>
              </a:pathLst>
            </a:custGeom>
            <a:ln w="3175">
              <a:solidFill>
                <a:srgbClr val="000000"/>
              </a:solidFill>
            </a:ln>
          </p:spPr>
          <p:txBody>
            <a:bodyPr wrap="square" lIns="0" tIns="0" rIns="0" bIns="0" rtlCol="0"/>
            <a:lstStyle/>
            <a:p>
              <a:endParaRPr/>
            </a:p>
          </p:txBody>
        </p:sp>
        <p:sp>
          <p:nvSpPr>
            <p:cNvPr id="17" name="object 17"/>
            <p:cNvSpPr/>
            <p:nvPr/>
          </p:nvSpPr>
          <p:spPr>
            <a:xfrm>
              <a:off x="2605022" y="6310080"/>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18" name="object 18"/>
            <p:cNvSpPr/>
            <p:nvPr/>
          </p:nvSpPr>
          <p:spPr>
            <a:xfrm>
              <a:off x="2990684"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19" name="object 19"/>
            <p:cNvSpPr/>
            <p:nvPr/>
          </p:nvSpPr>
          <p:spPr>
            <a:xfrm>
              <a:off x="2995438" y="6262567"/>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20" name="object 20"/>
            <p:cNvSpPr/>
            <p:nvPr/>
          </p:nvSpPr>
          <p:spPr>
            <a:xfrm>
              <a:off x="2990684"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21" name="object 21"/>
            <p:cNvSpPr/>
            <p:nvPr/>
          </p:nvSpPr>
          <p:spPr>
            <a:xfrm>
              <a:off x="2995438" y="3090902"/>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22" name="object 22"/>
            <p:cNvSpPr/>
            <p:nvPr/>
          </p:nvSpPr>
          <p:spPr>
            <a:xfrm>
              <a:off x="3428897"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23" name="object 23"/>
            <p:cNvSpPr/>
            <p:nvPr/>
          </p:nvSpPr>
          <p:spPr>
            <a:xfrm>
              <a:off x="3433748" y="6262567"/>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24" name="object 24"/>
            <p:cNvSpPr/>
            <p:nvPr/>
          </p:nvSpPr>
          <p:spPr>
            <a:xfrm>
              <a:off x="3428897"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25" name="object 25"/>
            <p:cNvSpPr/>
            <p:nvPr/>
          </p:nvSpPr>
          <p:spPr>
            <a:xfrm>
              <a:off x="3433748" y="3090902"/>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26" name="object 26"/>
            <p:cNvSpPr/>
            <p:nvPr/>
          </p:nvSpPr>
          <p:spPr>
            <a:xfrm>
              <a:off x="3867207"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27" name="object 27"/>
            <p:cNvSpPr/>
            <p:nvPr/>
          </p:nvSpPr>
          <p:spPr>
            <a:xfrm>
              <a:off x="3871937" y="6262567"/>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28" name="object 28"/>
            <p:cNvSpPr/>
            <p:nvPr/>
          </p:nvSpPr>
          <p:spPr>
            <a:xfrm>
              <a:off x="3867207"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29" name="object 29"/>
            <p:cNvSpPr/>
            <p:nvPr/>
          </p:nvSpPr>
          <p:spPr>
            <a:xfrm>
              <a:off x="3871937" y="3090902"/>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grpSp>
      <p:sp>
        <p:nvSpPr>
          <p:cNvPr id="30" name="object 30"/>
          <p:cNvSpPr txBox="1"/>
          <p:nvPr/>
        </p:nvSpPr>
        <p:spPr>
          <a:xfrm>
            <a:off x="1682533" y="3705413"/>
            <a:ext cx="153888" cy="1464945"/>
          </a:xfrm>
          <a:prstGeom prst="rect">
            <a:avLst/>
          </a:prstGeom>
        </p:spPr>
        <p:txBody>
          <a:bodyPr vert="vert270" wrap="square" lIns="0" tIns="0" rIns="0" bIns="0" rtlCol="0">
            <a:spAutoFit/>
          </a:bodyPr>
          <a:lstStyle/>
          <a:p>
            <a:pPr marL="12700">
              <a:lnSpc>
                <a:spcPts val="1215"/>
              </a:lnSpc>
            </a:pPr>
            <a:r>
              <a:rPr sz="950" dirty="0">
                <a:latin typeface="Arial MT"/>
                <a:cs typeface="Arial MT"/>
              </a:rPr>
              <a:t>Sensor</a:t>
            </a:r>
            <a:r>
              <a:rPr sz="950" spc="25" dirty="0">
                <a:latin typeface="Arial MT"/>
                <a:cs typeface="Arial MT"/>
              </a:rPr>
              <a:t> </a:t>
            </a:r>
            <a:r>
              <a:rPr sz="950" dirty="0">
                <a:latin typeface="Arial MT"/>
                <a:cs typeface="Arial MT"/>
              </a:rPr>
              <a:t>position</a:t>
            </a:r>
            <a:r>
              <a:rPr sz="950" spc="35" dirty="0">
                <a:latin typeface="Arial MT"/>
                <a:cs typeface="Arial MT"/>
              </a:rPr>
              <a:t> </a:t>
            </a:r>
            <a:r>
              <a:rPr sz="950" dirty="0">
                <a:latin typeface="Arial MT"/>
                <a:cs typeface="Arial MT"/>
              </a:rPr>
              <a:t>X</a:t>
            </a:r>
            <a:r>
              <a:rPr sz="1575" baseline="-7936" dirty="0">
                <a:latin typeface="Symbol"/>
                <a:cs typeface="Symbol"/>
              </a:rPr>
              <a:t></a:t>
            </a:r>
            <a:r>
              <a:rPr sz="1575" spc="150" baseline="-7936" dirty="0">
                <a:latin typeface="Times New Roman"/>
                <a:cs typeface="Times New Roman"/>
              </a:rPr>
              <a:t> </a:t>
            </a:r>
            <a:r>
              <a:rPr sz="950" spc="-10" dirty="0">
                <a:latin typeface="Arial MT"/>
                <a:cs typeface="Arial MT"/>
              </a:rPr>
              <a:t>(pixels)</a:t>
            </a:r>
            <a:endParaRPr sz="950">
              <a:latin typeface="Arial MT"/>
              <a:cs typeface="Arial MT"/>
            </a:endParaRPr>
          </a:p>
        </p:txBody>
      </p:sp>
      <p:sp>
        <p:nvSpPr>
          <p:cNvPr id="31" name="object 31"/>
          <p:cNvSpPr txBox="1"/>
          <p:nvPr/>
        </p:nvSpPr>
        <p:spPr>
          <a:xfrm>
            <a:off x="2502420" y="6068540"/>
            <a:ext cx="94615" cy="161583"/>
          </a:xfrm>
          <a:prstGeom prst="rect">
            <a:avLst/>
          </a:prstGeom>
        </p:spPr>
        <p:txBody>
          <a:bodyPr vert="horz" wrap="square" lIns="0" tIns="15240" rIns="0" bIns="0" rtlCol="0">
            <a:spAutoFit/>
          </a:bodyPr>
          <a:lstStyle/>
          <a:p>
            <a:pPr marL="12700">
              <a:spcBef>
                <a:spcPts val="120"/>
              </a:spcBef>
            </a:pPr>
            <a:r>
              <a:rPr sz="950" spc="-50" dirty="0">
                <a:latin typeface="Arial MT"/>
                <a:cs typeface="Arial MT"/>
              </a:rPr>
              <a:t>5</a:t>
            </a:r>
            <a:endParaRPr sz="950">
              <a:latin typeface="Arial MT"/>
              <a:cs typeface="Arial MT"/>
            </a:endParaRPr>
          </a:p>
        </p:txBody>
      </p:sp>
      <p:sp>
        <p:nvSpPr>
          <p:cNvPr id="32" name="object 32"/>
          <p:cNvSpPr txBox="1"/>
          <p:nvPr/>
        </p:nvSpPr>
        <p:spPr>
          <a:xfrm>
            <a:off x="2902695" y="6068540"/>
            <a:ext cx="158750"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10</a:t>
            </a:r>
            <a:endParaRPr sz="950">
              <a:latin typeface="Arial MT"/>
              <a:cs typeface="Arial MT"/>
            </a:endParaRPr>
          </a:p>
        </p:txBody>
      </p:sp>
      <p:sp>
        <p:nvSpPr>
          <p:cNvPr id="33" name="object 33"/>
          <p:cNvSpPr txBox="1"/>
          <p:nvPr/>
        </p:nvSpPr>
        <p:spPr>
          <a:xfrm>
            <a:off x="3340641" y="6068540"/>
            <a:ext cx="158750"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15</a:t>
            </a:r>
            <a:endParaRPr sz="950">
              <a:latin typeface="Arial MT"/>
              <a:cs typeface="Arial MT"/>
            </a:endParaRPr>
          </a:p>
        </p:txBody>
      </p:sp>
      <p:grpSp>
        <p:nvGrpSpPr>
          <p:cNvPr id="34" name="object 34"/>
          <p:cNvGrpSpPr/>
          <p:nvPr/>
        </p:nvGrpSpPr>
        <p:grpSpPr>
          <a:xfrm>
            <a:off x="3866622" y="2794115"/>
            <a:ext cx="896619" cy="3259454"/>
            <a:chOff x="4313661" y="3046845"/>
            <a:chExt cx="896619" cy="3259454"/>
          </a:xfrm>
        </p:grpSpPr>
        <p:sp>
          <p:nvSpPr>
            <p:cNvPr id="35" name="object 35"/>
            <p:cNvSpPr/>
            <p:nvPr/>
          </p:nvSpPr>
          <p:spPr>
            <a:xfrm>
              <a:off x="4314613"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36" name="object 36"/>
            <p:cNvSpPr/>
            <p:nvPr/>
          </p:nvSpPr>
          <p:spPr>
            <a:xfrm>
              <a:off x="4319464" y="6262567"/>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37" name="object 37"/>
            <p:cNvSpPr/>
            <p:nvPr/>
          </p:nvSpPr>
          <p:spPr>
            <a:xfrm>
              <a:off x="4314613"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38" name="object 38"/>
            <p:cNvSpPr/>
            <p:nvPr/>
          </p:nvSpPr>
          <p:spPr>
            <a:xfrm>
              <a:off x="4319464" y="3090902"/>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39" name="object 39"/>
            <p:cNvSpPr/>
            <p:nvPr/>
          </p:nvSpPr>
          <p:spPr>
            <a:xfrm>
              <a:off x="4752923"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40" name="object 40"/>
            <p:cNvSpPr/>
            <p:nvPr/>
          </p:nvSpPr>
          <p:spPr>
            <a:xfrm>
              <a:off x="4757653" y="6262567"/>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41" name="object 41"/>
            <p:cNvSpPr/>
            <p:nvPr/>
          </p:nvSpPr>
          <p:spPr>
            <a:xfrm>
              <a:off x="4752923"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42" name="object 42"/>
            <p:cNvSpPr/>
            <p:nvPr/>
          </p:nvSpPr>
          <p:spPr>
            <a:xfrm>
              <a:off x="4757653" y="3090902"/>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43" name="object 43"/>
            <p:cNvSpPr/>
            <p:nvPr/>
          </p:nvSpPr>
          <p:spPr>
            <a:xfrm>
              <a:off x="5190869"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44" name="object 44"/>
            <p:cNvSpPr/>
            <p:nvPr/>
          </p:nvSpPr>
          <p:spPr>
            <a:xfrm>
              <a:off x="5195599" y="6262567"/>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45" name="object 45"/>
            <p:cNvSpPr/>
            <p:nvPr/>
          </p:nvSpPr>
          <p:spPr>
            <a:xfrm>
              <a:off x="5190869"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46" name="object 46"/>
            <p:cNvSpPr/>
            <p:nvPr/>
          </p:nvSpPr>
          <p:spPr>
            <a:xfrm>
              <a:off x="5195599" y="3090902"/>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grpSp>
      <p:sp>
        <p:nvSpPr>
          <p:cNvPr id="47" name="object 47"/>
          <p:cNvSpPr txBox="1"/>
          <p:nvPr/>
        </p:nvSpPr>
        <p:spPr>
          <a:xfrm>
            <a:off x="3492971" y="6055814"/>
            <a:ext cx="1437005" cy="360680"/>
          </a:xfrm>
          <a:prstGeom prst="rect">
            <a:avLst/>
          </a:prstGeom>
        </p:spPr>
        <p:txBody>
          <a:bodyPr vert="horz" wrap="square" lIns="0" tIns="28575" rIns="0" bIns="0" rtlCol="0">
            <a:spAutoFit/>
          </a:bodyPr>
          <a:lstStyle/>
          <a:p>
            <a:pPr marL="307975">
              <a:spcBef>
                <a:spcPts val="225"/>
              </a:spcBef>
              <a:tabLst>
                <a:tab pos="745490" algn="l"/>
                <a:tab pos="1183640" algn="l"/>
              </a:tabLst>
            </a:pPr>
            <a:r>
              <a:rPr sz="950" spc="-25" dirty="0">
                <a:latin typeface="Arial MT"/>
                <a:cs typeface="Arial MT"/>
              </a:rPr>
              <a:t>20</a:t>
            </a:r>
            <a:r>
              <a:rPr sz="950" dirty="0">
                <a:latin typeface="Arial MT"/>
                <a:cs typeface="Arial MT"/>
              </a:rPr>
              <a:t>	</a:t>
            </a:r>
            <a:r>
              <a:rPr sz="950" spc="-25" dirty="0">
                <a:latin typeface="Arial MT"/>
                <a:cs typeface="Arial MT"/>
              </a:rPr>
              <a:t>25</a:t>
            </a:r>
            <a:r>
              <a:rPr sz="950" dirty="0">
                <a:latin typeface="Arial MT"/>
                <a:cs typeface="Arial MT"/>
              </a:rPr>
              <a:t>	</a:t>
            </a:r>
            <a:r>
              <a:rPr sz="950" spc="-25" dirty="0">
                <a:latin typeface="Arial MT"/>
                <a:cs typeface="Arial MT"/>
              </a:rPr>
              <a:t>30</a:t>
            </a:r>
            <a:endParaRPr sz="950">
              <a:latin typeface="Arial MT"/>
              <a:cs typeface="Arial MT"/>
            </a:endParaRPr>
          </a:p>
          <a:p>
            <a:pPr marL="12700">
              <a:spcBef>
                <a:spcPts val="110"/>
              </a:spcBef>
            </a:pPr>
            <a:r>
              <a:rPr sz="950" dirty="0">
                <a:latin typeface="Arial MT"/>
                <a:cs typeface="Arial MT"/>
              </a:rPr>
              <a:t>Rotation</a:t>
            </a:r>
            <a:r>
              <a:rPr sz="950" spc="40" dirty="0">
                <a:latin typeface="Arial MT"/>
                <a:cs typeface="Arial MT"/>
              </a:rPr>
              <a:t> </a:t>
            </a:r>
            <a:r>
              <a:rPr sz="950" dirty="0">
                <a:latin typeface="Arial MT"/>
                <a:cs typeface="Arial MT"/>
              </a:rPr>
              <a:t>angle</a:t>
            </a:r>
            <a:r>
              <a:rPr sz="1050" dirty="0">
                <a:latin typeface="Symbol"/>
                <a:cs typeface="Symbol"/>
              </a:rPr>
              <a:t></a:t>
            </a:r>
            <a:r>
              <a:rPr sz="1050" spc="40" dirty="0">
                <a:latin typeface="Times New Roman"/>
                <a:cs typeface="Times New Roman"/>
              </a:rPr>
              <a:t> </a:t>
            </a:r>
            <a:r>
              <a:rPr sz="950" spc="-10" dirty="0">
                <a:latin typeface="Arial MT"/>
                <a:cs typeface="Arial MT"/>
              </a:rPr>
              <a:t>(degrees)</a:t>
            </a:r>
            <a:endParaRPr sz="950">
              <a:latin typeface="Arial MT"/>
              <a:cs typeface="Arial MT"/>
            </a:endParaRPr>
          </a:p>
        </p:txBody>
      </p:sp>
      <p:grpSp>
        <p:nvGrpSpPr>
          <p:cNvPr id="48" name="object 48"/>
          <p:cNvGrpSpPr/>
          <p:nvPr/>
        </p:nvGrpSpPr>
        <p:grpSpPr>
          <a:xfrm>
            <a:off x="2152379" y="2794221"/>
            <a:ext cx="4149090" cy="3268345"/>
            <a:chOff x="2599419" y="3046950"/>
            <a:chExt cx="4149090" cy="3268345"/>
          </a:xfrm>
        </p:grpSpPr>
        <p:sp>
          <p:nvSpPr>
            <p:cNvPr id="49" name="object 49"/>
            <p:cNvSpPr/>
            <p:nvPr/>
          </p:nvSpPr>
          <p:spPr>
            <a:xfrm>
              <a:off x="5629179"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50" name="object 50"/>
            <p:cNvSpPr/>
            <p:nvPr/>
          </p:nvSpPr>
          <p:spPr>
            <a:xfrm>
              <a:off x="5633909" y="6262568"/>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51" name="object 51"/>
            <p:cNvSpPr/>
            <p:nvPr/>
          </p:nvSpPr>
          <p:spPr>
            <a:xfrm>
              <a:off x="5629179"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52" name="object 52"/>
            <p:cNvSpPr/>
            <p:nvPr/>
          </p:nvSpPr>
          <p:spPr>
            <a:xfrm>
              <a:off x="5633909" y="3090902"/>
              <a:ext cx="9525" cy="0"/>
            </a:xfrm>
            <a:custGeom>
              <a:avLst/>
              <a:gdLst/>
              <a:ahLst/>
              <a:cxnLst/>
              <a:rect l="l" t="t" r="r" b="b"/>
              <a:pathLst>
                <a:path w="9525">
                  <a:moveTo>
                    <a:pt x="0" y="0"/>
                  </a:moveTo>
                  <a:lnTo>
                    <a:pt x="9459" y="0"/>
                  </a:lnTo>
                </a:path>
              </a:pathLst>
            </a:custGeom>
            <a:ln w="9502">
              <a:solidFill>
                <a:srgbClr val="000000"/>
              </a:solidFill>
            </a:ln>
          </p:spPr>
          <p:txBody>
            <a:bodyPr wrap="square" lIns="0" tIns="0" rIns="0" bIns="0" rtlCol="0"/>
            <a:lstStyle/>
            <a:p>
              <a:endParaRPr/>
            </a:p>
          </p:txBody>
        </p:sp>
        <p:sp>
          <p:nvSpPr>
            <p:cNvPr id="53" name="object 53"/>
            <p:cNvSpPr/>
            <p:nvPr/>
          </p:nvSpPr>
          <p:spPr>
            <a:xfrm>
              <a:off x="6067368"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54" name="object 54"/>
            <p:cNvSpPr/>
            <p:nvPr/>
          </p:nvSpPr>
          <p:spPr>
            <a:xfrm>
              <a:off x="6072098" y="6262568"/>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55" name="object 55"/>
            <p:cNvSpPr/>
            <p:nvPr/>
          </p:nvSpPr>
          <p:spPr>
            <a:xfrm>
              <a:off x="6067368"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56" name="object 56"/>
            <p:cNvSpPr/>
            <p:nvPr/>
          </p:nvSpPr>
          <p:spPr>
            <a:xfrm>
              <a:off x="6072098" y="3090902"/>
              <a:ext cx="10160" cy="0"/>
            </a:xfrm>
            <a:custGeom>
              <a:avLst/>
              <a:gdLst/>
              <a:ahLst/>
              <a:cxnLst/>
              <a:rect l="l" t="t" r="r" b="b"/>
              <a:pathLst>
                <a:path w="10160">
                  <a:moveTo>
                    <a:pt x="0" y="0"/>
                  </a:moveTo>
                  <a:lnTo>
                    <a:pt x="9581" y="0"/>
                  </a:lnTo>
                </a:path>
              </a:pathLst>
            </a:custGeom>
            <a:ln w="9502">
              <a:solidFill>
                <a:srgbClr val="000000"/>
              </a:solidFill>
            </a:ln>
          </p:spPr>
          <p:txBody>
            <a:bodyPr wrap="square" lIns="0" tIns="0" rIns="0" bIns="0" rtlCol="0"/>
            <a:lstStyle/>
            <a:p>
              <a:endParaRPr/>
            </a:p>
          </p:txBody>
        </p:sp>
        <p:sp>
          <p:nvSpPr>
            <p:cNvPr id="57" name="object 57"/>
            <p:cNvSpPr/>
            <p:nvPr/>
          </p:nvSpPr>
          <p:spPr>
            <a:xfrm>
              <a:off x="6505314" y="6257821"/>
              <a:ext cx="0" cy="47625"/>
            </a:xfrm>
            <a:custGeom>
              <a:avLst/>
              <a:gdLst/>
              <a:ahLst/>
              <a:cxnLst/>
              <a:rect l="l" t="t" r="r" b="b"/>
              <a:pathLst>
                <a:path h="47625">
                  <a:moveTo>
                    <a:pt x="0" y="47512"/>
                  </a:moveTo>
                  <a:lnTo>
                    <a:pt x="0" y="0"/>
                  </a:lnTo>
                </a:path>
              </a:pathLst>
            </a:custGeom>
            <a:ln w="3175">
              <a:solidFill>
                <a:srgbClr val="000000"/>
              </a:solidFill>
            </a:ln>
          </p:spPr>
          <p:txBody>
            <a:bodyPr wrap="square" lIns="0" tIns="0" rIns="0" bIns="0" rtlCol="0"/>
            <a:lstStyle/>
            <a:p>
              <a:endParaRPr/>
            </a:p>
          </p:txBody>
        </p:sp>
        <p:sp>
          <p:nvSpPr>
            <p:cNvPr id="58" name="object 58"/>
            <p:cNvSpPr/>
            <p:nvPr/>
          </p:nvSpPr>
          <p:spPr>
            <a:xfrm>
              <a:off x="6510044" y="6262568"/>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59" name="object 59"/>
            <p:cNvSpPr/>
            <p:nvPr/>
          </p:nvSpPr>
          <p:spPr>
            <a:xfrm>
              <a:off x="6505314" y="3047797"/>
              <a:ext cx="0" cy="38735"/>
            </a:xfrm>
            <a:custGeom>
              <a:avLst/>
              <a:gdLst/>
              <a:ahLst/>
              <a:cxnLst/>
              <a:rect l="l" t="t" r="r" b="b"/>
              <a:pathLst>
                <a:path h="38735">
                  <a:moveTo>
                    <a:pt x="0" y="0"/>
                  </a:moveTo>
                  <a:lnTo>
                    <a:pt x="0" y="38382"/>
                  </a:lnTo>
                </a:path>
              </a:pathLst>
            </a:custGeom>
            <a:ln w="3175">
              <a:solidFill>
                <a:srgbClr val="000000"/>
              </a:solidFill>
            </a:ln>
          </p:spPr>
          <p:txBody>
            <a:bodyPr wrap="square" lIns="0" tIns="0" rIns="0" bIns="0" rtlCol="0"/>
            <a:lstStyle/>
            <a:p>
              <a:endParaRPr/>
            </a:p>
          </p:txBody>
        </p:sp>
        <p:sp>
          <p:nvSpPr>
            <p:cNvPr id="60" name="object 60"/>
            <p:cNvSpPr/>
            <p:nvPr/>
          </p:nvSpPr>
          <p:spPr>
            <a:xfrm>
              <a:off x="6510044" y="3090902"/>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61" name="object 61"/>
            <p:cNvSpPr/>
            <p:nvPr/>
          </p:nvSpPr>
          <p:spPr>
            <a:xfrm>
              <a:off x="2600268" y="3486113"/>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62" name="object 62"/>
            <p:cNvSpPr/>
            <p:nvPr/>
          </p:nvSpPr>
          <p:spPr>
            <a:xfrm>
              <a:off x="2643056" y="3490836"/>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63" name="object 63"/>
            <p:cNvSpPr/>
            <p:nvPr/>
          </p:nvSpPr>
          <p:spPr>
            <a:xfrm>
              <a:off x="6686266" y="3486113"/>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64" name="object 64"/>
            <p:cNvSpPr/>
            <p:nvPr/>
          </p:nvSpPr>
          <p:spPr>
            <a:xfrm>
              <a:off x="6690996" y="3490836"/>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65" name="object 65"/>
            <p:cNvSpPr/>
            <p:nvPr/>
          </p:nvSpPr>
          <p:spPr>
            <a:xfrm>
              <a:off x="2600268" y="3924187"/>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66" name="object 66"/>
            <p:cNvSpPr/>
            <p:nvPr/>
          </p:nvSpPr>
          <p:spPr>
            <a:xfrm>
              <a:off x="2643056" y="3928910"/>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67" name="object 67"/>
            <p:cNvSpPr/>
            <p:nvPr/>
          </p:nvSpPr>
          <p:spPr>
            <a:xfrm>
              <a:off x="6686266" y="3924187"/>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68" name="object 68"/>
            <p:cNvSpPr/>
            <p:nvPr/>
          </p:nvSpPr>
          <p:spPr>
            <a:xfrm>
              <a:off x="6690996" y="3928910"/>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69" name="object 69"/>
            <p:cNvSpPr/>
            <p:nvPr/>
          </p:nvSpPr>
          <p:spPr>
            <a:xfrm>
              <a:off x="2600268" y="4371948"/>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70" name="object 70"/>
            <p:cNvSpPr/>
            <p:nvPr/>
          </p:nvSpPr>
          <p:spPr>
            <a:xfrm>
              <a:off x="2643056" y="4376670"/>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71" name="object 71"/>
            <p:cNvSpPr/>
            <p:nvPr/>
          </p:nvSpPr>
          <p:spPr>
            <a:xfrm>
              <a:off x="6686266" y="4371948"/>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72" name="object 72"/>
            <p:cNvSpPr/>
            <p:nvPr/>
          </p:nvSpPr>
          <p:spPr>
            <a:xfrm>
              <a:off x="6690996" y="4376670"/>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73" name="object 73"/>
            <p:cNvSpPr/>
            <p:nvPr/>
          </p:nvSpPr>
          <p:spPr>
            <a:xfrm>
              <a:off x="2600268" y="4809901"/>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74" name="object 74"/>
            <p:cNvSpPr/>
            <p:nvPr/>
          </p:nvSpPr>
          <p:spPr>
            <a:xfrm>
              <a:off x="2643056" y="4814623"/>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75" name="object 75"/>
            <p:cNvSpPr/>
            <p:nvPr/>
          </p:nvSpPr>
          <p:spPr>
            <a:xfrm>
              <a:off x="6686266" y="4809901"/>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76" name="object 76"/>
            <p:cNvSpPr/>
            <p:nvPr/>
          </p:nvSpPr>
          <p:spPr>
            <a:xfrm>
              <a:off x="6690996" y="4814623"/>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77" name="object 77"/>
            <p:cNvSpPr/>
            <p:nvPr/>
          </p:nvSpPr>
          <p:spPr>
            <a:xfrm>
              <a:off x="2600268" y="5257661"/>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78" name="object 78"/>
            <p:cNvSpPr/>
            <p:nvPr/>
          </p:nvSpPr>
          <p:spPr>
            <a:xfrm>
              <a:off x="2643056" y="5262505"/>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79" name="object 79"/>
            <p:cNvSpPr/>
            <p:nvPr/>
          </p:nvSpPr>
          <p:spPr>
            <a:xfrm>
              <a:off x="6686266" y="5257661"/>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80" name="object 80"/>
            <p:cNvSpPr/>
            <p:nvPr/>
          </p:nvSpPr>
          <p:spPr>
            <a:xfrm>
              <a:off x="6690996" y="5262505"/>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81" name="object 81"/>
            <p:cNvSpPr/>
            <p:nvPr/>
          </p:nvSpPr>
          <p:spPr>
            <a:xfrm>
              <a:off x="2600268" y="5705506"/>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82" name="object 82"/>
            <p:cNvSpPr/>
            <p:nvPr/>
          </p:nvSpPr>
          <p:spPr>
            <a:xfrm>
              <a:off x="2643056" y="5710253"/>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83" name="object 83"/>
            <p:cNvSpPr/>
            <p:nvPr/>
          </p:nvSpPr>
          <p:spPr>
            <a:xfrm>
              <a:off x="6686266" y="5705506"/>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84" name="object 84"/>
            <p:cNvSpPr/>
            <p:nvPr/>
          </p:nvSpPr>
          <p:spPr>
            <a:xfrm>
              <a:off x="6690996" y="5710253"/>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85" name="object 85"/>
            <p:cNvSpPr/>
            <p:nvPr/>
          </p:nvSpPr>
          <p:spPr>
            <a:xfrm>
              <a:off x="2600268" y="6143496"/>
              <a:ext cx="38100" cy="0"/>
            </a:xfrm>
            <a:custGeom>
              <a:avLst/>
              <a:gdLst/>
              <a:ahLst/>
              <a:cxnLst/>
              <a:rect l="l" t="t" r="r" b="b"/>
              <a:pathLst>
                <a:path w="38100">
                  <a:moveTo>
                    <a:pt x="0" y="0"/>
                  </a:moveTo>
                  <a:lnTo>
                    <a:pt x="38033" y="0"/>
                  </a:lnTo>
                </a:path>
              </a:pathLst>
            </a:custGeom>
            <a:ln w="3175">
              <a:solidFill>
                <a:srgbClr val="000000"/>
              </a:solidFill>
            </a:ln>
          </p:spPr>
          <p:txBody>
            <a:bodyPr wrap="square" lIns="0" tIns="0" rIns="0" bIns="0" rtlCol="0"/>
            <a:lstStyle/>
            <a:p>
              <a:endParaRPr/>
            </a:p>
          </p:txBody>
        </p:sp>
        <p:sp>
          <p:nvSpPr>
            <p:cNvPr id="86" name="object 86"/>
            <p:cNvSpPr/>
            <p:nvPr/>
          </p:nvSpPr>
          <p:spPr>
            <a:xfrm>
              <a:off x="2643056" y="6148254"/>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sp>
          <p:nvSpPr>
            <p:cNvPr id="87" name="object 87"/>
            <p:cNvSpPr/>
            <p:nvPr/>
          </p:nvSpPr>
          <p:spPr>
            <a:xfrm>
              <a:off x="6686266" y="6143496"/>
              <a:ext cx="47625" cy="0"/>
            </a:xfrm>
            <a:custGeom>
              <a:avLst/>
              <a:gdLst/>
              <a:ahLst/>
              <a:cxnLst/>
              <a:rect l="l" t="t" r="r" b="b"/>
              <a:pathLst>
                <a:path w="47625">
                  <a:moveTo>
                    <a:pt x="47542" y="0"/>
                  </a:moveTo>
                  <a:lnTo>
                    <a:pt x="0" y="0"/>
                  </a:lnTo>
                </a:path>
              </a:pathLst>
            </a:custGeom>
            <a:ln w="3175">
              <a:solidFill>
                <a:srgbClr val="000000"/>
              </a:solidFill>
            </a:ln>
          </p:spPr>
          <p:txBody>
            <a:bodyPr wrap="square" lIns="0" tIns="0" rIns="0" bIns="0" rtlCol="0"/>
            <a:lstStyle/>
            <a:p>
              <a:endParaRPr/>
            </a:p>
          </p:txBody>
        </p:sp>
        <p:sp>
          <p:nvSpPr>
            <p:cNvPr id="88" name="object 88"/>
            <p:cNvSpPr/>
            <p:nvPr/>
          </p:nvSpPr>
          <p:spPr>
            <a:xfrm>
              <a:off x="6690996" y="6148254"/>
              <a:ext cx="10160" cy="0"/>
            </a:xfrm>
            <a:custGeom>
              <a:avLst/>
              <a:gdLst/>
              <a:ahLst/>
              <a:cxnLst/>
              <a:rect l="l" t="t" r="r" b="b"/>
              <a:pathLst>
                <a:path w="10159">
                  <a:moveTo>
                    <a:pt x="0" y="0"/>
                  </a:moveTo>
                  <a:lnTo>
                    <a:pt x="9581" y="0"/>
                  </a:lnTo>
                </a:path>
              </a:pathLst>
            </a:custGeom>
            <a:ln w="9502">
              <a:solidFill>
                <a:srgbClr val="000000"/>
              </a:solidFill>
            </a:ln>
          </p:spPr>
          <p:txBody>
            <a:bodyPr wrap="square" lIns="0" tIns="0" rIns="0" bIns="0" rtlCol="0"/>
            <a:lstStyle/>
            <a:p>
              <a:endParaRPr/>
            </a:p>
          </p:txBody>
        </p:sp>
        <p:sp>
          <p:nvSpPr>
            <p:cNvPr id="89" name="object 89"/>
            <p:cNvSpPr/>
            <p:nvPr/>
          </p:nvSpPr>
          <p:spPr>
            <a:xfrm>
              <a:off x="2600268" y="6305334"/>
              <a:ext cx="4133850" cy="0"/>
            </a:xfrm>
            <a:custGeom>
              <a:avLst/>
              <a:gdLst/>
              <a:ahLst/>
              <a:cxnLst/>
              <a:rect l="l" t="t" r="r" b="b"/>
              <a:pathLst>
                <a:path w="4133850">
                  <a:moveTo>
                    <a:pt x="0" y="0"/>
                  </a:moveTo>
                  <a:lnTo>
                    <a:pt x="4133539" y="0"/>
                  </a:lnTo>
                </a:path>
              </a:pathLst>
            </a:custGeom>
            <a:ln w="3175">
              <a:solidFill>
                <a:srgbClr val="000000"/>
              </a:solidFill>
            </a:ln>
          </p:spPr>
          <p:txBody>
            <a:bodyPr wrap="square" lIns="0" tIns="0" rIns="0" bIns="0" rtlCol="0"/>
            <a:lstStyle/>
            <a:p>
              <a:endParaRPr/>
            </a:p>
          </p:txBody>
        </p:sp>
        <p:sp>
          <p:nvSpPr>
            <p:cNvPr id="90" name="object 90"/>
            <p:cNvSpPr/>
            <p:nvPr/>
          </p:nvSpPr>
          <p:spPr>
            <a:xfrm>
              <a:off x="6738538" y="631008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91" name="object 91"/>
            <p:cNvSpPr/>
            <p:nvPr/>
          </p:nvSpPr>
          <p:spPr>
            <a:xfrm>
              <a:off x="2600268" y="3047797"/>
              <a:ext cx="4133850" cy="0"/>
            </a:xfrm>
            <a:custGeom>
              <a:avLst/>
              <a:gdLst/>
              <a:ahLst/>
              <a:cxnLst/>
              <a:rect l="l" t="t" r="r" b="b"/>
              <a:pathLst>
                <a:path w="4133850">
                  <a:moveTo>
                    <a:pt x="0" y="0"/>
                  </a:moveTo>
                  <a:lnTo>
                    <a:pt x="4133539" y="0"/>
                  </a:lnTo>
                </a:path>
              </a:pathLst>
            </a:custGeom>
            <a:ln w="3175">
              <a:solidFill>
                <a:srgbClr val="000000"/>
              </a:solidFill>
            </a:ln>
          </p:spPr>
          <p:txBody>
            <a:bodyPr wrap="square" lIns="0" tIns="0" rIns="0" bIns="0" rtlCol="0"/>
            <a:lstStyle/>
            <a:p>
              <a:endParaRPr/>
            </a:p>
          </p:txBody>
        </p:sp>
        <p:sp>
          <p:nvSpPr>
            <p:cNvPr id="92" name="object 92"/>
            <p:cNvSpPr/>
            <p:nvPr/>
          </p:nvSpPr>
          <p:spPr>
            <a:xfrm>
              <a:off x="6738538" y="3052641"/>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93" name="object 93"/>
            <p:cNvSpPr/>
            <p:nvPr/>
          </p:nvSpPr>
          <p:spPr>
            <a:xfrm>
              <a:off x="6733808" y="3047797"/>
              <a:ext cx="0" cy="3257550"/>
            </a:xfrm>
            <a:custGeom>
              <a:avLst/>
              <a:gdLst/>
              <a:ahLst/>
              <a:cxnLst/>
              <a:rect l="l" t="t" r="r" b="b"/>
              <a:pathLst>
                <a:path h="3257550">
                  <a:moveTo>
                    <a:pt x="0" y="0"/>
                  </a:moveTo>
                  <a:lnTo>
                    <a:pt x="0" y="3257536"/>
                  </a:lnTo>
                </a:path>
              </a:pathLst>
            </a:custGeom>
            <a:ln w="3175">
              <a:solidFill>
                <a:srgbClr val="000000"/>
              </a:solidFill>
            </a:ln>
          </p:spPr>
          <p:txBody>
            <a:bodyPr wrap="square" lIns="0" tIns="0" rIns="0" bIns="0" rtlCol="0"/>
            <a:lstStyle/>
            <a:p>
              <a:endParaRPr/>
            </a:p>
          </p:txBody>
        </p:sp>
        <p:sp>
          <p:nvSpPr>
            <p:cNvPr id="94" name="object 94"/>
            <p:cNvSpPr/>
            <p:nvPr/>
          </p:nvSpPr>
          <p:spPr>
            <a:xfrm>
              <a:off x="6738538" y="6310080"/>
              <a:ext cx="10160" cy="0"/>
            </a:xfrm>
            <a:custGeom>
              <a:avLst/>
              <a:gdLst/>
              <a:ahLst/>
              <a:cxnLst/>
              <a:rect l="l" t="t" r="r" b="b"/>
              <a:pathLst>
                <a:path w="10159">
                  <a:moveTo>
                    <a:pt x="0" y="0"/>
                  </a:moveTo>
                  <a:lnTo>
                    <a:pt x="9823" y="0"/>
                  </a:lnTo>
                </a:path>
              </a:pathLst>
            </a:custGeom>
            <a:ln w="9502">
              <a:solidFill>
                <a:srgbClr val="000000"/>
              </a:solidFill>
            </a:ln>
          </p:spPr>
          <p:txBody>
            <a:bodyPr wrap="square" lIns="0" tIns="0" rIns="0" bIns="0" rtlCol="0"/>
            <a:lstStyle/>
            <a:p>
              <a:endParaRPr/>
            </a:p>
          </p:txBody>
        </p:sp>
        <p:sp>
          <p:nvSpPr>
            <p:cNvPr id="95" name="object 95"/>
            <p:cNvSpPr/>
            <p:nvPr/>
          </p:nvSpPr>
          <p:spPr>
            <a:xfrm>
              <a:off x="2600268" y="3047797"/>
              <a:ext cx="0" cy="3257550"/>
            </a:xfrm>
            <a:custGeom>
              <a:avLst/>
              <a:gdLst/>
              <a:ahLst/>
              <a:cxnLst/>
              <a:rect l="l" t="t" r="r" b="b"/>
              <a:pathLst>
                <a:path h="3257550">
                  <a:moveTo>
                    <a:pt x="0" y="0"/>
                  </a:moveTo>
                  <a:lnTo>
                    <a:pt x="0" y="3257536"/>
                  </a:lnTo>
                </a:path>
              </a:pathLst>
            </a:custGeom>
            <a:ln w="3175">
              <a:solidFill>
                <a:srgbClr val="000000"/>
              </a:solidFill>
            </a:ln>
          </p:spPr>
          <p:txBody>
            <a:bodyPr wrap="square" lIns="0" tIns="0" rIns="0" bIns="0" rtlCol="0"/>
            <a:lstStyle/>
            <a:p>
              <a:endParaRPr/>
            </a:p>
          </p:txBody>
        </p:sp>
        <p:sp>
          <p:nvSpPr>
            <p:cNvPr id="96" name="object 96"/>
            <p:cNvSpPr/>
            <p:nvPr/>
          </p:nvSpPr>
          <p:spPr>
            <a:xfrm>
              <a:off x="2605022" y="6310080"/>
              <a:ext cx="9525" cy="0"/>
            </a:xfrm>
            <a:custGeom>
              <a:avLst/>
              <a:gdLst/>
              <a:ahLst/>
              <a:cxnLst/>
              <a:rect l="l" t="t" r="r" b="b"/>
              <a:pathLst>
                <a:path w="9525">
                  <a:moveTo>
                    <a:pt x="0" y="0"/>
                  </a:moveTo>
                  <a:lnTo>
                    <a:pt x="9508" y="0"/>
                  </a:lnTo>
                </a:path>
              </a:pathLst>
            </a:custGeom>
            <a:ln w="9502">
              <a:solidFill>
                <a:srgbClr val="000000"/>
              </a:solidFill>
            </a:ln>
          </p:spPr>
          <p:txBody>
            <a:bodyPr wrap="square" lIns="0" tIns="0" rIns="0" bIns="0" rtlCol="0"/>
            <a:lstStyle/>
            <a:p>
              <a:endParaRPr/>
            </a:p>
          </p:txBody>
        </p:sp>
      </p:grpSp>
      <p:sp>
        <p:nvSpPr>
          <p:cNvPr id="97" name="object 97"/>
          <p:cNvSpPr txBox="1"/>
          <p:nvPr/>
        </p:nvSpPr>
        <p:spPr>
          <a:xfrm>
            <a:off x="5102856" y="6068540"/>
            <a:ext cx="158750"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35</a:t>
            </a:r>
            <a:endParaRPr sz="950">
              <a:latin typeface="Arial MT"/>
              <a:cs typeface="Arial MT"/>
            </a:endParaRPr>
          </a:p>
        </p:txBody>
      </p:sp>
      <p:sp>
        <p:nvSpPr>
          <p:cNvPr id="98" name="object 98"/>
          <p:cNvSpPr txBox="1"/>
          <p:nvPr/>
        </p:nvSpPr>
        <p:spPr>
          <a:xfrm>
            <a:off x="5540802" y="6068540"/>
            <a:ext cx="158750"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40</a:t>
            </a:r>
            <a:endParaRPr sz="950">
              <a:latin typeface="Arial MT"/>
              <a:cs typeface="Arial MT"/>
            </a:endParaRPr>
          </a:p>
        </p:txBody>
      </p:sp>
      <p:sp>
        <p:nvSpPr>
          <p:cNvPr id="99" name="object 99"/>
          <p:cNvSpPr txBox="1"/>
          <p:nvPr/>
        </p:nvSpPr>
        <p:spPr>
          <a:xfrm>
            <a:off x="5978991" y="6068540"/>
            <a:ext cx="158750"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45</a:t>
            </a:r>
            <a:endParaRPr sz="950">
              <a:latin typeface="Arial MT"/>
              <a:cs typeface="Arial MT"/>
            </a:endParaRPr>
          </a:p>
        </p:txBody>
      </p:sp>
      <p:sp>
        <p:nvSpPr>
          <p:cNvPr id="100" name="object 100"/>
          <p:cNvSpPr txBox="1"/>
          <p:nvPr/>
        </p:nvSpPr>
        <p:spPr>
          <a:xfrm>
            <a:off x="1902527" y="3144571"/>
            <a:ext cx="225425" cy="612140"/>
          </a:xfrm>
          <a:prstGeom prst="rect">
            <a:avLst/>
          </a:prstGeom>
        </p:spPr>
        <p:txBody>
          <a:bodyPr vert="horz" wrap="square" lIns="0" tIns="15240" rIns="0" bIns="0" rtlCol="0">
            <a:spAutoFit/>
          </a:bodyPr>
          <a:lstStyle/>
          <a:p>
            <a:pPr marL="78740">
              <a:spcBef>
                <a:spcPts val="120"/>
              </a:spcBef>
            </a:pPr>
            <a:r>
              <a:rPr sz="950" spc="-25" dirty="0">
                <a:latin typeface="Arial MT"/>
                <a:cs typeface="Arial MT"/>
              </a:rPr>
              <a:t>50</a:t>
            </a:r>
            <a:endParaRPr sz="950">
              <a:latin typeface="Arial MT"/>
              <a:cs typeface="Arial MT"/>
            </a:endParaRPr>
          </a:p>
          <a:p>
            <a:pPr>
              <a:lnSpc>
                <a:spcPct val="100000"/>
              </a:lnSpc>
            </a:pPr>
            <a:endParaRPr sz="950">
              <a:latin typeface="Arial MT"/>
              <a:cs typeface="Arial MT"/>
            </a:endParaRPr>
          </a:p>
          <a:p>
            <a:pPr>
              <a:spcBef>
                <a:spcPts val="125"/>
              </a:spcBef>
            </a:pPr>
            <a:endParaRPr sz="950">
              <a:latin typeface="Arial MT"/>
              <a:cs typeface="Arial MT"/>
            </a:endParaRPr>
          </a:p>
          <a:p>
            <a:pPr marL="12700">
              <a:spcBef>
                <a:spcPts val="5"/>
              </a:spcBef>
            </a:pPr>
            <a:r>
              <a:rPr sz="950" spc="-25" dirty="0">
                <a:latin typeface="Arial MT"/>
                <a:cs typeface="Arial MT"/>
              </a:rPr>
              <a:t>100</a:t>
            </a:r>
            <a:endParaRPr sz="950">
              <a:latin typeface="Arial MT"/>
              <a:cs typeface="Arial MT"/>
            </a:endParaRPr>
          </a:p>
        </p:txBody>
      </p:sp>
      <p:sp>
        <p:nvSpPr>
          <p:cNvPr id="101" name="object 101"/>
          <p:cNvSpPr txBox="1"/>
          <p:nvPr/>
        </p:nvSpPr>
        <p:spPr>
          <a:xfrm>
            <a:off x="1902527" y="4030286"/>
            <a:ext cx="225425"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150</a:t>
            </a:r>
            <a:endParaRPr sz="950">
              <a:latin typeface="Arial MT"/>
              <a:cs typeface="Arial MT"/>
            </a:endParaRPr>
          </a:p>
        </p:txBody>
      </p:sp>
      <p:sp>
        <p:nvSpPr>
          <p:cNvPr id="102" name="object 102"/>
          <p:cNvSpPr txBox="1"/>
          <p:nvPr/>
        </p:nvSpPr>
        <p:spPr>
          <a:xfrm>
            <a:off x="1902527" y="4468602"/>
            <a:ext cx="225425"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200</a:t>
            </a:r>
            <a:endParaRPr sz="950">
              <a:latin typeface="Arial MT"/>
              <a:cs typeface="Arial MT"/>
            </a:endParaRPr>
          </a:p>
        </p:txBody>
      </p:sp>
      <p:sp>
        <p:nvSpPr>
          <p:cNvPr id="103" name="object 103"/>
          <p:cNvSpPr txBox="1"/>
          <p:nvPr/>
        </p:nvSpPr>
        <p:spPr>
          <a:xfrm>
            <a:off x="1902527" y="4916120"/>
            <a:ext cx="225425" cy="161583"/>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250</a:t>
            </a:r>
            <a:endParaRPr sz="950">
              <a:latin typeface="Arial MT"/>
              <a:cs typeface="Arial MT"/>
            </a:endParaRPr>
          </a:p>
        </p:txBody>
      </p:sp>
      <p:sp>
        <p:nvSpPr>
          <p:cNvPr id="104" name="object 104"/>
          <p:cNvSpPr txBox="1"/>
          <p:nvPr/>
        </p:nvSpPr>
        <p:spPr>
          <a:xfrm>
            <a:off x="1902527" y="5363892"/>
            <a:ext cx="225425" cy="612140"/>
          </a:xfrm>
          <a:prstGeom prst="rect">
            <a:avLst/>
          </a:prstGeom>
        </p:spPr>
        <p:txBody>
          <a:bodyPr vert="horz" wrap="square" lIns="0" tIns="15240" rIns="0" bIns="0" rtlCol="0">
            <a:spAutoFit/>
          </a:bodyPr>
          <a:lstStyle/>
          <a:p>
            <a:pPr marL="12700">
              <a:spcBef>
                <a:spcPts val="120"/>
              </a:spcBef>
            </a:pPr>
            <a:r>
              <a:rPr sz="950" spc="-25" dirty="0">
                <a:latin typeface="Arial MT"/>
                <a:cs typeface="Arial MT"/>
              </a:rPr>
              <a:t>300</a:t>
            </a:r>
            <a:endParaRPr sz="950">
              <a:latin typeface="Arial MT"/>
              <a:cs typeface="Arial MT"/>
            </a:endParaRPr>
          </a:p>
          <a:p>
            <a:pPr>
              <a:lnSpc>
                <a:spcPct val="100000"/>
              </a:lnSpc>
            </a:pPr>
            <a:endParaRPr sz="950">
              <a:latin typeface="Arial MT"/>
              <a:cs typeface="Arial MT"/>
            </a:endParaRPr>
          </a:p>
          <a:p>
            <a:pPr>
              <a:spcBef>
                <a:spcPts val="125"/>
              </a:spcBef>
            </a:pPr>
            <a:endParaRPr sz="950">
              <a:latin typeface="Arial MT"/>
              <a:cs typeface="Arial MT"/>
            </a:endParaRPr>
          </a:p>
          <a:p>
            <a:pPr marL="12700"/>
            <a:r>
              <a:rPr sz="950" spc="-25" dirty="0">
                <a:latin typeface="Arial MT"/>
                <a:cs typeface="Arial MT"/>
              </a:rPr>
              <a:t>350</a:t>
            </a:r>
            <a:endParaRPr sz="950">
              <a:latin typeface="Arial MT"/>
              <a:cs typeface="Arial MT"/>
            </a:endParaRPr>
          </a:p>
        </p:txBody>
      </p:sp>
      <p:sp>
        <p:nvSpPr>
          <p:cNvPr id="105" name="object 105"/>
          <p:cNvSpPr txBox="1"/>
          <p:nvPr/>
        </p:nvSpPr>
        <p:spPr>
          <a:xfrm>
            <a:off x="6506717" y="3918204"/>
            <a:ext cx="1866900" cy="1397635"/>
          </a:xfrm>
          <a:prstGeom prst="rect">
            <a:avLst/>
          </a:prstGeom>
        </p:spPr>
        <p:txBody>
          <a:bodyPr vert="horz" wrap="square" lIns="0" tIns="12700" rIns="0" bIns="0" rtlCol="0">
            <a:spAutoFit/>
          </a:bodyPr>
          <a:lstStyle/>
          <a:p>
            <a:pPr algn="ctr">
              <a:spcBef>
                <a:spcPts val="100"/>
              </a:spcBef>
            </a:pPr>
            <a:r>
              <a:rPr b="1" dirty="0">
                <a:solidFill>
                  <a:srgbClr val="00AF50"/>
                </a:solidFill>
                <a:latin typeface="Arial"/>
                <a:cs typeface="Arial"/>
              </a:rPr>
              <a:t>*The sinogram</a:t>
            </a:r>
            <a:r>
              <a:rPr b="1" spc="-15" dirty="0">
                <a:solidFill>
                  <a:srgbClr val="00AF50"/>
                </a:solidFill>
                <a:latin typeface="Arial"/>
                <a:cs typeface="Arial"/>
              </a:rPr>
              <a:t> </a:t>
            </a:r>
            <a:r>
              <a:rPr b="1" spc="-25" dirty="0">
                <a:solidFill>
                  <a:srgbClr val="00AF50"/>
                </a:solidFill>
                <a:latin typeface="Arial"/>
                <a:cs typeface="Arial"/>
              </a:rPr>
              <a:t>is</a:t>
            </a:r>
            <a:endParaRPr>
              <a:latin typeface="Arial"/>
              <a:cs typeface="Arial"/>
            </a:endParaRPr>
          </a:p>
          <a:p>
            <a:pPr marL="273050" marR="264795" algn="ctr"/>
            <a:r>
              <a:rPr b="1" spc="-10" dirty="0">
                <a:solidFill>
                  <a:srgbClr val="00AF50"/>
                </a:solidFill>
                <a:latin typeface="Arial"/>
                <a:cs typeface="Arial"/>
              </a:rPr>
              <a:t>truncated </a:t>
            </a:r>
            <a:r>
              <a:rPr b="1" dirty="0">
                <a:solidFill>
                  <a:srgbClr val="00AF50"/>
                </a:solidFill>
                <a:latin typeface="Arial"/>
                <a:cs typeface="Arial"/>
              </a:rPr>
              <a:t>(only</a:t>
            </a:r>
            <a:r>
              <a:rPr b="1" spc="-40" dirty="0">
                <a:solidFill>
                  <a:srgbClr val="00AF50"/>
                </a:solidFill>
                <a:latin typeface="Arial"/>
                <a:cs typeface="Arial"/>
              </a:rPr>
              <a:t> </a:t>
            </a:r>
            <a:r>
              <a:rPr b="1" dirty="0">
                <a:solidFill>
                  <a:srgbClr val="00AF50"/>
                </a:solidFill>
                <a:latin typeface="Arial"/>
                <a:cs typeface="Arial"/>
              </a:rPr>
              <a:t>part</a:t>
            </a:r>
            <a:r>
              <a:rPr b="1" spc="-20" dirty="0">
                <a:solidFill>
                  <a:srgbClr val="00AF50"/>
                </a:solidFill>
                <a:latin typeface="Arial"/>
                <a:cs typeface="Arial"/>
              </a:rPr>
              <a:t> </a:t>
            </a:r>
            <a:r>
              <a:rPr b="1" spc="-25" dirty="0">
                <a:solidFill>
                  <a:srgbClr val="00AF50"/>
                </a:solidFill>
                <a:latin typeface="Arial"/>
                <a:cs typeface="Arial"/>
              </a:rPr>
              <a:t>of </a:t>
            </a:r>
            <a:r>
              <a:rPr b="1" dirty="0">
                <a:solidFill>
                  <a:srgbClr val="00AF50"/>
                </a:solidFill>
                <a:latin typeface="Arial"/>
                <a:cs typeface="Arial"/>
              </a:rPr>
              <a:t>sample</a:t>
            </a:r>
            <a:r>
              <a:rPr b="1" spc="-10" dirty="0">
                <a:solidFill>
                  <a:srgbClr val="00AF50"/>
                </a:solidFill>
                <a:latin typeface="Arial"/>
                <a:cs typeface="Arial"/>
              </a:rPr>
              <a:t> </a:t>
            </a:r>
            <a:r>
              <a:rPr b="1" spc="-25" dirty="0">
                <a:solidFill>
                  <a:srgbClr val="00AF50"/>
                </a:solidFill>
                <a:latin typeface="Arial"/>
                <a:cs typeface="Arial"/>
              </a:rPr>
              <a:t>is </a:t>
            </a:r>
            <a:r>
              <a:rPr b="1" spc="-10" dirty="0">
                <a:solidFill>
                  <a:srgbClr val="00AF50"/>
                </a:solidFill>
                <a:latin typeface="Arial"/>
                <a:cs typeface="Arial"/>
              </a:rPr>
              <a:t>scanned)*</a:t>
            </a:r>
            <a:endParaRPr>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4"/>
            <a:ext cx="11410967" cy="974318"/>
          </a:xfrm>
          <a:prstGeom prst="rect">
            <a:avLst/>
          </a:prstGeom>
        </p:spPr>
        <p:txBody>
          <a:bodyPr vert="horz" wrap="square" lIns="0" tIns="355295" rIns="0" bIns="0" rtlCol="0">
            <a:spAutoFit/>
          </a:bodyPr>
          <a:lstStyle/>
          <a:p>
            <a:pPr marL="15240">
              <a:spcBef>
                <a:spcPts val="95"/>
              </a:spcBef>
            </a:pPr>
            <a:r>
              <a:rPr sz="4000" dirty="0"/>
              <a:t>Parallel</a:t>
            </a:r>
            <a:r>
              <a:rPr sz="4000" spc="-95" dirty="0"/>
              <a:t> </a:t>
            </a:r>
            <a:r>
              <a:rPr sz="4000" dirty="0"/>
              <a:t>beam</a:t>
            </a:r>
            <a:r>
              <a:rPr sz="4000" spc="-75" dirty="0"/>
              <a:t> </a:t>
            </a:r>
            <a:r>
              <a:rPr sz="4000" spc="-25" dirty="0"/>
              <a:t>back-</a:t>
            </a:r>
            <a:r>
              <a:rPr sz="4000" dirty="0"/>
              <a:t>projection:</a:t>
            </a:r>
            <a:r>
              <a:rPr sz="4000" spc="-70" dirty="0"/>
              <a:t> </a:t>
            </a:r>
            <a:r>
              <a:rPr sz="4000" b="1" i="1" spc="-10" dirty="0">
                <a:latin typeface="Arial"/>
                <a:cs typeface="Arial"/>
              </a:rPr>
              <a:t>iradon</a:t>
            </a:r>
            <a:endParaRPr sz="4000">
              <a:latin typeface="Arial"/>
              <a:cs typeface="Arial"/>
            </a:endParaRPr>
          </a:p>
        </p:txBody>
      </p:sp>
      <p:sp>
        <p:nvSpPr>
          <p:cNvPr id="3" name="object 3"/>
          <p:cNvSpPr txBox="1"/>
          <p:nvPr/>
        </p:nvSpPr>
        <p:spPr>
          <a:xfrm>
            <a:off x="2059941" y="1538373"/>
            <a:ext cx="7376159" cy="4756430"/>
          </a:xfrm>
          <a:prstGeom prst="rect">
            <a:avLst/>
          </a:prstGeom>
        </p:spPr>
        <p:txBody>
          <a:bodyPr vert="horz" wrap="square" lIns="0" tIns="97790" rIns="0" bIns="0" rtlCol="0">
            <a:spAutoFit/>
          </a:bodyPr>
          <a:lstStyle/>
          <a:p>
            <a:pPr marL="354965" indent="-342265">
              <a:spcBef>
                <a:spcPts val="770"/>
              </a:spcBef>
              <a:buChar char="•"/>
              <a:tabLst>
                <a:tab pos="354965" algn="l"/>
              </a:tabLst>
            </a:pPr>
            <a:r>
              <a:rPr sz="2800" spc="-20" dirty="0">
                <a:latin typeface="Microsoft Sans Serif"/>
                <a:cs typeface="Microsoft Sans Serif"/>
              </a:rPr>
              <a:t>Back-</a:t>
            </a:r>
            <a:r>
              <a:rPr sz="2800" dirty="0">
                <a:latin typeface="Microsoft Sans Serif"/>
                <a:cs typeface="Microsoft Sans Serif"/>
              </a:rPr>
              <a:t>projection</a:t>
            </a:r>
            <a:r>
              <a:rPr sz="2800" spc="-50" dirty="0">
                <a:latin typeface="Microsoft Sans Serif"/>
                <a:cs typeface="Microsoft Sans Serif"/>
              </a:rPr>
              <a:t> </a:t>
            </a:r>
            <a:r>
              <a:rPr sz="2800" dirty="0">
                <a:latin typeface="Microsoft Sans Serif"/>
                <a:cs typeface="Microsoft Sans Serif"/>
              </a:rPr>
              <a:t>for</a:t>
            </a:r>
            <a:r>
              <a:rPr sz="2800" spc="-40" dirty="0">
                <a:latin typeface="Microsoft Sans Serif"/>
                <a:cs typeface="Microsoft Sans Serif"/>
              </a:rPr>
              <a:t> </a:t>
            </a:r>
            <a:r>
              <a:rPr sz="2800" dirty="0">
                <a:latin typeface="Microsoft Sans Serif"/>
                <a:cs typeface="Microsoft Sans Serif"/>
              </a:rPr>
              <a:t>parallel</a:t>
            </a:r>
            <a:r>
              <a:rPr sz="2800" spc="-45" dirty="0">
                <a:latin typeface="Microsoft Sans Serif"/>
                <a:cs typeface="Microsoft Sans Serif"/>
              </a:rPr>
              <a:t> </a:t>
            </a:r>
            <a:r>
              <a:rPr sz="2800" dirty="0">
                <a:latin typeface="Microsoft Sans Serif"/>
                <a:cs typeface="Microsoft Sans Serif"/>
              </a:rPr>
              <a:t>beam</a:t>
            </a:r>
            <a:r>
              <a:rPr sz="2800" spc="-5" dirty="0">
                <a:latin typeface="Microsoft Sans Serif"/>
                <a:cs typeface="Microsoft Sans Serif"/>
              </a:rPr>
              <a:t> </a:t>
            </a:r>
            <a:r>
              <a:rPr sz="2800" spc="-10" dirty="0">
                <a:latin typeface="Microsoft Sans Serif"/>
                <a:cs typeface="Microsoft Sans Serif"/>
              </a:rPr>
              <a:t>sinograms</a:t>
            </a:r>
            <a:endParaRPr sz="2800" dirty="0">
              <a:latin typeface="Microsoft Sans Serif"/>
              <a:cs typeface="Microsoft Sans Serif"/>
            </a:endParaRPr>
          </a:p>
          <a:p>
            <a:pPr marL="354965" indent="-342265">
              <a:spcBef>
                <a:spcPts val="675"/>
              </a:spcBef>
              <a:buChar char="•"/>
              <a:tabLst>
                <a:tab pos="354965" algn="l"/>
              </a:tabLst>
            </a:pPr>
            <a:r>
              <a:rPr sz="2800" dirty="0">
                <a:latin typeface="Microsoft Sans Serif"/>
                <a:cs typeface="Microsoft Sans Serif"/>
              </a:rPr>
              <a:t>Filtered</a:t>
            </a:r>
            <a:r>
              <a:rPr sz="2800" spc="-25" dirty="0">
                <a:latin typeface="Microsoft Sans Serif"/>
                <a:cs typeface="Microsoft Sans Serif"/>
              </a:rPr>
              <a:t> </a:t>
            </a:r>
            <a:r>
              <a:rPr sz="2800" spc="-10" dirty="0">
                <a:latin typeface="Microsoft Sans Serif"/>
                <a:cs typeface="Microsoft Sans Serif"/>
              </a:rPr>
              <a:t>back-</a:t>
            </a:r>
            <a:r>
              <a:rPr sz="2800" dirty="0">
                <a:latin typeface="Microsoft Sans Serif"/>
                <a:cs typeface="Microsoft Sans Serif"/>
              </a:rPr>
              <a:t>projection</a:t>
            </a:r>
            <a:r>
              <a:rPr sz="2800" spc="-45" dirty="0">
                <a:latin typeface="Microsoft Sans Serif"/>
                <a:cs typeface="Microsoft Sans Serif"/>
              </a:rPr>
              <a:t> </a:t>
            </a:r>
            <a:r>
              <a:rPr sz="2800" dirty="0">
                <a:latin typeface="Microsoft Sans Serif"/>
                <a:cs typeface="Microsoft Sans Serif"/>
              </a:rPr>
              <a:t>can</a:t>
            </a:r>
            <a:r>
              <a:rPr sz="2800" spc="-35" dirty="0">
                <a:latin typeface="Microsoft Sans Serif"/>
                <a:cs typeface="Microsoft Sans Serif"/>
              </a:rPr>
              <a:t> </a:t>
            </a:r>
            <a:r>
              <a:rPr sz="2800" dirty="0">
                <a:latin typeface="Microsoft Sans Serif"/>
                <a:cs typeface="Microsoft Sans Serif"/>
              </a:rPr>
              <a:t>be</a:t>
            </a:r>
            <a:r>
              <a:rPr sz="2800" spc="-35" dirty="0">
                <a:latin typeface="Microsoft Sans Serif"/>
                <a:cs typeface="Microsoft Sans Serif"/>
              </a:rPr>
              <a:t> </a:t>
            </a:r>
            <a:r>
              <a:rPr sz="2800" spc="-10" dirty="0">
                <a:latin typeface="Microsoft Sans Serif"/>
                <a:cs typeface="Microsoft Sans Serif"/>
              </a:rPr>
              <a:t>implemented</a:t>
            </a:r>
            <a:endParaRPr sz="2800" dirty="0">
              <a:latin typeface="Microsoft Sans Serif"/>
              <a:cs typeface="Microsoft Sans Serif"/>
            </a:endParaRPr>
          </a:p>
          <a:p>
            <a:pPr>
              <a:spcBef>
                <a:spcPts val="2025"/>
              </a:spcBef>
            </a:pPr>
            <a:endParaRPr sz="2800" dirty="0">
              <a:latin typeface="Microsoft Sans Serif"/>
              <a:cs typeface="Microsoft Sans Serif"/>
            </a:endParaRPr>
          </a:p>
          <a:p>
            <a:pPr marL="697865" algn="ctr"/>
            <a:r>
              <a:rPr sz="3200" dirty="0">
                <a:solidFill>
                  <a:srgbClr val="00AF50"/>
                </a:solidFill>
                <a:latin typeface="Microsoft Sans Serif"/>
                <a:cs typeface="Microsoft Sans Serif"/>
              </a:rPr>
              <a:t>I</a:t>
            </a:r>
            <a:r>
              <a:rPr sz="3200" spc="15" dirty="0">
                <a:solidFill>
                  <a:srgbClr val="00AF50"/>
                </a:solidFill>
                <a:latin typeface="Microsoft Sans Serif"/>
                <a:cs typeface="Microsoft Sans Serif"/>
              </a:rPr>
              <a:t> </a:t>
            </a:r>
            <a:r>
              <a:rPr lang="en-US" sz="3200" dirty="0">
                <a:solidFill>
                  <a:srgbClr val="00AF50"/>
                </a:solidFill>
                <a:latin typeface="Microsoft Sans Serif"/>
                <a:cs typeface="Microsoft Sans Serif"/>
              </a:rPr>
              <a:t>equals</a:t>
            </a:r>
            <a:r>
              <a:rPr sz="3200" spc="5" dirty="0">
                <a:solidFill>
                  <a:srgbClr val="00AF50"/>
                </a:solidFill>
                <a:latin typeface="Microsoft Sans Serif"/>
                <a:cs typeface="Microsoft Sans Serif"/>
              </a:rPr>
              <a:t> </a:t>
            </a:r>
            <a:r>
              <a:rPr sz="3200" dirty="0">
                <a:solidFill>
                  <a:srgbClr val="00AF50"/>
                </a:solidFill>
                <a:latin typeface="Microsoft Sans Serif"/>
                <a:cs typeface="Microsoft Sans Serif"/>
              </a:rPr>
              <a:t>iradon(R, theta,</a:t>
            </a:r>
            <a:r>
              <a:rPr sz="3200" spc="-5" dirty="0">
                <a:solidFill>
                  <a:srgbClr val="00AF50"/>
                </a:solidFill>
                <a:latin typeface="Microsoft Sans Serif"/>
                <a:cs typeface="Microsoft Sans Serif"/>
              </a:rPr>
              <a:t> </a:t>
            </a:r>
            <a:r>
              <a:rPr sz="3200" i="1" dirty="0">
                <a:solidFill>
                  <a:srgbClr val="00AF50"/>
                </a:solidFill>
                <a:latin typeface="Arial"/>
                <a:cs typeface="Arial"/>
              </a:rPr>
              <a:t>interp,</a:t>
            </a:r>
            <a:r>
              <a:rPr sz="3200" i="1" spc="-25" dirty="0">
                <a:solidFill>
                  <a:srgbClr val="00AF50"/>
                </a:solidFill>
                <a:latin typeface="Arial"/>
                <a:cs typeface="Arial"/>
              </a:rPr>
              <a:t> </a:t>
            </a:r>
            <a:r>
              <a:rPr sz="3200" i="1" spc="-10" dirty="0">
                <a:solidFill>
                  <a:srgbClr val="00AF50"/>
                </a:solidFill>
                <a:latin typeface="Arial"/>
                <a:cs typeface="Arial"/>
              </a:rPr>
              <a:t>filter</a:t>
            </a:r>
            <a:r>
              <a:rPr sz="3200" spc="-10" dirty="0">
                <a:solidFill>
                  <a:srgbClr val="00AF50"/>
                </a:solidFill>
                <a:latin typeface="Microsoft Sans Serif"/>
                <a:cs typeface="Microsoft Sans Serif"/>
              </a:rPr>
              <a:t>);</a:t>
            </a:r>
            <a:endParaRPr sz="3200" dirty="0">
              <a:latin typeface="Microsoft Sans Serif"/>
              <a:cs typeface="Microsoft Sans Serif"/>
            </a:endParaRPr>
          </a:p>
          <a:p>
            <a:pPr marL="695325" algn="ctr">
              <a:spcBef>
                <a:spcPts val="2915"/>
              </a:spcBef>
            </a:pPr>
            <a:r>
              <a:rPr sz="2000" b="1" dirty="0">
                <a:latin typeface="Arial"/>
                <a:cs typeface="Arial"/>
              </a:rPr>
              <a:t>I</a:t>
            </a:r>
            <a:r>
              <a:rPr sz="2000" b="1" spc="-20" dirty="0">
                <a:latin typeface="Arial"/>
                <a:cs typeface="Arial"/>
              </a:rPr>
              <a:t> </a:t>
            </a:r>
            <a:r>
              <a:rPr lang="en-US" sz="2000" dirty="0">
                <a:latin typeface="Microsoft Sans Serif"/>
                <a:cs typeface="Microsoft Sans Serif"/>
              </a:rPr>
              <a:t>equals</a:t>
            </a:r>
            <a:r>
              <a:rPr sz="2000" spc="-10" dirty="0">
                <a:latin typeface="Microsoft Sans Serif"/>
                <a:cs typeface="Microsoft Sans Serif"/>
              </a:rPr>
              <a:t> </a:t>
            </a:r>
            <a:r>
              <a:rPr sz="2000" dirty="0">
                <a:latin typeface="Microsoft Sans Serif"/>
                <a:cs typeface="Microsoft Sans Serif"/>
              </a:rPr>
              <a:t>reconstructed</a:t>
            </a:r>
            <a:r>
              <a:rPr sz="2000" spc="-20" dirty="0">
                <a:latin typeface="Microsoft Sans Serif"/>
                <a:cs typeface="Microsoft Sans Serif"/>
              </a:rPr>
              <a:t> </a:t>
            </a:r>
            <a:r>
              <a:rPr sz="2000" spc="-10" dirty="0">
                <a:latin typeface="Microsoft Sans Serif"/>
                <a:cs typeface="Microsoft Sans Serif"/>
              </a:rPr>
              <a:t>image</a:t>
            </a:r>
            <a:endParaRPr sz="2000" dirty="0">
              <a:latin typeface="Microsoft Sans Serif"/>
              <a:cs typeface="Microsoft Sans Serif"/>
            </a:endParaRPr>
          </a:p>
          <a:p>
            <a:pPr marL="695325" algn="ctr"/>
            <a:r>
              <a:rPr sz="2000" b="1" dirty="0">
                <a:latin typeface="Arial"/>
                <a:cs typeface="Arial"/>
              </a:rPr>
              <a:t>R</a:t>
            </a:r>
            <a:r>
              <a:rPr sz="2000" b="1" spc="-10" dirty="0">
                <a:latin typeface="Arial"/>
                <a:cs typeface="Arial"/>
              </a:rPr>
              <a:t> </a:t>
            </a:r>
            <a:r>
              <a:rPr lang="en-US" sz="2000" dirty="0">
                <a:latin typeface="Microsoft Sans Serif"/>
                <a:cs typeface="Microsoft Sans Serif"/>
              </a:rPr>
              <a:t>equals</a:t>
            </a:r>
            <a:r>
              <a:rPr sz="2000" spc="-5" dirty="0">
                <a:latin typeface="Microsoft Sans Serif"/>
                <a:cs typeface="Microsoft Sans Serif"/>
              </a:rPr>
              <a:t> </a:t>
            </a:r>
            <a:r>
              <a:rPr sz="2000" spc="-10" dirty="0">
                <a:latin typeface="Microsoft Sans Serif"/>
                <a:cs typeface="Microsoft Sans Serif"/>
              </a:rPr>
              <a:t>sinogram</a:t>
            </a:r>
            <a:endParaRPr sz="2000" dirty="0">
              <a:latin typeface="Microsoft Sans Serif"/>
              <a:cs typeface="Microsoft Sans Serif"/>
            </a:endParaRPr>
          </a:p>
          <a:p>
            <a:pPr marL="2286635" marR="1583055" indent="531495"/>
            <a:r>
              <a:rPr sz="2000" b="1" dirty="0">
                <a:latin typeface="Arial"/>
                <a:cs typeface="Arial"/>
              </a:rPr>
              <a:t>theta</a:t>
            </a:r>
            <a:r>
              <a:rPr sz="2000" b="1" spc="-45" dirty="0">
                <a:latin typeface="Arial"/>
                <a:cs typeface="Arial"/>
              </a:rPr>
              <a:t> </a:t>
            </a:r>
            <a:r>
              <a:rPr lang="en-US" sz="2000" dirty="0">
                <a:latin typeface="Microsoft Sans Serif"/>
                <a:cs typeface="Microsoft Sans Serif"/>
              </a:rPr>
              <a:t>equals</a:t>
            </a:r>
            <a:r>
              <a:rPr sz="2000" spc="-15" dirty="0">
                <a:latin typeface="Microsoft Sans Serif"/>
                <a:cs typeface="Microsoft Sans Serif"/>
              </a:rPr>
              <a:t> </a:t>
            </a:r>
            <a:r>
              <a:rPr sz="2000" dirty="0">
                <a:latin typeface="Microsoft Sans Serif"/>
                <a:cs typeface="Microsoft Sans Serif"/>
              </a:rPr>
              <a:t>rotation</a:t>
            </a:r>
            <a:r>
              <a:rPr sz="2000" spc="-5" dirty="0">
                <a:latin typeface="Microsoft Sans Serif"/>
                <a:cs typeface="Microsoft Sans Serif"/>
              </a:rPr>
              <a:t> </a:t>
            </a:r>
            <a:r>
              <a:rPr sz="2000" spc="-10" dirty="0">
                <a:latin typeface="Microsoft Sans Serif"/>
                <a:cs typeface="Microsoft Sans Serif"/>
              </a:rPr>
              <a:t>angle </a:t>
            </a:r>
            <a:r>
              <a:rPr sz="2000" b="1" i="1" dirty="0" err="1">
                <a:latin typeface="Arial"/>
                <a:cs typeface="Arial"/>
              </a:rPr>
              <a:t>interp</a:t>
            </a:r>
            <a:r>
              <a:rPr sz="2000" b="1" i="1" spc="-50" dirty="0">
                <a:latin typeface="Arial"/>
                <a:cs typeface="Arial"/>
              </a:rPr>
              <a:t> </a:t>
            </a:r>
            <a:r>
              <a:rPr lang="en-US" sz="2000" dirty="0">
                <a:latin typeface="Microsoft Sans Serif"/>
                <a:cs typeface="Microsoft Sans Serif"/>
              </a:rPr>
              <a:t>equals</a:t>
            </a:r>
            <a:r>
              <a:rPr sz="2000" spc="-10" dirty="0">
                <a:latin typeface="Microsoft Sans Serif"/>
                <a:cs typeface="Microsoft Sans Serif"/>
              </a:rPr>
              <a:t> </a:t>
            </a:r>
            <a:r>
              <a:rPr sz="2000" dirty="0">
                <a:latin typeface="Microsoft Sans Serif"/>
                <a:cs typeface="Microsoft Sans Serif"/>
              </a:rPr>
              <a:t>interpolation</a:t>
            </a:r>
            <a:r>
              <a:rPr sz="2000" spc="-30" dirty="0">
                <a:latin typeface="Microsoft Sans Serif"/>
                <a:cs typeface="Microsoft Sans Serif"/>
              </a:rPr>
              <a:t> </a:t>
            </a:r>
            <a:r>
              <a:rPr sz="2000" spc="-10" dirty="0">
                <a:latin typeface="Microsoft Sans Serif"/>
                <a:cs typeface="Microsoft Sans Serif"/>
              </a:rPr>
              <a:t>method </a:t>
            </a:r>
            <a:r>
              <a:rPr sz="2000" b="1" i="1" dirty="0">
                <a:latin typeface="Arial"/>
                <a:cs typeface="Arial"/>
              </a:rPr>
              <a:t>filter</a:t>
            </a:r>
            <a:r>
              <a:rPr sz="2000" b="1" i="1" spc="-50" dirty="0">
                <a:latin typeface="Arial"/>
                <a:cs typeface="Arial"/>
              </a:rPr>
              <a:t> </a:t>
            </a:r>
            <a:r>
              <a:rPr lang="en-US" sz="2000" dirty="0">
                <a:latin typeface="Microsoft Sans Serif"/>
                <a:cs typeface="Microsoft Sans Serif"/>
              </a:rPr>
              <a:t>equals</a:t>
            </a:r>
            <a:r>
              <a:rPr sz="2000" spc="5" dirty="0">
                <a:latin typeface="Microsoft Sans Serif"/>
                <a:cs typeface="Microsoft Sans Serif"/>
              </a:rPr>
              <a:t> </a:t>
            </a:r>
            <a:r>
              <a:rPr sz="2000" dirty="0">
                <a:latin typeface="Microsoft Sans Serif"/>
                <a:cs typeface="Microsoft Sans Serif"/>
              </a:rPr>
              <a:t>filter to</a:t>
            </a:r>
            <a:r>
              <a:rPr sz="2000" spc="10" dirty="0">
                <a:latin typeface="Microsoft Sans Serif"/>
                <a:cs typeface="Microsoft Sans Serif"/>
              </a:rPr>
              <a:t> </a:t>
            </a:r>
            <a:r>
              <a:rPr sz="2000" dirty="0">
                <a:latin typeface="Microsoft Sans Serif"/>
                <a:cs typeface="Microsoft Sans Serif"/>
              </a:rPr>
              <a:t>be used</a:t>
            </a:r>
            <a:r>
              <a:rPr sz="2000" spc="-10" dirty="0">
                <a:latin typeface="Microsoft Sans Serif"/>
                <a:cs typeface="Microsoft Sans Serif"/>
              </a:rPr>
              <a:t> </a:t>
            </a:r>
            <a:r>
              <a:rPr sz="2000" dirty="0">
                <a:latin typeface="Microsoft Sans Serif"/>
                <a:cs typeface="Microsoft Sans Serif"/>
              </a:rPr>
              <a:t>for </a:t>
            </a:r>
            <a:r>
              <a:rPr sz="2000" spc="-25" dirty="0">
                <a:latin typeface="Microsoft Sans Serif"/>
                <a:cs typeface="Microsoft Sans Serif"/>
              </a:rPr>
              <a:t>FBP</a:t>
            </a:r>
            <a:endParaRPr sz="2000" dirty="0">
              <a:latin typeface="Microsoft Sans Serif"/>
              <a:cs typeface="Microsoft Sans Serif"/>
            </a:endParaRPr>
          </a:p>
          <a:p>
            <a:pPr marL="2625090">
              <a:spcBef>
                <a:spcPts val="5"/>
              </a:spcBef>
            </a:pPr>
            <a:r>
              <a:rPr sz="2000" dirty="0">
                <a:latin typeface="Microsoft Sans Serif"/>
                <a:cs typeface="Microsoft Sans Serif"/>
              </a:rPr>
              <a:t>(</a:t>
            </a:r>
            <a:r>
              <a:rPr sz="2000" i="1" dirty="0">
                <a:latin typeface="Arial"/>
                <a:cs typeface="Arial"/>
              </a:rPr>
              <a:t>interp</a:t>
            </a:r>
            <a:r>
              <a:rPr sz="2000" dirty="0">
                <a:latin typeface="Microsoft Sans Serif"/>
                <a:cs typeface="Microsoft Sans Serif"/>
              </a:rPr>
              <a:t>,</a:t>
            </a:r>
            <a:r>
              <a:rPr sz="2000" spc="-15" dirty="0">
                <a:latin typeface="Microsoft Sans Serif"/>
                <a:cs typeface="Microsoft Sans Serif"/>
              </a:rPr>
              <a:t> </a:t>
            </a:r>
            <a:r>
              <a:rPr sz="2000" i="1" dirty="0">
                <a:latin typeface="Arial"/>
                <a:cs typeface="Arial"/>
              </a:rPr>
              <a:t>filter</a:t>
            </a:r>
            <a:r>
              <a:rPr sz="2000" i="1" spc="-25" dirty="0">
                <a:latin typeface="Arial"/>
                <a:cs typeface="Arial"/>
              </a:rPr>
              <a:t> </a:t>
            </a:r>
            <a:r>
              <a:rPr sz="2000" dirty="0">
                <a:latin typeface="Microsoft Sans Serif"/>
                <a:cs typeface="Microsoft Sans Serif"/>
              </a:rPr>
              <a:t>are</a:t>
            </a:r>
            <a:r>
              <a:rPr sz="2000" spc="-10" dirty="0">
                <a:latin typeface="Microsoft Sans Serif"/>
                <a:cs typeface="Microsoft Sans Serif"/>
              </a:rPr>
              <a:t> optional)</a:t>
            </a:r>
            <a:endParaRPr sz="2000" dirty="0">
              <a:latin typeface="Microsoft Sans Serif"/>
              <a:cs typeface="Microsoft Sans Serif"/>
            </a:endParaRPr>
          </a:p>
        </p:txBody>
      </p:sp>
      <p:sp>
        <p:nvSpPr>
          <p:cNvPr id="4" name="object 4"/>
          <p:cNvSpPr txBox="1"/>
          <p:nvPr/>
        </p:nvSpPr>
        <p:spPr>
          <a:xfrm>
            <a:off x="457200" y="6458028"/>
            <a:ext cx="6245860" cy="228268"/>
          </a:xfrm>
          <a:prstGeom prst="rect">
            <a:avLst/>
          </a:prstGeom>
        </p:spPr>
        <p:txBody>
          <a:bodyPr vert="horz" wrap="square" lIns="0" tIns="12700" rIns="0" bIns="0" rtlCol="0">
            <a:spAutoFit/>
          </a:bodyPr>
          <a:lstStyle/>
          <a:p>
            <a:pPr marL="12700">
              <a:spcBef>
                <a:spcPts val="100"/>
              </a:spcBef>
            </a:pPr>
            <a:r>
              <a:rPr sz="1400" spc="-10" dirty="0">
                <a:solidFill>
                  <a:srgbClr val="006FC0"/>
                </a:solidFill>
                <a:latin typeface="Microsoft Sans Serif"/>
                <a:cs typeface="Microsoft Sans Serif"/>
              </a:rPr>
              <a:t>https://</a:t>
            </a:r>
            <a:r>
              <a:rPr sz="1400" spc="-10" dirty="0">
                <a:solidFill>
                  <a:srgbClr val="006FC0"/>
                </a:solidFill>
                <a:latin typeface="Microsoft Sans Serif"/>
                <a:cs typeface="Microsoft Sans Serif"/>
                <a:hlinkClick r:id="rId3"/>
              </a:rPr>
              <a:t>www.mathworks.com/help/images/the-inverse-radon-transformation.html</a:t>
            </a:r>
            <a:endParaRPr sz="1400" dirty="0">
              <a:latin typeface="Microsoft Sans Serif"/>
              <a:cs typeface="Microsoft Sans Serif"/>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6426" y="76200"/>
            <a:ext cx="8297774" cy="690574"/>
          </a:xfrm>
          <a:prstGeom prst="rect">
            <a:avLst/>
          </a:prstGeom>
        </p:spPr>
        <p:txBody>
          <a:bodyPr vert="horz" wrap="square" lIns="0" tIns="13335" rIns="0" bIns="0" rtlCol="0">
            <a:spAutoFit/>
          </a:bodyPr>
          <a:lstStyle/>
          <a:p>
            <a:pPr marL="12700">
              <a:spcBef>
                <a:spcPts val="105"/>
              </a:spcBef>
            </a:pPr>
            <a:r>
              <a:rPr dirty="0"/>
              <a:t>Example</a:t>
            </a:r>
            <a:r>
              <a:rPr spc="-25" dirty="0"/>
              <a:t> </a:t>
            </a:r>
            <a:r>
              <a:rPr dirty="0"/>
              <a:t>2:</a:t>
            </a:r>
            <a:r>
              <a:rPr spc="5" dirty="0"/>
              <a:t> </a:t>
            </a:r>
            <a:r>
              <a:rPr dirty="0"/>
              <a:t>Parallel</a:t>
            </a:r>
            <a:r>
              <a:rPr lang="en-US" spc="-25" dirty="0"/>
              <a:t>-B</a:t>
            </a:r>
            <a:r>
              <a:rPr dirty="0"/>
              <a:t>eam</a:t>
            </a:r>
            <a:r>
              <a:rPr spc="-5" dirty="0"/>
              <a:t> </a:t>
            </a:r>
            <a:r>
              <a:rPr spc="-25" dirty="0"/>
              <a:t>BP</a:t>
            </a:r>
          </a:p>
        </p:txBody>
      </p:sp>
      <p:sp>
        <p:nvSpPr>
          <p:cNvPr id="3" name="object 3"/>
          <p:cNvSpPr txBox="1"/>
          <p:nvPr/>
        </p:nvSpPr>
        <p:spPr>
          <a:xfrm>
            <a:off x="152400" y="838200"/>
            <a:ext cx="7334884" cy="2735580"/>
          </a:xfrm>
          <a:prstGeom prst="rect">
            <a:avLst/>
          </a:prstGeom>
        </p:spPr>
        <p:txBody>
          <a:bodyPr vert="horz" wrap="square" lIns="0" tIns="97790" rIns="0" bIns="0" rtlCol="0">
            <a:spAutoFit/>
          </a:bodyPr>
          <a:lstStyle/>
          <a:p>
            <a:pPr marL="354965" indent="-342265">
              <a:spcBef>
                <a:spcPts val="770"/>
              </a:spcBef>
              <a:buChar char="•"/>
              <a:tabLst>
                <a:tab pos="354965" algn="l"/>
              </a:tabLst>
            </a:pPr>
            <a:r>
              <a:rPr sz="2800" dirty="0">
                <a:latin typeface="Microsoft Sans Serif"/>
                <a:cs typeface="Microsoft Sans Serif"/>
              </a:rPr>
              <a:t>Run</a:t>
            </a:r>
            <a:r>
              <a:rPr sz="2800" spc="-15" dirty="0">
                <a:latin typeface="Microsoft Sans Serif"/>
                <a:cs typeface="Microsoft Sans Serif"/>
              </a:rPr>
              <a:t> </a:t>
            </a:r>
            <a:r>
              <a:rPr sz="2800" spc="-10" dirty="0">
                <a:latin typeface="Microsoft Sans Serif"/>
                <a:cs typeface="Microsoft Sans Serif"/>
              </a:rPr>
              <a:t>Ex2_parallel_back.m</a:t>
            </a:r>
            <a:endParaRPr sz="2800">
              <a:latin typeface="Microsoft Sans Serif"/>
              <a:cs typeface="Microsoft Sans Serif"/>
            </a:endParaRPr>
          </a:p>
          <a:p>
            <a:pPr marL="354965" indent="-342265">
              <a:spcBef>
                <a:spcPts val="675"/>
              </a:spcBef>
              <a:buFont typeface="Microsoft Sans Serif"/>
              <a:buChar char="•"/>
              <a:tabLst>
                <a:tab pos="354965" algn="l"/>
              </a:tabLst>
            </a:pPr>
            <a:r>
              <a:rPr sz="2800" b="1" dirty="0">
                <a:latin typeface="Arial"/>
                <a:cs typeface="Arial"/>
              </a:rPr>
              <a:t>Line</a:t>
            </a:r>
            <a:r>
              <a:rPr sz="2800" b="1" spc="-55" dirty="0">
                <a:latin typeface="Arial"/>
                <a:cs typeface="Arial"/>
              </a:rPr>
              <a:t> </a:t>
            </a:r>
            <a:r>
              <a:rPr sz="2800" b="1" dirty="0">
                <a:latin typeface="Arial"/>
                <a:cs typeface="Arial"/>
              </a:rPr>
              <a:t>32</a:t>
            </a:r>
            <a:r>
              <a:rPr sz="2800" b="1" spc="-60" dirty="0">
                <a:latin typeface="Arial"/>
                <a:cs typeface="Arial"/>
              </a:rPr>
              <a:t> </a:t>
            </a:r>
            <a:r>
              <a:rPr sz="2800" dirty="0">
                <a:latin typeface="Microsoft Sans Serif"/>
                <a:cs typeface="Microsoft Sans Serif"/>
              </a:rPr>
              <a:t>implements</a:t>
            </a:r>
            <a:r>
              <a:rPr sz="2800" spc="-15" dirty="0">
                <a:latin typeface="Microsoft Sans Serif"/>
                <a:cs typeface="Microsoft Sans Serif"/>
              </a:rPr>
              <a:t> </a:t>
            </a:r>
            <a:r>
              <a:rPr sz="2800" dirty="0">
                <a:latin typeface="Microsoft Sans Serif"/>
                <a:cs typeface="Microsoft Sans Serif"/>
              </a:rPr>
              <a:t>normal</a:t>
            </a:r>
            <a:r>
              <a:rPr sz="2800" spc="-20" dirty="0">
                <a:latin typeface="Microsoft Sans Serif"/>
                <a:cs typeface="Microsoft Sans Serif"/>
              </a:rPr>
              <a:t> </a:t>
            </a:r>
            <a:r>
              <a:rPr sz="2800" dirty="0">
                <a:latin typeface="Microsoft Sans Serif"/>
                <a:cs typeface="Microsoft Sans Serif"/>
              </a:rPr>
              <a:t>BP</a:t>
            </a:r>
            <a:r>
              <a:rPr sz="2800" spc="-90" dirty="0">
                <a:latin typeface="Microsoft Sans Serif"/>
                <a:cs typeface="Microsoft Sans Serif"/>
              </a:rPr>
              <a:t> </a:t>
            </a:r>
            <a:r>
              <a:rPr sz="2800" dirty="0">
                <a:latin typeface="Microsoft Sans Serif"/>
                <a:cs typeface="Microsoft Sans Serif"/>
              </a:rPr>
              <a:t>(no</a:t>
            </a:r>
            <a:r>
              <a:rPr sz="2800" spc="-35" dirty="0">
                <a:latin typeface="Microsoft Sans Serif"/>
                <a:cs typeface="Microsoft Sans Serif"/>
              </a:rPr>
              <a:t> </a:t>
            </a:r>
            <a:r>
              <a:rPr sz="2800" spc="-10" dirty="0">
                <a:latin typeface="Microsoft Sans Serif"/>
                <a:cs typeface="Microsoft Sans Serif"/>
              </a:rPr>
              <a:t>filter)</a:t>
            </a:r>
            <a:endParaRPr sz="2800">
              <a:latin typeface="Microsoft Sans Serif"/>
              <a:cs typeface="Microsoft Sans Serif"/>
            </a:endParaRPr>
          </a:p>
          <a:p>
            <a:pPr marL="354965" indent="-342265">
              <a:spcBef>
                <a:spcPts val="675"/>
              </a:spcBef>
              <a:buFont typeface="Microsoft Sans Serif"/>
              <a:buChar char="•"/>
              <a:tabLst>
                <a:tab pos="354965" algn="l"/>
              </a:tabLst>
            </a:pPr>
            <a:r>
              <a:rPr sz="2800" b="1" dirty="0">
                <a:latin typeface="Arial"/>
                <a:cs typeface="Arial"/>
              </a:rPr>
              <a:t>Line</a:t>
            </a:r>
            <a:r>
              <a:rPr sz="2800" b="1" spc="-75" dirty="0">
                <a:latin typeface="Arial"/>
                <a:cs typeface="Arial"/>
              </a:rPr>
              <a:t> </a:t>
            </a:r>
            <a:r>
              <a:rPr sz="2800" b="1" dirty="0">
                <a:latin typeface="Arial"/>
                <a:cs typeface="Arial"/>
              </a:rPr>
              <a:t>35</a:t>
            </a:r>
            <a:r>
              <a:rPr sz="2800" b="1" spc="-80" dirty="0">
                <a:latin typeface="Arial"/>
                <a:cs typeface="Arial"/>
              </a:rPr>
              <a:t> </a:t>
            </a:r>
            <a:r>
              <a:rPr sz="2800" dirty="0">
                <a:latin typeface="Microsoft Sans Serif"/>
                <a:cs typeface="Microsoft Sans Serif"/>
              </a:rPr>
              <a:t>implements</a:t>
            </a:r>
            <a:r>
              <a:rPr sz="2800" spc="-35" dirty="0">
                <a:latin typeface="Microsoft Sans Serif"/>
                <a:cs typeface="Microsoft Sans Serif"/>
              </a:rPr>
              <a:t> </a:t>
            </a:r>
            <a:r>
              <a:rPr sz="2800" dirty="0">
                <a:latin typeface="Microsoft Sans Serif"/>
                <a:cs typeface="Microsoft Sans Serif"/>
              </a:rPr>
              <a:t>filtered</a:t>
            </a:r>
            <a:r>
              <a:rPr sz="2800" spc="-45" dirty="0">
                <a:latin typeface="Microsoft Sans Serif"/>
                <a:cs typeface="Microsoft Sans Serif"/>
              </a:rPr>
              <a:t> </a:t>
            </a:r>
            <a:r>
              <a:rPr sz="2800" spc="-25" dirty="0">
                <a:latin typeface="Microsoft Sans Serif"/>
                <a:cs typeface="Microsoft Sans Serif"/>
              </a:rPr>
              <a:t>BP</a:t>
            </a:r>
            <a:endParaRPr sz="2800">
              <a:latin typeface="Microsoft Sans Serif"/>
              <a:cs typeface="Microsoft Sans Serif"/>
            </a:endParaRPr>
          </a:p>
          <a:p>
            <a:pPr marL="756285" lvl="1" indent="-286385">
              <a:spcBef>
                <a:spcPts val="590"/>
              </a:spcBef>
              <a:buChar char="–"/>
              <a:tabLst>
                <a:tab pos="756285" algn="l"/>
              </a:tabLst>
            </a:pPr>
            <a:r>
              <a:rPr sz="2400" spc="-10" dirty="0">
                <a:latin typeface="Microsoft Sans Serif"/>
                <a:cs typeface="Microsoft Sans Serif"/>
              </a:rPr>
              <a:t>‘Hamming’</a:t>
            </a:r>
            <a:r>
              <a:rPr sz="2400" spc="-85" dirty="0">
                <a:latin typeface="Microsoft Sans Serif"/>
                <a:cs typeface="Microsoft Sans Serif"/>
              </a:rPr>
              <a:t> </a:t>
            </a:r>
            <a:r>
              <a:rPr sz="2400" dirty="0">
                <a:latin typeface="Microsoft Sans Serif"/>
                <a:cs typeface="Microsoft Sans Serif"/>
              </a:rPr>
              <a:t>can</a:t>
            </a:r>
            <a:r>
              <a:rPr sz="2400" spc="-40" dirty="0">
                <a:latin typeface="Microsoft Sans Serif"/>
                <a:cs typeface="Microsoft Sans Serif"/>
              </a:rPr>
              <a:t> </a:t>
            </a:r>
            <a:r>
              <a:rPr sz="2400" dirty="0">
                <a:latin typeface="Microsoft Sans Serif"/>
                <a:cs typeface="Microsoft Sans Serif"/>
              </a:rPr>
              <a:t>be</a:t>
            </a:r>
            <a:r>
              <a:rPr sz="2400" spc="-35" dirty="0">
                <a:latin typeface="Microsoft Sans Serif"/>
                <a:cs typeface="Microsoft Sans Serif"/>
              </a:rPr>
              <a:t> </a:t>
            </a:r>
            <a:r>
              <a:rPr sz="2400" dirty="0">
                <a:latin typeface="Microsoft Sans Serif"/>
                <a:cs typeface="Microsoft Sans Serif"/>
              </a:rPr>
              <a:t>replaced</a:t>
            </a:r>
            <a:r>
              <a:rPr sz="2400" spc="-15" dirty="0">
                <a:latin typeface="Microsoft Sans Serif"/>
                <a:cs typeface="Microsoft Sans Serif"/>
              </a:rPr>
              <a:t> </a:t>
            </a:r>
            <a:r>
              <a:rPr sz="2400" dirty="0">
                <a:latin typeface="Microsoft Sans Serif"/>
                <a:cs typeface="Microsoft Sans Serif"/>
              </a:rPr>
              <a:t>with</a:t>
            </a:r>
            <a:r>
              <a:rPr sz="2400" spc="-35" dirty="0">
                <a:latin typeface="Microsoft Sans Serif"/>
                <a:cs typeface="Microsoft Sans Serif"/>
              </a:rPr>
              <a:t> </a:t>
            </a:r>
            <a:r>
              <a:rPr sz="2400" dirty="0">
                <a:latin typeface="Microsoft Sans Serif"/>
                <a:cs typeface="Microsoft Sans Serif"/>
              </a:rPr>
              <a:t>other</a:t>
            </a:r>
            <a:r>
              <a:rPr sz="2400" spc="-35" dirty="0">
                <a:latin typeface="Microsoft Sans Serif"/>
                <a:cs typeface="Microsoft Sans Serif"/>
              </a:rPr>
              <a:t> </a:t>
            </a:r>
            <a:r>
              <a:rPr sz="2400" dirty="0">
                <a:latin typeface="Microsoft Sans Serif"/>
                <a:cs typeface="Microsoft Sans Serif"/>
              </a:rPr>
              <a:t>filter</a:t>
            </a:r>
            <a:r>
              <a:rPr sz="2400" spc="-40" dirty="0">
                <a:latin typeface="Microsoft Sans Serif"/>
                <a:cs typeface="Microsoft Sans Serif"/>
              </a:rPr>
              <a:t> </a:t>
            </a:r>
            <a:r>
              <a:rPr sz="2400" spc="-20" dirty="0">
                <a:latin typeface="Microsoft Sans Serif"/>
                <a:cs typeface="Microsoft Sans Serif"/>
              </a:rPr>
              <a:t>types</a:t>
            </a:r>
            <a:endParaRPr sz="2400">
              <a:latin typeface="Microsoft Sans Serif"/>
              <a:cs typeface="Microsoft Sans Serif"/>
            </a:endParaRPr>
          </a:p>
          <a:p>
            <a:pPr marL="1155700" lvl="2" indent="-228600">
              <a:spcBef>
                <a:spcPts val="484"/>
              </a:spcBef>
              <a:buChar char="•"/>
              <a:tabLst>
                <a:tab pos="1155700" algn="l"/>
              </a:tabLst>
            </a:pPr>
            <a:r>
              <a:rPr sz="2000" spc="-10" dirty="0">
                <a:latin typeface="Microsoft Sans Serif"/>
                <a:cs typeface="Microsoft Sans Serif"/>
              </a:rPr>
              <a:t>‘Ram-</a:t>
            </a:r>
            <a:r>
              <a:rPr sz="2000" spc="-20" dirty="0">
                <a:latin typeface="Microsoft Sans Serif"/>
                <a:cs typeface="Microsoft Sans Serif"/>
              </a:rPr>
              <a:t>Lak’</a:t>
            </a:r>
            <a:endParaRPr sz="2000">
              <a:latin typeface="Microsoft Sans Serif"/>
              <a:cs typeface="Microsoft Sans Serif"/>
            </a:endParaRPr>
          </a:p>
          <a:p>
            <a:pPr marL="1155700" lvl="2" indent="-228600">
              <a:spcBef>
                <a:spcPts val="480"/>
              </a:spcBef>
              <a:buChar char="•"/>
              <a:tabLst>
                <a:tab pos="1155700" algn="l"/>
              </a:tabLst>
            </a:pPr>
            <a:r>
              <a:rPr sz="2000" spc="-10" dirty="0">
                <a:latin typeface="Microsoft Sans Serif"/>
                <a:cs typeface="Microsoft Sans Serif"/>
              </a:rPr>
              <a:t>‘Shepp-Logan’</a:t>
            </a:r>
            <a:endParaRPr sz="2000">
              <a:latin typeface="Microsoft Sans Serif"/>
              <a:cs typeface="Microsoft Sans Serif"/>
            </a:endParaRPr>
          </a:p>
        </p:txBody>
      </p:sp>
      <p:sp>
        <p:nvSpPr>
          <p:cNvPr id="4" name="object 4"/>
          <p:cNvSpPr txBox="1"/>
          <p:nvPr/>
        </p:nvSpPr>
        <p:spPr>
          <a:xfrm>
            <a:off x="1067054" y="3548205"/>
            <a:ext cx="1160780" cy="756920"/>
          </a:xfrm>
          <a:prstGeom prst="rect">
            <a:avLst/>
          </a:prstGeom>
        </p:spPr>
        <p:txBody>
          <a:bodyPr vert="horz" wrap="square" lIns="0" tIns="73660" rIns="0" bIns="0" rtlCol="0">
            <a:spAutoFit/>
          </a:bodyPr>
          <a:lstStyle/>
          <a:p>
            <a:pPr marL="240665" indent="-227965">
              <a:spcBef>
                <a:spcPts val="580"/>
              </a:spcBef>
              <a:buChar char="•"/>
              <a:tabLst>
                <a:tab pos="240665" algn="l"/>
              </a:tabLst>
            </a:pPr>
            <a:r>
              <a:rPr sz="2000" spc="-10" dirty="0">
                <a:latin typeface="Microsoft Sans Serif"/>
                <a:cs typeface="Microsoft Sans Serif"/>
              </a:rPr>
              <a:t>‘Cosine’</a:t>
            </a:r>
            <a:endParaRPr sz="2000">
              <a:latin typeface="Microsoft Sans Serif"/>
              <a:cs typeface="Microsoft Sans Serif"/>
            </a:endParaRPr>
          </a:p>
          <a:p>
            <a:pPr marL="240665" indent="-227965">
              <a:spcBef>
                <a:spcPts val="480"/>
              </a:spcBef>
              <a:buChar char="•"/>
              <a:tabLst>
                <a:tab pos="240665" algn="l"/>
              </a:tabLst>
            </a:pPr>
            <a:r>
              <a:rPr sz="2000" spc="-10" dirty="0">
                <a:latin typeface="Microsoft Sans Serif"/>
                <a:cs typeface="Microsoft Sans Serif"/>
              </a:rPr>
              <a:t>‘Hann’</a:t>
            </a:r>
            <a:endParaRPr sz="2000">
              <a:latin typeface="Microsoft Sans Serif"/>
              <a:cs typeface="Microsoft Sans Serif"/>
            </a:endParaRPr>
          </a:p>
        </p:txBody>
      </p:sp>
      <p:grpSp>
        <p:nvGrpSpPr>
          <p:cNvPr id="5" name="object 5"/>
          <p:cNvGrpSpPr/>
          <p:nvPr/>
        </p:nvGrpSpPr>
        <p:grpSpPr>
          <a:xfrm>
            <a:off x="3663647" y="3783252"/>
            <a:ext cx="1987550" cy="1982470"/>
            <a:chOff x="4047187" y="4483425"/>
            <a:chExt cx="1987550" cy="1982470"/>
          </a:xfrm>
        </p:grpSpPr>
        <p:pic>
          <p:nvPicPr>
            <p:cNvPr id="6" name="object 6"/>
            <p:cNvPicPr/>
            <p:nvPr/>
          </p:nvPicPr>
          <p:blipFill>
            <a:blip r:embed="rId3" cstate="print"/>
            <a:stretch>
              <a:fillRect/>
            </a:stretch>
          </p:blipFill>
          <p:spPr>
            <a:xfrm>
              <a:off x="4048127" y="4494853"/>
              <a:ext cx="1970749" cy="1963290"/>
            </a:xfrm>
            <a:prstGeom prst="rect">
              <a:avLst/>
            </a:prstGeom>
          </p:spPr>
        </p:pic>
        <p:sp>
          <p:nvSpPr>
            <p:cNvPr id="7" name="object 7"/>
            <p:cNvSpPr/>
            <p:nvPr/>
          </p:nvSpPr>
          <p:spPr>
            <a:xfrm>
              <a:off x="4048127" y="6454981"/>
              <a:ext cx="1971039" cy="0"/>
            </a:xfrm>
            <a:custGeom>
              <a:avLst/>
              <a:gdLst/>
              <a:ahLst/>
              <a:cxnLst/>
              <a:rect l="l" t="t" r="r" b="b"/>
              <a:pathLst>
                <a:path w="1971039">
                  <a:moveTo>
                    <a:pt x="0" y="0"/>
                  </a:moveTo>
                  <a:lnTo>
                    <a:pt x="1970695" y="0"/>
                  </a:lnTo>
                </a:path>
              </a:pathLst>
            </a:custGeom>
            <a:ln w="3175">
              <a:solidFill>
                <a:srgbClr val="000000"/>
              </a:solidFill>
            </a:ln>
          </p:spPr>
          <p:txBody>
            <a:bodyPr wrap="square" lIns="0" tIns="0" rIns="0" bIns="0" rtlCol="0"/>
            <a:lstStyle/>
            <a:p>
              <a:endParaRPr/>
            </a:p>
          </p:txBody>
        </p:sp>
        <p:sp>
          <p:nvSpPr>
            <p:cNvPr id="8" name="object 8"/>
            <p:cNvSpPr/>
            <p:nvPr/>
          </p:nvSpPr>
          <p:spPr>
            <a:xfrm>
              <a:off x="6024190" y="6460233"/>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9" name="object 9"/>
            <p:cNvSpPr/>
            <p:nvPr/>
          </p:nvSpPr>
          <p:spPr>
            <a:xfrm>
              <a:off x="4048127" y="4484363"/>
              <a:ext cx="1971039" cy="0"/>
            </a:xfrm>
            <a:custGeom>
              <a:avLst/>
              <a:gdLst/>
              <a:ahLst/>
              <a:cxnLst/>
              <a:rect l="l" t="t" r="r" b="b"/>
              <a:pathLst>
                <a:path w="1971039">
                  <a:moveTo>
                    <a:pt x="0" y="0"/>
                  </a:moveTo>
                  <a:lnTo>
                    <a:pt x="1970695" y="0"/>
                  </a:lnTo>
                </a:path>
              </a:pathLst>
            </a:custGeom>
            <a:ln w="3175">
              <a:solidFill>
                <a:srgbClr val="000000"/>
              </a:solidFill>
            </a:ln>
          </p:spPr>
          <p:txBody>
            <a:bodyPr wrap="square" lIns="0" tIns="0" rIns="0" bIns="0" rtlCol="0"/>
            <a:lstStyle/>
            <a:p>
              <a:endParaRPr/>
            </a:p>
          </p:txBody>
        </p:sp>
        <p:sp>
          <p:nvSpPr>
            <p:cNvPr id="10" name="object 10"/>
            <p:cNvSpPr/>
            <p:nvPr/>
          </p:nvSpPr>
          <p:spPr>
            <a:xfrm>
              <a:off x="6024190" y="4489588"/>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1" name="object 11"/>
            <p:cNvSpPr/>
            <p:nvPr/>
          </p:nvSpPr>
          <p:spPr>
            <a:xfrm>
              <a:off x="6018822" y="4484363"/>
              <a:ext cx="0" cy="1971039"/>
            </a:xfrm>
            <a:custGeom>
              <a:avLst/>
              <a:gdLst/>
              <a:ahLst/>
              <a:cxnLst/>
              <a:rect l="l" t="t" r="r" b="b"/>
              <a:pathLst>
                <a:path h="1971039">
                  <a:moveTo>
                    <a:pt x="0" y="0"/>
                  </a:moveTo>
                  <a:lnTo>
                    <a:pt x="0" y="1970618"/>
                  </a:lnTo>
                </a:path>
              </a:pathLst>
            </a:custGeom>
            <a:ln w="3175">
              <a:solidFill>
                <a:srgbClr val="000000"/>
              </a:solidFill>
            </a:ln>
          </p:spPr>
          <p:txBody>
            <a:bodyPr wrap="square" lIns="0" tIns="0" rIns="0" bIns="0" rtlCol="0"/>
            <a:lstStyle/>
            <a:p>
              <a:endParaRPr/>
            </a:p>
          </p:txBody>
        </p:sp>
        <p:sp>
          <p:nvSpPr>
            <p:cNvPr id="12" name="object 12"/>
            <p:cNvSpPr/>
            <p:nvPr/>
          </p:nvSpPr>
          <p:spPr>
            <a:xfrm>
              <a:off x="6024190" y="6460233"/>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3" name="object 13"/>
            <p:cNvSpPr/>
            <p:nvPr/>
          </p:nvSpPr>
          <p:spPr>
            <a:xfrm>
              <a:off x="4048127" y="4484363"/>
              <a:ext cx="0" cy="1971039"/>
            </a:xfrm>
            <a:custGeom>
              <a:avLst/>
              <a:gdLst/>
              <a:ahLst/>
              <a:cxnLst/>
              <a:rect l="l" t="t" r="r" b="b"/>
              <a:pathLst>
                <a:path h="1971039">
                  <a:moveTo>
                    <a:pt x="0" y="0"/>
                  </a:moveTo>
                  <a:lnTo>
                    <a:pt x="0" y="1970618"/>
                  </a:lnTo>
                </a:path>
              </a:pathLst>
            </a:custGeom>
            <a:ln w="3175">
              <a:solidFill>
                <a:srgbClr val="000000"/>
              </a:solidFill>
            </a:ln>
          </p:spPr>
          <p:txBody>
            <a:bodyPr wrap="square" lIns="0" tIns="0" rIns="0" bIns="0" rtlCol="0"/>
            <a:lstStyle/>
            <a:p>
              <a:endParaRPr/>
            </a:p>
          </p:txBody>
        </p:sp>
        <p:sp>
          <p:nvSpPr>
            <p:cNvPr id="14" name="object 14"/>
            <p:cNvSpPr/>
            <p:nvPr/>
          </p:nvSpPr>
          <p:spPr>
            <a:xfrm>
              <a:off x="4053387" y="6460233"/>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15" name="object 15"/>
            <p:cNvSpPr/>
            <p:nvPr/>
          </p:nvSpPr>
          <p:spPr>
            <a:xfrm>
              <a:off x="4048127" y="6454981"/>
              <a:ext cx="1971039" cy="0"/>
            </a:xfrm>
            <a:custGeom>
              <a:avLst/>
              <a:gdLst/>
              <a:ahLst/>
              <a:cxnLst/>
              <a:rect l="l" t="t" r="r" b="b"/>
              <a:pathLst>
                <a:path w="1971039">
                  <a:moveTo>
                    <a:pt x="0" y="0"/>
                  </a:moveTo>
                  <a:lnTo>
                    <a:pt x="1970695" y="0"/>
                  </a:lnTo>
                </a:path>
              </a:pathLst>
            </a:custGeom>
            <a:ln w="3175">
              <a:solidFill>
                <a:srgbClr val="000000"/>
              </a:solidFill>
            </a:ln>
          </p:spPr>
          <p:txBody>
            <a:bodyPr wrap="square" lIns="0" tIns="0" rIns="0" bIns="0" rtlCol="0"/>
            <a:lstStyle/>
            <a:p>
              <a:endParaRPr/>
            </a:p>
          </p:txBody>
        </p:sp>
        <p:sp>
          <p:nvSpPr>
            <p:cNvPr id="16" name="object 16"/>
            <p:cNvSpPr/>
            <p:nvPr/>
          </p:nvSpPr>
          <p:spPr>
            <a:xfrm>
              <a:off x="6024190" y="6460233"/>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7" name="object 17"/>
            <p:cNvSpPr/>
            <p:nvPr/>
          </p:nvSpPr>
          <p:spPr>
            <a:xfrm>
              <a:off x="4048127" y="4484363"/>
              <a:ext cx="0" cy="1971039"/>
            </a:xfrm>
            <a:custGeom>
              <a:avLst/>
              <a:gdLst/>
              <a:ahLst/>
              <a:cxnLst/>
              <a:rect l="l" t="t" r="r" b="b"/>
              <a:pathLst>
                <a:path h="1971039">
                  <a:moveTo>
                    <a:pt x="0" y="0"/>
                  </a:moveTo>
                  <a:lnTo>
                    <a:pt x="0" y="1970618"/>
                  </a:lnTo>
                </a:path>
              </a:pathLst>
            </a:custGeom>
            <a:ln w="3175">
              <a:solidFill>
                <a:srgbClr val="000000"/>
              </a:solidFill>
            </a:ln>
          </p:spPr>
          <p:txBody>
            <a:bodyPr wrap="square" lIns="0" tIns="0" rIns="0" bIns="0" rtlCol="0"/>
            <a:lstStyle/>
            <a:p>
              <a:endParaRPr/>
            </a:p>
          </p:txBody>
        </p:sp>
        <p:sp>
          <p:nvSpPr>
            <p:cNvPr id="18" name="object 18"/>
            <p:cNvSpPr/>
            <p:nvPr/>
          </p:nvSpPr>
          <p:spPr>
            <a:xfrm>
              <a:off x="4053387" y="6460233"/>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19" name="object 19"/>
            <p:cNvSpPr/>
            <p:nvPr/>
          </p:nvSpPr>
          <p:spPr>
            <a:xfrm>
              <a:off x="4416970" y="6433949"/>
              <a:ext cx="0" cy="21590"/>
            </a:xfrm>
            <a:custGeom>
              <a:avLst/>
              <a:gdLst/>
              <a:ahLst/>
              <a:cxnLst/>
              <a:rect l="l" t="t" r="r" b="b"/>
              <a:pathLst>
                <a:path h="21589">
                  <a:moveTo>
                    <a:pt x="0" y="21032"/>
                  </a:moveTo>
                  <a:lnTo>
                    <a:pt x="0" y="0"/>
                  </a:lnTo>
                </a:path>
              </a:pathLst>
            </a:custGeom>
            <a:ln w="3175">
              <a:solidFill>
                <a:srgbClr val="000000"/>
              </a:solidFill>
            </a:ln>
          </p:spPr>
          <p:txBody>
            <a:bodyPr wrap="square" lIns="0" tIns="0" rIns="0" bIns="0" rtlCol="0"/>
            <a:lstStyle/>
            <a:p>
              <a:endParaRPr/>
            </a:p>
          </p:txBody>
        </p:sp>
        <p:sp>
          <p:nvSpPr>
            <p:cNvPr id="20" name="object 20"/>
            <p:cNvSpPr/>
            <p:nvPr/>
          </p:nvSpPr>
          <p:spPr>
            <a:xfrm>
              <a:off x="4422230" y="6439200"/>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21" name="object 21"/>
            <p:cNvSpPr/>
            <p:nvPr/>
          </p:nvSpPr>
          <p:spPr>
            <a:xfrm>
              <a:off x="4416970" y="4484363"/>
              <a:ext cx="0" cy="21590"/>
            </a:xfrm>
            <a:custGeom>
              <a:avLst/>
              <a:gdLst/>
              <a:ahLst/>
              <a:cxnLst/>
              <a:rect l="l" t="t" r="r" b="b"/>
              <a:pathLst>
                <a:path h="21589">
                  <a:moveTo>
                    <a:pt x="0" y="0"/>
                  </a:moveTo>
                  <a:lnTo>
                    <a:pt x="0" y="21032"/>
                  </a:lnTo>
                </a:path>
              </a:pathLst>
            </a:custGeom>
            <a:ln w="3175">
              <a:solidFill>
                <a:srgbClr val="000000"/>
              </a:solidFill>
            </a:ln>
          </p:spPr>
          <p:txBody>
            <a:bodyPr wrap="square" lIns="0" tIns="0" rIns="0" bIns="0" rtlCol="0"/>
            <a:lstStyle/>
            <a:p>
              <a:endParaRPr/>
            </a:p>
          </p:txBody>
        </p:sp>
        <p:sp>
          <p:nvSpPr>
            <p:cNvPr id="22" name="object 22"/>
            <p:cNvSpPr/>
            <p:nvPr/>
          </p:nvSpPr>
          <p:spPr>
            <a:xfrm>
              <a:off x="4422230" y="4510620"/>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23" name="object 23"/>
            <p:cNvSpPr/>
            <p:nvPr/>
          </p:nvSpPr>
          <p:spPr>
            <a:xfrm>
              <a:off x="4806839" y="6433949"/>
              <a:ext cx="0" cy="21590"/>
            </a:xfrm>
            <a:custGeom>
              <a:avLst/>
              <a:gdLst/>
              <a:ahLst/>
              <a:cxnLst/>
              <a:rect l="l" t="t" r="r" b="b"/>
              <a:pathLst>
                <a:path h="21589">
                  <a:moveTo>
                    <a:pt x="0" y="21032"/>
                  </a:moveTo>
                  <a:lnTo>
                    <a:pt x="0" y="0"/>
                  </a:lnTo>
                </a:path>
              </a:pathLst>
            </a:custGeom>
            <a:ln w="3175">
              <a:solidFill>
                <a:srgbClr val="000000"/>
              </a:solidFill>
            </a:ln>
          </p:spPr>
          <p:txBody>
            <a:bodyPr wrap="square" lIns="0" tIns="0" rIns="0" bIns="0" rtlCol="0"/>
            <a:lstStyle/>
            <a:p>
              <a:endParaRPr/>
            </a:p>
          </p:txBody>
        </p:sp>
        <p:sp>
          <p:nvSpPr>
            <p:cNvPr id="24" name="object 24"/>
            <p:cNvSpPr/>
            <p:nvPr/>
          </p:nvSpPr>
          <p:spPr>
            <a:xfrm>
              <a:off x="4812099" y="6439200"/>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25" name="object 25"/>
            <p:cNvSpPr/>
            <p:nvPr/>
          </p:nvSpPr>
          <p:spPr>
            <a:xfrm>
              <a:off x="4806839" y="4484363"/>
              <a:ext cx="0" cy="21590"/>
            </a:xfrm>
            <a:custGeom>
              <a:avLst/>
              <a:gdLst/>
              <a:ahLst/>
              <a:cxnLst/>
              <a:rect l="l" t="t" r="r" b="b"/>
              <a:pathLst>
                <a:path h="21589">
                  <a:moveTo>
                    <a:pt x="0" y="0"/>
                  </a:moveTo>
                  <a:lnTo>
                    <a:pt x="0" y="21032"/>
                  </a:lnTo>
                </a:path>
              </a:pathLst>
            </a:custGeom>
            <a:ln w="3175">
              <a:solidFill>
                <a:srgbClr val="000000"/>
              </a:solidFill>
            </a:ln>
          </p:spPr>
          <p:txBody>
            <a:bodyPr wrap="square" lIns="0" tIns="0" rIns="0" bIns="0" rtlCol="0"/>
            <a:lstStyle/>
            <a:p>
              <a:endParaRPr/>
            </a:p>
          </p:txBody>
        </p:sp>
        <p:sp>
          <p:nvSpPr>
            <p:cNvPr id="26" name="object 26"/>
            <p:cNvSpPr/>
            <p:nvPr/>
          </p:nvSpPr>
          <p:spPr>
            <a:xfrm>
              <a:off x="4812099" y="4510620"/>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27" name="object 27"/>
            <p:cNvSpPr/>
            <p:nvPr/>
          </p:nvSpPr>
          <p:spPr>
            <a:xfrm>
              <a:off x="5186215" y="6433949"/>
              <a:ext cx="0" cy="21590"/>
            </a:xfrm>
            <a:custGeom>
              <a:avLst/>
              <a:gdLst/>
              <a:ahLst/>
              <a:cxnLst/>
              <a:rect l="l" t="t" r="r" b="b"/>
              <a:pathLst>
                <a:path h="21589">
                  <a:moveTo>
                    <a:pt x="0" y="21032"/>
                  </a:moveTo>
                  <a:lnTo>
                    <a:pt x="0" y="0"/>
                  </a:lnTo>
                </a:path>
              </a:pathLst>
            </a:custGeom>
            <a:ln w="3175">
              <a:solidFill>
                <a:srgbClr val="000000"/>
              </a:solidFill>
            </a:ln>
          </p:spPr>
          <p:txBody>
            <a:bodyPr wrap="square" lIns="0" tIns="0" rIns="0" bIns="0" rtlCol="0"/>
            <a:lstStyle/>
            <a:p>
              <a:endParaRPr/>
            </a:p>
          </p:txBody>
        </p:sp>
        <p:sp>
          <p:nvSpPr>
            <p:cNvPr id="28" name="object 28"/>
            <p:cNvSpPr/>
            <p:nvPr/>
          </p:nvSpPr>
          <p:spPr>
            <a:xfrm>
              <a:off x="5191449" y="6439200"/>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29" name="object 29"/>
            <p:cNvSpPr/>
            <p:nvPr/>
          </p:nvSpPr>
          <p:spPr>
            <a:xfrm>
              <a:off x="5186215" y="4484363"/>
              <a:ext cx="0" cy="21590"/>
            </a:xfrm>
            <a:custGeom>
              <a:avLst/>
              <a:gdLst/>
              <a:ahLst/>
              <a:cxnLst/>
              <a:rect l="l" t="t" r="r" b="b"/>
              <a:pathLst>
                <a:path h="21589">
                  <a:moveTo>
                    <a:pt x="0" y="0"/>
                  </a:moveTo>
                  <a:lnTo>
                    <a:pt x="0" y="21032"/>
                  </a:lnTo>
                </a:path>
              </a:pathLst>
            </a:custGeom>
            <a:ln w="3175">
              <a:solidFill>
                <a:srgbClr val="000000"/>
              </a:solidFill>
            </a:ln>
          </p:spPr>
          <p:txBody>
            <a:bodyPr wrap="square" lIns="0" tIns="0" rIns="0" bIns="0" rtlCol="0"/>
            <a:lstStyle/>
            <a:p>
              <a:endParaRPr/>
            </a:p>
          </p:txBody>
        </p:sp>
        <p:sp>
          <p:nvSpPr>
            <p:cNvPr id="30" name="object 30"/>
            <p:cNvSpPr/>
            <p:nvPr/>
          </p:nvSpPr>
          <p:spPr>
            <a:xfrm>
              <a:off x="5191449" y="4510620"/>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31" name="object 31"/>
            <p:cNvSpPr/>
            <p:nvPr/>
          </p:nvSpPr>
          <p:spPr>
            <a:xfrm>
              <a:off x="5565551" y="6433949"/>
              <a:ext cx="0" cy="21590"/>
            </a:xfrm>
            <a:custGeom>
              <a:avLst/>
              <a:gdLst/>
              <a:ahLst/>
              <a:cxnLst/>
              <a:rect l="l" t="t" r="r" b="b"/>
              <a:pathLst>
                <a:path h="21589">
                  <a:moveTo>
                    <a:pt x="0" y="21032"/>
                  </a:moveTo>
                  <a:lnTo>
                    <a:pt x="0" y="0"/>
                  </a:lnTo>
                </a:path>
              </a:pathLst>
            </a:custGeom>
            <a:ln w="3175">
              <a:solidFill>
                <a:srgbClr val="000000"/>
              </a:solidFill>
            </a:ln>
          </p:spPr>
          <p:txBody>
            <a:bodyPr wrap="square" lIns="0" tIns="0" rIns="0" bIns="0" rtlCol="0"/>
            <a:lstStyle/>
            <a:p>
              <a:endParaRPr/>
            </a:p>
          </p:txBody>
        </p:sp>
        <p:sp>
          <p:nvSpPr>
            <p:cNvPr id="32" name="object 32"/>
            <p:cNvSpPr/>
            <p:nvPr/>
          </p:nvSpPr>
          <p:spPr>
            <a:xfrm>
              <a:off x="5570785" y="6439200"/>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33" name="object 33"/>
            <p:cNvSpPr/>
            <p:nvPr/>
          </p:nvSpPr>
          <p:spPr>
            <a:xfrm>
              <a:off x="5565551" y="4484363"/>
              <a:ext cx="0" cy="21590"/>
            </a:xfrm>
            <a:custGeom>
              <a:avLst/>
              <a:gdLst/>
              <a:ahLst/>
              <a:cxnLst/>
              <a:rect l="l" t="t" r="r" b="b"/>
              <a:pathLst>
                <a:path h="21589">
                  <a:moveTo>
                    <a:pt x="0" y="0"/>
                  </a:moveTo>
                  <a:lnTo>
                    <a:pt x="0" y="21032"/>
                  </a:lnTo>
                </a:path>
              </a:pathLst>
            </a:custGeom>
            <a:ln w="3175">
              <a:solidFill>
                <a:srgbClr val="000000"/>
              </a:solidFill>
            </a:ln>
          </p:spPr>
          <p:txBody>
            <a:bodyPr wrap="square" lIns="0" tIns="0" rIns="0" bIns="0" rtlCol="0"/>
            <a:lstStyle/>
            <a:p>
              <a:endParaRPr/>
            </a:p>
          </p:txBody>
        </p:sp>
        <p:sp>
          <p:nvSpPr>
            <p:cNvPr id="34" name="object 34"/>
            <p:cNvSpPr/>
            <p:nvPr/>
          </p:nvSpPr>
          <p:spPr>
            <a:xfrm>
              <a:off x="5570785" y="4510620"/>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35" name="object 35"/>
            <p:cNvSpPr/>
            <p:nvPr/>
          </p:nvSpPr>
          <p:spPr>
            <a:xfrm>
              <a:off x="5944888" y="6433949"/>
              <a:ext cx="0" cy="21590"/>
            </a:xfrm>
            <a:custGeom>
              <a:avLst/>
              <a:gdLst/>
              <a:ahLst/>
              <a:cxnLst/>
              <a:rect l="l" t="t" r="r" b="b"/>
              <a:pathLst>
                <a:path h="21589">
                  <a:moveTo>
                    <a:pt x="0" y="21032"/>
                  </a:moveTo>
                  <a:lnTo>
                    <a:pt x="0" y="0"/>
                  </a:lnTo>
                </a:path>
              </a:pathLst>
            </a:custGeom>
            <a:ln w="3175">
              <a:solidFill>
                <a:srgbClr val="000000"/>
              </a:solidFill>
            </a:ln>
          </p:spPr>
          <p:txBody>
            <a:bodyPr wrap="square" lIns="0" tIns="0" rIns="0" bIns="0" rtlCol="0"/>
            <a:lstStyle/>
            <a:p>
              <a:endParaRPr/>
            </a:p>
          </p:txBody>
        </p:sp>
        <p:sp>
          <p:nvSpPr>
            <p:cNvPr id="36" name="object 36"/>
            <p:cNvSpPr/>
            <p:nvPr/>
          </p:nvSpPr>
          <p:spPr>
            <a:xfrm>
              <a:off x="5950121" y="6439200"/>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37" name="object 37"/>
            <p:cNvSpPr/>
            <p:nvPr/>
          </p:nvSpPr>
          <p:spPr>
            <a:xfrm>
              <a:off x="5944888" y="4484363"/>
              <a:ext cx="0" cy="21590"/>
            </a:xfrm>
            <a:custGeom>
              <a:avLst/>
              <a:gdLst/>
              <a:ahLst/>
              <a:cxnLst/>
              <a:rect l="l" t="t" r="r" b="b"/>
              <a:pathLst>
                <a:path h="21589">
                  <a:moveTo>
                    <a:pt x="0" y="0"/>
                  </a:moveTo>
                  <a:lnTo>
                    <a:pt x="0" y="21032"/>
                  </a:lnTo>
                </a:path>
              </a:pathLst>
            </a:custGeom>
            <a:ln w="3175">
              <a:solidFill>
                <a:srgbClr val="000000"/>
              </a:solidFill>
            </a:ln>
          </p:spPr>
          <p:txBody>
            <a:bodyPr wrap="square" lIns="0" tIns="0" rIns="0" bIns="0" rtlCol="0"/>
            <a:lstStyle/>
            <a:p>
              <a:endParaRPr/>
            </a:p>
          </p:txBody>
        </p:sp>
        <p:sp>
          <p:nvSpPr>
            <p:cNvPr id="38" name="object 38"/>
            <p:cNvSpPr/>
            <p:nvPr/>
          </p:nvSpPr>
          <p:spPr>
            <a:xfrm>
              <a:off x="5950121" y="4510620"/>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39" name="object 39"/>
            <p:cNvSpPr/>
            <p:nvPr/>
          </p:nvSpPr>
          <p:spPr>
            <a:xfrm>
              <a:off x="4048127" y="4863887"/>
              <a:ext cx="10795" cy="0"/>
            </a:xfrm>
            <a:custGeom>
              <a:avLst/>
              <a:gdLst/>
              <a:ahLst/>
              <a:cxnLst/>
              <a:rect l="l" t="t" r="r" b="b"/>
              <a:pathLst>
                <a:path w="10795">
                  <a:moveTo>
                    <a:pt x="0" y="0"/>
                  </a:moveTo>
                  <a:lnTo>
                    <a:pt x="10519" y="0"/>
                  </a:lnTo>
                </a:path>
              </a:pathLst>
            </a:custGeom>
            <a:ln w="3175">
              <a:solidFill>
                <a:srgbClr val="000000"/>
              </a:solidFill>
            </a:ln>
          </p:spPr>
          <p:txBody>
            <a:bodyPr wrap="square" lIns="0" tIns="0" rIns="0" bIns="0" rtlCol="0"/>
            <a:lstStyle/>
            <a:p>
              <a:endParaRPr/>
            </a:p>
          </p:txBody>
        </p:sp>
        <p:sp>
          <p:nvSpPr>
            <p:cNvPr id="40" name="object 40"/>
            <p:cNvSpPr/>
            <p:nvPr/>
          </p:nvSpPr>
          <p:spPr>
            <a:xfrm>
              <a:off x="4063907" y="4869112"/>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41" name="object 41"/>
            <p:cNvSpPr/>
            <p:nvPr/>
          </p:nvSpPr>
          <p:spPr>
            <a:xfrm>
              <a:off x="5997487" y="4863887"/>
              <a:ext cx="21590" cy="0"/>
            </a:xfrm>
            <a:custGeom>
              <a:avLst/>
              <a:gdLst/>
              <a:ahLst/>
              <a:cxnLst/>
              <a:rect l="l" t="t" r="r" b="b"/>
              <a:pathLst>
                <a:path w="21589">
                  <a:moveTo>
                    <a:pt x="21335" y="0"/>
                  </a:moveTo>
                  <a:lnTo>
                    <a:pt x="0" y="0"/>
                  </a:lnTo>
                </a:path>
              </a:pathLst>
            </a:custGeom>
            <a:ln w="3175">
              <a:solidFill>
                <a:srgbClr val="000000"/>
              </a:solidFill>
            </a:ln>
          </p:spPr>
          <p:txBody>
            <a:bodyPr wrap="square" lIns="0" tIns="0" rIns="0" bIns="0" rtlCol="0"/>
            <a:lstStyle/>
            <a:p>
              <a:endParaRPr/>
            </a:p>
          </p:txBody>
        </p:sp>
        <p:sp>
          <p:nvSpPr>
            <p:cNvPr id="42" name="object 42"/>
            <p:cNvSpPr/>
            <p:nvPr/>
          </p:nvSpPr>
          <p:spPr>
            <a:xfrm>
              <a:off x="6002721" y="4869112"/>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43" name="object 43"/>
            <p:cNvSpPr/>
            <p:nvPr/>
          </p:nvSpPr>
          <p:spPr>
            <a:xfrm>
              <a:off x="4048127" y="5243277"/>
              <a:ext cx="10795" cy="0"/>
            </a:xfrm>
            <a:custGeom>
              <a:avLst/>
              <a:gdLst/>
              <a:ahLst/>
              <a:cxnLst/>
              <a:rect l="l" t="t" r="r" b="b"/>
              <a:pathLst>
                <a:path w="10795">
                  <a:moveTo>
                    <a:pt x="0" y="0"/>
                  </a:moveTo>
                  <a:lnTo>
                    <a:pt x="10519" y="0"/>
                  </a:lnTo>
                </a:path>
              </a:pathLst>
            </a:custGeom>
            <a:ln w="3175">
              <a:solidFill>
                <a:srgbClr val="000000"/>
              </a:solidFill>
            </a:ln>
          </p:spPr>
          <p:txBody>
            <a:bodyPr wrap="square" lIns="0" tIns="0" rIns="0" bIns="0" rtlCol="0"/>
            <a:lstStyle/>
            <a:p>
              <a:endParaRPr/>
            </a:p>
          </p:txBody>
        </p:sp>
        <p:sp>
          <p:nvSpPr>
            <p:cNvPr id="44" name="object 44"/>
            <p:cNvSpPr/>
            <p:nvPr/>
          </p:nvSpPr>
          <p:spPr>
            <a:xfrm>
              <a:off x="4063907" y="5248636"/>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45" name="object 45"/>
            <p:cNvSpPr/>
            <p:nvPr/>
          </p:nvSpPr>
          <p:spPr>
            <a:xfrm>
              <a:off x="5997487" y="5243277"/>
              <a:ext cx="21590" cy="0"/>
            </a:xfrm>
            <a:custGeom>
              <a:avLst/>
              <a:gdLst/>
              <a:ahLst/>
              <a:cxnLst/>
              <a:rect l="l" t="t" r="r" b="b"/>
              <a:pathLst>
                <a:path w="21589">
                  <a:moveTo>
                    <a:pt x="21335" y="0"/>
                  </a:moveTo>
                  <a:lnTo>
                    <a:pt x="0" y="0"/>
                  </a:lnTo>
                </a:path>
              </a:pathLst>
            </a:custGeom>
            <a:ln w="3175">
              <a:solidFill>
                <a:srgbClr val="000000"/>
              </a:solidFill>
            </a:ln>
          </p:spPr>
          <p:txBody>
            <a:bodyPr wrap="square" lIns="0" tIns="0" rIns="0" bIns="0" rtlCol="0"/>
            <a:lstStyle/>
            <a:p>
              <a:endParaRPr/>
            </a:p>
          </p:txBody>
        </p:sp>
        <p:sp>
          <p:nvSpPr>
            <p:cNvPr id="46" name="object 46"/>
            <p:cNvSpPr/>
            <p:nvPr/>
          </p:nvSpPr>
          <p:spPr>
            <a:xfrm>
              <a:off x="6002721" y="5248636"/>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47" name="object 47"/>
            <p:cNvSpPr/>
            <p:nvPr/>
          </p:nvSpPr>
          <p:spPr>
            <a:xfrm>
              <a:off x="4048127" y="5622453"/>
              <a:ext cx="10795" cy="0"/>
            </a:xfrm>
            <a:custGeom>
              <a:avLst/>
              <a:gdLst/>
              <a:ahLst/>
              <a:cxnLst/>
              <a:rect l="l" t="t" r="r" b="b"/>
              <a:pathLst>
                <a:path w="10795">
                  <a:moveTo>
                    <a:pt x="0" y="0"/>
                  </a:moveTo>
                  <a:lnTo>
                    <a:pt x="10519" y="0"/>
                  </a:lnTo>
                </a:path>
              </a:pathLst>
            </a:custGeom>
            <a:ln w="3175">
              <a:solidFill>
                <a:srgbClr val="000000"/>
              </a:solidFill>
            </a:ln>
          </p:spPr>
          <p:txBody>
            <a:bodyPr wrap="square" lIns="0" tIns="0" rIns="0" bIns="0" rtlCol="0"/>
            <a:lstStyle/>
            <a:p>
              <a:endParaRPr/>
            </a:p>
          </p:txBody>
        </p:sp>
        <p:sp>
          <p:nvSpPr>
            <p:cNvPr id="48" name="object 48"/>
            <p:cNvSpPr/>
            <p:nvPr/>
          </p:nvSpPr>
          <p:spPr>
            <a:xfrm>
              <a:off x="4063907" y="5627718"/>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49" name="object 49"/>
            <p:cNvSpPr/>
            <p:nvPr/>
          </p:nvSpPr>
          <p:spPr>
            <a:xfrm>
              <a:off x="5997487" y="5622453"/>
              <a:ext cx="21590" cy="0"/>
            </a:xfrm>
            <a:custGeom>
              <a:avLst/>
              <a:gdLst/>
              <a:ahLst/>
              <a:cxnLst/>
              <a:rect l="l" t="t" r="r" b="b"/>
              <a:pathLst>
                <a:path w="21589">
                  <a:moveTo>
                    <a:pt x="21335" y="0"/>
                  </a:moveTo>
                  <a:lnTo>
                    <a:pt x="0" y="0"/>
                  </a:lnTo>
                </a:path>
              </a:pathLst>
            </a:custGeom>
            <a:ln w="3175">
              <a:solidFill>
                <a:srgbClr val="000000"/>
              </a:solidFill>
            </a:ln>
          </p:spPr>
          <p:txBody>
            <a:bodyPr wrap="square" lIns="0" tIns="0" rIns="0" bIns="0" rtlCol="0"/>
            <a:lstStyle/>
            <a:p>
              <a:endParaRPr/>
            </a:p>
          </p:txBody>
        </p:sp>
        <p:sp>
          <p:nvSpPr>
            <p:cNvPr id="50" name="object 50"/>
            <p:cNvSpPr/>
            <p:nvPr/>
          </p:nvSpPr>
          <p:spPr>
            <a:xfrm>
              <a:off x="6002721" y="5627718"/>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51" name="object 51"/>
            <p:cNvSpPr/>
            <p:nvPr/>
          </p:nvSpPr>
          <p:spPr>
            <a:xfrm>
              <a:off x="4048127" y="6012427"/>
              <a:ext cx="10795" cy="0"/>
            </a:xfrm>
            <a:custGeom>
              <a:avLst/>
              <a:gdLst/>
              <a:ahLst/>
              <a:cxnLst/>
              <a:rect l="l" t="t" r="r" b="b"/>
              <a:pathLst>
                <a:path w="10795">
                  <a:moveTo>
                    <a:pt x="0" y="0"/>
                  </a:moveTo>
                  <a:lnTo>
                    <a:pt x="10519" y="0"/>
                  </a:lnTo>
                </a:path>
              </a:pathLst>
            </a:custGeom>
            <a:ln w="3175">
              <a:solidFill>
                <a:srgbClr val="000000"/>
              </a:solidFill>
            </a:ln>
          </p:spPr>
          <p:txBody>
            <a:bodyPr wrap="square" lIns="0" tIns="0" rIns="0" bIns="0" rtlCol="0"/>
            <a:lstStyle/>
            <a:p>
              <a:endParaRPr/>
            </a:p>
          </p:txBody>
        </p:sp>
        <p:sp>
          <p:nvSpPr>
            <p:cNvPr id="52" name="object 52"/>
            <p:cNvSpPr/>
            <p:nvPr/>
          </p:nvSpPr>
          <p:spPr>
            <a:xfrm>
              <a:off x="4063907" y="6017691"/>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53" name="object 53"/>
            <p:cNvSpPr/>
            <p:nvPr/>
          </p:nvSpPr>
          <p:spPr>
            <a:xfrm>
              <a:off x="5997487" y="6012427"/>
              <a:ext cx="21590" cy="0"/>
            </a:xfrm>
            <a:custGeom>
              <a:avLst/>
              <a:gdLst/>
              <a:ahLst/>
              <a:cxnLst/>
              <a:rect l="l" t="t" r="r" b="b"/>
              <a:pathLst>
                <a:path w="21589">
                  <a:moveTo>
                    <a:pt x="21335" y="0"/>
                  </a:moveTo>
                  <a:lnTo>
                    <a:pt x="0" y="0"/>
                  </a:lnTo>
                </a:path>
              </a:pathLst>
            </a:custGeom>
            <a:ln w="3175">
              <a:solidFill>
                <a:srgbClr val="000000"/>
              </a:solidFill>
            </a:ln>
          </p:spPr>
          <p:txBody>
            <a:bodyPr wrap="square" lIns="0" tIns="0" rIns="0" bIns="0" rtlCol="0"/>
            <a:lstStyle/>
            <a:p>
              <a:endParaRPr/>
            </a:p>
          </p:txBody>
        </p:sp>
        <p:sp>
          <p:nvSpPr>
            <p:cNvPr id="54" name="object 54"/>
            <p:cNvSpPr/>
            <p:nvPr/>
          </p:nvSpPr>
          <p:spPr>
            <a:xfrm>
              <a:off x="6002721" y="6017691"/>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55" name="object 55"/>
            <p:cNvSpPr/>
            <p:nvPr/>
          </p:nvSpPr>
          <p:spPr>
            <a:xfrm>
              <a:off x="4048127" y="6391897"/>
              <a:ext cx="10795" cy="0"/>
            </a:xfrm>
            <a:custGeom>
              <a:avLst/>
              <a:gdLst/>
              <a:ahLst/>
              <a:cxnLst/>
              <a:rect l="l" t="t" r="r" b="b"/>
              <a:pathLst>
                <a:path w="10795">
                  <a:moveTo>
                    <a:pt x="0" y="0"/>
                  </a:moveTo>
                  <a:lnTo>
                    <a:pt x="10519" y="0"/>
                  </a:lnTo>
                </a:path>
              </a:pathLst>
            </a:custGeom>
            <a:ln w="3175">
              <a:solidFill>
                <a:srgbClr val="000000"/>
              </a:solidFill>
            </a:ln>
          </p:spPr>
          <p:txBody>
            <a:bodyPr wrap="square" lIns="0" tIns="0" rIns="0" bIns="0" rtlCol="0"/>
            <a:lstStyle/>
            <a:p>
              <a:endParaRPr/>
            </a:p>
          </p:txBody>
        </p:sp>
        <p:sp>
          <p:nvSpPr>
            <p:cNvPr id="56" name="object 56"/>
            <p:cNvSpPr/>
            <p:nvPr/>
          </p:nvSpPr>
          <p:spPr>
            <a:xfrm>
              <a:off x="4063907" y="6397148"/>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sp>
          <p:nvSpPr>
            <p:cNvPr id="57" name="object 57"/>
            <p:cNvSpPr/>
            <p:nvPr/>
          </p:nvSpPr>
          <p:spPr>
            <a:xfrm>
              <a:off x="5997487" y="6391897"/>
              <a:ext cx="21590" cy="0"/>
            </a:xfrm>
            <a:custGeom>
              <a:avLst/>
              <a:gdLst/>
              <a:ahLst/>
              <a:cxnLst/>
              <a:rect l="l" t="t" r="r" b="b"/>
              <a:pathLst>
                <a:path w="21589">
                  <a:moveTo>
                    <a:pt x="21335" y="0"/>
                  </a:moveTo>
                  <a:lnTo>
                    <a:pt x="0" y="0"/>
                  </a:lnTo>
                </a:path>
              </a:pathLst>
            </a:custGeom>
            <a:ln w="3175">
              <a:solidFill>
                <a:srgbClr val="000000"/>
              </a:solidFill>
            </a:ln>
          </p:spPr>
          <p:txBody>
            <a:bodyPr wrap="square" lIns="0" tIns="0" rIns="0" bIns="0" rtlCol="0"/>
            <a:lstStyle/>
            <a:p>
              <a:endParaRPr/>
            </a:p>
          </p:txBody>
        </p:sp>
        <p:sp>
          <p:nvSpPr>
            <p:cNvPr id="58" name="object 58"/>
            <p:cNvSpPr/>
            <p:nvPr/>
          </p:nvSpPr>
          <p:spPr>
            <a:xfrm>
              <a:off x="6002721" y="6397148"/>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59" name="object 59"/>
            <p:cNvSpPr/>
            <p:nvPr/>
          </p:nvSpPr>
          <p:spPr>
            <a:xfrm>
              <a:off x="4048127" y="6454981"/>
              <a:ext cx="1971039" cy="0"/>
            </a:xfrm>
            <a:custGeom>
              <a:avLst/>
              <a:gdLst/>
              <a:ahLst/>
              <a:cxnLst/>
              <a:rect l="l" t="t" r="r" b="b"/>
              <a:pathLst>
                <a:path w="1971039">
                  <a:moveTo>
                    <a:pt x="0" y="0"/>
                  </a:moveTo>
                  <a:lnTo>
                    <a:pt x="1970695" y="0"/>
                  </a:lnTo>
                </a:path>
              </a:pathLst>
            </a:custGeom>
            <a:ln w="3175">
              <a:solidFill>
                <a:srgbClr val="000000"/>
              </a:solidFill>
            </a:ln>
          </p:spPr>
          <p:txBody>
            <a:bodyPr wrap="square" lIns="0" tIns="0" rIns="0" bIns="0" rtlCol="0"/>
            <a:lstStyle/>
            <a:p>
              <a:endParaRPr/>
            </a:p>
          </p:txBody>
        </p:sp>
        <p:sp>
          <p:nvSpPr>
            <p:cNvPr id="60" name="object 60"/>
            <p:cNvSpPr/>
            <p:nvPr/>
          </p:nvSpPr>
          <p:spPr>
            <a:xfrm>
              <a:off x="6024190" y="6460233"/>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61" name="object 61"/>
            <p:cNvSpPr/>
            <p:nvPr/>
          </p:nvSpPr>
          <p:spPr>
            <a:xfrm>
              <a:off x="4048127" y="4484363"/>
              <a:ext cx="1971039" cy="0"/>
            </a:xfrm>
            <a:custGeom>
              <a:avLst/>
              <a:gdLst/>
              <a:ahLst/>
              <a:cxnLst/>
              <a:rect l="l" t="t" r="r" b="b"/>
              <a:pathLst>
                <a:path w="1971039">
                  <a:moveTo>
                    <a:pt x="0" y="0"/>
                  </a:moveTo>
                  <a:lnTo>
                    <a:pt x="1970695" y="0"/>
                  </a:lnTo>
                </a:path>
              </a:pathLst>
            </a:custGeom>
            <a:ln w="3175">
              <a:solidFill>
                <a:srgbClr val="000000"/>
              </a:solidFill>
            </a:ln>
          </p:spPr>
          <p:txBody>
            <a:bodyPr wrap="square" lIns="0" tIns="0" rIns="0" bIns="0" rtlCol="0"/>
            <a:lstStyle/>
            <a:p>
              <a:endParaRPr/>
            </a:p>
          </p:txBody>
        </p:sp>
        <p:sp>
          <p:nvSpPr>
            <p:cNvPr id="62" name="object 62"/>
            <p:cNvSpPr/>
            <p:nvPr/>
          </p:nvSpPr>
          <p:spPr>
            <a:xfrm>
              <a:off x="6024190" y="4489588"/>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63" name="object 63"/>
            <p:cNvSpPr/>
            <p:nvPr/>
          </p:nvSpPr>
          <p:spPr>
            <a:xfrm>
              <a:off x="6018822" y="4484363"/>
              <a:ext cx="0" cy="1971039"/>
            </a:xfrm>
            <a:custGeom>
              <a:avLst/>
              <a:gdLst/>
              <a:ahLst/>
              <a:cxnLst/>
              <a:rect l="l" t="t" r="r" b="b"/>
              <a:pathLst>
                <a:path h="1971039">
                  <a:moveTo>
                    <a:pt x="0" y="0"/>
                  </a:moveTo>
                  <a:lnTo>
                    <a:pt x="0" y="1970618"/>
                  </a:lnTo>
                </a:path>
              </a:pathLst>
            </a:custGeom>
            <a:ln w="3175">
              <a:solidFill>
                <a:srgbClr val="000000"/>
              </a:solidFill>
            </a:ln>
          </p:spPr>
          <p:txBody>
            <a:bodyPr wrap="square" lIns="0" tIns="0" rIns="0" bIns="0" rtlCol="0"/>
            <a:lstStyle/>
            <a:p>
              <a:endParaRPr/>
            </a:p>
          </p:txBody>
        </p:sp>
        <p:sp>
          <p:nvSpPr>
            <p:cNvPr id="64" name="object 64"/>
            <p:cNvSpPr/>
            <p:nvPr/>
          </p:nvSpPr>
          <p:spPr>
            <a:xfrm>
              <a:off x="6024190" y="6460233"/>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65" name="object 65"/>
            <p:cNvSpPr/>
            <p:nvPr/>
          </p:nvSpPr>
          <p:spPr>
            <a:xfrm>
              <a:off x="4048127" y="4484363"/>
              <a:ext cx="0" cy="1971039"/>
            </a:xfrm>
            <a:custGeom>
              <a:avLst/>
              <a:gdLst/>
              <a:ahLst/>
              <a:cxnLst/>
              <a:rect l="l" t="t" r="r" b="b"/>
              <a:pathLst>
                <a:path h="1971039">
                  <a:moveTo>
                    <a:pt x="0" y="0"/>
                  </a:moveTo>
                  <a:lnTo>
                    <a:pt x="0" y="1970618"/>
                  </a:lnTo>
                </a:path>
              </a:pathLst>
            </a:custGeom>
            <a:ln w="3175">
              <a:solidFill>
                <a:srgbClr val="000000"/>
              </a:solidFill>
            </a:ln>
          </p:spPr>
          <p:txBody>
            <a:bodyPr wrap="square" lIns="0" tIns="0" rIns="0" bIns="0" rtlCol="0"/>
            <a:lstStyle/>
            <a:p>
              <a:endParaRPr/>
            </a:p>
          </p:txBody>
        </p:sp>
        <p:sp>
          <p:nvSpPr>
            <p:cNvPr id="66" name="object 66"/>
            <p:cNvSpPr/>
            <p:nvPr/>
          </p:nvSpPr>
          <p:spPr>
            <a:xfrm>
              <a:off x="4053387" y="6460233"/>
              <a:ext cx="10795" cy="0"/>
            </a:xfrm>
            <a:custGeom>
              <a:avLst/>
              <a:gdLst/>
              <a:ahLst/>
              <a:cxnLst/>
              <a:rect l="l" t="t" r="r" b="b"/>
              <a:pathLst>
                <a:path w="10795">
                  <a:moveTo>
                    <a:pt x="0" y="0"/>
                  </a:moveTo>
                  <a:lnTo>
                    <a:pt x="10519" y="0"/>
                  </a:lnTo>
                </a:path>
              </a:pathLst>
            </a:custGeom>
            <a:ln w="10513">
              <a:solidFill>
                <a:srgbClr val="000000"/>
              </a:solidFill>
            </a:ln>
          </p:spPr>
          <p:txBody>
            <a:bodyPr wrap="square" lIns="0" tIns="0" rIns="0" bIns="0" rtlCol="0"/>
            <a:lstStyle/>
            <a:p>
              <a:endParaRPr/>
            </a:p>
          </p:txBody>
        </p:sp>
      </p:grpSp>
      <p:sp>
        <p:nvSpPr>
          <p:cNvPr id="67" name="object 67"/>
          <p:cNvSpPr txBox="1"/>
          <p:nvPr/>
        </p:nvSpPr>
        <p:spPr>
          <a:xfrm>
            <a:off x="3999690" y="3529202"/>
            <a:ext cx="4102100" cy="177613"/>
          </a:xfrm>
          <a:prstGeom prst="rect">
            <a:avLst/>
          </a:prstGeom>
        </p:spPr>
        <p:txBody>
          <a:bodyPr vert="horz" wrap="square" lIns="0" tIns="15875" rIns="0" bIns="0" rtlCol="0">
            <a:spAutoFit/>
          </a:bodyPr>
          <a:lstStyle/>
          <a:p>
            <a:pPr marL="12700">
              <a:spcBef>
                <a:spcPts val="125"/>
              </a:spcBef>
              <a:tabLst>
                <a:tab pos="2383155" algn="l"/>
              </a:tabLst>
            </a:pPr>
            <a:r>
              <a:rPr sz="1050" dirty="0">
                <a:latin typeface="Arial MT"/>
                <a:cs typeface="Arial MT"/>
              </a:rPr>
              <a:t>backprojected</a:t>
            </a:r>
            <a:r>
              <a:rPr sz="1050" spc="105" dirty="0">
                <a:latin typeface="Arial MT"/>
                <a:cs typeface="Arial MT"/>
              </a:rPr>
              <a:t> </a:t>
            </a:r>
            <a:r>
              <a:rPr sz="1050" spc="-20" dirty="0">
                <a:latin typeface="Arial MT"/>
                <a:cs typeface="Arial MT"/>
              </a:rPr>
              <a:t>image</a:t>
            </a:r>
            <a:r>
              <a:rPr sz="1050" dirty="0">
                <a:latin typeface="Arial MT"/>
                <a:cs typeface="Arial MT"/>
              </a:rPr>
              <a:t>	filtered</a:t>
            </a:r>
            <a:r>
              <a:rPr sz="1050" spc="45" dirty="0">
                <a:latin typeface="Arial MT"/>
                <a:cs typeface="Arial MT"/>
              </a:rPr>
              <a:t> </a:t>
            </a:r>
            <a:r>
              <a:rPr sz="1050" dirty="0">
                <a:latin typeface="Arial MT"/>
                <a:cs typeface="Arial MT"/>
              </a:rPr>
              <a:t>backprojected</a:t>
            </a:r>
            <a:r>
              <a:rPr sz="1050" spc="45" dirty="0">
                <a:latin typeface="Arial MT"/>
                <a:cs typeface="Arial MT"/>
              </a:rPr>
              <a:t> </a:t>
            </a:r>
            <a:r>
              <a:rPr sz="1050" spc="-10" dirty="0">
                <a:latin typeface="Arial MT"/>
                <a:cs typeface="Arial MT"/>
              </a:rPr>
              <a:t>image</a:t>
            </a:r>
            <a:endParaRPr sz="1050">
              <a:latin typeface="Arial MT"/>
              <a:cs typeface="Arial MT"/>
            </a:endParaRPr>
          </a:p>
        </p:txBody>
      </p:sp>
      <p:sp>
        <p:nvSpPr>
          <p:cNvPr id="68" name="object 68"/>
          <p:cNvSpPr txBox="1"/>
          <p:nvPr/>
        </p:nvSpPr>
        <p:spPr>
          <a:xfrm>
            <a:off x="3947091" y="5784630"/>
            <a:ext cx="1743075" cy="177613"/>
          </a:xfrm>
          <a:prstGeom prst="rect">
            <a:avLst/>
          </a:prstGeom>
        </p:spPr>
        <p:txBody>
          <a:bodyPr vert="horz" wrap="square" lIns="0" tIns="15875" rIns="0" bIns="0" rtlCol="0">
            <a:spAutoFit/>
          </a:bodyPr>
          <a:lstStyle/>
          <a:p>
            <a:pPr marL="12700">
              <a:spcBef>
                <a:spcPts val="125"/>
              </a:spcBef>
              <a:tabLst>
                <a:tab pos="370840" algn="l"/>
                <a:tab pos="749935" algn="l"/>
                <a:tab pos="1129030" algn="l"/>
                <a:tab pos="1508760" algn="l"/>
              </a:tabLst>
            </a:pPr>
            <a:r>
              <a:rPr sz="1050" spc="-25" dirty="0">
                <a:latin typeface="Arial MT"/>
                <a:cs typeface="Arial MT"/>
              </a:rPr>
              <a:t>50</a:t>
            </a:r>
            <a:r>
              <a:rPr sz="1050" dirty="0">
                <a:latin typeface="Arial MT"/>
                <a:cs typeface="Arial MT"/>
              </a:rPr>
              <a:t>	</a:t>
            </a:r>
            <a:r>
              <a:rPr sz="1050" spc="-25" dirty="0">
                <a:latin typeface="Arial MT"/>
                <a:cs typeface="Arial MT"/>
              </a:rPr>
              <a:t>100</a:t>
            </a:r>
            <a:r>
              <a:rPr sz="1050" dirty="0">
                <a:latin typeface="Arial MT"/>
                <a:cs typeface="Arial MT"/>
              </a:rPr>
              <a:t>	</a:t>
            </a:r>
            <a:r>
              <a:rPr sz="1050" spc="-25" dirty="0">
                <a:latin typeface="Arial MT"/>
                <a:cs typeface="Arial MT"/>
              </a:rPr>
              <a:t>150</a:t>
            </a:r>
            <a:r>
              <a:rPr sz="1050" dirty="0">
                <a:latin typeface="Arial MT"/>
                <a:cs typeface="Arial MT"/>
              </a:rPr>
              <a:t>	</a:t>
            </a:r>
            <a:r>
              <a:rPr sz="1050" spc="-25" dirty="0">
                <a:latin typeface="Arial MT"/>
                <a:cs typeface="Arial MT"/>
              </a:rPr>
              <a:t>200</a:t>
            </a:r>
            <a:r>
              <a:rPr sz="1050" dirty="0">
                <a:latin typeface="Arial MT"/>
                <a:cs typeface="Arial MT"/>
              </a:rPr>
              <a:t>	</a:t>
            </a:r>
            <a:r>
              <a:rPr sz="1050" spc="-25" dirty="0">
                <a:latin typeface="Arial MT"/>
                <a:cs typeface="Arial MT"/>
              </a:rPr>
              <a:t>250</a:t>
            </a:r>
            <a:endParaRPr sz="1050">
              <a:latin typeface="Arial MT"/>
              <a:cs typeface="Arial MT"/>
            </a:endParaRPr>
          </a:p>
        </p:txBody>
      </p:sp>
      <p:sp>
        <p:nvSpPr>
          <p:cNvPr id="69" name="object 69"/>
          <p:cNvSpPr txBox="1"/>
          <p:nvPr/>
        </p:nvSpPr>
        <p:spPr>
          <a:xfrm>
            <a:off x="3462219" y="4066671"/>
            <a:ext cx="172720"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50</a:t>
            </a:r>
            <a:endParaRPr sz="1050">
              <a:latin typeface="Arial MT"/>
              <a:cs typeface="Arial MT"/>
            </a:endParaRPr>
          </a:p>
        </p:txBody>
      </p:sp>
      <p:sp>
        <p:nvSpPr>
          <p:cNvPr id="70" name="object 70"/>
          <p:cNvSpPr txBox="1"/>
          <p:nvPr/>
        </p:nvSpPr>
        <p:spPr>
          <a:xfrm>
            <a:off x="3388579" y="4446195"/>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100</a:t>
            </a:r>
            <a:endParaRPr sz="1050">
              <a:latin typeface="Arial MT"/>
              <a:cs typeface="Arial MT"/>
            </a:endParaRPr>
          </a:p>
        </p:txBody>
      </p:sp>
      <p:sp>
        <p:nvSpPr>
          <p:cNvPr id="71" name="object 71"/>
          <p:cNvSpPr txBox="1"/>
          <p:nvPr/>
        </p:nvSpPr>
        <p:spPr>
          <a:xfrm>
            <a:off x="3388579" y="4825625"/>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150</a:t>
            </a:r>
            <a:endParaRPr sz="1050">
              <a:latin typeface="Arial MT"/>
              <a:cs typeface="Arial MT"/>
            </a:endParaRPr>
          </a:p>
        </p:txBody>
      </p:sp>
      <p:sp>
        <p:nvSpPr>
          <p:cNvPr id="72" name="object 72"/>
          <p:cNvSpPr txBox="1"/>
          <p:nvPr/>
        </p:nvSpPr>
        <p:spPr>
          <a:xfrm>
            <a:off x="3388579" y="5215599"/>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200</a:t>
            </a:r>
            <a:endParaRPr sz="1050">
              <a:latin typeface="Arial MT"/>
              <a:cs typeface="Arial MT"/>
            </a:endParaRPr>
          </a:p>
        </p:txBody>
      </p:sp>
      <p:sp>
        <p:nvSpPr>
          <p:cNvPr id="73" name="object 73"/>
          <p:cNvSpPr txBox="1"/>
          <p:nvPr/>
        </p:nvSpPr>
        <p:spPr>
          <a:xfrm>
            <a:off x="3388579" y="5594734"/>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250</a:t>
            </a:r>
            <a:endParaRPr sz="1050">
              <a:latin typeface="Arial MT"/>
              <a:cs typeface="Arial MT"/>
            </a:endParaRPr>
          </a:p>
        </p:txBody>
      </p:sp>
      <p:grpSp>
        <p:nvGrpSpPr>
          <p:cNvPr id="74" name="object 74"/>
          <p:cNvGrpSpPr/>
          <p:nvPr/>
        </p:nvGrpSpPr>
        <p:grpSpPr>
          <a:xfrm>
            <a:off x="6256015" y="3783252"/>
            <a:ext cx="1998345" cy="1992630"/>
            <a:chOff x="6639554" y="4483425"/>
            <a:chExt cx="1998345" cy="1992630"/>
          </a:xfrm>
        </p:grpSpPr>
        <p:pic>
          <p:nvPicPr>
            <p:cNvPr id="75" name="object 75"/>
            <p:cNvPicPr/>
            <p:nvPr/>
          </p:nvPicPr>
          <p:blipFill>
            <a:blip r:embed="rId4" cstate="print"/>
            <a:stretch>
              <a:fillRect/>
            </a:stretch>
          </p:blipFill>
          <p:spPr>
            <a:xfrm>
              <a:off x="6640493" y="4484403"/>
              <a:ext cx="1980947" cy="1981080"/>
            </a:xfrm>
            <a:prstGeom prst="rect">
              <a:avLst/>
            </a:prstGeom>
          </p:spPr>
        </p:pic>
        <p:sp>
          <p:nvSpPr>
            <p:cNvPr id="76" name="object 76"/>
            <p:cNvSpPr/>
            <p:nvPr/>
          </p:nvSpPr>
          <p:spPr>
            <a:xfrm>
              <a:off x="6640493" y="6465484"/>
              <a:ext cx="1981200" cy="0"/>
            </a:xfrm>
            <a:custGeom>
              <a:avLst/>
              <a:gdLst/>
              <a:ahLst/>
              <a:cxnLst/>
              <a:rect l="l" t="t" r="r" b="b"/>
              <a:pathLst>
                <a:path w="1981200">
                  <a:moveTo>
                    <a:pt x="0" y="0"/>
                  </a:moveTo>
                  <a:lnTo>
                    <a:pt x="1980947" y="0"/>
                  </a:lnTo>
                </a:path>
              </a:pathLst>
            </a:custGeom>
            <a:ln w="3175">
              <a:solidFill>
                <a:srgbClr val="000000"/>
              </a:solidFill>
            </a:ln>
          </p:spPr>
          <p:txBody>
            <a:bodyPr wrap="square" lIns="0" tIns="0" rIns="0" bIns="0" rtlCol="0"/>
            <a:lstStyle/>
            <a:p>
              <a:endParaRPr/>
            </a:p>
          </p:txBody>
        </p:sp>
        <p:sp>
          <p:nvSpPr>
            <p:cNvPr id="77" name="object 77"/>
            <p:cNvSpPr/>
            <p:nvPr/>
          </p:nvSpPr>
          <p:spPr>
            <a:xfrm>
              <a:off x="8626674" y="6470749"/>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78" name="object 78"/>
            <p:cNvSpPr/>
            <p:nvPr/>
          </p:nvSpPr>
          <p:spPr>
            <a:xfrm>
              <a:off x="6640493" y="4484363"/>
              <a:ext cx="1981200" cy="0"/>
            </a:xfrm>
            <a:custGeom>
              <a:avLst/>
              <a:gdLst/>
              <a:ahLst/>
              <a:cxnLst/>
              <a:rect l="l" t="t" r="r" b="b"/>
              <a:pathLst>
                <a:path w="1981200">
                  <a:moveTo>
                    <a:pt x="0" y="0"/>
                  </a:moveTo>
                  <a:lnTo>
                    <a:pt x="1980947" y="0"/>
                  </a:lnTo>
                </a:path>
              </a:pathLst>
            </a:custGeom>
            <a:ln w="3175">
              <a:solidFill>
                <a:srgbClr val="000000"/>
              </a:solidFill>
            </a:ln>
          </p:spPr>
          <p:txBody>
            <a:bodyPr wrap="square" lIns="0" tIns="0" rIns="0" bIns="0" rtlCol="0"/>
            <a:lstStyle/>
            <a:p>
              <a:endParaRPr/>
            </a:p>
          </p:txBody>
        </p:sp>
        <p:sp>
          <p:nvSpPr>
            <p:cNvPr id="79" name="object 79"/>
            <p:cNvSpPr/>
            <p:nvPr/>
          </p:nvSpPr>
          <p:spPr>
            <a:xfrm>
              <a:off x="8626674" y="4489588"/>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80" name="object 80"/>
            <p:cNvSpPr/>
            <p:nvPr/>
          </p:nvSpPr>
          <p:spPr>
            <a:xfrm>
              <a:off x="8621441" y="4484363"/>
              <a:ext cx="0" cy="1981200"/>
            </a:xfrm>
            <a:custGeom>
              <a:avLst/>
              <a:gdLst/>
              <a:ahLst/>
              <a:cxnLst/>
              <a:rect l="l" t="t" r="r" b="b"/>
              <a:pathLst>
                <a:path h="1981200">
                  <a:moveTo>
                    <a:pt x="0" y="0"/>
                  </a:moveTo>
                  <a:lnTo>
                    <a:pt x="0" y="1981121"/>
                  </a:lnTo>
                </a:path>
              </a:pathLst>
            </a:custGeom>
            <a:ln w="3175">
              <a:solidFill>
                <a:srgbClr val="000000"/>
              </a:solidFill>
            </a:ln>
          </p:spPr>
          <p:txBody>
            <a:bodyPr wrap="square" lIns="0" tIns="0" rIns="0" bIns="0" rtlCol="0"/>
            <a:lstStyle/>
            <a:p>
              <a:endParaRPr/>
            </a:p>
          </p:txBody>
        </p:sp>
        <p:sp>
          <p:nvSpPr>
            <p:cNvPr id="81" name="object 81"/>
            <p:cNvSpPr/>
            <p:nvPr/>
          </p:nvSpPr>
          <p:spPr>
            <a:xfrm>
              <a:off x="8626674" y="6470749"/>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82" name="object 82"/>
            <p:cNvSpPr/>
            <p:nvPr/>
          </p:nvSpPr>
          <p:spPr>
            <a:xfrm>
              <a:off x="6640493" y="4484363"/>
              <a:ext cx="0" cy="1981200"/>
            </a:xfrm>
            <a:custGeom>
              <a:avLst/>
              <a:gdLst/>
              <a:ahLst/>
              <a:cxnLst/>
              <a:rect l="l" t="t" r="r" b="b"/>
              <a:pathLst>
                <a:path h="1981200">
                  <a:moveTo>
                    <a:pt x="0" y="0"/>
                  </a:moveTo>
                  <a:lnTo>
                    <a:pt x="0" y="1981121"/>
                  </a:lnTo>
                </a:path>
              </a:pathLst>
            </a:custGeom>
            <a:ln w="3175">
              <a:solidFill>
                <a:srgbClr val="000000"/>
              </a:solidFill>
            </a:ln>
          </p:spPr>
          <p:txBody>
            <a:bodyPr wrap="square" lIns="0" tIns="0" rIns="0" bIns="0" rtlCol="0"/>
            <a:lstStyle/>
            <a:p>
              <a:endParaRPr/>
            </a:p>
          </p:txBody>
        </p:sp>
        <p:sp>
          <p:nvSpPr>
            <p:cNvPr id="83" name="object 83"/>
            <p:cNvSpPr/>
            <p:nvPr/>
          </p:nvSpPr>
          <p:spPr>
            <a:xfrm>
              <a:off x="6645726" y="6470749"/>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84" name="object 84"/>
            <p:cNvSpPr/>
            <p:nvPr/>
          </p:nvSpPr>
          <p:spPr>
            <a:xfrm>
              <a:off x="6640493" y="6465484"/>
              <a:ext cx="1981200" cy="0"/>
            </a:xfrm>
            <a:custGeom>
              <a:avLst/>
              <a:gdLst/>
              <a:ahLst/>
              <a:cxnLst/>
              <a:rect l="l" t="t" r="r" b="b"/>
              <a:pathLst>
                <a:path w="1981200">
                  <a:moveTo>
                    <a:pt x="0" y="0"/>
                  </a:moveTo>
                  <a:lnTo>
                    <a:pt x="1980947" y="0"/>
                  </a:lnTo>
                </a:path>
              </a:pathLst>
            </a:custGeom>
            <a:ln w="3175">
              <a:solidFill>
                <a:srgbClr val="000000"/>
              </a:solidFill>
            </a:ln>
          </p:spPr>
          <p:txBody>
            <a:bodyPr wrap="square" lIns="0" tIns="0" rIns="0" bIns="0" rtlCol="0"/>
            <a:lstStyle/>
            <a:p>
              <a:endParaRPr/>
            </a:p>
          </p:txBody>
        </p:sp>
        <p:sp>
          <p:nvSpPr>
            <p:cNvPr id="85" name="object 85"/>
            <p:cNvSpPr/>
            <p:nvPr/>
          </p:nvSpPr>
          <p:spPr>
            <a:xfrm>
              <a:off x="8626674" y="6470749"/>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86" name="object 86"/>
            <p:cNvSpPr/>
            <p:nvPr/>
          </p:nvSpPr>
          <p:spPr>
            <a:xfrm>
              <a:off x="6640493" y="4484363"/>
              <a:ext cx="0" cy="1981200"/>
            </a:xfrm>
            <a:custGeom>
              <a:avLst/>
              <a:gdLst/>
              <a:ahLst/>
              <a:cxnLst/>
              <a:rect l="l" t="t" r="r" b="b"/>
              <a:pathLst>
                <a:path h="1981200">
                  <a:moveTo>
                    <a:pt x="0" y="0"/>
                  </a:moveTo>
                  <a:lnTo>
                    <a:pt x="0" y="1981121"/>
                  </a:lnTo>
                </a:path>
              </a:pathLst>
            </a:custGeom>
            <a:ln w="3175">
              <a:solidFill>
                <a:srgbClr val="000000"/>
              </a:solidFill>
            </a:ln>
          </p:spPr>
          <p:txBody>
            <a:bodyPr wrap="square" lIns="0" tIns="0" rIns="0" bIns="0" rtlCol="0"/>
            <a:lstStyle/>
            <a:p>
              <a:endParaRPr/>
            </a:p>
          </p:txBody>
        </p:sp>
        <p:sp>
          <p:nvSpPr>
            <p:cNvPr id="87" name="object 87"/>
            <p:cNvSpPr/>
            <p:nvPr/>
          </p:nvSpPr>
          <p:spPr>
            <a:xfrm>
              <a:off x="6645726" y="6470749"/>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88" name="object 88"/>
            <p:cNvSpPr/>
            <p:nvPr/>
          </p:nvSpPr>
          <p:spPr>
            <a:xfrm>
              <a:off x="7019829" y="6444465"/>
              <a:ext cx="0" cy="21590"/>
            </a:xfrm>
            <a:custGeom>
              <a:avLst/>
              <a:gdLst/>
              <a:ahLst/>
              <a:cxnLst/>
              <a:rect l="l" t="t" r="r" b="b"/>
              <a:pathLst>
                <a:path h="21589">
                  <a:moveTo>
                    <a:pt x="0" y="21019"/>
                  </a:moveTo>
                  <a:lnTo>
                    <a:pt x="0" y="0"/>
                  </a:lnTo>
                </a:path>
              </a:pathLst>
            </a:custGeom>
            <a:ln w="3175">
              <a:solidFill>
                <a:srgbClr val="000000"/>
              </a:solidFill>
            </a:ln>
          </p:spPr>
          <p:txBody>
            <a:bodyPr wrap="square" lIns="0" tIns="0" rIns="0" bIns="0" rtlCol="0"/>
            <a:lstStyle/>
            <a:p>
              <a:endParaRPr/>
            </a:p>
          </p:txBody>
        </p:sp>
        <p:sp>
          <p:nvSpPr>
            <p:cNvPr id="89" name="object 89"/>
            <p:cNvSpPr/>
            <p:nvPr/>
          </p:nvSpPr>
          <p:spPr>
            <a:xfrm>
              <a:off x="7025062" y="6449716"/>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90" name="object 90"/>
            <p:cNvSpPr/>
            <p:nvPr/>
          </p:nvSpPr>
          <p:spPr>
            <a:xfrm>
              <a:off x="7019829" y="4484363"/>
              <a:ext cx="0" cy="10795"/>
            </a:xfrm>
            <a:custGeom>
              <a:avLst/>
              <a:gdLst/>
              <a:ahLst/>
              <a:cxnLst/>
              <a:rect l="l" t="t" r="r" b="b"/>
              <a:pathLst>
                <a:path h="10795">
                  <a:moveTo>
                    <a:pt x="0" y="0"/>
                  </a:moveTo>
                  <a:lnTo>
                    <a:pt x="0" y="10583"/>
                  </a:lnTo>
                </a:path>
              </a:pathLst>
            </a:custGeom>
            <a:ln w="3175">
              <a:solidFill>
                <a:srgbClr val="000000"/>
              </a:solidFill>
            </a:ln>
          </p:spPr>
          <p:txBody>
            <a:bodyPr wrap="square" lIns="0" tIns="0" rIns="0" bIns="0" rtlCol="0"/>
            <a:lstStyle/>
            <a:p>
              <a:endParaRPr/>
            </a:p>
          </p:txBody>
        </p:sp>
        <p:sp>
          <p:nvSpPr>
            <p:cNvPr id="91" name="object 91"/>
            <p:cNvSpPr/>
            <p:nvPr/>
          </p:nvSpPr>
          <p:spPr>
            <a:xfrm>
              <a:off x="7025062" y="4500171"/>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92" name="object 92"/>
            <p:cNvSpPr/>
            <p:nvPr/>
          </p:nvSpPr>
          <p:spPr>
            <a:xfrm>
              <a:off x="7399165" y="6444465"/>
              <a:ext cx="0" cy="21590"/>
            </a:xfrm>
            <a:custGeom>
              <a:avLst/>
              <a:gdLst/>
              <a:ahLst/>
              <a:cxnLst/>
              <a:rect l="l" t="t" r="r" b="b"/>
              <a:pathLst>
                <a:path h="21589">
                  <a:moveTo>
                    <a:pt x="0" y="21019"/>
                  </a:moveTo>
                  <a:lnTo>
                    <a:pt x="0" y="0"/>
                  </a:lnTo>
                </a:path>
              </a:pathLst>
            </a:custGeom>
            <a:ln w="3175">
              <a:solidFill>
                <a:srgbClr val="000000"/>
              </a:solidFill>
            </a:ln>
          </p:spPr>
          <p:txBody>
            <a:bodyPr wrap="square" lIns="0" tIns="0" rIns="0" bIns="0" rtlCol="0"/>
            <a:lstStyle/>
            <a:p>
              <a:endParaRPr/>
            </a:p>
          </p:txBody>
        </p:sp>
        <p:sp>
          <p:nvSpPr>
            <p:cNvPr id="93" name="object 93"/>
            <p:cNvSpPr/>
            <p:nvPr/>
          </p:nvSpPr>
          <p:spPr>
            <a:xfrm>
              <a:off x="7404533" y="6449716"/>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94" name="object 94"/>
            <p:cNvSpPr/>
            <p:nvPr/>
          </p:nvSpPr>
          <p:spPr>
            <a:xfrm>
              <a:off x="7399165" y="4484363"/>
              <a:ext cx="0" cy="10795"/>
            </a:xfrm>
            <a:custGeom>
              <a:avLst/>
              <a:gdLst/>
              <a:ahLst/>
              <a:cxnLst/>
              <a:rect l="l" t="t" r="r" b="b"/>
              <a:pathLst>
                <a:path h="10795">
                  <a:moveTo>
                    <a:pt x="0" y="0"/>
                  </a:moveTo>
                  <a:lnTo>
                    <a:pt x="0" y="10583"/>
                  </a:lnTo>
                </a:path>
              </a:pathLst>
            </a:custGeom>
            <a:ln w="3175">
              <a:solidFill>
                <a:srgbClr val="000000"/>
              </a:solidFill>
            </a:ln>
          </p:spPr>
          <p:txBody>
            <a:bodyPr wrap="square" lIns="0" tIns="0" rIns="0" bIns="0" rtlCol="0"/>
            <a:lstStyle/>
            <a:p>
              <a:endParaRPr/>
            </a:p>
          </p:txBody>
        </p:sp>
        <p:sp>
          <p:nvSpPr>
            <p:cNvPr id="95" name="object 95"/>
            <p:cNvSpPr/>
            <p:nvPr/>
          </p:nvSpPr>
          <p:spPr>
            <a:xfrm>
              <a:off x="7404533" y="4500171"/>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96" name="object 96"/>
            <p:cNvSpPr/>
            <p:nvPr/>
          </p:nvSpPr>
          <p:spPr>
            <a:xfrm>
              <a:off x="7778636" y="6444465"/>
              <a:ext cx="0" cy="21590"/>
            </a:xfrm>
            <a:custGeom>
              <a:avLst/>
              <a:gdLst/>
              <a:ahLst/>
              <a:cxnLst/>
              <a:rect l="l" t="t" r="r" b="b"/>
              <a:pathLst>
                <a:path h="21589">
                  <a:moveTo>
                    <a:pt x="0" y="21019"/>
                  </a:moveTo>
                  <a:lnTo>
                    <a:pt x="0" y="0"/>
                  </a:lnTo>
                </a:path>
              </a:pathLst>
            </a:custGeom>
            <a:ln w="3175">
              <a:solidFill>
                <a:srgbClr val="000000"/>
              </a:solidFill>
            </a:ln>
          </p:spPr>
          <p:txBody>
            <a:bodyPr wrap="square" lIns="0" tIns="0" rIns="0" bIns="0" rtlCol="0"/>
            <a:lstStyle/>
            <a:p>
              <a:endParaRPr/>
            </a:p>
          </p:txBody>
        </p:sp>
        <p:sp>
          <p:nvSpPr>
            <p:cNvPr id="97" name="object 97"/>
            <p:cNvSpPr/>
            <p:nvPr/>
          </p:nvSpPr>
          <p:spPr>
            <a:xfrm>
              <a:off x="7783869" y="6449716"/>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98" name="object 98"/>
            <p:cNvSpPr/>
            <p:nvPr/>
          </p:nvSpPr>
          <p:spPr>
            <a:xfrm>
              <a:off x="7778636" y="4484363"/>
              <a:ext cx="0" cy="10795"/>
            </a:xfrm>
            <a:custGeom>
              <a:avLst/>
              <a:gdLst/>
              <a:ahLst/>
              <a:cxnLst/>
              <a:rect l="l" t="t" r="r" b="b"/>
              <a:pathLst>
                <a:path h="10795">
                  <a:moveTo>
                    <a:pt x="0" y="0"/>
                  </a:moveTo>
                  <a:lnTo>
                    <a:pt x="0" y="10583"/>
                  </a:lnTo>
                </a:path>
              </a:pathLst>
            </a:custGeom>
            <a:ln w="3175">
              <a:solidFill>
                <a:srgbClr val="000000"/>
              </a:solidFill>
            </a:ln>
          </p:spPr>
          <p:txBody>
            <a:bodyPr wrap="square" lIns="0" tIns="0" rIns="0" bIns="0" rtlCol="0"/>
            <a:lstStyle/>
            <a:p>
              <a:endParaRPr/>
            </a:p>
          </p:txBody>
        </p:sp>
        <p:sp>
          <p:nvSpPr>
            <p:cNvPr id="99" name="object 99"/>
            <p:cNvSpPr/>
            <p:nvPr/>
          </p:nvSpPr>
          <p:spPr>
            <a:xfrm>
              <a:off x="7783869" y="4500171"/>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00" name="object 100"/>
            <p:cNvSpPr/>
            <p:nvPr/>
          </p:nvSpPr>
          <p:spPr>
            <a:xfrm>
              <a:off x="8168438" y="6444465"/>
              <a:ext cx="0" cy="21590"/>
            </a:xfrm>
            <a:custGeom>
              <a:avLst/>
              <a:gdLst/>
              <a:ahLst/>
              <a:cxnLst/>
              <a:rect l="l" t="t" r="r" b="b"/>
              <a:pathLst>
                <a:path h="21589">
                  <a:moveTo>
                    <a:pt x="0" y="21019"/>
                  </a:moveTo>
                  <a:lnTo>
                    <a:pt x="0" y="0"/>
                  </a:lnTo>
                </a:path>
              </a:pathLst>
            </a:custGeom>
            <a:ln w="3175">
              <a:solidFill>
                <a:srgbClr val="000000"/>
              </a:solidFill>
            </a:ln>
          </p:spPr>
          <p:txBody>
            <a:bodyPr wrap="square" lIns="0" tIns="0" rIns="0" bIns="0" rtlCol="0"/>
            <a:lstStyle/>
            <a:p>
              <a:endParaRPr/>
            </a:p>
          </p:txBody>
        </p:sp>
        <p:sp>
          <p:nvSpPr>
            <p:cNvPr id="101" name="object 101"/>
            <p:cNvSpPr/>
            <p:nvPr/>
          </p:nvSpPr>
          <p:spPr>
            <a:xfrm>
              <a:off x="8173671" y="6449716"/>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02" name="object 102"/>
            <p:cNvSpPr/>
            <p:nvPr/>
          </p:nvSpPr>
          <p:spPr>
            <a:xfrm>
              <a:off x="8168438" y="4484363"/>
              <a:ext cx="0" cy="10795"/>
            </a:xfrm>
            <a:custGeom>
              <a:avLst/>
              <a:gdLst/>
              <a:ahLst/>
              <a:cxnLst/>
              <a:rect l="l" t="t" r="r" b="b"/>
              <a:pathLst>
                <a:path h="10795">
                  <a:moveTo>
                    <a:pt x="0" y="0"/>
                  </a:moveTo>
                  <a:lnTo>
                    <a:pt x="0" y="10583"/>
                  </a:lnTo>
                </a:path>
              </a:pathLst>
            </a:custGeom>
            <a:ln w="3175">
              <a:solidFill>
                <a:srgbClr val="000000"/>
              </a:solidFill>
            </a:ln>
          </p:spPr>
          <p:txBody>
            <a:bodyPr wrap="square" lIns="0" tIns="0" rIns="0" bIns="0" rtlCol="0"/>
            <a:lstStyle/>
            <a:p>
              <a:endParaRPr/>
            </a:p>
          </p:txBody>
        </p:sp>
        <p:sp>
          <p:nvSpPr>
            <p:cNvPr id="103" name="object 103"/>
            <p:cNvSpPr/>
            <p:nvPr/>
          </p:nvSpPr>
          <p:spPr>
            <a:xfrm>
              <a:off x="8173671" y="4500171"/>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04" name="object 104"/>
            <p:cNvSpPr/>
            <p:nvPr/>
          </p:nvSpPr>
          <p:spPr>
            <a:xfrm>
              <a:off x="8547774" y="6444465"/>
              <a:ext cx="0" cy="21590"/>
            </a:xfrm>
            <a:custGeom>
              <a:avLst/>
              <a:gdLst/>
              <a:ahLst/>
              <a:cxnLst/>
              <a:rect l="l" t="t" r="r" b="b"/>
              <a:pathLst>
                <a:path h="21589">
                  <a:moveTo>
                    <a:pt x="0" y="21019"/>
                  </a:moveTo>
                  <a:lnTo>
                    <a:pt x="0" y="0"/>
                  </a:lnTo>
                </a:path>
              </a:pathLst>
            </a:custGeom>
            <a:ln w="3175">
              <a:solidFill>
                <a:srgbClr val="000000"/>
              </a:solidFill>
            </a:ln>
          </p:spPr>
          <p:txBody>
            <a:bodyPr wrap="square" lIns="0" tIns="0" rIns="0" bIns="0" rtlCol="0"/>
            <a:lstStyle/>
            <a:p>
              <a:endParaRPr/>
            </a:p>
          </p:txBody>
        </p:sp>
        <p:sp>
          <p:nvSpPr>
            <p:cNvPr id="105" name="object 105"/>
            <p:cNvSpPr/>
            <p:nvPr/>
          </p:nvSpPr>
          <p:spPr>
            <a:xfrm>
              <a:off x="8553007" y="6449716"/>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06" name="object 106"/>
            <p:cNvSpPr/>
            <p:nvPr/>
          </p:nvSpPr>
          <p:spPr>
            <a:xfrm>
              <a:off x="8547774" y="4484363"/>
              <a:ext cx="0" cy="10795"/>
            </a:xfrm>
            <a:custGeom>
              <a:avLst/>
              <a:gdLst/>
              <a:ahLst/>
              <a:cxnLst/>
              <a:rect l="l" t="t" r="r" b="b"/>
              <a:pathLst>
                <a:path h="10795">
                  <a:moveTo>
                    <a:pt x="0" y="0"/>
                  </a:moveTo>
                  <a:lnTo>
                    <a:pt x="0" y="10583"/>
                  </a:lnTo>
                </a:path>
              </a:pathLst>
            </a:custGeom>
            <a:ln w="3175">
              <a:solidFill>
                <a:srgbClr val="000000"/>
              </a:solidFill>
            </a:ln>
          </p:spPr>
          <p:txBody>
            <a:bodyPr wrap="square" lIns="0" tIns="0" rIns="0" bIns="0" rtlCol="0"/>
            <a:lstStyle/>
            <a:p>
              <a:endParaRPr/>
            </a:p>
          </p:txBody>
        </p:sp>
        <p:sp>
          <p:nvSpPr>
            <p:cNvPr id="107" name="object 107"/>
            <p:cNvSpPr/>
            <p:nvPr/>
          </p:nvSpPr>
          <p:spPr>
            <a:xfrm>
              <a:off x="8553007" y="4500171"/>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08" name="object 108"/>
            <p:cNvSpPr/>
            <p:nvPr/>
          </p:nvSpPr>
          <p:spPr>
            <a:xfrm>
              <a:off x="6640493" y="4863887"/>
              <a:ext cx="10795" cy="0"/>
            </a:xfrm>
            <a:custGeom>
              <a:avLst/>
              <a:gdLst/>
              <a:ahLst/>
              <a:cxnLst/>
              <a:rect l="l" t="t" r="r" b="b"/>
              <a:pathLst>
                <a:path w="10795">
                  <a:moveTo>
                    <a:pt x="0" y="0"/>
                  </a:moveTo>
                  <a:lnTo>
                    <a:pt x="10466" y="0"/>
                  </a:lnTo>
                </a:path>
              </a:pathLst>
            </a:custGeom>
            <a:ln w="3175">
              <a:solidFill>
                <a:srgbClr val="000000"/>
              </a:solidFill>
            </a:ln>
          </p:spPr>
          <p:txBody>
            <a:bodyPr wrap="square" lIns="0" tIns="0" rIns="0" bIns="0" rtlCol="0"/>
            <a:lstStyle/>
            <a:p>
              <a:endParaRPr/>
            </a:p>
          </p:txBody>
        </p:sp>
        <p:sp>
          <p:nvSpPr>
            <p:cNvPr id="109" name="object 109"/>
            <p:cNvSpPr/>
            <p:nvPr/>
          </p:nvSpPr>
          <p:spPr>
            <a:xfrm>
              <a:off x="6656327" y="4869112"/>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10" name="object 110"/>
            <p:cNvSpPr/>
            <p:nvPr/>
          </p:nvSpPr>
          <p:spPr>
            <a:xfrm>
              <a:off x="8600374" y="4863887"/>
              <a:ext cx="21590" cy="0"/>
            </a:xfrm>
            <a:custGeom>
              <a:avLst/>
              <a:gdLst/>
              <a:ahLst/>
              <a:cxnLst/>
              <a:rect l="l" t="t" r="r" b="b"/>
              <a:pathLst>
                <a:path w="21590">
                  <a:moveTo>
                    <a:pt x="21066" y="0"/>
                  </a:moveTo>
                  <a:lnTo>
                    <a:pt x="0" y="0"/>
                  </a:lnTo>
                </a:path>
              </a:pathLst>
            </a:custGeom>
            <a:ln w="3175">
              <a:solidFill>
                <a:srgbClr val="000000"/>
              </a:solidFill>
            </a:ln>
          </p:spPr>
          <p:txBody>
            <a:bodyPr wrap="square" lIns="0" tIns="0" rIns="0" bIns="0" rtlCol="0"/>
            <a:lstStyle/>
            <a:p>
              <a:endParaRPr/>
            </a:p>
          </p:txBody>
        </p:sp>
        <p:sp>
          <p:nvSpPr>
            <p:cNvPr id="111" name="object 111"/>
            <p:cNvSpPr/>
            <p:nvPr/>
          </p:nvSpPr>
          <p:spPr>
            <a:xfrm>
              <a:off x="8605607" y="4869112"/>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12" name="object 112"/>
            <p:cNvSpPr/>
            <p:nvPr/>
          </p:nvSpPr>
          <p:spPr>
            <a:xfrm>
              <a:off x="6640493" y="5243277"/>
              <a:ext cx="10795" cy="0"/>
            </a:xfrm>
            <a:custGeom>
              <a:avLst/>
              <a:gdLst/>
              <a:ahLst/>
              <a:cxnLst/>
              <a:rect l="l" t="t" r="r" b="b"/>
              <a:pathLst>
                <a:path w="10795">
                  <a:moveTo>
                    <a:pt x="0" y="0"/>
                  </a:moveTo>
                  <a:lnTo>
                    <a:pt x="10466" y="0"/>
                  </a:lnTo>
                </a:path>
              </a:pathLst>
            </a:custGeom>
            <a:ln w="3175">
              <a:solidFill>
                <a:srgbClr val="000000"/>
              </a:solidFill>
            </a:ln>
          </p:spPr>
          <p:txBody>
            <a:bodyPr wrap="square" lIns="0" tIns="0" rIns="0" bIns="0" rtlCol="0"/>
            <a:lstStyle/>
            <a:p>
              <a:endParaRPr/>
            </a:p>
          </p:txBody>
        </p:sp>
        <p:sp>
          <p:nvSpPr>
            <p:cNvPr id="113" name="object 113"/>
            <p:cNvSpPr/>
            <p:nvPr/>
          </p:nvSpPr>
          <p:spPr>
            <a:xfrm>
              <a:off x="6656327" y="5248636"/>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14" name="object 114"/>
            <p:cNvSpPr/>
            <p:nvPr/>
          </p:nvSpPr>
          <p:spPr>
            <a:xfrm>
              <a:off x="8600374" y="5243277"/>
              <a:ext cx="21590" cy="0"/>
            </a:xfrm>
            <a:custGeom>
              <a:avLst/>
              <a:gdLst/>
              <a:ahLst/>
              <a:cxnLst/>
              <a:rect l="l" t="t" r="r" b="b"/>
              <a:pathLst>
                <a:path w="21590">
                  <a:moveTo>
                    <a:pt x="21066" y="0"/>
                  </a:moveTo>
                  <a:lnTo>
                    <a:pt x="0" y="0"/>
                  </a:lnTo>
                </a:path>
              </a:pathLst>
            </a:custGeom>
            <a:ln w="3175">
              <a:solidFill>
                <a:srgbClr val="000000"/>
              </a:solidFill>
            </a:ln>
          </p:spPr>
          <p:txBody>
            <a:bodyPr wrap="square" lIns="0" tIns="0" rIns="0" bIns="0" rtlCol="0"/>
            <a:lstStyle/>
            <a:p>
              <a:endParaRPr/>
            </a:p>
          </p:txBody>
        </p:sp>
        <p:sp>
          <p:nvSpPr>
            <p:cNvPr id="115" name="object 115"/>
            <p:cNvSpPr/>
            <p:nvPr/>
          </p:nvSpPr>
          <p:spPr>
            <a:xfrm>
              <a:off x="8605607" y="5248636"/>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16" name="object 116"/>
            <p:cNvSpPr/>
            <p:nvPr/>
          </p:nvSpPr>
          <p:spPr>
            <a:xfrm>
              <a:off x="6640493" y="5622453"/>
              <a:ext cx="10795" cy="0"/>
            </a:xfrm>
            <a:custGeom>
              <a:avLst/>
              <a:gdLst/>
              <a:ahLst/>
              <a:cxnLst/>
              <a:rect l="l" t="t" r="r" b="b"/>
              <a:pathLst>
                <a:path w="10795">
                  <a:moveTo>
                    <a:pt x="0" y="0"/>
                  </a:moveTo>
                  <a:lnTo>
                    <a:pt x="10466" y="0"/>
                  </a:lnTo>
                </a:path>
              </a:pathLst>
            </a:custGeom>
            <a:ln w="3175">
              <a:solidFill>
                <a:srgbClr val="000000"/>
              </a:solidFill>
            </a:ln>
          </p:spPr>
          <p:txBody>
            <a:bodyPr wrap="square" lIns="0" tIns="0" rIns="0" bIns="0" rtlCol="0"/>
            <a:lstStyle/>
            <a:p>
              <a:endParaRPr/>
            </a:p>
          </p:txBody>
        </p:sp>
        <p:sp>
          <p:nvSpPr>
            <p:cNvPr id="117" name="object 117"/>
            <p:cNvSpPr/>
            <p:nvPr/>
          </p:nvSpPr>
          <p:spPr>
            <a:xfrm>
              <a:off x="6656327" y="5627718"/>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18" name="object 118"/>
            <p:cNvSpPr/>
            <p:nvPr/>
          </p:nvSpPr>
          <p:spPr>
            <a:xfrm>
              <a:off x="8600374" y="5622453"/>
              <a:ext cx="21590" cy="0"/>
            </a:xfrm>
            <a:custGeom>
              <a:avLst/>
              <a:gdLst/>
              <a:ahLst/>
              <a:cxnLst/>
              <a:rect l="l" t="t" r="r" b="b"/>
              <a:pathLst>
                <a:path w="21590">
                  <a:moveTo>
                    <a:pt x="21066" y="0"/>
                  </a:moveTo>
                  <a:lnTo>
                    <a:pt x="0" y="0"/>
                  </a:lnTo>
                </a:path>
              </a:pathLst>
            </a:custGeom>
            <a:ln w="3175">
              <a:solidFill>
                <a:srgbClr val="000000"/>
              </a:solidFill>
            </a:ln>
          </p:spPr>
          <p:txBody>
            <a:bodyPr wrap="square" lIns="0" tIns="0" rIns="0" bIns="0" rtlCol="0"/>
            <a:lstStyle/>
            <a:p>
              <a:endParaRPr/>
            </a:p>
          </p:txBody>
        </p:sp>
        <p:sp>
          <p:nvSpPr>
            <p:cNvPr id="119" name="object 119"/>
            <p:cNvSpPr/>
            <p:nvPr/>
          </p:nvSpPr>
          <p:spPr>
            <a:xfrm>
              <a:off x="8605607" y="5627718"/>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20" name="object 120"/>
            <p:cNvSpPr/>
            <p:nvPr/>
          </p:nvSpPr>
          <p:spPr>
            <a:xfrm>
              <a:off x="6640493" y="6012427"/>
              <a:ext cx="10795" cy="0"/>
            </a:xfrm>
            <a:custGeom>
              <a:avLst/>
              <a:gdLst/>
              <a:ahLst/>
              <a:cxnLst/>
              <a:rect l="l" t="t" r="r" b="b"/>
              <a:pathLst>
                <a:path w="10795">
                  <a:moveTo>
                    <a:pt x="0" y="0"/>
                  </a:moveTo>
                  <a:lnTo>
                    <a:pt x="10466" y="0"/>
                  </a:lnTo>
                </a:path>
              </a:pathLst>
            </a:custGeom>
            <a:ln w="3175">
              <a:solidFill>
                <a:srgbClr val="000000"/>
              </a:solidFill>
            </a:ln>
          </p:spPr>
          <p:txBody>
            <a:bodyPr wrap="square" lIns="0" tIns="0" rIns="0" bIns="0" rtlCol="0"/>
            <a:lstStyle/>
            <a:p>
              <a:endParaRPr/>
            </a:p>
          </p:txBody>
        </p:sp>
        <p:sp>
          <p:nvSpPr>
            <p:cNvPr id="121" name="object 121"/>
            <p:cNvSpPr/>
            <p:nvPr/>
          </p:nvSpPr>
          <p:spPr>
            <a:xfrm>
              <a:off x="6656327" y="6017691"/>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22" name="object 122"/>
            <p:cNvSpPr/>
            <p:nvPr/>
          </p:nvSpPr>
          <p:spPr>
            <a:xfrm>
              <a:off x="8600374" y="6012427"/>
              <a:ext cx="21590" cy="0"/>
            </a:xfrm>
            <a:custGeom>
              <a:avLst/>
              <a:gdLst/>
              <a:ahLst/>
              <a:cxnLst/>
              <a:rect l="l" t="t" r="r" b="b"/>
              <a:pathLst>
                <a:path w="21590">
                  <a:moveTo>
                    <a:pt x="21066" y="0"/>
                  </a:moveTo>
                  <a:lnTo>
                    <a:pt x="0" y="0"/>
                  </a:lnTo>
                </a:path>
              </a:pathLst>
            </a:custGeom>
            <a:ln w="3175">
              <a:solidFill>
                <a:srgbClr val="000000"/>
              </a:solidFill>
            </a:ln>
          </p:spPr>
          <p:txBody>
            <a:bodyPr wrap="square" lIns="0" tIns="0" rIns="0" bIns="0" rtlCol="0"/>
            <a:lstStyle/>
            <a:p>
              <a:endParaRPr/>
            </a:p>
          </p:txBody>
        </p:sp>
        <p:sp>
          <p:nvSpPr>
            <p:cNvPr id="123" name="object 123"/>
            <p:cNvSpPr/>
            <p:nvPr/>
          </p:nvSpPr>
          <p:spPr>
            <a:xfrm>
              <a:off x="8605607" y="6017691"/>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24" name="object 124"/>
            <p:cNvSpPr/>
            <p:nvPr/>
          </p:nvSpPr>
          <p:spPr>
            <a:xfrm>
              <a:off x="6640493" y="6391897"/>
              <a:ext cx="10795" cy="0"/>
            </a:xfrm>
            <a:custGeom>
              <a:avLst/>
              <a:gdLst/>
              <a:ahLst/>
              <a:cxnLst/>
              <a:rect l="l" t="t" r="r" b="b"/>
              <a:pathLst>
                <a:path w="10795">
                  <a:moveTo>
                    <a:pt x="0" y="0"/>
                  </a:moveTo>
                  <a:lnTo>
                    <a:pt x="10466" y="0"/>
                  </a:lnTo>
                </a:path>
              </a:pathLst>
            </a:custGeom>
            <a:ln w="3175">
              <a:solidFill>
                <a:srgbClr val="000000"/>
              </a:solidFill>
            </a:ln>
          </p:spPr>
          <p:txBody>
            <a:bodyPr wrap="square" lIns="0" tIns="0" rIns="0" bIns="0" rtlCol="0"/>
            <a:lstStyle/>
            <a:p>
              <a:endParaRPr/>
            </a:p>
          </p:txBody>
        </p:sp>
        <p:sp>
          <p:nvSpPr>
            <p:cNvPr id="125" name="object 125"/>
            <p:cNvSpPr/>
            <p:nvPr/>
          </p:nvSpPr>
          <p:spPr>
            <a:xfrm>
              <a:off x="6656327" y="6397148"/>
              <a:ext cx="10795" cy="0"/>
            </a:xfrm>
            <a:custGeom>
              <a:avLst/>
              <a:gdLst/>
              <a:ahLst/>
              <a:cxnLst/>
              <a:rect l="l" t="t" r="r" b="b"/>
              <a:pathLst>
                <a:path w="10795">
                  <a:moveTo>
                    <a:pt x="0" y="0"/>
                  </a:moveTo>
                  <a:lnTo>
                    <a:pt x="10466" y="0"/>
                  </a:lnTo>
                </a:path>
              </a:pathLst>
            </a:custGeom>
            <a:ln w="10513">
              <a:solidFill>
                <a:srgbClr val="000000"/>
              </a:solidFill>
            </a:ln>
          </p:spPr>
          <p:txBody>
            <a:bodyPr wrap="square" lIns="0" tIns="0" rIns="0" bIns="0" rtlCol="0"/>
            <a:lstStyle/>
            <a:p>
              <a:endParaRPr/>
            </a:p>
          </p:txBody>
        </p:sp>
        <p:sp>
          <p:nvSpPr>
            <p:cNvPr id="126" name="object 126"/>
            <p:cNvSpPr/>
            <p:nvPr/>
          </p:nvSpPr>
          <p:spPr>
            <a:xfrm>
              <a:off x="8600374" y="6391897"/>
              <a:ext cx="21590" cy="0"/>
            </a:xfrm>
            <a:custGeom>
              <a:avLst/>
              <a:gdLst/>
              <a:ahLst/>
              <a:cxnLst/>
              <a:rect l="l" t="t" r="r" b="b"/>
              <a:pathLst>
                <a:path w="21590">
                  <a:moveTo>
                    <a:pt x="21066" y="0"/>
                  </a:moveTo>
                  <a:lnTo>
                    <a:pt x="0" y="0"/>
                  </a:lnTo>
                </a:path>
              </a:pathLst>
            </a:custGeom>
            <a:ln w="3175">
              <a:solidFill>
                <a:srgbClr val="000000"/>
              </a:solidFill>
            </a:ln>
          </p:spPr>
          <p:txBody>
            <a:bodyPr wrap="square" lIns="0" tIns="0" rIns="0" bIns="0" rtlCol="0"/>
            <a:lstStyle/>
            <a:p>
              <a:endParaRPr/>
            </a:p>
          </p:txBody>
        </p:sp>
        <p:sp>
          <p:nvSpPr>
            <p:cNvPr id="127" name="object 127"/>
            <p:cNvSpPr/>
            <p:nvPr/>
          </p:nvSpPr>
          <p:spPr>
            <a:xfrm>
              <a:off x="8605607" y="6397148"/>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sp>
          <p:nvSpPr>
            <p:cNvPr id="128" name="object 128"/>
            <p:cNvSpPr/>
            <p:nvPr/>
          </p:nvSpPr>
          <p:spPr>
            <a:xfrm>
              <a:off x="6640493" y="6465484"/>
              <a:ext cx="1981200" cy="0"/>
            </a:xfrm>
            <a:custGeom>
              <a:avLst/>
              <a:gdLst/>
              <a:ahLst/>
              <a:cxnLst/>
              <a:rect l="l" t="t" r="r" b="b"/>
              <a:pathLst>
                <a:path w="1981200">
                  <a:moveTo>
                    <a:pt x="0" y="0"/>
                  </a:moveTo>
                  <a:lnTo>
                    <a:pt x="1980947" y="0"/>
                  </a:lnTo>
                </a:path>
              </a:pathLst>
            </a:custGeom>
            <a:ln w="3175">
              <a:solidFill>
                <a:srgbClr val="000000"/>
              </a:solidFill>
            </a:ln>
          </p:spPr>
          <p:txBody>
            <a:bodyPr wrap="square" lIns="0" tIns="0" rIns="0" bIns="0" rtlCol="0"/>
            <a:lstStyle/>
            <a:p>
              <a:endParaRPr/>
            </a:p>
          </p:txBody>
        </p:sp>
        <p:sp>
          <p:nvSpPr>
            <p:cNvPr id="129" name="object 129"/>
            <p:cNvSpPr/>
            <p:nvPr/>
          </p:nvSpPr>
          <p:spPr>
            <a:xfrm>
              <a:off x="8626674" y="6470749"/>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130" name="object 130"/>
            <p:cNvSpPr/>
            <p:nvPr/>
          </p:nvSpPr>
          <p:spPr>
            <a:xfrm>
              <a:off x="6640493" y="4484363"/>
              <a:ext cx="1981200" cy="0"/>
            </a:xfrm>
            <a:custGeom>
              <a:avLst/>
              <a:gdLst/>
              <a:ahLst/>
              <a:cxnLst/>
              <a:rect l="l" t="t" r="r" b="b"/>
              <a:pathLst>
                <a:path w="1981200">
                  <a:moveTo>
                    <a:pt x="0" y="0"/>
                  </a:moveTo>
                  <a:lnTo>
                    <a:pt x="1980947" y="0"/>
                  </a:lnTo>
                </a:path>
              </a:pathLst>
            </a:custGeom>
            <a:ln w="3175">
              <a:solidFill>
                <a:srgbClr val="000000"/>
              </a:solidFill>
            </a:ln>
          </p:spPr>
          <p:txBody>
            <a:bodyPr wrap="square" lIns="0" tIns="0" rIns="0" bIns="0" rtlCol="0"/>
            <a:lstStyle/>
            <a:p>
              <a:endParaRPr/>
            </a:p>
          </p:txBody>
        </p:sp>
        <p:sp>
          <p:nvSpPr>
            <p:cNvPr id="131" name="object 131"/>
            <p:cNvSpPr/>
            <p:nvPr/>
          </p:nvSpPr>
          <p:spPr>
            <a:xfrm>
              <a:off x="8626674" y="4489588"/>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132" name="object 132"/>
            <p:cNvSpPr/>
            <p:nvPr/>
          </p:nvSpPr>
          <p:spPr>
            <a:xfrm>
              <a:off x="8621441" y="4484363"/>
              <a:ext cx="0" cy="1981200"/>
            </a:xfrm>
            <a:custGeom>
              <a:avLst/>
              <a:gdLst/>
              <a:ahLst/>
              <a:cxnLst/>
              <a:rect l="l" t="t" r="r" b="b"/>
              <a:pathLst>
                <a:path h="1981200">
                  <a:moveTo>
                    <a:pt x="0" y="0"/>
                  </a:moveTo>
                  <a:lnTo>
                    <a:pt x="0" y="1981121"/>
                  </a:lnTo>
                </a:path>
              </a:pathLst>
            </a:custGeom>
            <a:ln w="3175">
              <a:solidFill>
                <a:srgbClr val="000000"/>
              </a:solidFill>
            </a:ln>
          </p:spPr>
          <p:txBody>
            <a:bodyPr wrap="square" lIns="0" tIns="0" rIns="0" bIns="0" rtlCol="0"/>
            <a:lstStyle/>
            <a:p>
              <a:endParaRPr/>
            </a:p>
          </p:txBody>
        </p:sp>
        <p:sp>
          <p:nvSpPr>
            <p:cNvPr id="133" name="object 133"/>
            <p:cNvSpPr/>
            <p:nvPr/>
          </p:nvSpPr>
          <p:spPr>
            <a:xfrm>
              <a:off x="8626674" y="6470749"/>
              <a:ext cx="11430" cy="0"/>
            </a:xfrm>
            <a:custGeom>
              <a:avLst/>
              <a:gdLst/>
              <a:ahLst/>
              <a:cxnLst/>
              <a:rect l="l" t="t" r="r" b="b"/>
              <a:pathLst>
                <a:path w="11429">
                  <a:moveTo>
                    <a:pt x="0" y="0"/>
                  </a:moveTo>
                  <a:lnTo>
                    <a:pt x="10868" y="0"/>
                  </a:lnTo>
                </a:path>
              </a:pathLst>
            </a:custGeom>
            <a:ln w="10513">
              <a:solidFill>
                <a:srgbClr val="000000"/>
              </a:solidFill>
            </a:ln>
          </p:spPr>
          <p:txBody>
            <a:bodyPr wrap="square" lIns="0" tIns="0" rIns="0" bIns="0" rtlCol="0"/>
            <a:lstStyle/>
            <a:p>
              <a:endParaRPr/>
            </a:p>
          </p:txBody>
        </p:sp>
        <p:sp>
          <p:nvSpPr>
            <p:cNvPr id="134" name="object 134"/>
            <p:cNvSpPr/>
            <p:nvPr/>
          </p:nvSpPr>
          <p:spPr>
            <a:xfrm>
              <a:off x="6640493" y="4484363"/>
              <a:ext cx="0" cy="1981200"/>
            </a:xfrm>
            <a:custGeom>
              <a:avLst/>
              <a:gdLst/>
              <a:ahLst/>
              <a:cxnLst/>
              <a:rect l="l" t="t" r="r" b="b"/>
              <a:pathLst>
                <a:path h="1981200">
                  <a:moveTo>
                    <a:pt x="0" y="0"/>
                  </a:moveTo>
                  <a:lnTo>
                    <a:pt x="0" y="1981121"/>
                  </a:lnTo>
                </a:path>
              </a:pathLst>
            </a:custGeom>
            <a:ln w="3175">
              <a:solidFill>
                <a:srgbClr val="000000"/>
              </a:solidFill>
            </a:ln>
          </p:spPr>
          <p:txBody>
            <a:bodyPr wrap="square" lIns="0" tIns="0" rIns="0" bIns="0" rtlCol="0"/>
            <a:lstStyle/>
            <a:p>
              <a:endParaRPr/>
            </a:p>
          </p:txBody>
        </p:sp>
        <p:sp>
          <p:nvSpPr>
            <p:cNvPr id="135" name="object 135"/>
            <p:cNvSpPr/>
            <p:nvPr/>
          </p:nvSpPr>
          <p:spPr>
            <a:xfrm>
              <a:off x="6645726" y="6470749"/>
              <a:ext cx="10795" cy="0"/>
            </a:xfrm>
            <a:custGeom>
              <a:avLst/>
              <a:gdLst/>
              <a:ahLst/>
              <a:cxnLst/>
              <a:rect l="l" t="t" r="r" b="b"/>
              <a:pathLst>
                <a:path w="10795">
                  <a:moveTo>
                    <a:pt x="0" y="0"/>
                  </a:moveTo>
                  <a:lnTo>
                    <a:pt x="10600" y="0"/>
                  </a:lnTo>
                </a:path>
              </a:pathLst>
            </a:custGeom>
            <a:ln w="10513">
              <a:solidFill>
                <a:srgbClr val="000000"/>
              </a:solidFill>
            </a:ln>
          </p:spPr>
          <p:txBody>
            <a:bodyPr wrap="square" lIns="0" tIns="0" rIns="0" bIns="0" rtlCol="0"/>
            <a:lstStyle/>
            <a:p>
              <a:endParaRPr/>
            </a:p>
          </p:txBody>
        </p:sp>
      </p:grpSp>
      <p:sp>
        <p:nvSpPr>
          <p:cNvPr id="136" name="object 136"/>
          <p:cNvSpPr txBox="1"/>
          <p:nvPr/>
        </p:nvSpPr>
        <p:spPr>
          <a:xfrm>
            <a:off x="6549924" y="5784630"/>
            <a:ext cx="1743075" cy="177613"/>
          </a:xfrm>
          <a:prstGeom prst="rect">
            <a:avLst/>
          </a:prstGeom>
        </p:spPr>
        <p:txBody>
          <a:bodyPr vert="horz" wrap="square" lIns="0" tIns="15875" rIns="0" bIns="0" rtlCol="0">
            <a:spAutoFit/>
          </a:bodyPr>
          <a:lstStyle/>
          <a:p>
            <a:pPr marL="12700">
              <a:spcBef>
                <a:spcPts val="125"/>
              </a:spcBef>
              <a:tabLst>
                <a:tab pos="360045" algn="l"/>
                <a:tab pos="739140" algn="l"/>
                <a:tab pos="1129030" algn="l"/>
                <a:tab pos="1508760" algn="l"/>
              </a:tabLst>
            </a:pPr>
            <a:r>
              <a:rPr sz="1050" spc="-25" dirty="0">
                <a:latin typeface="Arial MT"/>
                <a:cs typeface="Arial MT"/>
              </a:rPr>
              <a:t>50</a:t>
            </a:r>
            <a:r>
              <a:rPr sz="1050" dirty="0">
                <a:latin typeface="Arial MT"/>
                <a:cs typeface="Arial MT"/>
              </a:rPr>
              <a:t>	</a:t>
            </a:r>
            <a:r>
              <a:rPr sz="1050" spc="-25" dirty="0">
                <a:latin typeface="Arial MT"/>
                <a:cs typeface="Arial MT"/>
              </a:rPr>
              <a:t>100</a:t>
            </a:r>
            <a:r>
              <a:rPr sz="1050" dirty="0">
                <a:latin typeface="Arial MT"/>
                <a:cs typeface="Arial MT"/>
              </a:rPr>
              <a:t>	</a:t>
            </a:r>
            <a:r>
              <a:rPr sz="1050" spc="-25" dirty="0">
                <a:latin typeface="Arial MT"/>
                <a:cs typeface="Arial MT"/>
              </a:rPr>
              <a:t>150</a:t>
            </a:r>
            <a:r>
              <a:rPr sz="1050" dirty="0">
                <a:latin typeface="Arial MT"/>
                <a:cs typeface="Arial MT"/>
              </a:rPr>
              <a:t>	</a:t>
            </a:r>
            <a:r>
              <a:rPr sz="1050" spc="-25" dirty="0">
                <a:latin typeface="Arial MT"/>
                <a:cs typeface="Arial MT"/>
              </a:rPr>
              <a:t>200</a:t>
            </a:r>
            <a:r>
              <a:rPr sz="1050" dirty="0">
                <a:latin typeface="Arial MT"/>
                <a:cs typeface="Arial MT"/>
              </a:rPr>
              <a:t>	</a:t>
            </a:r>
            <a:r>
              <a:rPr sz="1050" spc="-25" dirty="0">
                <a:latin typeface="Arial MT"/>
                <a:cs typeface="Arial MT"/>
              </a:rPr>
              <a:t>250</a:t>
            </a:r>
            <a:endParaRPr sz="1050">
              <a:latin typeface="Arial MT"/>
              <a:cs typeface="Arial MT"/>
            </a:endParaRPr>
          </a:p>
        </p:txBody>
      </p:sp>
      <p:sp>
        <p:nvSpPr>
          <p:cNvPr id="137" name="object 137"/>
          <p:cNvSpPr txBox="1"/>
          <p:nvPr/>
        </p:nvSpPr>
        <p:spPr>
          <a:xfrm>
            <a:off x="6054653" y="4066671"/>
            <a:ext cx="172720"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50</a:t>
            </a:r>
            <a:endParaRPr sz="1050">
              <a:latin typeface="Arial MT"/>
              <a:cs typeface="Arial MT"/>
            </a:endParaRPr>
          </a:p>
        </p:txBody>
      </p:sp>
      <p:sp>
        <p:nvSpPr>
          <p:cNvPr id="138" name="object 138"/>
          <p:cNvSpPr txBox="1"/>
          <p:nvPr/>
        </p:nvSpPr>
        <p:spPr>
          <a:xfrm>
            <a:off x="5980584" y="4446195"/>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100</a:t>
            </a:r>
            <a:endParaRPr sz="1050">
              <a:latin typeface="Arial MT"/>
              <a:cs typeface="Arial MT"/>
            </a:endParaRPr>
          </a:p>
        </p:txBody>
      </p:sp>
      <p:sp>
        <p:nvSpPr>
          <p:cNvPr id="139" name="object 139"/>
          <p:cNvSpPr txBox="1"/>
          <p:nvPr/>
        </p:nvSpPr>
        <p:spPr>
          <a:xfrm>
            <a:off x="5980584" y="4825625"/>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150</a:t>
            </a:r>
            <a:endParaRPr sz="1050">
              <a:latin typeface="Arial MT"/>
              <a:cs typeface="Arial MT"/>
            </a:endParaRPr>
          </a:p>
        </p:txBody>
      </p:sp>
      <p:sp>
        <p:nvSpPr>
          <p:cNvPr id="140" name="object 140"/>
          <p:cNvSpPr txBox="1"/>
          <p:nvPr/>
        </p:nvSpPr>
        <p:spPr>
          <a:xfrm>
            <a:off x="5980584" y="5215599"/>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200</a:t>
            </a:r>
            <a:endParaRPr sz="1050">
              <a:latin typeface="Arial MT"/>
              <a:cs typeface="Arial MT"/>
            </a:endParaRPr>
          </a:p>
        </p:txBody>
      </p:sp>
      <p:sp>
        <p:nvSpPr>
          <p:cNvPr id="141" name="object 141"/>
          <p:cNvSpPr txBox="1"/>
          <p:nvPr/>
        </p:nvSpPr>
        <p:spPr>
          <a:xfrm>
            <a:off x="5980584" y="5594734"/>
            <a:ext cx="246379" cy="177613"/>
          </a:xfrm>
          <a:prstGeom prst="rect">
            <a:avLst/>
          </a:prstGeom>
        </p:spPr>
        <p:txBody>
          <a:bodyPr vert="horz" wrap="square" lIns="0" tIns="15875" rIns="0" bIns="0" rtlCol="0">
            <a:spAutoFit/>
          </a:bodyPr>
          <a:lstStyle/>
          <a:p>
            <a:pPr marL="12700">
              <a:spcBef>
                <a:spcPts val="125"/>
              </a:spcBef>
            </a:pPr>
            <a:r>
              <a:rPr sz="1050" spc="-25" dirty="0">
                <a:latin typeface="Arial MT"/>
                <a:cs typeface="Arial MT"/>
              </a:rPr>
              <a:t>250</a:t>
            </a:r>
            <a:endParaRPr sz="1050">
              <a:latin typeface="Arial MT"/>
              <a:cs typeface="Arial MT"/>
            </a:endParaRPr>
          </a:p>
        </p:txBody>
      </p:sp>
      <p:sp>
        <p:nvSpPr>
          <p:cNvPr id="142" name="object 142"/>
          <p:cNvSpPr txBox="1"/>
          <p:nvPr/>
        </p:nvSpPr>
        <p:spPr>
          <a:xfrm>
            <a:off x="538886" y="6198534"/>
            <a:ext cx="6471514" cy="289823"/>
          </a:xfrm>
          <a:prstGeom prst="rect">
            <a:avLst/>
          </a:prstGeom>
        </p:spPr>
        <p:txBody>
          <a:bodyPr vert="horz" wrap="square" lIns="0" tIns="12700" rIns="0" bIns="0" rtlCol="0">
            <a:spAutoFit/>
          </a:bodyPr>
          <a:lstStyle/>
          <a:p>
            <a:pPr marR="5080" algn="r">
              <a:spcBef>
                <a:spcPts val="100"/>
              </a:spcBef>
            </a:pPr>
            <a:r>
              <a:rPr dirty="0">
                <a:solidFill>
                  <a:srgbClr val="6F2F9F"/>
                </a:solidFill>
                <a:latin typeface="Microsoft Sans Serif"/>
                <a:cs typeface="Microsoft Sans Serif"/>
              </a:rPr>
              <a:t>*Change</a:t>
            </a:r>
            <a:r>
              <a:rPr spc="30" dirty="0">
                <a:solidFill>
                  <a:srgbClr val="6F2F9F"/>
                </a:solidFill>
                <a:latin typeface="Microsoft Sans Serif"/>
                <a:cs typeface="Microsoft Sans Serif"/>
              </a:rPr>
              <a:t> </a:t>
            </a:r>
            <a:r>
              <a:rPr dirty="0">
                <a:solidFill>
                  <a:srgbClr val="6F2F9F"/>
                </a:solidFill>
                <a:latin typeface="Microsoft Sans Serif"/>
                <a:cs typeface="Microsoft Sans Serif"/>
              </a:rPr>
              <a:t>p_type</a:t>
            </a:r>
            <a:r>
              <a:rPr spc="35" dirty="0">
                <a:solidFill>
                  <a:srgbClr val="6F2F9F"/>
                </a:solidFill>
                <a:latin typeface="Microsoft Sans Serif"/>
                <a:cs typeface="Microsoft Sans Serif"/>
              </a:rPr>
              <a:t> </a:t>
            </a:r>
            <a:r>
              <a:rPr b="1" dirty="0">
                <a:solidFill>
                  <a:srgbClr val="6F2F9F"/>
                </a:solidFill>
                <a:latin typeface="Arial"/>
                <a:cs typeface="Arial"/>
              </a:rPr>
              <a:t>(Line</a:t>
            </a:r>
            <a:r>
              <a:rPr b="1" spc="-15" dirty="0">
                <a:solidFill>
                  <a:srgbClr val="6F2F9F"/>
                </a:solidFill>
                <a:latin typeface="Arial"/>
                <a:cs typeface="Arial"/>
              </a:rPr>
              <a:t> </a:t>
            </a:r>
            <a:r>
              <a:rPr b="1" dirty="0">
                <a:solidFill>
                  <a:srgbClr val="6F2F9F"/>
                </a:solidFill>
                <a:latin typeface="Arial"/>
                <a:cs typeface="Arial"/>
              </a:rPr>
              <a:t>5)</a:t>
            </a:r>
            <a:r>
              <a:rPr b="1" spc="-10" dirty="0">
                <a:solidFill>
                  <a:srgbClr val="6F2F9F"/>
                </a:solidFill>
                <a:latin typeface="Arial"/>
                <a:cs typeface="Arial"/>
              </a:rPr>
              <a:t> </a:t>
            </a:r>
            <a:r>
              <a:rPr dirty="0">
                <a:solidFill>
                  <a:srgbClr val="6F2F9F"/>
                </a:solidFill>
                <a:latin typeface="Microsoft Sans Serif"/>
                <a:cs typeface="Microsoft Sans Serif"/>
              </a:rPr>
              <a:t>to 1,</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2,</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or</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3</a:t>
            </a:r>
            <a:r>
              <a:rPr spc="10" dirty="0">
                <a:solidFill>
                  <a:srgbClr val="6F2F9F"/>
                </a:solidFill>
                <a:latin typeface="Microsoft Sans Serif"/>
                <a:cs typeface="Microsoft Sans Serif"/>
              </a:rPr>
              <a:t> </a:t>
            </a:r>
            <a:r>
              <a:rPr spc="-25" dirty="0">
                <a:solidFill>
                  <a:srgbClr val="6F2F9F"/>
                </a:solidFill>
                <a:latin typeface="Microsoft Sans Serif"/>
                <a:cs typeface="Microsoft Sans Serif"/>
              </a:rPr>
              <a:t>for</a:t>
            </a:r>
            <a:r>
              <a:rPr lang="en-US" spc="-25" dirty="0">
                <a:latin typeface="Microsoft Sans Serif"/>
                <a:cs typeface="Microsoft Sans Serif"/>
              </a:rPr>
              <a:t> </a:t>
            </a:r>
            <a:r>
              <a:rPr dirty="0">
                <a:solidFill>
                  <a:srgbClr val="6F2F9F"/>
                </a:solidFill>
                <a:latin typeface="Microsoft Sans Serif"/>
                <a:cs typeface="Microsoft Sans Serif"/>
              </a:rPr>
              <a:t>different</a:t>
            </a:r>
            <a:r>
              <a:rPr spc="-35" dirty="0">
                <a:solidFill>
                  <a:srgbClr val="6F2F9F"/>
                </a:solidFill>
                <a:latin typeface="Microsoft Sans Serif"/>
                <a:cs typeface="Microsoft Sans Serif"/>
              </a:rPr>
              <a:t> </a:t>
            </a:r>
            <a:r>
              <a:rPr dirty="0">
                <a:solidFill>
                  <a:srgbClr val="6F2F9F"/>
                </a:solidFill>
                <a:latin typeface="Microsoft Sans Serif"/>
                <a:cs typeface="Microsoft Sans Serif"/>
              </a:rPr>
              <a:t>sample</a:t>
            </a:r>
            <a:r>
              <a:rPr spc="-30" dirty="0">
                <a:solidFill>
                  <a:srgbClr val="6F2F9F"/>
                </a:solidFill>
                <a:latin typeface="Microsoft Sans Serif"/>
                <a:cs typeface="Microsoft Sans Serif"/>
              </a:rPr>
              <a:t> </a:t>
            </a:r>
            <a:r>
              <a:rPr spc="-10" dirty="0">
                <a:solidFill>
                  <a:srgbClr val="6F2F9F"/>
                </a:solidFill>
                <a:latin typeface="Microsoft Sans Serif"/>
                <a:cs typeface="Microsoft Sans Serif"/>
              </a:rPr>
              <a:t>types*</a:t>
            </a:r>
            <a:endParaRPr dirty="0">
              <a:latin typeface="Microsoft Sans Serif"/>
              <a:cs typeface="Microsoft Sans Serif"/>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5"/>
            <a:ext cx="9286883" cy="1004839"/>
          </a:xfrm>
          <a:prstGeom prst="rect">
            <a:avLst/>
          </a:prstGeom>
        </p:spPr>
        <p:txBody>
          <a:bodyPr vert="horz" wrap="square" lIns="0" tIns="324561" rIns="0" bIns="0" rtlCol="0">
            <a:spAutoFit/>
          </a:bodyPr>
          <a:lstStyle/>
          <a:p>
            <a:pPr marL="641985">
              <a:spcBef>
                <a:spcPts val="105"/>
              </a:spcBef>
            </a:pPr>
            <a:r>
              <a:rPr dirty="0"/>
              <a:t>Example</a:t>
            </a:r>
            <a:r>
              <a:rPr spc="-25" dirty="0"/>
              <a:t> </a:t>
            </a:r>
            <a:r>
              <a:rPr dirty="0"/>
              <a:t>2:</a:t>
            </a:r>
            <a:r>
              <a:rPr spc="5" dirty="0"/>
              <a:t> </a:t>
            </a:r>
            <a:r>
              <a:rPr dirty="0"/>
              <a:t>Parallel</a:t>
            </a:r>
            <a:r>
              <a:rPr lang="en-US" spc="-25" dirty="0"/>
              <a:t>-B</a:t>
            </a:r>
            <a:r>
              <a:rPr dirty="0"/>
              <a:t>eam</a:t>
            </a:r>
            <a:r>
              <a:rPr spc="-5" dirty="0"/>
              <a:t> </a:t>
            </a:r>
            <a:r>
              <a:rPr spc="-25" dirty="0"/>
              <a:t>BP</a:t>
            </a:r>
          </a:p>
        </p:txBody>
      </p:sp>
      <p:sp>
        <p:nvSpPr>
          <p:cNvPr id="3" name="object 3"/>
          <p:cNvSpPr txBox="1"/>
          <p:nvPr/>
        </p:nvSpPr>
        <p:spPr>
          <a:xfrm>
            <a:off x="533400" y="1066800"/>
            <a:ext cx="7417434" cy="878840"/>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What</a:t>
            </a:r>
            <a:r>
              <a:rPr sz="2800" spc="-40" dirty="0">
                <a:latin typeface="Microsoft Sans Serif"/>
                <a:cs typeface="Microsoft Sans Serif"/>
              </a:rPr>
              <a:t> </a:t>
            </a:r>
            <a:r>
              <a:rPr sz="2800" dirty="0">
                <a:latin typeface="Microsoft Sans Serif"/>
                <a:cs typeface="Microsoft Sans Serif"/>
              </a:rPr>
              <a:t>happens</a:t>
            </a:r>
            <a:r>
              <a:rPr sz="2800" spc="-20" dirty="0">
                <a:latin typeface="Microsoft Sans Serif"/>
                <a:cs typeface="Microsoft Sans Serif"/>
              </a:rPr>
              <a:t> </a:t>
            </a:r>
            <a:r>
              <a:rPr sz="2800" dirty="0">
                <a:latin typeface="Microsoft Sans Serif"/>
                <a:cs typeface="Microsoft Sans Serif"/>
              </a:rPr>
              <a:t>if</a:t>
            </a:r>
            <a:r>
              <a:rPr sz="2800" spc="-40" dirty="0">
                <a:latin typeface="Microsoft Sans Serif"/>
                <a:cs typeface="Microsoft Sans Serif"/>
              </a:rPr>
              <a:t> </a:t>
            </a:r>
            <a:r>
              <a:rPr sz="2800" dirty="0">
                <a:latin typeface="Microsoft Sans Serif"/>
                <a:cs typeface="Microsoft Sans Serif"/>
              </a:rPr>
              <a:t>you</a:t>
            </a:r>
            <a:r>
              <a:rPr sz="2800" spc="-30" dirty="0">
                <a:latin typeface="Microsoft Sans Serif"/>
                <a:cs typeface="Microsoft Sans Serif"/>
              </a:rPr>
              <a:t> </a:t>
            </a:r>
            <a:r>
              <a:rPr sz="2800" dirty="0">
                <a:latin typeface="Microsoft Sans Serif"/>
                <a:cs typeface="Microsoft Sans Serif"/>
              </a:rPr>
              <a:t>change</a:t>
            </a:r>
            <a:r>
              <a:rPr sz="2800" spc="-35" dirty="0">
                <a:latin typeface="Microsoft Sans Serif"/>
                <a:cs typeface="Microsoft Sans Serif"/>
              </a:rPr>
              <a:t> </a:t>
            </a:r>
            <a:r>
              <a:rPr sz="2800" dirty="0">
                <a:latin typeface="Microsoft Sans Serif"/>
                <a:cs typeface="Microsoft Sans Serif"/>
              </a:rPr>
              <a:t>the</a:t>
            </a:r>
            <a:r>
              <a:rPr sz="2800" spc="-30" dirty="0">
                <a:latin typeface="Microsoft Sans Serif"/>
                <a:cs typeface="Microsoft Sans Serif"/>
              </a:rPr>
              <a:t> </a:t>
            </a:r>
            <a:r>
              <a:rPr sz="2800" dirty="0">
                <a:latin typeface="Microsoft Sans Serif"/>
                <a:cs typeface="Microsoft Sans Serif"/>
              </a:rPr>
              <a:t>maximum</a:t>
            </a:r>
            <a:r>
              <a:rPr sz="2800" spc="30" dirty="0">
                <a:latin typeface="Microsoft Sans Serif"/>
                <a:cs typeface="Microsoft Sans Serif"/>
              </a:rPr>
              <a:t> </a:t>
            </a:r>
            <a:r>
              <a:rPr sz="2800" spc="-50" dirty="0">
                <a:latin typeface="Microsoft Sans Serif"/>
                <a:cs typeface="Microsoft Sans Serif"/>
              </a:rPr>
              <a:t>θ </a:t>
            </a:r>
            <a:r>
              <a:rPr sz="2800" dirty="0">
                <a:latin typeface="Microsoft Sans Serif"/>
                <a:cs typeface="Microsoft Sans Serif"/>
              </a:rPr>
              <a:t>(</a:t>
            </a:r>
            <a:r>
              <a:rPr sz="2800" b="1" dirty="0">
                <a:latin typeface="Arial"/>
                <a:cs typeface="Arial"/>
              </a:rPr>
              <a:t>Line</a:t>
            </a:r>
            <a:r>
              <a:rPr sz="2800" b="1" spc="-40" dirty="0">
                <a:latin typeface="Arial"/>
                <a:cs typeface="Arial"/>
              </a:rPr>
              <a:t> </a:t>
            </a:r>
            <a:r>
              <a:rPr sz="2800" b="1" dirty="0">
                <a:latin typeface="Arial"/>
                <a:cs typeface="Arial"/>
              </a:rPr>
              <a:t>23</a:t>
            </a:r>
            <a:r>
              <a:rPr sz="2800" dirty="0">
                <a:latin typeface="Microsoft Sans Serif"/>
                <a:cs typeface="Microsoft Sans Serif"/>
              </a:rPr>
              <a:t>)</a:t>
            </a:r>
            <a:r>
              <a:rPr sz="2800" spc="-20" dirty="0">
                <a:latin typeface="Microsoft Sans Serif"/>
                <a:cs typeface="Microsoft Sans Serif"/>
              </a:rPr>
              <a:t> </a:t>
            </a:r>
            <a:r>
              <a:rPr sz="2800" dirty="0">
                <a:latin typeface="Microsoft Sans Serif"/>
                <a:cs typeface="Microsoft Sans Serif"/>
              </a:rPr>
              <a:t>or</a:t>
            </a:r>
            <a:r>
              <a:rPr sz="2800" spc="-20" dirty="0">
                <a:latin typeface="Microsoft Sans Serif"/>
                <a:cs typeface="Microsoft Sans Serif"/>
              </a:rPr>
              <a:t> </a:t>
            </a:r>
            <a:r>
              <a:rPr sz="2800" dirty="0">
                <a:latin typeface="Microsoft Sans Serif"/>
                <a:cs typeface="Microsoft Sans Serif"/>
              </a:rPr>
              <a:t>step</a:t>
            </a:r>
            <a:r>
              <a:rPr sz="2800" spc="-20" dirty="0">
                <a:latin typeface="Microsoft Sans Serif"/>
                <a:cs typeface="Microsoft Sans Serif"/>
              </a:rPr>
              <a:t> </a:t>
            </a:r>
            <a:r>
              <a:rPr sz="2800" dirty="0">
                <a:latin typeface="Microsoft Sans Serif"/>
                <a:cs typeface="Microsoft Sans Serif"/>
              </a:rPr>
              <a:t>(</a:t>
            </a:r>
            <a:r>
              <a:rPr sz="2800" b="1" dirty="0">
                <a:latin typeface="Arial"/>
                <a:cs typeface="Arial"/>
              </a:rPr>
              <a:t>Line</a:t>
            </a:r>
            <a:r>
              <a:rPr sz="2800" b="1" spc="-40" dirty="0">
                <a:latin typeface="Arial"/>
                <a:cs typeface="Arial"/>
              </a:rPr>
              <a:t> </a:t>
            </a:r>
            <a:r>
              <a:rPr sz="2800" b="1" spc="-20" dirty="0">
                <a:latin typeface="Arial"/>
                <a:cs typeface="Arial"/>
              </a:rPr>
              <a:t>24</a:t>
            </a:r>
            <a:r>
              <a:rPr sz="2800" spc="-20" dirty="0">
                <a:latin typeface="Microsoft Sans Serif"/>
                <a:cs typeface="Microsoft Sans Serif"/>
              </a:rPr>
              <a:t>)?</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413997" y="2564269"/>
            <a:ext cx="1693762" cy="1687249"/>
          </a:xfrm>
          <a:prstGeom prst="rect">
            <a:avLst/>
          </a:prstGeom>
        </p:spPr>
      </p:pic>
      <p:sp>
        <p:nvSpPr>
          <p:cNvPr id="5" name="object 5"/>
          <p:cNvSpPr txBox="1"/>
          <p:nvPr/>
        </p:nvSpPr>
        <p:spPr>
          <a:xfrm>
            <a:off x="700206" y="2334281"/>
            <a:ext cx="1111885" cy="154529"/>
          </a:xfrm>
          <a:prstGeom prst="rect">
            <a:avLst/>
          </a:prstGeom>
        </p:spPr>
        <p:txBody>
          <a:bodyPr vert="horz" wrap="square" lIns="0" tIns="15875" rIns="0" bIns="0" rtlCol="0">
            <a:spAutoFit/>
          </a:bodyPr>
          <a:lstStyle/>
          <a:p>
            <a:pPr marL="12700">
              <a:spcBef>
                <a:spcPts val="125"/>
              </a:spcBef>
            </a:pPr>
            <a:r>
              <a:rPr sz="900" dirty="0">
                <a:latin typeface="Arial MT"/>
                <a:cs typeface="Arial MT"/>
              </a:rPr>
              <a:t>backprojected</a:t>
            </a:r>
            <a:r>
              <a:rPr sz="900" spc="155" dirty="0">
                <a:latin typeface="Arial MT"/>
                <a:cs typeface="Arial MT"/>
              </a:rPr>
              <a:t> </a:t>
            </a:r>
            <a:r>
              <a:rPr sz="900" spc="-10" dirty="0">
                <a:latin typeface="Arial MT"/>
                <a:cs typeface="Arial MT"/>
              </a:rPr>
              <a:t>image</a:t>
            </a:r>
            <a:endParaRPr sz="900">
              <a:latin typeface="Arial MT"/>
              <a:cs typeface="Arial MT"/>
            </a:endParaRPr>
          </a:p>
        </p:txBody>
      </p:sp>
      <p:grpSp>
        <p:nvGrpSpPr>
          <p:cNvPr id="6" name="object 6"/>
          <p:cNvGrpSpPr/>
          <p:nvPr/>
        </p:nvGrpSpPr>
        <p:grpSpPr>
          <a:xfrm>
            <a:off x="413045" y="2554266"/>
            <a:ext cx="1713230" cy="1704339"/>
            <a:chOff x="415585" y="3111794"/>
            <a:chExt cx="1713230" cy="1704339"/>
          </a:xfrm>
        </p:grpSpPr>
        <p:sp>
          <p:nvSpPr>
            <p:cNvPr id="7" name="object 7"/>
            <p:cNvSpPr/>
            <p:nvPr/>
          </p:nvSpPr>
          <p:spPr>
            <a:xfrm>
              <a:off x="416537" y="4806432"/>
              <a:ext cx="1694180" cy="0"/>
            </a:xfrm>
            <a:custGeom>
              <a:avLst/>
              <a:gdLst/>
              <a:ahLst/>
              <a:cxnLst/>
              <a:rect l="l" t="t" r="r" b="b"/>
              <a:pathLst>
                <a:path w="1694180">
                  <a:moveTo>
                    <a:pt x="0" y="0"/>
                  </a:moveTo>
                  <a:lnTo>
                    <a:pt x="1693808" y="0"/>
                  </a:lnTo>
                </a:path>
              </a:pathLst>
            </a:custGeom>
            <a:ln w="3175">
              <a:solidFill>
                <a:srgbClr val="000000"/>
              </a:solidFill>
            </a:ln>
          </p:spPr>
          <p:txBody>
            <a:bodyPr wrap="square" lIns="0" tIns="0" rIns="0" bIns="0" rtlCol="0"/>
            <a:lstStyle/>
            <a:p>
              <a:endParaRPr/>
            </a:p>
          </p:txBody>
        </p:sp>
        <p:sp>
          <p:nvSpPr>
            <p:cNvPr id="8" name="object 8"/>
            <p:cNvSpPr/>
            <p:nvPr/>
          </p:nvSpPr>
          <p:spPr>
            <a:xfrm>
              <a:off x="2114844" y="4810946"/>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9" name="object 9"/>
            <p:cNvSpPr/>
            <p:nvPr/>
          </p:nvSpPr>
          <p:spPr>
            <a:xfrm>
              <a:off x="416537" y="3112747"/>
              <a:ext cx="1694180" cy="0"/>
            </a:xfrm>
            <a:custGeom>
              <a:avLst/>
              <a:gdLst/>
              <a:ahLst/>
              <a:cxnLst/>
              <a:rect l="l" t="t" r="r" b="b"/>
              <a:pathLst>
                <a:path w="1694180">
                  <a:moveTo>
                    <a:pt x="0" y="0"/>
                  </a:moveTo>
                  <a:lnTo>
                    <a:pt x="1693808" y="0"/>
                  </a:lnTo>
                </a:path>
              </a:pathLst>
            </a:custGeom>
            <a:ln w="3175">
              <a:solidFill>
                <a:srgbClr val="000000"/>
              </a:solidFill>
            </a:ln>
          </p:spPr>
          <p:txBody>
            <a:bodyPr wrap="square" lIns="0" tIns="0" rIns="0" bIns="0" rtlCol="0"/>
            <a:lstStyle/>
            <a:p>
              <a:endParaRPr/>
            </a:p>
          </p:txBody>
        </p:sp>
        <p:sp>
          <p:nvSpPr>
            <p:cNvPr id="10" name="object 10"/>
            <p:cNvSpPr/>
            <p:nvPr/>
          </p:nvSpPr>
          <p:spPr>
            <a:xfrm>
              <a:off x="2114844" y="3117352"/>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1" name="object 11"/>
            <p:cNvSpPr/>
            <p:nvPr/>
          </p:nvSpPr>
          <p:spPr>
            <a:xfrm>
              <a:off x="2110346" y="3112747"/>
              <a:ext cx="0" cy="1694180"/>
            </a:xfrm>
            <a:custGeom>
              <a:avLst/>
              <a:gdLst/>
              <a:ahLst/>
              <a:cxnLst/>
              <a:rect l="l" t="t" r="r" b="b"/>
              <a:pathLst>
                <a:path h="1694179">
                  <a:moveTo>
                    <a:pt x="0" y="0"/>
                  </a:moveTo>
                  <a:lnTo>
                    <a:pt x="0" y="1693685"/>
                  </a:lnTo>
                </a:path>
              </a:pathLst>
            </a:custGeom>
            <a:ln w="3175">
              <a:solidFill>
                <a:srgbClr val="000000"/>
              </a:solidFill>
            </a:ln>
          </p:spPr>
          <p:txBody>
            <a:bodyPr wrap="square" lIns="0" tIns="0" rIns="0" bIns="0" rtlCol="0"/>
            <a:lstStyle/>
            <a:p>
              <a:endParaRPr/>
            </a:p>
          </p:txBody>
        </p:sp>
        <p:sp>
          <p:nvSpPr>
            <p:cNvPr id="12" name="object 12"/>
            <p:cNvSpPr/>
            <p:nvPr/>
          </p:nvSpPr>
          <p:spPr>
            <a:xfrm>
              <a:off x="2114844" y="4810946"/>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3" name="object 13"/>
            <p:cNvSpPr/>
            <p:nvPr/>
          </p:nvSpPr>
          <p:spPr>
            <a:xfrm>
              <a:off x="416537" y="3112747"/>
              <a:ext cx="0" cy="1694180"/>
            </a:xfrm>
            <a:custGeom>
              <a:avLst/>
              <a:gdLst/>
              <a:ahLst/>
              <a:cxnLst/>
              <a:rect l="l" t="t" r="r" b="b"/>
              <a:pathLst>
                <a:path h="1694179">
                  <a:moveTo>
                    <a:pt x="0" y="0"/>
                  </a:moveTo>
                  <a:lnTo>
                    <a:pt x="0" y="1693685"/>
                  </a:lnTo>
                </a:path>
              </a:pathLst>
            </a:custGeom>
            <a:ln w="3175">
              <a:solidFill>
                <a:srgbClr val="000000"/>
              </a:solidFill>
            </a:ln>
          </p:spPr>
          <p:txBody>
            <a:bodyPr wrap="square" lIns="0" tIns="0" rIns="0" bIns="0" rtlCol="0"/>
            <a:lstStyle/>
            <a:p>
              <a:endParaRPr/>
            </a:p>
          </p:txBody>
        </p:sp>
        <p:sp>
          <p:nvSpPr>
            <p:cNvPr id="14" name="object 14"/>
            <p:cNvSpPr/>
            <p:nvPr/>
          </p:nvSpPr>
          <p:spPr>
            <a:xfrm>
              <a:off x="421058" y="4810946"/>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15" name="object 15"/>
            <p:cNvSpPr/>
            <p:nvPr/>
          </p:nvSpPr>
          <p:spPr>
            <a:xfrm>
              <a:off x="416537" y="4806432"/>
              <a:ext cx="1694180" cy="0"/>
            </a:xfrm>
            <a:custGeom>
              <a:avLst/>
              <a:gdLst/>
              <a:ahLst/>
              <a:cxnLst/>
              <a:rect l="l" t="t" r="r" b="b"/>
              <a:pathLst>
                <a:path w="1694180">
                  <a:moveTo>
                    <a:pt x="0" y="0"/>
                  </a:moveTo>
                  <a:lnTo>
                    <a:pt x="1693808" y="0"/>
                  </a:lnTo>
                </a:path>
              </a:pathLst>
            </a:custGeom>
            <a:ln w="3175">
              <a:solidFill>
                <a:srgbClr val="000000"/>
              </a:solidFill>
            </a:ln>
          </p:spPr>
          <p:txBody>
            <a:bodyPr wrap="square" lIns="0" tIns="0" rIns="0" bIns="0" rtlCol="0"/>
            <a:lstStyle/>
            <a:p>
              <a:endParaRPr/>
            </a:p>
          </p:txBody>
        </p:sp>
        <p:sp>
          <p:nvSpPr>
            <p:cNvPr id="16" name="object 16"/>
            <p:cNvSpPr/>
            <p:nvPr/>
          </p:nvSpPr>
          <p:spPr>
            <a:xfrm>
              <a:off x="2114844" y="4810946"/>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7" name="object 17"/>
            <p:cNvSpPr/>
            <p:nvPr/>
          </p:nvSpPr>
          <p:spPr>
            <a:xfrm>
              <a:off x="416537" y="3112747"/>
              <a:ext cx="0" cy="1694180"/>
            </a:xfrm>
            <a:custGeom>
              <a:avLst/>
              <a:gdLst/>
              <a:ahLst/>
              <a:cxnLst/>
              <a:rect l="l" t="t" r="r" b="b"/>
              <a:pathLst>
                <a:path h="1694179">
                  <a:moveTo>
                    <a:pt x="0" y="0"/>
                  </a:moveTo>
                  <a:lnTo>
                    <a:pt x="0" y="1693685"/>
                  </a:lnTo>
                </a:path>
              </a:pathLst>
            </a:custGeom>
            <a:ln w="3175">
              <a:solidFill>
                <a:srgbClr val="000000"/>
              </a:solidFill>
            </a:ln>
          </p:spPr>
          <p:txBody>
            <a:bodyPr wrap="square" lIns="0" tIns="0" rIns="0" bIns="0" rtlCol="0"/>
            <a:lstStyle/>
            <a:p>
              <a:endParaRPr/>
            </a:p>
          </p:txBody>
        </p:sp>
        <p:sp>
          <p:nvSpPr>
            <p:cNvPr id="18" name="object 18"/>
            <p:cNvSpPr/>
            <p:nvPr/>
          </p:nvSpPr>
          <p:spPr>
            <a:xfrm>
              <a:off x="421058" y="4810946"/>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19" name="object 19"/>
            <p:cNvSpPr/>
            <p:nvPr/>
          </p:nvSpPr>
          <p:spPr>
            <a:xfrm>
              <a:off x="733528" y="4788356"/>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20" name="object 20"/>
            <p:cNvSpPr/>
            <p:nvPr/>
          </p:nvSpPr>
          <p:spPr>
            <a:xfrm>
              <a:off x="738049" y="4792881"/>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21" name="object 21"/>
            <p:cNvSpPr/>
            <p:nvPr/>
          </p:nvSpPr>
          <p:spPr>
            <a:xfrm>
              <a:off x="733528" y="3112747"/>
              <a:ext cx="0" cy="18415"/>
            </a:xfrm>
            <a:custGeom>
              <a:avLst/>
              <a:gdLst/>
              <a:ahLst/>
              <a:cxnLst/>
              <a:rect l="l" t="t" r="r" b="b"/>
              <a:pathLst>
                <a:path h="18414">
                  <a:moveTo>
                    <a:pt x="0" y="0"/>
                  </a:moveTo>
                  <a:lnTo>
                    <a:pt x="0" y="18076"/>
                  </a:lnTo>
                </a:path>
              </a:pathLst>
            </a:custGeom>
            <a:ln w="3175">
              <a:solidFill>
                <a:srgbClr val="000000"/>
              </a:solidFill>
            </a:ln>
          </p:spPr>
          <p:txBody>
            <a:bodyPr wrap="square" lIns="0" tIns="0" rIns="0" bIns="0" rtlCol="0"/>
            <a:lstStyle/>
            <a:p>
              <a:endParaRPr/>
            </a:p>
          </p:txBody>
        </p:sp>
        <p:sp>
          <p:nvSpPr>
            <p:cNvPr id="22" name="object 22"/>
            <p:cNvSpPr/>
            <p:nvPr/>
          </p:nvSpPr>
          <p:spPr>
            <a:xfrm>
              <a:off x="738049" y="3135429"/>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23" name="object 23"/>
            <p:cNvSpPr/>
            <p:nvPr/>
          </p:nvSpPr>
          <p:spPr>
            <a:xfrm>
              <a:off x="1068613" y="4788356"/>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24" name="object 24"/>
            <p:cNvSpPr/>
            <p:nvPr/>
          </p:nvSpPr>
          <p:spPr>
            <a:xfrm>
              <a:off x="1073134" y="4792881"/>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25" name="object 25"/>
            <p:cNvSpPr/>
            <p:nvPr/>
          </p:nvSpPr>
          <p:spPr>
            <a:xfrm>
              <a:off x="1068613" y="3112747"/>
              <a:ext cx="0" cy="18415"/>
            </a:xfrm>
            <a:custGeom>
              <a:avLst/>
              <a:gdLst/>
              <a:ahLst/>
              <a:cxnLst/>
              <a:rect l="l" t="t" r="r" b="b"/>
              <a:pathLst>
                <a:path h="18414">
                  <a:moveTo>
                    <a:pt x="0" y="0"/>
                  </a:moveTo>
                  <a:lnTo>
                    <a:pt x="0" y="18076"/>
                  </a:lnTo>
                </a:path>
              </a:pathLst>
            </a:custGeom>
            <a:ln w="3175">
              <a:solidFill>
                <a:srgbClr val="000000"/>
              </a:solidFill>
            </a:ln>
          </p:spPr>
          <p:txBody>
            <a:bodyPr wrap="square" lIns="0" tIns="0" rIns="0" bIns="0" rtlCol="0"/>
            <a:lstStyle/>
            <a:p>
              <a:endParaRPr/>
            </a:p>
          </p:txBody>
        </p:sp>
        <p:sp>
          <p:nvSpPr>
            <p:cNvPr id="26" name="object 26"/>
            <p:cNvSpPr/>
            <p:nvPr/>
          </p:nvSpPr>
          <p:spPr>
            <a:xfrm>
              <a:off x="1073134" y="3135429"/>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27" name="object 27"/>
            <p:cNvSpPr/>
            <p:nvPr/>
          </p:nvSpPr>
          <p:spPr>
            <a:xfrm>
              <a:off x="1394646" y="4788356"/>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28" name="object 28"/>
            <p:cNvSpPr/>
            <p:nvPr/>
          </p:nvSpPr>
          <p:spPr>
            <a:xfrm>
              <a:off x="1399143" y="4792881"/>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29" name="object 29"/>
            <p:cNvSpPr/>
            <p:nvPr/>
          </p:nvSpPr>
          <p:spPr>
            <a:xfrm>
              <a:off x="1394646" y="3112747"/>
              <a:ext cx="0" cy="18415"/>
            </a:xfrm>
            <a:custGeom>
              <a:avLst/>
              <a:gdLst/>
              <a:ahLst/>
              <a:cxnLst/>
              <a:rect l="l" t="t" r="r" b="b"/>
              <a:pathLst>
                <a:path h="18414">
                  <a:moveTo>
                    <a:pt x="0" y="0"/>
                  </a:moveTo>
                  <a:lnTo>
                    <a:pt x="0" y="18076"/>
                  </a:lnTo>
                </a:path>
              </a:pathLst>
            </a:custGeom>
            <a:ln w="3175">
              <a:solidFill>
                <a:srgbClr val="000000"/>
              </a:solidFill>
            </a:ln>
          </p:spPr>
          <p:txBody>
            <a:bodyPr wrap="square" lIns="0" tIns="0" rIns="0" bIns="0" rtlCol="0"/>
            <a:lstStyle/>
            <a:p>
              <a:endParaRPr/>
            </a:p>
          </p:txBody>
        </p:sp>
        <p:sp>
          <p:nvSpPr>
            <p:cNvPr id="30" name="object 30"/>
            <p:cNvSpPr/>
            <p:nvPr/>
          </p:nvSpPr>
          <p:spPr>
            <a:xfrm>
              <a:off x="1399143" y="3135429"/>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31" name="object 31"/>
            <p:cNvSpPr/>
            <p:nvPr/>
          </p:nvSpPr>
          <p:spPr>
            <a:xfrm>
              <a:off x="1720667" y="4788356"/>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32" name="object 32"/>
            <p:cNvSpPr/>
            <p:nvPr/>
          </p:nvSpPr>
          <p:spPr>
            <a:xfrm>
              <a:off x="1725164" y="4792881"/>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33" name="object 33"/>
            <p:cNvSpPr/>
            <p:nvPr/>
          </p:nvSpPr>
          <p:spPr>
            <a:xfrm>
              <a:off x="1720667" y="3112747"/>
              <a:ext cx="0" cy="18415"/>
            </a:xfrm>
            <a:custGeom>
              <a:avLst/>
              <a:gdLst/>
              <a:ahLst/>
              <a:cxnLst/>
              <a:rect l="l" t="t" r="r" b="b"/>
              <a:pathLst>
                <a:path h="18414">
                  <a:moveTo>
                    <a:pt x="0" y="0"/>
                  </a:moveTo>
                  <a:lnTo>
                    <a:pt x="0" y="18076"/>
                  </a:lnTo>
                </a:path>
              </a:pathLst>
            </a:custGeom>
            <a:ln w="3175">
              <a:solidFill>
                <a:srgbClr val="000000"/>
              </a:solidFill>
            </a:ln>
          </p:spPr>
          <p:txBody>
            <a:bodyPr wrap="square" lIns="0" tIns="0" rIns="0" bIns="0" rtlCol="0"/>
            <a:lstStyle/>
            <a:p>
              <a:endParaRPr/>
            </a:p>
          </p:txBody>
        </p:sp>
        <p:sp>
          <p:nvSpPr>
            <p:cNvPr id="34" name="object 34"/>
            <p:cNvSpPr/>
            <p:nvPr/>
          </p:nvSpPr>
          <p:spPr>
            <a:xfrm>
              <a:off x="1725164" y="3135429"/>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35" name="object 35"/>
            <p:cNvSpPr/>
            <p:nvPr/>
          </p:nvSpPr>
          <p:spPr>
            <a:xfrm>
              <a:off x="2046687" y="4788356"/>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36" name="object 36"/>
            <p:cNvSpPr/>
            <p:nvPr/>
          </p:nvSpPr>
          <p:spPr>
            <a:xfrm>
              <a:off x="2051300" y="4792881"/>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37" name="object 37"/>
            <p:cNvSpPr/>
            <p:nvPr/>
          </p:nvSpPr>
          <p:spPr>
            <a:xfrm>
              <a:off x="2046687" y="3112747"/>
              <a:ext cx="0" cy="18415"/>
            </a:xfrm>
            <a:custGeom>
              <a:avLst/>
              <a:gdLst/>
              <a:ahLst/>
              <a:cxnLst/>
              <a:rect l="l" t="t" r="r" b="b"/>
              <a:pathLst>
                <a:path h="18414">
                  <a:moveTo>
                    <a:pt x="0" y="0"/>
                  </a:moveTo>
                  <a:lnTo>
                    <a:pt x="0" y="18076"/>
                  </a:lnTo>
                </a:path>
              </a:pathLst>
            </a:custGeom>
            <a:ln w="3175">
              <a:solidFill>
                <a:srgbClr val="000000"/>
              </a:solidFill>
            </a:ln>
          </p:spPr>
          <p:txBody>
            <a:bodyPr wrap="square" lIns="0" tIns="0" rIns="0" bIns="0" rtlCol="0"/>
            <a:lstStyle/>
            <a:p>
              <a:endParaRPr/>
            </a:p>
          </p:txBody>
        </p:sp>
        <p:sp>
          <p:nvSpPr>
            <p:cNvPr id="38" name="object 38"/>
            <p:cNvSpPr/>
            <p:nvPr/>
          </p:nvSpPr>
          <p:spPr>
            <a:xfrm>
              <a:off x="2051300" y="313542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39" name="object 39"/>
            <p:cNvSpPr/>
            <p:nvPr/>
          </p:nvSpPr>
          <p:spPr>
            <a:xfrm>
              <a:off x="416537" y="3438932"/>
              <a:ext cx="9525" cy="0"/>
            </a:xfrm>
            <a:custGeom>
              <a:avLst/>
              <a:gdLst/>
              <a:ahLst/>
              <a:cxnLst/>
              <a:rect l="l" t="t" r="r" b="b"/>
              <a:pathLst>
                <a:path w="9525">
                  <a:moveTo>
                    <a:pt x="0" y="0"/>
                  </a:moveTo>
                  <a:lnTo>
                    <a:pt x="9041" y="0"/>
                  </a:lnTo>
                </a:path>
              </a:pathLst>
            </a:custGeom>
            <a:ln w="3175">
              <a:solidFill>
                <a:srgbClr val="000000"/>
              </a:solidFill>
            </a:ln>
          </p:spPr>
          <p:txBody>
            <a:bodyPr wrap="square" lIns="0" tIns="0" rIns="0" bIns="0" rtlCol="0"/>
            <a:lstStyle/>
            <a:p>
              <a:endParaRPr/>
            </a:p>
          </p:txBody>
        </p:sp>
        <p:sp>
          <p:nvSpPr>
            <p:cNvPr id="40" name="object 40"/>
            <p:cNvSpPr/>
            <p:nvPr/>
          </p:nvSpPr>
          <p:spPr>
            <a:xfrm>
              <a:off x="430099" y="3443422"/>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41" name="object 41"/>
            <p:cNvSpPr/>
            <p:nvPr/>
          </p:nvSpPr>
          <p:spPr>
            <a:xfrm>
              <a:off x="2091894" y="3438932"/>
              <a:ext cx="19050" cy="0"/>
            </a:xfrm>
            <a:custGeom>
              <a:avLst/>
              <a:gdLst/>
              <a:ahLst/>
              <a:cxnLst/>
              <a:rect l="l" t="t" r="r" b="b"/>
              <a:pathLst>
                <a:path w="19050">
                  <a:moveTo>
                    <a:pt x="18451" y="0"/>
                  </a:moveTo>
                  <a:lnTo>
                    <a:pt x="0" y="0"/>
                  </a:lnTo>
                </a:path>
              </a:pathLst>
            </a:custGeom>
            <a:ln w="3175">
              <a:solidFill>
                <a:srgbClr val="000000"/>
              </a:solidFill>
            </a:ln>
          </p:spPr>
          <p:txBody>
            <a:bodyPr wrap="square" lIns="0" tIns="0" rIns="0" bIns="0" rtlCol="0"/>
            <a:lstStyle/>
            <a:p>
              <a:endParaRPr/>
            </a:p>
          </p:txBody>
        </p:sp>
        <p:sp>
          <p:nvSpPr>
            <p:cNvPr id="42" name="object 42"/>
            <p:cNvSpPr/>
            <p:nvPr/>
          </p:nvSpPr>
          <p:spPr>
            <a:xfrm>
              <a:off x="2096392" y="3443422"/>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grpSp>
      <p:sp>
        <p:nvSpPr>
          <p:cNvPr id="43" name="object 43"/>
          <p:cNvSpPr txBox="1"/>
          <p:nvPr/>
        </p:nvSpPr>
        <p:spPr>
          <a:xfrm>
            <a:off x="238275" y="2796213"/>
            <a:ext cx="1524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50</a:t>
            </a:r>
            <a:endParaRPr sz="900">
              <a:latin typeface="Arial MT"/>
              <a:cs typeface="Arial MT"/>
            </a:endParaRPr>
          </a:p>
        </p:txBody>
      </p:sp>
      <p:grpSp>
        <p:nvGrpSpPr>
          <p:cNvPr id="44" name="object 44"/>
          <p:cNvGrpSpPr/>
          <p:nvPr/>
        </p:nvGrpSpPr>
        <p:grpSpPr>
          <a:xfrm>
            <a:off x="413046" y="3206636"/>
            <a:ext cx="1696085" cy="10795"/>
            <a:chOff x="415585" y="3764164"/>
            <a:chExt cx="1696085" cy="10795"/>
          </a:xfrm>
        </p:grpSpPr>
        <p:sp>
          <p:nvSpPr>
            <p:cNvPr id="45" name="object 45"/>
            <p:cNvSpPr/>
            <p:nvPr/>
          </p:nvSpPr>
          <p:spPr>
            <a:xfrm>
              <a:off x="416537" y="3765116"/>
              <a:ext cx="9525" cy="0"/>
            </a:xfrm>
            <a:custGeom>
              <a:avLst/>
              <a:gdLst/>
              <a:ahLst/>
              <a:cxnLst/>
              <a:rect l="l" t="t" r="r" b="b"/>
              <a:pathLst>
                <a:path w="9525">
                  <a:moveTo>
                    <a:pt x="0" y="0"/>
                  </a:moveTo>
                  <a:lnTo>
                    <a:pt x="9041" y="0"/>
                  </a:lnTo>
                </a:path>
              </a:pathLst>
            </a:custGeom>
            <a:ln w="3175">
              <a:solidFill>
                <a:srgbClr val="000000"/>
              </a:solidFill>
            </a:ln>
          </p:spPr>
          <p:txBody>
            <a:bodyPr wrap="square" lIns="0" tIns="0" rIns="0" bIns="0" rtlCol="0"/>
            <a:lstStyle/>
            <a:p>
              <a:endParaRPr/>
            </a:p>
          </p:txBody>
        </p:sp>
        <p:sp>
          <p:nvSpPr>
            <p:cNvPr id="46" name="object 46"/>
            <p:cNvSpPr/>
            <p:nvPr/>
          </p:nvSpPr>
          <p:spPr>
            <a:xfrm>
              <a:off x="430099" y="3769607"/>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47" name="object 47"/>
            <p:cNvSpPr/>
            <p:nvPr/>
          </p:nvSpPr>
          <p:spPr>
            <a:xfrm>
              <a:off x="2091894" y="3765116"/>
              <a:ext cx="19050" cy="0"/>
            </a:xfrm>
            <a:custGeom>
              <a:avLst/>
              <a:gdLst/>
              <a:ahLst/>
              <a:cxnLst/>
              <a:rect l="l" t="t" r="r" b="b"/>
              <a:pathLst>
                <a:path w="19050">
                  <a:moveTo>
                    <a:pt x="18451" y="0"/>
                  </a:moveTo>
                  <a:lnTo>
                    <a:pt x="0" y="0"/>
                  </a:lnTo>
                </a:path>
              </a:pathLst>
            </a:custGeom>
            <a:ln w="3175">
              <a:solidFill>
                <a:srgbClr val="000000"/>
              </a:solidFill>
            </a:ln>
          </p:spPr>
          <p:txBody>
            <a:bodyPr wrap="square" lIns="0" tIns="0" rIns="0" bIns="0" rtlCol="0"/>
            <a:lstStyle/>
            <a:p>
              <a:endParaRPr/>
            </a:p>
          </p:txBody>
        </p:sp>
        <p:sp>
          <p:nvSpPr>
            <p:cNvPr id="48" name="object 48"/>
            <p:cNvSpPr/>
            <p:nvPr/>
          </p:nvSpPr>
          <p:spPr>
            <a:xfrm>
              <a:off x="2096392" y="3769607"/>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grpSp>
      <p:sp>
        <p:nvSpPr>
          <p:cNvPr id="49" name="object 49"/>
          <p:cNvSpPr txBox="1"/>
          <p:nvPr/>
        </p:nvSpPr>
        <p:spPr>
          <a:xfrm>
            <a:off x="174985" y="3122398"/>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100</a:t>
            </a:r>
            <a:endParaRPr sz="900">
              <a:latin typeface="Arial MT"/>
              <a:cs typeface="Arial MT"/>
            </a:endParaRPr>
          </a:p>
        </p:txBody>
      </p:sp>
      <p:grpSp>
        <p:nvGrpSpPr>
          <p:cNvPr id="50" name="object 50"/>
          <p:cNvGrpSpPr/>
          <p:nvPr/>
        </p:nvGrpSpPr>
        <p:grpSpPr>
          <a:xfrm>
            <a:off x="413046" y="3532429"/>
            <a:ext cx="1696085" cy="10795"/>
            <a:chOff x="415585" y="4089957"/>
            <a:chExt cx="1696085" cy="10795"/>
          </a:xfrm>
        </p:grpSpPr>
        <p:sp>
          <p:nvSpPr>
            <p:cNvPr id="51" name="object 51"/>
            <p:cNvSpPr/>
            <p:nvPr/>
          </p:nvSpPr>
          <p:spPr>
            <a:xfrm>
              <a:off x="416537" y="4090910"/>
              <a:ext cx="9525" cy="0"/>
            </a:xfrm>
            <a:custGeom>
              <a:avLst/>
              <a:gdLst/>
              <a:ahLst/>
              <a:cxnLst/>
              <a:rect l="l" t="t" r="r" b="b"/>
              <a:pathLst>
                <a:path w="9525">
                  <a:moveTo>
                    <a:pt x="0" y="0"/>
                  </a:moveTo>
                  <a:lnTo>
                    <a:pt x="9041" y="0"/>
                  </a:lnTo>
                </a:path>
              </a:pathLst>
            </a:custGeom>
            <a:ln w="3175">
              <a:solidFill>
                <a:srgbClr val="000000"/>
              </a:solidFill>
            </a:ln>
          </p:spPr>
          <p:txBody>
            <a:bodyPr wrap="square" lIns="0" tIns="0" rIns="0" bIns="0" rtlCol="0"/>
            <a:lstStyle/>
            <a:p>
              <a:endParaRPr/>
            </a:p>
          </p:txBody>
        </p:sp>
        <p:sp>
          <p:nvSpPr>
            <p:cNvPr id="52" name="object 52"/>
            <p:cNvSpPr/>
            <p:nvPr/>
          </p:nvSpPr>
          <p:spPr>
            <a:xfrm>
              <a:off x="430099" y="4095435"/>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53" name="object 53"/>
            <p:cNvSpPr/>
            <p:nvPr/>
          </p:nvSpPr>
          <p:spPr>
            <a:xfrm>
              <a:off x="2091894" y="4090910"/>
              <a:ext cx="19050" cy="0"/>
            </a:xfrm>
            <a:custGeom>
              <a:avLst/>
              <a:gdLst/>
              <a:ahLst/>
              <a:cxnLst/>
              <a:rect l="l" t="t" r="r" b="b"/>
              <a:pathLst>
                <a:path w="19050">
                  <a:moveTo>
                    <a:pt x="18451" y="0"/>
                  </a:moveTo>
                  <a:lnTo>
                    <a:pt x="0" y="0"/>
                  </a:lnTo>
                </a:path>
              </a:pathLst>
            </a:custGeom>
            <a:ln w="3175">
              <a:solidFill>
                <a:srgbClr val="000000"/>
              </a:solidFill>
            </a:ln>
          </p:spPr>
          <p:txBody>
            <a:bodyPr wrap="square" lIns="0" tIns="0" rIns="0" bIns="0" rtlCol="0"/>
            <a:lstStyle/>
            <a:p>
              <a:endParaRPr/>
            </a:p>
          </p:txBody>
        </p:sp>
        <p:sp>
          <p:nvSpPr>
            <p:cNvPr id="54" name="object 54"/>
            <p:cNvSpPr/>
            <p:nvPr/>
          </p:nvSpPr>
          <p:spPr>
            <a:xfrm>
              <a:off x="2096392" y="4095435"/>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grpSp>
      <p:sp>
        <p:nvSpPr>
          <p:cNvPr id="55" name="object 55"/>
          <p:cNvSpPr txBox="1"/>
          <p:nvPr/>
        </p:nvSpPr>
        <p:spPr>
          <a:xfrm>
            <a:off x="174985" y="3448525"/>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150</a:t>
            </a:r>
            <a:endParaRPr sz="900">
              <a:latin typeface="Arial MT"/>
              <a:cs typeface="Arial MT"/>
            </a:endParaRPr>
          </a:p>
        </p:txBody>
      </p:sp>
      <p:grpSp>
        <p:nvGrpSpPr>
          <p:cNvPr id="56" name="object 56"/>
          <p:cNvGrpSpPr/>
          <p:nvPr/>
        </p:nvGrpSpPr>
        <p:grpSpPr>
          <a:xfrm>
            <a:off x="413046" y="3867606"/>
            <a:ext cx="1696085" cy="10795"/>
            <a:chOff x="415585" y="4425134"/>
            <a:chExt cx="1696085" cy="10795"/>
          </a:xfrm>
        </p:grpSpPr>
        <p:sp>
          <p:nvSpPr>
            <p:cNvPr id="57" name="object 57"/>
            <p:cNvSpPr/>
            <p:nvPr/>
          </p:nvSpPr>
          <p:spPr>
            <a:xfrm>
              <a:off x="416537" y="4426087"/>
              <a:ext cx="9525" cy="0"/>
            </a:xfrm>
            <a:custGeom>
              <a:avLst/>
              <a:gdLst/>
              <a:ahLst/>
              <a:cxnLst/>
              <a:rect l="l" t="t" r="r" b="b"/>
              <a:pathLst>
                <a:path w="9525">
                  <a:moveTo>
                    <a:pt x="0" y="0"/>
                  </a:moveTo>
                  <a:lnTo>
                    <a:pt x="9041" y="0"/>
                  </a:lnTo>
                </a:path>
              </a:pathLst>
            </a:custGeom>
            <a:ln w="3175">
              <a:solidFill>
                <a:srgbClr val="000000"/>
              </a:solidFill>
            </a:ln>
          </p:spPr>
          <p:txBody>
            <a:bodyPr wrap="square" lIns="0" tIns="0" rIns="0" bIns="0" rtlCol="0"/>
            <a:lstStyle/>
            <a:p>
              <a:endParaRPr/>
            </a:p>
          </p:txBody>
        </p:sp>
        <p:sp>
          <p:nvSpPr>
            <p:cNvPr id="58" name="object 58"/>
            <p:cNvSpPr/>
            <p:nvPr/>
          </p:nvSpPr>
          <p:spPr>
            <a:xfrm>
              <a:off x="430099" y="4430600"/>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59" name="object 59"/>
            <p:cNvSpPr/>
            <p:nvPr/>
          </p:nvSpPr>
          <p:spPr>
            <a:xfrm>
              <a:off x="2091894" y="4426087"/>
              <a:ext cx="19050" cy="0"/>
            </a:xfrm>
            <a:custGeom>
              <a:avLst/>
              <a:gdLst/>
              <a:ahLst/>
              <a:cxnLst/>
              <a:rect l="l" t="t" r="r" b="b"/>
              <a:pathLst>
                <a:path w="19050">
                  <a:moveTo>
                    <a:pt x="18451" y="0"/>
                  </a:moveTo>
                  <a:lnTo>
                    <a:pt x="0" y="0"/>
                  </a:lnTo>
                </a:path>
              </a:pathLst>
            </a:custGeom>
            <a:ln w="3175">
              <a:solidFill>
                <a:srgbClr val="000000"/>
              </a:solidFill>
            </a:ln>
          </p:spPr>
          <p:txBody>
            <a:bodyPr wrap="square" lIns="0" tIns="0" rIns="0" bIns="0" rtlCol="0"/>
            <a:lstStyle/>
            <a:p>
              <a:endParaRPr/>
            </a:p>
          </p:txBody>
        </p:sp>
        <p:sp>
          <p:nvSpPr>
            <p:cNvPr id="60" name="object 60"/>
            <p:cNvSpPr/>
            <p:nvPr/>
          </p:nvSpPr>
          <p:spPr>
            <a:xfrm>
              <a:off x="2096392" y="4430600"/>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grpSp>
      <p:sp>
        <p:nvSpPr>
          <p:cNvPr id="61" name="object 61"/>
          <p:cNvSpPr txBox="1"/>
          <p:nvPr/>
        </p:nvSpPr>
        <p:spPr>
          <a:xfrm>
            <a:off x="174985" y="3783691"/>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200</a:t>
            </a:r>
            <a:endParaRPr sz="900">
              <a:latin typeface="Arial MT"/>
              <a:cs typeface="Arial MT"/>
            </a:endParaRPr>
          </a:p>
        </p:txBody>
      </p:sp>
      <p:grpSp>
        <p:nvGrpSpPr>
          <p:cNvPr id="62" name="object 62"/>
          <p:cNvGrpSpPr/>
          <p:nvPr/>
        </p:nvGrpSpPr>
        <p:grpSpPr>
          <a:xfrm>
            <a:off x="413046" y="4193733"/>
            <a:ext cx="1696085" cy="10795"/>
            <a:chOff x="415585" y="4751261"/>
            <a:chExt cx="1696085" cy="10795"/>
          </a:xfrm>
        </p:grpSpPr>
        <p:sp>
          <p:nvSpPr>
            <p:cNvPr id="63" name="object 63"/>
            <p:cNvSpPr/>
            <p:nvPr/>
          </p:nvSpPr>
          <p:spPr>
            <a:xfrm>
              <a:off x="416537" y="4752214"/>
              <a:ext cx="9525" cy="0"/>
            </a:xfrm>
            <a:custGeom>
              <a:avLst/>
              <a:gdLst/>
              <a:ahLst/>
              <a:cxnLst/>
              <a:rect l="l" t="t" r="r" b="b"/>
              <a:pathLst>
                <a:path w="9525">
                  <a:moveTo>
                    <a:pt x="0" y="0"/>
                  </a:moveTo>
                  <a:lnTo>
                    <a:pt x="9041" y="0"/>
                  </a:lnTo>
                </a:path>
              </a:pathLst>
            </a:custGeom>
            <a:ln w="3175">
              <a:solidFill>
                <a:srgbClr val="000000"/>
              </a:solidFill>
            </a:ln>
          </p:spPr>
          <p:txBody>
            <a:bodyPr wrap="square" lIns="0" tIns="0" rIns="0" bIns="0" rtlCol="0"/>
            <a:lstStyle/>
            <a:p>
              <a:endParaRPr/>
            </a:p>
          </p:txBody>
        </p:sp>
        <p:sp>
          <p:nvSpPr>
            <p:cNvPr id="64" name="object 64"/>
            <p:cNvSpPr/>
            <p:nvPr/>
          </p:nvSpPr>
          <p:spPr>
            <a:xfrm>
              <a:off x="430099" y="4756739"/>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sp>
          <p:nvSpPr>
            <p:cNvPr id="65" name="object 65"/>
            <p:cNvSpPr/>
            <p:nvPr/>
          </p:nvSpPr>
          <p:spPr>
            <a:xfrm>
              <a:off x="2091894" y="4752214"/>
              <a:ext cx="19050" cy="0"/>
            </a:xfrm>
            <a:custGeom>
              <a:avLst/>
              <a:gdLst/>
              <a:ahLst/>
              <a:cxnLst/>
              <a:rect l="l" t="t" r="r" b="b"/>
              <a:pathLst>
                <a:path w="19050">
                  <a:moveTo>
                    <a:pt x="18451" y="0"/>
                  </a:moveTo>
                  <a:lnTo>
                    <a:pt x="0" y="0"/>
                  </a:lnTo>
                </a:path>
              </a:pathLst>
            </a:custGeom>
            <a:ln w="3175">
              <a:solidFill>
                <a:srgbClr val="000000"/>
              </a:solidFill>
            </a:ln>
          </p:spPr>
          <p:txBody>
            <a:bodyPr wrap="square" lIns="0" tIns="0" rIns="0" bIns="0" rtlCol="0"/>
            <a:lstStyle/>
            <a:p>
              <a:endParaRPr/>
            </a:p>
          </p:txBody>
        </p:sp>
        <p:sp>
          <p:nvSpPr>
            <p:cNvPr id="66" name="object 66"/>
            <p:cNvSpPr/>
            <p:nvPr/>
          </p:nvSpPr>
          <p:spPr>
            <a:xfrm>
              <a:off x="2096392" y="4756739"/>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grpSp>
      <p:sp>
        <p:nvSpPr>
          <p:cNvPr id="67" name="object 67"/>
          <p:cNvSpPr txBox="1"/>
          <p:nvPr/>
        </p:nvSpPr>
        <p:spPr>
          <a:xfrm>
            <a:off x="174985" y="4109541"/>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250</a:t>
            </a:r>
            <a:endParaRPr sz="900">
              <a:latin typeface="Arial MT"/>
              <a:cs typeface="Arial MT"/>
            </a:endParaRPr>
          </a:p>
        </p:txBody>
      </p:sp>
      <p:grpSp>
        <p:nvGrpSpPr>
          <p:cNvPr id="68" name="object 68"/>
          <p:cNvGrpSpPr/>
          <p:nvPr/>
        </p:nvGrpSpPr>
        <p:grpSpPr>
          <a:xfrm>
            <a:off x="413045" y="2554266"/>
            <a:ext cx="3931920" cy="1704339"/>
            <a:chOff x="415585" y="3111794"/>
            <a:chExt cx="3931920" cy="1704339"/>
          </a:xfrm>
        </p:grpSpPr>
        <p:sp>
          <p:nvSpPr>
            <p:cNvPr id="69" name="object 69"/>
            <p:cNvSpPr/>
            <p:nvPr/>
          </p:nvSpPr>
          <p:spPr>
            <a:xfrm>
              <a:off x="416537" y="4806432"/>
              <a:ext cx="1694180" cy="0"/>
            </a:xfrm>
            <a:custGeom>
              <a:avLst/>
              <a:gdLst/>
              <a:ahLst/>
              <a:cxnLst/>
              <a:rect l="l" t="t" r="r" b="b"/>
              <a:pathLst>
                <a:path w="1694180">
                  <a:moveTo>
                    <a:pt x="0" y="0"/>
                  </a:moveTo>
                  <a:lnTo>
                    <a:pt x="1693808" y="0"/>
                  </a:lnTo>
                </a:path>
              </a:pathLst>
            </a:custGeom>
            <a:ln w="3175">
              <a:solidFill>
                <a:srgbClr val="000000"/>
              </a:solidFill>
            </a:ln>
          </p:spPr>
          <p:txBody>
            <a:bodyPr wrap="square" lIns="0" tIns="0" rIns="0" bIns="0" rtlCol="0"/>
            <a:lstStyle/>
            <a:p>
              <a:endParaRPr/>
            </a:p>
          </p:txBody>
        </p:sp>
        <p:sp>
          <p:nvSpPr>
            <p:cNvPr id="70" name="object 70"/>
            <p:cNvSpPr/>
            <p:nvPr/>
          </p:nvSpPr>
          <p:spPr>
            <a:xfrm>
              <a:off x="2114844" y="4810946"/>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71" name="object 71"/>
            <p:cNvSpPr/>
            <p:nvPr/>
          </p:nvSpPr>
          <p:spPr>
            <a:xfrm>
              <a:off x="416537" y="3112747"/>
              <a:ext cx="1694180" cy="0"/>
            </a:xfrm>
            <a:custGeom>
              <a:avLst/>
              <a:gdLst/>
              <a:ahLst/>
              <a:cxnLst/>
              <a:rect l="l" t="t" r="r" b="b"/>
              <a:pathLst>
                <a:path w="1694180">
                  <a:moveTo>
                    <a:pt x="0" y="0"/>
                  </a:moveTo>
                  <a:lnTo>
                    <a:pt x="1693808" y="0"/>
                  </a:lnTo>
                </a:path>
              </a:pathLst>
            </a:custGeom>
            <a:ln w="3175">
              <a:solidFill>
                <a:srgbClr val="000000"/>
              </a:solidFill>
            </a:ln>
          </p:spPr>
          <p:txBody>
            <a:bodyPr wrap="square" lIns="0" tIns="0" rIns="0" bIns="0" rtlCol="0"/>
            <a:lstStyle/>
            <a:p>
              <a:endParaRPr/>
            </a:p>
          </p:txBody>
        </p:sp>
        <p:sp>
          <p:nvSpPr>
            <p:cNvPr id="72" name="object 72"/>
            <p:cNvSpPr/>
            <p:nvPr/>
          </p:nvSpPr>
          <p:spPr>
            <a:xfrm>
              <a:off x="2114844" y="3117352"/>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73" name="object 73"/>
            <p:cNvSpPr/>
            <p:nvPr/>
          </p:nvSpPr>
          <p:spPr>
            <a:xfrm>
              <a:off x="2110346" y="3112747"/>
              <a:ext cx="0" cy="1694180"/>
            </a:xfrm>
            <a:custGeom>
              <a:avLst/>
              <a:gdLst/>
              <a:ahLst/>
              <a:cxnLst/>
              <a:rect l="l" t="t" r="r" b="b"/>
              <a:pathLst>
                <a:path h="1694179">
                  <a:moveTo>
                    <a:pt x="0" y="0"/>
                  </a:moveTo>
                  <a:lnTo>
                    <a:pt x="0" y="1693685"/>
                  </a:lnTo>
                </a:path>
              </a:pathLst>
            </a:custGeom>
            <a:ln w="3175">
              <a:solidFill>
                <a:srgbClr val="000000"/>
              </a:solidFill>
            </a:ln>
          </p:spPr>
          <p:txBody>
            <a:bodyPr wrap="square" lIns="0" tIns="0" rIns="0" bIns="0" rtlCol="0"/>
            <a:lstStyle/>
            <a:p>
              <a:endParaRPr/>
            </a:p>
          </p:txBody>
        </p:sp>
        <p:sp>
          <p:nvSpPr>
            <p:cNvPr id="74" name="object 74"/>
            <p:cNvSpPr/>
            <p:nvPr/>
          </p:nvSpPr>
          <p:spPr>
            <a:xfrm>
              <a:off x="2114844" y="4810946"/>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75" name="object 75"/>
            <p:cNvSpPr/>
            <p:nvPr/>
          </p:nvSpPr>
          <p:spPr>
            <a:xfrm>
              <a:off x="416537" y="3112747"/>
              <a:ext cx="0" cy="1694180"/>
            </a:xfrm>
            <a:custGeom>
              <a:avLst/>
              <a:gdLst/>
              <a:ahLst/>
              <a:cxnLst/>
              <a:rect l="l" t="t" r="r" b="b"/>
              <a:pathLst>
                <a:path h="1694179">
                  <a:moveTo>
                    <a:pt x="0" y="0"/>
                  </a:moveTo>
                  <a:lnTo>
                    <a:pt x="0" y="1693685"/>
                  </a:lnTo>
                </a:path>
              </a:pathLst>
            </a:custGeom>
            <a:ln w="3175">
              <a:solidFill>
                <a:srgbClr val="000000"/>
              </a:solidFill>
            </a:ln>
          </p:spPr>
          <p:txBody>
            <a:bodyPr wrap="square" lIns="0" tIns="0" rIns="0" bIns="0" rtlCol="0"/>
            <a:lstStyle/>
            <a:p>
              <a:endParaRPr/>
            </a:p>
          </p:txBody>
        </p:sp>
        <p:sp>
          <p:nvSpPr>
            <p:cNvPr id="76" name="object 76"/>
            <p:cNvSpPr/>
            <p:nvPr/>
          </p:nvSpPr>
          <p:spPr>
            <a:xfrm>
              <a:off x="421058" y="4810946"/>
              <a:ext cx="9525" cy="0"/>
            </a:xfrm>
            <a:custGeom>
              <a:avLst/>
              <a:gdLst/>
              <a:ahLst/>
              <a:cxnLst/>
              <a:rect l="l" t="t" r="r" b="b"/>
              <a:pathLst>
                <a:path w="9525">
                  <a:moveTo>
                    <a:pt x="0" y="0"/>
                  </a:moveTo>
                  <a:lnTo>
                    <a:pt x="9041" y="0"/>
                  </a:lnTo>
                </a:path>
              </a:pathLst>
            </a:custGeom>
            <a:ln w="9035">
              <a:solidFill>
                <a:srgbClr val="000000"/>
              </a:solidFill>
            </a:ln>
          </p:spPr>
          <p:txBody>
            <a:bodyPr wrap="square" lIns="0" tIns="0" rIns="0" bIns="0" rtlCol="0"/>
            <a:lstStyle/>
            <a:p>
              <a:endParaRPr/>
            </a:p>
          </p:txBody>
        </p:sp>
        <p:pic>
          <p:nvPicPr>
            <p:cNvPr id="77" name="object 77"/>
            <p:cNvPicPr/>
            <p:nvPr/>
          </p:nvPicPr>
          <p:blipFill>
            <a:blip r:embed="rId4" cstate="print"/>
            <a:stretch>
              <a:fillRect/>
            </a:stretch>
          </p:blipFill>
          <p:spPr>
            <a:xfrm>
              <a:off x="2644527" y="3112816"/>
              <a:ext cx="1702527" cy="1702654"/>
            </a:xfrm>
            <a:prstGeom prst="rect">
              <a:avLst/>
            </a:prstGeom>
          </p:spPr>
        </p:pic>
      </p:grpSp>
      <p:sp>
        <p:nvSpPr>
          <p:cNvPr id="78" name="object 78"/>
          <p:cNvSpPr txBox="1"/>
          <p:nvPr/>
        </p:nvSpPr>
        <p:spPr>
          <a:xfrm>
            <a:off x="2738037" y="2334281"/>
            <a:ext cx="1490980" cy="154529"/>
          </a:xfrm>
          <a:prstGeom prst="rect">
            <a:avLst/>
          </a:prstGeom>
        </p:spPr>
        <p:txBody>
          <a:bodyPr vert="horz" wrap="square" lIns="0" tIns="15875" rIns="0" bIns="0" rtlCol="0">
            <a:spAutoFit/>
          </a:bodyPr>
          <a:lstStyle/>
          <a:p>
            <a:pPr marL="12700">
              <a:spcBef>
                <a:spcPts val="125"/>
              </a:spcBef>
            </a:pPr>
            <a:r>
              <a:rPr sz="900" dirty="0">
                <a:latin typeface="Arial MT"/>
                <a:cs typeface="Arial MT"/>
              </a:rPr>
              <a:t>filtered</a:t>
            </a:r>
            <a:r>
              <a:rPr sz="900" spc="85" dirty="0">
                <a:latin typeface="Arial MT"/>
                <a:cs typeface="Arial MT"/>
              </a:rPr>
              <a:t> </a:t>
            </a:r>
            <a:r>
              <a:rPr sz="900" dirty="0">
                <a:latin typeface="Arial MT"/>
                <a:cs typeface="Arial MT"/>
              </a:rPr>
              <a:t>backprojected</a:t>
            </a:r>
            <a:r>
              <a:rPr sz="900" spc="85" dirty="0">
                <a:latin typeface="Arial MT"/>
                <a:cs typeface="Arial MT"/>
              </a:rPr>
              <a:t> </a:t>
            </a:r>
            <a:r>
              <a:rPr sz="900" spc="-20" dirty="0">
                <a:latin typeface="Arial MT"/>
                <a:cs typeface="Arial MT"/>
              </a:rPr>
              <a:t>image</a:t>
            </a:r>
            <a:endParaRPr sz="900">
              <a:latin typeface="Arial MT"/>
              <a:cs typeface="Arial MT"/>
            </a:endParaRPr>
          </a:p>
        </p:txBody>
      </p:sp>
      <p:grpSp>
        <p:nvGrpSpPr>
          <p:cNvPr id="79" name="object 79"/>
          <p:cNvGrpSpPr/>
          <p:nvPr/>
        </p:nvGrpSpPr>
        <p:grpSpPr>
          <a:xfrm>
            <a:off x="2641034" y="2554265"/>
            <a:ext cx="1722120" cy="1713230"/>
            <a:chOff x="2643574" y="3111794"/>
            <a:chExt cx="1722120" cy="1713230"/>
          </a:xfrm>
        </p:grpSpPr>
        <p:sp>
          <p:nvSpPr>
            <p:cNvPr id="80" name="object 80"/>
            <p:cNvSpPr/>
            <p:nvPr/>
          </p:nvSpPr>
          <p:spPr>
            <a:xfrm>
              <a:off x="2644527" y="4815470"/>
              <a:ext cx="1703070" cy="0"/>
            </a:xfrm>
            <a:custGeom>
              <a:avLst/>
              <a:gdLst/>
              <a:ahLst/>
              <a:cxnLst/>
              <a:rect l="l" t="t" r="r" b="b"/>
              <a:pathLst>
                <a:path w="1703070">
                  <a:moveTo>
                    <a:pt x="0" y="0"/>
                  </a:moveTo>
                  <a:lnTo>
                    <a:pt x="1702527" y="0"/>
                  </a:lnTo>
                </a:path>
              </a:pathLst>
            </a:custGeom>
            <a:ln w="3175">
              <a:solidFill>
                <a:srgbClr val="000000"/>
              </a:solidFill>
            </a:ln>
          </p:spPr>
          <p:txBody>
            <a:bodyPr wrap="square" lIns="0" tIns="0" rIns="0" bIns="0" rtlCol="0"/>
            <a:lstStyle/>
            <a:p>
              <a:endParaRPr/>
            </a:p>
          </p:txBody>
        </p:sp>
        <p:sp>
          <p:nvSpPr>
            <p:cNvPr id="81" name="object 81"/>
            <p:cNvSpPr/>
            <p:nvPr/>
          </p:nvSpPr>
          <p:spPr>
            <a:xfrm>
              <a:off x="4351552" y="4819984"/>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82" name="object 82"/>
            <p:cNvSpPr/>
            <p:nvPr/>
          </p:nvSpPr>
          <p:spPr>
            <a:xfrm>
              <a:off x="2644527" y="3112747"/>
              <a:ext cx="1703070" cy="0"/>
            </a:xfrm>
            <a:custGeom>
              <a:avLst/>
              <a:gdLst/>
              <a:ahLst/>
              <a:cxnLst/>
              <a:rect l="l" t="t" r="r" b="b"/>
              <a:pathLst>
                <a:path w="1703070">
                  <a:moveTo>
                    <a:pt x="0" y="0"/>
                  </a:moveTo>
                  <a:lnTo>
                    <a:pt x="1702527" y="0"/>
                  </a:lnTo>
                </a:path>
              </a:pathLst>
            </a:custGeom>
            <a:ln w="3175">
              <a:solidFill>
                <a:srgbClr val="000000"/>
              </a:solidFill>
            </a:ln>
          </p:spPr>
          <p:txBody>
            <a:bodyPr wrap="square" lIns="0" tIns="0" rIns="0" bIns="0" rtlCol="0"/>
            <a:lstStyle/>
            <a:p>
              <a:endParaRPr/>
            </a:p>
          </p:txBody>
        </p:sp>
        <p:sp>
          <p:nvSpPr>
            <p:cNvPr id="83" name="object 83"/>
            <p:cNvSpPr/>
            <p:nvPr/>
          </p:nvSpPr>
          <p:spPr>
            <a:xfrm>
              <a:off x="4351552" y="3117352"/>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84" name="object 84"/>
            <p:cNvSpPr/>
            <p:nvPr/>
          </p:nvSpPr>
          <p:spPr>
            <a:xfrm>
              <a:off x="4347054" y="3112747"/>
              <a:ext cx="0" cy="1703070"/>
            </a:xfrm>
            <a:custGeom>
              <a:avLst/>
              <a:gdLst/>
              <a:ahLst/>
              <a:cxnLst/>
              <a:rect l="l" t="t" r="r" b="b"/>
              <a:pathLst>
                <a:path h="1703070">
                  <a:moveTo>
                    <a:pt x="0" y="0"/>
                  </a:moveTo>
                  <a:lnTo>
                    <a:pt x="0" y="1702723"/>
                  </a:lnTo>
                </a:path>
              </a:pathLst>
            </a:custGeom>
            <a:ln w="3175">
              <a:solidFill>
                <a:srgbClr val="000000"/>
              </a:solidFill>
            </a:ln>
          </p:spPr>
          <p:txBody>
            <a:bodyPr wrap="square" lIns="0" tIns="0" rIns="0" bIns="0" rtlCol="0"/>
            <a:lstStyle/>
            <a:p>
              <a:endParaRPr/>
            </a:p>
          </p:txBody>
        </p:sp>
        <p:sp>
          <p:nvSpPr>
            <p:cNvPr id="85" name="object 85"/>
            <p:cNvSpPr/>
            <p:nvPr/>
          </p:nvSpPr>
          <p:spPr>
            <a:xfrm>
              <a:off x="4351552" y="4819984"/>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86" name="object 86"/>
            <p:cNvSpPr/>
            <p:nvPr/>
          </p:nvSpPr>
          <p:spPr>
            <a:xfrm>
              <a:off x="2644527" y="3112747"/>
              <a:ext cx="0" cy="1703070"/>
            </a:xfrm>
            <a:custGeom>
              <a:avLst/>
              <a:gdLst/>
              <a:ahLst/>
              <a:cxnLst/>
              <a:rect l="l" t="t" r="r" b="b"/>
              <a:pathLst>
                <a:path h="1703070">
                  <a:moveTo>
                    <a:pt x="0" y="0"/>
                  </a:moveTo>
                  <a:lnTo>
                    <a:pt x="0" y="1702723"/>
                  </a:lnTo>
                </a:path>
              </a:pathLst>
            </a:custGeom>
            <a:ln w="3175">
              <a:solidFill>
                <a:srgbClr val="000000"/>
              </a:solidFill>
            </a:ln>
          </p:spPr>
          <p:txBody>
            <a:bodyPr wrap="square" lIns="0" tIns="0" rIns="0" bIns="0" rtlCol="0"/>
            <a:lstStyle/>
            <a:p>
              <a:endParaRPr/>
            </a:p>
          </p:txBody>
        </p:sp>
        <p:sp>
          <p:nvSpPr>
            <p:cNvPr id="87" name="object 87"/>
            <p:cNvSpPr/>
            <p:nvPr/>
          </p:nvSpPr>
          <p:spPr>
            <a:xfrm>
              <a:off x="2649024" y="4819984"/>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88" name="object 88"/>
            <p:cNvSpPr/>
            <p:nvPr/>
          </p:nvSpPr>
          <p:spPr>
            <a:xfrm>
              <a:off x="2644527" y="4815470"/>
              <a:ext cx="1703070" cy="0"/>
            </a:xfrm>
            <a:custGeom>
              <a:avLst/>
              <a:gdLst/>
              <a:ahLst/>
              <a:cxnLst/>
              <a:rect l="l" t="t" r="r" b="b"/>
              <a:pathLst>
                <a:path w="1703070">
                  <a:moveTo>
                    <a:pt x="0" y="0"/>
                  </a:moveTo>
                  <a:lnTo>
                    <a:pt x="1702527" y="0"/>
                  </a:lnTo>
                </a:path>
              </a:pathLst>
            </a:custGeom>
            <a:ln w="3175">
              <a:solidFill>
                <a:srgbClr val="000000"/>
              </a:solidFill>
            </a:ln>
          </p:spPr>
          <p:txBody>
            <a:bodyPr wrap="square" lIns="0" tIns="0" rIns="0" bIns="0" rtlCol="0"/>
            <a:lstStyle/>
            <a:p>
              <a:endParaRPr/>
            </a:p>
          </p:txBody>
        </p:sp>
        <p:sp>
          <p:nvSpPr>
            <p:cNvPr id="89" name="object 89"/>
            <p:cNvSpPr/>
            <p:nvPr/>
          </p:nvSpPr>
          <p:spPr>
            <a:xfrm>
              <a:off x="4351552" y="4819984"/>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90" name="object 90"/>
            <p:cNvSpPr/>
            <p:nvPr/>
          </p:nvSpPr>
          <p:spPr>
            <a:xfrm>
              <a:off x="2644527" y="3112747"/>
              <a:ext cx="0" cy="1703070"/>
            </a:xfrm>
            <a:custGeom>
              <a:avLst/>
              <a:gdLst/>
              <a:ahLst/>
              <a:cxnLst/>
              <a:rect l="l" t="t" r="r" b="b"/>
              <a:pathLst>
                <a:path h="1703070">
                  <a:moveTo>
                    <a:pt x="0" y="0"/>
                  </a:moveTo>
                  <a:lnTo>
                    <a:pt x="0" y="1702723"/>
                  </a:lnTo>
                </a:path>
              </a:pathLst>
            </a:custGeom>
            <a:ln w="3175">
              <a:solidFill>
                <a:srgbClr val="000000"/>
              </a:solidFill>
            </a:ln>
          </p:spPr>
          <p:txBody>
            <a:bodyPr wrap="square" lIns="0" tIns="0" rIns="0" bIns="0" rtlCol="0"/>
            <a:lstStyle/>
            <a:p>
              <a:endParaRPr/>
            </a:p>
          </p:txBody>
        </p:sp>
        <p:sp>
          <p:nvSpPr>
            <p:cNvPr id="91" name="object 91"/>
            <p:cNvSpPr/>
            <p:nvPr/>
          </p:nvSpPr>
          <p:spPr>
            <a:xfrm>
              <a:off x="2649024" y="4819984"/>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92" name="object 92"/>
            <p:cNvSpPr/>
            <p:nvPr/>
          </p:nvSpPr>
          <p:spPr>
            <a:xfrm>
              <a:off x="2970547" y="4797394"/>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93" name="object 93"/>
            <p:cNvSpPr/>
            <p:nvPr/>
          </p:nvSpPr>
          <p:spPr>
            <a:xfrm>
              <a:off x="2975160" y="480191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94" name="object 94"/>
            <p:cNvSpPr/>
            <p:nvPr/>
          </p:nvSpPr>
          <p:spPr>
            <a:xfrm>
              <a:off x="2970547" y="3112747"/>
              <a:ext cx="0" cy="9525"/>
            </a:xfrm>
            <a:custGeom>
              <a:avLst/>
              <a:gdLst/>
              <a:ahLst/>
              <a:cxnLst/>
              <a:rect l="l" t="t" r="r" b="b"/>
              <a:pathLst>
                <a:path h="9525">
                  <a:moveTo>
                    <a:pt x="0" y="0"/>
                  </a:moveTo>
                  <a:lnTo>
                    <a:pt x="0" y="9095"/>
                  </a:lnTo>
                </a:path>
              </a:pathLst>
            </a:custGeom>
            <a:ln w="3175">
              <a:solidFill>
                <a:srgbClr val="000000"/>
              </a:solidFill>
            </a:ln>
          </p:spPr>
          <p:txBody>
            <a:bodyPr wrap="square" lIns="0" tIns="0" rIns="0" bIns="0" rtlCol="0"/>
            <a:lstStyle/>
            <a:p>
              <a:endParaRPr/>
            </a:p>
          </p:txBody>
        </p:sp>
        <p:sp>
          <p:nvSpPr>
            <p:cNvPr id="95" name="object 95"/>
            <p:cNvSpPr/>
            <p:nvPr/>
          </p:nvSpPr>
          <p:spPr>
            <a:xfrm>
              <a:off x="2975160" y="3126333"/>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96" name="object 96"/>
            <p:cNvSpPr/>
            <p:nvPr/>
          </p:nvSpPr>
          <p:spPr>
            <a:xfrm>
              <a:off x="3296684" y="4797394"/>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97" name="object 97"/>
            <p:cNvSpPr/>
            <p:nvPr/>
          </p:nvSpPr>
          <p:spPr>
            <a:xfrm>
              <a:off x="3301181" y="480191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98" name="object 98"/>
            <p:cNvSpPr/>
            <p:nvPr/>
          </p:nvSpPr>
          <p:spPr>
            <a:xfrm>
              <a:off x="3296684" y="3112747"/>
              <a:ext cx="0" cy="9525"/>
            </a:xfrm>
            <a:custGeom>
              <a:avLst/>
              <a:gdLst/>
              <a:ahLst/>
              <a:cxnLst/>
              <a:rect l="l" t="t" r="r" b="b"/>
              <a:pathLst>
                <a:path h="9525">
                  <a:moveTo>
                    <a:pt x="0" y="0"/>
                  </a:moveTo>
                  <a:lnTo>
                    <a:pt x="0" y="9095"/>
                  </a:lnTo>
                </a:path>
              </a:pathLst>
            </a:custGeom>
            <a:ln w="3175">
              <a:solidFill>
                <a:srgbClr val="000000"/>
              </a:solidFill>
            </a:ln>
          </p:spPr>
          <p:txBody>
            <a:bodyPr wrap="square" lIns="0" tIns="0" rIns="0" bIns="0" rtlCol="0"/>
            <a:lstStyle/>
            <a:p>
              <a:endParaRPr/>
            </a:p>
          </p:txBody>
        </p:sp>
        <p:sp>
          <p:nvSpPr>
            <p:cNvPr id="99" name="object 99"/>
            <p:cNvSpPr/>
            <p:nvPr/>
          </p:nvSpPr>
          <p:spPr>
            <a:xfrm>
              <a:off x="3301181" y="3126333"/>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00" name="object 100"/>
            <p:cNvSpPr/>
            <p:nvPr/>
          </p:nvSpPr>
          <p:spPr>
            <a:xfrm>
              <a:off x="3622704" y="4797394"/>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101" name="object 101"/>
            <p:cNvSpPr/>
            <p:nvPr/>
          </p:nvSpPr>
          <p:spPr>
            <a:xfrm>
              <a:off x="3627202" y="480191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02" name="object 102"/>
            <p:cNvSpPr/>
            <p:nvPr/>
          </p:nvSpPr>
          <p:spPr>
            <a:xfrm>
              <a:off x="3622704" y="3112747"/>
              <a:ext cx="0" cy="9525"/>
            </a:xfrm>
            <a:custGeom>
              <a:avLst/>
              <a:gdLst/>
              <a:ahLst/>
              <a:cxnLst/>
              <a:rect l="l" t="t" r="r" b="b"/>
              <a:pathLst>
                <a:path h="9525">
                  <a:moveTo>
                    <a:pt x="0" y="0"/>
                  </a:moveTo>
                  <a:lnTo>
                    <a:pt x="0" y="9095"/>
                  </a:lnTo>
                </a:path>
              </a:pathLst>
            </a:custGeom>
            <a:ln w="3175">
              <a:solidFill>
                <a:srgbClr val="000000"/>
              </a:solidFill>
            </a:ln>
          </p:spPr>
          <p:txBody>
            <a:bodyPr wrap="square" lIns="0" tIns="0" rIns="0" bIns="0" rtlCol="0"/>
            <a:lstStyle/>
            <a:p>
              <a:endParaRPr/>
            </a:p>
          </p:txBody>
        </p:sp>
        <p:sp>
          <p:nvSpPr>
            <p:cNvPr id="103" name="object 103"/>
            <p:cNvSpPr/>
            <p:nvPr/>
          </p:nvSpPr>
          <p:spPr>
            <a:xfrm>
              <a:off x="3627202" y="3126333"/>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04" name="object 104"/>
            <p:cNvSpPr/>
            <p:nvPr/>
          </p:nvSpPr>
          <p:spPr>
            <a:xfrm>
              <a:off x="3957721" y="4797394"/>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105" name="object 105"/>
            <p:cNvSpPr/>
            <p:nvPr/>
          </p:nvSpPr>
          <p:spPr>
            <a:xfrm>
              <a:off x="3962218" y="4801919"/>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106" name="object 106"/>
            <p:cNvSpPr/>
            <p:nvPr/>
          </p:nvSpPr>
          <p:spPr>
            <a:xfrm>
              <a:off x="3957721" y="3112747"/>
              <a:ext cx="0" cy="9525"/>
            </a:xfrm>
            <a:custGeom>
              <a:avLst/>
              <a:gdLst/>
              <a:ahLst/>
              <a:cxnLst/>
              <a:rect l="l" t="t" r="r" b="b"/>
              <a:pathLst>
                <a:path h="9525">
                  <a:moveTo>
                    <a:pt x="0" y="0"/>
                  </a:moveTo>
                  <a:lnTo>
                    <a:pt x="0" y="9095"/>
                  </a:lnTo>
                </a:path>
              </a:pathLst>
            </a:custGeom>
            <a:ln w="3175">
              <a:solidFill>
                <a:srgbClr val="000000"/>
              </a:solidFill>
            </a:ln>
          </p:spPr>
          <p:txBody>
            <a:bodyPr wrap="square" lIns="0" tIns="0" rIns="0" bIns="0" rtlCol="0"/>
            <a:lstStyle/>
            <a:p>
              <a:endParaRPr/>
            </a:p>
          </p:txBody>
        </p:sp>
        <p:sp>
          <p:nvSpPr>
            <p:cNvPr id="107" name="object 107"/>
            <p:cNvSpPr/>
            <p:nvPr/>
          </p:nvSpPr>
          <p:spPr>
            <a:xfrm>
              <a:off x="3962218" y="3126333"/>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108" name="object 108"/>
            <p:cNvSpPr/>
            <p:nvPr/>
          </p:nvSpPr>
          <p:spPr>
            <a:xfrm>
              <a:off x="4283741" y="4797394"/>
              <a:ext cx="0" cy="18415"/>
            </a:xfrm>
            <a:custGeom>
              <a:avLst/>
              <a:gdLst/>
              <a:ahLst/>
              <a:cxnLst/>
              <a:rect l="l" t="t" r="r" b="b"/>
              <a:pathLst>
                <a:path h="18414">
                  <a:moveTo>
                    <a:pt x="0" y="18076"/>
                  </a:moveTo>
                  <a:lnTo>
                    <a:pt x="0" y="0"/>
                  </a:lnTo>
                </a:path>
              </a:pathLst>
            </a:custGeom>
            <a:ln w="3175">
              <a:solidFill>
                <a:srgbClr val="000000"/>
              </a:solidFill>
            </a:ln>
          </p:spPr>
          <p:txBody>
            <a:bodyPr wrap="square" lIns="0" tIns="0" rIns="0" bIns="0" rtlCol="0"/>
            <a:lstStyle/>
            <a:p>
              <a:endParaRPr/>
            </a:p>
          </p:txBody>
        </p:sp>
        <p:sp>
          <p:nvSpPr>
            <p:cNvPr id="109" name="object 109"/>
            <p:cNvSpPr/>
            <p:nvPr/>
          </p:nvSpPr>
          <p:spPr>
            <a:xfrm>
              <a:off x="4288354" y="480191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10" name="object 110"/>
            <p:cNvSpPr/>
            <p:nvPr/>
          </p:nvSpPr>
          <p:spPr>
            <a:xfrm>
              <a:off x="4283741" y="3112747"/>
              <a:ext cx="0" cy="9525"/>
            </a:xfrm>
            <a:custGeom>
              <a:avLst/>
              <a:gdLst/>
              <a:ahLst/>
              <a:cxnLst/>
              <a:rect l="l" t="t" r="r" b="b"/>
              <a:pathLst>
                <a:path h="9525">
                  <a:moveTo>
                    <a:pt x="0" y="0"/>
                  </a:moveTo>
                  <a:lnTo>
                    <a:pt x="0" y="9095"/>
                  </a:lnTo>
                </a:path>
              </a:pathLst>
            </a:custGeom>
            <a:ln w="3175">
              <a:solidFill>
                <a:srgbClr val="000000"/>
              </a:solidFill>
            </a:ln>
          </p:spPr>
          <p:txBody>
            <a:bodyPr wrap="square" lIns="0" tIns="0" rIns="0" bIns="0" rtlCol="0"/>
            <a:lstStyle/>
            <a:p>
              <a:endParaRPr/>
            </a:p>
          </p:txBody>
        </p:sp>
        <p:sp>
          <p:nvSpPr>
            <p:cNvPr id="111" name="object 111"/>
            <p:cNvSpPr/>
            <p:nvPr/>
          </p:nvSpPr>
          <p:spPr>
            <a:xfrm>
              <a:off x="4288354" y="3126333"/>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12" name="object 112"/>
          <p:cNvSpPr txBox="1"/>
          <p:nvPr/>
        </p:nvSpPr>
        <p:spPr>
          <a:xfrm>
            <a:off x="655011" y="4272749"/>
            <a:ext cx="3738245" cy="154529"/>
          </a:xfrm>
          <a:prstGeom prst="rect">
            <a:avLst/>
          </a:prstGeom>
        </p:spPr>
        <p:txBody>
          <a:bodyPr vert="horz" wrap="square" lIns="0" tIns="15875" rIns="0" bIns="0" rtlCol="0">
            <a:spAutoFit/>
          </a:bodyPr>
          <a:lstStyle/>
          <a:p>
            <a:pPr marL="12700">
              <a:spcBef>
                <a:spcPts val="125"/>
              </a:spcBef>
              <a:tabLst>
                <a:tab pos="320040" algn="l"/>
                <a:tab pos="646430" algn="l"/>
                <a:tab pos="972185" algn="l"/>
                <a:tab pos="1298575" algn="l"/>
                <a:tab pos="2249170" algn="l"/>
                <a:tab pos="2548255" algn="l"/>
                <a:tab pos="2874010" algn="l"/>
                <a:tab pos="3209290" algn="l"/>
                <a:tab pos="3535045" algn="l"/>
              </a:tabLst>
            </a:pPr>
            <a:r>
              <a:rPr sz="900" spc="-25" dirty="0">
                <a:latin typeface="Arial MT"/>
                <a:cs typeface="Arial MT"/>
              </a:rPr>
              <a:t>50</a:t>
            </a:r>
            <a:r>
              <a:rPr sz="900" dirty="0">
                <a:latin typeface="Arial MT"/>
                <a:cs typeface="Arial MT"/>
              </a:rPr>
              <a:t>	</a:t>
            </a:r>
            <a:r>
              <a:rPr sz="900" spc="-25" dirty="0">
                <a:latin typeface="Arial MT"/>
                <a:cs typeface="Arial MT"/>
              </a:rPr>
              <a:t>100</a:t>
            </a:r>
            <a:r>
              <a:rPr sz="900" dirty="0">
                <a:latin typeface="Arial MT"/>
                <a:cs typeface="Arial MT"/>
              </a:rPr>
              <a:t>	</a:t>
            </a:r>
            <a:r>
              <a:rPr sz="900" spc="-25" dirty="0">
                <a:latin typeface="Arial MT"/>
                <a:cs typeface="Arial MT"/>
              </a:rPr>
              <a:t>150</a:t>
            </a:r>
            <a:r>
              <a:rPr sz="900" dirty="0">
                <a:latin typeface="Arial MT"/>
                <a:cs typeface="Arial MT"/>
              </a:rPr>
              <a:t>	</a:t>
            </a:r>
            <a:r>
              <a:rPr sz="900" spc="-25" dirty="0">
                <a:latin typeface="Arial MT"/>
                <a:cs typeface="Arial MT"/>
              </a:rPr>
              <a:t>200</a:t>
            </a:r>
            <a:r>
              <a:rPr sz="900" dirty="0">
                <a:latin typeface="Arial MT"/>
                <a:cs typeface="Arial MT"/>
              </a:rPr>
              <a:t>	</a:t>
            </a:r>
            <a:r>
              <a:rPr sz="900" spc="-25" dirty="0">
                <a:latin typeface="Arial MT"/>
                <a:cs typeface="Arial MT"/>
              </a:rPr>
              <a:t>250</a:t>
            </a:r>
            <a:r>
              <a:rPr sz="900" dirty="0">
                <a:latin typeface="Arial MT"/>
                <a:cs typeface="Arial MT"/>
              </a:rPr>
              <a:t>	</a:t>
            </a:r>
            <a:r>
              <a:rPr sz="900" spc="-25" dirty="0">
                <a:latin typeface="Arial MT"/>
                <a:cs typeface="Arial MT"/>
              </a:rPr>
              <a:t>50</a:t>
            </a:r>
            <a:r>
              <a:rPr sz="900" dirty="0">
                <a:latin typeface="Arial MT"/>
                <a:cs typeface="Arial MT"/>
              </a:rPr>
              <a:t>	</a:t>
            </a:r>
            <a:r>
              <a:rPr sz="900" spc="-25" dirty="0">
                <a:latin typeface="Arial MT"/>
                <a:cs typeface="Arial MT"/>
              </a:rPr>
              <a:t>100</a:t>
            </a:r>
            <a:r>
              <a:rPr sz="900" dirty="0">
                <a:latin typeface="Arial MT"/>
                <a:cs typeface="Arial MT"/>
              </a:rPr>
              <a:t>	</a:t>
            </a:r>
            <a:r>
              <a:rPr sz="900" spc="-25" dirty="0">
                <a:latin typeface="Arial MT"/>
                <a:cs typeface="Arial MT"/>
              </a:rPr>
              <a:t>150</a:t>
            </a:r>
            <a:r>
              <a:rPr sz="900" dirty="0">
                <a:latin typeface="Arial MT"/>
                <a:cs typeface="Arial MT"/>
              </a:rPr>
              <a:t>	</a:t>
            </a:r>
            <a:r>
              <a:rPr sz="900" spc="-25" dirty="0">
                <a:latin typeface="Arial MT"/>
                <a:cs typeface="Arial MT"/>
              </a:rPr>
              <a:t>200</a:t>
            </a:r>
            <a:r>
              <a:rPr sz="900" dirty="0">
                <a:latin typeface="Arial MT"/>
                <a:cs typeface="Arial MT"/>
              </a:rPr>
              <a:t>	</a:t>
            </a:r>
            <a:r>
              <a:rPr sz="900" spc="-25" dirty="0">
                <a:latin typeface="Arial MT"/>
                <a:cs typeface="Arial MT"/>
              </a:rPr>
              <a:t>250</a:t>
            </a:r>
            <a:endParaRPr sz="900">
              <a:latin typeface="Arial MT"/>
              <a:cs typeface="Arial MT"/>
            </a:endParaRPr>
          </a:p>
        </p:txBody>
      </p:sp>
      <p:grpSp>
        <p:nvGrpSpPr>
          <p:cNvPr id="113" name="object 113"/>
          <p:cNvGrpSpPr/>
          <p:nvPr/>
        </p:nvGrpSpPr>
        <p:grpSpPr>
          <a:xfrm>
            <a:off x="2641035" y="2880451"/>
            <a:ext cx="1704975" cy="10795"/>
            <a:chOff x="2643574" y="3437979"/>
            <a:chExt cx="1704975" cy="10795"/>
          </a:xfrm>
        </p:grpSpPr>
        <p:sp>
          <p:nvSpPr>
            <p:cNvPr id="114" name="object 114"/>
            <p:cNvSpPr/>
            <p:nvPr/>
          </p:nvSpPr>
          <p:spPr>
            <a:xfrm>
              <a:off x="2644527" y="3438932"/>
              <a:ext cx="9525" cy="0"/>
            </a:xfrm>
            <a:custGeom>
              <a:avLst/>
              <a:gdLst/>
              <a:ahLst/>
              <a:cxnLst/>
              <a:rect l="l" t="t" r="r" b="b"/>
              <a:pathLst>
                <a:path w="9525">
                  <a:moveTo>
                    <a:pt x="0" y="0"/>
                  </a:moveTo>
                  <a:lnTo>
                    <a:pt x="9110" y="0"/>
                  </a:lnTo>
                </a:path>
              </a:pathLst>
            </a:custGeom>
            <a:ln w="3175">
              <a:solidFill>
                <a:srgbClr val="000000"/>
              </a:solidFill>
            </a:ln>
          </p:spPr>
          <p:txBody>
            <a:bodyPr wrap="square" lIns="0" tIns="0" rIns="0" bIns="0" rtlCol="0"/>
            <a:lstStyle/>
            <a:p>
              <a:endParaRPr/>
            </a:p>
          </p:txBody>
        </p:sp>
        <p:sp>
          <p:nvSpPr>
            <p:cNvPr id="115" name="object 115"/>
            <p:cNvSpPr/>
            <p:nvPr/>
          </p:nvSpPr>
          <p:spPr>
            <a:xfrm>
              <a:off x="2658135" y="3443422"/>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16" name="object 116"/>
            <p:cNvSpPr/>
            <p:nvPr/>
          </p:nvSpPr>
          <p:spPr>
            <a:xfrm>
              <a:off x="4328948" y="3438932"/>
              <a:ext cx="18415" cy="0"/>
            </a:xfrm>
            <a:custGeom>
              <a:avLst/>
              <a:gdLst/>
              <a:ahLst/>
              <a:cxnLst/>
              <a:rect l="l" t="t" r="r" b="b"/>
              <a:pathLst>
                <a:path w="18414">
                  <a:moveTo>
                    <a:pt x="18105" y="0"/>
                  </a:moveTo>
                  <a:lnTo>
                    <a:pt x="0" y="0"/>
                  </a:lnTo>
                </a:path>
              </a:pathLst>
            </a:custGeom>
            <a:ln w="3175">
              <a:solidFill>
                <a:srgbClr val="000000"/>
              </a:solidFill>
            </a:ln>
          </p:spPr>
          <p:txBody>
            <a:bodyPr wrap="square" lIns="0" tIns="0" rIns="0" bIns="0" rtlCol="0"/>
            <a:lstStyle/>
            <a:p>
              <a:endParaRPr/>
            </a:p>
          </p:txBody>
        </p:sp>
        <p:sp>
          <p:nvSpPr>
            <p:cNvPr id="117" name="object 117"/>
            <p:cNvSpPr/>
            <p:nvPr/>
          </p:nvSpPr>
          <p:spPr>
            <a:xfrm>
              <a:off x="4333561" y="3443422"/>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18" name="object 118"/>
          <p:cNvSpPr txBox="1"/>
          <p:nvPr/>
        </p:nvSpPr>
        <p:spPr>
          <a:xfrm>
            <a:off x="2466334" y="2796213"/>
            <a:ext cx="1524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50</a:t>
            </a:r>
            <a:endParaRPr sz="900">
              <a:latin typeface="Arial MT"/>
              <a:cs typeface="Arial MT"/>
            </a:endParaRPr>
          </a:p>
        </p:txBody>
      </p:sp>
      <p:grpSp>
        <p:nvGrpSpPr>
          <p:cNvPr id="119" name="object 119"/>
          <p:cNvGrpSpPr/>
          <p:nvPr/>
        </p:nvGrpSpPr>
        <p:grpSpPr>
          <a:xfrm>
            <a:off x="2641035" y="3206636"/>
            <a:ext cx="1704975" cy="10795"/>
            <a:chOff x="2643574" y="3764164"/>
            <a:chExt cx="1704975" cy="10795"/>
          </a:xfrm>
        </p:grpSpPr>
        <p:sp>
          <p:nvSpPr>
            <p:cNvPr id="120" name="object 120"/>
            <p:cNvSpPr/>
            <p:nvPr/>
          </p:nvSpPr>
          <p:spPr>
            <a:xfrm>
              <a:off x="2644527" y="3765116"/>
              <a:ext cx="9525" cy="0"/>
            </a:xfrm>
            <a:custGeom>
              <a:avLst/>
              <a:gdLst/>
              <a:ahLst/>
              <a:cxnLst/>
              <a:rect l="l" t="t" r="r" b="b"/>
              <a:pathLst>
                <a:path w="9525">
                  <a:moveTo>
                    <a:pt x="0" y="0"/>
                  </a:moveTo>
                  <a:lnTo>
                    <a:pt x="9110" y="0"/>
                  </a:lnTo>
                </a:path>
              </a:pathLst>
            </a:custGeom>
            <a:ln w="3175">
              <a:solidFill>
                <a:srgbClr val="000000"/>
              </a:solidFill>
            </a:ln>
          </p:spPr>
          <p:txBody>
            <a:bodyPr wrap="square" lIns="0" tIns="0" rIns="0" bIns="0" rtlCol="0"/>
            <a:lstStyle/>
            <a:p>
              <a:endParaRPr/>
            </a:p>
          </p:txBody>
        </p:sp>
        <p:sp>
          <p:nvSpPr>
            <p:cNvPr id="121" name="object 121"/>
            <p:cNvSpPr/>
            <p:nvPr/>
          </p:nvSpPr>
          <p:spPr>
            <a:xfrm>
              <a:off x="2658135" y="3769607"/>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22" name="object 122"/>
            <p:cNvSpPr/>
            <p:nvPr/>
          </p:nvSpPr>
          <p:spPr>
            <a:xfrm>
              <a:off x="4328948" y="3765116"/>
              <a:ext cx="18415" cy="0"/>
            </a:xfrm>
            <a:custGeom>
              <a:avLst/>
              <a:gdLst/>
              <a:ahLst/>
              <a:cxnLst/>
              <a:rect l="l" t="t" r="r" b="b"/>
              <a:pathLst>
                <a:path w="18414">
                  <a:moveTo>
                    <a:pt x="18105" y="0"/>
                  </a:moveTo>
                  <a:lnTo>
                    <a:pt x="0" y="0"/>
                  </a:lnTo>
                </a:path>
              </a:pathLst>
            </a:custGeom>
            <a:ln w="3175">
              <a:solidFill>
                <a:srgbClr val="000000"/>
              </a:solidFill>
            </a:ln>
          </p:spPr>
          <p:txBody>
            <a:bodyPr wrap="square" lIns="0" tIns="0" rIns="0" bIns="0" rtlCol="0"/>
            <a:lstStyle/>
            <a:p>
              <a:endParaRPr/>
            </a:p>
          </p:txBody>
        </p:sp>
        <p:sp>
          <p:nvSpPr>
            <p:cNvPr id="123" name="object 123"/>
            <p:cNvSpPr/>
            <p:nvPr/>
          </p:nvSpPr>
          <p:spPr>
            <a:xfrm>
              <a:off x="4333561" y="3769607"/>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24" name="object 124"/>
          <p:cNvSpPr txBox="1"/>
          <p:nvPr/>
        </p:nvSpPr>
        <p:spPr>
          <a:xfrm>
            <a:off x="2402675" y="3122398"/>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100</a:t>
            </a:r>
            <a:endParaRPr sz="900">
              <a:latin typeface="Arial MT"/>
              <a:cs typeface="Arial MT"/>
            </a:endParaRPr>
          </a:p>
        </p:txBody>
      </p:sp>
      <p:grpSp>
        <p:nvGrpSpPr>
          <p:cNvPr id="125" name="object 125"/>
          <p:cNvGrpSpPr/>
          <p:nvPr/>
        </p:nvGrpSpPr>
        <p:grpSpPr>
          <a:xfrm>
            <a:off x="2641035" y="3532429"/>
            <a:ext cx="1704975" cy="10795"/>
            <a:chOff x="2643574" y="4089957"/>
            <a:chExt cx="1704975" cy="10795"/>
          </a:xfrm>
        </p:grpSpPr>
        <p:sp>
          <p:nvSpPr>
            <p:cNvPr id="126" name="object 126"/>
            <p:cNvSpPr/>
            <p:nvPr/>
          </p:nvSpPr>
          <p:spPr>
            <a:xfrm>
              <a:off x="2644527" y="4090910"/>
              <a:ext cx="9525" cy="0"/>
            </a:xfrm>
            <a:custGeom>
              <a:avLst/>
              <a:gdLst/>
              <a:ahLst/>
              <a:cxnLst/>
              <a:rect l="l" t="t" r="r" b="b"/>
              <a:pathLst>
                <a:path w="9525">
                  <a:moveTo>
                    <a:pt x="0" y="0"/>
                  </a:moveTo>
                  <a:lnTo>
                    <a:pt x="9110" y="0"/>
                  </a:lnTo>
                </a:path>
              </a:pathLst>
            </a:custGeom>
            <a:ln w="3175">
              <a:solidFill>
                <a:srgbClr val="000000"/>
              </a:solidFill>
            </a:ln>
          </p:spPr>
          <p:txBody>
            <a:bodyPr wrap="square" lIns="0" tIns="0" rIns="0" bIns="0" rtlCol="0"/>
            <a:lstStyle/>
            <a:p>
              <a:endParaRPr/>
            </a:p>
          </p:txBody>
        </p:sp>
        <p:sp>
          <p:nvSpPr>
            <p:cNvPr id="127" name="object 127"/>
            <p:cNvSpPr/>
            <p:nvPr/>
          </p:nvSpPr>
          <p:spPr>
            <a:xfrm>
              <a:off x="2658135" y="4095435"/>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28" name="object 128"/>
            <p:cNvSpPr/>
            <p:nvPr/>
          </p:nvSpPr>
          <p:spPr>
            <a:xfrm>
              <a:off x="4328948" y="4090910"/>
              <a:ext cx="18415" cy="0"/>
            </a:xfrm>
            <a:custGeom>
              <a:avLst/>
              <a:gdLst/>
              <a:ahLst/>
              <a:cxnLst/>
              <a:rect l="l" t="t" r="r" b="b"/>
              <a:pathLst>
                <a:path w="18414">
                  <a:moveTo>
                    <a:pt x="18105" y="0"/>
                  </a:moveTo>
                  <a:lnTo>
                    <a:pt x="0" y="0"/>
                  </a:lnTo>
                </a:path>
              </a:pathLst>
            </a:custGeom>
            <a:ln w="3175">
              <a:solidFill>
                <a:srgbClr val="000000"/>
              </a:solidFill>
            </a:ln>
          </p:spPr>
          <p:txBody>
            <a:bodyPr wrap="square" lIns="0" tIns="0" rIns="0" bIns="0" rtlCol="0"/>
            <a:lstStyle/>
            <a:p>
              <a:endParaRPr/>
            </a:p>
          </p:txBody>
        </p:sp>
        <p:sp>
          <p:nvSpPr>
            <p:cNvPr id="129" name="object 129"/>
            <p:cNvSpPr/>
            <p:nvPr/>
          </p:nvSpPr>
          <p:spPr>
            <a:xfrm>
              <a:off x="4333561" y="4095435"/>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30" name="object 130"/>
          <p:cNvSpPr txBox="1"/>
          <p:nvPr/>
        </p:nvSpPr>
        <p:spPr>
          <a:xfrm>
            <a:off x="2402675" y="3448525"/>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150</a:t>
            </a:r>
            <a:endParaRPr sz="900">
              <a:latin typeface="Arial MT"/>
              <a:cs typeface="Arial MT"/>
            </a:endParaRPr>
          </a:p>
        </p:txBody>
      </p:sp>
      <p:grpSp>
        <p:nvGrpSpPr>
          <p:cNvPr id="131" name="object 131"/>
          <p:cNvGrpSpPr/>
          <p:nvPr/>
        </p:nvGrpSpPr>
        <p:grpSpPr>
          <a:xfrm>
            <a:off x="2641035" y="3867606"/>
            <a:ext cx="1704975" cy="10795"/>
            <a:chOff x="2643574" y="4425134"/>
            <a:chExt cx="1704975" cy="10795"/>
          </a:xfrm>
        </p:grpSpPr>
        <p:sp>
          <p:nvSpPr>
            <p:cNvPr id="132" name="object 132"/>
            <p:cNvSpPr/>
            <p:nvPr/>
          </p:nvSpPr>
          <p:spPr>
            <a:xfrm>
              <a:off x="2644527" y="4426087"/>
              <a:ext cx="9525" cy="0"/>
            </a:xfrm>
            <a:custGeom>
              <a:avLst/>
              <a:gdLst/>
              <a:ahLst/>
              <a:cxnLst/>
              <a:rect l="l" t="t" r="r" b="b"/>
              <a:pathLst>
                <a:path w="9525">
                  <a:moveTo>
                    <a:pt x="0" y="0"/>
                  </a:moveTo>
                  <a:lnTo>
                    <a:pt x="9110" y="0"/>
                  </a:lnTo>
                </a:path>
              </a:pathLst>
            </a:custGeom>
            <a:ln w="3175">
              <a:solidFill>
                <a:srgbClr val="000000"/>
              </a:solidFill>
            </a:ln>
          </p:spPr>
          <p:txBody>
            <a:bodyPr wrap="square" lIns="0" tIns="0" rIns="0" bIns="0" rtlCol="0"/>
            <a:lstStyle/>
            <a:p>
              <a:endParaRPr/>
            </a:p>
          </p:txBody>
        </p:sp>
        <p:sp>
          <p:nvSpPr>
            <p:cNvPr id="133" name="object 133"/>
            <p:cNvSpPr/>
            <p:nvPr/>
          </p:nvSpPr>
          <p:spPr>
            <a:xfrm>
              <a:off x="2658135" y="4430600"/>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34" name="object 134"/>
            <p:cNvSpPr/>
            <p:nvPr/>
          </p:nvSpPr>
          <p:spPr>
            <a:xfrm>
              <a:off x="4328948" y="4426087"/>
              <a:ext cx="18415" cy="0"/>
            </a:xfrm>
            <a:custGeom>
              <a:avLst/>
              <a:gdLst/>
              <a:ahLst/>
              <a:cxnLst/>
              <a:rect l="l" t="t" r="r" b="b"/>
              <a:pathLst>
                <a:path w="18414">
                  <a:moveTo>
                    <a:pt x="18105" y="0"/>
                  </a:moveTo>
                  <a:lnTo>
                    <a:pt x="0" y="0"/>
                  </a:lnTo>
                </a:path>
              </a:pathLst>
            </a:custGeom>
            <a:ln w="3175">
              <a:solidFill>
                <a:srgbClr val="000000"/>
              </a:solidFill>
            </a:ln>
          </p:spPr>
          <p:txBody>
            <a:bodyPr wrap="square" lIns="0" tIns="0" rIns="0" bIns="0" rtlCol="0"/>
            <a:lstStyle/>
            <a:p>
              <a:endParaRPr/>
            </a:p>
          </p:txBody>
        </p:sp>
        <p:sp>
          <p:nvSpPr>
            <p:cNvPr id="135" name="object 135"/>
            <p:cNvSpPr/>
            <p:nvPr/>
          </p:nvSpPr>
          <p:spPr>
            <a:xfrm>
              <a:off x="4333561" y="4430600"/>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36" name="object 136"/>
          <p:cNvSpPr txBox="1"/>
          <p:nvPr/>
        </p:nvSpPr>
        <p:spPr>
          <a:xfrm>
            <a:off x="2402675" y="3783691"/>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200</a:t>
            </a:r>
            <a:endParaRPr sz="900">
              <a:latin typeface="Arial MT"/>
              <a:cs typeface="Arial MT"/>
            </a:endParaRPr>
          </a:p>
        </p:txBody>
      </p:sp>
      <p:grpSp>
        <p:nvGrpSpPr>
          <p:cNvPr id="137" name="object 137"/>
          <p:cNvGrpSpPr/>
          <p:nvPr/>
        </p:nvGrpSpPr>
        <p:grpSpPr>
          <a:xfrm>
            <a:off x="2641035" y="4193733"/>
            <a:ext cx="1704975" cy="10795"/>
            <a:chOff x="2643574" y="4751261"/>
            <a:chExt cx="1704975" cy="10795"/>
          </a:xfrm>
        </p:grpSpPr>
        <p:sp>
          <p:nvSpPr>
            <p:cNvPr id="138" name="object 138"/>
            <p:cNvSpPr/>
            <p:nvPr/>
          </p:nvSpPr>
          <p:spPr>
            <a:xfrm>
              <a:off x="2644527" y="4752214"/>
              <a:ext cx="9525" cy="0"/>
            </a:xfrm>
            <a:custGeom>
              <a:avLst/>
              <a:gdLst/>
              <a:ahLst/>
              <a:cxnLst/>
              <a:rect l="l" t="t" r="r" b="b"/>
              <a:pathLst>
                <a:path w="9525">
                  <a:moveTo>
                    <a:pt x="0" y="0"/>
                  </a:moveTo>
                  <a:lnTo>
                    <a:pt x="9110" y="0"/>
                  </a:lnTo>
                </a:path>
              </a:pathLst>
            </a:custGeom>
            <a:ln w="3175">
              <a:solidFill>
                <a:srgbClr val="000000"/>
              </a:solidFill>
            </a:ln>
          </p:spPr>
          <p:txBody>
            <a:bodyPr wrap="square" lIns="0" tIns="0" rIns="0" bIns="0" rtlCol="0"/>
            <a:lstStyle/>
            <a:p>
              <a:endParaRPr/>
            </a:p>
          </p:txBody>
        </p:sp>
        <p:sp>
          <p:nvSpPr>
            <p:cNvPr id="139" name="object 139"/>
            <p:cNvSpPr/>
            <p:nvPr/>
          </p:nvSpPr>
          <p:spPr>
            <a:xfrm>
              <a:off x="2658135" y="475673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sp>
          <p:nvSpPr>
            <p:cNvPr id="140" name="object 140"/>
            <p:cNvSpPr/>
            <p:nvPr/>
          </p:nvSpPr>
          <p:spPr>
            <a:xfrm>
              <a:off x="4328948" y="4752214"/>
              <a:ext cx="18415" cy="0"/>
            </a:xfrm>
            <a:custGeom>
              <a:avLst/>
              <a:gdLst/>
              <a:ahLst/>
              <a:cxnLst/>
              <a:rect l="l" t="t" r="r" b="b"/>
              <a:pathLst>
                <a:path w="18414">
                  <a:moveTo>
                    <a:pt x="18105" y="0"/>
                  </a:moveTo>
                  <a:lnTo>
                    <a:pt x="0" y="0"/>
                  </a:lnTo>
                </a:path>
              </a:pathLst>
            </a:custGeom>
            <a:ln w="3175">
              <a:solidFill>
                <a:srgbClr val="000000"/>
              </a:solidFill>
            </a:ln>
          </p:spPr>
          <p:txBody>
            <a:bodyPr wrap="square" lIns="0" tIns="0" rIns="0" bIns="0" rtlCol="0"/>
            <a:lstStyle/>
            <a:p>
              <a:endParaRPr/>
            </a:p>
          </p:txBody>
        </p:sp>
        <p:sp>
          <p:nvSpPr>
            <p:cNvPr id="141" name="object 141"/>
            <p:cNvSpPr/>
            <p:nvPr/>
          </p:nvSpPr>
          <p:spPr>
            <a:xfrm>
              <a:off x="4333561" y="4756739"/>
              <a:ext cx="9525" cy="0"/>
            </a:xfrm>
            <a:custGeom>
              <a:avLst/>
              <a:gdLst/>
              <a:ahLst/>
              <a:cxnLst/>
              <a:rect l="l" t="t" r="r" b="b"/>
              <a:pathLst>
                <a:path w="9525">
                  <a:moveTo>
                    <a:pt x="0" y="0"/>
                  </a:moveTo>
                  <a:lnTo>
                    <a:pt x="8995" y="0"/>
                  </a:lnTo>
                </a:path>
              </a:pathLst>
            </a:custGeom>
            <a:ln w="9035">
              <a:solidFill>
                <a:srgbClr val="000000"/>
              </a:solidFill>
            </a:ln>
          </p:spPr>
          <p:txBody>
            <a:bodyPr wrap="square" lIns="0" tIns="0" rIns="0" bIns="0" rtlCol="0"/>
            <a:lstStyle/>
            <a:p>
              <a:endParaRPr/>
            </a:p>
          </p:txBody>
        </p:sp>
      </p:grpSp>
      <p:sp>
        <p:nvSpPr>
          <p:cNvPr id="142" name="object 142"/>
          <p:cNvSpPr txBox="1"/>
          <p:nvPr/>
        </p:nvSpPr>
        <p:spPr>
          <a:xfrm>
            <a:off x="2402675" y="4109541"/>
            <a:ext cx="215900" cy="154529"/>
          </a:xfrm>
          <a:prstGeom prst="rect">
            <a:avLst/>
          </a:prstGeom>
        </p:spPr>
        <p:txBody>
          <a:bodyPr vert="horz" wrap="square" lIns="0" tIns="15875" rIns="0" bIns="0" rtlCol="0">
            <a:spAutoFit/>
          </a:bodyPr>
          <a:lstStyle/>
          <a:p>
            <a:pPr marL="12700">
              <a:spcBef>
                <a:spcPts val="125"/>
              </a:spcBef>
            </a:pPr>
            <a:r>
              <a:rPr sz="900" spc="-25" dirty="0">
                <a:latin typeface="Arial MT"/>
                <a:cs typeface="Arial MT"/>
              </a:rPr>
              <a:t>250</a:t>
            </a:r>
            <a:endParaRPr sz="900">
              <a:latin typeface="Arial MT"/>
              <a:cs typeface="Arial MT"/>
            </a:endParaRPr>
          </a:p>
        </p:txBody>
      </p:sp>
      <p:grpSp>
        <p:nvGrpSpPr>
          <p:cNvPr id="143" name="object 143"/>
          <p:cNvGrpSpPr/>
          <p:nvPr/>
        </p:nvGrpSpPr>
        <p:grpSpPr>
          <a:xfrm>
            <a:off x="52374" y="2249171"/>
            <a:ext cx="6546215" cy="2327910"/>
            <a:chOff x="54913" y="2806700"/>
            <a:chExt cx="6546215" cy="2327910"/>
          </a:xfrm>
        </p:grpSpPr>
        <p:sp>
          <p:nvSpPr>
            <p:cNvPr id="144" name="object 144"/>
            <p:cNvSpPr/>
            <p:nvPr/>
          </p:nvSpPr>
          <p:spPr>
            <a:xfrm>
              <a:off x="2644527" y="4815470"/>
              <a:ext cx="1703070" cy="0"/>
            </a:xfrm>
            <a:custGeom>
              <a:avLst/>
              <a:gdLst/>
              <a:ahLst/>
              <a:cxnLst/>
              <a:rect l="l" t="t" r="r" b="b"/>
              <a:pathLst>
                <a:path w="1703070">
                  <a:moveTo>
                    <a:pt x="0" y="0"/>
                  </a:moveTo>
                  <a:lnTo>
                    <a:pt x="1702527" y="0"/>
                  </a:lnTo>
                </a:path>
              </a:pathLst>
            </a:custGeom>
            <a:ln w="3175">
              <a:solidFill>
                <a:srgbClr val="000000"/>
              </a:solidFill>
            </a:ln>
          </p:spPr>
          <p:txBody>
            <a:bodyPr wrap="square" lIns="0" tIns="0" rIns="0" bIns="0" rtlCol="0"/>
            <a:lstStyle/>
            <a:p>
              <a:endParaRPr/>
            </a:p>
          </p:txBody>
        </p:sp>
        <p:sp>
          <p:nvSpPr>
            <p:cNvPr id="145" name="object 145"/>
            <p:cNvSpPr/>
            <p:nvPr/>
          </p:nvSpPr>
          <p:spPr>
            <a:xfrm>
              <a:off x="4351552" y="4819984"/>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146" name="object 146"/>
            <p:cNvSpPr/>
            <p:nvPr/>
          </p:nvSpPr>
          <p:spPr>
            <a:xfrm>
              <a:off x="2644527" y="3112747"/>
              <a:ext cx="1703070" cy="0"/>
            </a:xfrm>
            <a:custGeom>
              <a:avLst/>
              <a:gdLst/>
              <a:ahLst/>
              <a:cxnLst/>
              <a:rect l="l" t="t" r="r" b="b"/>
              <a:pathLst>
                <a:path w="1703070">
                  <a:moveTo>
                    <a:pt x="0" y="0"/>
                  </a:moveTo>
                  <a:lnTo>
                    <a:pt x="1702527" y="0"/>
                  </a:lnTo>
                </a:path>
              </a:pathLst>
            </a:custGeom>
            <a:ln w="3175">
              <a:solidFill>
                <a:srgbClr val="000000"/>
              </a:solidFill>
            </a:ln>
          </p:spPr>
          <p:txBody>
            <a:bodyPr wrap="square" lIns="0" tIns="0" rIns="0" bIns="0" rtlCol="0"/>
            <a:lstStyle/>
            <a:p>
              <a:endParaRPr/>
            </a:p>
          </p:txBody>
        </p:sp>
        <p:sp>
          <p:nvSpPr>
            <p:cNvPr id="147" name="object 147"/>
            <p:cNvSpPr/>
            <p:nvPr/>
          </p:nvSpPr>
          <p:spPr>
            <a:xfrm>
              <a:off x="4351552" y="3117352"/>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148" name="object 148"/>
            <p:cNvSpPr/>
            <p:nvPr/>
          </p:nvSpPr>
          <p:spPr>
            <a:xfrm>
              <a:off x="4347054" y="3112747"/>
              <a:ext cx="0" cy="1703070"/>
            </a:xfrm>
            <a:custGeom>
              <a:avLst/>
              <a:gdLst/>
              <a:ahLst/>
              <a:cxnLst/>
              <a:rect l="l" t="t" r="r" b="b"/>
              <a:pathLst>
                <a:path h="1703070">
                  <a:moveTo>
                    <a:pt x="0" y="0"/>
                  </a:moveTo>
                  <a:lnTo>
                    <a:pt x="0" y="1702723"/>
                  </a:lnTo>
                </a:path>
              </a:pathLst>
            </a:custGeom>
            <a:ln w="3175">
              <a:solidFill>
                <a:srgbClr val="000000"/>
              </a:solidFill>
            </a:ln>
          </p:spPr>
          <p:txBody>
            <a:bodyPr wrap="square" lIns="0" tIns="0" rIns="0" bIns="0" rtlCol="0"/>
            <a:lstStyle/>
            <a:p>
              <a:endParaRPr/>
            </a:p>
          </p:txBody>
        </p:sp>
        <p:sp>
          <p:nvSpPr>
            <p:cNvPr id="149" name="object 149"/>
            <p:cNvSpPr/>
            <p:nvPr/>
          </p:nvSpPr>
          <p:spPr>
            <a:xfrm>
              <a:off x="4351552" y="4819984"/>
              <a:ext cx="9525" cy="0"/>
            </a:xfrm>
            <a:custGeom>
              <a:avLst/>
              <a:gdLst/>
              <a:ahLst/>
              <a:cxnLst/>
              <a:rect l="l" t="t" r="r" b="b"/>
              <a:pathLst>
                <a:path w="9525">
                  <a:moveTo>
                    <a:pt x="0" y="0"/>
                  </a:moveTo>
                  <a:lnTo>
                    <a:pt x="9341" y="0"/>
                  </a:lnTo>
                </a:path>
              </a:pathLst>
            </a:custGeom>
            <a:ln w="9035">
              <a:solidFill>
                <a:srgbClr val="000000"/>
              </a:solidFill>
            </a:ln>
          </p:spPr>
          <p:txBody>
            <a:bodyPr wrap="square" lIns="0" tIns="0" rIns="0" bIns="0" rtlCol="0"/>
            <a:lstStyle/>
            <a:p>
              <a:endParaRPr/>
            </a:p>
          </p:txBody>
        </p:sp>
        <p:sp>
          <p:nvSpPr>
            <p:cNvPr id="150" name="object 150"/>
            <p:cNvSpPr/>
            <p:nvPr/>
          </p:nvSpPr>
          <p:spPr>
            <a:xfrm>
              <a:off x="2644527" y="3112747"/>
              <a:ext cx="0" cy="1703070"/>
            </a:xfrm>
            <a:custGeom>
              <a:avLst/>
              <a:gdLst/>
              <a:ahLst/>
              <a:cxnLst/>
              <a:rect l="l" t="t" r="r" b="b"/>
              <a:pathLst>
                <a:path h="1703070">
                  <a:moveTo>
                    <a:pt x="0" y="0"/>
                  </a:moveTo>
                  <a:lnTo>
                    <a:pt x="0" y="1702723"/>
                  </a:lnTo>
                </a:path>
              </a:pathLst>
            </a:custGeom>
            <a:ln w="3175">
              <a:solidFill>
                <a:srgbClr val="000000"/>
              </a:solidFill>
            </a:ln>
          </p:spPr>
          <p:txBody>
            <a:bodyPr wrap="square" lIns="0" tIns="0" rIns="0" bIns="0" rtlCol="0"/>
            <a:lstStyle/>
            <a:p>
              <a:endParaRPr/>
            </a:p>
          </p:txBody>
        </p:sp>
        <p:sp>
          <p:nvSpPr>
            <p:cNvPr id="151" name="object 151"/>
            <p:cNvSpPr/>
            <p:nvPr/>
          </p:nvSpPr>
          <p:spPr>
            <a:xfrm>
              <a:off x="2649024" y="4819984"/>
              <a:ext cx="9525" cy="0"/>
            </a:xfrm>
            <a:custGeom>
              <a:avLst/>
              <a:gdLst/>
              <a:ahLst/>
              <a:cxnLst/>
              <a:rect l="l" t="t" r="r" b="b"/>
              <a:pathLst>
                <a:path w="9525">
                  <a:moveTo>
                    <a:pt x="0" y="0"/>
                  </a:moveTo>
                  <a:lnTo>
                    <a:pt x="9110" y="0"/>
                  </a:lnTo>
                </a:path>
              </a:pathLst>
            </a:custGeom>
            <a:ln w="9035">
              <a:solidFill>
                <a:srgbClr val="000000"/>
              </a:solidFill>
            </a:ln>
          </p:spPr>
          <p:txBody>
            <a:bodyPr wrap="square" lIns="0" tIns="0" rIns="0" bIns="0" rtlCol="0"/>
            <a:lstStyle/>
            <a:p>
              <a:endParaRPr/>
            </a:p>
          </p:txBody>
        </p:sp>
        <p:sp>
          <p:nvSpPr>
            <p:cNvPr id="152" name="object 152"/>
            <p:cNvSpPr/>
            <p:nvPr/>
          </p:nvSpPr>
          <p:spPr>
            <a:xfrm>
              <a:off x="61263" y="2813050"/>
              <a:ext cx="4402455" cy="2315210"/>
            </a:xfrm>
            <a:custGeom>
              <a:avLst/>
              <a:gdLst/>
              <a:ahLst/>
              <a:cxnLst/>
              <a:rect l="l" t="t" r="r" b="b"/>
              <a:pathLst>
                <a:path w="4402455" h="2315210">
                  <a:moveTo>
                    <a:pt x="0" y="2315083"/>
                  </a:moveTo>
                  <a:lnTo>
                    <a:pt x="4402201" y="2315083"/>
                  </a:lnTo>
                  <a:lnTo>
                    <a:pt x="4402201" y="0"/>
                  </a:lnTo>
                  <a:lnTo>
                    <a:pt x="0" y="0"/>
                  </a:lnTo>
                  <a:lnTo>
                    <a:pt x="0" y="2315083"/>
                  </a:lnTo>
                  <a:close/>
                </a:path>
              </a:pathLst>
            </a:custGeom>
            <a:ln w="12700">
              <a:solidFill>
                <a:srgbClr val="000000"/>
              </a:solidFill>
            </a:ln>
          </p:spPr>
          <p:txBody>
            <a:bodyPr wrap="square" lIns="0" tIns="0" rIns="0" bIns="0" rtlCol="0"/>
            <a:lstStyle/>
            <a:p>
              <a:endParaRPr/>
            </a:p>
          </p:txBody>
        </p:sp>
        <p:pic>
          <p:nvPicPr>
            <p:cNvPr id="153" name="object 153"/>
            <p:cNvPicPr/>
            <p:nvPr/>
          </p:nvPicPr>
          <p:blipFill>
            <a:blip r:embed="rId5" cstate="print"/>
            <a:stretch>
              <a:fillRect/>
            </a:stretch>
          </p:blipFill>
          <p:spPr>
            <a:xfrm>
              <a:off x="4854550" y="3078778"/>
              <a:ext cx="1746380" cy="1739733"/>
            </a:xfrm>
            <a:prstGeom prst="rect">
              <a:avLst/>
            </a:prstGeom>
          </p:spPr>
        </p:pic>
      </p:grpSp>
      <p:sp>
        <p:nvSpPr>
          <p:cNvPr id="154" name="object 154"/>
          <p:cNvSpPr txBox="1"/>
          <p:nvPr/>
        </p:nvSpPr>
        <p:spPr>
          <a:xfrm>
            <a:off x="5147503" y="2284486"/>
            <a:ext cx="1145540" cy="159659"/>
          </a:xfrm>
          <a:prstGeom prst="rect">
            <a:avLst/>
          </a:prstGeom>
        </p:spPr>
        <p:txBody>
          <a:bodyPr vert="horz" wrap="square" lIns="0" tIns="13335" rIns="0" bIns="0" rtlCol="0">
            <a:spAutoFit/>
          </a:bodyPr>
          <a:lstStyle/>
          <a:p>
            <a:pPr marL="12700">
              <a:spcBef>
                <a:spcPts val="105"/>
              </a:spcBef>
            </a:pPr>
            <a:r>
              <a:rPr sz="950" dirty="0">
                <a:latin typeface="Arial MT"/>
                <a:cs typeface="Arial MT"/>
              </a:rPr>
              <a:t>backprojected</a:t>
            </a:r>
            <a:r>
              <a:rPr sz="950" spc="25" dirty="0">
                <a:latin typeface="Arial MT"/>
                <a:cs typeface="Arial MT"/>
              </a:rPr>
              <a:t> </a:t>
            </a:r>
            <a:r>
              <a:rPr sz="950" spc="-10" dirty="0">
                <a:latin typeface="Arial MT"/>
                <a:cs typeface="Arial MT"/>
              </a:rPr>
              <a:t>image</a:t>
            </a:r>
            <a:endParaRPr sz="950">
              <a:latin typeface="Arial MT"/>
              <a:cs typeface="Arial MT"/>
            </a:endParaRPr>
          </a:p>
        </p:txBody>
      </p:sp>
      <p:grpSp>
        <p:nvGrpSpPr>
          <p:cNvPr id="155" name="object 155"/>
          <p:cNvGrpSpPr/>
          <p:nvPr/>
        </p:nvGrpSpPr>
        <p:grpSpPr>
          <a:xfrm>
            <a:off x="4851057" y="2511061"/>
            <a:ext cx="1766570" cy="1757045"/>
            <a:chOff x="4853597" y="3068589"/>
            <a:chExt cx="1766570" cy="1757045"/>
          </a:xfrm>
        </p:grpSpPr>
        <p:sp>
          <p:nvSpPr>
            <p:cNvPr id="156" name="object 156"/>
            <p:cNvSpPr/>
            <p:nvPr/>
          </p:nvSpPr>
          <p:spPr>
            <a:xfrm>
              <a:off x="4854550" y="4815769"/>
              <a:ext cx="1746885" cy="0"/>
            </a:xfrm>
            <a:custGeom>
              <a:avLst/>
              <a:gdLst/>
              <a:ahLst/>
              <a:cxnLst/>
              <a:rect l="l" t="t" r="r" b="b"/>
              <a:pathLst>
                <a:path w="1746884">
                  <a:moveTo>
                    <a:pt x="0" y="0"/>
                  </a:moveTo>
                  <a:lnTo>
                    <a:pt x="1746380" y="0"/>
                  </a:lnTo>
                </a:path>
              </a:pathLst>
            </a:custGeom>
            <a:ln w="3175">
              <a:solidFill>
                <a:srgbClr val="000000"/>
              </a:solidFill>
            </a:ln>
          </p:spPr>
          <p:txBody>
            <a:bodyPr wrap="square" lIns="0" tIns="0" rIns="0" bIns="0" rtlCol="0"/>
            <a:lstStyle/>
            <a:p>
              <a:endParaRPr/>
            </a:p>
          </p:txBody>
        </p:sp>
        <p:sp>
          <p:nvSpPr>
            <p:cNvPr id="157" name="object 157"/>
            <p:cNvSpPr/>
            <p:nvPr/>
          </p:nvSpPr>
          <p:spPr>
            <a:xfrm>
              <a:off x="6605568" y="482042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158" name="object 158"/>
            <p:cNvSpPr/>
            <p:nvPr/>
          </p:nvSpPr>
          <p:spPr>
            <a:xfrm>
              <a:off x="4854550" y="3069542"/>
              <a:ext cx="1746885" cy="0"/>
            </a:xfrm>
            <a:custGeom>
              <a:avLst/>
              <a:gdLst/>
              <a:ahLst/>
              <a:cxnLst/>
              <a:rect l="l" t="t" r="r" b="b"/>
              <a:pathLst>
                <a:path w="1746884">
                  <a:moveTo>
                    <a:pt x="0" y="0"/>
                  </a:moveTo>
                  <a:lnTo>
                    <a:pt x="1746380" y="0"/>
                  </a:lnTo>
                </a:path>
              </a:pathLst>
            </a:custGeom>
            <a:ln w="3175">
              <a:solidFill>
                <a:srgbClr val="000000"/>
              </a:solidFill>
            </a:ln>
          </p:spPr>
          <p:txBody>
            <a:bodyPr wrap="square" lIns="0" tIns="0" rIns="0" bIns="0" rtlCol="0"/>
            <a:lstStyle/>
            <a:p>
              <a:endParaRPr/>
            </a:p>
          </p:txBody>
        </p:sp>
        <p:sp>
          <p:nvSpPr>
            <p:cNvPr id="159" name="object 159"/>
            <p:cNvSpPr/>
            <p:nvPr/>
          </p:nvSpPr>
          <p:spPr>
            <a:xfrm>
              <a:off x="6605568" y="307417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160" name="object 160"/>
            <p:cNvSpPr/>
            <p:nvPr/>
          </p:nvSpPr>
          <p:spPr>
            <a:xfrm>
              <a:off x="6600930" y="3069542"/>
              <a:ext cx="0" cy="1746250"/>
            </a:xfrm>
            <a:custGeom>
              <a:avLst/>
              <a:gdLst/>
              <a:ahLst/>
              <a:cxnLst/>
              <a:rect l="l" t="t" r="r" b="b"/>
              <a:pathLst>
                <a:path h="1746250">
                  <a:moveTo>
                    <a:pt x="0" y="0"/>
                  </a:moveTo>
                  <a:lnTo>
                    <a:pt x="0" y="1746226"/>
                  </a:lnTo>
                </a:path>
              </a:pathLst>
            </a:custGeom>
            <a:ln w="3175">
              <a:solidFill>
                <a:srgbClr val="000000"/>
              </a:solidFill>
            </a:ln>
          </p:spPr>
          <p:txBody>
            <a:bodyPr wrap="square" lIns="0" tIns="0" rIns="0" bIns="0" rtlCol="0"/>
            <a:lstStyle/>
            <a:p>
              <a:endParaRPr/>
            </a:p>
          </p:txBody>
        </p:sp>
        <p:sp>
          <p:nvSpPr>
            <p:cNvPr id="161" name="object 161"/>
            <p:cNvSpPr/>
            <p:nvPr/>
          </p:nvSpPr>
          <p:spPr>
            <a:xfrm>
              <a:off x="6605568" y="482042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162" name="object 162"/>
            <p:cNvSpPr/>
            <p:nvPr/>
          </p:nvSpPr>
          <p:spPr>
            <a:xfrm>
              <a:off x="4854550" y="3069542"/>
              <a:ext cx="0" cy="1746250"/>
            </a:xfrm>
            <a:custGeom>
              <a:avLst/>
              <a:gdLst/>
              <a:ahLst/>
              <a:cxnLst/>
              <a:rect l="l" t="t" r="r" b="b"/>
              <a:pathLst>
                <a:path h="1746250">
                  <a:moveTo>
                    <a:pt x="0" y="0"/>
                  </a:moveTo>
                  <a:lnTo>
                    <a:pt x="0" y="1746226"/>
                  </a:lnTo>
                </a:path>
              </a:pathLst>
            </a:custGeom>
            <a:ln w="3175">
              <a:solidFill>
                <a:srgbClr val="000000"/>
              </a:solidFill>
            </a:ln>
          </p:spPr>
          <p:txBody>
            <a:bodyPr wrap="square" lIns="0" tIns="0" rIns="0" bIns="0" rtlCol="0"/>
            <a:lstStyle/>
            <a:p>
              <a:endParaRPr/>
            </a:p>
          </p:txBody>
        </p:sp>
        <p:sp>
          <p:nvSpPr>
            <p:cNvPr id="163" name="object 163"/>
            <p:cNvSpPr/>
            <p:nvPr/>
          </p:nvSpPr>
          <p:spPr>
            <a:xfrm>
              <a:off x="4859211" y="4820422"/>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64" name="object 164"/>
            <p:cNvSpPr/>
            <p:nvPr/>
          </p:nvSpPr>
          <p:spPr>
            <a:xfrm>
              <a:off x="4854550" y="4815769"/>
              <a:ext cx="1746885" cy="0"/>
            </a:xfrm>
            <a:custGeom>
              <a:avLst/>
              <a:gdLst/>
              <a:ahLst/>
              <a:cxnLst/>
              <a:rect l="l" t="t" r="r" b="b"/>
              <a:pathLst>
                <a:path w="1746884">
                  <a:moveTo>
                    <a:pt x="0" y="0"/>
                  </a:moveTo>
                  <a:lnTo>
                    <a:pt x="1746380" y="0"/>
                  </a:lnTo>
                </a:path>
              </a:pathLst>
            </a:custGeom>
            <a:ln w="3175">
              <a:solidFill>
                <a:srgbClr val="000000"/>
              </a:solidFill>
            </a:ln>
          </p:spPr>
          <p:txBody>
            <a:bodyPr wrap="square" lIns="0" tIns="0" rIns="0" bIns="0" rtlCol="0"/>
            <a:lstStyle/>
            <a:p>
              <a:endParaRPr/>
            </a:p>
          </p:txBody>
        </p:sp>
        <p:sp>
          <p:nvSpPr>
            <p:cNvPr id="165" name="object 165"/>
            <p:cNvSpPr/>
            <p:nvPr/>
          </p:nvSpPr>
          <p:spPr>
            <a:xfrm>
              <a:off x="6605568" y="482042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166" name="object 166"/>
            <p:cNvSpPr/>
            <p:nvPr/>
          </p:nvSpPr>
          <p:spPr>
            <a:xfrm>
              <a:off x="4854550" y="3069542"/>
              <a:ext cx="0" cy="1746250"/>
            </a:xfrm>
            <a:custGeom>
              <a:avLst/>
              <a:gdLst/>
              <a:ahLst/>
              <a:cxnLst/>
              <a:rect l="l" t="t" r="r" b="b"/>
              <a:pathLst>
                <a:path h="1746250">
                  <a:moveTo>
                    <a:pt x="0" y="0"/>
                  </a:moveTo>
                  <a:lnTo>
                    <a:pt x="0" y="1746226"/>
                  </a:lnTo>
                </a:path>
              </a:pathLst>
            </a:custGeom>
            <a:ln w="3175">
              <a:solidFill>
                <a:srgbClr val="000000"/>
              </a:solidFill>
            </a:ln>
          </p:spPr>
          <p:txBody>
            <a:bodyPr wrap="square" lIns="0" tIns="0" rIns="0" bIns="0" rtlCol="0"/>
            <a:lstStyle/>
            <a:p>
              <a:endParaRPr/>
            </a:p>
          </p:txBody>
        </p:sp>
        <p:sp>
          <p:nvSpPr>
            <p:cNvPr id="167" name="object 167"/>
            <p:cNvSpPr/>
            <p:nvPr/>
          </p:nvSpPr>
          <p:spPr>
            <a:xfrm>
              <a:off x="4859211" y="4820422"/>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68" name="object 168"/>
            <p:cNvSpPr/>
            <p:nvPr/>
          </p:nvSpPr>
          <p:spPr>
            <a:xfrm>
              <a:off x="5181388" y="4797142"/>
              <a:ext cx="0" cy="19050"/>
            </a:xfrm>
            <a:custGeom>
              <a:avLst/>
              <a:gdLst/>
              <a:ahLst/>
              <a:cxnLst/>
              <a:rect l="l" t="t" r="r" b="b"/>
              <a:pathLst>
                <a:path h="19050">
                  <a:moveTo>
                    <a:pt x="0" y="18626"/>
                  </a:moveTo>
                  <a:lnTo>
                    <a:pt x="0" y="0"/>
                  </a:lnTo>
                </a:path>
              </a:pathLst>
            </a:custGeom>
            <a:ln w="3175">
              <a:solidFill>
                <a:srgbClr val="000000"/>
              </a:solidFill>
            </a:ln>
          </p:spPr>
          <p:txBody>
            <a:bodyPr wrap="square" lIns="0" tIns="0" rIns="0" bIns="0" rtlCol="0"/>
            <a:lstStyle/>
            <a:p>
              <a:endParaRPr/>
            </a:p>
          </p:txBody>
        </p:sp>
        <p:sp>
          <p:nvSpPr>
            <p:cNvPr id="169" name="object 169"/>
            <p:cNvSpPr/>
            <p:nvPr/>
          </p:nvSpPr>
          <p:spPr>
            <a:xfrm>
              <a:off x="5186049" y="4801796"/>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70" name="object 170"/>
            <p:cNvSpPr/>
            <p:nvPr/>
          </p:nvSpPr>
          <p:spPr>
            <a:xfrm>
              <a:off x="5181388" y="3069542"/>
              <a:ext cx="0" cy="19050"/>
            </a:xfrm>
            <a:custGeom>
              <a:avLst/>
              <a:gdLst/>
              <a:ahLst/>
              <a:cxnLst/>
              <a:rect l="l" t="t" r="r" b="b"/>
              <a:pathLst>
                <a:path h="19050">
                  <a:moveTo>
                    <a:pt x="0" y="0"/>
                  </a:moveTo>
                  <a:lnTo>
                    <a:pt x="0" y="18638"/>
                  </a:lnTo>
                </a:path>
              </a:pathLst>
            </a:custGeom>
            <a:ln w="3175">
              <a:solidFill>
                <a:srgbClr val="000000"/>
              </a:solidFill>
            </a:ln>
          </p:spPr>
          <p:txBody>
            <a:bodyPr wrap="square" lIns="0" tIns="0" rIns="0" bIns="0" rtlCol="0"/>
            <a:lstStyle/>
            <a:p>
              <a:endParaRPr/>
            </a:p>
          </p:txBody>
        </p:sp>
        <p:sp>
          <p:nvSpPr>
            <p:cNvPr id="171" name="object 171"/>
            <p:cNvSpPr/>
            <p:nvPr/>
          </p:nvSpPr>
          <p:spPr>
            <a:xfrm>
              <a:off x="5186049" y="3092810"/>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72" name="object 172"/>
            <p:cNvSpPr/>
            <p:nvPr/>
          </p:nvSpPr>
          <p:spPr>
            <a:xfrm>
              <a:off x="5526883" y="4797142"/>
              <a:ext cx="0" cy="19050"/>
            </a:xfrm>
            <a:custGeom>
              <a:avLst/>
              <a:gdLst/>
              <a:ahLst/>
              <a:cxnLst/>
              <a:rect l="l" t="t" r="r" b="b"/>
              <a:pathLst>
                <a:path h="19050">
                  <a:moveTo>
                    <a:pt x="0" y="18626"/>
                  </a:moveTo>
                  <a:lnTo>
                    <a:pt x="0" y="0"/>
                  </a:lnTo>
                </a:path>
              </a:pathLst>
            </a:custGeom>
            <a:ln w="3175">
              <a:solidFill>
                <a:srgbClr val="000000"/>
              </a:solidFill>
            </a:ln>
          </p:spPr>
          <p:txBody>
            <a:bodyPr wrap="square" lIns="0" tIns="0" rIns="0" bIns="0" rtlCol="0"/>
            <a:lstStyle/>
            <a:p>
              <a:endParaRPr/>
            </a:p>
          </p:txBody>
        </p:sp>
        <p:sp>
          <p:nvSpPr>
            <p:cNvPr id="173" name="object 173"/>
            <p:cNvSpPr/>
            <p:nvPr/>
          </p:nvSpPr>
          <p:spPr>
            <a:xfrm>
              <a:off x="5531544" y="4801796"/>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74" name="object 174"/>
            <p:cNvSpPr/>
            <p:nvPr/>
          </p:nvSpPr>
          <p:spPr>
            <a:xfrm>
              <a:off x="5526883" y="3069542"/>
              <a:ext cx="0" cy="19050"/>
            </a:xfrm>
            <a:custGeom>
              <a:avLst/>
              <a:gdLst/>
              <a:ahLst/>
              <a:cxnLst/>
              <a:rect l="l" t="t" r="r" b="b"/>
              <a:pathLst>
                <a:path h="19050">
                  <a:moveTo>
                    <a:pt x="0" y="0"/>
                  </a:moveTo>
                  <a:lnTo>
                    <a:pt x="0" y="18638"/>
                  </a:lnTo>
                </a:path>
              </a:pathLst>
            </a:custGeom>
            <a:ln w="3175">
              <a:solidFill>
                <a:srgbClr val="000000"/>
              </a:solidFill>
            </a:ln>
          </p:spPr>
          <p:txBody>
            <a:bodyPr wrap="square" lIns="0" tIns="0" rIns="0" bIns="0" rtlCol="0"/>
            <a:lstStyle/>
            <a:p>
              <a:endParaRPr/>
            </a:p>
          </p:txBody>
        </p:sp>
        <p:sp>
          <p:nvSpPr>
            <p:cNvPr id="175" name="object 175"/>
            <p:cNvSpPr/>
            <p:nvPr/>
          </p:nvSpPr>
          <p:spPr>
            <a:xfrm>
              <a:off x="5531544" y="3092810"/>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76" name="object 176"/>
            <p:cNvSpPr/>
            <p:nvPr/>
          </p:nvSpPr>
          <p:spPr>
            <a:xfrm>
              <a:off x="5862996" y="4797142"/>
              <a:ext cx="0" cy="19050"/>
            </a:xfrm>
            <a:custGeom>
              <a:avLst/>
              <a:gdLst/>
              <a:ahLst/>
              <a:cxnLst/>
              <a:rect l="l" t="t" r="r" b="b"/>
              <a:pathLst>
                <a:path h="19050">
                  <a:moveTo>
                    <a:pt x="0" y="18626"/>
                  </a:moveTo>
                  <a:lnTo>
                    <a:pt x="0" y="0"/>
                  </a:lnTo>
                </a:path>
              </a:pathLst>
            </a:custGeom>
            <a:ln w="3175">
              <a:solidFill>
                <a:srgbClr val="000000"/>
              </a:solidFill>
            </a:ln>
          </p:spPr>
          <p:txBody>
            <a:bodyPr wrap="square" lIns="0" tIns="0" rIns="0" bIns="0" rtlCol="0"/>
            <a:lstStyle/>
            <a:p>
              <a:endParaRPr/>
            </a:p>
          </p:txBody>
        </p:sp>
        <p:sp>
          <p:nvSpPr>
            <p:cNvPr id="177" name="object 177"/>
            <p:cNvSpPr/>
            <p:nvPr/>
          </p:nvSpPr>
          <p:spPr>
            <a:xfrm>
              <a:off x="5867752" y="4801796"/>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78" name="object 178"/>
            <p:cNvSpPr/>
            <p:nvPr/>
          </p:nvSpPr>
          <p:spPr>
            <a:xfrm>
              <a:off x="5862996" y="3069542"/>
              <a:ext cx="0" cy="19050"/>
            </a:xfrm>
            <a:custGeom>
              <a:avLst/>
              <a:gdLst/>
              <a:ahLst/>
              <a:cxnLst/>
              <a:rect l="l" t="t" r="r" b="b"/>
              <a:pathLst>
                <a:path h="19050">
                  <a:moveTo>
                    <a:pt x="0" y="0"/>
                  </a:moveTo>
                  <a:lnTo>
                    <a:pt x="0" y="18638"/>
                  </a:lnTo>
                </a:path>
              </a:pathLst>
            </a:custGeom>
            <a:ln w="3175">
              <a:solidFill>
                <a:srgbClr val="000000"/>
              </a:solidFill>
            </a:ln>
          </p:spPr>
          <p:txBody>
            <a:bodyPr wrap="square" lIns="0" tIns="0" rIns="0" bIns="0" rtlCol="0"/>
            <a:lstStyle/>
            <a:p>
              <a:endParaRPr/>
            </a:p>
          </p:txBody>
        </p:sp>
        <p:sp>
          <p:nvSpPr>
            <p:cNvPr id="179" name="object 179"/>
            <p:cNvSpPr/>
            <p:nvPr/>
          </p:nvSpPr>
          <p:spPr>
            <a:xfrm>
              <a:off x="5867752" y="3092810"/>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80" name="object 180"/>
            <p:cNvSpPr/>
            <p:nvPr/>
          </p:nvSpPr>
          <p:spPr>
            <a:xfrm>
              <a:off x="6199264" y="4797142"/>
              <a:ext cx="0" cy="19050"/>
            </a:xfrm>
            <a:custGeom>
              <a:avLst/>
              <a:gdLst/>
              <a:ahLst/>
              <a:cxnLst/>
              <a:rect l="l" t="t" r="r" b="b"/>
              <a:pathLst>
                <a:path h="19050">
                  <a:moveTo>
                    <a:pt x="0" y="18626"/>
                  </a:moveTo>
                  <a:lnTo>
                    <a:pt x="0" y="0"/>
                  </a:lnTo>
                </a:path>
              </a:pathLst>
            </a:custGeom>
            <a:ln w="3175">
              <a:solidFill>
                <a:srgbClr val="000000"/>
              </a:solidFill>
            </a:ln>
          </p:spPr>
          <p:txBody>
            <a:bodyPr wrap="square" lIns="0" tIns="0" rIns="0" bIns="0" rtlCol="0"/>
            <a:lstStyle/>
            <a:p>
              <a:endParaRPr/>
            </a:p>
          </p:txBody>
        </p:sp>
        <p:sp>
          <p:nvSpPr>
            <p:cNvPr id="181" name="object 181"/>
            <p:cNvSpPr/>
            <p:nvPr/>
          </p:nvSpPr>
          <p:spPr>
            <a:xfrm>
              <a:off x="6203901" y="4801796"/>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82" name="object 182"/>
            <p:cNvSpPr/>
            <p:nvPr/>
          </p:nvSpPr>
          <p:spPr>
            <a:xfrm>
              <a:off x="6199264" y="3069542"/>
              <a:ext cx="0" cy="19050"/>
            </a:xfrm>
            <a:custGeom>
              <a:avLst/>
              <a:gdLst/>
              <a:ahLst/>
              <a:cxnLst/>
              <a:rect l="l" t="t" r="r" b="b"/>
              <a:pathLst>
                <a:path h="19050">
                  <a:moveTo>
                    <a:pt x="0" y="0"/>
                  </a:moveTo>
                  <a:lnTo>
                    <a:pt x="0" y="18638"/>
                  </a:lnTo>
                </a:path>
              </a:pathLst>
            </a:custGeom>
            <a:ln w="3175">
              <a:solidFill>
                <a:srgbClr val="000000"/>
              </a:solidFill>
            </a:ln>
          </p:spPr>
          <p:txBody>
            <a:bodyPr wrap="square" lIns="0" tIns="0" rIns="0" bIns="0" rtlCol="0"/>
            <a:lstStyle/>
            <a:p>
              <a:endParaRPr/>
            </a:p>
          </p:txBody>
        </p:sp>
        <p:sp>
          <p:nvSpPr>
            <p:cNvPr id="183" name="object 183"/>
            <p:cNvSpPr/>
            <p:nvPr/>
          </p:nvSpPr>
          <p:spPr>
            <a:xfrm>
              <a:off x="6203901" y="3092810"/>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84" name="object 184"/>
            <p:cNvSpPr/>
            <p:nvPr/>
          </p:nvSpPr>
          <p:spPr>
            <a:xfrm>
              <a:off x="6535413" y="4797142"/>
              <a:ext cx="0" cy="19050"/>
            </a:xfrm>
            <a:custGeom>
              <a:avLst/>
              <a:gdLst/>
              <a:ahLst/>
              <a:cxnLst/>
              <a:rect l="l" t="t" r="r" b="b"/>
              <a:pathLst>
                <a:path h="19050">
                  <a:moveTo>
                    <a:pt x="0" y="18626"/>
                  </a:moveTo>
                  <a:lnTo>
                    <a:pt x="0" y="0"/>
                  </a:lnTo>
                </a:path>
              </a:pathLst>
            </a:custGeom>
            <a:ln w="3175">
              <a:solidFill>
                <a:srgbClr val="000000"/>
              </a:solidFill>
            </a:ln>
          </p:spPr>
          <p:txBody>
            <a:bodyPr wrap="square" lIns="0" tIns="0" rIns="0" bIns="0" rtlCol="0"/>
            <a:lstStyle/>
            <a:p>
              <a:endParaRPr/>
            </a:p>
          </p:txBody>
        </p:sp>
        <p:sp>
          <p:nvSpPr>
            <p:cNvPr id="185" name="object 185"/>
            <p:cNvSpPr/>
            <p:nvPr/>
          </p:nvSpPr>
          <p:spPr>
            <a:xfrm>
              <a:off x="6540050" y="4801796"/>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86" name="object 186"/>
            <p:cNvSpPr/>
            <p:nvPr/>
          </p:nvSpPr>
          <p:spPr>
            <a:xfrm>
              <a:off x="6535413" y="3069542"/>
              <a:ext cx="0" cy="19050"/>
            </a:xfrm>
            <a:custGeom>
              <a:avLst/>
              <a:gdLst/>
              <a:ahLst/>
              <a:cxnLst/>
              <a:rect l="l" t="t" r="r" b="b"/>
              <a:pathLst>
                <a:path h="19050">
                  <a:moveTo>
                    <a:pt x="0" y="0"/>
                  </a:moveTo>
                  <a:lnTo>
                    <a:pt x="0" y="18638"/>
                  </a:lnTo>
                </a:path>
              </a:pathLst>
            </a:custGeom>
            <a:ln w="3175">
              <a:solidFill>
                <a:srgbClr val="000000"/>
              </a:solidFill>
            </a:ln>
          </p:spPr>
          <p:txBody>
            <a:bodyPr wrap="square" lIns="0" tIns="0" rIns="0" bIns="0" rtlCol="0"/>
            <a:lstStyle/>
            <a:p>
              <a:endParaRPr/>
            </a:p>
          </p:txBody>
        </p:sp>
        <p:sp>
          <p:nvSpPr>
            <p:cNvPr id="187" name="object 187"/>
            <p:cNvSpPr/>
            <p:nvPr/>
          </p:nvSpPr>
          <p:spPr>
            <a:xfrm>
              <a:off x="6540050" y="3092810"/>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188" name="object 188"/>
            <p:cNvSpPr/>
            <p:nvPr/>
          </p:nvSpPr>
          <p:spPr>
            <a:xfrm>
              <a:off x="4854550" y="3405745"/>
              <a:ext cx="9525" cy="0"/>
            </a:xfrm>
            <a:custGeom>
              <a:avLst/>
              <a:gdLst/>
              <a:ahLst/>
              <a:cxnLst/>
              <a:rect l="l" t="t" r="r" b="b"/>
              <a:pathLst>
                <a:path w="9525">
                  <a:moveTo>
                    <a:pt x="0" y="0"/>
                  </a:moveTo>
                  <a:lnTo>
                    <a:pt x="9322" y="0"/>
                  </a:lnTo>
                </a:path>
              </a:pathLst>
            </a:custGeom>
            <a:ln w="3175">
              <a:solidFill>
                <a:srgbClr val="000000"/>
              </a:solidFill>
            </a:ln>
          </p:spPr>
          <p:txBody>
            <a:bodyPr wrap="square" lIns="0" tIns="0" rIns="0" bIns="0" rtlCol="0"/>
            <a:lstStyle/>
            <a:p>
              <a:endParaRPr/>
            </a:p>
          </p:txBody>
        </p:sp>
        <p:sp>
          <p:nvSpPr>
            <p:cNvPr id="189" name="object 189"/>
            <p:cNvSpPr/>
            <p:nvPr/>
          </p:nvSpPr>
          <p:spPr>
            <a:xfrm>
              <a:off x="4868533" y="3410375"/>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90" name="object 190"/>
            <p:cNvSpPr/>
            <p:nvPr/>
          </p:nvSpPr>
          <p:spPr>
            <a:xfrm>
              <a:off x="6582024" y="3405745"/>
              <a:ext cx="19050" cy="0"/>
            </a:xfrm>
            <a:custGeom>
              <a:avLst/>
              <a:gdLst/>
              <a:ahLst/>
              <a:cxnLst/>
              <a:rect l="l" t="t" r="r" b="b"/>
              <a:pathLst>
                <a:path w="19050">
                  <a:moveTo>
                    <a:pt x="18906" y="0"/>
                  </a:moveTo>
                  <a:lnTo>
                    <a:pt x="0" y="0"/>
                  </a:lnTo>
                </a:path>
              </a:pathLst>
            </a:custGeom>
            <a:ln w="3175">
              <a:solidFill>
                <a:srgbClr val="000000"/>
              </a:solidFill>
            </a:ln>
          </p:spPr>
          <p:txBody>
            <a:bodyPr wrap="square" lIns="0" tIns="0" rIns="0" bIns="0" rtlCol="0"/>
            <a:lstStyle/>
            <a:p>
              <a:endParaRPr/>
            </a:p>
          </p:txBody>
        </p:sp>
        <p:sp>
          <p:nvSpPr>
            <p:cNvPr id="191" name="object 191"/>
            <p:cNvSpPr/>
            <p:nvPr/>
          </p:nvSpPr>
          <p:spPr>
            <a:xfrm>
              <a:off x="6586661" y="3410375"/>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grpSp>
      <p:sp>
        <p:nvSpPr>
          <p:cNvPr id="192" name="object 192"/>
          <p:cNvSpPr txBox="1"/>
          <p:nvPr/>
        </p:nvSpPr>
        <p:spPr>
          <a:xfrm>
            <a:off x="4671223" y="2760892"/>
            <a:ext cx="156210"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50</a:t>
            </a:r>
            <a:endParaRPr sz="950">
              <a:latin typeface="Arial MT"/>
              <a:cs typeface="Arial MT"/>
            </a:endParaRPr>
          </a:p>
        </p:txBody>
      </p:sp>
      <p:grpSp>
        <p:nvGrpSpPr>
          <p:cNvPr id="193" name="object 193"/>
          <p:cNvGrpSpPr/>
          <p:nvPr/>
        </p:nvGrpSpPr>
        <p:grpSpPr>
          <a:xfrm>
            <a:off x="4851058" y="3183587"/>
            <a:ext cx="1748789" cy="10795"/>
            <a:chOff x="4853597" y="3741115"/>
            <a:chExt cx="1748789" cy="10795"/>
          </a:xfrm>
        </p:grpSpPr>
        <p:sp>
          <p:nvSpPr>
            <p:cNvPr id="194" name="object 194"/>
            <p:cNvSpPr/>
            <p:nvPr/>
          </p:nvSpPr>
          <p:spPr>
            <a:xfrm>
              <a:off x="4854550" y="3742067"/>
              <a:ext cx="9525" cy="0"/>
            </a:xfrm>
            <a:custGeom>
              <a:avLst/>
              <a:gdLst/>
              <a:ahLst/>
              <a:cxnLst/>
              <a:rect l="l" t="t" r="r" b="b"/>
              <a:pathLst>
                <a:path w="9525">
                  <a:moveTo>
                    <a:pt x="0" y="0"/>
                  </a:moveTo>
                  <a:lnTo>
                    <a:pt x="9322" y="0"/>
                  </a:lnTo>
                </a:path>
              </a:pathLst>
            </a:custGeom>
            <a:ln w="3175">
              <a:solidFill>
                <a:srgbClr val="000000"/>
              </a:solidFill>
            </a:ln>
          </p:spPr>
          <p:txBody>
            <a:bodyPr wrap="square" lIns="0" tIns="0" rIns="0" bIns="0" rtlCol="0"/>
            <a:lstStyle/>
            <a:p>
              <a:endParaRPr/>
            </a:p>
          </p:txBody>
        </p:sp>
        <p:sp>
          <p:nvSpPr>
            <p:cNvPr id="195" name="object 195"/>
            <p:cNvSpPr/>
            <p:nvPr/>
          </p:nvSpPr>
          <p:spPr>
            <a:xfrm>
              <a:off x="4868533" y="3746697"/>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196" name="object 196"/>
            <p:cNvSpPr/>
            <p:nvPr/>
          </p:nvSpPr>
          <p:spPr>
            <a:xfrm>
              <a:off x="6582024" y="3742067"/>
              <a:ext cx="19050" cy="0"/>
            </a:xfrm>
            <a:custGeom>
              <a:avLst/>
              <a:gdLst/>
              <a:ahLst/>
              <a:cxnLst/>
              <a:rect l="l" t="t" r="r" b="b"/>
              <a:pathLst>
                <a:path w="19050">
                  <a:moveTo>
                    <a:pt x="18906" y="0"/>
                  </a:moveTo>
                  <a:lnTo>
                    <a:pt x="0" y="0"/>
                  </a:lnTo>
                </a:path>
              </a:pathLst>
            </a:custGeom>
            <a:ln w="3175">
              <a:solidFill>
                <a:srgbClr val="000000"/>
              </a:solidFill>
            </a:ln>
          </p:spPr>
          <p:txBody>
            <a:bodyPr wrap="square" lIns="0" tIns="0" rIns="0" bIns="0" rtlCol="0"/>
            <a:lstStyle/>
            <a:p>
              <a:endParaRPr/>
            </a:p>
          </p:txBody>
        </p:sp>
        <p:sp>
          <p:nvSpPr>
            <p:cNvPr id="197" name="object 197"/>
            <p:cNvSpPr/>
            <p:nvPr/>
          </p:nvSpPr>
          <p:spPr>
            <a:xfrm>
              <a:off x="6586661" y="3746697"/>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grpSp>
      <p:sp>
        <p:nvSpPr>
          <p:cNvPr id="198" name="object 198"/>
          <p:cNvSpPr txBox="1"/>
          <p:nvPr/>
        </p:nvSpPr>
        <p:spPr>
          <a:xfrm>
            <a:off x="4605974" y="3097096"/>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100</a:t>
            </a:r>
            <a:endParaRPr sz="950">
              <a:latin typeface="Arial MT"/>
              <a:cs typeface="Arial MT"/>
            </a:endParaRPr>
          </a:p>
        </p:txBody>
      </p:sp>
      <p:grpSp>
        <p:nvGrpSpPr>
          <p:cNvPr id="199" name="object 199"/>
          <p:cNvGrpSpPr/>
          <p:nvPr/>
        </p:nvGrpSpPr>
        <p:grpSpPr>
          <a:xfrm>
            <a:off x="4851058" y="3519540"/>
            <a:ext cx="1748789" cy="10795"/>
            <a:chOff x="4853597" y="4077068"/>
            <a:chExt cx="1748789" cy="10795"/>
          </a:xfrm>
        </p:grpSpPr>
        <p:sp>
          <p:nvSpPr>
            <p:cNvPr id="200" name="object 200"/>
            <p:cNvSpPr/>
            <p:nvPr/>
          </p:nvSpPr>
          <p:spPr>
            <a:xfrm>
              <a:off x="4854550" y="4078021"/>
              <a:ext cx="9525" cy="0"/>
            </a:xfrm>
            <a:custGeom>
              <a:avLst/>
              <a:gdLst/>
              <a:ahLst/>
              <a:cxnLst/>
              <a:rect l="l" t="t" r="r" b="b"/>
              <a:pathLst>
                <a:path w="9525">
                  <a:moveTo>
                    <a:pt x="0" y="0"/>
                  </a:moveTo>
                  <a:lnTo>
                    <a:pt x="9322" y="0"/>
                  </a:lnTo>
                </a:path>
              </a:pathLst>
            </a:custGeom>
            <a:ln w="3175">
              <a:solidFill>
                <a:srgbClr val="000000"/>
              </a:solidFill>
            </a:ln>
          </p:spPr>
          <p:txBody>
            <a:bodyPr wrap="square" lIns="0" tIns="0" rIns="0" bIns="0" rtlCol="0"/>
            <a:lstStyle/>
            <a:p>
              <a:endParaRPr/>
            </a:p>
          </p:txBody>
        </p:sp>
        <p:sp>
          <p:nvSpPr>
            <p:cNvPr id="201" name="object 201"/>
            <p:cNvSpPr/>
            <p:nvPr/>
          </p:nvSpPr>
          <p:spPr>
            <a:xfrm>
              <a:off x="4868533" y="4082675"/>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202" name="object 202"/>
            <p:cNvSpPr/>
            <p:nvPr/>
          </p:nvSpPr>
          <p:spPr>
            <a:xfrm>
              <a:off x="6582024" y="4078021"/>
              <a:ext cx="19050" cy="0"/>
            </a:xfrm>
            <a:custGeom>
              <a:avLst/>
              <a:gdLst/>
              <a:ahLst/>
              <a:cxnLst/>
              <a:rect l="l" t="t" r="r" b="b"/>
              <a:pathLst>
                <a:path w="19050">
                  <a:moveTo>
                    <a:pt x="18906" y="0"/>
                  </a:moveTo>
                  <a:lnTo>
                    <a:pt x="0" y="0"/>
                  </a:lnTo>
                </a:path>
              </a:pathLst>
            </a:custGeom>
            <a:ln w="3175">
              <a:solidFill>
                <a:srgbClr val="000000"/>
              </a:solidFill>
            </a:ln>
          </p:spPr>
          <p:txBody>
            <a:bodyPr wrap="square" lIns="0" tIns="0" rIns="0" bIns="0" rtlCol="0"/>
            <a:lstStyle/>
            <a:p>
              <a:endParaRPr/>
            </a:p>
          </p:txBody>
        </p:sp>
        <p:sp>
          <p:nvSpPr>
            <p:cNvPr id="203" name="object 203"/>
            <p:cNvSpPr/>
            <p:nvPr/>
          </p:nvSpPr>
          <p:spPr>
            <a:xfrm>
              <a:off x="6586661" y="4082675"/>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grpSp>
      <p:sp>
        <p:nvSpPr>
          <p:cNvPr id="204" name="object 204"/>
          <p:cNvSpPr txBox="1"/>
          <p:nvPr/>
        </p:nvSpPr>
        <p:spPr>
          <a:xfrm>
            <a:off x="4605974" y="3433382"/>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150</a:t>
            </a:r>
            <a:endParaRPr sz="950">
              <a:latin typeface="Arial MT"/>
              <a:cs typeface="Arial MT"/>
            </a:endParaRPr>
          </a:p>
        </p:txBody>
      </p:sp>
      <p:grpSp>
        <p:nvGrpSpPr>
          <p:cNvPr id="205" name="object 205"/>
          <p:cNvGrpSpPr/>
          <p:nvPr/>
        </p:nvGrpSpPr>
        <p:grpSpPr>
          <a:xfrm>
            <a:off x="4851058" y="3865122"/>
            <a:ext cx="1748789" cy="10795"/>
            <a:chOff x="4853597" y="4422650"/>
            <a:chExt cx="1748789" cy="10795"/>
          </a:xfrm>
        </p:grpSpPr>
        <p:sp>
          <p:nvSpPr>
            <p:cNvPr id="206" name="object 206"/>
            <p:cNvSpPr/>
            <p:nvPr/>
          </p:nvSpPr>
          <p:spPr>
            <a:xfrm>
              <a:off x="4854550" y="4423603"/>
              <a:ext cx="9525" cy="0"/>
            </a:xfrm>
            <a:custGeom>
              <a:avLst/>
              <a:gdLst/>
              <a:ahLst/>
              <a:cxnLst/>
              <a:rect l="l" t="t" r="r" b="b"/>
              <a:pathLst>
                <a:path w="9525">
                  <a:moveTo>
                    <a:pt x="0" y="0"/>
                  </a:moveTo>
                  <a:lnTo>
                    <a:pt x="9322" y="0"/>
                  </a:lnTo>
                </a:path>
              </a:pathLst>
            </a:custGeom>
            <a:ln w="3175">
              <a:solidFill>
                <a:srgbClr val="000000"/>
              </a:solidFill>
            </a:ln>
          </p:spPr>
          <p:txBody>
            <a:bodyPr wrap="square" lIns="0" tIns="0" rIns="0" bIns="0" rtlCol="0"/>
            <a:lstStyle/>
            <a:p>
              <a:endParaRPr/>
            </a:p>
          </p:txBody>
        </p:sp>
        <p:sp>
          <p:nvSpPr>
            <p:cNvPr id="207" name="object 207"/>
            <p:cNvSpPr/>
            <p:nvPr/>
          </p:nvSpPr>
          <p:spPr>
            <a:xfrm>
              <a:off x="4868533" y="4428256"/>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208" name="object 208"/>
            <p:cNvSpPr/>
            <p:nvPr/>
          </p:nvSpPr>
          <p:spPr>
            <a:xfrm>
              <a:off x="6582024" y="4423603"/>
              <a:ext cx="19050" cy="0"/>
            </a:xfrm>
            <a:custGeom>
              <a:avLst/>
              <a:gdLst/>
              <a:ahLst/>
              <a:cxnLst/>
              <a:rect l="l" t="t" r="r" b="b"/>
              <a:pathLst>
                <a:path w="19050">
                  <a:moveTo>
                    <a:pt x="18906" y="0"/>
                  </a:moveTo>
                  <a:lnTo>
                    <a:pt x="0" y="0"/>
                  </a:lnTo>
                </a:path>
              </a:pathLst>
            </a:custGeom>
            <a:ln w="3175">
              <a:solidFill>
                <a:srgbClr val="000000"/>
              </a:solidFill>
            </a:ln>
          </p:spPr>
          <p:txBody>
            <a:bodyPr wrap="square" lIns="0" tIns="0" rIns="0" bIns="0" rtlCol="0"/>
            <a:lstStyle/>
            <a:p>
              <a:endParaRPr/>
            </a:p>
          </p:txBody>
        </p:sp>
        <p:sp>
          <p:nvSpPr>
            <p:cNvPr id="209" name="object 209"/>
            <p:cNvSpPr/>
            <p:nvPr/>
          </p:nvSpPr>
          <p:spPr>
            <a:xfrm>
              <a:off x="6586661" y="4428256"/>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grpSp>
      <p:sp>
        <p:nvSpPr>
          <p:cNvPr id="210" name="object 210"/>
          <p:cNvSpPr txBox="1"/>
          <p:nvPr/>
        </p:nvSpPr>
        <p:spPr>
          <a:xfrm>
            <a:off x="4605974" y="3778964"/>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200</a:t>
            </a:r>
            <a:endParaRPr sz="950">
              <a:latin typeface="Arial MT"/>
              <a:cs typeface="Arial MT"/>
            </a:endParaRPr>
          </a:p>
        </p:txBody>
      </p:sp>
      <p:grpSp>
        <p:nvGrpSpPr>
          <p:cNvPr id="211" name="object 211"/>
          <p:cNvGrpSpPr/>
          <p:nvPr/>
        </p:nvGrpSpPr>
        <p:grpSpPr>
          <a:xfrm>
            <a:off x="4851058" y="4201385"/>
            <a:ext cx="1748789" cy="10795"/>
            <a:chOff x="4853597" y="4758913"/>
            <a:chExt cx="1748789" cy="10795"/>
          </a:xfrm>
        </p:grpSpPr>
        <p:sp>
          <p:nvSpPr>
            <p:cNvPr id="212" name="object 212"/>
            <p:cNvSpPr/>
            <p:nvPr/>
          </p:nvSpPr>
          <p:spPr>
            <a:xfrm>
              <a:off x="4854550" y="4759865"/>
              <a:ext cx="9525" cy="0"/>
            </a:xfrm>
            <a:custGeom>
              <a:avLst/>
              <a:gdLst/>
              <a:ahLst/>
              <a:cxnLst/>
              <a:rect l="l" t="t" r="r" b="b"/>
              <a:pathLst>
                <a:path w="9525">
                  <a:moveTo>
                    <a:pt x="0" y="0"/>
                  </a:moveTo>
                  <a:lnTo>
                    <a:pt x="9322" y="0"/>
                  </a:lnTo>
                </a:path>
              </a:pathLst>
            </a:custGeom>
            <a:ln w="3175">
              <a:solidFill>
                <a:srgbClr val="000000"/>
              </a:solidFill>
            </a:ln>
          </p:spPr>
          <p:txBody>
            <a:bodyPr wrap="square" lIns="0" tIns="0" rIns="0" bIns="0" rtlCol="0"/>
            <a:lstStyle/>
            <a:p>
              <a:endParaRPr/>
            </a:p>
          </p:txBody>
        </p:sp>
        <p:sp>
          <p:nvSpPr>
            <p:cNvPr id="213" name="object 213"/>
            <p:cNvSpPr/>
            <p:nvPr/>
          </p:nvSpPr>
          <p:spPr>
            <a:xfrm>
              <a:off x="4868533" y="4764531"/>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sp>
          <p:nvSpPr>
            <p:cNvPr id="214" name="object 214"/>
            <p:cNvSpPr/>
            <p:nvPr/>
          </p:nvSpPr>
          <p:spPr>
            <a:xfrm>
              <a:off x="6582024" y="4759865"/>
              <a:ext cx="19050" cy="0"/>
            </a:xfrm>
            <a:custGeom>
              <a:avLst/>
              <a:gdLst/>
              <a:ahLst/>
              <a:cxnLst/>
              <a:rect l="l" t="t" r="r" b="b"/>
              <a:pathLst>
                <a:path w="19050">
                  <a:moveTo>
                    <a:pt x="18906" y="0"/>
                  </a:moveTo>
                  <a:lnTo>
                    <a:pt x="0" y="0"/>
                  </a:lnTo>
                </a:path>
              </a:pathLst>
            </a:custGeom>
            <a:ln w="3175">
              <a:solidFill>
                <a:srgbClr val="000000"/>
              </a:solidFill>
            </a:ln>
          </p:spPr>
          <p:txBody>
            <a:bodyPr wrap="square" lIns="0" tIns="0" rIns="0" bIns="0" rtlCol="0"/>
            <a:lstStyle/>
            <a:p>
              <a:endParaRPr/>
            </a:p>
          </p:txBody>
        </p:sp>
        <p:sp>
          <p:nvSpPr>
            <p:cNvPr id="215" name="object 215"/>
            <p:cNvSpPr/>
            <p:nvPr/>
          </p:nvSpPr>
          <p:spPr>
            <a:xfrm>
              <a:off x="6586661" y="4764531"/>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grpSp>
      <p:sp>
        <p:nvSpPr>
          <p:cNvPr id="216" name="object 216"/>
          <p:cNvSpPr txBox="1"/>
          <p:nvPr/>
        </p:nvSpPr>
        <p:spPr>
          <a:xfrm>
            <a:off x="4605974" y="4114941"/>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250</a:t>
            </a:r>
            <a:endParaRPr sz="950">
              <a:latin typeface="Arial MT"/>
              <a:cs typeface="Arial MT"/>
            </a:endParaRPr>
          </a:p>
        </p:txBody>
      </p:sp>
      <p:grpSp>
        <p:nvGrpSpPr>
          <p:cNvPr id="217" name="object 217"/>
          <p:cNvGrpSpPr/>
          <p:nvPr/>
        </p:nvGrpSpPr>
        <p:grpSpPr>
          <a:xfrm>
            <a:off x="4851057" y="2511061"/>
            <a:ext cx="4053840" cy="1757045"/>
            <a:chOff x="4853597" y="3068589"/>
            <a:chExt cx="4053840" cy="1757045"/>
          </a:xfrm>
        </p:grpSpPr>
        <p:sp>
          <p:nvSpPr>
            <p:cNvPr id="218" name="object 218"/>
            <p:cNvSpPr/>
            <p:nvPr/>
          </p:nvSpPr>
          <p:spPr>
            <a:xfrm>
              <a:off x="4854550" y="4815769"/>
              <a:ext cx="1746885" cy="0"/>
            </a:xfrm>
            <a:custGeom>
              <a:avLst/>
              <a:gdLst/>
              <a:ahLst/>
              <a:cxnLst/>
              <a:rect l="l" t="t" r="r" b="b"/>
              <a:pathLst>
                <a:path w="1746884">
                  <a:moveTo>
                    <a:pt x="0" y="0"/>
                  </a:moveTo>
                  <a:lnTo>
                    <a:pt x="1746380" y="0"/>
                  </a:lnTo>
                </a:path>
              </a:pathLst>
            </a:custGeom>
            <a:ln w="3175">
              <a:solidFill>
                <a:srgbClr val="000000"/>
              </a:solidFill>
            </a:ln>
          </p:spPr>
          <p:txBody>
            <a:bodyPr wrap="square" lIns="0" tIns="0" rIns="0" bIns="0" rtlCol="0"/>
            <a:lstStyle/>
            <a:p>
              <a:endParaRPr/>
            </a:p>
          </p:txBody>
        </p:sp>
        <p:sp>
          <p:nvSpPr>
            <p:cNvPr id="219" name="object 219"/>
            <p:cNvSpPr/>
            <p:nvPr/>
          </p:nvSpPr>
          <p:spPr>
            <a:xfrm>
              <a:off x="6605568" y="482042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20" name="object 220"/>
            <p:cNvSpPr/>
            <p:nvPr/>
          </p:nvSpPr>
          <p:spPr>
            <a:xfrm>
              <a:off x="4854550" y="3069542"/>
              <a:ext cx="1746885" cy="0"/>
            </a:xfrm>
            <a:custGeom>
              <a:avLst/>
              <a:gdLst/>
              <a:ahLst/>
              <a:cxnLst/>
              <a:rect l="l" t="t" r="r" b="b"/>
              <a:pathLst>
                <a:path w="1746884">
                  <a:moveTo>
                    <a:pt x="0" y="0"/>
                  </a:moveTo>
                  <a:lnTo>
                    <a:pt x="1746380" y="0"/>
                  </a:lnTo>
                </a:path>
              </a:pathLst>
            </a:custGeom>
            <a:ln w="3175">
              <a:solidFill>
                <a:srgbClr val="000000"/>
              </a:solidFill>
            </a:ln>
          </p:spPr>
          <p:txBody>
            <a:bodyPr wrap="square" lIns="0" tIns="0" rIns="0" bIns="0" rtlCol="0"/>
            <a:lstStyle/>
            <a:p>
              <a:endParaRPr/>
            </a:p>
          </p:txBody>
        </p:sp>
        <p:sp>
          <p:nvSpPr>
            <p:cNvPr id="221" name="object 221"/>
            <p:cNvSpPr/>
            <p:nvPr/>
          </p:nvSpPr>
          <p:spPr>
            <a:xfrm>
              <a:off x="6605568" y="307417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22" name="object 222"/>
            <p:cNvSpPr/>
            <p:nvPr/>
          </p:nvSpPr>
          <p:spPr>
            <a:xfrm>
              <a:off x="6600930" y="3069542"/>
              <a:ext cx="0" cy="1746250"/>
            </a:xfrm>
            <a:custGeom>
              <a:avLst/>
              <a:gdLst/>
              <a:ahLst/>
              <a:cxnLst/>
              <a:rect l="l" t="t" r="r" b="b"/>
              <a:pathLst>
                <a:path h="1746250">
                  <a:moveTo>
                    <a:pt x="0" y="0"/>
                  </a:moveTo>
                  <a:lnTo>
                    <a:pt x="0" y="1746226"/>
                  </a:lnTo>
                </a:path>
              </a:pathLst>
            </a:custGeom>
            <a:ln w="3175">
              <a:solidFill>
                <a:srgbClr val="000000"/>
              </a:solidFill>
            </a:ln>
          </p:spPr>
          <p:txBody>
            <a:bodyPr wrap="square" lIns="0" tIns="0" rIns="0" bIns="0" rtlCol="0"/>
            <a:lstStyle/>
            <a:p>
              <a:endParaRPr/>
            </a:p>
          </p:txBody>
        </p:sp>
        <p:sp>
          <p:nvSpPr>
            <p:cNvPr id="223" name="object 223"/>
            <p:cNvSpPr/>
            <p:nvPr/>
          </p:nvSpPr>
          <p:spPr>
            <a:xfrm>
              <a:off x="6605568" y="482042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24" name="object 224"/>
            <p:cNvSpPr/>
            <p:nvPr/>
          </p:nvSpPr>
          <p:spPr>
            <a:xfrm>
              <a:off x="4854550" y="3069542"/>
              <a:ext cx="0" cy="1746250"/>
            </a:xfrm>
            <a:custGeom>
              <a:avLst/>
              <a:gdLst/>
              <a:ahLst/>
              <a:cxnLst/>
              <a:rect l="l" t="t" r="r" b="b"/>
              <a:pathLst>
                <a:path h="1746250">
                  <a:moveTo>
                    <a:pt x="0" y="0"/>
                  </a:moveTo>
                  <a:lnTo>
                    <a:pt x="0" y="1746226"/>
                  </a:lnTo>
                </a:path>
              </a:pathLst>
            </a:custGeom>
            <a:ln w="3175">
              <a:solidFill>
                <a:srgbClr val="000000"/>
              </a:solidFill>
            </a:ln>
          </p:spPr>
          <p:txBody>
            <a:bodyPr wrap="square" lIns="0" tIns="0" rIns="0" bIns="0" rtlCol="0"/>
            <a:lstStyle/>
            <a:p>
              <a:endParaRPr/>
            </a:p>
          </p:txBody>
        </p:sp>
        <p:sp>
          <p:nvSpPr>
            <p:cNvPr id="225" name="object 225"/>
            <p:cNvSpPr/>
            <p:nvPr/>
          </p:nvSpPr>
          <p:spPr>
            <a:xfrm>
              <a:off x="4859211" y="4820422"/>
              <a:ext cx="9525" cy="0"/>
            </a:xfrm>
            <a:custGeom>
              <a:avLst/>
              <a:gdLst/>
              <a:ahLst/>
              <a:cxnLst/>
              <a:rect l="l" t="t" r="r" b="b"/>
              <a:pathLst>
                <a:path w="9525">
                  <a:moveTo>
                    <a:pt x="0" y="0"/>
                  </a:moveTo>
                  <a:lnTo>
                    <a:pt x="9322" y="0"/>
                  </a:lnTo>
                </a:path>
              </a:pathLst>
            </a:custGeom>
            <a:ln w="9316">
              <a:solidFill>
                <a:srgbClr val="000000"/>
              </a:solidFill>
            </a:ln>
          </p:spPr>
          <p:txBody>
            <a:bodyPr wrap="square" lIns="0" tIns="0" rIns="0" bIns="0" rtlCol="0"/>
            <a:lstStyle/>
            <a:p>
              <a:endParaRPr/>
            </a:p>
          </p:txBody>
        </p:sp>
        <p:pic>
          <p:nvPicPr>
            <p:cNvPr id="226" name="object 226"/>
            <p:cNvPicPr/>
            <p:nvPr/>
          </p:nvPicPr>
          <p:blipFill>
            <a:blip r:embed="rId6" cstate="print"/>
            <a:stretch>
              <a:fillRect/>
            </a:stretch>
          </p:blipFill>
          <p:spPr>
            <a:xfrm>
              <a:off x="7151824" y="3069518"/>
              <a:ext cx="1755417" cy="1755569"/>
            </a:xfrm>
            <a:prstGeom prst="rect">
              <a:avLst/>
            </a:prstGeom>
          </p:spPr>
        </p:pic>
      </p:grpSp>
      <p:sp>
        <p:nvSpPr>
          <p:cNvPr id="227" name="object 227"/>
          <p:cNvSpPr txBox="1"/>
          <p:nvPr/>
        </p:nvSpPr>
        <p:spPr>
          <a:xfrm>
            <a:off x="7248713" y="2284486"/>
            <a:ext cx="1536700" cy="159659"/>
          </a:xfrm>
          <a:prstGeom prst="rect">
            <a:avLst/>
          </a:prstGeom>
        </p:spPr>
        <p:txBody>
          <a:bodyPr vert="horz" wrap="square" lIns="0" tIns="13335" rIns="0" bIns="0" rtlCol="0">
            <a:spAutoFit/>
          </a:bodyPr>
          <a:lstStyle/>
          <a:p>
            <a:pPr marL="12700">
              <a:spcBef>
                <a:spcPts val="105"/>
              </a:spcBef>
            </a:pPr>
            <a:r>
              <a:rPr sz="950" dirty="0">
                <a:latin typeface="Arial MT"/>
                <a:cs typeface="Arial MT"/>
              </a:rPr>
              <a:t>filtered</a:t>
            </a:r>
            <a:r>
              <a:rPr sz="950" spc="-10" dirty="0">
                <a:latin typeface="Arial MT"/>
                <a:cs typeface="Arial MT"/>
              </a:rPr>
              <a:t> </a:t>
            </a:r>
            <a:r>
              <a:rPr sz="950" dirty="0">
                <a:latin typeface="Arial MT"/>
                <a:cs typeface="Arial MT"/>
              </a:rPr>
              <a:t>backprojected</a:t>
            </a:r>
            <a:r>
              <a:rPr sz="950" spc="-10" dirty="0">
                <a:latin typeface="Arial MT"/>
                <a:cs typeface="Arial MT"/>
              </a:rPr>
              <a:t> </a:t>
            </a:r>
            <a:r>
              <a:rPr sz="950" spc="-20" dirty="0">
                <a:latin typeface="Arial MT"/>
                <a:cs typeface="Arial MT"/>
              </a:rPr>
              <a:t>image</a:t>
            </a:r>
            <a:endParaRPr sz="950">
              <a:latin typeface="Arial MT"/>
              <a:cs typeface="Arial MT"/>
            </a:endParaRPr>
          </a:p>
        </p:txBody>
      </p:sp>
      <p:grpSp>
        <p:nvGrpSpPr>
          <p:cNvPr id="228" name="object 228"/>
          <p:cNvGrpSpPr/>
          <p:nvPr/>
        </p:nvGrpSpPr>
        <p:grpSpPr>
          <a:xfrm>
            <a:off x="7148332" y="2511061"/>
            <a:ext cx="1775460" cy="1765935"/>
            <a:chOff x="7150872" y="3068589"/>
            <a:chExt cx="1775460" cy="1765935"/>
          </a:xfrm>
        </p:grpSpPr>
        <p:sp>
          <p:nvSpPr>
            <p:cNvPr id="229" name="object 229"/>
            <p:cNvSpPr/>
            <p:nvPr/>
          </p:nvSpPr>
          <p:spPr>
            <a:xfrm>
              <a:off x="7151824" y="4825088"/>
              <a:ext cx="1755775" cy="0"/>
            </a:xfrm>
            <a:custGeom>
              <a:avLst/>
              <a:gdLst/>
              <a:ahLst/>
              <a:cxnLst/>
              <a:rect l="l" t="t" r="r" b="b"/>
              <a:pathLst>
                <a:path w="1755775">
                  <a:moveTo>
                    <a:pt x="0" y="0"/>
                  </a:moveTo>
                  <a:lnTo>
                    <a:pt x="1755417" y="0"/>
                  </a:lnTo>
                </a:path>
              </a:pathLst>
            </a:custGeom>
            <a:ln w="3175">
              <a:solidFill>
                <a:srgbClr val="000000"/>
              </a:solidFill>
            </a:ln>
          </p:spPr>
          <p:txBody>
            <a:bodyPr wrap="square" lIns="0" tIns="0" rIns="0" bIns="0" rtlCol="0"/>
            <a:lstStyle/>
            <a:p>
              <a:endParaRPr/>
            </a:p>
          </p:txBody>
        </p:sp>
        <p:sp>
          <p:nvSpPr>
            <p:cNvPr id="230" name="object 230"/>
            <p:cNvSpPr/>
            <p:nvPr/>
          </p:nvSpPr>
          <p:spPr>
            <a:xfrm>
              <a:off x="8911879" y="482974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31" name="object 231"/>
            <p:cNvSpPr/>
            <p:nvPr/>
          </p:nvSpPr>
          <p:spPr>
            <a:xfrm>
              <a:off x="7151824" y="3069542"/>
              <a:ext cx="1755775" cy="0"/>
            </a:xfrm>
            <a:custGeom>
              <a:avLst/>
              <a:gdLst/>
              <a:ahLst/>
              <a:cxnLst/>
              <a:rect l="l" t="t" r="r" b="b"/>
              <a:pathLst>
                <a:path w="1755775">
                  <a:moveTo>
                    <a:pt x="0" y="0"/>
                  </a:moveTo>
                  <a:lnTo>
                    <a:pt x="1755417" y="0"/>
                  </a:lnTo>
                </a:path>
              </a:pathLst>
            </a:custGeom>
            <a:ln w="3175">
              <a:solidFill>
                <a:srgbClr val="000000"/>
              </a:solidFill>
            </a:ln>
          </p:spPr>
          <p:txBody>
            <a:bodyPr wrap="square" lIns="0" tIns="0" rIns="0" bIns="0" rtlCol="0"/>
            <a:lstStyle/>
            <a:p>
              <a:endParaRPr/>
            </a:p>
          </p:txBody>
        </p:sp>
        <p:sp>
          <p:nvSpPr>
            <p:cNvPr id="232" name="object 232"/>
            <p:cNvSpPr/>
            <p:nvPr/>
          </p:nvSpPr>
          <p:spPr>
            <a:xfrm>
              <a:off x="8911879" y="307417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33" name="object 233"/>
            <p:cNvSpPr/>
            <p:nvPr/>
          </p:nvSpPr>
          <p:spPr>
            <a:xfrm>
              <a:off x="8907242" y="3069542"/>
              <a:ext cx="0" cy="1755775"/>
            </a:xfrm>
            <a:custGeom>
              <a:avLst/>
              <a:gdLst/>
              <a:ahLst/>
              <a:cxnLst/>
              <a:rect l="l" t="t" r="r" b="b"/>
              <a:pathLst>
                <a:path h="1755775">
                  <a:moveTo>
                    <a:pt x="0" y="0"/>
                  </a:moveTo>
                  <a:lnTo>
                    <a:pt x="0" y="1755546"/>
                  </a:lnTo>
                </a:path>
              </a:pathLst>
            </a:custGeom>
            <a:ln w="3175">
              <a:solidFill>
                <a:srgbClr val="000000"/>
              </a:solidFill>
            </a:ln>
          </p:spPr>
          <p:txBody>
            <a:bodyPr wrap="square" lIns="0" tIns="0" rIns="0" bIns="0" rtlCol="0"/>
            <a:lstStyle/>
            <a:p>
              <a:endParaRPr/>
            </a:p>
          </p:txBody>
        </p:sp>
        <p:sp>
          <p:nvSpPr>
            <p:cNvPr id="234" name="object 234"/>
            <p:cNvSpPr/>
            <p:nvPr/>
          </p:nvSpPr>
          <p:spPr>
            <a:xfrm>
              <a:off x="8911879" y="482974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35" name="object 235"/>
            <p:cNvSpPr/>
            <p:nvPr/>
          </p:nvSpPr>
          <p:spPr>
            <a:xfrm>
              <a:off x="7151824" y="3069542"/>
              <a:ext cx="0" cy="1755775"/>
            </a:xfrm>
            <a:custGeom>
              <a:avLst/>
              <a:gdLst/>
              <a:ahLst/>
              <a:cxnLst/>
              <a:rect l="l" t="t" r="r" b="b"/>
              <a:pathLst>
                <a:path h="1755775">
                  <a:moveTo>
                    <a:pt x="0" y="0"/>
                  </a:moveTo>
                  <a:lnTo>
                    <a:pt x="0" y="1755546"/>
                  </a:lnTo>
                </a:path>
              </a:pathLst>
            </a:custGeom>
            <a:ln w="3175">
              <a:solidFill>
                <a:srgbClr val="000000"/>
              </a:solidFill>
            </a:ln>
          </p:spPr>
          <p:txBody>
            <a:bodyPr wrap="square" lIns="0" tIns="0" rIns="0" bIns="0" rtlCol="0"/>
            <a:lstStyle/>
            <a:p>
              <a:endParaRPr/>
            </a:p>
          </p:txBody>
        </p:sp>
        <p:sp>
          <p:nvSpPr>
            <p:cNvPr id="236" name="object 236"/>
            <p:cNvSpPr/>
            <p:nvPr/>
          </p:nvSpPr>
          <p:spPr>
            <a:xfrm>
              <a:off x="7156461" y="482974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37" name="object 237"/>
            <p:cNvSpPr/>
            <p:nvPr/>
          </p:nvSpPr>
          <p:spPr>
            <a:xfrm>
              <a:off x="7151824" y="4825088"/>
              <a:ext cx="1755775" cy="0"/>
            </a:xfrm>
            <a:custGeom>
              <a:avLst/>
              <a:gdLst/>
              <a:ahLst/>
              <a:cxnLst/>
              <a:rect l="l" t="t" r="r" b="b"/>
              <a:pathLst>
                <a:path w="1755775">
                  <a:moveTo>
                    <a:pt x="0" y="0"/>
                  </a:moveTo>
                  <a:lnTo>
                    <a:pt x="1755417" y="0"/>
                  </a:lnTo>
                </a:path>
              </a:pathLst>
            </a:custGeom>
            <a:ln w="3175">
              <a:solidFill>
                <a:srgbClr val="000000"/>
              </a:solidFill>
            </a:ln>
          </p:spPr>
          <p:txBody>
            <a:bodyPr wrap="square" lIns="0" tIns="0" rIns="0" bIns="0" rtlCol="0"/>
            <a:lstStyle/>
            <a:p>
              <a:endParaRPr/>
            </a:p>
          </p:txBody>
        </p:sp>
        <p:sp>
          <p:nvSpPr>
            <p:cNvPr id="238" name="object 238"/>
            <p:cNvSpPr/>
            <p:nvPr/>
          </p:nvSpPr>
          <p:spPr>
            <a:xfrm>
              <a:off x="8911879" y="482974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39" name="object 239"/>
            <p:cNvSpPr/>
            <p:nvPr/>
          </p:nvSpPr>
          <p:spPr>
            <a:xfrm>
              <a:off x="7151824" y="3069542"/>
              <a:ext cx="0" cy="1755775"/>
            </a:xfrm>
            <a:custGeom>
              <a:avLst/>
              <a:gdLst/>
              <a:ahLst/>
              <a:cxnLst/>
              <a:rect l="l" t="t" r="r" b="b"/>
              <a:pathLst>
                <a:path h="1755775">
                  <a:moveTo>
                    <a:pt x="0" y="0"/>
                  </a:moveTo>
                  <a:lnTo>
                    <a:pt x="0" y="1755546"/>
                  </a:lnTo>
                </a:path>
              </a:pathLst>
            </a:custGeom>
            <a:ln w="3175">
              <a:solidFill>
                <a:srgbClr val="000000"/>
              </a:solidFill>
            </a:ln>
          </p:spPr>
          <p:txBody>
            <a:bodyPr wrap="square" lIns="0" tIns="0" rIns="0" bIns="0" rtlCol="0"/>
            <a:lstStyle/>
            <a:p>
              <a:endParaRPr/>
            </a:p>
          </p:txBody>
        </p:sp>
        <p:sp>
          <p:nvSpPr>
            <p:cNvPr id="240" name="object 240"/>
            <p:cNvSpPr/>
            <p:nvPr/>
          </p:nvSpPr>
          <p:spPr>
            <a:xfrm>
              <a:off x="7156461" y="482974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41" name="object 241"/>
            <p:cNvSpPr/>
            <p:nvPr/>
          </p:nvSpPr>
          <p:spPr>
            <a:xfrm>
              <a:off x="7487973" y="4806450"/>
              <a:ext cx="0" cy="19050"/>
            </a:xfrm>
            <a:custGeom>
              <a:avLst/>
              <a:gdLst/>
              <a:ahLst/>
              <a:cxnLst/>
              <a:rect l="l" t="t" r="r" b="b"/>
              <a:pathLst>
                <a:path h="19050">
                  <a:moveTo>
                    <a:pt x="0" y="18638"/>
                  </a:moveTo>
                  <a:lnTo>
                    <a:pt x="0" y="0"/>
                  </a:lnTo>
                </a:path>
              </a:pathLst>
            </a:custGeom>
            <a:ln w="3175">
              <a:solidFill>
                <a:srgbClr val="000000"/>
              </a:solidFill>
            </a:ln>
          </p:spPr>
          <p:txBody>
            <a:bodyPr wrap="square" lIns="0" tIns="0" rIns="0" bIns="0" rtlCol="0"/>
            <a:lstStyle/>
            <a:p>
              <a:endParaRPr/>
            </a:p>
          </p:txBody>
        </p:sp>
        <p:sp>
          <p:nvSpPr>
            <p:cNvPr id="242" name="object 242"/>
            <p:cNvSpPr/>
            <p:nvPr/>
          </p:nvSpPr>
          <p:spPr>
            <a:xfrm>
              <a:off x="7492610" y="4811115"/>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43" name="object 243"/>
            <p:cNvSpPr/>
            <p:nvPr/>
          </p:nvSpPr>
          <p:spPr>
            <a:xfrm>
              <a:off x="7487973" y="3069542"/>
              <a:ext cx="0" cy="9525"/>
            </a:xfrm>
            <a:custGeom>
              <a:avLst/>
              <a:gdLst/>
              <a:ahLst/>
              <a:cxnLst/>
              <a:rect l="l" t="t" r="r" b="b"/>
              <a:pathLst>
                <a:path h="9525">
                  <a:moveTo>
                    <a:pt x="0" y="0"/>
                  </a:moveTo>
                  <a:lnTo>
                    <a:pt x="0" y="9259"/>
                  </a:lnTo>
                </a:path>
              </a:pathLst>
            </a:custGeom>
            <a:ln w="3175">
              <a:solidFill>
                <a:srgbClr val="000000"/>
              </a:solidFill>
            </a:ln>
          </p:spPr>
          <p:txBody>
            <a:bodyPr wrap="square" lIns="0" tIns="0" rIns="0" bIns="0" rtlCol="0"/>
            <a:lstStyle/>
            <a:p>
              <a:endParaRPr/>
            </a:p>
          </p:txBody>
        </p:sp>
        <p:sp>
          <p:nvSpPr>
            <p:cNvPr id="244" name="object 244"/>
            <p:cNvSpPr/>
            <p:nvPr/>
          </p:nvSpPr>
          <p:spPr>
            <a:xfrm>
              <a:off x="7492610" y="308343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45" name="object 245"/>
            <p:cNvSpPr/>
            <p:nvPr/>
          </p:nvSpPr>
          <p:spPr>
            <a:xfrm>
              <a:off x="7824122" y="4806450"/>
              <a:ext cx="0" cy="19050"/>
            </a:xfrm>
            <a:custGeom>
              <a:avLst/>
              <a:gdLst/>
              <a:ahLst/>
              <a:cxnLst/>
              <a:rect l="l" t="t" r="r" b="b"/>
              <a:pathLst>
                <a:path h="19050">
                  <a:moveTo>
                    <a:pt x="0" y="18638"/>
                  </a:moveTo>
                  <a:lnTo>
                    <a:pt x="0" y="0"/>
                  </a:lnTo>
                </a:path>
              </a:pathLst>
            </a:custGeom>
            <a:ln w="3175">
              <a:solidFill>
                <a:srgbClr val="000000"/>
              </a:solidFill>
            </a:ln>
          </p:spPr>
          <p:txBody>
            <a:bodyPr wrap="square" lIns="0" tIns="0" rIns="0" bIns="0" rtlCol="0"/>
            <a:lstStyle/>
            <a:p>
              <a:endParaRPr/>
            </a:p>
          </p:txBody>
        </p:sp>
        <p:sp>
          <p:nvSpPr>
            <p:cNvPr id="246" name="object 246"/>
            <p:cNvSpPr/>
            <p:nvPr/>
          </p:nvSpPr>
          <p:spPr>
            <a:xfrm>
              <a:off x="7828759" y="4811115"/>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47" name="object 247"/>
            <p:cNvSpPr/>
            <p:nvPr/>
          </p:nvSpPr>
          <p:spPr>
            <a:xfrm>
              <a:off x="7824122" y="3069542"/>
              <a:ext cx="0" cy="9525"/>
            </a:xfrm>
            <a:custGeom>
              <a:avLst/>
              <a:gdLst/>
              <a:ahLst/>
              <a:cxnLst/>
              <a:rect l="l" t="t" r="r" b="b"/>
              <a:pathLst>
                <a:path h="9525">
                  <a:moveTo>
                    <a:pt x="0" y="0"/>
                  </a:moveTo>
                  <a:lnTo>
                    <a:pt x="0" y="9259"/>
                  </a:lnTo>
                </a:path>
              </a:pathLst>
            </a:custGeom>
            <a:ln w="3175">
              <a:solidFill>
                <a:srgbClr val="000000"/>
              </a:solidFill>
            </a:ln>
          </p:spPr>
          <p:txBody>
            <a:bodyPr wrap="square" lIns="0" tIns="0" rIns="0" bIns="0" rtlCol="0"/>
            <a:lstStyle/>
            <a:p>
              <a:endParaRPr/>
            </a:p>
          </p:txBody>
        </p:sp>
        <p:sp>
          <p:nvSpPr>
            <p:cNvPr id="248" name="object 248"/>
            <p:cNvSpPr/>
            <p:nvPr/>
          </p:nvSpPr>
          <p:spPr>
            <a:xfrm>
              <a:off x="7828759" y="308343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49" name="object 249"/>
            <p:cNvSpPr/>
            <p:nvPr/>
          </p:nvSpPr>
          <p:spPr>
            <a:xfrm>
              <a:off x="8160271" y="4806450"/>
              <a:ext cx="0" cy="19050"/>
            </a:xfrm>
            <a:custGeom>
              <a:avLst/>
              <a:gdLst/>
              <a:ahLst/>
              <a:cxnLst/>
              <a:rect l="l" t="t" r="r" b="b"/>
              <a:pathLst>
                <a:path h="19050">
                  <a:moveTo>
                    <a:pt x="0" y="18638"/>
                  </a:moveTo>
                  <a:lnTo>
                    <a:pt x="0" y="0"/>
                  </a:lnTo>
                </a:path>
              </a:pathLst>
            </a:custGeom>
            <a:ln w="3175">
              <a:solidFill>
                <a:srgbClr val="000000"/>
              </a:solidFill>
            </a:ln>
          </p:spPr>
          <p:txBody>
            <a:bodyPr wrap="square" lIns="0" tIns="0" rIns="0" bIns="0" rtlCol="0"/>
            <a:lstStyle/>
            <a:p>
              <a:endParaRPr/>
            </a:p>
          </p:txBody>
        </p:sp>
        <p:sp>
          <p:nvSpPr>
            <p:cNvPr id="250" name="object 250"/>
            <p:cNvSpPr/>
            <p:nvPr/>
          </p:nvSpPr>
          <p:spPr>
            <a:xfrm>
              <a:off x="8164908" y="4811115"/>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51" name="object 251"/>
            <p:cNvSpPr/>
            <p:nvPr/>
          </p:nvSpPr>
          <p:spPr>
            <a:xfrm>
              <a:off x="8160271" y="3069542"/>
              <a:ext cx="0" cy="9525"/>
            </a:xfrm>
            <a:custGeom>
              <a:avLst/>
              <a:gdLst/>
              <a:ahLst/>
              <a:cxnLst/>
              <a:rect l="l" t="t" r="r" b="b"/>
              <a:pathLst>
                <a:path h="9525">
                  <a:moveTo>
                    <a:pt x="0" y="0"/>
                  </a:moveTo>
                  <a:lnTo>
                    <a:pt x="0" y="9259"/>
                  </a:lnTo>
                </a:path>
              </a:pathLst>
            </a:custGeom>
            <a:ln w="3175">
              <a:solidFill>
                <a:srgbClr val="000000"/>
              </a:solidFill>
            </a:ln>
          </p:spPr>
          <p:txBody>
            <a:bodyPr wrap="square" lIns="0" tIns="0" rIns="0" bIns="0" rtlCol="0"/>
            <a:lstStyle/>
            <a:p>
              <a:endParaRPr/>
            </a:p>
          </p:txBody>
        </p:sp>
        <p:sp>
          <p:nvSpPr>
            <p:cNvPr id="252" name="object 252"/>
            <p:cNvSpPr/>
            <p:nvPr/>
          </p:nvSpPr>
          <p:spPr>
            <a:xfrm>
              <a:off x="8164908" y="3083432"/>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53" name="object 253"/>
            <p:cNvSpPr/>
            <p:nvPr/>
          </p:nvSpPr>
          <p:spPr>
            <a:xfrm>
              <a:off x="8505813" y="4806450"/>
              <a:ext cx="0" cy="19050"/>
            </a:xfrm>
            <a:custGeom>
              <a:avLst/>
              <a:gdLst/>
              <a:ahLst/>
              <a:cxnLst/>
              <a:rect l="l" t="t" r="r" b="b"/>
              <a:pathLst>
                <a:path h="19050">
                  <a:moveTo>
                    <a:pt x="0" y="18638"/>
                  </a:moveTo>
                  <a:lnTo>
                    <a:pt x="0" y="0"/>
                  </a:lnTo>
                </a:path>
              </a:pathLst>
            </a:custGeom>
            <a:ln w="3175">
              <a:solidFill>
                <a:srgbClr val="000000"/>
              </a:solidFill>
            </a:ln>
          </p:spPr>
          <p:txBody>
            <a:bodyPr wrap="square" lIns="0" tIns="0" rIns="0" bIns="0" rtlCol="0"/>
            <a:lstStyle/>
            <a:p>
              <a:endParaRPr/>
            </a:p>
          </p:txBody>
        </p:sp>
        <p:sp>
          <p:nvSpPr>
            <p:cNvPr id="254" name="object 254"/>
            <p:cNvSpPr/>
            <p:nvPr/>
          </p:nvSpPr>
          <p:spPr>
            <a:xfrm>
              <a:off x="8510450" y="4811115"/>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55" name="object 255"/>
            <p:cNvSpPr/>
            <p:nvPr/>
          </p:nvSpPr>
          <p:spPr>
            <a:xfrm>
              <a:off x="8505813" y="3069542"/>
              <a:ext cx="0" cy="9525"/>
            </a:xfrm>
            <a:custGeom>
              <a:avLst/>
              <a:gdLst/>
              <a:ahLst/>
              <a:cxnLst/>
              <a:rect l="l" t="t" r="r" b="b"/>
              <a:pathLst>
                <a:path h="9525">
                  <a:moveTo>
                    <a:pt x="0" y="0"/>
                  </a:moveTo>
                  <a:lnTo>
                    <a:pt x="0" y="9259"/>
                  </a:lnTo>
                </a:path>
              </a:pathLst>
            </a:custGeom>
            <a:ln w="3175">
              <a:solidFill>
                <a:srgbClr val="000000"/>
              </a:solidFill>
            </a:ln>
          </p:spPr>
          <p:txBody>
            <a:bodyPr wrap="square" lIns="0" tIns="0" rIns="0" bIns="0" rtlCol="0"/>
            <a:lstStyle/>
            <a:p>
              <a:endParaRPr/>
            </a:p>
          </p:txBody>
        </p:sp>
        <p:sp>
          <p:nvSpPr>
            <p:cNvPr id="256" name="object 256"/>
            <p:cNvSpPr/>
            <p:nvPr/>
          </p:nvSpPr>
          <p:spPr>
            <a:xfrm>
              <a:off x="8510450" y="308343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57" name="object 257"/>
            <p:cNvSpPr/>
            <p:nvPr/>
          </p:nvSpPr>
          <p:spPr>
            <a:xfrm>
              <a:off x="8841962" y="4806450"/>
              <a:ext cx="0" cy="19050"/>
            </a:xfrm>
            <a:custGeom>
              <a:avLst/>
              <a:gdLst/>
              <a:ahLst/>
              <a:cxnLst/>
              <a:rect l="l" t="t" r="r" b="b"/>
              <a:pathLst>
                <a:path h="19050">
                  <a:moveTo>
                    <a:pt x="0" y="18638"/>
                  </a:moveTo>
                  <a:lnTo>
                    <a:pt x="0" y="0"/>
                  </a:lnTo>
                </a:path>
              </a:pathLst>
            </a:custGeom>
            <a:ln w="3175">
              <a:solidFill>
                <a:srgbClr val="000000"/>
              </a:solidFill>
            </a:ln>
          </p:spPr>
          <p:txBody>
            <a:bodyPr wrap="square" lIns="0" tIns="0" rIns="0" bIns="0" rtlCol="0"/>
            <a:lstStyle/>
            <a:p>
              <a:endParaRPr/>
            </a:p>
          </p:txBody>
        </p:sp>
        <p:sp>
          <p:nvSpPr>
            <p:cNvPr id="258" name="object 258"/>
            <p:cNvSpPr/>
            <p:nvPr/>
          </p:nvSpPr>
          <p:spPr>
            <a:xfrm>
              <a:off x="8846599" y="4811115"/>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59" name="object 259"/>
            <p:cNvSpPr/>
            <p:nvPr/>
          </p:nvSpPr>
          <p:spPr>
            <a:xfrm>
              <a:off x="8841962" y="3069542"/>
              <a:ext cx="0" cy="9525"/>
            </a:xfrm>
            <a:custGeom>
              <a:avLst/>
              <a:gdLst/>
              <a:ahLst/>
              <a:cxnLst/>
              <a:rect l="l" t="t" r="r" b="b"/>
              <a:pathLst>
                <a:path h="9525">
                  <a:moveTo>
                    <a:pt x="0" y="0"/>
                  </a:moveTo>
                  <a:lnTo>
                    <a:pt x="0" y="9259"/>
                  </a:lnTo>
                </a:path>
              </a:pathLst>
            </a:custGeom>
            <a:ln w="3175">
              <a:solidFill>
                <a:srgbClr val="000000"/>
              </a:solidFill>
            </a:ln>
          </p:spPr>
          <p:txBody>
            <a:bodyPr wrap="square" lIns="0" tIns="0" rIns="0" bIns="0" rtlCol="0"/>
            <a:lstStyle/>
            <a:p>
              <a:endParaRPr/>
            </a:p>
          </p:txBody>
        </p:sp>
        <p:sp>
          <p:nvSpPr>
            <p:cNvPr id="260" name="object 260"/>
            <p:cNvSpPr/>
            <p:nvPr/>
          </p:nvSpPr>
          <p:spPr>
            <a:xfrm>
              <a:off x="8846599" y="308343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61" name="object 261"/>
            <p:cNvSpPr/>
            <p:nvPr/>
          </p:nvSpPr>
          <p:spPr>
            <a:xfrm>
              <a:off x="7151824" y="3405745"/>
              <a:ext cx="9525" cy="0"/>
            </a:xfrm>
            <a:custGeom>
              <a:avLst/>
              <a:gdLst/>
              <a:ahLst/>
              <a:cxnLst/>
              <a:rect l="l" t="t" r="r" b="b"/>
              <a:pathLst>
                <a:path w="9525">
                  <a:moveTo>
                    <a:pt x="0" y="0"/>
                  </a:moveTo>
                  <a:lnTo>
                    <a:pt x="9274" y="0"/>
                  </a:lnTo>
                </a:path>
              </a:pathLst>
            </a:custGeom>
            <a:ln w="3175">
              <a:solidFill>
                <a:srgbClr val="000000"/>
              </a:solidFill>
            </a:ln>
          </p:spPr>
          <p:txBody>
            <a:bodyPr wrap="square" lIns="0" tIns="0" rIns="0" bIns="0" rtlCol="0"/>
            <a:lstStyle/>
            <a:p>
              <a:endParaRPr/>
            </a:p>
          </p:txBody>
        </p:sp>
        <p:sp>
          <p:nvSpPr>
            <p:cNvPr id="262" name="object 262"/>
            <p:cNvSpPr/>
            <p:nvPr/>
          </p:nvSpPr>
          <p:spPr>
            <a:xfrm>
              <a:off x="7165736" y="3410375"/>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63" name="object 263"/>
            <p:cNvSpPr/>
            <p:nvPr/>
          </p:nvSpPr>
          <p:spPr>
            <a:xfrm>
              <a:off x="8888573" y="3405745"/>
              <a:ext cx="19050" cy="0"/>
            </a:xfrm>
            <a:custGeom>
              <a:avLst/>
              <a:gdLst/>
              <a:ahLst/>
              <a:cxnLst/>
              <a:rect l="l" t="t" r="r" b="b"/>
              <a:pathLst>
                <a:path w="19050">
                  <a:moveTo>
                    <a:pt x="18668" y="0"/>
                  </a:moveTo>
                  <a:lnTo>
                    <a:pt x="0" y="0"/>
                  </a:lnTo>
                </a:path>
              </a:pathLst>
            </a:custGeom>
            <a:ln w="3175">
              <a:solidFill>
                <a:srgbClr val="000000"/>
              </a:solidFill>
            </a:ln>
          </p:spPr>
          <p:txBody>
            <a:bodyPr wrap="square" lIns="0" tIns="0" rIns="0" bIns="0" rtlCol="0"/>
            <a:lstStyle/>
            <a:p>
              <a:endParaRPr/>
            </a:p>
          </p:txBody>
        </p:sp>
        <p:sp>
          <p:nvSpPr>
            <p:cNvPr id="264" name="object 264"/>
            <p:cNvSpPr/>
            <p:nvPr/>
          </p:nvSpPr>
          <p:spPr>
            <a:xfrm>
              <a:off x="8893211" y="3410375"/>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grpSp>
      <p:sp>
        <p:nvSpPr>
          <p:cNvPr id="265" name="object 265"/>
          <p:cNvSpPr txBox="1"/>
          <p:nvPr/>
        </p:nvSpPr>
        <p:spPr>
          <a:xfrm>
            <a:off x="6968450" y="2760892"/>
            <a:ext cx="156210"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50</a:t>
            </a:r>
            <a:endParaRPr sz="950">
              <a:latin typeface="Arial MT"/>
              <a:cs typeface="Arial MT"/>
            </a:endParaRPr>
          </a:p>
        </p:txBody>
      </p:sp>
      <p:grpSp>
        <p:nvGrpSpPr>
          <p:cNvPr id="266" name="object 266"/>
          <p:cNvGrpSpPr/>
          <p:nvPr/>
        </p:nvGrpSpPr>
        <p:grpSpPr>
          <a:xfrm>
            <a:off x="7148332" y="3183587"/>
            <a:ext cx="1757680" cy="10795"/>
            <a:chOff x="7150872" y="3741115"/>
            <a:chExt cx="1757680" cy="10795"/>
          </a:xfrm>
        </p:grpSpPr>
        <p:sp>
          <p:nvSpPr>
            <p:cNvPr id="267" name="object 267"/>
            <p:cNvSpPr/>
            <p:nvPr/>
          </p:nvSpPr>
          <p:spPr>
            <a:xfrm>
              <a:off x="7151824" y="3742067"/>
              <a:ext cx="9525" cy="0"/>
            </a:xfrm>
            <a:custGeom>
              <a:avLst/>
              <a:gdLst/>
              <a:ahLst/>
              <a:cxnLst/>
              <a:rect l="l" t="t" r="r" b="b"/>
              <a:pathLst>
                <a:path w="9525">
                  <a:moveTo>
                    <a:pt x="0" y="0"/>
                  </a:moveTo>
                  <a:lnTo>
                    <a:pt x="9274" y="0"/>
                  </a:lnTo>
                </a:path>
              </a:pathLst>
            </a:custGeom>
            <a:ln w="3175">
              <a:solidFill>
                <a:srgbClr val="000000"/>
              </a:solidFill>
            </a:ln>
          </p:spPr>
          <p:txBody>
            <a:bodyPr wrap="square" lIns="0" tIns="0" rIns="0" bIns="0" rtlCol="0"/>
            <a:lstStyle/>
            <a:p>
              <a:endParaRPr/>
            </a:p>
          </p:txBody>
        </p:sp>
        <p:sp>
          <p:nvSpPr>
            <p:cNvPr id="268" name="object 268"/>
            <p:cNvSpPr/>
            <p:nvPr/>
          </p:nvSpPr>
          <p:spPr>
            <a:xfrm>
              <a:off x="7165736" y="3746697"/>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69" name="object 269"/>
            <p:cNvSpPr/>
            <p:nvPr/>
          </p:nvSpPr>
          <p:spPr>
            <a:xfrm>
              <a:off x="8888573" y="3742067"/>
              <a:ext cx="19050" cy="0"/>
            </a:xfrm>
            <a:custGeom>
              <a:avLst/>
              <a:gdLst/>
              <a:ahLst/>
              <a:cxnLst/>
              <a:rect l="l" t="t" r="r" b="b"/>
              <a:pathLst>
                <a:path w="19050">
                  <a:moveTo>
                    <a:pt x="18668" y="0"/>
                  </a:moveTo>
                  <a:lnTo>
                    <a:pt x="0" y="0"/>
                  </a:lnTo>
                </a:path>
              </a:pathLst>
            </a:custGeom>
            <a:ln w="3175">
              <a:solidFill>
                <a:srgbClr val="000000"/>
              </a:solidFill>
            </a:ln>
          </p:spPr>
          <p:txBody>
            <a:bodyPr wrap="square" lIns="0" tIns="0" rIns="0" bIns="0" rtlCol="0"/>
            <a:lstStyle/>
            <a:p>
              <a:endParaRPr/>
            </a:p>
          </p:txBody>
        </p:sp>
        <p:sp>
          <p:nvSpPr>
            <p:cNvPr id="270" name="object 270"/>
            <p:cNvSpPr/>
            <p:nvPr/>
          </p:nvSpPr>
          <p:spPr>
            <a:xfrm>
              <a:off x="8893211" y="3746697"/>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grpSp>
      <p:sp>
        <p:nvSpPr>
          <p:cNvPr id="271" name="object 271"/>
          <p:cNvSpPr txBox="1"/>
          <p:nvPr/>
        </p:nvSpPr>
        <p:spPr>
          <a:xfrm>
            <a:off x="6902934" y="3097096"/>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100</a:t>
            </a:r>
            <a:endParaRPr sz="950">
              <a:latin typeface="Arial MT"/>
              <a:cs typeface="Arial MT"/>
            </a:endParaRPr>
          </a:p>
        </p:txBody>
      </p:sp>
      <p:grpSp>
        <p:nvGrpSpPr>
          <p:cNvPr id="272" name="object 272"/>
          <p:cNvGrpSpPr/>
          <p:nvPr/>
        </p:nvGrpSpPr>
        <p:grpSpPr>
          <a:xfrm>
            <a:off x="7148332" y="3519540"/>
            <a:ext cx="1757680" cy="10795"/>
            <a:chOff x="7150872" y="4077068"/>
            <a:chExt cx="1757680" cy="10795"/>
          </a:xfrm>
        </p:grpSpPr>
        <p:sp>
          <p:nvSpPr>
            <p:cNvPr id="273" name="object 273"/>
            <p:cNvSpPr/>
            <p:nvPr/>
          </p:nvSpPr>
          <p:spPr>
            <a:xfrm>
              <a:off x="7151824" y="4078021"/>
              <a:ext cx="9525" cy="0"/>
            </a:xfrm>
            <a:custGeom>
              <a:avLst/>
              <a:gdLst/>
              <a:ahLst/>
              <a:cxnLst/>
              <a:rect l="l" t="t" r="r" b="b"/>
              <a:pathLst>
                <a:path w="9525">
                  <a:moveTo>
                    <a:pt x="0" y="0"/>
                  </a:moveTo>
                  <a:lnTo>
                    <a:pt x="9274" y="0"/>
                  </a:lnTo>
                </a:path>
              </a:pathLst>
            </a:custGeom>
            <a:ln w="3175">
              <a:solidFill>
                <a:srgbClr val="000000"/>
              </a:solidFill>
            </a:ln>
          </p:spPr>
          <p:txBody>
            <a:bodyPr wrap="square" lIns="0" tIns="0" rIns="0" bIns="0" rtlCol="0"/>
            <a:lstStyle/>
            <a:p>
              <a:endParaRPr/>
            </a:p>
          </p:txBody>
        </p:sp>
        <p:sp>
          <p:nvSpPr>
            <p:cNvPr id="274" name="object 274"/>
            <p:cNvSpPr/>
            <p:nvPr/>
          </p:nvSpPr>
          <p:spPr>
            <a:xfrm>
              <a:off x="7165736" y="4082675"/>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75" name="object 275"/>
            <p:cNvSpPr/>
            <p:nvPr/>
          </p:nvSpPr>
          <p:spPr>
            <a:xfrm>
              <a:off x="8888573" y="4078021"/>
              <a:ext cx="19050" cy="0"/>
            </a:xfrm>
            <a:custGeom>
              <a:avLst/>
              <a:gdLst/>
              <a:ahLst/>
              <a:cxnLst/>
              <a:rect l="l" t="t" r="r" b="b"/>
              <a:pathLst>
                <a:path w="19050">
                  <a:moveTo>
                    <a:pt x="18668" y="0"/>
                  </a:moveTo>
                  <a:lnTo>
                    <a:pt x="0" y="0"/>
                  </a:lnTo>
                </a:path>
              </a:pathLst>
            </a:custGeom>
            <a:ln w="3175">
              <a:solidFill>
                <a:srgbClr val="000000"/>
              </a:solidFill>
            </a:ln>
          </p:spPr>
          <p:txBody>
            <a:bodyPr wrap="square" lIns="0" tIns="0" rIns="0" bIns="0" rtlCol="0"/>
            <a:lstStyle/>
            <a:p>
              <a:endParaRPr/>
            </a:p>
          </p:txBody>
        </p:sp>
        <p:sp>
          <p:nvSpPr>
            <p:cNvPr id="276" name="object 276"/>
            <p:cNvSpPr/>
            <p:nvPr/>
          </p:nvSpPr>
          <p:spPr>
            <a:xfrm>
              <a:off x="8893211" y="4082675"/>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grpSp>
      <p:sp>
        <p:nvSpPr>
          <p:cNvPr id="277" name="object 277"/>
          <p:cNvSpPr txBox="1"/>
          <p:nvPr/>
        </p:nvSpPr>
        <p:spPr>
          <a:xfrm>
            <a:off x="6902934" y="3433382"/>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150</a:t>
            </a:r>
            <a:endParaRPr sz="950">
              <a:latin typeface="Arial MT"/>
              <a:cs typeface="Arial MT"/>
            </a:endParaRPr>
          </a:p>
        </p:txBody>
      </p:sp>
      <p:grpSp>
        <p:nvGrpSpPr>
          <p:cNvPr id="278" name="object 278"/>
          <p:cNvGrpSpPr/>
          <p:nvPr/>
        </p:nvGrpSpPr>
        <p:grpSpPr>
          <a:xfrm>
            <a:off x="7148332" y="3865122"/>
            <a:ext cx="1757680" cy="10795"/>
            <a:chOff x="7150872" y="4422650"/>
            <a:chExt cx="1757680" cy="10795"/>
          </a:xfrm>
        </p:grpSpPr>
        <p:sp>
          <p:nvSpPr>
            <p:cNvPr id="279" name="object 279"/>
            <p:cNvSpPr/>
            <p:nvPr/>
          </p:nvSpPr>
          <p:spPr>
            <a:xfrm>
              <a:off x="7151824" y="4423603"/>
              <a:ext cx="9525" cy="0"/>
            </a:xfrm>
            <a:custGeom>
              <a:avLst/>
              <a:gdLst/>
              <a:ahLst/>
              <a:cxnLst/>
              <a:rect l="l" t="t" r="r" b="b"/>
              <a:pathLst>
                <a:path w="9525">
                  <a:moveTo>
                    <a:pt x="0" y="0"/>
                  </a:moveTo>
                  <a:lnTo>
                    <a:pt x="9274" y="0"/>
                  </a:lnTo>
                </a:path>
              </a:pathLst>
            </a:custGeom>
            <a:ln w="3175">
              <a:solidFill>
                <a:srgbClr val="000000"/>
              </a:solidFill>
            </a:ln>
          </p:spPr>
          <p:txBody>
            <a:bodyPr wrap="square" lIns="0" tIns="0" rIns="0" bIns="0" rtlCol="0"/>
            <a:lstStyle/>
            <a:p>
              <a:endParaRPr/>
            </a:p>
          </p:txBody>
        </p:sp>
        <p:sp>
          <p:nvSpPr>
            <p:cNvPr id="280" name="object 280"/>
            <p:cNvSpPr/>
            <p:nvPr/>
          </p:nvSpPr>
          <p:spPr>
            <a:xfrm>
              <a:off x="7165736" y="4428256"/>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81" name="object 281"/>
            <p:cNvSpPr/>
            <p:nvPr/>
          </p:nvSpPr>
          <p:spPr>
            <a:xfrm>
              <a:off x="8888573" y="4423603"/>
              <a:ext cx="19050" cy="0"/>
            </a:xfrm>
            <a:custGeom>
              <a:avLst/>
              <a:gdLst/>
              <a:ahLst/>
              <a:cxnLst/>
              <a:rect l="l" t="t" r="r" b="b"/>
              <a:pathLst>
                <a:path w="19050">
                  <a:moveTo>
                    <a:pt x="18668" y="0"/>
                  </a:moveTo>
                  <a:lnTo>
                    <a:pt x="0" y="0"/>
                  </a:lnTo>
                </a:path>
              </a:pathLst>
            </a:custGeom>
            <a:ln w="3175">
              <a:solidFill>
                <a:srgbClr val="000000"/>
              </a:solidFill>
            </a:ln>
          </p:spPr>
          <p:txBody>
            <a:bodyPr wrap="square" lIns="0" tIns="0" rIns="0" bIns="0" rtlCol="0"/>
            <a:lstStyle/>
            <a:p>
              <a:endParaRPr/>
            </a:p>
          </p:txBody>
        </p:sp>
        <p:sp>
          <p:nvSpPr>
            <p:cNvPr id="282" name="object 282"/>
            <p:cNvSpPr/>
            <p:nvPr/>
          </p:nvSpPr>
          <p:spPr>
            <a:xfrm>
              <a:off x="8893211" y="4428256"/>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grpSp>
      <p:sp>
        <p:nvSpPr>
          <p:cNvPr id="283" name="object 283"/>
          <p:cNvSpPr txBox="1"/>
          <p:nvPr/>
        </p:nvSpPr>
        <p:spPr>
          <a:xfrm>
            <a:off x="6902934" y="3778964"/>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200</a:t>
            </a:r>
            <a:endParaRPr sz="950">
              <a:latin typeface="Arial MT"/>
              <a:cs typeface="Arial MT"/>
            </a:endParaRPr>
          </a:p>
        </p:txBody>
      </p:sp>
      <p:grpSp>
        <p:nvGrpSpPr>
          <p:cNvPr id="284" name="object 284"/>
          <p:cNvGrpSpPr/>
          <p:nvPr/>
        </p:nvGrpSpPr>
        <p:grpSpPr>
          <a:xfrm>
            <a:off x="7148332" y="4201385"/>
            <a:ext cx="1757680" cy="10795"/>
            <a:chOff x="7150872" y="4758913"/>
            <a:chExt cx="1757680" cy="10795"/>
          </a:xfrm>
        </p:grpSpPr>
        <p:sp>
          <p:nvSpPr>
            <p:cNvPr id="285" name="object 285"/>
            <p:cNvSpPr/>
            <p:nvPr/>
          </p:nvSpPr>
          <p:spPr>
            <a:xfrm>
              <a:off x="7151824" y="4759865"/>
              <a:ext cx="9525" cy="0"/>
            </a:xfrm>
            <a:custGeom>
              <a:avLst/>
              <a:gdLst/>
              <a:ahLst/>
              <a:cxnLst/>
              <a:rect l="l" t="t" r="r" b="b"/>
              <a:pathLst>
                <a:path w="9525">
                  <a:moveTo>
                    <a:pt x="0" y="0"/>
                  </a:moveTo>
                  <a:lnTo>
                    <a:pt x="9274" y="0"/>
                  </a:lnTo>
                </a:path>
              </a:pathLst>
            </a:custGeom>
            <a:ln w="3175">
              <a:solidFill>
                <a:srgbClr val="000000"/>
              </a:solidFill>
            </a:ln>
          </p:spPr>
          <p:txBody>
            <a:bodyPr wrap="square" lIns="0" tIns="0" rIns="0" bIns="0" rtlCol="0"/>
            <a:lstStyle/>
            <a:p>
              <a:endParaRPr/>
            </a:p>
          </p:txBody>
        </p:sp>
        <p:sp>
          <p:nvSpPr>
            <p:cNvPr id="286" name="object 286"/>
            <p:cNvSpPr/>
            <p:nvPr/>
          </p:nvSpPr>
          <p:spPr>
            <a:xfrm>
              <a:off x="7165736" y="4764531"/>
              <a:ext cx="9525" cy="0"/>
            </a:xfrm>
            <a:custGeom>
              <a:avLst/>
              <a:gdLst/>
              <a:ahLst/>
              <a:cxnLst/>
              <a:rect l="l" t="t" r="r" b="b"/>
              <a:pathLst>
                <a:path w="9525">
                  <a:moveTo>
                    <a:pt x="0" y="0"/>
                  </a:moveTo>
                  <a:lnTo>
                    <a:pt x="9393" y="0"/>
                  </a:lnTo>
                </a:path>
              </a:pathLst>
            </a:custGeom>
            <a:ln w="9316">
              <a:solidFill>
                <a:srgbClr val="000000"/>
              </a:solidFill>
            </a:ln>
          </p:spPr>
          <p:txBody>
            <a:bodyPr wrap="square" lIns="0" tIns="0" rIns="0" bIns="0" rtlCol="0"/>
            <a:lstStyle/>
            <a:p>
              <a:endParaRPr/>
            </a:p>
          </p:txBody>
        </p:sp>
        <p:sp>
          <p:nvSpPr>
            <p:cNvPr id="287" name="object 287"/>
            <p:cNvSpPr/>
            <p:nvPr/>
          </p:nvSpPr>
          <p:spPr>
            <a:xfrm>
              <a:off x="8888573" y="4759865"/>
              <a:ext cx="19050" cy="0"/>
            </a:xfrm>
            <a:custGeom>
              <a:avLst/>
              <a:gdLst/>
              <a:ahLst/>
              <a:cxnLst/>
              <a:rect l="l" t="t" r="r" b="b"/>
              <a:pathLst>
                <a:path w="19050">
                  <a:moveTo>
                    <a:pt x="18668" y="0"/>
                  </a:moveTo>
                  <a:lnTo>
                    <a:pt x="0" y="0"/>
                  </a:lnTo>
                </a:path>
              </a:pathLst>
            </a:custGeom>
            <a:ln w="3175">
              <a:solidFill>
                <a:srgbClr val="000000"/>
              </a:solidFill>
            </a:ln>
          </p:spPr>
          <p:txBody>
            <a:bodyPr wrap="square" lIns="0" tIns="0" rIns="0" bIns="0" rtlCol="0"/>
            <a:lstStyle/>
            <a:p>
              <a:endParaRPr/>
            </a:p>
          </p:txBody>
        </p:sp>
        <p:sp>
          <p:nvSpPr>
            <p:cNvPr id="288" name="object 288"/>
            <p:cNvSpPr/>
            <p:nvPr/>
          </p:nvSpPr>
          <p:spPr>
            <a:xfrm>
              <a:off x="8893211" y="4764531"/>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grpSp>
      <p:sp>
        <p:nvSpPr>
          <p:cNvPr id="289" name="object 289"/>
          <p:cNvSpPr txBox="1"/>
          <p:nvPr/>
        </p:nvSpPr>
        <p:spPr>
          <a:xfrm>
            <a:off x="6902934" y="4114941"/>
            <a:ext cx="221615" cy="159659"/>
          </a:xfrm>
          <a:prstGeom prst="rect">
            <a:avLst/>
          </a:prstGeom>
        </p:spPr>
        <p:txBody>
          <a:bodyPr vert="horz" wrap="square" lIns="0" tIns="13335" rIns="0" bIns="0" rtlCol="0">
            <a:spAutoFit/>
          </a:bodyPr>
          <a:lstStyle/>
          <a:p>
            <a:pPr marL="12700">
              <a:spcBef>
                <a:spcPts val="105"/>
              </a:spcBef>
            </a:pPr>
            <a:r>
              <a:rPr sz="950" spc="-25" dirty="0">
                <a:latin typeface="Arial MT"/>
                <a:cs typeface="Arial MT"/>
              </a:rPr>
              <a:t>250</a:t>
            </a:r>
            <a:endParaRPr sz="950">
              <a:latin typeface="Arial MT"/>
              <a:cs typeface="Arial MT"/>
            </a:endParaRPr>
          </a:p>
        </p:txBody>
      </p:sp>
      <p:grpSp>
        <p:nvGrpSpPr>
          <p:cNvPr id="290" name="object 290"/>
          <p:cNvGrpSpPr/>
          <p:nvPr/>
        </p:nvGrpSpPr>
        <p:grpSpPr>
          <a:xfrm>
            <a:off x="4499483" y="2249171"/>
            <a:ext cx="4609465" cy="2327910"/>
            <a:chOff x="4502022" y="2806700"/>
            <a:chExt cx="4609465" cy="2327910"/>
          </a:xfrm>
        </p:grpSpPr>
        <p:sp>
          <p:nvSpPr>
            <p:cNvPr id="291" name="object 291"/>
            <p:cNvSpPr/>
            <p:nvPr/>
          </p:nvSpPr>
          <p:spPr>
            <a:xfrm>
              <a:off x="7151824" y="4825088"/>
              <a:ext cx="1755775" cy="0"/>
            </a:xfrm>
            <a:custGeom>
              <a:avLst/>
              <a:gdLst/>
              <a:ahLst/>
              <a:cxnLst/>
              <a:rect l="l" t="t" r="r" b="b"/>
              <a:pathLst>
                <a:path w="1755775">
                  <a:moveTo>
                    <a:pt x="0" y="0"/>
                  </a:moveTo>
                  <a:lnTo>
                    <a:pt x="1755417" y="0"/>
                  </a:lnTo>
                </a:path>
              </a:pathLst>
            </a:custGeom>
            <a:ln w="3175">
              <a:solidFill>
                <a:srgbClr val="000000"/>
              </a:solidFill>
            </a:ln>
          </p:spPr>
          <p:txBody>
            <a:bodyPr wrap="square" lIns="0" tIns="0" rIns="0" bIns="0" rtlCol="0"/>
            <a:lstStyle/>
            <a:p>
              <a:endParaRPr/>
            </a:p>
          </p:txBody>
        </p:sp>
        <p:sp>
          <p:nvSpPr>
            <p:cNvPr id="292" name="object 292"/>
            <p:cNvSpPr/>
            <p:nvPr/>
          </p:nvSpPr>
          <p:spPr>
            <a:xfrm>
              <a:off x="8911879" y="482974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93" name="object 293"/>
            <p:cNvSpPr/>
            <p:nvPr/>
          </p:nvSpPr>
          <p:spPr>
            <a:xfrm>
              <a:off x="7151824" y="3069542"/>
              <a:ext cx="1755775" cy="0"/>
            </a:xfrm>
            <a:custGeom>
              <a:avLst/>
              <a:gdLst/>
              <a:ahLst/>
              <a:cxnLst/>
              <a:rect l="l" t="t" r="r" b="b"/>
              <a:pathLst>
                <a:path w="1755775">
                  <a:moveTo>
                    <a:pt x="0" y="0"/>
                  </a:moveTo>
                  <a:lnTo>
                    <a:pt x="1755417" y="0"/>
                  </a:lnTo>
                </a:path>
              </a:pathLst>
            </a:custGeom>
            <a:ln w="3175">
              <a:solidFill>
                <a:srgbClr val="000000"/>
              </a:solidFill>
            </a:ln>
          </p:spPr>
          <p:txBody>
            <a:bodyPr wrap="square" lIns="0" tIns="0" rIns="0" bIns="0" rtlCol="0"/>
            <a:lstStyle/>
            <a:p>
              <a:endParaRPr/>
            </a:p>
          </p:txBody>
        </p:sp>
        <p:sp>
          <p:nvSpPr>
            <p:cNvPr id="294" name="object 294"/>
            <p:cNvSpPr/>
            <p:nvPr/>
          </p:nvSpPr>
          <p:spPr>
            <a:xfrm>
              <a:off x="8911879" y="307417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95" name="object 295"/>
            <p:cNvSpPr/>
            <p:nvPr/>
          </p:nvSpPr>
          <p:spPr>
            <a:xfrm>
              <a:off x="8907241" y="3069542"/>
              <a:ext cx="0" cy="1755775"/>
            </a:xfrm>
            <a:custGeom>
              <a:avLst/>
              <a:gdLst/>
              <a:ahLst/>
              <a:cxnLst/>
              <a:rect l="l" t="t" r="r" b="b"/>
              <a:pathLst>
                <a:path h="1755775">
                  <a:moveTo>
                    <a:pt x="0" y="0"/>
                  </a:moveTo>
                  <a:lnTo>
                    <a:pt x="0" y="1755546"/>
                  </a:lnTo>
                </a:path>
              </a:pathLst>
            </a:custGeom>
            <a:ln w="3175">
              <a:solidFill>
                <a:srgbClr val="000000"/>
              </a:solidFill>
            </a:ln>
          </p:spPr>
          <p:txBody>
            <a:bodyPr wrap="square" lIns="0" tIns="0" rIns="0" bIns="0" rtlCol="0"/>
            <a:lstStyle/>
            <a:p>
              <a:endParaRPr/>
            </a:p>
          </p:txBody>
        </p:sp>
        <p:sp>
          <p:nvSpPr>
            <p:cNvPr id="296" name="object 296"/>
            <p:cNvSpPr/>
            <p:nvPr/>
          </p:nvSpPr>
          <p:spPr>
            <a:xfrm>
              <a:off x="8911879" y="4829742"/>
              <a:ext cx="10160" cy="0"/>
            </a:xfrm>
            <a:custGeom>
              <a:avLst/>
              <a:gdLst/>
              <a:ahLst/>
              <a:cxnLst/>
              <a:rect l="l" t="t" r="r" b="b"/>
              <a:pathLst>
                <a:path w="10159">
                  <a:moveTo>
                    <a:pt x="0" y="0"/>
                  </a:moveTo>
                  <a:lnTo>
                    <a:pt x="9631" y="0"/>
                  </a:lnTo>
                </a:path>
              </a:pathLst>
            </a:custGeom>
            <a:ln w="9316">
              <a:solidFill>
                <a:srgbClr val="000000"/>
              </a:solidFill>
            </a:ln>
          </p:spPr>
          <p:txBody>
            <a:bodyPr wrap="square" lIns="0" tIns="0" rIns="0" bIns="0" rtlCol="0"/>
            <a:lstStyle/>
            <a:p>
              <a:endParaRPr/>
            </a:p>
          </p:txBody>
        </p:sp>
        <p:sp>
          <p:nvSpPr>
            <p:cNvPr id="297" name="object 297"/>
            <p:cNvSpPr/>
            <p:nvPr/>
          </p:nvSpPr>
          <p:spPr>
            <a:xfrm>
              <a:off x="7151824" y="3069542"/>
              <a:ext cx="0" cy="1755775"/>
            </a:xfrm>
            <a:custGeom>
              <a:avLst/>
              <a:gdLst/>
              <a:ahLst/>
              <a:cxnLst/>
              <a:rect l="l" t="t" r="r" b="b"/>
              <a:pathLst>
                <a:path h="1755775">
                  <a:moveTo>
                    <a:pt x="0" y="0"/>
                  </a:moveTo>
                  <a:lnTo>
                    <a:pt x="0" y="1755546"/>
                  </a:lnTo>
                </a:path>
              </a:pathLst>
            </a:custGeom>
            <a:ln w="3175">
              <a:solidFill>
                <a:srgbClr val="000000"/>
              </a:solidFill>
            </a:ln>
          </p:spPr>
          <p:txBody>
            <a:bodyPr wrap="square" lIns="0" tIns="0" rIns="0" bIns="0" rtlCol="0"/>
            <a:lstStyle/>
            <a:p>
              <a:endParaRPr/>
            </a:p>
          </p:txBody>
        </p:sp>
        <p:sp>
          <p:nvSpPr>
            <p:cNvPr id="298" name="object 298"/>
            <p:cNvSpPr/>
            <p:nvPr/>
          </p:nvSpPr>
          <p:spPr>
            <a:xfrm>
              <a:off x="7156461" y="4829742"/>
              <a:ext cx="9525" cy="0"/>
            </a:xfrm>
            <a:custGeom>
              <a:avLst/>
              <a:gdLst/>
              <a:ahLst/>
              <a:cxnLst/>
              <a:rect l="l" t="t" r="r" b="b"/>
              <a:pathLst>
                <a:path w="9525">
                  <a:moveTo>
                    <a:pt x="0" y="0"/>
                  </a:moveTo>
                  <a:lnTo>
                    <a:pt x="9274" y="0"/>
                  </a:lnTo>
                </a:path>
              </a:pathLst>
            </a:custGeom>
            <a:ln w="9316">
              <a:solidFill>
                <a:srgbClr val="000000"/>
              </a:solidFill>
            </a:ln>
          </p:spPr>
          <p:txBody>
            <a:bodyPr wrap="square" lIns="0" tIns="0" rIns="0" bIns="0" rtlCol="0"/>
            <a:lstStyle/>
            <a:p>
              <a:endParaRPr/>
            </a:p>
          </p:txBody>
        </p:sp>
        <p:sp>
          <p:nvSpPr>
            <p:cNvPr id="299" name="object 299"/>
            <p:cNvSpPr/>
            <p:nvPr/>
          </p:nvSpPr>
          <p:spPr>
            <a:xfrm>
              <a:off x="4508372" y="2813050"/>
              <a:ext cx="4596765" cy="2315210"/>
            </a:xfrm>
            <a:custGeom>
              <a:avLst/>
              <a:gdLst/>
              <a:ahLst/>
              <a:cxnLst/>
              <a:rect l="l" t="t" r="r" b="b"/>
              <a:pathLst>
                <a:path w="4596765" h="2315210">
                  <a:moveTo>
                    <a:pt x="0" y="2315083"/>
                  </a:moveTo>
                  <a:lnTo>
                    <a:pt x="4596384" y="2315083"/>
                  </a:lnTo>
                  <a:lnTo>
                    <a:pt x="4596384" y="0"/>
                  </a:lnTo>
                  <a:lnTo>
                    <a:pt x="0" y="0"/>
                  </a:lnTo>
                  <a:lnTo>
                    <a:pt x="0" y="2315083"/>
                  </a:lnTo>
                  <a:close/>
                </a:path>
              </a:pathLst>
            </a:custGeom>
            <a:ln w="12700">
              <a:solidFill>
                <a:srgbClr val="000000"/>
              </a:solidFill>
            </a:ln>
          </p:spPr>
          <p:txBody>
            <a:bodyPr wrap="square" lIns="0" tIns="0" rIns="0" bIns="0" rtlCol="0"/>
            <a:lstStyle/>
            <a:p>
              <a:endParaRPr/>
            </a:p>
          </p:txBody>
        </p:sp>
      </p:grpSp>
      <p:sp>
        <p:nvSpPr>
          <p:cNvPr id="300" name="object 300"/>
          <p:cNvSpPr txBox="1"/>
          <p:nvPr/>
        </p:nvSpPr>
        <p:spPr>
          <a:xfrm>
            <a:off x="5100905" y="4283221"/>
            <a:ext cx="3853815" cy="1894839"/>
          </a:xfrm>
          <a:prstGeom prst="rect">
            <a:avLst/>
          </a:prstGeom>
        </p:spPr>
        <p:txBody>
          <a:bodyPr vert="horz" wrap="square" lIns="0" tIns="13335" rIns="0" bIns="0" rtlCol="0">
            <a:spAutoFit/>
          </a:bodyPr>
          <a:lstStyle/>
          <a:p>
            <a:pPr marL="12700">
              <a:spcBef>
                <a:spcPts val="105"/>
              </a:spcBef>
              <a:tabLst>
                <a:tab pos="329565" algn="l"/>
                <a:tab pos="666115" algn="l"/>
                <a:tab pos="1002030" algn="l"/>
                <a:tab pos="1338580" algn="l"/>
                <a:tab pos="2319020" algn="l"/>
                <a:tab pos="2626995" algn="l"/>
                <a:tab pos="2962910" algn="l"/>
                <a:tab pos="3308350" algn="l"/>
                <a:tab pos="3644265" algn="l"/>
              </a:tabLst>
            </a:pPr>
            <a:r>
              <a:rPr sz="950" spc="-25" dirty="0">
                <a:latin typeface="Arial MT"/>
                <a:cs typeface="Arial MT"/>
              </a:rPr>
              <a:t>50</a:t>
            </a:r>
            <a:r>
              <a:rPr sz="950" dirty="0">
                <a:latin typeface="Arial MT"/>
                <a:cs typeface="Arial MT"/>
              </a:rPr>
              <a:t>	</a:t>
            </a:r>
            <a:r>
              <a:rPr sz="950" spc="-25" dirty="0">
                <a:latin typeface="Arial MT"/>
                <a:cs typeface="Arial MT"/>
              </a:rPr>
              <a:t>100</a:t>
            </a:r>
            <a:r>
              <a:rPr sz="950" dirty="0">
                <a:latin typeface="Arial MT"/>
                <a:cs typeface="Arial MT"/>
              </a:rPr>
              <a:t>	</a:t>
            </a:r>
            <a:r>
              <a:rPr sz="950" spc="-25" dirty="0">
                <a:latin typeface="Arial MT"/>
                <a:cs typeface="Arial MT"/>
              </a:rPr>
              <a:t>150</a:t>
            </a:r>
            <a:r>
              <a:rPr sz="950" dirty="0">
                <a:latin typeface="Arial MT"/>
                <a:cs typeface="Arial MT"/>
              </a:rPr>
              <a:t>	</a:t>
            </a:r>
            <a:r>
              <a:rPr sz="950" spc="-25" dirty="0">
                <a:latin typeface="Arial MT"/>
                <a:cs typeface="Arial MT"/>
              </a:rPr>
              <a:t>200</a:t>
            </a:r>
            <a:r>
              <a:rPr sz="950" dirty="0">
                <a:latin typeface="Arial MT"/>
                <a:cs typeface="Arial MT"/>
              </a:rPr>
              <a:t>	</a:t>
            </a:r>
            <a:r>
              <a:rPr sz="950" spc="-25" dirty="0">
                <a:latin typeface="Arial MT"/>
                <a:cs typeface="Arial MT"/>
              </a:rPr>
              <a:t>250</a:t>
            </a:r>
            <a:r>
              <a:rPr sz="950" dirty="0">
                <a:latin typeface="Arial MT"/>
                <a:cs typeface="Arial MT"/>
              </a:rPr>
              <a:t>	</a:t>
            </a:r>
            <a:r>
              <a:rPr sz="950" spc="-25" dirty="0">
                <a:latin typeface="Arial MT"/>
                <a:cs typeface="Arial MT"/>
              </a:rPr>
              <a:t>50</a:t>
            </a:r>
            <a:r>
              <a:rPr sz="950" dirty="0">
                <a:latin typeface="Arial MT"/>
                <a:cs typeface="Arial MT"/>
              </a:rPr>
              <a:t>	</a:t>
            </a:r>
            <a:r>
              <a:rPr sz="950" spc="-25" dirty="0">
                <a:latin typeface="Arial MT"/>
                <a:cs typeface="Arial MT"/>
              </a:rPr>
              <a:t>100</a:t>
            </a:r>
            <a:r>
              <a:rPr sz="950" dirty="0">
                <a:latin typeface="Arial MT"/>
                <a:cs typeface="Arial MT"/>
              </a:rPr>
              <a:t>	</a:t>
            </a:r>
            <a:r>
              <a:rPr sz="950" spc="-25" dirty="0">
                <a:latin typeface="Arial MT"/>
                <a:cs typeface="Arial MT"/>
              </a:rPr>
              <a:t>150</a:t>
            </a:r>
            <a:r>
              <a:rPr sz="950" dirty="0">
                <a:latin typeface="Arial MT"/>
                <a:cs typeface="Arial MT"/>
              </a:rPr>
              <a:t>	</a:t>
            </a:r>
            <a:r>
              <a:rPr sz="950" spc="-25" dirty="0">
                <a:latin typeface="Arial MT"/>
                <a:cs typeface="Arial MT"/>
              </a:rPr>
              <a:t>200</a:t>
            </a:r>
            <a:r>
              <a:rPr sz="950" dirty="0">
                <a:latin typeface="Arial MT"/>
                <a:cs typeface="Arial MT"/>
              </a:rPr>
              <a:t>	</a:t>
            </a:r>
            <a:r>
              <a:rPr sz="950" spc="-25" dirty="0">
                <a:latin typeface="Arial MT"/>
                <a:cs typeface="Arial MT"/>
              </a:rPr>
              <a:t>250</a:t>
            </a:r>
            <a:endParaRPr sz="950" dirty="0">
              <a:latin typeface="Arial MT"/>
              <a:cs typeface="Arial MT"/>
            </a:endParaRPr>
          </a:p>
          <a:p>
            <a:pPr>
              <a:spcBef>
                <a:spcPts val="195"/>
              </a:spcBef>
            </a:pPr>
            <a:endParaRPr sz="950" dirty="0">
              <a:latin typeface="Arial MT"/>
              <a:cs typeface="Arial MT"/>
            </a:endParaRPr>
          </a:p>
          <a:p>
            <a:pPr marR="436880" algn="ctr"/>
            <a:r>
              <a:rPr dirty="0" err="1">
                <a:latin typeface="Microsoft Sans Serif"/>
                <a:cs typeface="Microsoft Sans Serif"/>
              </a:rPr>
              <a:t>max_theta</a:t>
            </a:r>
            <a:r>
              <a:rPr spc="10" dirty="0">
                <a:latin typeface="Microsoft Sans Serif"/>
                <a:cs typeface="Microsoft Sans Serif"/>
              </a:rPr>
              <a:t> </a:t>
            </a:r>
            <a:r>
              <a:rPr lang="en-US" dirty="0">
                <a:latin typeface="Microsoft Sans Serif"/>
                <a:cs typeface="Microsoft Sans Serif"/>
              </a:rPr>
              <a:t>equals</a:t>
            </a:r>
            <a:r>
              <a:rPr spc="-10" dirty="0">
                <a:latin typeface="Microsoft Sans Serif"/>
                <a:cs typeface="Microsoft Sans Serif"/>
              </a:rPr>
              <a:t> </a:t>
            </a:r>
            <a:r>
              <a:rPr spc="-35" dirty="0">
                <a:latin typeface="Microsoft Sans Serif"/>
                <a:cs typeface="Microsoft Sans Serif"/>
              </a:rPr>
              <a:t>90</a:t>
            </a:r>
            <a:endParaRPr dirty="0">
              <a:latin typeface="Microsoft Sans Serif"/>
              <a:cs typeface="Microsoft Sans Serif"/>
            </a:endParaRPr>
          </a:p>
          <a:p>
            <a:pPr marR="437515" algn="ctr"/>
            <a:r>
              <a:rPr dirty="0">
                <a:latin typeface="Microsoft Sans Serif"/>
                <a:cs typeface="Microsoft Sans Serif"/>
              </a:rPr>
              <a:t>step</a:t>
            </a:r>
            <a:r>
              <a:rPr spc="5" dirty="0">
                <a:latin typeface="Microsoft Sans Serif"/>
                <a:cs typeface="Microsoft Sans Serif"/>
              </a:rPr>
              <a:t> </a:t>
            </a:r>
            <a:r>
              <a:rPr lang="en-US" dirty="0">
                <a:latin typeface="Microsoft Sans Serif"/>
                <a:cs typeface="Microsoft Sans Serif"/>
              </a:rPr>
              <a:t>equals</a:t>
            </a:r>
            <a:r>
              <a:rPr spc="15" dirty="0">
                <a:latin typeface="Microsoft Sans Serif"/>
                <a:cs typeface="Microsoft Sans Serif"/>
              </a:rPr>
              <a:t> </a:t>
            </a:r>
            <a:r>
              <a:rPr spc="-60" dirty="0">
                <a:latin typeface="Microsoft Sans Serif"/>
                <a:cs typeface="Microsoft Sans Serif"/>
              </a:rPr>
              <a:t>1</a:t>
            </a:r>
            <a:endParaRPr dirty="0">
              <a:latin typeface="Microsoft Sans Serif"/>
              <a:cs typeface="Microsoft Sans Serif"/>
            </a:endParaRPr>
          </a:p>
          <a:p>
            <a:pPr marL="397510" marR="837565" indent="1905" algn="ctr">
              <a:spcBef>
                <a:spcPts val="760"/>
              </a:spcBef>
            </a:pPr>
            <a:r>
              <a:rPr sz="2000" b="1" dirty="0">
                <a:solidFill>
                  <a:srgbClr val="00AF50"/>
                </a:solidFill>
                <a:latin typeface="Arial"/>
                <a:cs typeface="Arial"/>
              </a:rPr>
              <a:t>*The</a:t>
            </a:r>
            <a:r>
              <a:rPr sz="2000" b="1" spc="-15" dirty="0">
                <a:solidFill>
                  <a:srgbClr val="00AF50"/>
                </a:solidFill>
                <a:latin typeface="Arial"/>
                <a:cs typeface="Arial"/>
              </a:rPr>
              <a:t> </a:t>
            </a:r>
            <a:r>
              <a:rPr sz="2000" b="1" spc="-10" dirty="0">
                <a:solidFill>
                  <a:srgbClr val="00AF50"/>
                </a:solidFill>
                <a:latin typeface="Arial"/>
                <a:cs typeface="Arial"/>
              </a:rPr>
              <a:t>reconstructions </a:t>
            </a:r>
            <a:r>
              <a:rPr sz="2000" b="1" dirty="0">
                <a:solidFill>
                  <a:srgbClr val="00AF50"/>
                </a:solidFill>
                <a:latin typeface="Arial"/>
                <a:cs typeface="Arial"/>
              </a:rPr>
              <a:t>have</a:t>
            </a:r>
            <a:r>
              <a:rPr sz="2000" b="1" spc="-5" dirty="0">
                <a:solidFill>
                  <a:srgbClr val="00AF50"/>
                </a:solidFill>
                <a:latin typeface="Arial"/>
                <a:cs typeface="Arial"/>
              </a:rPr>
              <a:t> </a:t>
            </a:r>
            <a:r>
              <a:rPr sz="2000" b="1" dirty="0">
                <a:solidFill>
                  <a:srgbClr val="00AF50"/>
                </a:solidFill>
                <a:latin typeface="Arial"/>
                <a:cs typeface="Arial"/>
              </a:rPr>
              <a:t>lower</a:t>
            </a:r>
            <a:r>
              <a:rPr sz="2000" b="1" spc="-55" dirty="0">
                <a:solidFill>
                  <a:srgbClr val="00AF50"/>
                </a:solidFill>
                <a:latin typeface="Arial"/>
                <a:cs typeface="Arial"/>
              </a:rPr>
              <a:t> </a:t>
            </a:r>
            <a:r>
              <a:rPr sz="2000" b="1" spc="-10" dirty="0">
                <a:solidFill>
                  <a:srgbClr val="00AF50"/>
                </a:solidFill>
                <a:latin typeface="Arial"/>
                <a:cs typeface="Arial"/>
              </a:rPr>
              <a:t>resolution </a:t>
            </a:r>
            <a:r>
              <a:rPr sz="2000" b="1" dirty="0">
                <a:solidFill>
                  <a:srgbClr val="00AF50"/>
                </a:solidFill>
                <a:latin typeface="Arial"/>
                <a:cs typeface="Arial"/>
              </a:rPr>
              <a:t>(less</a:t>
            </a:r>
            <a:r>
              <a:rPr sz="2000" b="1" spc="-30" dirty="0">
                <a:solidFill>
                  <a:srgbClr val="00AF50"/>
                </a:solidFill>
                <a:latin typeface="Arial"/>
                <a:cs typeface="Arial"/>
              </a:rPr>
              <a:t> </a:t>
            </a:r>
            <a:r>
              <a:rPr sz="2000" b="1" spc="-10" dirty="0">
                <a:solidFill>
                  <a:srgbClr val="00AF50"/>
                </a:solidFill>
                <a:latin typeface="Arial"/>
                <a:cs typeface="Arial"/>
              </a:rPr>
              <a:t>angles)*</a:t>
            </a:r>
            <a:endParaRPr sz="2000" dirty="0">
              <a:latin typeface="Arial"/>
              <a:cs typeface="Arial"/>
            </a:endParaRPr>
          </a:p>
        </p:txBody>
      </p:sp>
      <p:sp>
        <p:nvSpPr>
          <p:cNvPr id="301" name="object 301"/>
          <p:cNvSpPr txBox="1"/>
          <p:nvPr/>
        </p:nvSpPr>
        <p:spPr>
          <a:xfrm>
            <a:off x="974141" y="4592193"/>
            <a:ext cx="2571115" cy="1586230"/>
          </a:xfrm>
          <a:prstGeom prst="rect">
            <a:avLst/>
          </a:prstGeom>
        </p:spPr>
        <p:txBody>
          <a:bodyPr vert="horz" wrap="square" lIns="0" tIns="12700" rIns="0" bIns="0" rtlCol="0">
            <a:spAutoFit/>
          </a:bodyPr>
          <a:lstStyle/>
          <a:p>
            <a:pPr marL="2540" algn="ctr">
              <a:spcBef>
                <a:spcPts val="100"/>
              </a:spcBef>
            </a:pPr>
            <a:r>
              <a:rPr dirty="0" err="1">
                <a:latin typeface="Microsoft Sans Serif"/>
                <a:cs typeface="Microsoft Sans Serif"/>
              </a:rPr>
              <a:t>max_theta</a:t>
            </a:r>
            <a:r>
              <a:rPr spc="5" dirty="0">
                <a:latin typeface="Microsoft Sans Serif"/>
                <a:cs typeface="Microsoft Sans Serif"/>
              </a:rPr>
              <a:t> </a:t>
            </a:r>
            <a:r>
              <a:rPr lang="en-US" dirty="0">
                <a:latin typeface="Microsoft Sans Serif"/>
                <a:cs typeface="Microsoft Sans Serif"/>
              </a:rPr>
              <a:t>equals</a:t>
            </a:r>
            <a:r>
              <a:rPr spc="-10" dirty="0">
                <a:latin typeface="Microsoft Sans Serif"/>
                <a:cs typeface="Microsoft Sans Serif"/>
              </a:rPr>
              <a:t> </a:t>
            </a:r>
            <a:r>
              <a:rPr spc="-25" dirty="0">
                <a:latin typeface="Microsoft Sans Serif"/>
                <a:cs typeface="Microsoft Sans Serif"/>
              </a:rPr>
              <a:t>180</a:t>
            </a:r>
            <a:endParaRPr dirty="0">
              <a:latin typeface="Microsoft Sans Serif"/>
              <a:cs typeface="Microsoft Sans Serif"/>
            </a:endParaRPr>
          </a:p>
          <a:p>
            <a:pPr marL="635" algn="ctr"/>
            <a:r>
              <a:rPr dirty="0">
                <a:latin typeface="Microsoft Sans Serif"/>
                <a:cs typeface="Microsoft Sans Serif"/>
              </a:rPr>
              <a:t>step</a:t>
            </a:r>
            <a:r>
              <a:rPr spc="5" dirty="0">
                <a:latin typeface="Microsoft Sans Serif"/>
                <a:cs typeface="Microsoft Sans Serif"/>
              </a:rPr>
              <a:t> </a:t>
            </a:r>
            <a:r>
              <a:rPr lang="en-US" dirty="0">
                <a:latin typeface="Microsoft Sans Serif"/>
                <a:cs typeface="Microsoft Sans Serif"/>
              </a:rPr>
              <a:t>equals</a:t>
            </a:r>
            <a:r>
              <a:rPr spc="15" dirty="0">
                <a:latin typeface="Microsoft Sans Serif"/>
                <a:cs typeface="Microsoft Sans Serif"/>
              </a:rPr>
              <a:t> </a:t>
            </a:r>
            <a:r>
              <a:rPr spc="-60" dirty="0">
                <a:latin typeface="Microsoft Sans Serif"/>
                <a:cs typeface="Microsoft Sans Serif"/>
              </a:rPr>
              <a:t>5</a:t>
            </a:r>
            <a:endParaRPr dirty="0">
              <a:latin typeface="Microsoft Sans Serif"/>
              <a:cs typeface="Microsoft Sans Serif"/>
            </a:endParaRPr>
          </a:p>
          <a:p>
            <a:pPr marL="12700" marR="5080" algn="ctr">
              <a:spcBef>
                <a:spcPts val="760"/>
              </a:spcBef>
            </a:pPr>
            <a:r>
              <a:rPr sz="2000" b="1" dirty="0">
                <a:solidFill>
                  <a:srgbClr val="00AF50"/>
                </a:solidFill>
                <a:latin typeface="Arial"/>
                <a:cs typeface="Arial"/>
              </a:rPr>
              <a:t>*The</a:t>
            </a:r>
            <a:r>
              <a:rPr sz="2000" b="1" spc="-15" dirty="0">
                <a:solidFill>
                  <a:srgbClr val="00AF50"/>
                </a:solidFill>
                <a:latin typeface="Arial"/>
                <a:cs typeface="Arial"/>
              </a:rPr>
              <a:t> </a:t>
            </a:r>
            <a:r>
              <a:rPr sz="2000" b="1" spc="-10" dirty="0">
                <a:solidFill>
                  <a:srgbClr val="00AF50"/>
                </a:solidFill>
                <a:latin typeface="Arial"/>
                <a:cs typeface="Arial"/>
              </a:rPr>
              <a:t>reconstructions </a:t>
            </a:r>
            <a:r>
              <a:rPr sz="2000" b="1" dirty="0">
                <a:solidFill>
                  <a:srgbClr val="00AF50"/>
                </a:solidFill>
                <a:latin typeface="Arial"/>
                <a:cs typeface="Arial"/>
              </a:rPr>
              <a:t>are</a:t>
            </a:r>
            <a:r>
              <a:rPr sz="2000" b="1" spc="-25" dirty="0">
                <a:solidFill>
                  <a:srgbClr val="00AF50"/>
                </a:solidFill>
                <a:latin typeface="Arial"/>
                <a:cs typeface="Arial"/>
              </a:rPr>
              <a:t> </a:t>
            </a:r>
            <a:r>
              <a:rPr sz="2000" b="1" dirty="0">
                <a:solidFill>
                  <a:srgbClr val="00AF50"/>
                </a:solidFill>
                <a:latin typeface="Arial"/>
                <a:cs typeface="Arial"/>
              </a:rPr>
              <a:t>less</a:t>
            </a:r>
            <a:r>
              <a:rPr sz="2000" b="1" spc="-15" dirty="0">
                <a:solidFill>
                  <a:srgbClr val="00AF50"/>
                </a:solidFill>
                <a:latin typeface="Arial"/>
                <a:cs typeface="Arial"/>
              </a:rPr>
              <a:t> </a:t>
            </a:r>
            <a:r>
              <a:rPr sz="2000" b="1" spc="-10" dirty="0">
                <a:solidFill>
                  <a:srgbClr val="00AF50"/>
                </a:solidFill>
                <a:latin typeface="Arial"/>
                <a:cs typeface="Arial"/>
              </a:rPr>
              <a:t>defined </a:t>
            </a:r>
            <a:r>
              <a:rPr sz="2000" b="1" dirty="0">
                <a:solidFill>
                  <a:srgbClr val="00AF50"/>
                </a:solidFill>
                <a:latin typeface="Arial"/>
                <a:cs typeface="Arial"/>
              </a:rPr>
              <a:t>(discrete</a:t>
            </a:r>
            <a:r>
              <a:rPr sz="2000" b="1" spc="-40" dirty="0">
                <a:solidFill>
                  <a:srgbClr val="00AF50"/>
                </a:solidFill>
                <a:latin typeface="Arial"/>
                <a:cs typeface="Arial"/>
              </a:rPr>
              <a:t> </a:t>
            </a:r>
            <a:r>
              <a:rPr sz="2000" b="1" spc="-10" dirty="0">
                <a:solidFill>
                  <a:srgbClr val="00AF50"/>
                </a:solidFill>
                <a:latin typeface="Arial"/>
                <a:cs typeface="Arial"/>
              </a:rPr>
              <a:t>steps)*</a:t>
            </a:r>
            <a:endParaRPr sz="20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74643" y="3066416"/>
            <a:ext cx="4540757" cy="690574"/>
          </a:xfrm>
          <a:prstGeom prst="rect">
            <a:avLst/>
          </a:prstGeom>
        </p:spPr>
        <p:txBody>
          <a:bodyPr vert="horz" wrap="square" lIns="0" tIns="13335" rIns="0" bIns="0" rtlCol="0">
            <a:spAutoFit/>
          </a:bodyPr>
          <a:lstStyle/>
          <a:p>
            <a:pPr marL="12700">
              <a:spcBef>
                <a:spcPts val="105"/>
              </a:spcBef>
            </a:pPr>
            <a:r>
              <a:rPr dirty="0"/>
              <a:t>Fan</a:t>
            </a:r>
            <a:r>
              <a:rPr lang="en-US" spc="45" dirty="0"/>
              <a:t>-B</a:t>
            </a:r>
            <a:r>
              <a:rPr dirty="0"/>
              <a:t>eam</a:t>
            </a:r>
            <a:r>
              <a:rPr spc="60" dirty="0"/>
              <a:t> </a:t>
            </a:r>
            <a:r>
              <a:rPr spc="-25" dirty="0"/>
              <a:t>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9" y="171705"/>
            <a:ext cx="8372482" cy="1004839"/>
          </a:xfrm>
          <a:prstGeom prst="rect">
            <a:avLst/>
          </a:prstGeom>
        </p:spPr>
        <p:txBody>
          <a:bodyPr vert="horz" wrap="square" lIns="0" tIns="324561" rIns="0" bIns="0" rtlCol="0">
            <a:spAutoFit/>
          </a:bodyPr>
          <a:lstStyle/>
          <a:p>
            <a:pPr marL="1714500">
              <a:spcBef>
                <a:spcPts val="105"/>
              </a:spcBef>
            </a:pPr>
            <a:r>
              <a:rPr dirty="0"/>
              <a:t>Fan</a:t>
            </a:r>
            <a:r>
              <a:rPr lang="en-US" spc="50" dirty="0"/>
              <a:t>-B</a:t>
            </a:r>
            <a:r>
              <a:rPr dirty="0"/>
              <a:t>eam:</a:t>
            </a:r>
            <a:r>
              <a:rPr spc="35" dirty="0"/>
              <a:t> </a:t>
            </a:r>
            <a:r>
              <a:rPr b="1" i="1" spc="-10" dirty="0">
                <a:latin typeface="Arial"/>
                <a:cs typeface="Arial"/>
              </a:rPr>
              <a:t>fanbeam</a:t>
            </a:r>
          </a:p>
        </p:txBody>
      </p:sp>
      <p:sp>
        <p:nvSpPr>
          <p:cNvPr id="3" name="object 3"/>
          <p:cNvSpPr txBox="1"/>
          <p:nvPr/>
        </p:nvSpPr>
        <p:spPr>
          <a:xfrm>
            <a:off x="685801" y="1624330"/>
            <a:ext cx="10591800" cy="1915268"/>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Source</a:t>
            </a:r>
            <a:r>
              <a:rPr sz="2800" spc="-30" dirty="0">
                <a:latin typeface="Microsoft Sans Serif"/>
                <a:cs typeface="Microsoft Sans Serif"/>
              </a:rPr>
              <a:t> </a:t>
            </a:r>
            <a:r>
              <a:rPr sz="2800" dirty="0">
                <a:latin typeface="Microsoft Sans Serif"/>
                <a:cs typeface="Microsoft Sans Serif"/>
              </a:rPr>
              <a:t>beams</a:t>
            </a:r>
            <a:r>
              <a:rPr sz="2800" spc="-15" dirty="0">
                <a:latin typeface="Microsoft Sans Serif"/>
                <a:cs typeface="Microsoft Sans Serif"/>
              </a:rPr>
              <a:t> </a:t>
            </a:r>
            <a:r>
              <a:rPr sz="2800" dirty="0">
                <a:latin typeface="Microsoft Sans Serif"/>
                <a:cs typeface="Microsoft Sans Serif"/>
              </a:rPr>
              <a:t>are</a:t>
            </a:r>
            <a:r>
              <a:rPr sz="2800" spc="-35" dirty="0">
                <a:latin typeface="Microsoft Sans Serif"/>
                <a:cs typeface="Microsoft Sans Serif"/>
              </a:rPr>
              <a:t> </a:t>
            </a:r>
            <a:r>
              <a:rPr sz="2800" dirty="0">
                <a:latin typeface="Microsoft Sans Serif"/>
                <a:cs typeface="Microsoft Sans Serif"/>
              </a:rPr>
              <a:t>projected</a:t>
            </a:r>
            <a:r>
              <a:rPr sz="2800" spc="-25" dirty="0">
                <a:latin typeface="Microsoft Sans Serif"/>
                <a:cs typeface="Microsoft Sans Serif"/>
              </a:rPr>
              <a:t> </a:t>
            </a:r>
            <a:r>
              <a:rPr sz="2800" dirty="0">
                <a:latin typeface="Microsoft Sans Serif"/>
                <a:cs typeface="Microsoft Sans Serif"/>
              </a:rPr>
              <a:t>in</a:t>
            </a:r>
            <a:r>
              <a:rPr sz="2800" spc="-25" dirty="0">
                <a:latin typeface="Microsoft Sans Serif"/>
                <a:cs typeface="Microsoft Sans Serif"/>
              </a:rPr>
              <a:t> </a:t>
            </a:r>
            <a:r>
              <a:rPr sz="2800" dirty="0">
                <a:latin typeface="Microsoft Sans Serif"/>
                <a:cs typeface="Microsoft Sans Serif"/>
              </a:rPr>
              <a:t>a</a:t>
            </a:r>
            <a:r>
              <a:rPr sz="2800" spc="-25" dirty="0">
                <a:latin typeface="Microsoft Sans Serif"/>
                <a:cs typeface="Microsoft Sans Serif"/>
              </a:rPr>
              <a:t> </a:t>
            </a:r>
            <a:r>
              <a:rPr sz="2800" dirty="0">
                <a:latin typeface="Microsoft Sans Serif"/>
                <a:cs typeface="Microsoft Sans Serif"/>
              </a:rPr>
              <a:t>fan</a:t>
            </a:r>
            <a:r>
              <a:rPr sz="2800" spc="-30" dirty="0">
                <a:latin typeface="Microsoft Sans Serif"/>
                <a:cs typeface="Microsoft Sans Serif"/>
              </a:rPr>
              <a:t> </a:t>
            </a:r>
            <a:r>
              <a:rPr sz="2800" dirty="0">
                <a:latin typeface="Microsoft Sans Serif"/>
                <a:cs typeface="Microsoft Sans Serif"/>
              </a:rPr>
              <a:t>shape</a:t>
            </a:r>
            <a:r>
              <a:rPr sz="2800" spc="-35" dirty="0">
                <a:latin typeface="Microsoft Sans Serif"/>
                <a:cs typeface="Microsoft Sans Serif"/>
              </a:rPr>
              <a:t> </a:t>
            </a:r>
            <a:r>
              <a:rPr sz="2800" spc="-20" dirty="0">
                <a:latin typeface="Microsoft Sans Serif"/>
                <a:cs typeface="Microsoft Sans Serif"/>
              </a:rPr>
              <a:t>from </a:t>
            </a:r>
            <a:r>
              <a:rPr sz="2800" dirty="0">
                <a:latin typeface="Microsoft Sans Serif"/>
                <a:cs typeface="Microsoft Sans Serif"/>
              </a:rPr>
              <a:t>a</a:t>
            </a:r>
            <a:r>
              <a:rPr sz="2800" spc="-10" dirty="0">
                <a:latin typeface="Microsoft Sans Serif"/>
                <a:cs typeface="Microsoft Sans Serif"/>
              </a:rPr>
              <a:t> </a:t>
            </a:r>
            <a:r>
              <a:rPr sz="2800" dirty="0">
                <a:latin typeface="Microsoft Sans Serif"/>
                <a:cs typeface="Microsoft Sans Serif"/>
              </a:rPr>
              <a:t>beam</a:t>
            </a:r>
            <a:r>
              <a:rPr sz="2800" spc="5" dirty="0">
                <a:latin typeface="Microsoft Sans Serif"/>
                <a:cs typeface="Microsoft Sans Serif"/>
              </a:rPr>
              <a:t> </a:t>
            </a:r>
            <a:r>
              <a:rPr sz="2800" spc="-10" dirty="0">
                <a:latin typeface="Microsoft Sans Serif"/>
                <a:cs typeface="Microsoft Sans Serif"/>
              </a:rPr>
              <a:t>vertex</a:t>
            </a:r>
            <a:endParaRPr sz="2800" dirty="0">
              <a:latin typeface="Microsoft Sans Serif"/>
              <a:cs typeface="Microsoft Sans Serif"/>
            </a:endParaRPr>
          </a:p>
          <a:p>
            <a:pPr marL="355600" marR="302260" indent="-342900">
              <a:spcBef>
                <a:spcPts val="675"/>
              </a:spcBef>
              <a:buChar char="•"/>
              <a:tabLst>
                <a:tab pos="355600" algn="l"/>
              </a:tabLst>
            </a:pPr>
            <a:r>
              <a:rPr sz="2800" dirty="0">
                <a:latin typeface="Microsoft Sans Serif"/>
                <a:cs typeface="Microsoft Sans Serif"/>
              </a:rPr>
              <a:t>D</a:t>
            </a:r>
            <a:r>
              <a:rPr sz="2800" spc="-30" dirty="0">
                <a:latin typeface="Microsoft Sans Serif"/>
                <a:cs typeface="Microsoft Sans Serif"/>
              </a:rPr>
              <a:t> </a:t>
            </a:r>
            <a:r>
              <a:rPr sz="2800" dirty="0">
                <a:latin typeface="Microsoft Sans Serif"/>
                <a:cs typeface="Microsoft Sans Serif"/>
              </a:rPr>
              <a:t>is</a:t>
            </a:r>
            <a:r>
              <a:rPr sz="2800" spc="-20" dirty="0">
                <a:latin typeface="Microsoft Sans Serif"/>
                <a:cs typeface="Microsoft Sans Serif"/>
              </a:rPr>
              <a:t> </a:t>
            </a:r>
            <a:r>
              <a:rPr sz="2800" dirty="0">
                <a:latin typeface="Microsoft Sans Serif"/>
                <a:cs typeface="Microsoft Sans Serif"/>
              </a:rPr>
              <a:t>the</a:t>
            </a:r>
            <a:r>
              <a:rPr sz="2800" spc="-30" dirty="0">
                <a:latin typeface="Microsoft Sans Serif"/>
                <a:cs typeface="Microsoft Sans Serif"/>
              </a:rPr>
              <a:t> </a:t>
            </a:r>
            <a:r>
              <a:rPr sz="2800" dirty="0">
                <a:latin typeface="Microsoft Sans Serif"/>
                <a:cs typeface="Microsoft Sans Serif"/>
              </a:rPr>
              <a:t>distance</a:t>
            </a:r>
            <a:r>
              <a:rPr sz="2800" spc="-15" dirty="0">
                <a:latin typeface="Microsoft Sans Serif"/>
                <a:cs typeface="Microsoft Sans Serif"/>
              </a:rPr>
              <a:t> </a:t>
            </a:r>
            <a:r>
              <a:rPr sz="2800" dirty="0">
                <a:latin typeface="Microsoft Sans Serif"/>
                <a:cs typeface="Microsoft Sans Serif"/>
              </a:rPr>
              <a:t>between</a:t>
            </a:r>
            <a:r>
              <a:rPr sz="2800" spc="-15" dirty="0">
                <a:latin typeface="Microsoft Sans Serif"/>
                <a:cs typeface="Microsoft Sans Serif"/>
              </a:rPr>
              <a:t> </a:t>
            </a:r>
            <a:r>
              <a:rPr sz="2800" dirty="0">
                <a:latin typeface="Microsoft Sans Serif"/>
                <a:cs typeface="Microsoft Sans Serif"/>
              </a:rPr>
              <a:t>the</a:t>
            </a:r>
            <a:r>
              <a:rPr sz="2800" spc="-20" dirty="0">
                <a:latin typeface="Microsoft Sans Serif"/>
                <a:cs typeface="Microsoft Sans Serif"/>
              </a:rPr>
              <a:t> </a:t>
            </a:r>
            <a:r>
              <a:rPr sz="2800" dirty="0">
                <a:latin typeface="Microsoft Sans Serif"/>
                <a:cs typeface="Microsoft Sans Serif"/>
              </a:rPr>
              <a:t>fan</a:t>
            </a:r>
            <a:r>
              <a:rPr sz="2800" spc="-20" dirty="0">
                <a:latin typeface="Microsoft Sans Serif"/>
                <a:cs typeface="Microsoft Sans Serif"/>
              </a:rPr>
              <a:t> </a:t>
            </a:r>
            <a:r>
              <a:rPr sz="2800" dirty="0">
                <a:latin typeface="Microsoft Sans Serif"/>
                <a:cs typeface="Microsoft Sans Serif"/>
              </a:rPr>
              <a:t>beam</a:t>
            </a:r>
            <a:r>
              <a:rPr sz="2800" spc="-5" dirty="0">
                <a:latin typeface="Microsoft Sans Serif"/>
                <a:cs typeface="Microsoft Sans Serif"/>
              </a:rPr>
              <a:t> </a:t>
            </a:r>
            <a:r>
              <a:rPr sz="2800" spc="-10" dirty="0">
                <a:latin typeface="Microsoft Sans Serif"/>
                <a:cs typeface="Microsoft Sans Serif"/>
              </a:rPr>
              <a:t>vertex </a:t>
            </a:r>
            <a:r>
              <a:rPr sz="2800" dirty="0">
                <a:latin typeface="Microsoft Sans Serif"/>
                <a:cs typeface="Microsoft Sans Serif"/>
              </a:rPr>
              <a:t>and</a:t>
            </a:r>
            <a:r>
              <a:rPr sz="2800" spc="-55" dirty="0">
                <a:latin typeface="Microsoft Sans Serif"/>
                <a:cs typeface="Microsoft Sans Serif"/>
              </a:rPr>
              <a:t> </a:t>
            </a:r>
            <a:r>
              <a:rPr sz="2800" dirty="0">
                <a:latin typeface="Microsoft Sans Serif"/>
                <a:cs typeface="Microsoft Sans Serif"/>
              </a:rPr>
              <a:t>sample’s</a:t>
            </a:r>
            <a:r>
              <a:rPr sz="2800" spc="-30" dirty="0">
                <a:latin typeface="Microsoft Sans Serif"/>
                <a:cs typeface="Microsoft Sans Serif"/>
              </a:rPr>
              <a:t> </a:t>
            </a:r>
            <a:r>
              <a:rPr sz="2800" dirty="0">
                <a:latin typeface="Microsoft Sans Serif"/>
                <a:cs typeface="Microsoft Sans Serif"/>
              </a:rPr>
              <a:t>center</a:t>
            </a:r>
            <a:r>
              <a:rPr sz="2800" spc="-55" dirty="0">
                <a:latin typeface="Microsoft Sans Serif"/>
                <a:cs typeface="Microsoft Sans Serif"/>
              </a:rPr>
              <a:t> </a:t>
            </a:r>
            <a:r>
              <a:rPr sz="2800" dirty="0">
                <a:latin typeface="Microsoft Sans Serif"/>
                <a:cs typeface="Microsoft Sans Serif"/>
              </a:rPr>
              <a:t>of</a:t>
            </a:r>
            <a:r>
              <a:rPr sz="2800" spc="-50" dirty="0">
                <a:latin typeface="Microsoft Sans Serif"/>
                <a:cs typeface="Microsoft Sans Serif"/>
              </a:rPr>
              <a:t> </a:t>
            </a:r>
            <a:r>
              <a:rPr sz="2800" spc="-10" dirty="0">
                <a:latin typeface="Microsoft Sans Serif"/>
                <a:cs typeface="Microsoft Sans Serif"/>
              </a:rPr>
              <a:t>rotation</a:t>
            </a:r>
            <a:endParaRPr sz="2800" dirty="0">
              <a:latin typeface="Microsoft Sans Serif"/>
              <a:cs typeface="Microsoft Sans Serif"/>
            </a:endParaRPr>
          </a:p>
          <a:p>
            <a:pPr marL="354965" indent="-342265">
              <a:spcBef>
                <a:spcPts val="675"/>
              </a:spcBef>
              <a:buChar char="•"/>
              <a:tabLst>
                <a:tab pos="354965" algn="l"/>
              </a:tabLst>
            </a:pPr>
            <a:r>
              <a:rPr sz="2800" dirty="0">
                <a:latin typeface="Microsoft Sans Serif"/>
                <a:cs typeface="Microsoft Sans Serif"/>
              </a:rPr>
              <a:t>Source</a:t>
            </a:r>
            <a:r>
              <a:rPr sz="2800" spc="-35" dirty="0">
                <a:latin typeface="Microsoft Sans Serif"/>
                <a:cs typeface="Microsoft Sans Serif"/>
              </a:rPr>
              <a:t> </a:t>
            </a:r>
            <a:r>
              <a:rPr sz="2800" dirty="0">
                <a:latin typeface="Microsoft Sans Serif"/>
                <a:cs typeface="Microsoft Sans Serif"/>
              </a:rPr>
              <a:t>and</a:t>
            </a:r>
            <a:r>
              <a:rPr sz="2800" spc="-20" dirty="0">
                <a:latin typeface="Microsoft Sans Serif"/>
                <a:cs typeface="Microsoft Sans Serif"/>
              </a:rPr>
              <a:t> </a:t>
            </a:r>
            <a:r>
              <a:rPr sz="2800" dirty="0">
                <a:latin typeface="Microsoft Sans Serif"/>
                <a:cs typeface="Microsoft Sans Serif"/>
              </a:rPr>
              <a:t>detector</a:t>
            </a:r>
            <a:r>
              <a:rPr sz="2800" spc="-10" dirty="0">
                <a:latin typeface="Microsoft Sans Serif"/>
                <a:cs typeface="Microsoft Sans Serif"/>
              </a:rPr>
              <a:t> </a:t>
            </a:r>
            <a:r>
              <a:rPr sz="2800" dirty="0">
                <a:latin typeface="Microsoft Sans Serif"/>
                <a:cs typeface="Microsoft Sans Serif"/>
              </a:rPr>
              <a:t>are</a:t>
            </a:r>
            <a:r>
              <a:rPr sz="2800" spc="-20" dirty="0">
                <a:latin typeface="Microsoft Sans Serif"/>
                <a:cs typeface="Microsoft Sans Serif"/>
              </a:rPr>
              <a:t> </a:t>
            </a:r>
            <a:r>
              <a:rPr sz="2800" dirty="0">
                <a:latin typeface="Microsoft Sans Serif"/>
                <a:cs typeface="Microsoft Sans Serif"/>
              </a:rPr>
              <a:t>rotated</a:t>
            </a:r>
            <a:r>
              <a:rPr sz="2800" spc="-15" dirty="0">
                <a:latin typeface="Microsoft Sans Serif"/>
                <a:cs typeface="Microsoft Sans Serif"/>
              </a:rPr>
              <a:t> </a:t>
            </a:r>
            <a:r>
              <a:rPr sz="2800" dirty="0">
                <a:latin typeface="Microsoft Sans Serif"/>
                <a:cs typeface="Microsoft Sans Serif"/>
              </a:rPr>
              <a:t>at</a:t>
            </a:r>
            <a:r>
              <a:rPr sz="2800" spc="-30" dirty="0">
                <a:latin typeface="Microsoft Sans Serif"/>
                <a:cs typeface="Microsoft Sans Serif"/>
              </a:rPr>
              <a:t> </a:t>
            </a:r>
            <a:r>
              <a:rPr sz="2800" dirty="0">
                <a:latin typeface="Microsoft Sans Serif"/>
                <a:cs typeface="Microsoft Sans Serif"/>
              </a:rPr>
              <a:t>an</a:t>
            </a:r>
            <a:r>
              <a:rPr sz="2800" spc="-35" dirty="0">
                <a:latin typeface="Microsoft Sans Serif"/>
                <a:cs typeface="Microsoft Sans Serif"/>
              </a:rPr>
              <a:t> </a:t>
            </a:r>
            <a:r>
              <a:rPr sz="2800" dirty="0">
                <a:latin typeface="Microsoft Sans Serif"/>
                <a:cs typeface="Microsoft Sans Serif"/>
              </a:rPr>
              <a:t>angle</a:t>
            </a:r>
            <a:r>
              <a:rPr sz="2800" spc="-5" dirty="0">
                <a:latin typeface="Microsoft Sans Serif"/>
                <a:cs typeface="Microsoft Sans Serif"/>
              </a:rPr>
              <a:t> </a:t>
            </a:r>
            <a:r>
              <a:rPr sz="2800" spc="-50" dirty="0">
                <a:latin typeface="Microsoft Sans Serif"/>
                <a:cs typeface="Microsoft Sans Serif"/>
              </a:rPr>
              <a:t>θ</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4191000" y="3836504"/>
            <a:ext cx="2945511" cy="2481707"/>
          </a:xfrm>
          <a:prstGeom prst="rect">
            <a:avLst/>
          </a:prstGeom>
        </p:spPr>
      </p:pic>
      <p:pic>
        <p:nvPicPr>
          <p:cNvPr id="5" name="object 5"/>
          <p:cNvPicPr/>
          <p:nvPr/>
        </p:nvPicPr>
        <p:blipFill>
          <a:blip r:embed="rId4" cstate="print"/>
          <a:stretch>
            <a:fillRect/>
          </a:stretch>
        </p:blipFill>
        <p:spPr>
          <a:xfrm>
            <a:off x="990600" y="3957592"/>
            <a:ext cx="1651382" cy="23241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5"/>
            <a:ext cx="11410967" cy="1004839"/>
          </a:xfrm>
          <a:prstGeom prst="rect">
            <a:avLst/>
          </a:prstGeom>
        </p:spPr>
        <p:txBody>
          <a:bodyPr vert="horz" wrap="square" lIns="0" tIns="324561" rIns="0" bIns="0" rtlCol="0">
            <a:spAutoFit/>
          </a:bodyPr>
          <a:lstStyle/>
          <a:p>
            <a:pPr marL="1714500">
              <a:spcBef>
                <a:spcPts val="105"/>
              </a:spcBef>
            </a:pPr>
            <a:r>
              <a:rPr dirty="0"/>
              <a:t>Fan</a:t>
            </a:r>
            <a:r>
              <a:rPr spc="50" dirty="0"/>
              <a:t> </a:t>
            </a:r>
            <a:r>
              <a:rPr dirty="0"/>
              <a:t>beam:</a:t>
            </a:r>
            <a:r>
              <a:rPr spc="35" dirty="0"/>
              <a:t> </a:t>
            </a:r>
            <a:r>
              <a:rPr b="1" i="1" spc="-10" dirty="0">
                <a:latin typeface="Arial"/>
                <a:cs typeface="Arial"/>
              </a:rPr>
              <a:t>fanbeam</a:t>
            </a:r>
          </a:p>
        </p:txBody>
      </p:sp>
      <p:sp>
        <p:nvSpPr>
          <p:cNvPr id="3" name="object 3"/>
          <p:cNvSpPr txBox="1"/>
          <p:nvPr/>
        </p:nvSpPr>
        <p:spPr>
          <a:xfrm>
            <a:off x="228600" y="1624330"/>
            <a:ext cx="11734800" cy="4946867"/>
          </a:xfrm>
          <a:prstGeom prst="rect">
            <a:avLst/>
          </a:prstGeom>
        </p:spPr>
        <p:txBody>
          <a:bodyPr vert="horz" wrap="square" lIns="0" tIns="12065" rIns="0" bIns="0" rtlCol="0">
            <a:spAutoFit/>
          </a:bodyPr>
          <a:lstStyle/>
          <a:p>
            <a:pPr marL="462915" marR="812165" indent="-342900">
              <a:spcBef>
                <a:spcPts val="95"/>
              </a:spcBef>
              <a:buChar char="•"/>
              <a:tabLst>
                <a:tab pos="462915" algn="l"/>
              </a:tabLst>
            </a:pPr>
            <a:r>
              <a:rPr sz="2800" dirty="0">
                <a:latin typeface="Microsoft Sans Serif"/>
                <a:cs typeface="Microsoft Sans Serif"/>
              </a:rPr>
              <a:t>Calculates</a:t>
            </a:r>
            <a:r>
              <a:rPr sz="2800" spc="-50" dirty="0">
                <a:latin typeface="Microsoft Sans Serif"/>
                <a:cs typeface="Microsoft Sans Serif"/>
              </a:rPr>
              <a:t> </a:t>
            </a:r>
            <a:r>
              <a:rPr sz="2800" dirty="0">
                <a:latin typeface="Microsoft Sans Serif"/>
                <a:cs typeface="Microsoft Sans Serif"/>
              </a:rPr>
              <a:t>projection</a:t>
            </a:r>
            <a:r>
              <a:rPr sz="2800" spc="-55" dirty="0">
                <a:latin typeface="Microsoft Sans Serif"/>
                <a:cs typeface="Microsoft Sans Serif"/>
              </a:rPr>
              <a:t> </a:t>
            </a:r>
            <a:r>
              <a:rPr sz="2800" dirty="0">
                <a:latin typeface="Microsoft Sans Serif"/>
                <a:cs typeface="Microsoft Sans Serif"/>
              </a:rPr>
              <a:t>data</a:t>
            </a:r>
            <a:r>
              <a:rPr sz="2800" spc="-45" dirty="0">
                <a:latin typeface="Microsoft Sans Serif"/>
                <a:cs typeface="Microsoft Sans Serif"/>
              </a:rPr>
              <a:t> </a:t>
            </a:r>
            <a:r>
              <a:rPr sz="2800" dirty="0">
                <a:latin typeface="Microsoft Sans Serif"/>
                <a:cs typeface="Microsoft Sans Serif"/>
              </a:rPr>
              <a:t>for</a:t>
            </a:r>
            <a:r>
              <a:rPr sz="2800" spc="-50" dirty="0">
                <a:latin typeface="Microsoft Sans Serif"/>
                <a:cs typeface="Microsoft Sans Serif"/>
              </a:rPr>
              <a:t> </a:t>
            </a:r>
            <a:r>
              <a:rPr sz="2800" dirty="0">
                <a:latin typeface="Microsoft Sans Serif"/>
                <a:cs typeface="Microsoft Sans Serif"/>
              </a:rPr>
              <a:t>a</a:t>
            </a:r>
            <a:r>
              <a:rPr sz="2800" spc="-45" dirty="0">
                <a:latin typeface="Microsoft Sans Serif"/>
                <a:cs typeface="Microsoft Sans Serif"/>
              </a:rPr>
              <a:t> </a:t>
            </a:r>
            <a:r>
              <a:rPr sz="2800" dirty="0">
                <a:latin typeface="Microsoft Sans Serif"/>
                <a:cs typeface="Microsoft Sans Serif"/>
              </a:rPr>
              <a:t>specified</a:t>
            </a:r>
            <a:r>
              <a:rPr sz="2800" spc="-55" dirty="0">
                <a:latin typeface="Microsoft Sans Serif"/>
                <a:cs typeface="Microsoft Sans Serif"/>
              </a:rPr>
              <a:t> </a:t>
            </a:r>
            <a:r>
              <a:rPr sz="2800" spc="-25" dirty="0">
                <a:latin typeface="Microsoft Sans Serif"/>
                <a:cs typeface="Microsoft Sans Serif"/>
              </a:rPr>
              <a:t>fan </a:t>
            </a:r>
            <a:r>
              <a:rPr sz="2800" dirty="0">
                <a:latin typeface="Microsoft Sans Serif"/>
                <a:cs typeface="Microsoft Sans Serif"/>
              </a:rPr>
              <a:t>beam</a:t>
            </a:r>
            <a:r>
              <a:rPr sz="2800" spc="-40" dirty="0">
                <a:latin typeface="Microsoft Sans Serif"/>
                <a:cs typeface="Microsoft Sans Serif"/>
              </a:rPr>
              <a:t> </a:t>
            </a:r>
            <a:r>
              <a:rPr sz="2800" spc="-10" dirty="0">
                <a:latin typeface="Microsoft Sans Serif"/>
                <a:cs typeface="Microsoft Sans Serif"/>
              </a:rPr>
              <a:t>geometry</a:t>
            </a:r>
            <a:endParaRPr sz="2800" dirty="0">
              <a:latin typeface="Microsoft Sans Serif"/>
              <a:cs typeface="Microsoft Sans Serif"/>
            </a:endParaRPr>
          </a:p>
          <a:p>
            <a:pPr marL="462915" indent="-342900">
              <a:spcBef>
                <a:spcPts val="675"/>
              </a:spcBef>
              <a:buChar char="•"/>
              <a:tabLst>
                <a:tab pos="462915" algn="l"/>
              </a:tabLst>
            </a:pPr>
            <a:r>
              <a:rPr sz="2800" dirty="0">
                <a:latin typeface="Microsoft Sans Serif"/>
                <a:cs typeface="Microsoft Sans Serif"/>
              </a:rPr>
              <a:t>Rotation</a:t>
            </a:r>
            <a:r>
              <a:rPr sz="2800" spc="-15" dirty="0">
                <a:latin typeface="Microsoft Sans Serif"/>
                <a:cs typeface="Microsoft Sans Serif"/>
              </a:rPr>
              <a:t> </a:t>
            </a:r>
            <a:r>
              <a:rPr sz="2800" dirty="0">
                <a:latin typeface="Microsoft Sans Serif"/>
                <a:cs typeface="Microsoft Sans Serif"/>
              </a:rPr>
              <a:t>angles</a:t>
            </a:r>
            <a:r>
              <a:rPr sz="2800" spc="5" dirty="0">
                <a:latin typeface="Microsoft Sans Serif"/>
                <a:cs typeface="Microsoft Sans Serif"/>
              </a:rPr>
              <a:t> </a:t>
            </a:r>
            <a:r>
              <a:rPr sz="2800" dirty="0">
                <a:latin typeface="Microsoft Sans Serif"/>
                <a:cs typeface="Microsoft Sans Serif"/>
              </a:rPr>
              <a:t>(θ)</a:t>
            </a:r>
            <a:r>
              <a:rPr sz="2800" spc="-15" dirty="0">
                <a:latin typeface="Microsoft Sans Serif"/>
                <a:cs typeface="Microsoft Sans Serif"/>
              </a:rPr>
              <a:t> </a:t>
            </a:r>
            <a:r>
              <a:rPr sz="2800" dirty="0">
                <a:latin typeface="Microsoft Sans Serif"/>
                <a:cs typeface="Microsoft Sans Serif"/>
              </a:rPr>
              <a:t>fixed</a:t>
            </a:r>
            <a:r>
              <a:rPr sz="2800" spc="-10" dirty="0">
                <a:latin typeface="Microsoft Sans Serif"/>
                <a:cs typeface="Microsoft Sans Serif"/>
              </a:rPr>
              <a:t> </a:t>
            </a:r>
            <a:r>
              <a:rPr sz="2800" dirty="0">
                <a:latin typeface="Microsoft Sans Serif"/>
                <a:cs typeface="Microsoft Sans Serif"/>
              </a:rPr>
              <a:t>at</a:t>
            </a:r>
            <a:r>
              <a:rPr sz="2800" spc="-15" dirty="0">
                <a:latin typeface="Microsoft Sans Serif"/>
                <a:cs typeface="Microsoft Sans Serif"/>
              </a:rPr>
              <a:t> </a:t>
            </a:r>
            <a:r>
              <a:rPr sz="2800" dirty="0">
                <a:latin typeface="Microsoft Sans Serif"/>
                <a:cs typeface="Microsoft Sans Serif"/>
              </a:rPr>
              <a:t>0</a:t>
            </a:r>
            <a:r>
              <a:rPr sz="2800" spc="-15" dirty="0">
                <a:latin typeface="Microsoft Sans Serif"/>
                <a:cs typeface="Microsoft Sans Serif"/>
              </a:rPr>
              <a:t> </a:t>
            </a:r>
            <a:r>
              <a:rPr sz="2800" dirty="0">
                <a:latin typeface="Microsoft Sans Serif"/>
                <a:cs typeface="Microsoft Sans Serif"/>
              </a:rPr>
              <a:t>to</a:t>
            </a:r>
            <a:r>
              <a:rPr sz="2800" spc="-10" dirty="0">
                <a:latin typeface="Microsoft Sans Serif"/>
                <a:cs typeface="Microsoft Sans Serif"/>
              </a:rPr>
              <a:t> </a:t>
            </a:r>
            <a:r>
              <a:rPr sz="2800" dirty="0">
                <a:latin typeface="Microsoft Sans Serif"/>
                <a:cs typeface="Microsoft Sans Serif"/>
              </a:rPr>
              <a:t>360</a:t>
            </a:r>
            <a:r>
              <a:rPr sz="2800" spc="-5" dirty="0">
                <a:latin typeface="Microsoft Sans Serif"/>
                <a:cs typeface="Microsoft Sans Serif"/>
              </a:rPr>
              <a:t> </a:t>
            </a:r>
            <a:r>
              <a:rPr sz="2800" spc="-10" dirty="0">
                <a:latin typeface="Microsoft Sans Serif"/>
                <a:cs typeface="Microsoft Sans Serif"/>
              </a:rPr>
              <a:t>degrees</a:t>
            </a:r>
            <a:endParaRPr sz="2800" dirty="0">
              <a:latin typeface="Microsoft Sans Serif"/>
              <a:cs typeface="Microsoft Sans Serif"/>
            </a:endParaRPr>
          </a:p>
          <a:p>
            <a:pPr marL="1608455" marR="5080" indent="-1596390">
              <a:spcBef>
                <a:spcPts val="1325"/>
              </a:spcBef>
            </a:pPr>
            <a:r>
              <a:rPr sz="2800" dirty="0">
                <a:solidFill>
                  <a:srgbClr val="00AF50"/>
                </a:solidFill>
                <a:latin typeface="Microsoft Sans Serif"/>
                <a:cs typeface="Microsoft Sans Serif"/>
              </a:rPr>
              <a:t>[F1,</a:t>
            </a:r>
            <a:r>
              <a:rPr sz="2800" spc="-85" dirty="0">
                <a:solidFill>
                  <a:srgbClr val="00AF50"/>
                </a:solidFill>
                <a:latin typeface="Microsoft Sans Serif"/>
                <a:cs typeface="Microsoft Sans Serif"/>
              </a:rPr>
              <a:t> </a:t>
            </a:r>
            <a:r>
              <a:rPr sz="2800" dirty="0">
                <a:solidFill>
                  <a:srgbClr val="00AF50"/>
                </a:solidFill>
                <a:latin typeface="Microsoft Sans Serif"/>
                <a:cs typeface="Microsoft Sans Serif"/>
              </a:rPr>
              <a:t>sensor_pos1,</a:t>
            </a:r>
            <a:r>
              <a:rPr sz="2800" spc="-90" dirty="0">
                <a:solidFill>
                  <a:srgbClr val="00AF50"/>
                </a:solidFill>
                <a:latin typeface="Microsoft Sans Serif"/>
                <a:cs typeface="Microsoft Sans Serif"/>
              </a:rPr>
              <a:t> </a:t>
            </a:r>
            <a:r>
              <a:rPr sz="2800" dirty="0">
                <a:solidFill>
                  <a:srgbClr val="00AF50"/>
                </a:solidFill>
                <a:latin typeface="Microsoft Sans Serif"/>
                <a:cs typeface="Microsoft Sans Serif"/>
              </a:rPr>
              <a:t>fan_rot_angles1]</a:t>
            </a:r>
            <a:r>
              <a:rPr sz="2800" spc="-75" dirty="0">
                <a:solidFill>
                  <a:srgbClr val="00AF50"/>
                </a:solidFill>
                <a:latin typeface="Microsoft Sans Serif"/>
                <a:cs typeface="Microsoft Sans Serif"/>
              </a:rPr>
              <a:t> </a:t>
            </a:r>
            <a:r>
              <a:rPr lang="en-US" sz="2800" dirty="0">
                <a:solidFill>
                  <a:srgbClr val="00AF50"/>
                </a:solidFill>
                <a:latin typeface="Microsoft Sans Serif"/>
                <a:cs typeface="Microsoft Sans Serif"/>
              </a:rPr>
              <a:t>equals</a:t>
            </a:r>
            <a:r>
              <a:rPr sz="2800" spc="-45" dirty="0">
                <a:solidFill>
                  <a:srgbClr val="00AF50"/>
                </a:solidFill>
                <a:latin typeface="Microsoft Sans Serif"/>
                <a:cs typeface="Microsoft Sans Serif"/>
              </a:rPr>
              <a:t> </a:t>
            </a:r>
            <a:r>
              <a:rPr sz="2800" spc="-30" dirty="0">
                <a:solidFill>
                  <a:srgbClr val="00AF50"/>
                </a:solidFill>
                <a:latin typeface="Microsoft Sans Serif"/>
                <a:cs typeface="Microsoft Sans Serif"/>
              </a:rPr>
              <a:t>fanbeam(P,</a:t>
            </a:r>
            <a:r>
              <a:rPr sz="2800" spc="-75" dirty="0">
                <a:solidFill>
                  <a:srgbClr val="00AF50"/>
                </a:solidFill>
                <a:latin typeface="Microsoft Sans Serif"/>
                <a:cs typeface="Microsoft Sans Serif"/>
              </a:rPr>
              <a:t> </a:t>
            </a:r>
            <a:r>
              <a:rPr sz="2800" spc="-25" dirty="0">
                <a:solidFill>
                  <a:srgbClr val="00AF50"/>
                </a:solidFill>
                <a:latin typeface="Microsoft Sans Serif"/>
                <a:cs typeface="Microsoft Sans Serif"/>
              </a:rPr>
              <a:t>D, </a:t>
            </a:r>
            <a:r>
              <a:rPr sz="2800" spc="-10" dirty="0">
                <a:solidFill>
                  <a:srgbClr val="00AF50"/>
                </a:solidFill>
                <a:latin typeface="Microsoft Sans Serif"/>
                <a:cs typeface="Microsoft Sans Serif"/>
              </a:rPr>
              <a:t>‘FanSensorSpacing’,</a:t>
            </a:r>
            <a:r>
              <a:rPr sz="2800" spc="-15" dirty="0">
                <a:solidFill>
                  <a:srgbClr val="00AF50"/>
                </a:solidFill>
                <a:latin typeface="Microsoft Sans Serif"/>
                <a:cs typeface="Microsoft Sans Serif"/>
              </a:rPr>
              <a:t> </a:t>
            </a:r>
            <a:r>
              <a:rPr sz="2800" spc="-10" dirty="0">
                <a:solidFill>
                  <a:srgbClr val="00AF50"/>
                </a:solidFill>
                <a:latin typeface="Microsoft Sans Serif"/>
                <a:cs typeface="Microsoft Sans Serif"/>
              </a:rPr>
              <a:t>dsensor1);</a:t>
            </a:r>
            <a:endParaRPr sz="2800" dirty="0">
              <a:latin typeface="Microsoft Sans Serif"/>
              <a:cs typeface="Microsoft Sans Serif"/>
            </a:endParaRPr>
          </a:p>
          <a:p>
            <a:pPr marL="1885950" algn="l"/>
            <a:r>
              <a:rPr sz="2400" b="1" dirty="0">
                <a:latin typeface="Arial"/>
                <a:cs typeface="Arial"/>
              </a:rPr>
              <a:t>F1</a:t>
            </a:r>
            <a:r>
              <a:rPr sz="2400" b="1" spc="-5" dirty="0">
                <a:latin typeface="Arial"/>
                <a:cs typeface="Arial"/>
              </a:rPr>
              <a:t> </a:t>
            </a:r>
            <a:r>
              <a:rPr lang="en-US" sz="2400" dirty="0">
                <a:latin typeface="Microsoft Sans Serif"/>
                <a:cs typeface="Microsoft Sans Serif"/>
              </a:rPr>
              <a:t>-</a:t>
            </a:r>
            <a:r>
              <a:rPr sz="2400" dirty="0">
                <a:latin typeface="Microsoft Sans Serif"/>
                <a:cs typeface="Microsoft Sans Serif"/>
              </a:rPr>
              <a:t> </a:t>
            </a:r>
            <a:r>
              <a:rPr sz="2400" spc="-10" dirty="0">
                <a:latin typeface="Microsoft Sans Serif"/>
                <a:cs typeface="Microsoft Sans Serif"/>
              </a:rPr>
              <a:t>output</a:t>
            </a:r>
            <a:endParaRPr lang="en-US" sz="2400" spc="-10" dirty="0">
              <a:latin typeface="Microsoft Sans Serif"/>
              <a:cs typeface="Microsoft Sans Serif"/>
            </a:endParaRPr>
          </a:p>
          <a:p>
            <a:pPr marL="1885950" algn="l"/>
            <a:r>
              <a:rPr sz="2400" b="1" dirty="0">
                <a:latin typeface="Arial"/>
                <a:cs typeface="Arial"/>
              </a:rPr>
              <a:t>sensor_pos1</a:t>
            </a:r>
            <a:r>
              <a:rPr sz="2400" b="1" spc="-25" dirty="0">
                <a:latin typeface="Arial"/>
                <a:cs typeface="Arial"/>
              </a:rPr>
              <a:t> </a:t>
            </a:r>
            <a:r>
              <a:rPr lang="en-US" sz="2400" dirty="0">
                <a:latin typeface="Microsoft Sans Serif"/>
                <a:cs typeface="Microsoft Sans Serif"/>
              </a:rPr>
              <a:t>-</a:t>
            </a:r>
            <a:r>
              <a:rPr sz="2400" spc="10" dirty="0">
                <a:latin typeface="Microsoft Sans Serif"/>
                <a:cs typeface="Microsoft Sans Serif"/>
              </a:rPr>
              <a:t> </a:t>
            </a:r>
            <a:r>
              <a:rPr sz="2400" dirty="0">
                <a:latin typeface="Microsoft Sans Serif"/>
                <a:cs typeface="Microsoft Sans Serif"/>
              </a:rPr>
              <a:t>sensor</a:t>
            </a:r>
            <a:r>
              <a:rPr sz="2400" spc="-10" dirty="0">
                <a:latin typeface="Microsoft Sans Serif"/>
                <a:cs typeface="Microsoft Sans Serif"/>
              </a:rPr>
              <a:t> positions </a:t>
            </a:r>
            <a:endParaRPr lang="en-US" sz="2400" spc="-10" dirty="0">
              <a:latin typeface="Microsoft Sans Serif"/>
              <a:cs typeface="Microsoft Sans Serif"/>
            </a:endParaRPr>
          </a:p>
          <a:p>
            <a:pPr marL="1885950" algn="l"/>
            <a:r>
              <a:rPr sz="2400" b="1" dirty="0">
                <a:latin typeface="Arial"/>
                <a:cs typeface="Arial"/>
              </a:rPr>
              <a:t>fan_rot_angles1</a:t>
            </a:r>
            <a:r>
              <a:rPr sz="2400" b="1" spc="-55" dirty="0">
                <a:latin typeface="Arial"/>
                <a:cs typeface="Arial"/>
              </a:rPr>
              <a:t> </a:t>
            </a:r>
            <a:r>
              <a:rPr lang="en-US" sz="2400" dirty="0">
                <a:latin typeface="Microsoft Sans Serif"/>
                <a:cs typeface="Microsoft Sans Serif"/>
              </a:rPr>
              <a:t>-</a:t>
            </a:r>
            <a:r>
              <a:rPr sz="2400" spc="-10" dirty="0">
                <a:latin typeface="Microsoft Sans Serif"/>
                <a:cs typeface="Microsoft Sans Serif"/>
              </a:rPr>
              <a:t> </a:t>
            </a:r>
            <a:r>
              <a:rPr sz="2400" dirty="0">
                <a:latin typeface="Microsoft Sans Serif"/>
                <a:cs typeface="Microsoft Sans Serif"/>
              </a:rPr>
              <a:t>fan</a:t>
            </a:r>
            <a:r>
              <a:rPr sz="2400" spc="-10" dirty="0">
                <a:latin typeface="Microsoft Sans Serif"/>
                <a:cs typeface="Microsoft Sans Serif"/>
              </a:rPr>
              <a:t> </a:t>
            </a:r>
            <a:r>
              <a:rPr sz="2400" dirty="0">
                <a:latin typeface="Microsoft Sans Serif"/>
                <a:cs typeface="Microsoft Sans Serif"/>
              </a:rPr>
              <a:t>rotation</a:t>
            </a:r>
            <a:r>
              <a:rPr sz="2400" spc="-25" dirty="0">
                <a:latin typeface="Microsoft Sans Serif"/>
                <a:cs typeface="Microsoft Sans Serif"/>
              </a:rPr>
              <a:t> </a:t>
            </a:r>
            <a:r>
              <a:rPr sz="2400" spc="-10" dirty="0">
                <a:latin typeface="Microsoft Sans Serif"/>
                <a:cs typeface="Microsoft Sans Serif"/>
              </a:rPr>
              <a:t>angles</a:t>
            </a:r>
            <a:endParaRPr lang="en-US" sz="2400" spc="-10" dirty="0">
              <a:latin typeface="Microsoft Sans Serif"/>
              <a:cs typeface="Microsoft Sans Serif"/>
            </a:endParaRPr>
          </a:p>
          <a:p>
            <a:pPr marL="1885950" algn="l"/>
            <a:r>
              <a:rPr sz="2400" b="1" dirty="0">
                <a:latin typeface="Arial"/>
                <a:cs typeface="Arial"/>
              </a:rPr>
              <a:t>P</a:t>
            </a:r>
            <a:r>
              <a:rPr sz="2400" b="1" spc="-10" dirty="0">
                <a:latin typeface="Arial"/>
                <a:cs typeface="Arial"/>
              </a:rPr>
              <a:t> </a:t>
            </a:r>
            <a:r>
              <a:rPr lang="en-US" sz="2400" dirty="0">
                <a:latin typeface="Microsoft Sans Serif"/>
                <a:cs typeface="Microsoft Sans Serif"/>
              </a:rPr>
              <a:t>-</a:t>
            </a:r>
            <a:r>
              <a:rPr sz="2400" spc="10" dirty="0">
                <a:latin typeface="Microsoft Sans Serif"/>
                <a:cs typeface="Microsoft Sans Serif"/>
              </a:rPr>
              <a:t> </a:t>
            </a:r>
            <a:r>
              <a:rPr sz="2400" dirty="0">
                <a:latin typeface="Microsoft Sans Serif"/>
                <a:cs typeface="Microsoft Sans Serif"/>
              </a:rPr>
              <a:t>input </a:t>
            </a:r>
            <a:r>
              <a:rPr sz="2400" spc="-10" dirty="0">
                <a:latin typeface="Microsoft Sans Serif"/>
                <a:cs typeface="Microsoft Sans Serif"/>
              </a:rPr>
              <a:t>image</a:t>
            </a:r>
            <a:endParaRPr lang="en-US" sz="2400" spc="-10" dirty="0">
              <a:latin typeface="Microsoft Sans Serif"/>
              <a:cs typeface="Microsoft Sans Serif"/>
            </a:endParaRPr>
          </a:p>
          <a:p>
            <a:pPr marL="1885950" algn="l"/>
            <a:r>
              <a:rPr sz="2400" b="1" dirty="0">
                <a:latin typeface="Arial"/>
                <a:cs typeface="Arial"/>
              </a:rPr>
              <a:t>D</a:t>
            </a:r>
            <a:r>
              <a:rPr lang="en-US" sz="2400" b="1" dirty="0">
                <a:latin typeface="Arial"/>
                <a:cs typeface="Arial"/>
              </a:rPr>
              <a:t> </a:t>
            </a:r>
            <a:r>
              <a:rPr lang="en-US" sz="2400" dirty="0">
                <a:latin typeface="Microsoft Sans Serif"/>
                <a:cs typeface="Microsoft Sans Serif"/>
              </a:rPr>
              <a:t>-</a:t>
            </a:r>
            <a:r>
              <a:rPr sz="2400" spc="-15" dirty="0">
                <a:latin typeface="Microsoft Sans Serif"/>
                <a:cs typeface="Microsoft Sans Serif"/>
              </a:rPr>
              <a:t> </a:t>
            </a:r>
            <a:r>
              <a:rPr sz="2400" dirty="0">
                <a:latin typeface="Microsoft Sans Serif"/>
                <a:cs typeface="Microsoft Sans Serif"/>
              </a:rPr>
              <a:t>distance</a:t>
            </a:r>
            <a:r>
              <a:rPr sz="2400" spc="-35" dirty="0">
                <a:latin typeface="Microsoft Sans Serif"/>
                <a:cs typeface="Microsoft Sans Serif"/>
              </a:rPr>
              <a:t> </a:t>
            </a:r>
            <a:r>
              <a:rPr sz="2400" dirty="0">
                <a:latin typeface="Microsoft Sans Serif"/>
                <a:cs typeface="Microsoft Sans Serif"/>
              </a:rPr>
              <a:t>to</a:t>
            </a:r>
            <a:r>
              <a:rPr sz="2400" spc="-10" dirty="0">
                <a:latin typeface="Microsoft Sans Serif"/>
                <a:cs typeface="Microsoft Sans Serif"/>
              </a:rPr>
              <a:t> object</a:t>
            </a:r>
            <a:endParaRPr lang="en-US" sz="2400" spc="-10" dirty="0">
              <a:latin typeface="Microsoft Sans Serif"/>
              <a:cs typeface="Microsoft Sans Serif"/>
            </a:endParaRPr>
          </a:p>
          <a:p>
            <a:pPr marL="1885950" algn="l"/>
            <a:r>
              <a:rPr sz="2400" b="1" i="1" dirty="0" err="1">
                <a:latin typeface="Arial"/>
                <a:cs typeface="Arial"/>
              </a:rPr>
              <a:t>FanSensorSpacing</a:t>
            </a:r>
            <a:r>
              <a:rPr sz="2400" b="1" i="1" spc="-40" dirty="0">
                <a:latin typeface="Arial"/>
                <a:cs typeface="Arial"/>
              </a:rPr>
              <a:t> </a:t>
            </a:r>
            <a:r>
              <a:rPr lang="en-US" sz="2400" dirty="0">
                <a:latin typeface="Microsoft Sans Serif"/>
                <a:cs typeface="Microsoft Sans Serif"/>
              </a:rPr>
              <a:t>-</a:t>
            </a:r>
            <a:r>
              <a:rPr sz="2400" spc="-10" dirty="0">
                <a:latin typeface="Microsoft Sans Serif"/>
                <a:cs typeface="Microsoft Sans Serif"/>
              </a:rPr>
              <a:t> </a:t>
            </a:r>
            <a:r>
              <a:rPr sz="2400" dirty="0">
                <a:latin typeface="Microsoft Sans Serif"/>
                <a:cs typeface="Microsoft Sans Serif"/>
              </a:rPr>
              <a:t>specific</a:t>
            </a:r>
            <a:r>
              <a:rPr sz="2400" spc="-20" dirty="0">
                <a:latin typeface="Microsoft Sans Serif"/>
                <a:cs typeface="Microsoft Sans Serif"/>
              </a:rPr>
              <a:t> </a:t>
            </a:r>
            <a:r>
              <a:rPr sz="2400" spc="-10" dirty="0">
                <a:latin typeface="Microsoft Sans Serif"/>
                <a:cs typeface="Microsoft Sans Serif"/>
              </a:rPr>
              <a:t>property</a:t>
            </a:r>
            <a:endParaRPr lang="en-US" sz="2400" spc="-10" dirty="0">
              <a:latin typeface="Microsoft Sans Serif"/>
              <a:cs typeface="Microsoft Sans Serif"/>
            </a:endParaRPr>
          </a:p>
          <a:p>
            <a:pPr marL="1885950" algn="l"/>
            <a:r>
              <a:rPr lang="en-US" sz="2400" b="1" i="1" dirty="0">
                <a:latin typeface="Arial"/>
                <a:cs typeface="Arial"/>
              </a:rPr>
              <a:t>D</a:t>
            </a:r>
            <a:r>
              <a:rPr sz="2400" b="1" i="1" dirty="0">
                <a:latin typeface="Arial"/>
                <a:cs typeface="Arial"/>
              </a:rPr>
              <a:t>sensor1</a:t>
            </a:r>
            <a:r>
              <a:rPr lang="en-US" sz="2400" dirty="0">
                <a:latin typeface="Microsoft Sans Serif"/>
                <a:cs typeface="Microsoft Sans Serif"/>
              </a:rPr>
              <a:t>-</a:t>
            </a:r>
            <a:r>
              <a:rPr sz="2400" spc="-35" dirty="0">
                <a:latin typeface="Microsoft Sans Serif"/>
                <a:cs typeface="Microsoft Sans Serif"/>
              </a:rPr>
              <a:t> </a:t>
            </a:r>
            <a:r>
              <a:rPr sz="2400" dirty="0">
                <a:latin typeface="Microsoft Sans Serif"/>
                <a:cs typeface="Microsoft Sans Serif"/>
              </a:rPr>
              <a:t>spacing</a:t>
            </a:r>
            <a:r>
              <a:rPr sz="2400" spc="-20" dirty="0">
                <a:latin typeface="Microsoft Sans Serif"/>
                <a:cs typeface="Microsoft Sans Serif"/>
              </a:rPr>
              <a:t> </a:t>
            </a:r>
            <a:r>
              <a:rPr sz="2400" dirty="0">
                <a:latin typeface="Microsoft Sans Serif"/>
                <a:cs typeface="Microsoft Sans Serif"/>
              </a:rPr>
              <a:t>between</a:t>
            </a:r>
            <a:r>
              <a:rPr lang="en-US" sz="2400" spc="-20" dirty="0">
                <a:latin typeface="Microsoft Sans Serif"/>
                <a:cs typeface="Microsoft Sans Serif"/>
              </a:rPr>
              <a:t> </a:t>
            </a:r>
            <a:r>
              <a:rPr sz="2400" spc="-10" dirty="0">
                <a:latin typeface="Microsoft Sans Serif"/>
                <a:cs typeface="Microsoft Sans Serif"/>
              </a:rPr>
              <a:t>sensors</a:t>
            </a:r>
            <a:endParaRPr sz="2400" dirty="0">
              <a:latin typeface="Microsoft Sans Serif"/>
              <a:cs typeface="Microsoft Sans Serif"/>
            </a:endParaRPr>
          </a:p>
          <a:p>
            <a:pPr marL="1885950" algn="l"/>
            <a:r>
              <a:rPr sz="2400" dirty="0">
                <a:latin typeface="Microsoft Sans Serif"/>
                <a:cs typeface="Microsoft Sans Serif"/>
              </a:rPr>
              <a:t>(</a:t>
            </a:r>
            <a:r>
              <a:rPr sz="2400" i="1" dirty="0">
                <a:latin typeface="Arial"/>
                <a:cs typeface="Arial"/>
              </a:rPr>
              <a:t>FanSensorSpacing</a:t>
            </a:r>
            <a:r>
              <a:rPr sz="2400" dirty="0">
                <a:latin typeface="Microsoft Sans Serif"/>
                <a:cs typeface="Microsoft Sans Serif"/>
              </a:rPr>
              <a:t>,</a:t>
            </a:r>
            <a:r>
              <a:rPr sz="2400" spc="-30" dirty="0">
                <a:latin typeface="Microsoft Sans Serif"/>
                <a:cs typeface="Microsoft Sans Serif"/>
              </a:rPr>
              <a:t> </a:t>
            </a:r>
            <a:r>
              <a:rPr sz="2400" i="1" dirty="0">
                <a:latin typeface="Arial"/>
                <a:cs typeface="Arial"/>
              </a:rPr>
              <a:t>dsensor1</a:t>
            </a:r>
            <a:r>
              <a:rPr sz="2400" i="1" spc="-45" dirty="0">
                <a:latin typeface="Arial"/>
                <a:cs typeface="Arial"/>
              </a:rPr>
              <a:t> </a:t>
            </a:r>
            <a:r>
              <a:rPr sz="2400" dirty="0">
                <a:latin typeface="Microsoft Sans Serif"/>
                <a:cs typeface="Microsoft Sans Serif"/>
              </a:rPr>
              <a:t>are</a:t>
            </a:r>
            <a:r>
              <a:rPr sz="2400" spc="-10" dirty="0">
                <a:latin typeface="Microsoft Sans Serif"/>
                <a:cs typeface="Microsoft Sans Serif"/>
              </a:rPr>
              <a:t> optional)</a:t>
            </a:r>
            <a:endParaRPr sz="2000" dirty="0">
              <a:latin typeface="Microsoft Sans Serif"/>
              <a:cs typeface="Microsoft Sans Serif"/>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8" y="171705"/>
            <a:ext cx="11410967" cy="1004839"/>
          </a:xfrm>
          <a:prstGeom prst="rect">
            <a:avLst/>
          </a:prstGeom>
        </p:spPr>
        <p:txBody>
          <a:bodyPr vert="horz" wrap="square" lIns="0" tIns="324561" rIns="0" bIns="0" rtlCol="0">
            <a:spAutoFit/>
          </a:bodyPr>
          <a:lstStyle/>
          <a:p>
            <a:pPr marL="1015365">
              <a:spcBef>
                <a:spcPts val="105"/>
              </a:spcBef>
            </a:pPr>
            <a:r>
              <a:rPr dirty="0"/>
              <a:t>Fan</a:t>
            </a:r>
            <a:r>
              <a:rPr lang="en-US" spc="50" dirty="0"/>
              <a:t>-B</a:t>
            </a:r>
            <a:r>
              <a:rPr dirty="0"/>
              <a:t>eam</a:t>
            </a:r>
            <a:r>
              <a:rPr spc="50" dirty="0"/>
              <a:t> </a:t>
            </a:r>
            <a:r>
              <a:rPr dirty="0"/>
              <a:t>FBP:</a:t>
            </a:r>
            <a:r>
              <a:rPr spc="40" dirty="0"/>
              <a:t> </a:t>
            </a:r>
            <a:r>
              <a:rPr b="1" i="1" spc="-10" dirty="0">
                <a:latin typeface="Arial"/>
                <a:cs typeface="Arial"/>
              </a:rPr>
              <a:t>ifanbeam</a:t>
            </a:r>
          </a:p>
        </p:txBody>
      </p:sp>
      <p:sp>
        <p:nvSpPr>
          <p:cNvPr id="3" name="object 3"/>
          <p:cNvSpPr txBox="1"/>
          <p:nvPr/>
        </p:nvSpPr>
        <p:spPr>
          <a:xfrm>
            <a:off x="914400" y="1624329"/>
            <a:ext cx="10820399" cy="4192814"/>
          </a:xfrm>
          <a:prstGeom prst="rect">
            <a:avLst/>
          </a:prstGeom>
        </p:spPr>
        <p:txBody>
          <a:bodyPr vert="horz" wrap="square" lIns="0" tIns="12065" rIns="0" bIns="0" rtlCol="0">
            <a:spAutoFit/>
          </a:bodyPr>
          <a:lstStyle/>
          <a:p>
            <a:pPr marL="791845" marR="1097280" indent="-342900">
              <a:spcBef>
                <a:spcPts val="95"/>
              </a:spcBef>
              <a:buChar char="•"/>
              <a:tabLst>
                <a:tab pos="791845" algn="l"/>
              </a:tabLst>
            </a:pPr>
            <a:r>
              <a:rPr sz="2800" dirty="0">
                <a:latin typeface="Microsoft Sans Serif"/>
                <a:cs typeface="Microsoft Sans Serif"/>
              </a:rPr>
              <a:t>Converts</a:t>
            </a:r>
            <a:r>
              <a:rPr sz="2800" spc="-35" dirty="0">
                <a:latin typeface="Microsoft Sans Serif"/>
                <a:cs typeface="Microsoft Sans Serif"/>
              </a:rPr>
              <a:t> </a:t>
            </a:r>
            <a:r>
              <a:rPr sz="2800" dirty="0">
                <a:latin typeface="Microsoft Sans Serif"/>
                <a:cs typeface="Microsoft Sans Serif"/>
              </a:rPr>
              <a:t>the</a:t>
            </a:r>
            <a:r>
              <a:rPr sz="2800" spc="-35" dirty="0">
                <a:latin typeface="Microsoft Sans Serif"/>
                <a:cs typeface="Microsoft Sans Serif"/>
              </a:rPr>
              <a:t> </a:t>
            </a:r>
            <a:r>
              <a:rPr sz="2800" spc="-10" dirty="0">
                <a:latin typeface="Microsoft Sans Serif"/>
                <a:cs typeface="Microsoft Sans Serif"/>
              </a:rPr>
              <a:t>fan-</a:t>
            </a:r>
            <a:r>
              <a:rPr sz="2800" dirty="0">
                <a:latin typeface="Microsoft Sans Serif"/>
                <a:cs typeface="Microsoft Sans Serif"/>
              </a:rPr>
              <a:t>beam</a:t>
            </a:r>
            <a:r>
              <a:rPr sz="2800" spc="-20" dirty="0">
                <a:latin typeface="Microsoft Sans Serif"/>
                <a:cs typeface="Microsoft Sans Serif"/>
              </a:rPr>
              <a:t> </a:t>
            </a:r>
            <a:r>
              <a:rPr sz="2800" dirty="0">
                <a:latin typeface="Microsoft Sans Serif"/>
                <a:cs typeface="Microsoft Sans Serif"/>
              </a:rPr>
              <a:t>data</a:t>
            </a:r>
            <a:r>
              <a:rPr sz="2800" spc="-35" dirty="0">
                <a:latin typeface="Microsoft Sans Serif"/>
                <a:cs typeface="Microsoft Sans Serif"/>
              </a:rPr>
              <a:t> </a:t>
            </a:r>
            <a:r>
              <a:rPr sz="2800" dirty="0">
                <a:latin typeface="Microsoft Sans Serif"/>
                <a:cs typeface="Microsoft Sans Serif"/>
              </a:rPr>
              <a:t>to</a:t>
            </a:r>
            <a:r>
              <a:rPr sz="2800" spc="-40" dirty="0">
                <a:latin typeface="Microsoft Sans Serif"/>
                <a:cs typeface="Microsoft Sans Serif"/>
              </a:rPr>
              <a:t> </a:t>
            </a:r>
            <a:r>
              <a:rPr sz="2800" dirty="0">
                <a:latin typeface="Microsoft Sans Serif"/>
                <a:cs typeface="Microsoft Sans Serif"/>
              </a:rPr>
              <a:t>parallel</a:t>
            </a:r>
            <a:r>
              <a:rPr sz="2800" spc="-30" dirty="0">
                <a:latin typeface="Microsoft Sans Serif"/>
                <a:cs typeface="Microsoft Sans Serif"/>
              </a:rPr>
              <a:t> </a:t>
            </a:r>
            <a:r>
              <a:rPr sz="2800" spc="-20" dirty="0">
                <a:latin typeface="Microsoft Sans Serif"/>
                <a:cs typeface="Microsoft Sans Serif"/>
              </a:rPr>
              <a:t>beam </a:t>
            </a:r>
            <a:r>
              <a:rPr sz="2800" spc="-10" dirty="0">
                <a:latin typeface="Microsoft Sans Serif"/>
                <a:cs typeface="Microsoft Sans Serif"/>
              </a:rPr>
              <a:t>projections</a:t>
            </a:r>
            <a:endParaRPr sz="2800" dirty="0">
              <a:latin typeface="Microsoft Sans Serif"/>
              <a:cs typeface="Microsoft Sans Serif"/>
            </a:endParaRPr>
          </a:p>
          <a:p>
            <a:pPr marL="791845" marR="1119505" indent="-342900">
              <a:spcBef>
                <a:spcPts val="675"/>
              </a:spcBef>
              <a:buChar char="•"/>
              <a:tabLst>
                <a:tab pos="791845" algn="l"/>
              </a:tabLst>
            </a:pPr>
            <a:r>
              <a:rPr sz="2800" dirty="0">
                <a:latin typeface="Microsoft Sans Serif"/>
                <a:cs typeface="Microsoft Sans Serif"/>
              </a:rPr>
              <a:t>Uses</a:t>
            </a:r>
            <a:r>
              <a:rPr sz="2800" spc="-50" dirty="0">
                <a:latin typeface="Microsoft Sans Serif"/>
                <a:cs typeface="Microsoft Sans Serif"/>
              </a:rPr>
              <a:t> </a:t>
            </a:r>
            <a:r>
              <a:rPr sz="2800" dirty="0">
                <a:latin typeface="Microsoft Sans Serif"/>
                <a:cs typeface="Microsoft Sans Serif"/>
              </a:rPr>
              <a:t>the</a:t>
            </a:r>
            <a:r>
              <a:rPr sz="2800" spc="-55" dirty="0">
                <a:latin typeface="Microsoft Sans Serif"/>
                <a:cs typeface="Microsoft Sans Serif"/>
              </a:rPr>
              <a:t> </a:t>
            </a:r>
            <a:r>
              <a:rPr sz="2800" dirty="0">
                <a:latin typeface="Microsoft Sans Serif"/>
                <a:cs typeface="Microsoft Sans Serif"/>
              </a:rPr>
              <a:t>filtered</a:t>
            </a:r>
            <a:r>
              <a:rPr sz="2800" spc="-50" dirty="0">
                <a:latin typeface="Microsoft Sans Serif"/>
                <a:cs typeface="Microsoft Sans Serif"/>
              </a:rPr>
              <a:t> </a:t>
            </a:r>
            <a:r>
              <a:rPr sz="2800" dirty="0">
                <a:latin typeface="Microsoft Sans Serif"/>
                <a:cs typeface="Microsoft Sans Serif"/>
              </a:rPr>
              <a:t>back</a:t>
            </a:r>
            <a:r>
              <a:rPr sz="2800" spc="-60" dirty="0">
                <a:latin typeface="Microsoft Sans Serif"/>
                <a:cs typeface="Microsoft Sans Serif"/>
              </a:rPr>
              <a:t> </a:t>
            </a:r>
            <a:r>
              <a:rPr sz="2800" dirty="0">
                <a:latin typeface="Microsoft Sans Serif"/>
                <a:cs typeface="Microsoft Sans Serif"/>
              </a:rPr>
              <a:t>projection</a:t>
            </a:r>
            <a:r>
              <a:rPr sz="2800" spc="-45" dirty="0">
                <a:latin typeface="Microsoft Sans Serif"/>
                <a:cs typeface="Microsoft Sans Serif"/>
              </a:rPr>
              <a:t> </a:t>
            </a:r>
            <a:r>
              <a:rPr sz="2800" dirty="0">
                <a:latin typeface="Microsoft Sans Serif"/>
                <a:cs typeface="Microsoft Sans Serif"/>
              </a:rPr>
              <a:t>algorithm</a:t>
            </a:r>
            <a:r>
              <a:rPr sz="2800" spc="-40" dirty="0">
                <a:latin typeface="Microsoft Sans Serif"/>
                <a:cs typeface="Microsoft Sans Serif"/>
              </a:rPr>
              <a:t> </a:t>
            </a:r>
            <a:r>
              <a:rPr sz="2800" spc="-25" dirty="0">
                <a:latin typeface="Microsoft Sans Serif"/>
                <a:cs typeface="Microsoft Sans Serif"/>
              </a:rPr>
              <a:t>to </a:t>
            </a:r>
            <a:r>
              <a:rPr sz="2800" dirty="0">
                <a:latin typeface="Microsoft Sans Serif"/>
                <a:cs typeface="Microsoft Sans Serif"/>
              </a:rPr>
              <a:t>perform</a:t>
            </a:r>
            <a:r>
              <a:rPr sz="2800" spc="-35" dirty="0">
                <a:latin typeface="Microsoft Sans Serif"/>
                <a:cs typeface="Microsoft Sans Serif"/>
              </a:rPr>
              <a:t> </a:t>
            </a:r>
            <a:r>
              <a:rPr sz="2800" dirty="0">
                <a:latin typeface="Microsoft Sans Serif"/>
                <a:cs typeface="Microsoft Sans Serif"/>
              </a:rPr>
              <a:t>the</a:t>
            </a:r>
            <a:r>
              <a:rPr sz="2800" spc="-50" dirty="0">
                <a:latin typeface="Microsoft Sans Serif"/>
                <a:cs typeface="Microsoft Sans Serif"/>
              </a:rPr>
              <a:t> </a:t>
            </a:r>
            <a:r>
              <a:rPr sz="2800" dirty="0">
                <a:latin typeface="Microsoft Sans Serif"/>
                <a:cs typeface="Microsoft Sans Serif"/>
              </a:rPr>
              <a:t>inverse</a:t>
            </a:r>
            <a:r>
              <a:rPr sz="2800" spc="-50" dirty="0">
                <a:latin typeface="Microsoft Sans Serif"/>
                <a:cs typeface="Microsoft Sans Serif"/>
              </a:rPr>
              <a:t> </a:t>
            </a:r>
            <a:r>
              <a:rPr sz="2800" dirty="0">
                <a:latin typeface="Microsoft Sans Serif"/>
                <a:cs typeface="Microsoft Sans Serif"/>
              </a:rPr>
              <a:t>Radon</a:t>
            </a:r>
            <a:r>
              <a:rPr sz="2800" spc="-10" dirty="0">
                <a:latin typeface="Microsoft Sans Serif"/>
                <a:cs typeface="Microsoft Sans Serif"/>
              </a:rPr>
              <a:t> transform</a:t>
            </a:r>
            <a:endParaRPr sz="2800" dirty="0">
              <a:latin typeface="Microsoft Sans Serif"/>
              <a:cs typeface="Microsoft Sans Serif"/>
            </a:endParaRPr>
          </a:p>
          <a:p>
            <a:pPr>
              <a:spcBef>
                <a:spcPts val="720"/>
              </a:spcBef>
            </a:pPr>
            <a:endParaRPr sz="2800" dirty="0">
              <a:latin typeface="Microsoft Sans Serif"/>
              <a:cs typeface="Microsoft Sans Serif"/>
            </a:endParaRPr>
          </a:p>
          <a:p>
            <a:pPr algn="ctr">
              <a:lnSpc>
                <a:spcPct val="100000"/>
              </a:lnSpc>
            </a:pPr>
            <a:r>
              <a:rPr sz="2800" dirty="0">
                <a:solidFill>
                  <a:srgbClr val="00AF50"/>
                </a:solidFill>
                <a:latin typeface="Microsoft Sans Serif"/>
                <a:cs typeface="Microsoft Sans Serif"/>
              </a:rPr>
              <a:t>Ifan1</a:t>
            </a:r>
            <a:r>
              <a:rPr sz="2800" spc="-40" dirty="0">
                <a:solidFill>
                  <a:srgbClr val="00AF50"/>
                </a:solidFill>
                <a:latin typeface="Microsoft Sans Serif"/>
                <a:cs typeface="Microsoft Sans Serif"/>
              </a:rPr>
              <a:t> </a:t>
            </a:r>
            <a:r>
              <a:rPr lang="en-US" sz="2800" dirty="0">
                <a:solidFill>
                  <a:srgbClr val="00AF50"/>
                </a:solidFill>
                <a:latin typeface="Microsoft Sans Serif"/>
                <a:cs typeface="Microsoft Sans Serif"/>
              </a:rPr>
              <a:t>equals</a:t>
            </a:r>
            <a:r>
              <a:rPr sz="2800" spc="-25" dirty="0">
                <a:solidFill>
                  <a:srgbClr val="00AF50"/>
                </a:solidFill>
                <a:latin typeface="Microsoft Sans Serif"/>
                <a:cs typeface="Microsoft Sans Serif"/>
              </a:rPr>
              <a:t> </a:t>
            </a:r>
            <a:r>
              <a:rPr sz="2800" dirty="0">
                <a:solidFill>
                  <a:srgbClr val="00AF50"/>
                </a:solidFill>
                <a:latin typeface="Microsoft Sans Serif"/>
                <a:cs typeface="Microsoft Sans Serif"/>
              </a:rPr>
              <a:t>ifanbeam(F1,</a:t>
            </a:r>
            <a:r>
              <a:rPr sz="2800" spc="-10" dirty="0">
                <a:solidFill>
                  <a:srgbClr val="00AF50"/>
                </a:solidFill>
                <a:latin typeface="Microsoft Sans Serif"/>
                <a:cs typeface="Microsoft Sans Serif"/>
              </a:rPr>
              <a:t> </a:t>
            </a:r>
            <a:r>
              <a:rPr sz="2800" dirty="0">
                <a:solidFill>
                  <a:srgbClr val="00AF50"/>
                </a:solidFill>
                <a:latin typeface="Microsoft Sans Serif"/>
                <a:cs typeface="Microsoft Sans Serif"/>
              </a:rPr>
              <a:t>D,</a:t>
            </a:r>
            <a:r>
              <a:rPr sz="2800" spc="-40" dirty="0">
                <a:solidFill>
                  <a:srgbClr val="00AF50"/>
                </a:solidFill>
                <a:latin typeface="Microsoft Sans Serif"/>
                <a:cs typeface="Microsoft Sans Serif"/>
              </a:rPr>
              <a:t> </a:t>
            </a:r>
            <a:r>
              <a:rPr sz="2800" spc="-10" dirty="0">
                <a:solidFill>
                  <a:srgbClr val="00AF50"/>
                </a:solidFill>
                <a:latin typeface="Microsoft Sans Serif"/>
                <a:cs typeface="Microsoft Sans Serif"/>
              </a:rPr>
              <a:t>‘FanSensorSpacing’, dsensor1);</a:t>
            </a:r>
            <a:endParaRPr sz="2800" dirty="0">
              <a:latin typeface="Microsoft Sans Serif"/>
              <a:cs typeface="Microsoft Sans Serif"/>
            </a:endParaRPr>
          </a:p>
          <a:p>
            <a:pPr marL="1771650" algn="l"/>
            <a:r>
              <a:rPr sz="2000" b="1" dirty="0">
                <a:latin typeface="Arial"/>
                <a:cs typeface="Arial"/>
              </a:rPr>
              <a:t>Ifan1</a:t>
            </a:r>
            <a:r>
              <a:rPr sz="2000" b="1" spc="-25" dirty="0">
                <a:latin typeface="Arial"/>
                <a:cs typeface="Arial"/>
              </a:rPr>
              <a:t> </a:t>
            </a:r>
            <a:r>
              <a:rPr lang="en-US" sz="2000" dirty="0">
                <a:latin typeface="Microsoft Sans Serif"/>
                <a:cs typeface="Microsoft Sans Serif"/>
              </a:rPr>
              <a:t>-</a:t>
            </a:r>
            <a:r>
              <a:rPr sz="2000" spc="10" dirty="0">
                <a:latin typeface="Microsoft Sans Serif"/>
                <a:cs typeface="Microsoft Sans Serif"/>
              </a:rPr>
              <a:t> </a:t>
            </a:r>
            <a:r>
              <a:rPr sz="2000" spc="-10" dirty="0">
                <a:latin typeface="Microsoft Sans Serif"/>
                <a:cs typeface="Microsoft Sans Serif"/>
              </a:rPr>
              <a:t>output</a:t>
            </a:r>
            <a:endParaRPr sz="2000" dirty="0">
              <a:latin typeface="Microsoft Sans Serif"/>
              <a:cs typeface="Microsoft Sans Serif"/>
            </a:endParaRPr>
          </a:p>
          <a:p>
            <a:pPr marL="1771650" algn="l"/>
            <a:r>
              <a:rPr sz="2000" b="1" dirty="0">
                <a:latin typeface="Arial"/>
                <a:cs typeface="Arial"/>
              </a:rPr>
              <a:t>F1</a:t>
            </a:r>
            <a:r>
              <a:rPr sz="2000" b="1" spc="-5" dirty="0">
                <a:latin typeface="Arial"/>
                <a:cs typeface="Arial"/>
              </a:rPr>
              <a:t> </a:t>
            </a:r>
            <a:r>
              <a:rPr lang="en-US" sz="2000" dirty="0">
                <a:latin typeface="Microsoft Sans Serif"/>
                <a:cs typeface="Microsoft Sans Serif"/>
              </a:rPr>
              <a:t>-</a:t>
            </a:r>
            <a:r>
              <a:rPr sz="2000" dirty="0">
                <a:latin typeface="Microsoft Sans Serif"/>
                <a:cs typeface="Microsoft Sans Serif"/>
              </a:rPr>
              <a:t> </a:t>
            </a:r>
            <a:r>
              <a:rPr sz="2000" spc="-10" dirty="0">
                <a:latin typeface="Microsoft Sans Serif"/>
                <a:cs typeface="Microsoft Sans Serif"/>
              </a:rPr>
              <a:t>sinogram</a:t>
            </a:r>
            <a:endParaRPr sz="2000" dirty="0">
              <a:latin typeface="Microsoft Sans Serif"/>
              <a:cs typeface="Microsoft Sans Serif"/>
            </a:endParaRPr>
          </a:p>
          <a:p>
            <a:pPr marL="1771650" marR="2240915" algn="l"/>
            <a:r>
              <a:rPr sz="2000" b="1" dirty="0">
                <a:latin typeface="Arial"/>
                <a:cs typeface="Arial"/>
              </a:rPr>
              <a:t>D</a:t>
            </a:r>
            <a:r>
              <a:rPr lang="en-US" sz="2000" b="1" dirty="0">
                <a:latin typeface="Arial"/>
                <a:cs typeface="Arial"/>
              </a:rPr>
              <a:t> </a:t>
            </a:r>
            <a:r>
              <a:rPr lang="en-US" sz="2000" dirty="0">
                <a:latin typeface="Microsoft Sans Serif"/>
                <a:cs typeface="Microsoft Sans Serif"/>
              </a:rPr>
              <a:t>-</a:t>
            </a:r>
            <a:r>
              <a:rPr sz="2000" spc="-15" dirty="0">
                <a:latin typeface="Microsoft Sans Serif"/>
                <a:cs typeface="Microsoft Sans Serif"/>
              </a:rPr>
              <a:t> </a:t>
            </a:r>
            <a:r>
              <a:rPr sz="2000" dirty="0">
                <a:latin typeface="Microsoft Sans Serif"/>
                <a:cs typeface="Microsoft Sans Serif"/>
              </a:rPr>
              <a:t>distance</a:t>
            </a:r>
            <a:r>
              <a:rPr sz="2000" spc="-35" dirty="0">
                <a:latin typeface="Microsoft Sans Serif"/>
                <a:cs typeface="Microsoft Sans Serif"/>
              </a:rPr>
              <a:t> </a:t>
            </a:r>
            <a:r>
              <a:rPr sz="2000" dirty="0">
                <a:latin typeface="Microsoft Sans Serif"/>
                <a:cs typeface="Microsoft Sans Serif"/>
              </a:rPr>
              <a:t>to</a:t>
            </a:r>
            <a:r>
              <a:rPr sz="2000" spc="-10" dirty="0">
                <a:latin typeface="Microsoft Sans Serif"/>
                <a:cs typeface="Microsoft Sans Serif"/>
              </a:rPr>
              <a:t> object </a:t>
            </a:r>
            <a:endParaRPr lang="en-US" sz="2000" spc="-10" dirty="0">
              <a:latin typeface="Microsoft Sans Serif"/>
              <a:cs typeface="Microsoft Sans Serif"/>
            </a:endParaRPr>
          </a:p>
          <a:p>
            <a:pPr marL="1771650" marR="2240915" algn="l"/>
            <a:r>
              <a:rPr sz="2000" b="1" i="1" dirty="0" err="1">
                <a:latin typeface="Arial"/>
                <a:cs typeface="Arial"/>
              </a:rPr>
              <a:t>FanSensorSpacing</a:t>
            </a:r>
            <a:r>
              <a:rPr sz="2000" b="1" i="1" spc="-40" dirty="0">
                <a:latin typeface="Arial"/>
                <a:cs typeface="Arial"/>
              </a:rPr>
              <a:t> </a:t>
            </a:r>
            <a:r>
              <a:rPr lang="en-US" sz="2000" dirty="0">
                <a:latin typeface="Microsoft Sans Serif"/>
                <a:cs typeface="Microsoft Sans Serif"/>
              </a:rPr>
              <a:t>-</a:t>
            </a:r>
            <a:r>
              <a:rPr sz="2000" spc="-10" dirty="0">
                <a:latin typeface="Microsoft Sans Serif"/>
                <a:cs typeface="Microsoft Sans Serif"/>
              </a:rPr>
              <a:t> </a:t>
            </a:r>
            <a:r>
              <a:rPr sz="2000" dirty="0">
                <a:latin typeface="Microsoft Sans Serif"/>
                <a:cs typeface="Microsoft Sans Serif"/>
              </a:rPr>
              <a:t>specific</a:t>
            </a:r>
            <a:r>
              <a:rPr sz="2000" spc="-20" dirty="0">
                <a:latin typeface="Microsoft Sans Serif"/>
                <a:cs typeface="Microsoft Sans Serif"/>
              </a:rPr>
              <a:t> </a:t>
            </a:r>
            <a:r>
              <a:rPr sz="2000" spc="-10" dirty="0">
                <a:latin typeface="Microsoft Sans Serif"/>
                <a:cs typeface="Microsoft Sans Serif"/>
              </a:rPr>
              <a:t>property</a:t>
            </a:r>
            <a:endParaRPr lang="en-US" sz="2000" spc="-10" dirty="0">
              <a:latin typeface="Microsoft Sans Serif"/>
              <a:cs typeface="Microsoft Sans Serif"/>
            </a:endParaRPr>
          </a:p>
          <a:p>
            <a:pPr marL="1771650" marR="2240915" algn="l"/>
            <a:r>
              <a:rPr sz="2000" b="1" i="1" dirty="0">
                <a:latin typeface="Arial"/>
                <a:cs typeface="Arial"/>
              </a:rPr>
              <a:t>dsensor1</a:t>
            </a:r>
            <a:r>
              <a:rPr sz="2000" b="1" i="1" spc="-35" dirty="0">
                <a:latin typeface="Arial"/>
                <a:cs typeface="Arial"/>
              </a:rPr>
              <a:t> </a:t>
            </a:r>
            <a:r>
              <a:rPr lang="en-US" sz="2000" dirty="0">
                <a:latin typeface="Microsoft Sans Serif"/>
                <a:cs typeface="Microsoft Sans Serif"/>
              </a:rPr>
              <a:t>-</a:t>
            </a:r>
            <a:r>
              <a:rPr sz="2000" spc="-5" dirty="0">
                <a:latin typeface="Microsoft Sans Serif"/>
                <a:cs typeface="Microsoft Sans Serif"/>
              </a:rPr>
              <a:t> </a:t>
            </a:r>
            <a:r>
              <a:rPr sz="2000" dirty="0">
                <a:latin typeface="Microsoft Sans Serif"/>
                <a:cs typeface="Microsoft Sans Serif"/>
              </a:rPr>
              <a:t>spacing</a:t>
            </a:r>
            <a:r>
              <a:rPr sz="2000" spc="-15" dirty="0">
                <a:latin typeface="Microsoft Sans Serif"/>
                <a:cs typeface="Microsoft Sans Serif"/>
              </a:rPr>
              <a:t> </a:t>
            </a:r>
            <a:r>
              <a:rPr sz="2000" dirty="0">
                <a:latin typeface="Microsoft Sans Serif"/>
                <a:cs typeface="Microsoft Sans Serif"/>
              </a:rPr>
              <a:t>between</a:t>
            </a:r>
            <a:r>
              <a:rPr sz="2000" spc="-20" dirty="0">
                <a:latin typeface="Microsoft Sans Serif"/>
                <a:cs typeface="Microsoft Sans Serif"/>
              </a:rPr>
              <a:t> </a:t>
            </a:r>
            <a:r>
              <a:rPr sz="2000" spc="-10" dirty="0">
                <a:latin typeface="Microsoft Sans Serif"/>
                <a:cs typeface="Microsoft Sans Serif"/>
              </a:rPr>
              <a:t>sensors</a:t>
            </a:r>
            <a:endParaRPr sz="2000" dirty="0">
              <a:latin typeface="Microsoft Sans Serif"/>
              <a:cs typeface="Microsoft Sans Serif"/>
            </a:endParaRPr>
          </a:p>
          <a:p>
            <a:pPr marL="1771650" algn="l">
              <a:lnSpc>
                <a:spcPct val="100000"/>
              </a:lnSpc>
            </a:pPr>
            <a:r>
              <a:rPr sz="2000" dirty="0">
                <a:latin typeface="Microsoft Sans Serif"/>
                <a:cs typeface="Microsoft Sans Serif"/>
              </a:rPr>
              <a:t>(</a:t>
            </a:r>
            <a:r>
              <a:rPr sz="2000" i="1" dirty="0">
                <a:latin typeface="Arial"/>
                <a:cs typeface="Arial"/>
              </a:rPr>
              <a:t>FanSensorSpacing</a:t>
            </a:r>
            <a:r>
              <a:rPr sz="2000" dirty="0">
                <a:latin typeface="Microsoft Sans Serif"/>
                <a:cs typeface="Microsoft Sans Serif"/>
              </a:rPr>
              <a:t>,</a:t>
            </a:r>
            <a:r>
              <a:rPr sz="2000" spc="-30" dirty="0">
                <a:latin typeface="Microsoft Sans Serif"/>
                <a:cs typeface="Microsoft Sans Serif"/>
              </a:rPr>
              <a:t> </a:t>
            </a:r>
            <a:r>
              <a:rPr sz="2000" i="1" dirty="0">
                <a:latin typeface="Arial"/>
                <a:cs typeface="Arial"/>
              </a:rPr>
              <a:t>dsensor1</a:t>
            </a:r>
            <a:r>
              <a:rPr sz="2000" i="1" spc="-45" dirty="0">
                <a:latin typeface="Arial"/>
                <a:cs typeface="Arial"/>
              </a:rPr>
              <a:t> </a:t>
            </a:r>
            <a:r>
              <a:rPr sz="2000" dirty="0">
                <a:latin typeface="Microsoft Sans Serif"/>
                <a:cs typeface="Microsoft Sans Serif"/>
              </a:rPr>
              <a:t>are</a:t>
            </a:r>
            <a:r>
              <a:rPr sz="2000" spc="-10" dirty="0">
                <a:latin typeface="Microsoft Sans Serif"/>
                <a:cs typeface="Microsoft Sans Serif"/>
              </a:rPr>
              <a:t> optional)</a:t>
            </a:r>
            <a:endParaRPr sz="2000" dirty="0">
              <a:latin typeface="Microsoft Sans Serif"/>
              <a:cs typeface="Microsoft Sans Serif"/>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304800"/>
            <a:ext cx="7448931" cy="690574"/>
          </a:xfrm>
          <a:prstGeom prst="rect">
            <a:avLst/>
          </a:prstGeom>
        </p:spPr>
        <p:txBody>
          <a:bodyPr vert="horz" wrap="square" lIns="0" tIns="13335" rIns="0" bIns="0" rtlCol="0">
            <a:spAutoFit/>
          </a:bodyPr>
          <a:lstStyle/>
          <a:p>
            <a:pPr marL="12700">
              <a:spcBef>
                <a:spcPts val="105"/>
              </a:spcBef>
            </a:pPr>
            <a:r>
              <a:rPr dirty="0"/>
              <a:t>Example</a:t>
            </a:r>
            <a:r>
              <a:rPr spc="15" dirty="0"/>
              <a:t> </a:t>
            </a:r>
            <a:r>
              <a:rPr dirty="0"/>
              <a:t>3:</a:t>
            </a:r>
            <a:r>
              <a:rPr spc="35" dirty="0"/>
              <a:t> </a:t>
            </a:r>
            <a:r>
              <a:rPr lang="en-US" spc="35" dirty="0"/>
              <a:t>F</a:t>
            </a:r>
            <a:r>
              <a:rPr dirty="0"/>
              <a:t>an</a:t>
            </a:r>
            <a:r>
              <a:rPr lang="en-US" spc="35" dirty="0"/>
              <a:t>-b</a:t>
            </a:r>
            <a:r>
              <a:rPr dirty="0"/>
              <a:t>eam</a:t>
            </a:r>
            <a:r>
              <a:rPr spc="50" dirty="0"/>
              <a:t> </a:t>
            </a:r>
            <a:r>
              <a:rPr spc="-25" dirty="0"/>
              <a:t>CT</a:t>
            </a:r>
          </a:p>
        </p:txBody>
      </p:sp>
      <p:sp>
        <p:nvSpPr>
          <p:cNvPr id="3" name="object 3"/>
          <p:cNvSpPr txBox="1"/>
          <p:nvPr/>
        </p:nvSpPr>
        <p:spPr>
          <a:xfrm>
            <a:off x="1965073" y="990600"/>
            <a:ext cx="6800215" cy="1988820"/>
          </a:xfrm>
          <a:prstGeom prst="rect">
            <a:avLst/>
          </a:prstGeom>
        </p:spPr>
        <p:txBody>
          <a:bodyPr vert="horz" wrap="square" lIns="0" tIns="97790" rIns="0" bIns="0" rtlCol="0">
            <a:spAutoFit/>
          </a:bodyPr>
          <a:lstStyle/>
          <a:p>
            <a:pPr marL="354965" indent="-342265">
              <a:spcBef>
                <a:spcPts val="770"/>
              </a:spcBef>
              <a:buChar char="•"/>
              <a:tabLst>
                <a:tab pos="354965" algn="l"/>
              </a:tabLst>
            </a:pPr>
            <a:r>
              <a:rPr sz="2800" dirty="0">
                <a:latin typeface="Microsoft Sans Serif"/>
                <a:cs typeface="Microsoft Sans Serif"/>
              </a:rPr>
              <a:t>Run</a:t>
            </a:r>
            <a:r>
              <a:rPr sz="2800" spc="-15" dirty="0">
                <a:latin typeface="Microsoft Sans Serif"/>
                <a:cs typeface="Microsoft Sans Serif"/>
              </a:rPr>
              <a:t> </a:t>
            </a:r>
            <a:r>
              <a:rPr sz="2800" spc="-10" dirty="0">
                <a:latin typeface="Microsoft Sans Serif"/>
                <a:cs typeface="Microsoft Sans Serif"/>
              </a:rPr>
              <a:t>Ex3_fanbeam.m</a:t>
            </a:r>
            <a:endParaRPr sz="2800" dirty="0">
              <a:latin typeface="Microsoft Sans Serif"/>
              <a:cs typeface="Microsoft Sans Serif"/>
            </a:endParaRPr>
          </a:p>
          <a:p>
            <a:pPr marL="355600" marR="5080" indent="-342900">
              <a:spcBef>
                <a:spcPts val="675"/>
              </a:spcBef>
              <a:buChar char="•"/>
              <a:tabLst>
                <a:tab pos="355600" algn="l"/>
              </a:tabLst>
            </a:pPr>
            <a:r>
              <a:rPr sz="2800" dirty="0">
                <a:latin typeface="Microsoft Sans Serif"/>
                <a:cs typeface="Microsoft Sans Serif"/>
              </a:rPr>
              <a:t>D</a:t>
            </a:r>
            <a:r>
              <a:rPr sz="2800" spc="-25" dirty="0">
                <a:latin typeface="Microsoft Sans Serif"/>
                <a:cs typeface="Microsoft Sans Serif"/>
              </a:rPr>
              <a:t> </a:t>
            </a:r>
            <a:r>
              <a:rPr sz="2800" dirty="0">
                <a:latin typeface="Microsoft Sans Serif"/>
                <a:cs typeface="Microsoft Sans Serif"/>
              </a:rPr>
              <a:t>(</a:t>
            </a:r>
            <a:r>
              <a:rPr sz="2800" b="1" dirty="0">
                <a:latin typeface="Arial"/>
                <a:cs typeface="Arial"/>
              </a:rPr>
              <a:t>Line</a:t>
            </a:r>
            <a:r>
              <a:rPr sz="2800" b="1" spc="-50" dirty="0">
                <a:latin typeface="Arial"/>
                <a:cs typeface="Arial"/>
              </a:rPr>
              <a:t> </a:t>
            </a:r>
            <a:r>
              <a:rPr sz="2800" b="1" dirty="0">
                <a:latin typeface="Arial"/>
                <a:cs typeface="Arial"/>
              </a:rPr>
              <a:t>25</a:t>
            </a:r>
            <a:r>
              <a:rPr sz="2800" dirty="0">
                <a:latin typeface="Microsoft Sans Serif"/>
                <a:cs typeface="Microsoft Sans Serif"/>
              </a:rPr>
              <a:t>)</a:t>
            </a:r>
            <a:r>
              <a:rPr sz="2800" spc="-25" dirty="0">
                <a:latin typeface="Microsoft Sans Serif"/>
                <a:cs typeface="Microsoft Sans Serif"/>
              </a:rPr>
              <a:t> </a:t>
            </a:r>
            <a:r>
              <a:rPr sz="2800" dirty="0">
                <a:latin typeface="Microsoft Sans Serif"/>
                <a:cs typeface="Microsoft Sans Serif"/>
              </a:rPr>
              <a:t>is</a:t>
            </a:r>
            <a:r>
              <a:rPr sz="2800" spc="-25" dirty="0">
                <a:latin typeface="Microsoft Sans Serif"/>
                <a:cs typeface="Microsoft Sans Serif"/>
              </a:rPr>
              <a:t> </a:t>
            </a:r>
            <a:r>
              <a:rPr sz="2800" dirty="0">
                <a:latin typeface="Microsoft Sans Serif"/>
                <a:cs typeface="Microsoft Sans Serif"/>
              </a:rPr>
              <a:t>slightly</a:t>
            </a:r>
            <a:r>
              <a:rPr sz="2800" spc="-10" dirty="0">
                <a:latin typeface="Microsoft Sans Serif"/>
                <a:cs typeface="Microsoft Sans Serif"/>
              </a:rPr>
              <a:t> </a:t>
            </a:r>
            <a:r>
              <a:rPr sz="2800" dirty="0">
                <a:latin typeface="Microsoft Sans Serif"/>
                <a:cs typeface="Microsoft Sans Serif"/>
              </a:rPr>
              <a:t>larger</a:t>
            </a:r>
            <a:r>
              <a:rPr sz="2800" spc="-15" dirty="0">
                <a:latin typeface="Microsoft Sans Serif"/>
                <a:cs typeface="Microsoft Sans Serif"/>
              </a:rPr>
              <a:t> </a:t>
            </a:r>
            <a:r>
              <a:rPr sz="2800" dirty="0">
                <a:latin typeface="Microsoft Sans Serif"/>
                <a:cs typeface="Microsoft Sans Serif"/>
              </a:rPr>
              <a:t>than</a:t>
            </a:r>
            <a:r>
              <a:rPr sz="2800" spc="-25" dirty="0">
                <a:latin typeface="Microsoft Sans Serif"/>
                <a:cs typeface="Microsoft Sans Serif"/>
              </a:rPr>
              <a:t> </a:t>
            </a:r>
            <a:r>
              <a:rPr sz="2800" dirty="0">
                <a:latin typeface="Microsoft Sans Serif"/>
                <a:cs typeface="Microsoft Sans Serif"/>
              </a:rPr>
              <a:t>half</a:t>
            </a:r>
            <a:r>
              <a:rPr sz="2800" spc="-15" dirty="0">
                <a:latin typeface="Microsoft Sans Serif"/>
                <a:cs typeface="Microsoft Sans Serif"/>
              </a:rPr>
              <a:t> </a:t>
            </a:r>
            <a:r>
              <a:rPr sz="2800" spc="-25" dirty="0">
                <a:latin typeface="Microsoft Sans Serif"/>
                <a:cs typeface="Microsoft Sans Serif"/>
              </a:rPr>
              <a:t>the </a:t>
            </a:r>
            <a:r>
              <a:rPr sz="2800" dirty="0">
                <a:latin typeface="Microsoft Sans Serif"/>
                <a:cs typeface="Microsoft Sans Serif"/>
              </a:rPr>
              <a:t>diagonal</a:t>
            </a:r>
            <a:r>
              <a:rPr sz="2800" spc="-55" dirty="0">
                <a:latin typeface="Microsoft Sans Serif"/>
                <a:cs typeface="Microsoft Sans Serif"/>
              </a:rPr>
              <a:t> </a:t>
            </a:r>
            <a:r>
              <a:rPr sz="2800" dirty="0">
                <a:latin typeface="Microsoft Sans Serif"/>
                <a:cs typeface="Microsoft Sans Serif"/>
              </a:rPr>
              <a:t>distance</a:t>
            </a:r>
            <a:r>
              <a:rPr sz="2800" spc="-65" dirty="0">
                <a:latin typeface="Microsoft Sans Serif"/>
                <a:cs typeface="Microsoft Sans Serif"/>
              </a:rPr>
              <a:t> </a:t>
            </a:r>
            <a:r>
              <a:rPr sz="2800" dirty="0">
                <a:latin typeface="Microsoft Sans Serif"/>
                <a:cs typeface="Microsoft Sans Serif"/>
              </a:rPr>
              <a:t>of</a:t>
            </a:r>
            <a:r>
              <a:rPr sz="2800" spc="-30" dirty="0">
                <a:latin typeface="Microsoft Sans Serif"/>
                <a:cs typeface="Microsoft Sans Serif"/>
              </a:rPr>
              <a:t> </a:t>
            </a:r>
            <a:r>
              <a:rPr sz="2800" dirty="0">
                <a:latin typeface="Microsoft Sans Serif"/>
                <a:cs typeface="Microsoft Sans Serif"/>
              </a:rPr>
              <a:t>image</a:t>
            </a:r>
            <a:r>
              <a:rPr sz="2800" spc="-50" dirty="0">
                <a:latin typeface="Microsoft Sans Serif"/>
                <a:cs typeface="Microsoft Sans Serif"/>
              </a:rPr>
              <a:t> </a:t>
            </a:r>
            <a:r>
              <a:rPr sz="2800" spc="-10" dirty="0">
                <a:latin typeface="Microsoft Sans Serif"/>
                <a:cs typeface="Microsoft Sans Serif"/>
              </a:rPr>
              <a:t>(convention),</a:t>
            </a:r>
            <a:endParaRPr sz="2800" dirty="0">
              <a:latin typeface="Microsoft Sans Serif"/>
              <a:cs typeface="Microsoft Sans Serif"/>
            </a:endParaRPr>
          </a:p>
          <a:p>
            <a:pPr marL="354965" indent="-342265">
              <a:spcBef>
                <a:spcPts val="675"/>
              </a:spcBef>
              <a:buChar char="•"/>
              <a:tabLst>
                <a:tab pos="354965" algn="l"/>
              </a:tabLst>
            </a:pPr>
            <a:r>
              <a:rPr sz="2800" dirty="0" err="1">
                <a:latin typeface="Microsoft Sans Serif"/>
                <a:cs typeface="Microsoft Sans Serif"/>
              </a:rPr>
              <a:t>Dsensor</a:t>
            </a:r>
            <a:r>
              <a:rPr sz="2800" spc="-5" dirty="0">
                <a:latin typeface="Microsoft Sans Serif"/>
                <a:cs typeface="Microsoft Sans Serif"/>
              </a:rPr>
              <a:t> </a:t>
            </a:r>
            <a:r>
              <a:rPr lang="en-US" sz="2800" dirty="0">
                <a:latin typeface="Microsoft Sans Serif"/>
                <a:cs typeface="Microsoft Sans Serif"/>
              </a:rPr>
              <a:t>is set to</a:t>
            </a:r>
            <a:r>
              <a:rPr sz="2800" spc="-15" dirty="0">
                <a:latin typeface="Microsoft Sans Serif"/>
                <a:cs typeface="Microsoft Sans Serif"/>
              </a:rPr>
              <a:t> </a:t>
            </a:r>
            <a:r>
              <a:rPr sz="2800" dirty="0">
                <a:latin typeface="Microsoft Sans Serif"/>
                <a:cs typeface="Microsoft Sans Serif"/>
              </a:rPr>
              <a:t>1</a:t>
            </a:r>
            <a:r>
              <a:rPr sz="2800" spc="-10" dirty="0">
                <a:latin typeface="Microsoft Sans Serif"/>
                <a:cs typeface="Microsoft Sans Serif"/>
              </a:rPr>
              <a:t> </a:t>
            </a:r>
            <a:r>
              <a:rPr sz="2800" dirty="0">
                <a:latin typeface="Microsoft Sans Serif"/>
                <a:cs typeface="Microsoft Sans Serif"/>
              </a:rPr>
              <a:t>(</a:t>
            </a:r>
            <a:r>
              <a:rPr sz="2800" b="1" dirty="0">
                <a:latin typeface="Arial"/>
                <a:cs typeface="Arial"/>
              </a:rPr>
              <a:t>Line</a:t>
            </a:r>
            <a:r>
              <a:rPr sz="2800" b="1" spc="-40" dirty="0">
                <a:latin typeface="Arial"/>
                <a:cs typeface="Arial"/>
              </a:rPr>
              <a:t> </a:t>
            </a:r>
            <a:r>
              <a:rPr sz="2800" b="1" spc="-25" dirty="0">
                <a:latin typeface="Arial"/>
                <a:cs typeface="Arial"/>
              </a:rPr>
              <a:t>26</a:t>
            </a:r>
            <a:r>
              <a:rPr sz="2800" spc="-25" dirty="0">
                <a:latin typeface="Microsoft Sans Serif"/>
                <a:cs typeface="Microsoft Sans Serif"/>
              </a:rPr>
              <a:t>)</a:t>
            </a:r>
            <a:endParaRPr sz="2800" dirty="0">
              <a:latin typeface="Microsoft Sans Serif"/>
              <a:cs typeface="Microsoft Sans Serif"/>
            </a:endParaRPr>
          </a:p>
        </p:txBody>
      </p:sp>
      <p:pic>
        <p:nvPicPr>
          <p:cNvPr id="4" name="object 4"/>
          <p:cNvPicPr/>
          <p:nvPr/>
        </p:nvPicPr>
        <p:blipFill>
          <a:blip r:embed="rId3" cstate="print"/>
          <a:stretch>
            <a:fillRect/>
          </a:stretch>
        </p:blipFill>
        <p:spPr>
          <a:xfrm>
            <a:off x="6096000" y="3395959"/>
            <a:ext cx="2218413" cy="2218388"/>
          </a:xfrm>
          <a:prstGeom prst="rect">
            <a:avLst/>
          </a:prstGeom>
        </p:spPr>
      </p:pic>
      <p:sp>
        <p:nvSpPr>
          <p:cNvPr id="5" name="object 5"/>
          <p:cNvSpPr txBox="1"/>
          <p:nvPr/>
        </p:nvSpPr>
        <p:spPr>
          <a:xfrm>
            <a:off x="6706060" y="3178723"/>
            <a:ext cx="983615" cy="146194"/>
          </a:xfrm>
          <a:prstGeom prst="rect">
            <a:avLst/>
          </a:prstGeom>
        </p:spPr>
        <p:txBody>
          <a:bodyPr vert="horz" wrap="square" lIns="0" tIns="15240" rIns="0" bIns="0" rtlCol="0">
            <a:spAutoFit/>
          </a:bodyPr>
          <a:lstStyle/>
          <a:p>
            <a:pPr marL="12700">
              <a:spcBef>
                <a:spcPts val="120"/>
              </a:spcBef>
            </a:pPr>
            <a:r>
              <a:rPr sz="850" dirty="0">
                <a:latin typeface="Arial MT"/>
                <a:cs typeface="Arial MT"/>
              </a:rPr>
              <a:t>FBP</a:t>
            </a:r>
            <a:r>
              <a:rPr sz="850" spc="105" dirty="0">
                <a:latin typeface="Arial MT"/>
                <a:cs typeface="Arial MT"/>
              </a:rPr>
              <a:t> </a:t>
            </a:r>
            <a:r>
              <a:rPr sz="850" spc="-10" dirty="0">
                <a:latin typeface="Arial MT"/>
                <a:cs typeface="Arial MT"/>
              </a:rPr>
              <a:t>reconstruction</a:t>
            </a:r>
            <a:endParaRPr sz="850">
              <a:latin typeface="Arial MT"/>
              <a:cs typeface="Arial MT"/>
            </a:endParaRPr>
          </a:p>
        </p:txBody>
      </p:sp>
      <p:grpSp>
        <p:nvGrpSpPr>
          <p:cNvPr id="6" name="object 6"/>
          <p:cNvGrpSpPr/>
          <p:nvPr/>
        </p:nvGrpSpPr>
        <p:grpSpPr>
          <a:xfrm>
            <a:off x="2514792" y="3406695"/>
            <a:ext cx="2574290" cy="2412365"/>
            <a:chOff x="1085660" y="3954467"/>
            <a:chExt cx="2574290" cy="2412365"/>
          </a:xfrm>
        </p:grpSpPr>
        <p:pic>
          <p:nvPicPr>
            <p:cNvPr id="7" name="object 7"/>
            <p:cNvPicPr/>
            <p:nvPr/>
          </p:nvPicPr>
          <p:blipFill>
            <a:blip r:embed="rId4" cstate="print"/>
            <a:stretch>
              <a:fillRect/>
            </a:stretch>
          </p:blipFill>
          <p:spPr>
            <a:xfrm>
              <a:off x="1086295" y="3955156"/>
              <a:ext cx="2559064" cy="2404343"/>
            </a:xfrm>
            <a:prstGeom prst="rect">
              <a:avLst/>
            </a:prstGeom>
          </p:spPr>
        </p:pic>
        <p:sp>
          <p:nvSpPr>
            <p:cNvPr id="8" name="object 8"/>
            <p:cNvSpPr/>
            <p:nvPr/>
          </p:nvSpPr>
          <p:spPr>
            <a:xfrm>
              <a:off x="1086295" y="6359499"/>
              <a:ext cx="2559685" cy="0"/>
            </a:xfrm>
            <a:custGeom>
              <a:avLst/>
              <a:gdLst/>
              <a:ahLst/>
              <a:cxnLst/>
              <a:rect l="l" t="t" r="r" b="b"/>
              <a:pathLst>
                <a:path w="2559685">
                  <a:moveTo>
                    <a:pt x="0" y="0"/>
                  </a:moveTo>
                  <a:lnTo>
                    <a:pt x="2559091" y="0"/>
                  </a:lnTo>
                </a:path>
              </a:pathLst>
            </a:custGeom>
            <a:ln w="3175">
              <a:solidFill>
                <a:srgbClr val="000000"/>
              </a:solidFill>
            </a:ln>
          </p:spPr>
          <p:txBody>
            <a:bodyPr wrap="square" lIns="0" tIns="0" rIns="0" bIns="0" rtlCol="0"/>
            <a:lstStyle/>
            <a:p>
              <a:endParaRPr/>
            </a:p>
          </p:txBody>
        </p:sp>
        <p:sp>
          <p:nvSpPr>
            <p:cNvPr id="9" name="object 9"/>
            <p:cNvSpPr/>
            <p:nvPr/>
          </p:nvSpPr>
          <p:spPr>
            <a:xfrm>
              <a:off x="3648877" y="636300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0" name="object 10"/>
            <p:cNvSpPr/>
            <p:nvPr/>
          </p:nvSpPr>
          <p:spPr>
            <a:xfrm>
              <a:off x="1086295" y="3955102"/>
              <a:ext cx="2559685" cy="0"/>
            </a:xfrm>
            <a:custGeom>
              <a:avLst/>
              <a:gdLst/>
              <a:ahLst/>
              <a:cxnLst/>
              <a:rect l="l" t="t" r="r" b="b"/>
              <a:pathLst>
                <a:path w="2559685">
                  <a:moveTo>
                    <a:pt x="0" y="0"/>
                  </a:moveTo>
                  <a:lnTo>
                    <a:pt x="2559091" y="0"/>
                  </a:lnTo>
                </a:path>
              </a:pathLst>
            </a:custGeom>
            <a:ln w="3175">
              <a:solidFill>
                <a:srgbClr val="000000"/>
              </a:solidFill>
            </a:ln>
          </p:spPr>
          <p:txBody>
            <a:bodyPr wrap="square" lIns="0" tIns="0" rIns="0" bIns="0" rtlCol="0"/>
            <a:lstStyle/>
            <a:p>
              <a:endParaRPr/>
            </a:p>
          </p:txBody>
        </p:sp>
        <p:sp>
          <p:nvSpPr>
            <p:cNvPr id="11" name="object 11"/>
            <p:cNvSpPr/>
            <p:nvPr/>
          </p:nvSpPr>
          <p:spPr>
            <a:xfrm>
              <a:off x="3648877" y="395867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2" name="object 12"/>
            <p:cNvSpPr/>
            <p:nvPr/>
          </p:nvSpPr>
          <p:spPr>
            <a:xfrm>
              <a:off x="3645386" y="3955102"/>
              <a:ext cx="0" cy="2404745"/>
            </a:xfrm>
            <a:custGeom>
              <a:avLst/>
              <a:gdLst/>
              <a:ahLst/>
              <a:cxnLst/>
              <a:rect l="l" t="t" r="r" b="b"/>
              <a:pathLst>
                <a:path h="2404745">
                  <a:moveTo>
                    <a:pt x="0" y="0"/>
                  </a:moveTo>
                  <a:lnTo>
                    <a:pt x="0" y="2404396"/>
                  </a:lnTo>
                </a:path>
              </a:pathLst>
            </a:custGeom>
            <a:ln w="3175">
              <a:solidFill>
                <a:srgbClr val="000000"/>
              </a:solidFill>
            </a:ln>
          </p:spPr>
          <p:txBody>
            <a:bodyPr wrap="square" lIns="0" tIns="0" rIns="0" bIns="0" rtlCol="0"/>
            <a:lstStyle/>
            <a:p>
              <a:endParaRPr/>
            </a:p>
          </p:txBody>
        </p:sp>
        <p:sp>
          <p:nvSpPr>
            <p:cNvPr id="13" name="object 13"/>
            <p:cNvSpPr/>
            <p:nvPr/>
          </p:nvSpPr>
          <p:spPr>
            <a:xfrm>
              <a:off x="3648877" y="636300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4" name="object 14"/>
            <p:cNvSpPr/>
            <p:nvPr/>
          </p:nvSpPr>
          <p:spPr>
            <a:xfrm>
              <a:off x="1086295" y="3955102"/>
              <a:ext cx="0" cy="2404745"/>
            </a:xfrm>
            <a:custGeom>
              <a:avLst/>
              <a:gdLst/>
              <a:ahLst/>
              <a:cxnLst/>
              <a:rect l="l" t="t" r="r" b="b"/>
              <a:pathLst>
                <a:path h="2404745">
                  <a:moveTo>
                    <a:pt x="0" y="0"/>
                  </a:moveTo>
                  <a:lnTo>
                    <a:pt x="0" y="2404396"/>
                  </a:lnTo>
                </a:path>
              </a:pathLst>
            </a:custGeom>
            <a:ln w="3175">
              <a:solidFill>
                <a:srgbClr val="000000"/>
              </a:solidFill>
            </a:ln>
          </p:spPr>
          <p:txBody>
            <a:bodyPr wrap="square" lIns="0" tIns="0" rIns="0" bIns="0" rtlCol="0"/>
            <a:lstStyle/>
            <a:p>
              <a:endParaRPr/>
            </a:p>
          </p:txBody>
        </p:sp>
        <p:sp>
          <p:nvSpPr>
            <p:cNvPr id="15" name="object 15"/>
            <p:cNvSpPr/>
            <p:nvPr/>
          </p:nvSpPr>
          <p:spPr>
            <a:xfrm>
              <a:off x="1089804" y="6363002"/>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16" name="object 16"/>
            <p:cNvSpPr/>
            <p:nvPr/>
          </p:nvSpPr>
          <p:spPr>
            <a:xfrm>
              <a:off x="1086295" y="6359499"/>
              <a:ext cx="2559685" cy="0"/>
            </a:xfrm>
            <a:custGeom>
              <a:avLst/>
              <a:gdLst/>
              <a:ahLst/>
              <a:cxnLst/>
              <a:rect l="l" t="t" r="r" b="b"/>
              <a:pathLst>
                <a:path w="2559685">
                  <a:moveTo>
                    <a:pt x="0" y="0"/>
                  </a:moveTo>
                  <a:lnTo>
                    <a:pt x="2559091" y="0"/>
                  </a:lnTo>
                </a:path>
              </a:pathLst>
            </a:custGeom>
            <a:ln w="3175">
              <a:solidFill>
                <a:srgbClr val="000000"/>
              </a:solidFill>
            </a:ln>
          </p:spPr>
          <p:txBody>
            <a:bodyPr wrap="square" lIns="0" tIns="0" rIns="0" bIns="0" rtlCol="0"/>
            <a:lstStyle/>
            <a:p>
              <a:endParaRPr/>
            </a:p>
          </p:txBody>
        </p:sp>
        <p:sp>
          <p:nvSpPr>
            <p:cNvPr id="17" name="object 17"/>
            <p:cNvSpPr/>
            <p:nvPr/>
          </p:nvSpPr>
          <p:spPr>
            <a:xfrm>
              <a:off x="3648877" y="636300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8" name="object 18"/>
            <p:cNvSpPr/>
            <p:nvPr/>
          </p:nvSpPr>
          <p:spPr>
            <a:xfrm>
              <a:off x="1086295" y="3955102"/>
              <a:ext cx="0" cy="2404745"/>
            </a:xfrm>
            <a:custGeom>
              <a:avLst/>
              <a:gdLst/>
              <a:ahLst/>
              <a:cxnLst/>
              <a:rect l="l" t="t" r="r" b="b"/>
              <a:pathLst>
                <a:path h="2404745">
                  <a:moveTo>
                    <a:pt x="0" y="0"/>
                  </a:moveTo>
                  <a:lnTo>
                    <a:pt x="0" y="2404396"/>
                  </a:lnTo>
                </a:path>
              </a:pathLst>
            </a:custGeom>
            <a:ln w="3175">
              <a:solidFill>
                <a:srgbClr val="000000"/>
              </a:solidFill>
            </a:ln>
          </p:spPr>
          <p:txBody>
            <a:bodyPr wrap="square" lIns="0" tIns="0" rIns="0" bIns="0" rtlCol="0"/>
            <a:lstStyle/>
            <a:p>
              <a:endParaRPr/>
            </a:p>
          </p:txBody>
        </p:sp>
        <p:sp>
          <p:nvSpPr>
            <p:cNvPr id="19" name="object 19"/>
            <p:cNvSpPr/>
            <p:nvPr/>
          </p:nvSpPr>
          <p:spPr>
            <a:xfrm>
              <a:off x="1089804" y="6363002"/>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20" name="object 20"/>
            <p:cNvSpPr/>
            <p:nvPr/>
          </p:nvSpPr>
          <p:spPr>
            <a:xfrm>
              <a:off x="1086295"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21" name="object 21"/>
            <p:cNvSpPr/>
            <p:nvPr/>
          </p:nvSpPr>
          <p:spPr>
            <a:xfrm>
              <a:off x="1089804" y="6334949"/>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22" name="object 22"/>
            <p:cNvSpPr/>
            <p:nvPr/>
          </p:nvSpPr>
          <p:spPr>
            <a:xfrm>
              <a:off x="1086295"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23" name="object 23"/>
            <p:cNvSpPr/>
            <p:nvPr/>
          </p:nvSpPr>
          <p:spPr>
            <a:xfrm>
              <a:off x="1089804" y="3979947"/>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24" name="object 24"/>
            <p:cNvSpPr/>
            <p:nvPr/>
          </p:nvSpPr>
          <p:spPr>
            <a:xfrm>
              <a:off x="1444861"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25" name="object 25"/>
            <p:cNvSpPr/>
            <p:nvPr/>
          </p:nvSpPr>
          <p:spPr>
            <a:xfrm>
              <a:off x="1448370" y="6334949"/>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26" name="object 26"/>
            <p:cNvSpPr/>
            <p:nvPr/>
          </p:nvSpPr>
          <p:spPr>
            <a:xfrm>
              <a:off x="1444861"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27" name="object 27"/>
            <p:cNvSpPr/>
            <p:nvPr/>
          </p:nvSpPr>
          <p:spPr>
            <a:xfrm>
              <a:off x="1448370" y="3979947"/>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28" name="object 28"/>
            <p:cNvSpPr/>
            <p:nvPr/>
          </p:nvSpPr>
          <p:spPr>
            <a:xfrm>
              <a:off x="1796382"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29" name="object 29"/>
            <p:cNvSpPr/>
            <p:nvPr/>
          </p:nvSpPr>
          <p:spPr>
            <a:xfrm>
              <a:off x="1799963" y="6334949"/>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30" name="object 30"/>
            <p:cNvSpPr/>
            <p:nvPr/>
          </p:nvSpPr>
          <p:spPr>
            <a:xfrm>
              <a:off x="1796382"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31" name="object 31"/>
            <p:cNvSpPr/>
            <p:nvPr/>
          </p:nvSpPr>
          <p:spPr>
            <a:xfrm>
              <a:off x="1799963" y="3979947"/>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32" name="object 32"/>
            <p:cNvSpPr/>
            <p:nvPr/>
          </p:nvSpPr>
          <p:spPr>
            <a:xfrm>
              <a:off x="2154993"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33" name="object 33"/>
            <p:cNvSpPr/>
            <p:nvPr/>
          </p:nvSpPr>
          <p:spPr>
            <a:xfrm>
              <a:off x="2158484" y="6334949"/>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34" name="object 34"/>
            <p:cNvSpPr/>
            <p:nvPr/>
          </p:nvSpPr>
          <p:spPr>
            <a:xfrm>
              <a:off x="2154993"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35" name="object 35"/>
            <p:cNvSpPr/>
            <p:nvPr/>
          </p:nvSpPr>
          <p:spPr>
            <a:xfrm>
              <a:off x="2158484" y="3979947"/>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36" name="object 36"/>
            <p:cNvSpPr/>
            <p:nvPr/>
          </p:nvSpPr>
          <p:spPr>
            <a:xfrm>
              <a:off x="2506353"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37" name="object 37"/>
            <p:cNvSpPr/>
            <p:nvPr/>
          </p:nvSpPr>
          <p:spPr>
            <a:xfrm>
              <a:off x="2509844" y="6334949"/>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38" name="object 38"/>
            <p:cNvSpPr/>
            <p:nvPr/>
          </p:nvSpPr>
          <p:spPr>
            <a:xfrm>
              <a:off x="2506353"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39" name="object 39"/>
            <p:cNvSpPr/>
            <p:nvPr/>
          </p:nvSpPr>
          <p:spPr>
            <a:xfrm>
              <a:off x="2509844" y="3979947"/>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40" name="object 40"/>
            <p:cNvSpPr/>
            <p:nvPr/>
          </p:nvSpPr>
          <p:spPr>
            <a:xfrm>
              <a:off x="2864875"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41" name="object 41"/>
            <p:cNvSpPr/>
            <p:nvPr/>
          </p:nvSpPr>
          <p:spPr>
            <a:xfrm>
              <a:off x="2868366" y="6334949"/>
              <a:ext cx="7620" cy="0"/>
            </a:xfrm>
            <a:custGeom>
              <a:avLst/>
              <a:gdLst/>
              <a:ahLst/>
              <a:cxnLst/>
              <a:rect l="l" t="t" r="r" b="b"/>
              <a:pathLst>
                <a:path w="7619">
                  <a:moveTo>
                    <a:pt x="0" y="0"/>
                  </a:moveTo>
                  <a:lnTo>
                    <a:pt x="7071" y="0"/>
                  </a:lnTo>
                </a:path>
              </a:pathLst>
            </a:custGeom>
            <a:ln w="7013">
              <a:solidFill>
                <a:srgbClr val="000000"/>
              </a:solidFill>
            </a:ln>
          </p:spPr>
          <p:txBody>
            <a:bodyPr wrap="square" lIns="0" tIns="0" rIns="0" bIns="0" rtlCol="0"/>
            <a:lstStyle/>
            <a:p>
              <a:endParaRPr/>
            </a:p>
          </p:txBody>
        </p:sp>
        <p:sp>
          <p:nvSpPr>
            <p:cNvPr id="42" name="object 42"/>
            <p:cNvSpPr/>
            <p:nvPr/>
          </p:nvSpPr>
          <p:spPr>
            <a:xfrm>
              <a:off x="2864875"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43" name="object 43"/>
            <p:cNvSpPr/>
            <p:nvPr/>
          </p:nvSpPr>
          <p:spPr>
            <a:xfrm>
              <a:off x="2868366" y="3979947"/>
              <a:ext cx="7620" cy="0"/>
            </a:xfrm>
            <a:custGeom>
              <a:avLst/>
              <a:gdLst/>
              <a:ahLst/>
              <a:cxnLst/>
              <a:rect l="l" t="t" r="r" b="b"/>
              <a:pathLst>
                <a:path w="7619">
                  <a:moveTo>
                    <a:pt x="0" y="0"/>
                  </a:moveTo>
                  <a:lnTo>
                    <a:pt x="7071" y="0"/>
                  </a:lnTo>
                </a:path>
              </a:pathLst>
            </a:custGeom>
            <a:ln w="7013">
              <a:solidFill>
                <a:srgbClr val="000000"/>
              </a:solidFill>
            </a:ln>
          </p:spPr>
          <p:txBody>
            <a:bodyPr wrap="square" lIns="0" tIns="0" rIns="0" bIns="0" rtlCol="0"/>
            <a:lstStyle/>
            <a:p>
              <a:endParaRPr/>
            </a:p>
          </p:txBody>
        </p:sp>
      </p:grpSp>
      <p:sp>
        <p:nvSpPr>
          <p:cNvPr id="44" name="object 44"/>
          <p:cNvSpPr txBox="1"/>
          <p:nvPr/>
        </p:nvSpPr>
        <p:spPr>
          <a:xfrm>
            <a:off x="3381468" y="3233261"/>
            <a:ext cx="803275" cy="122468"/>
          </a:xfrm>
          <a:prstGeom prst="rect">
            <a:avLst/>
          </a:prstGeom>
        </p:spPr>
        <p:txBody>
          <a:bodyPr vert="horz" wrap="square" lIns="0" tIns="14604" rIns="0" bIns="0" rtlCol="0">
            <a:spAutoFit/>
          </a:bodyPr>
          <a:lstStyle/>
          <a:p>
            <a:pPr marL="12700">
              <a:spcBef>
                <a:spcPts val="114"/>
              </a:spcBef>
            </a:pPr>
            <a:r>
              <a:rPr sz="700" dirty="0">
                <a:latin typeface="Arial MT"/>
                <a:cs typeface="Arial MT"/>
              </a:rPr>
              <a:t>Fanbeam</a:t>
            </a:r>
            <a:r>
              <a:rPr sz="700" spc="35" dirty="0">
                <a:latin typeface="Arial MT"/>
                <a:cs typeface="Arial MT"/>
              </a:rPr>
              <a:t> </a:t>
            </a:r>
            <a:r>
              <a:rPr sz="700" spc="-10" dirty="0">
                <a:latin typeface="Arial MT"/>
                <a:cs typeface="Arial MT"/>
              </a:rPr>
              <a:t>sinogram</a:t>
            </a:r>
            <a:endParaRPr sz="700">
              <a:latin typeface="Arial MT"/>
              <a:cs typeface="Arial MT"/>
            </a:endParaRPr>
          </a:p>
        </p:txBody>
      </p:sp>
      <p:sp>
        <p:nvSpPr>
          <p:cNvPr id="45" name="object 45"/>
          <p:cNvSpPr txBox="1"/>
          <p:nvPr/>
        </p:nvSpPr>
        <p:spPr>
          <a:xfrm>
            <a:off x="3142453" y="5810056"/>
            <a:ext cx="1248410" cy="253274"/>
          </a:xfrm>
          <a:prstGeom prst="rect">
            <a:avLst/>
          </a:prstGeom>
        </p:spPr>
        <p:txBody>
          <a:bodyPr vert="horz" wrap="square" lIns="0" tIns="24765" rIns="0" bIns="0" rtlCol="0">
            <a:spAutoFit/>
          </a:bodyPr>
          <a:lstStyle/>
          <a:p>
            <a:pPr marL="12700">
              <a:spcBef>
                <a:spcPts val="195"/>
              </a:spcBef>
              <a:tabLst>
                <a:tab pos="370840" algn="l"/>
                <a:tab pos="722630" algn="l"/>
                <a:tab pos="1080770" algn="l"/>
              </a:tabLst>
            </a:pPr>
            <a:r>
              <a:rPr sz="700" spc="-25" dirty="0">
                <a:latin typeface="Arial MT"/>
                <a:cs typeface="Arial MT"/>
              </a:rPr>
              <a:t>100</a:t>
            </a:r>
            <a:r>
              <a:rPr sz="700" dirty="0">
                <a:latin typeface="Arial MT"/>
                <a:cs typeface="Arial MT"/>
              </a:rPr>
              <a:t>	</a:t>
            </a:r>
            <a:r>
              <a:rPr sz="700" spc="-25" dirty="0">
                <a:latin typeface="Arial MT"/>
                <a:cs typeface="Arial MT"/>
              </a:rPr>
              <a:t>150</a:t>
            </a:r>
            <a:r>
              <a:rPr sz="700" dirty="0">
                <a:latin typeface="Arial MT"/>
                <a:cs typeface="Arial MT"/>
              </a:rPr>
              <a:t>	</a:t>
            </a:r>
            <a:r>
              <a:rPr sz="700" spc="-25" dirty="0">
                <a:latin typeface="Arial MT"/>
                <a:cs typeface="Arial MT"/>
              </a:rPr>
              <a:t>200</a:t>
            </a:r>
            <a:r>
              <a:rPr sz="700" dirty="0">
                <a:latin typeface="Arial MT"/>
                <a:cs typeface="Arial MT"/>
              </a:rPr>
              <a:t>	</a:t>
            </a:r>
            <a:r>
              <a:rPr sz="700" spc="-25" dirty="0">
                <a:latin typeface="Arial MT"/>
                <a:cs typeface="Arial MT"/>
              </a:rPr>
              <a:t>250</a:t>
            </a:r>
            <a:endParaRPr sz="700">
              <a:latin typeface="Arial MT"/>
              <a:cs typeface="Arial MT"/>
            </a:endParaRPr>
          </a:p>
          <a:p>
            <a:pPr marL="47625">
              <a:spcBef>
                <a:spcPts val="105"/>
              </a:spcBef>
            </a:pPr>
            <a:r>
              <a:rPr sz="700" dirty="0">
                <a:latin typeface="Arial MT"/>
                <a:cs typeface="Arial MT"/>
              </a:rPr>
              <a:t>Fan</a:t>
            </a:r>
            <a:r>
              <a:rPr sz="700" spc="40" dirty="0">
                <a:latin typeface="Arial MT"/>
                <a:cs typeface="Arial MT"/>
              </a:rPr>
              <a:t> </a:t>
            </a:r>
            <a:r>
              <a:rPr sz="700" dirty="0">
                <a:latin typeface="Arial MT"/>
                <a:cs typeface="Arial MT"/>
              </a:rPr>
              <a:t>Rotation</a:t>
            </a:r>
            <a:r>
              <a:rPr sz="700" spc="45" dirty="0">
                <a:latin typeface="Arial MT"/>
                <a:cs typeface="Arial MT"/>
              </a:rPr>
              <a:t> </a:t>
            </a:r>
            <a:r>
              <a:rPr sz="700" dirty="0">
                <a:latin typeface="Arial MT"/>
                <a:cs typeface="Arial MT"/>
              </a:rPr>
              <a:t>Angle</a:t>
            </a:r>
            <a:r>
              <a:rPr sz="700" spc="40" dirty="0">
                <a:latin typeface="Arial MT"/>
                <a:cs typeface="Arial MT"/>
              </a:rPr>
              <a:t> </a:t>
            </a:r>
            <a:r>
              <a:rPr sz="700" spc="-10" dirty="0">
                <a:latin typeface="Arial MT"/>
                <a:cs typeface="Arial MT"/>
              </a:rPr>
              <a:t>(degrees)</a:t>
            </a:r>
            <a:endParaRPr sz="700">
              <a:latin typeface="Arial MT"/>
              <a:cs typeface="Arial MT"/>
            </a:endParaRPr>
          </a:p>
        </p:txBody>
      </p:sp>
      <p:sp>
        <p:nvSpPr>
          <p:cNvPr id="46" name="object 46"/>
          <p:cNvSpPr txBox="1"/>
          <p:nvPr/>
        </p:nvSpPr>
        <p:spPr>
          <a:xfrm>
            <a:off x="2187906" y="3987968"/>
            <a:ext cx="107722" cy="1260475"/>
          </a:xfrm>
          <a:prstGeom prst="rect">
            <a:avLst/>
          </a:prstGeom>
        </p:spPr>
        <p:txBody>
          <a:bodyPr vert="vert270" wrap="square" lIns="0" tIns="6350" rIns="0" bIns="0" rtlCol="0">
            <a:spAutoFit/>
          </a:bodyPr>
          <a:lstStyle/>
          <a:p>
            <a:pPr marL="12700">
              <a:spcBef>
                <a:spcPts val="50"/>
              </a:spcBef>
            </a:pPr>
            <a:r>
              <a:rPr sz="700" dirty="0">
                <a:latin typeface="Arial MT"/>
                <a:cs typeface="Arial MT"/>
              </a:rPr>
              <a:t>Fan</a:t>
            </a:r>
            <a:r>
              <a:rPr sz="700" spc="65" dirty="0">
                <a:latin typeface="Arial MT"/>
                <a:cs typeface="Arial MT"/>
              </a:rPr>
              <a:t> </a:t>
            </a:r>
            <a:r>
              <a:rPr sz="700" dirty="0">
                <a:latin typeface="Arial MT"/>
                <a:cs typeface="Arial MT"/>
              </a:rPr>
              <a:t>Sensor</a:t>
            </a:r>
            <a:r>
              <a:rPr sz="700" spc="60" dirty="0">
                <a:latin typeface="Arial MT"/>
                <a:cs typeface="Arial MT"/>
              </a:rPr>
              <a:t> </a:t>
            </a:r>
            <a:r>
              <a:rPr sz="700" dirty="0">
                <a:latin typeface="Arial MT"/>
                <a:cs typeface="Arial MT"/>
              </a:rPr>
              <a:t>Position</a:t>
            </a:r>
            <a:r>
              <a:rPr sz="700" spc="65" dirty="0">
                <a:latin typeface="Arial MT"/>
                <a:cs typeface="Arial MT"/>
              </a:rPr>
              <a:t> </a:t>
            </a:r>
            <a:r>
              <a:rPr sz="700" spc="-10" dirty="0">
                <a:latin typeface="Arial MT"/>
                <a:cs typeface="Arial MT"/>
              </a:rPr>
              <a:t>(degrees)</a:t>
            </a:r>
            <a:endParaRPr sz="700">
              <a:latin typeface="Arial MT"/>
              <a:cs typeface="Arial MT"/>
            </a:endParaRPr>
          </a:p>
        </p:txBody>
      </p:sp>
      <p:sp>
        <p:nvSpPr>
          <p:cNvPr id="47" name="object 47"/>
          <p:cNvSpPr txBox="1"/>
          <p:nvPr/>
        </p:nvSpPr>
        <p:spPr>
          <a:xfrm>
            <a:off x="2481673" y="5820162"/>
            <a:ext cx="76835" cy="122468"/>
          </a:xfrm>
          <a:prstGeom prst="rect">
            <a:avLst/>
          </a:prstGeom>
        </p:spPr>
        <p:txBody>
          <a:bodyPr vert="horz" wrap="square" lIns="0" tIns="14604" rIns="0" bIns="0" rtlCol="0">
            <a:spAutoFit/>
          </a:bodyPr>
          <a:lstStyle/>
          <a:p>
            <a:pPr marL="12700">
              <a:spcBef>
                <a:spcPts val="114"/>
              </a:spcBef>
            </a:pPr>
            <a:r>
              <a:rPr sz="700" spc="-50" dirty="0">
                <a:latin typeface="Arial MT"/>
                <a:cs typeface="Arial MT"/>
              </a:rPr>
              <a:t>0</a:t>
            </a:r>
            <a:endParaRPr sz="700">
              <a:latin typeface="Arial MT"/>
              <a:cs typeface="Arial MT"/>
            </a:endParaRPr>
          </a:p>
        </p:txBody>
      </p:sp>
      <p:sp>
        <p:nvSpPr>
          <p:cNvPr id="48" name="object 48"/>
          <p:cNvSpPr txBox="1"/>
          <p:nvPr/>
        </p:nvSpPr>
        <p:spPr>
          <a:xfrm>
            <a:off x="2812166" y="5820162"/>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50</a:t>
            </a:r>
            <a:endParaRPr sz="700">
              <a:latin typeface="Arial MT"/>
              <a:cs typeface="Arial MT"/>
            </a:endParaRPr>
          </a:p>
        </p:txBody>
      </p:sp>
      <p:grpSp>
        <p:nvGrpSpPr>
          <p:cNvPr id="49" name="object 49"/>
          <p:cNvGrpSpPr/>
          <p:nvPr/>
        </p:nvGrpSpPr>
        <p:grpSpPr>
          <a:xfrm>
            <a:off x="2514800" y="3406704"/>
            <a:ext cx="2570480" cy="2412365"/>
            <a:chOff x="1085668" y="3954476"/>
            <a:chExt cx="2570480" cy="2412365"/>
          </a:xfrm>
        </p:grpSpPr>
        <p:sp>
          <p:nvSpPr>
            <p:cNvPr id="50" name="object 50"/>
            <p:cNvSpPr/>
            <p:nvPr/>
          </p:nvSpPr>
          <p:spPr>
            <a:xfrm>
              <a:off x="3216413"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51" name="object 51"/>
            <p:cNvSpPr/>
            <p:nvPr/>
          </p:nvSpPr>
          <p:spPr>
            <a:xfrm>
              <a:off x="3219905" y="6334949"/>
              <a:ext cx="7620" cy="0"/>
            </a:xfrm>
            <a:custGeom>
              <a:avLst/>
              <a:gdLst/>
              <a:ahLst/>
              <a:cxnLst/>
              <a:rect l="l" t="t" r="r" b="b"/>
              <a:pathLst>
                <a:path w="7619">
                  <a:moveTo>
                    <a:pt x="0" y="0"/>
                  </a:moveTo>
                  <a:lnTo>
                    <a:pt x="7071" y="0"/>
                  </a:lnTo>
                </a:path>
              </a:pathLst>
            </a:custGeom>
            <a:ln w="7013">
              <a:solidFill>
                <a:srgbClr val="000000"/>
              </a:solidFill>
            </a:ln>
          </p:spPr>
          <p:txBody>
            <a:bodyPr wrap="square" lIns="0" tIns="0" rIns="0" bIns="0" rtlCol="0"/>
            <a:lstStyle/>
            <a:p>
              <a:endParaRPr/>
            </a:p>
          </p:txBody>
        </p:sp>
        <p:sp>
          <p:nvSpPr>
            <p:cNvPr id="52" name="object 52"/>
            <p:cNvSpPr/>
            <p:nvPr/>
          </p:nvSpPr>
          <p:spPr>
            <a:xfrm>
              <a:off x="3216413"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53" name="object 53"/>
            <p:cNvSpPr/>
            <p:nvPr/>
          </p:nvSpPr>
          <p:spPr>
            <a:xfrm>
              <a:off x="3219905" y="3979947"/>
              <a:ext cx="7620" cy="0"/>
            </a:xfrm>
            <a:custGeom>
              <a:avLst/>
              <a:gdLst/>
              <a:ahLst/>
              <a:cxnLst/>
              <a:rect l="l" t="t" r="r" b="b"/>
              <a:pathLst>
                <a:path w="7619">
                  <a:moveTo>
                    <a:pt x="0" y="0"/>
                  </a:moveTo>
                  <a:lnTo>
                    <a:pt x="7071" y="0"/>
                  </a:lnTo>
                </a:path>
              </a:pathLst>
            </a:custGeom>
            <a:ln w="7013">
              <a:solidFill>
                <a:srgbClr val="000000"/>
              </a:solidFill>
            </a:ln>
          </p:spPr>
          <p:txBody>
            <a:bodyPr wrap="square" lIns="0" tIns="0" rIns="0" bIns="0" rtlCol="0"/>
            <a:lstStyle/>
            <a:p>
              <a:endParaRPr/>
            </a:p>
          </p:txBody>
        </p:sp>
        <p:sp>
          <p:nvSpPr>
            <p:cNvPr id="54" name="object 54"/>
            <p:cNvSpPr/>
            <p:nvPr/>
          </p:nvSpPr>
          <p:spPr>
            <a:xfrm>
              <a:off x="3575024" y="6331445"/>
              <a:ext cx="0" cy="28575"/>
            </a:xfrm>
            <a:custGeom>
              <a:avLst/>
              <a:gdLst/>
              <a:ahLst/>
              <a:cxnLst/>
              <a:rect l="l" t="t" r="r" b="b"/>
              <a:pathLst>
                <a:path h="28575">
                  <a:moveTo>
                    <a:pt x="0" y="28053"/>
                  </a:moveTo>
                  <a:lnTo>
                    <a:pt x="0" y="0"/>
                  </a:lnTo>
                </a:path>
              </a:pathLst>
            </a:custGeom>
            <a:ln w="3175">
              <a:solidFill>
                <a:srgbClr val="000000"/>
              </a:solidFill>
            </a:ln>
          </p:spPr>
          <p:txBody>
            <a:bodyPr wrap="square" lIns="0" tIns="0" rIns="0" bIns="0" rtlCol="0"/>
            <a:lstStyle/>
            <a:p>
              <a:endParaRPr/>
            </a:p>
          </p:txBody>
        </p:sp>
        <p:sp>
          <p:nvSpPr>
            <p:cNvPr id="55" name="object 55"/>
            <p:cNvSpPr/>
            <p:nvPr/>
          </p:nvSpPr>
          <p:spPr>
            <a:xfrm>
              <a:off x="3578515" y="6334949"/>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56" name="object 56"/>
            <p:cNvSpPr/>
            <p:nvPr/>
          </p:nvSpPr>
          <p:spPr>
            <a:xfrm>
              <a:off x="3575024" y="3955102"/>
              <a:ext cx="0" cy="21590"/>
            </a:xfrm>
            <a:custGeom>
              <a:avLst/>
              <a:gdLst/>
              <a:ahLst/>
              <a:cxnLst/>
              <a:rect l="l" t="t" r="r" b="b"/>
              <a:pathLst>
                <a:path h="21589">
                  <a:moveTo>
                    <a:pt x="0" y="0"/>
                  </a:moveTo>
                  <a:lnTo>
                    <a:pt x="0" y="21270"/>
                  </a:lnTo>
                </a:path>
              </a:pathLst>
            </a:custGeom>
            <a:ln w="3175">
              <a:solidFill>
                <a:srgbClr val="000000"/>
              </a:solidFill>
            </a:ln>
          </p:spPr>
          <p:txBody>
            <a:bodyPr wrap="square" lIns="0" tIns="0" rIns="0" bIns="0" rtlCol="0"/>
            <a:lstStyle/>
            <a:p>
              <a:endParaRPr/>
            </a:p>
          </p:txBody>
        </p:sp>
        <p:sp>
          <p:nvSpPr>
            <p:cNvPr id="57" name="object 57"/>
            <p:cNvSpPr/>
            <p:nvPr/>
          </p:nvSpPr>
          <p:spPr>
            <a:xfrm>
              <a:off x="3578515" y="3979947"/>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58" name="object 58"/>
            <p:cNvSpPr/>
            <p:nvPr/>
          </p:nvSpPr>
          <p:spPr>
            <a:xfrm>
              <a:off x="1086295" y="4187287"/>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59" name="object 59"/>
            <p:cNvSpPr/>
            <p:nvPr/>
          </p:nvSpPr>
          <p:spPr>
            <a:xfrm>
              <a:off x="1110859" y="4190773"/>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60" name="object 60"/>
            <p:cNvSpPr/>
            <p:nvPr/>
          </p:nvSpPr>
          <p:spPr>
            <a:xfrm>
              <a:off x="3617098" y="4187287"/>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61" name="object 61"/>
            <p:cNvSpPr/>
            <p:nvPr/>
          </p:nvSpPr>
          <p:spPr>
            <a:xfrm>
              <a:off x="3620589" y="4190773"/>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62" name="object 62"/>
            <p:cNvSpPr/>
            <p:nvPr/>
          </p:nvSpPr>
          <p:spPr>
            <a:xfrm>
              <a:off x="1086295" y="4510542"/>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63" name="object 63"/>
            <p:cNvSpPr/>
            <p:nvPr/>
          </p:nvSpPr>
          <p:spPr>
            <a:xfrm>
              <a:off x="1110859" y="4514027"/>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64" name="object 64"/>
            <p:cNvSpPr/>
            <p:nvPr/>
          </p:nvSpPr>
          <p:spPr>
            <a:xfrm>
              <a:off x="3617098" y="4510542"/>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65" name="object 65"/>
            <p:cNvSpPr/>
            <p:nvPr/>
          </p:nvSpPr>
          <p:spPr>
            <a:xfrm>
              <a:off x="3620589" y="451402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66" name="object 66"/>
            <p:cNvSpPr/>
            <p:nvPr/>
          </p:nvSpPr>
          <p:spPr>
            <a:xfrm>
              <a:off x="1086295" y="4834064"/>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67" name="object 67"/>
            <p:cNvSpPr/>
            <p:nvPr/>
          </p:nvSpPr>
          <p:spPr>
            <a:xfrm>
              <a:off x="1110859" y="4837549"/>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68" name="object 68"/>
            <p:cNvSpPr/>
            <p:nvPr/>
          </p:nvSpPr>
          <p:spPr>
            <a:xfrm>
              <a:off x="3617098" y="4834064"/>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69" name="object 69"/>
            <p:cNvSpPr/>
            <p:nvPr/>
          </p:nvSpPr>
          <p:spPr>
            <a:xfrm>
              <a:off x="3620589" y="4837549"/>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70" name="object 70"/>
            <p:cNvSpPr/>
            <p:nvPr/>
          </p:nvSpPr>
          <p:spPr>
            <a:xfrm>
              <a:off x="1086295" y="5157318"/>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71" name="object 71"/>
            <p:cNvSpPr/>
            <p:nvPr/>
          </p:nvSpPr>
          <p:spPr>
            <a:xfrm>
              <a:off x="1110859" y="5160804"/>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72" name="object 72"/>
            <p:cNvSpPr/>
            <p:nvPr/>
          </p:nvSpPr>
          <p:spPr>
            <a:xfrm>
              <a:off x="3617098" y="5157318"/>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73" name="object 73"/>
            <p:cNvSpPr/>
            <p:nvPr/>
          </p:nvSpPr>
          <p:spPr>
            <a:xfrm>
              <a:off x="3620589" y="5160804"/>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74" name="object 74"/>
            <p:cNvSpPr/>
            <p:nvPr/>
          </p:nvSpPr>
          <p:spPr>
            <a:xfrm>
              <a:off x="1086295" y="5473780"/>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75" name="object 75"/>
            <p:cNvSpPr/>
            <p:nvPr/>
          </p:nvSpPr>
          <p:spPr>
            <a:xfrm>
              <a:off x="1110859" y="5477355"/>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76" name="object 76"/>
            <p:cNvSpPr/>
            <p:nvPr/>
          </p:nvSpPr>
          <p:spPr>
            <a:xfrm>
              <a:off x="3617098" y="5473780"/>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77" name="object 77"/>
            <p:cNvSpPr/>
            <p:nvPr/>
          </p:nvSpPr>
          <p:spPr>
            <a:xfrm>
              <a:off x="3620589" y="5477355"/>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78" name="object 78"/>
            <p:cNvSpPr/>
            <p:nvPr/>
          </p:nvSpPr>
          <p:spPr>
            <a:xfrm>
              <a:off x="1086295" y="5797097"/>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79" name="object 79"/>
            <p:cNvSpPr/>
            <p:nvPr/>
          </p:nvSpPr>
          <p:spPr>
            <a:xfrm>
              <a:off x="1110859" y="5800600"/>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80" name="object 80"/>
            <p:cNvSpPr/>
            <p:nvPr/>
          </p:nvSpPr>
          <p:spPr>
            <a:xfrm>
              <a:off x="3617098" y="5797097"/>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81" name="object 81"/>
            <p:cNvSpPr/>
            <p:nvPr/>
          </p:nvSpPr>
          <p:spPr>
            <a:xfrm>
              <a:off x="3620589" y="5800600"/>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82" name="object 82"/>
            <p:cNvSpPr/>
            <p:nvPr/>
          </p:nvSpPr>
          <p:spPr>
            <a:xfrm>
              <a:off x="1086295" y="6120593"/>
              <a:ext cx="21590" cy="0"/>
            </a:xfrm>
            <a:custGeom>
              <a:avLst/>
              <a:gdLst/>
              <a:ahLst/>
              <a:cxnLst/>
              <a:rect l="l" t="t" r="r" b="b"/>
              <a:pathLst>
                <a:path w="21590">
                  <a:moveTo>
                    <a:pt x="0" y="0"/>
                  </a:moveTo>
                  <a:lnTo>
                    <a:pt x="21054" y="0"/>
                  </a:lnTo>
                </a:path>
              </a:pathLst>
            </a:custGeom>
            <a:ln w="3175">
              <a:solidFill>
                <a:srgbClr val="000000"/>
              </a:solidFill>
            </a:ln>
          </p:spPr>
          <p:txBody>
            <a:bodyPr wrap="square" lIns="0" tIns="0" rIns="0" bIns="0" rtlCol="0"/>
            <a:lstStyle/>
            <a:p>
              <a:endParaRPr/>
            </a:p>
          </p:txBody>
        </p:sp>
        <p:sp>
          <p:nvSpPr>
            <p:cNvPr id="83" name="object 83"/>
            <p:cNvSpPr/>
            <p:nvPr/>
          </p:nvSpPr>
          <p:spPr>
            <a:xfrm>
              <a:off x="1110859" y="6124105"/>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sp>
          <p:nvSpPr>
            <p:cNvPr id="84" name="object 84"/>
            <p:cNvSpPr/>
            <p:nvPr/>
          </p:nvSpPr>
          <p:spPr>
            <a:xfrm>
              <a:off x="3617098" y="6120593"/>
              <a:ext cx="28575" cy="0"/>
            </a:xfrm>
            <a:custGeom>
              <a:avLst/>
              <a:gdLst/>
              <a:ahLst/>
              <a:cxnLst/>
              <a:rect l="l" t="t" r="r" b="b"/>
              <a:pathLst>
                <a:path w="28575">
                  <a:moveTo>
                    <a:pt x="28287" y="0"/>
                  </a:moveTo>
                  <a:lnTo>
                    <a:pt x="0" y="0"/>
                  </a:lnTo>
                </a:path>
              </a:pathLst>
            </a:custGeom>
            <a:ln w="3175">
              <a:solidFill>
                <a:srgbClr val="000000"/>
              </a:solidFill>
            </a:ln>
          </p:spPr>
          <p:txBody>
            <a:bodyPr wrap="square" lIns="0" tIns="0" rIns="0" bIns="0" rtlCol="0"/>
            <a:lstStyle/>
            <a:p>
              <a:endParaRPr/>
            </a:p>
          </p:txBody>
        </p:sp>
        <p:sp>
          <p:nvSpPr>
            <p:cNvPr id="85" name="object 85"/>
            <p:cNvSpPr/>
            <p:nvPr/>
          </p:nvSpPr>
          <p:spPr>
            <a:xfrm>
              <a:off x="3620589" y="6124105"/>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86" name="object 86"/>
            <p:cNvSpPr/>
            <p:nvPr/>
          </p:nvSpPr>
          <p:spPr>
            <a:xfrm>
              <a:off x="1086295" y="6359499"/>
              <a:ext cx="2559685" cy="0"/>
            </a:xfrm>
            <a:custGeom>
              <a:avLst/>
              <a:gdLst/>
              <a:ahLst/>
              <a:cxnLst/>
              <a:rect l="l" t="t" r="r" b="b"/>
              <a:pathLst>
                <a:path w="2559685">
                  <a:moveTo>
                    <a:pt x="0" y="0"/>
                  </a:moveTo>
                  <a:lnTo>
                    <a:pt x="2559091" y="0"/>
                  </a:lnTo>
                </a:path>
              </a:pathLst>
            </a:custGeom>
            <a:ln w="3175">
              <a:solidFill>
                <a:srgbClr val="000000"/>
              </a:solidFill>
            </a:ln>
          </p:spPr>
          <p:txBody>
            <a:bodyPr wrap="square" lIns="0" tIns="0" rIns="0" bIns="0" rtlCol="0"/>
            <a:lstStyle/>
            <a:p>
              <a:endParaRPr/>
            </a:p>
          </p:txBody>
        </p:sp>
        <p:sp>
          <p:nvSpPr>
            <p:cNvPr id="87" name="object 87"/>
            <p:cNvSpPr/>
            <p:nvPr/>
          </p:nvSpPr>
          <p:spPr>
            <a:xfrm>
              <a:off x="3648877" y="636300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88" name="object 88"/>
            <p:cNvSpPr/>
            <p:nvPr/>
          </p:nvSpPr>
          <p:spPr>
            <a:xfrm>
              <a:off x="1086295" y="3955102"/>
              <a:ext cx="2559685" cy="0"/>
            </a:xfrm>
            <a:custGeom>
              <a:avLst/>
              <a:gdLst/>
              <a:ahLst/>
              <a:cxnLst/>
              <a:rect l="l" t="t" r="r" b="b"/>
              <a:pathLst>
                <a:path w="2559685">
                  <a:moveTo>
                    <a:pt x="0" y="0"/>
                  </a:moveTo>
                  <a:lnTo>
                    <a:pt x="2559091" y="0"/>
                  </a:lnTo>
                </a:path>
              </a:pathLst>
            </a:custGeom>
            <a:ln w="3175">
              <a:solidFill>
                <a:srgbClr val="000000"/>
              </a:solidFill>
            </a:ln>
          </p:spPr>
          <p:txBody>
            <a:bodyPr wrap="square" lIns="0" tIns="0" rIns="0" bIns="0" rtlCol="0"/>
            <a:lstStyle/>
            <a:p>
              <a:endParaRPr/>
            </a:p>
          </p:txBody>
        </p:sp>
        <p:sp>
          <p:nvSpPr>
            <p:cNvPr id="89" name="object 89"/>
            <p:cNvSpPr/>
            <p:nvPr/>
          </p:nvSpPr>
          <p:spPr>
            <a:xfrm>
              <a:off x="3648877" y="395867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90" name="object 90"/>
            <p:cNvSpPr/>
            <p:nvPr/>
          </p:nvSpPr>
          <p:spPr>
            <a:xfrm>
              <a:off x="3645386" y="3955102"/>
              <a:ext cx="0" cy="2404745"/>
            </a:xfrm>
            <a:custGeom>
              <a:avLst/>
              <a:gdLst/>
              <a:ahLst/>
              <a:cxnLst/>
              <a:rect l="l" t="t" r="r" b="b"/>
              <a:pathLst>
                <a:path h="2404745">
                  <a:moveTo>
                    <a:pt x="0" y="0"/>
                  </a:moveTo>
                  <a:lnTo>
                    <a:pt x="0" y="2404396"/>
                  </a:lnTo>
                </a:path>
              </a:pathLst>
            </a:custGeom>
            <a:ln w="3175">
              <a:solidFill>
                <a:srgbClr val="000000"/>
              </a:solidFill>
            </a:ln>
          </p:spPr>
          <p:txBody>
            <a:bodyPr wrap="square" lIns="0" tIns="0" rIns="0" bIns="0" rtlCol="0"/>
            <a:lstStyle/>
            <a:p>
              <a:endParaRPr/>
            </a:p>
          </p:txBody>
        </p:sp>
        <p:sp>
          <p:nvSpPr>
            <p:cNvPr id="91" name="object 91"/>
            <p:cNvSpPr/>
            <p:nvPr/>
          </p:nvSpPr>
          <p:spPr>
            <a:xfrm>
              <a:off x="3648877" y="636300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92" name="object 92"/>
            <p:cNvSpPr/>
            <p:nvPr/>
          </p:nvSpPr>
          <p:spPr>
            <a:xfrm>
              <a:off x="1086295" y="3955102"/>
              <a:ext cx="0" cy="2404745"/>
            </a:xfrm>
            <a:custGeom>
              <a:avLst/>
              <a:gdLst/>
              <a:ahLst/>
              <a:cxnLst/>
              <a:rect l="l" t="t" r="r" b="b"/>
              <a:pathLst>
                <a:path h="2404745">
                  <a:moveTo>
                    <a:pt x="0" y="0"/>
                  </a:moveTo>
                  <a:lnTo>
                    <a:pt x="0" y="2404396"/>
                  </a:lnTo>
                </a:path>
              </a:pathLst>
            </a:custGeom>
            <a:ln w="3175">
              <a:solidFill>
                <a:srgbClr val="000000"/>
              </a:solidFill>
            </a:ln>
          </p:spPr>
          <p:txBody>
            <a:bodyPr wrap="square" lIns="0" tIns="0" rIns="0" bIns="0" rtlCol="0"/>
            <a:lstStyle/>
            <a:p>
              <a:endParaRPr/>
            </a:p>
          </p:txBody>
        </p:sp>
        <p:sp>
          <p:nvSpPr>
            <p:cNvPr id="93" name="object 93"/>
            <p:cNvSpPr/>
            <p:nvPr/>
          </p:nvSpPr>
          <p:spPr>
            <a:xfrm>
              <a:off x="1089804" y="6363002"/>
              <a:ext cx="7620" cy="0"/>
            </a:xfrm>
            <a:custGeom>
              <a:avLst/>
              <a:gdLst/>
              <a:ahLst/>
              <a:cxnLst/>
              <a:rect l="l" t="t" r="r" b="b"/>
              <a:pathLst>
                <a:path w="7619">
                  <a:moveTo>
                    <a:pt x="0" y="0"/>
                  </a:moveTo>
                  <a:lnTo>
                    <a:pt x="7018" y="0"/>
                  </a:lnTo>
                </a:path>
              </a:pathLst>
            </a:custGeom>
            <a:ln w="7013">
              <a:solidFill>
                <a:srgbClr val="000000"/>
              </a:solidFill>
            </a:ln>
          </p:spPr>
          <p:txBody>
            <a:bodyPr wrap="square" lIns="0" tIns="0" rIns="0" bIns="0" rtlCol="0"/>
            <a:lstStyle/>
            <a:p>
              <a:endParaRPr/>
            </a:p>
          </p:txBody>
        </p:sp>
      </p:grpSp>
      <p:sp>
        <p:nvSpPr>
          <p:cNvPr id="94" name="object 94"/>
          <p:cNvSpPr txBox="1"/>
          <p:nvPr/>
        </p:nvSpPr>
        <p:spPr>
          <a:xfrm>
            <a:off x="4562664" y="5820162"/>
            <a:ext cx="17335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300</a:t>
            </a:r>
            <a:endParaRPr sz="700">
              <a:latin typeface="Arial MT"/>
              <a:cs typeface="Arial MT"/>
            </a:endParaRPr>
          </a:p>
        </p:txBody>
      </p:sp>
      <p:sp>
        <p:nvSpPr>
          <p:cNvPr id="95" name="object 95"/>
          <p:cNvSpPr txBox="1"/>
          <p:nvPr/>
        </p:nvSpPr>
        <p:spPr>
          <a:xfrm>
            <a:off x="4921007" y="5820162"/>
            <a:ext cx="17335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350</a:t>
            </a:r>
            <a:endParaRPr sz="700">
              <a:latin typeface="Arial MT"/>
              <a:cs typeface="Arial MT"/>
            </a:endParaRPr>
          </a:p>
        </p:txBody>
      </p:sp>
      <p:sp>
        <p:nvSpPr>
          <p:cNvPr id="96" name="object 96"/>
          <p:cNvSpPr txBox="1"/>
          <p:nvPr/>
        </p:nvSpPr>
        <p:spPr>
          <a:xfrm>
            <a:off x="2348111" y="3570546"/>
            <a:ext cx="153670" cy="122468"/>
          </a:xfrm>
          <a:prstGeom prst="rect">
            <a:avLst/>
          </a:prstGeom>
        </p:spPr>
        <p:txBody>
          <a:bodyPr vert="horz" wrap="square" lIns="0" tIns="14604" rIns="0" bIns="0" rtlCol="0">
            <a:spAutoFit/>
          </a:bodyPr>
          <a:lstStyle/>
          <a:p>
            <a:pPr marL="12700">
              <a:spcBef>
                <a:spcPts val="114"/>
              </a:spcBef>
            </a:pPr>
            <a:r>
              <a:rPr sz="700" spc="-20" dirty="0">
                <a:latin typeface="Arial MT"/>
                <a:cs typeface="Arial MT"/>
              </a:rPr>
              <a:t>-</a:t>
            </a:r>
            <a:r>
              <a:rPr sz="700" spc="-25" dirty="0">
                <a:latin typeface="Arial MT"/>
                <a:cs typeface="Arial MT"/>
              </a:rPr>
              <a:t>60</a:t>
            </a:r>
            <a:endParaRPr sz="700">
              <a:latin typeface="Arial MT"/>
              <a:cs typeface="Arial MT"/>
            </a:endParaRPr>
          </a:p>
        </p:txBody>
      </p:sp>
      <p:sp>
        <p:nvSpPr>
          <p:cNvPr id="97" name="object 97"/>
          <p:cNvSpPr txBox="1"/>
          <p:nvPr/>
        </p:nvSpPr>
        <p:spPr>
          <a:xfrm>
            <a:off x="2348111" y="3894069"/>
            <a:ext cx="153670" cy="122468"/>
          </a:xfrm>
          <a:prstGeom prst="rect">
            <a:avLst/>
          </a:prstGeom>
        </p:spPr>
        <p:txBody>
          <a:bodyPr vert="horz" wrap="square" lIns="0" tIns="14604" rIns="0" bIns="0" rtlCol="0">
            <a:spAutoFit/>
          </a:bodyPr>
          <a:lstStyle/>
          <a:p>
            <a:pPr marL="12700">
              <a:spcBef>
                <a:spcPts val="114"/>
              </a:spcBef>
            </a:pPr>
            <a:r>
              <a:rPr sz="700" spc="-20" dirty="0">
                <a:latin typeface="Arial MT"/>
                <a:cs typeface="Arial MT"/>
              </a:rPr>
              <a:t>-</a:t>
            </a:r>
            <a:r>
              <a:rPr sz="700" spc="-25" dirty="0">
                <a:latin typeface="Arial MT"/>
                <a:cs typeface="Arial MT"/>
              </a:rPr>
              <a:t>40</a:t>
            </a:r>
            <a:endParaRPr sz="700">
              <a:latin typeface="Arial MT"/>
              <a:cs typeface="Arial MT"/>
            </a:endParaRPr>
          </a:p>
        </p:txBody>
      </p:sp>
      <p:sp>
        <p:nvSpPr>
          <p:cNvPr id="98" name="object 98"/>
          <p:cNvSpPr txBox="1"/>
          <p:nvPr/>
        </p:nvSpPr>
        <p:spPr>
          <a:xfrm>
            <a:off x="2348111" y="4217323"/>
            <a:ext cx="153670" cy="122468"/>
          </a:xfrm>
          <a:prstGeom prst="rect">
            <a:avLst/>
          </a:prstGeom>
        </p:spPr>
        <p:txBody>
          <a:bodyPr vert="horz" wrap="square" lIns="0" tIns="14604" rIns="0" bIns="0" rtlCol="0">
            <a:spAutoFit/>
          </a:bodyPr>
          <a:lstStyle/>
          <a:p>
            <a:pPr marL="12700">
              <a:spcBef>
                <a:spcPts val="114"/>
              </a:spcBef>
            </a:pPr>
            <a:r>
              <a:rPr sz="700" spc="-20" dirty="0">
                <a:latin typeface="Arial MT"/>
                <a:cs typeface="Arial MT"/>
              </a:rPr>
              <a:t>-</a:t>
            </a:r>
            <a:r>
              <a:rPr sz="700" spc="-25" dirty="0">
                <a:latin typeface="Arial MT"/>
                <a:cs typeface="Arial MT"/>
              </a:rPr>
              <a:t>20</a:t>
            </a:r>
            <a:endParaRPr sz="700">
              <a:latin typeface="Arial MT"/>
              <a:cs typeface="Arial MT"/>
            </a:endParaRPr>
          </a:p>
        </p:txBody>
      </p:sp>
      <p:sp>
        <p:nvSpPr>
          <p:cNvPr id="99" name="object 99"/>
          <p:cNvSpPr txBox="1"/>
          <p:nvPr/>
        </p:nvSpPr>
        <p:spPr>
          <a:xfrm>
            <a:off x="2425312" y="4540845"/>
            <a:ext cx="76835" cy="122468"/>
          </a:xfrm>
          <a:prstGeom prst="rect">
            <a:avLst/>
          </a:prstGeom>
        </p:spPr>
        <p:txBody>
          <a:bodyPr vert="horz" wrap="square" lIns="0" tIns="14604" rIns="0" bIns="0" rtlCol="0">
            <a:spAutoFit/>
          </a:bodyPr>
          <a:lstStyle/>
          <a:p>
            <a:pPr marL="12700">
              <a:spcBef>
                <a:spcPts val="114"/>
              </a:spcBef>
            </a:pPr>
            <a:r>
              <a:rPr sz="700" spc="-50" dirty="0">
                <a:latin typeface="Arial MT"/>
                <a:cs typeface="Arial MT"/>
              </a:rPr>
              <a:t>0</a:t>
            </a:r>
            <a:endParaRPr sz="700">
              <a:latin typeface="Arial MT"/>
              <a:cs typeface="Arial MT"/>
            </a:endParaRPr>
          </a:p>
        </p:txBody>
      </p:sp>
      <p:sp>
        <p:nvSpPr>
          <p:cNvPr id="100" name="object 100"/>
          <p:cNvSpPr txBox="1"/>
          <p:nvPr/>
        </p:nvSpPr>
        <p:spPr>
          <a:xfrm>
            <a:off x="2376185" y="4857129"/>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20</a:t>
            </a:r>
            <a:endParaRPr sz="700">
              <a:latin typeface="Arial MT"/>
              <a:cs typeface="Arial MT"/>
            </a:endParaRPr>
          </a:p>
        </p:txBody>
      </p:sp>
      <p:sp>
        <p:nvSpPr>
          <p:cNvPr id="101" name="object 101"/>
          <p:cNvSpPr txBox="1"/>
          <p:nvPr/>
        </p:nvSpPr>
        <p:spPr>
          <a:xfrm>
            <a:off x="2376185" y="5180607"/>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40</a:t>
            </a:r>
            <a:endParaRPr sz="700">
              <a:latin typeface="Arial MT"/>
              <a:cs typeface="Arial MT"/>
            </a:endParaRPr>
          </a:p>
        </p:txBody>
      </p:sp>
      <p:sp>
        <p:nvSpPr>
          <p:cNvPr id="102" name="object 102"/>
          <p:cNvSpPr txBox="1"/>
          <p:nvPr/>
        </p:nvSpPr>
        <p:spPr>
          <a:xfrm>
            <a:off x="2376185" y="5503888"/>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60</a:t>
            </a:r>
            <a:endParaRPr sz="700">
              <a:latin typeface="Arial MT"/>
              <a:cs typeface="Arial MT"/>
            </a:endParaRPr>
          </a:p>
        </p:txBody>
      </p:sp>
      <p:grpSp>
        <p:nvGrpSpPr>
          <p:cNvPr id="103" name="object 103"/>
          <p:cNvGrpSpPr/>
          <p:nvPr/>
        </p:nvGrpSpPr>
        <p:grpSpPr>
          <a:xfrm>
            <a:off x="5221499" y="3399724"/>
            <a:ext cx="205104" cy="2426335"/>
            <a:chOff x="3792367" y="3947496"/>
            <a:chExt cx="205104" cy="2426335"/>
          </a:xfrm>
        </p:grpSpPr>
        <p:pic>
          <p:nvPicPr>
            <p:cNvPr id="104" name="object 104"/>
            <p:cNvPicPr/>
            <p:nvPr/>
          </p:nvPicPr>
          <p:blipFill>
            <a:blip r:embed="rId5" cstate="print"/>
            <a:stretch>
              <a:fillRect/>
            </a:stretch>
          </p:blipFill>
          <p:spPr>
            <a:xfrm>
              <a:off x="3793002" y="3990263"/>
              <a:ext cx="189698" cy="2376251"/>
            </a:xfrm>
            <a:prstGeom prst="rect">
              <a:avLst/>
            </a:prstGeom>
          </p:spPr>
        </p:pic>
        <p:sp>
          <p:nvSpPr>
            <p:cNvPr id="105" name="object 105"/>
            <p:cNvSpPr/>
            <p:nvPr/>
          </p:nvSpPr>
          <p:spPr>
            <a:xfrm>
              <a:off x="3793002" y="3948131"/>
              <a:ext cx="189865" cy="0"/>
            </a:xfrm>
            <a:custGeom>
              <a:avLst/>
              <a:gdLst/>
              <a:ahLst/>
              <a:cxnLst/>
              <a:rect l="l" t="t" r="r" b="b"/>
              <a:pathLst>
                <a:path w="189864">
                  <a:moveTo>
                    <a:pt x="0" y="0"/>
                  </a:moveTo>
                  <a:lnTo>
                    <a:pt x="189689" y="0"/>
                  </a:lnTo>
                </a:path>
              </a:pathLst>
            </a:custGeom>
            <a:ln w="3175">
              <a:solidFill>
                <a:srgbClr val="000000"/>
              </a:solidFill>
            </a:ln>
          </p:spPr>
          <p:txBody>
            <a:bodyPr wrap="square" lIns="0" tIns="0" rIns="0" bIns="0" rtlCol="0"/>
            <a:lstStyle/>
            <a:p>
              <a:endParaRPr/>
            </a:p>
          </p:txBody>
        </p:sp>
        <p:sp>
          <p:nvSpPr>
            <p:cNvPr id="106" name="object 106"/>
            <p:cNvSpPr/>
            <p:nvPr/>
          </p:nvSpPr>
          <p:spPr>
            <a:xfrm>
              <a:off x="3986183"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07" name="object 107"/>
            <p:cNvSpPr/>
            <p:nvPr/>
          </p:nvSpPr>
          <p:spPr>
            <a:xfrm>
              <a:off x="3793002" y="6366515"/>
              <a:ext cx="189865" cy="0"/>
            </a:xfrm>
            <a:custGeom>
              <a:avLst/>
              <a:gdLst/>
              <a:ahLst/>
              <a:cxnLst/>
              <a:rect l="l" t="t" r="r" b="b"/>
              <a:pathLst>
                <a:path w="189864">
                  <a:moveTo>
                    <a:pt x="0" y="0"/>
                  </a:moveTo>
                  <a:lnTo>
                    <a:pt x="189689" y="0"/>
                  </a:lnTo>
                </a:path>
              </a:pathLst>
            </a:custGeom>
            <a:ln w="3175">
              <a:solidFill>
                <a:srgbClr val="000000"/>
              </a:solidFill>
            </a:ln>
          </p:spPr>
          <p:txBody>
            <a:bodyPr wrap="square" lIns="0" tIns="0" rIns="0" bIns="0" rtlCol="0"/>
            <a:lstStyle/>
            <a:p>
              <a:endParaRPr/>
            </a:p>
          </p:txBody>
        </p:sp>
        <p:sp>
          <p:nvSpPr>
            <p:cNvPr id="108" name="object 108"/>
            <p:cNvSpPr/>
            <p:nvPr/>
          </p:nvSpPr>
          <p:spPr>
            <a:xfrm>
              <a:off x="3986183" y="6370018"/>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09" name="object 109"/>
            <p:cNvSpPr/>
            <p:nvPr/>
          </p:nvSpPr>
          <p:spPr>
            <a:xfrm>
              <a:off x="3982691" y="3948131"/>
              <a:ext cx="0" cy="2418715"/>
            </a:xfrm>
            <a:custGeom>
              <a:avLst/>
              <a:gdLst/>
              <a:ahLst/>
              <a:cxnLst/>
              <a:rect l="l" t="t" r="r" b="b"/>
              <a:pathLst>
                <a:path h="2418715">
                  <a:moveTo>
                    <a:pt x="0" y="2418383"/>
                  </a:moveTo>
                  <a:lnTo>
                    <a:pt x="0" y="0"/>
                  </a:lnTo>
                </a:path>
              </a:pathLst>
            </a:custGeom>
            <a:ln w="3175">
              <a:solidFill>
                <a:srgbClr val="000000"/>
              </a:solidFill>
            </a:ln>
          </p:spPr>
          <p:txBody>
            <a:bodyPr wrap="square" lIns="0" tIns="0" rIns="0" bIns="0" rtlCol="0"/>
            <a:lstStyle/>
            <a:p>
              <a:endParaRPr/>
            </a:p>
          </p:txBody>
        </p:sp>
        <p:sp>
          <p:nvSpPr>
            <p:cNvPr id="110" name="object 110"/>
            <p:cNvSpPr/>
            <p:nvPr/>
          </p:nvSpPr>
          <p:spPr>
            <a:xfrm>
              <a:off x="3986183"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11" name="object 111"/>
            <p:cNvSpPr/>
            <p:nvPr/>
          </p:nvSpPr>
          <p:spPr>
            <a:xfrm>
              <a:off x="3793002" y="3948131"/>
              <a:ext cx="0" cy="2418715"/>
            </a:xfrm>
            <a:custGeom>
              <a:avLst/>
              <a:gdLst/>
              <a:ahLst/>
              <a:cxnLst/>
              <a:rect l="l" t="t" r="r" b="b"/>
              <a:pathLst>
                <a:path h="2418715">
                  <a:moveTo>
                    <a:pt x="0" y="2418383"/>
                  </a:moveTo>
                  <a:lnTo>
                    <a:pt x="0" y="0"/>
                  </a:lnTo>
                </a:path>
              </a:pathLst>
            </a:custGeom>
            <a:ln w="3175">
              <a:solidFill>
                <a:srgbClr val="000000"/>
              </a:solidFill>
            </a:ln>
          </p:spPr>
          <p:txBody>
            <a:bodyPr wrap="square" lIns="0" tIns="0" rIns="0" bIns="0" rtlCol="0"/>
            <a:lstStyle/>
            <a:p>
              <a:endParaRPr/>
            </a:p>
          </p:txBody>
        </p:sp>
        <p:sp>
          <p:nvSpPr>
            <p:cNvPr id="112" name="object 112"/>
            <p:cNvSpPr/>
            <p:nvPr/>
          </p:nvSpPr>
          <p:spPr>
            <a:xfrm>
              <a:off x="3796493"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13" name="object 113"/>
            <p:cNvSpPr/>
            <p:nvPr/>
          </p:nvSpPr>
          <p:spPr>
            <a:xfrm>
              <a:off x="3793002" y="6366515"/>
              <a:ext cx="189865" cy="0"/>
            </a:xfrm>
            <a:custGeom>
              <a:avLst/>
              <a:gdLst/>
              <a:ahLst/>
              <a:cxnLst/>
              <a:rect l="l" t="t" r="r" b="b"/>
              <a:pathLst>
                <a:path w="189864">
                  <a:moveTo>
                    <a:pt x="0" y="0"/>
                  </a:moveTo>
                  <a:lnTo>
                    <a:pt x="189689" y="0"/>
                  </a:lnTo>
                </a:path>
              </a:pathLst>
            </a:custGeom>
            <a:ln w="3175">
              <a:solidFill>
                <a:srgbClr val="000000"/>
              </a:solidFill>
            </a:ln>
          </p:spPr>
          <p:txBody>
            <a:bodyPr wrap="square" lIns="0" tIns="0" rIns="0" bIns="0" rtlCol="0"/>
            <a:lstStyle/>
            <a:p>
              <a:endParaRPr/>
            </a:p>
          </p:txBody>
        </p:sp>
        <p:sp>
          <p:nvSpPr>
            <p:cNvPr id="114" name="object 114"/>
            <p:cNvSpPr/>
            <p:nvPr/>
          </p:nvSpPr>
          <p:spPr>
            <a:xfrm>
              <a:off x="3986183" y="6370018"/>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15" name="object 115"/>
            <p:cNvSpPr/>
            <p:nvPr/>
          </p:nvSpPr>
          <p:spPr>
            <a:xfrm>
              <a:off x="3982691" y="3948131"/>
              <a:ext cx="0" cy="2418715"/>
            </a:xfrm>
            <a:custGeom>
              <a:avLst/>
              <a:gdLst/>
              <a:ahLst/>
              <a:cxnLst/>
              <a:rect l="l" t="t" r="r" b="b"/>
              <a:pathLst>
                <a:path h="2418715">
                  <a:moveTo>
                    <a:pt x="0" y="2418383"/>
                  </a:moveTo>
                  <a:lnTo>
                    <a:pt x="0" y="0"/>
                  </a:lnTo>
                </a:path>
              </a:pathLst>
            </a:custGeom>
            <a:ln w="3175">
              <a:solidFill>
                <a:srgbClr val="000000"/>
              </a:solidFill>
            </a:ln>
          </p:spPr>
          <p:txBody>
            <a:bodyPr wrap="square" lIns="0" tIns="0" rIns="0" bIns="0" rtlCol="0"/>
            <a:lstStyle/>
            <a:p>
              <a:endParaRPr/>
            </a:p>
          </p:txBody>
        </p:sp>
        <p:sp>
          <p:nvSpPr>
            <p:cNvPr id="116" name="object 116"/>
            <p:cNvSpPr/>
            <p:nvPr/>
          </p:nvSpPr>
          <p:spPr>
            <a:xfrm>
              <a:off x="3986183"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17" name="object 117"/>
            <p:cNvSpPr/>
            <p:nvPr/>
          </p:nvSpPr>
          <p:spPr>
            <a:xfrm>
              <a:off x="3954583" y="6366515"/>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18" name="object 118"/>
            <p:cNvSpPr/>
            <p:nvPr/>
          </p:nvSpPr>
          <p:spPr>
            <a:xfrm>
              <a:off x="3958163" y="6370018"/>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19" name="object 119"/>
            <p:cNvSpPr/>
            <p:nvPr/>
          </p:nvSpPr>
          <p:spPr>
            <a:xfrm>
              <a:off x="3793002" y="6366515"/>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20" name="object 120"/>
            <p:cNvSpPr/>
            <p:nvPr/>
          </p:nvSpPr>
          <p:spPr>
            <a:xfrm>
              <a:off x="3817530" y="6370018"/>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21" name="object 121"/>
          <p:cNvSpPr txBox="1"/>
          <p:nvPr/>
        </p:nvSpPr>
        <p:spPr>
          <a:xfrm>
            <a:off x="5420161" y="5750024"/>
            <a:ext cx="76835" cy="122468"/>
          </a:xfrm>
          <a:prstGeom prst="rect">
            <a:avLst/>
          </a:prstGeom>
        </p:spPr>
        <p:txBody>
          <a:bodyPr vert="horz" wrap="square" lIns="0" tIns="14604" rIns="0" bIns="0" rtlCol="0">
            <a:spAutoFit/>
          </a:bodyPr>
          <a:lstStyle/>
          <a:p>
            <a:pPr marL="12700">
              <a:spcBef>
                <a:spcPts val="114"/>
              </a:spcBef>
            </a:pPr>
            <a:r>
              <a:rPr sz="700" spc="-50" dirty="0">
                <a:latin typeface="Arial MT"/>
                <a:cs typeface="Arial MT"/>
              </a:rPr>
              <a:t>0</a:t>
            </a:r>
            <a:endParaRPr sz="700">
              <a:latin typeface="Arial MT"/>
              <a:cs typeface="Arial MT"/>
            </a:endParaRPr>
          </a:p>
        </p:txBody>
      </p:sp>
      <p:grpSp>
        <p:nvGrpSpPr>
          <p:cNvPr id="122" name="object 122"/>
          <p:cNvGrpSpPr/>
          <p:nvPr/>
        </p:nvGrpSpPr>
        <p:grpSpPr>
          <a:xfrm>
            <a:off x="5221500" y="5515864"/>
            <a:ext cx="191135" cy="8255"/>
            <a:chOff x="3792367" y="6063636"/>
            <a:chExt cx="191135" cy="8255"/>
          </a:xfrm>
        </p:grpSpPr>
        <p:sp>
          <p:nvSpPr>
            <p:cNvPr id="123" name="object 123"/>
            <p:cNvSpPr/>
            <p:nvPr/>
          </p:nvSpPr>
          <p:spPr>
            <a:xfrm>
              <a:off x="3954583" y="6064271"/>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24" name="object 124"/>
            <p:cNvSpPr/>
            <p:nvPr/>
          </p:nvSpPr>
          <p:spPr>
            <a:xfrm>
              <a:off x="3958163" y="6067775"/>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25" name="object 125"/>
            <p:cNvSpPr/>
            <p:nvPr/>
          </p:nvSpPr>
          <p:spPr>
            <a:xfrm>
              <a:off x="3793002" y="6064271"/>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26" name="object 126"/>
            <p:cNvSpPr/>
            <p:nvPr/>
          </p:nvSpPr>
          <p:spPr>
            <a:xfrm>
              <a:off x="3817530" y="6067775"/>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27" name="object 127"/>
          <p:cNvSpPr txBox="1"/>
          <p:nvPr/>
        </p:nvSpPr>
        <p:spPr>
          <a:xfrm>
            <a:off x="5420161" y="5447566"/>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10</a:t>
            </a:r>
            <a:endParaRPr sz="700">
              <a:latin typeface="Arial MT"/>
              <a:cs typeface="Arial MT"/>
            </a:endParaRPr>
          </a:p>
        </p:txBody>
      </p:sp>
      <p:grpSp>
        <p:nvGrpSpPr>
          <p:cNvPr id="128" name="object 128"/>
          <p:cNvGrpSpPr/>
          <p:nvPr/>
        </p:nvGrpSpPr>
        <p:grpSpPr>
          <a:xfrm>
            <a:off x="5221500" y="5220654"/>
            <a:ext cx="191135" cy="8255"/>
            <a:chOff x="3792367" y="5768426"/>
            <a:chExt cx="191135" cy="8255"/>
          </a:xfrm>
        </p:grpSpPr>
        <p:sp>
          <p:nvSpPr>
            <p:cNvPr id="129" name="object 129"/>
            <p:cNvSpPr/>
            <p:nvPr/>
          </p:nvSpPr>
          <p:spPr>
            <a:xfrm>
              <a:off x="3954583" y="5769061"/>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30" name="object 130"/>
            <p:cNvSpPr/>
            <p:nvPr/>
          </p:nvSpPr>
          <p:spPr>
            <a:xfrm>
              <a:off x="3958163" y="5772547"/>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31" name="object 131"/>
            <p:cNvSpPr/>
            <p:nvPr/>
          </p:nvSpPr>
          <p:spPr>
            <a:xfrm>
              <a:off x="3793002" y="5769061"/>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32" name="object 132"/>
            <p:cNvSpPr/>
            <p:nvPr/>
          </p:nvSpPr>
          <p:spPr>
            <a:xfrm>
              <a:off x="3817530" y="577254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33" name="object 133"/>
          <p:cNvSpPr txBox="1"/>
          <p:nvPr/>
        </p:nvSpPr>
        <p:spPr>
          <a:xfrm>
            <a:off x="5420161" y="5152330"/>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20</a:t>
            </a:r>
            <a:endParaRPr sz="700">
              <a:latin typeface="Arial MT"/>
              <a:cs typeface="Arial MT"/>
            </a:endParaRPr>
          </a:p>
        </p:txBody>
      </p:sp>
      <p:grpSp>
        <p:nvGrpSpPr>
          <p:cNvPr id="134" name="object 134"/>
          <p:cNvGrpSpPr/>
          <p:nvPr/>
        </p:nvGrpSpPr>
        <p:grpSpPr>
          <a:xfrm>
            <a:off x="5221500" y="4925373"/>
            <a:ext cx="191135" cy="8255"/>
            <a:chOff x="3792367" y="5473145"/>
            <a:chExt cx="191135" cy="8255"/>
          </a:xfrm>
        </p:grpSpPr>
        <p:sp>
          <p:nvSpPr>
            <p:cNvPr id="135" name="object 135"/>
            <p:cNvSpPr/>
            <p:nvPr/>
          </p:nvSpPr>
          <p:spPr>
            <a:xfrm>
              <a:off x="3954583" y="5473780"/>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36" name="object 136"/>
            <p:cNvSpPr/>
            <p:nvPr/>
          </p:nvSpPr>
          <p:spPr>
            <a:xfrm>
              <a:off x="3958163" y="5477355"/>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37" name="object 137"/>
            <p:cNvSpPr/>
            <p:nvPr/>
          </p:nvSpPr>
          <p:spPr>
            <a:xfrm>
              <a:off x="3793002" y="5473780"/>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38" name="object 138"/>
            <p:cNvSpPr/>
            <p:nvPr/>
          </p:nvSpPr>
          <p:spPr>
            <a:xfrm>
              <a:off x="3817530" y="5477355"/>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39" name="object 139"/>
          <p:cNvSpPr txBox="1"/>
          <p:nvPr/>
        </p:nvSpPr>
        <p:spPr>
          <a:xfrm>
            <a:off x="5420161" y="4857129"/>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30</a:t>
            </a:r>
            <a:endParaRPr sz="700">
              <a:latin typeface="Arial MT"/>
              <a:cs typeface="Arial MT"/>
            </a:endParaRPr>
          </a:p>
        </p:txBody>
      </p:sp>
      <p:grpSp>
        <p:nvGrpSpPr>
          <p:cNvPr id="140" name="object 140"/>
          <p:cNvGrpSpPr/>
          <p:nvPr/>
        </p:nvGrpSpPr>
        <p:grpSpPr>
          <a:xfrm>
            <a:off x="5221500" y="4630182"/>
            <a:ext cx="191135" cy="8255"/>
            <a:chOff x="3792367" y="5177954"/>
            <a:chExt cx="191135" cy="8255"/>
          </a:xfrm>
        </p:grpSpPr>
        <p:sp>
          <p:nvSpPr>
            <p:cNvPr id="141" name="object 141"/>
            <p:cNvSpPr/>
            <p:nvPr/>
          </p:nvSpPr>
          <p:spPr>
            <a:xfrm>
              <a:off x="3954583" y="5178589"/>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42" name="object 142"/>
            <p:cNvSpPr/>
            <p:nvPr/>
          </p:nvSpPr>
          <p:spPr>
            <a:xfrm>
              <a:off x="3958163" y="5182074"/>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43" name="object 143"/>
            <p:cNvSpPr/>
            <p:nvPr/>
          </p:nvSpPr>
          <p:spPr>
            <a:xfrm>
              <a:off x="3793002" y="5178589"/>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44" name="object 144"/>
            <p:cNvSpPr/>
            <p:nvPr/>
          </p:nvSpPr>
          <p:spPr>
            <a:xfrm>
              <a:off x="3817530" y="5182074"/>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45" name="object 145"/>
          <p:cNvSpPr txBox="1"/>
          <p:nvPr/>
        </p:nvSpPr>
        <p:spPr>
          <a:xfrm>
            <a:off x="5420161" y="4561848"/>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40</a:t>
            </a:r>
            <a:endParaRPr sz="700">
              <a:latin typeface="Arial MT"/>
              <a:cs typeface="Arial MT"/>
            </a:endParaRPr>
          </a:p>
        </p:txBody>
      </p:sp>
      <p:grpSp>
        <p:nvGrpSpPr>
          <p:cNvPr id="146" name="object 146"/>
          <p:cNvGrpSpPr/>
          <p:nvPr/>
        </p:nvGrpSpPr>
        <p:grpSpPr>
          <a:xfrm>
            <a:off x="5221500" y="4334722"/>
            <a:ext cx="191135" cy="8255"/>
            <a:chOff x="3792367" y="4882494"/>
            <a:chExt cx="191135" cy="8255"/>
          </a:xfrm>
        </p:grpSpPr>
        <p:sp>
          <p:nvSpPr>
            <p:cNvPr id="147" name="object 147"/>
            <p:cNvSpPr/>
            <p:nvPr/>
          </p:nvSpPr>
          <p:spPr>
            <a:xfrm>
              <a:off x="3954583" y="4883129"/>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48" name="object 148"/>
            <p:cNvSpPr/>
            <p:nvPr/>
          </p:nvSpPr>
          <p:spPr>
            <a:xfrm>
              <a:off x="3958163" y="4886614"/>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49" name="object 149"/>
            <p:cNvSpPr/>
            <p:nvPr/>
          </p:nvSpPr>
          <p:spPr>
            <a:xfrm>
              <a:off x="3793002" y="4883129"/>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50" name="object 150"/>
            <p:cNvSpPr/>
            <p:nvPr/>
          </p:nvSpPr>
          <p:spPr>
            <a:xfrm>
              <a:off x="3817530" y="4886614"/>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51" name="object 151"/>
          <p:cNvSpPr txBox="1"/>
          <p:nvPr/>
        </p:nvSpPr>
        <p:spPr>
          <a:xfrm>
            <a:off x="5420161" y="4266656"/>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50</a:t>
            </a:r>
            <a:endParaRPr sz="700">
              <a:latin typeface="Arial MT"/>
              <a:cs typeface="Arial MT"/>
            </a:endParaRPr>
          </a:p>
        </p:txBody>
      </p:sp>
      <p:grpSp>
        <p:nvGrpSpPr>
          <p:cNvPr id="152" name="object 152"/>
          <p:cNvGrpSpPr/>
          <p:nvPr/>
        </p:nvGrpSpPr>
        <p:grpSpPr>
          <a:xfrm>
            <a:off x="5221500" y="4039530"/>
            <a:ext cx="191135" cy="8255"/>
            <a:chOff x="3792367" y="4587302"/>
            <a:chExt cx="191135" cy="8255"/>
          </a:xfrm>
        </p:grpSpPr>
        <p:sp>
          <p:nvSpPr>
            <p:cNvPr id="153" name="object 153"/>
            <p:cNvSpPr/>
            <p:nvPr/>
          </p:nvSpPr>
          <p:spPr>
            <a:xfrm>
              <a:off x="3954583" y="4587937"/>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54" name="object 154"/>
            <p:cNvSpPr/>
            <p:nvPr/>
          </p:nvSpPr>
          <p:spPr>
            <a:xfrm>
              <a:off x="3958163" y="4591422"/>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55" name="object 155"/>
            <p:cNvSpPr/>
            <p:nvPr/>
          </p:nvSpPr>
          <p:spPr>
            <a:xfrm>
              <a:off x="3793002" y="4587937"/>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56" name="object 156"/>
            <p:cNvSpPr/>
            <p:nvPr/>
          </p:nvSpPr>
          <p:spPr>
            <a:xfrm>
              <a:off x="3817530" y="4591422"/>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57" name="object 157"/>
          <p:cNvSpPr txBox="1"/>
          <p:nvPr/>
        </p:nvSpPr>
        <p:spPr>
          <a:xfrm>
            <a:off x="5420161" y="3971375"/>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60</a:t>
            </a:r>
            <a:endParaRPr sz="700">
              <a:latin typeface="Arial MT"/>
              <a:cs typeface="Arial MT"/>
            </a:endParaRPr>
          </a:p>
        </p:txBody>
      </p:sp>
      <p:grpSp>
        <p:nvGrpSpPr>
          <p:cNvPr id="158" name="object 158"/>
          <p:cNvGrpSpPr/>
          <p:nvPr/>
        </p:nvGrpSpPr>
        <p:grpSpPr>
          <a:xfrm>
            <a:off x="5221500" y="3744248"/>
            <a:ext cx="191135" cy="8255"/>
            <a:chOff x="3792367" y="4292020"/>
            <a:chExt cx="191135" cy="8255"/>
          </a:xfrm>
        </p:grpSpPr>
        <p:sp>
          <p:nvSpPr>
            <p:cNvPr id="159" name="object 159"/>
            <p:cNvSpPr/>
            <p:nvPr/>
          </p:nvSpPr>
          <p:spPr>
            <a:xfrm>
              <a:off x="3954583" y="4292655"/>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60" name="object 160"/>
            <p:cNvSpPr/>
            <p:nvPr/>
          </p:nvSpPr>
          <p:spPr>
            <a:xfrm>
              <a:off x="3958163" y="4296141"/>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61" name="object 161"/>
            <p:cNvSpPr/>
            <p:nvPr/>
          </p:nvSpPr>
          <p:spPr>
            <a:xfrm>
              <a:off x="3793002" y="4292655"/>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62" name="object 162"/>
            <p:cNvSpPr/>
            <p:nvPr/>
          </p:nvSpPr>
          <p:spPr>
            <a:xfrm>
              <a:off x="3817530" y="4296141"/>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63" name="object 163"/>
          <p:cNvSpPr txBox="1"/>
          <p:nvPr/>
        </p:nvSpPr>
        <p:spPr>
          <a:xfrm>
            <a:off x="5420161" y="3676004"/>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70</a:t>
            </a:r>
            <a:endParaRPr sz="700">
              <a:latin typeface="Arial MT"/>
              <a:cs typeface="Arial MT"/>
            </a:endParaRPr>
          </a:p>
        </p:txBody>
      </p:sp>
      <p:grpSp>
        <p:nvGrpSpPr>
          <p:cNvPr id="164" name="object 164"/>
          <p:cNvGrpSpPr/>
          <p:nvPr/>
        </p:nvGrpSpPr>
        <p:grpSpPr>
          <a:xfrm>
            <a:off x="5221500" y="3449057"/>
            <a:ext cx="191135" cy="8255"/>
            <a:chOff x="3792367" y="3996829"/>
            <a:chExt cx="191135" cy="8255"/>
          </a:xfrm>
        </p:grpSpPr>
        <p:sp>
          <p:nvSpPr>
            <p:cNvPr id="165" name="object 165"/>
            <p:cNvSpPr/>
            <p:nvPr/>
          </p:nvSpPr>
          <p:spPr>
            <a:xfrm>
              <a:off x="3954583" y="3997464"/>
              <a:ext cx="28575" cy="0"/>
            </a:xfrm>
            <a:custGeom>
              <a:avLst/>
              <a:gdLst/>
              <a:ahLst/>
              <a:cxnLst/>
              <a:rect l="l" t="t" r="r" b="b"/>
              <a:pathLst>
                <a:path w="28575">
                  <a:moveTo>
                    <a:pt x="28108" y="0"/>
                  </a:moveTo>
                  <a:lnTo>
                    <a:pt x="0" y="0"/>
                  </a:lnTo>
                </a:path>
              </a:pathLst>
            </a:custGeom>
            <a:ln w="3175">
              <a:solidFill>
                <a:srgbClr val="000000"/>
              </a:solidFill>
            </a:ln>
          </p:spPr>
          <p:txBody>
            <a:bodyPr wrap="square" lIns="0" tIns="0" rIns="0" bIns="0" rtlCol="0"/>
            <a:lstStyle/>
            <a:p>
              <a:endParaRPr/>
            </a:p>
          </p:txBody>
        </p:sp>
        <p:sp>
          <p:nvSpPr>
            <p:cNvPr id="166" name="object 166"/>
            <p:cNvSpPr/>
            <p:nvPr/>
          </p:nvSpPr>
          <p:spPr>
            <a:xfrm>
              <a:off x="3958163" y="4000949"/>
              <a:ext cx="6985" cy="0"/>
            </a:xfrm>
            <a:custGeom>
              <a:avLst/>
              <a:gdLst/>
              <a:ahLst/>
              <a:cxnLst/>
              <a:rect l="l" t="t" r="r" b="b"/>
              <a:pathLst>
                <a:path w="6985">
                  <a:moveTo>
                    <a:pt x="0" y="0"/>
                  </a:moveTo>
                  <a:lnTo>
                    <a:pt x="6982" y="0"/>
                  </a:lnTo>
                </a:path>
              </a:pathLst>
            </a:custGeom>
            <a:ln w="7013">
              <a:solidFill>
                <a:srgbClr val="000000"/>
              </a:solidFill>
            </a:ln>
          </p:spPr>
          <p:txBody>
            <a:bodyPr wrap="square" lIns="0" tIns="0" rIns="0" bIns="0" rtlCol="0"/>
            <a:lstStyle/>
            <a:p>
              <a:endParaRPr/>
            </a:p>
          </p:txBody>
        </p:sp>
        <p:sp>
          <p:nvSpPr>
            <p:cNvPr id="167" name="object 167"/>
            <p:cNvSpPr/>
            <p:nvPr/>
          </p:nvSpPr>
          <p:spPr>
            <a:xfrm>
              <a:off x="3793002" y="3997464"/>
              <a:ext cx="21590" cy="0"/>
            </a:xfrm>
            <a:custGeom>
              <a:avLst/>
              <a:gdLst/>
              <a:ahLst/>
              <a:cxnLst/>
              <a:rect l="l" t="t" r="r" b="b"/>
              <a:pathLst>
                <a:path w="21589">
                  <a:moveTo>
                    <a:pt x="0" y="0"/>
                  </a:moveTo>
                  <a:lnTo>
                    <a:pt x="21036" y="0"/>
                  </a:lnTo>
                </a:path>
              </a:pathLst>
            </a:custGeom>
            <a:ln w="3175">
              <a:solidFill>
                <a:srgbClr val="000000"/>
              </a:solidFill>
            </a:ln>
          </p:spPr>
          <p:txBody>
            <a:bodyPr wrap="square" lIns="0" tIns="0" rIns="0" bIns="0" rtlCol="0"/>
            <a:lstStyle/>
            <a:p>
              <a:endParaRPr/>
            </a:p>
          </p:txBody>
        </p:sp>
        <p:sp>
          <p:nvSpPr>
            <p:cNvPr id="168" name="object 168"/>
            <p:cNvSpPr/>
            <p:nvPr/>
          </p:nvSpPr>
          <p:spPr>
            <a:xfrm>
              <a:off x="3817530" y="4000949"/>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69" name="object 169"/>
          <p:cNvSpPr txBox="1"/>
          <p:nvPr/>
        </p:nvSpPr>
        <p:spPr>
          <a:xfrm>
            <a:off x="5420161" y="3380723"/>
            <a:ext cx="123825" cy="122468"/>
          </a:xfrm>
          <a:prstGeom prst="rect">
            <a:avLst/>
          </a:prstGeom>
        </p:spPr>
        <p:txBody>
          <a:bodyPr vert="horz" wrap="square" lIns="0" tIns="14604" rIns="0" bIns="0" rtlCol="0">
            <a:spAutoFit/>
          </a:bodyPr>
          <a:lstStyle/>
          <a:p>
            <a:pPr marL="12700">
              <a:spcBef>
                <a:spcPts val="114"/>
              </a:spcBef>
            </a:pPr>
            <a:r>
              <a:rPr sz="700" spc="-25" dirty="0">
                <a:latin typeface="Arial MT"/>
                <a:cs typeface="Arial MT"/>
              </a:rPr>
              <a:t>80</a:t>
            </a:r>
            <a:endParaRPr sz="700">
              <a:latin typeface="Arial MT"/>
              <a:cs typeface="Arial MT"/>
            </a:endParaRPr>
          </a:p>
        </p:txBody>
      </p:sp>
      <p:grpSp>
        <p:nvGrpSpPr>
          <p:cNvPr id="170" name="object 170"/>
          <p:cNvGrpSpPr/>
          <p:nvPr/>
        </p:nvGrpSpPr>
        <p:grpSpPr>
          <a:xfrm>
            <a:off x="5221508" y="3399733"/>
            <a:ext cx="201295" cy="2426335"/>
            <a:chOff x="3792375" y="3947505"/>
            <a:chExt cx="201295" cy="2426335"/>
          </a:xfrm>
        </p:grpSpPr>
        <p:sp>
          <p:nvSpPr>
            <p:cNvPr id="171" name="object 171"/>
            <p:cNvSpPr/>
            <p:nvPr/>
          </p:nvSpPr>
          <p:spPr>
            <a:xfrm>
              <a:off x="3793002" y="3948131"/>
              <a:ext cx="189865" cy="0"/>
            </a:xfrm>
            <a:custGeom>
              <a:avLst/>
              <a:gdLst/>
              <a:ahLst/>
              <a:cxnLst/>
              <a:rect l="l" t="t" r="r" b="b"/>
              <a:pathLst>
                <a:path w="189864">
                  <a:moveTo>
                    <a:pt x="0" y="0"/>
                  </a:moveTo>
                  <a:lnTo>
                    <a:pt x="189689" y="0"/>
                  </a:lnTo>
                </a:path>
              </a:pathLst>
            </a:custGeom>
            <a:ln w="3175">
              <a:solidFill>
                <a:srgbClr val="000000"/>
              </a:solidFill>
            </a:ln>
          </p:spPr>
          <p:txBody>
            <a:bodyPr wrap="square" lIns="0" tIns="0" rIns="0" bIns="0" rtlCol="0"/>
            <a:lstStyle/>
            <a:p>
              <a:endParaRPr/>
            </a:p>
          </p:txBody>
        </p:sp>
        <p:sp>
          <p:nvSpPr>
            <p:cNvPr id="172" name="object 172"/>
            <p:cNvSpPr/>
            <p:nvPr/>
          </p:nvSpPr>
          <p:spPr>
            <a:xfrm>
              <a:off x="3986182"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73" name="object 173"/>
            <p:cNvSpPr/>
            <p:nvPr/>
          </p:nvSpPr>
          <p:spPr>
            <a:xfrm>
              <a:off x="3793002" y="6366515"/>
              <a:ext cx="189865" cy="0"/>
            </a:xfrm>
            <a:custGeom>
              <a:avLst/>
              <a:gdLst/>
              <a:ahLst/>
              <a:cxnLst/>
              <a:rect l="l" t="t" r="r" b="b"/>
              <a:pathLst>
                <a:path w="189864">
                  <a:moveTo>
                    <a:pt x="0" y="0"/>
                  </a:moveTo>
                  <a:lnTo>
                    <a:pt x="189689" y="0"/>
                  </a:lnTo>
                </a:path>
              </a:pathLst>
            </a:custGeom>
            <a:ln w="3175">
              <a:solidFill>
                <a:srgbClr val="000000"/>
              </a:solidFill>
            </a:ln>
          </p:spPr>
          <p:txBody>
            <a:bodyPr wrap="square" lIns="0" tIns="0" rIns="0" bIns="0" rtlCol="0"/>
            <a:lstStyle/>
            <a:p>
              <a:endParaRPr/>
            </a:p>
          </p:txBody>
        </p:sp>
        <p:sp>
          <p:nvSpPr>
            <p:cNvPr id="174" name="object 174"/>
            <p:cNvSpPr/>
            <p:nvPr/>
          </p:nvSpPr>
          <p:spPr>
            <a:xfrm>
              <a:off x="3986182" y="6370018"/>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75" name="object 175"/>
            <p:cNvSpPr/>
            <p:nvPr/>
          </p:nvSpPr>
          <p:spPr>
            <a:xfrm>
              <a:off x="3982691" y="3948131"/>
              <a:ext cx="0" cy="2418715"/>
            </a:xfrm>
            <a:custGeom>
              <a:avLst/>
              <a:gdLst/>
              <a:ahLst/>
              <a:cxnLst/>
              <a:rect l="l" t="t" r="r" b="b"/>
              <a:pathLst>
                <a:path h="2418715">
                  <a:moveTo>
                    <a:pt x="0" y="2418383"/>
                  </a:moveTo>
                  <a:lnTo>
                    <a:pt x="0" y="0"/>
                  </a:lnTo>
                </a:path>
              </a:pathLst>
            </a:custGeom>
            <a:ln w="3175">
              <a:solidFill>
                <a:srgbClr val="000000"/>
              </a:solidFill>
            </a:ln>
          </p:spPr>
          <p:txBody>
            <a:bodyPr wrap="square" lIns="0" tIns="0" rIns="0" bIns="0" rtlCol="0"/>
            <a:lstStyle/>
            <a:p>
              <a:endParaRPr/>
            </a:p>
          </p:txBody>
        </p:sp>
        <p:sp>
          <p:nvSpPr>
            <p:cNvPr id="176" name="object 176"/>
            <p:cNvSpPr/>
            <p:nvPr/>
          </p:nvSpPr>
          <p:spPr>
            <a:xfrm>
              <a:off x="3986182"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sp>
          <p:nvSpPr>
            <p:cNvPr id="177" name="object 177"/>
            <p:cNvSpPr/>
            <p:nvPr/>
          </p:nvSpPr>
          <p:spPr>
            <a:xfrm>
              <a:off x="3793002" y="3948131"/>
              <a:ext cx="0" cy="2418715"/>
            </a:xfrm>
            <a:custGeom>
              <a:avLst/>
              <a:gdLst/>
              <a:ahLst/>
              <a:cxnLst/>
              <a:rect l="l" t="t" r="r" b="b"/>
              <a:pathLst>
                <a:path h="2418715">
                  <a:moveTo>
                    <a:pt x="0" y="2418383"/>
                  </a:moveTo>
                  <a:lnTo>
                    <a:pt x="0" y="0"/>
                  </a:lnTo>
                </a:path>
              </a:pathLst>
            </a:custGeom>
            <a:ln w="3175">
              <a:solidFill>
                <a:srgbClr val="000000"/>
              </a:solidFill>
            </a:ln>
          </p:spPr>
          <p:txBody>
            <a:bodyPr wrap="square" lIns="0" tIns="0" rIns="0" bIns="0" rtlCol="0"/>
            <a:lstStyle/>
            <a:p>
              <a:endParaRPr/>
            </a:p>
          </p:txBody>
        </p:sp>
        <p:sp>
          <p:nvSpPr>
            <p:cNvPr id="178" name="object 178"/>
            <p:cNvSpPr/>
            <p:nvPr/>
          </p:nvSpPr>
          <p:spPr>
            <a:xfrm>
              <a:off x="3796493" y="3951617"/>
              <a:ext cx="7620" cy="0"/>
            </a:xfrm>
            <a:custGeom>
              <a:avLst/>
              <a:gdLst/>
              <a:ahLst/>
              <a:cxnLst/>
              <a:rect l="l" t="t" r="r" b="b"/>
              <a:pathLst>
                <a:path w="7620">
                  <a:moveTo>
                    <a:pt x="0" y="0"/>
                  </a:moveTo>
                  <a:lnTo>
                    <a:pt x="7071" y="0"/>
                  </a:lnTo>
                </a:path>
              </a:pathLst>
            </a:custGeom>
            <a:ln w="7013">
              <a:solidFill>
                <a:srgbClr val="000000"/>
              </a:solidFill>
            </a:ln>
          </p:spPr>
          <p:txBody>
            <a:bodyPr wrap="square" lIns="0" tIns="0" rIns="0" bIns="0" rtlCol="0"/>
            <a:lstStyle/>
            <a:p>
              <a:endParaRPr/>
            </a:p>
          </p:txBody>
        </p:sp>
      </p:grpSp>
      <p:sp>
        <p:nvSpPr>
          <p:cNvPr id="179" name="object 179"/>
          <p:cNvSpPr txBox="1"/>
          <p:nvPr/>
        </p:nvSpPr>
        <p:spPr>
          <a:xfrm>
            <a:off x="0" y="6366957"/>
            <a:ext cx="6800215" cy="289823"/>
          </a:xfrm>
          <a:prstGeom prst="rect">
            <a:avLst/>
          </a:prstGeom>
        </p:spPr>
        <p:txBody>
          <a:bodyPr vert="horz" wrap="square" lIns="0" tIns="12700" rIns="0" bIns="0" rtlCol="0">
            <a:spAutoFit/>
          </a:bodyPr>
          <a:lstStyle/>
          <a:p>
            <a:pPr marR="5080" algn="r">
              <a:spcBef>
                <a:spcPts val="100"/>
              </a:spcBef>
            </a:pPr>
            <a:r>
              <a:rPr dirty="0">
                <a:solidFill>
                  <a:srgbClr val="6F2F9F"/>
                </a:solidFill>
                <a:latin typeface="Microsoft Sans Serif"/>
                <a:cs typeface="Microsoft Sans Serif"/>
              </a:rPr>
              <a:t>*Change</a:t>
            </a:r>
            <a:r>
              <a:rPr spc="30" dirty="0">
                <a:solidFill>
                  <a:srgbClr val="6F2F9F"/>
                </a:solidFill>
                <a:latin typeface="Microsoft Sans Serif"/>
                <a:cs typeface="Microsoft Sans Serif"/>
              </a:rPr>
              <a:t> </a:t>
            </a:r>
            <a:r>
              <a:rPr dirty="0">
                <a:solidFill>
                  <a:srgbClr val="6F2F9F"/>
                </a:solidFill>
                <a:latin typeface="Microsoft Sans Serif"/>
                <a:cs typeface="Microsoft Sans Serif"/>
              </a:rPr>
              <a:t>p_type</a:t>
            </a:r>
            <a:r>
              <a:rPr spc="40" dirty="0">
                <a:solidFill>
                  <a:srgbClr val="6F2F9F"/>
                </a:solidFill>
                <a:latin typeface="Microsoft Sans Serif"/>
                <a:cs typeface="Microsoft Sans Serif"/>
              </a:rPr>
              <a:t> </a:t>
            </a:r>
            <a:r>
              <a:rPr b="1" dirty="0">
                <a:solidFill>
                  <a:srgbClr val="6F2F9F"/>
                </a:solidFill>
                <a:latin typeface="Arial"/>
                <a:cs typeface="Arial"/>
              </a:rPr>
              <a:t>(Line</a:t>
            </a:r>
            <a:r>
              <a:rPr b="1" spc="-15" dirty="0">
                <a:solidFill>
                  <a:srgbClr val="6F2F9F"/>
                </a:solidFill>
                <a:latin typeface="Arial"/>
                <a:cs typeface="Arial"/>
              </a:rPr>
              <a:t> </a:t>
            </a:r>
            <a:r>
              <a:rPr b="1" dirty="0">
                <a:solidFill>
                  <a:srgbClr val="6F2F9F"/>
                </a:solidFill>
                <a:latin typeface="Arial"/>
                <a:cs typeface="Arial"/>
              </a:rPr>
              <a:t>5)</a:t>
            </a:r>
            <a:r>
              <a:rPr b="1" spc="-10" dirty="0">
                <a:solidFill>
                  <a:srgbClr val="6F2F9F"/>
                </a:solidFill>
                <a:latin typeface="Arial"/>
                <a:cs typeface="Arial"/>
              </a:rPr>
              <a:t> </a:t>
            </a:r>
            <a:r>
              <a:rPr dirty="0">
                <a:solidFill>
                  <a:srgbClr val="6F2F9F"/>
                </a:solidFill>
                <a:latin typeface="Microsoft Sans Serif"/>
                <a:cs typeface="Microsoft Sans Serif"/>
              </a:rPr>
              <a:t>to 1,</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2,</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or</a:t>
            </a:r>
            <a:r>
              <a:rPr spc="10" dirty="0">
                <a:solidFill>
                  <a:srgbClr val="6F2F9F"/>
                </a:solidFill>
                <a:latin typeface="Microsoft Sans Serif"/>
                <a:cs typeface="Microsoft Sans Serif"/>
              </a:rPr>
              <a:t> </a:t>
            </a:r>
            <a:r>
              <a:rPr dirty="0">
                <a:solidFill>
                  <a:srgbClr val="6F2F9F"/>
                </a:solidFill>
                <a:latin typeface="Microsoft Sans Serif"/>
                <a:cs typeface="Microsoft Sans Serif"/>
              </a:rPr>
              <a:t>3</a:t>
            </a:r>
            <a:r>
              <a:rPr spc="10" dirty="0">
                <a:solidFill>
                  <a:srgbClr val="6F2F9F"/>
                </a:solidFill>
                <a:latin typeface="Microsoft Sans Serif"/>
                <a:cs typeface="Microsoft Sans Serif"/>
              </a:rPr>
              <a:t> </a:t>
            </a:r>
            <a:r>
              <a:rPr spc="-25" dirty="0">
                <a:solidFill>
                  <a:srgbClr val="6F2F9F"/>
                </a:solidFill>
                <a:latin typeface="Microsoft Sans Serif"/>
                <a:cs typeface="Microsoft Sans Serif"/>
              </a:rPr>
              <a:t>for</a:t>
            </a:r>
            <a:r>
              <a:rPr lang="en-US" spc="-25" dirty="0">
                <a:latin typeface="Microsoft Sans Serif"/>
                <a:cs typeface="Microsoft Sans Serif"/>
              </a:rPr>
              <a:t> </a:t>
            </a:r>
            <a:r>
              <a:rPr dirty="0">
                <a:solidFill>
                  <a:srgbClr val="6F2F9F"/>
                </a:solidFill>
                <a:latin typeface="Microsoft Sans Serif"/>
                <a:cs typeface="Microsoft Sans Serif"/>
              </a:rPr>
              <a:t>different</a:t>
            </a:r>
            <a:r>
              <a:rPr spc="-35" dirty="0">
                <a:solidFill>
                  <a:srgbClr val="6F2F9F"/>
                </a:solidFill>
                <a:latin typeface="Microsoft Sans Serif"/>
                <a:cs typeface="Microsoft Sans Serif"/>
              </a:rPr>
              <a:t> </a:t>
            </a:r>
            <a:r>
              <a:rPr dirty="0">
                <a:solidFill>
                  <a:srgbClr val="6F2F9F"/>
                </a:solidFill>
                <a:latin typeface="Microsoft Sans Serif"/>
                <a:cs typeface="Microsoft Sans Serif"/>
              </a:rPr>
              <a:t>sample</a:t>
            </a:r>
            <a:r>
              <a:rPr spc="-30" dirty="0">
                <a:solidFill>
                  <a:srgbClr val="6F2F9F"/>
                </a:solidFill>
                <a:latin typeface="Microsoft Sans Serif"/>
                <a:cs typeface="Microsoft Sans Serif"/>
              </a:rPr>
              <a:t> </a:t>
            </a:r>
            <a:r>
              <a:rPr spc="-10" dirty="0">
                <a:solidFill>
                  <a:srgbClr val="6F2F9F"/>
                </a:solidFill>
                <a:latin typeface="Microsoft Sans Serif"/>
                <a:cs typeface="Microsoft Sans Serif"/>
              </a:rPr>
              <a:t>types*</a:t>
            </a:r>
            <a:endParaRPr dirty="0">
              <a:latin typeface="Microsoft Sans Serif"/>
              <a:cs typeface="Microsoft Sans Serif"/>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9" y="171705"/>
            <a:ext cx="8829682" cy="1004839"/>
          </a:xfrm>
          <a:prstGeom prst="rect">
            <a:avLst/>
          </a:prstGeom>
        </p:spPr>
        <p:txBody>
          <a:bodyPr vert="horz" wrap="square" lIns="0" tIns="324561" rIns="0" bIns="0" rtlCol="0">
            <a:spAutoFit/>
          </a:bodyPr>
          <a:lstStyle/>
          <a:p>
            <a:pPr marL="1186180">
              <a:spcBef>
                <a:spcPts val="105"/>
              </a:spcBef>
            </a:pPr>
            <a:r>
              <a:rPr dirty="0"/>
              <a:t>Example</a:t>
            </a:r>
            <a:r>
              <a:rPr spc="15" dirty="0"/>
              <a:t> </a:t>
            </a:r>
            <a:r>
              <a:rPr dirty="0"/>
              <a:t>3:</a:t>
            </a:r>
            <a:r>
              <a:rPr spc="35" dirty="0"/>
              <a:t> </a:t>
            </a:r>
            <a:r>
              <a:rPr lang="en-US" spc="35" dirty="0"/>
              <a:t>F</a:t>
            </a:r>
            <a:r>
              <a:rPr dirty="0"/>
              <a:t>an</a:t>
            </a:r>
            <a:r>
              <a:rPr lang="en-US" spc="35" dirty="0"/>
              <a:t>-B</a:t>
            </a:r>
            <a:r>
              <a:rPr dirty="0"/>
              <a:t>eam</a:t>
            </a:r>
            <a:r>
              <a:rPr spc="50" dirty="0"/>
              <a:t> </a:t>
            </a:r>
            <a:r>
              <a:rPr spc="-25" dirty="0"/>
              <a:t>CT</a:t>
            </a:r>
          </a:p>
        </p:txBody>
      </p:sp>
      <p:sp>
        <p:nvSpPr>
          <p:cNvPr id="3" name="object 3"/>
          <p:cNvSpPr txBox="1"/>
          <p:nvPr/>
        </p:nvSpPr>
        <p:spPr>
          <a:xfrm>
            <a:off x="1198875" y="1624329"/>
            <a:ext cx="9773925" cy="873957"/>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What</a:t>
            </a:r>
            <a:r>
              <a:rPr sz="2800" spc="-40" dirty="0">
                <a:latin typeface="Microsoft Sans Serif"/>
                <a:cs typeface="Microsoft Sans Serif"/>
              </a:rPr>
              <a:t> </a:t>
            </a:r>
            <a:r>
              <a:rPr sz="2800" dirty="0">
                <a:latin typeface="Microsoft Sans Serif"/>
                <a:cs typeface="Microsoft Sans Serif"/>
              </a:rPr>
              <a:t>happens</a:t>
            </a:r>
            <a:r>
              <a:rPr sz="2800" spc="-20" dirty="0">
                <a:latin typeface="Microsoft Sans Serif"/>
                <a:cs typeface="Microsoft Sans Serif"/>
              </a:rPr>
              <a:t> </a:t>
            </a:r>
            <a:r>
              <a:rPr sz="2800" dirty="0">
                <a:latin typeface="Microsoft Sans Serif"/>
                <a:cs typeface="Microsoft Sans Serif"/>
              </a:rPr>
              <a:t>if</a:t>
            </a:r>
            <a:r>
              <a:rPr sz="2800" spc="-35" dirty="0">
                <a:latin typeface="Microsoft Sans Serif"/>
                <a:cs typeface="Microsoft Sans Serif"/>
              </a:rPr>
              <a:t> </a:t>
            </a:r>
            <a:r>
              <a:rPr sz="2800" dirty="0">
                <a:latin typeface="Microsoft Sans Serif"/>
                <a:cs typeface="Microsoft Sans Serif"/>
              </a:rPr>
              <a:t>you</a:t>
            </a:r>
            <a:r>
              <a:rPr sz="2800" spc="-25" dirty="0">
                <a:latin typeface="Microsoft Sans Serif"/>
                <a:cs typeface="Microsoft Sans Serif"/>
              </a:rPr>
              <a:t> </a:t>
            </a:r>
            <a:r>
              <a:rPr sz="2800" dirty="0">
                <a:latin typeface="Microsoft Sans Serif"/>
                <a:cs typeface="Microsoft Sans Serif"/>
              </a:rPr>
              <a:t>change the</a:t>
            </a:r>
            <a:r>
              <a:rPr sz="2800" spc="-30" dirty="0">
                <a:latin typeface="Microsoft Sans Serif"/>
                <a:cs typeface="Microsoft Sans Serif"/>
              </a:rPr>
              <a:t> </a:t>
            </a:r>
            <a:r>
              <a:rPr sz="2800" dirty="0">
                <a:latin typeface="Microsoft Sans Serif"/>
                <a:cs typeface="Microsoft Sans Serif"/>
              </a:rPr>
              <a:t>sensor</a:t>
            </a:r>
            <a:r>
              <a:rPr sz="2800" spc="-35" dirty="0">
                <a:latin typeface="Microsoft Sans Serif"/>
                <a:cs typeface="Microsoft Sans Serif"/>
              </a:rPr>
              <a:t> </a:t>
            </a:r>
            <a:r>
              <a:rPr sz="2800" spc="-10" dirty="0">
                <a:latin typeface="Microsoft Sans Serif"/>
                <a:cs typeface="Microsoft Sans Serif"/>
              </a:rPr>
              <a:t>spacing </a:t>
            </a:r>
            <a:r>
              <a:rPr sz="2800" dirty="0">
                <a:latin typeface="Microsoft Sans Serif"/>
                <a:cs typeface="Microsoft Sans Serif"/>
              </a:rPr>
              <a:t>(</a:t>
            </a:r>
            <a:r>
              <a:rPr sz="2800" b="1" dirty="0">
                <a:latin typeface="Arial"/>
                <a:cs typeface="Arial"/>
              </a:rPr>
              <a:t>Line</a:t>
            </a:r>
            <a:r>
              <a:rPr sz="2800" b="1" spc="-30" dirty="0">
                <a:latin typeface="Arial"/>
                <a:cs typeface="Arial"/>
              </a:rPr>
              <a:t> </a:t>
            </a:r>
            <a:r>
              <a:rPr sz="2800" b="1" dirty="0">
                <a:latin typeface="Arial"/>
                <a:cs typeface="Arial"/>
              </a:rPr>
              <a:t>26</a:t>
            </a:r>
            <a:r>
              <a:rPr sz="2800" dirty="0">
                <a:latin typeface="Microsoft Sans Serif"/>
                <a:cs typeface="Microsoft Sans Serif"/>
              </a:rPr>
              <a:t>)</a:t>
            </a:r>
            <a:r>
              <a:rPr sz="2800" spc="-10" dirty="0">
                <a:latin typeface="Microsoft Sans Serif"/>
                <a:cs typeface="Microsoft Sans Serif"/>
              </a:rPr>
              <a:t> </a:t>
            </a:r>
            <a:r>
              <a:rPr sz="2800" dirty="0">
                <a:latin typeface="Microsoft Sans Serif"/>
                <a:cs typeface="Microsoft Sans Serif"/>
              </a:rPr>
              <a:t>from</a:t>
            </a:r>
            <a:r>
              <a:rPr sz="2800" spc="-10" dirty="0">
                <a:latin typeface="Microsoft Sans Serif"/>
                <a:cs typeface="Microsoft Sans Serif"/>
              </a:rPr>
              <a:t> </a:t>
            </a:r>
            <a:r>
              <a:rPr sz="2800" dirty="0">
                <a:latin typeface="Microsoft Sans Serif"/>
                <a:cs typeface="Microsoft Sans Serif"/>
              </a:rPr>
              <a:t>1</a:t>
            </a:r>
            <a:r>
              <a:rPr sz="2800" spc="-5" dirty="0">
                <a:latin typeface="Microsoft Sans Serif"/>
                <a:cs typeface="Microsoft Sans Serif"/>
              </a:rPr>
              <a:t> </a:t>
            </a:r>
            <a:r>
              <a:rPr sz="2800" dirty="0">
                <a:latin typeface="Microsoft Sans Serif"/>
                <a:cs typeface="Microsoft Sans Serif"/>
              </a:rPr>
              <a:t>to</a:t>
            </a:r>
            <a:r>
              <a:rPr sz="2800" spc="-10" dirty="0">
                <a:latin typeface="Microsoft Sans Serif"/>
                <a:cs typeface="Microsoft Sans Serif"/>
              </a:rPr>
              <a:t> </a:t>
            </a:r>
            <a:r>
              <a:rPr sz="2800" dirty="0">
                <a:latin typeface="Microsoft Sans Serif"/>
                <a:cs typeface="Microsoft Sans Serif"/>
              </a:rPr>
              <a:t>5?</a:t>
            </a:r>
            <a:r>
              <a:rPr sz="2800" spc="-10" dirty="0">
                <a:latin typeface="Microsoft Sans Serif"/>
                <a:cs typeface="Microsoft Sans Serif"/>
              </a:rPr>
              <a:t> </a:t>
            </a:r>
            <a:r>
              <a:rPr sz="2800" dirty="0">
                <a:latin typeface="Microsoft Sans Serif"/>
                <a:cs typeface="Microsoft Sans Serif"/>
              </a:rPr>
              <a:t>From 1</a:t>
            </a:r>
            <a:r>
              <a:rPr sz="2800" spc="-5" dirty="0">
                <a:latin typeface="Microsoft Sans Serif"/>
                <a:cs typeface="Microsoft Sans Serif"/>
              </a:rPr>
              <a:t> </a:t>
            </a:r>
            <a:r>
              <a:rPr sz="2800" dirty="0">
                <a:latin typeface="Microsoft Sans Serif"/>
                <a:cs typeface="Microsoft Sans Serif"/>
              </a:rPr>
              <a:t>to</a:t>
            </a:r>
            <a:r>
              <a:rPr sz="2800" spc="-10" dirty="0">
                <a:latin typeface="Microsoft Sans Serif"/>
                <a:cs typeface="Microsoft Sans Serif"/>
              </a:rPr>
              <a:t> </a:t>
            </a:r>
            <a:r>
              <a:rPr sz="2800" dirty="0">
                <a:latin typeface="Microsoft Sans Serif"/>
                <a:cs typeface="Microsoft Sans Serif"/>
              </a:rPr>
              <a:t>0.5?</a:t>
            </a:r>
            <a:r>
              <a:rPr sz="2800" spc="-10" dirty="0">
                <a:latin typeface="Microsoft Sans Serif"/>
                <a:cs typeface="Microsoft Sans Serif"/>
              </a:rPr>
              <a:t> </a:t>
            </a:r>
            <a:r>
              <a:rPr sz="2800" spc="-25" dirty="0">
                <a:latin typeface="Microsoft Sans Serif"/>
                <a:cs typeface="Microsoft Sans Serif"/>
              </a:rPr>
              <a:t>(D </a:t>
            </a:r>
            <a:r>
              <a:rPr sz="2800" spc="-10" dirty="0">
                <a:latin typeface="Microsoft Sans Serif"/>
                <a:cs typeface="Microsoft Sans Serif"/>
              </a:rPr>
              <a:t>unchanged)</a:t>
            </a:r>
            <a:endParaRPr sz="2800" dirty="0">
              <a:latin typeface="Microsoft Sans Serif"/>
              <a:cs typeface="Microsoft Sans Serif"/>
            </a:endParaRPr>
          </a:p>
        </p:txBody>
      </p:sp>
      <p:grpSp>
        <p:nvGrpSpPr>
          <p:cNvPr id="4" name="object 4"/>
          <p:cNvGrpSpPr/>
          <p:nvPr/>
        </p:nvGrpSpPr>
        <p:grpSpPr>
          <a:xfrm>
            <a:off x="685800" y="2819400"/>
            <a:ext cx="1950720" cy="1948180"/>
            <a:chOff x="770520" y="3360062"/>
            <a:chExt cx="1950720" cy="1948180"/>
          </a:xfrm>
        </p:grpSpPr>
        <p:pic>
          <p:nvPicPr>
            <p:cNvPr id="5" name="object 5"/>
            <p:cNvPicPr/>
            <p:nvPr/>
          </p:nvPicPr>
          <p:blipFill>
            <a:blip r:embed="rId3" cstate="print"/>
            <a:stretch>
              <a:fillRect/>
            </a:stretch>
          </p:blipFill>
          <p:spPr>
            <a:xfrm>
              <a:off x="776676" y="3366221"/>
              <a:ext cx="1935837" cy="1935864"/>
            </a:xfrm>
            <a:prstGeom prst="rect">
              <a:avLst/>
            </a:prstGeom>
          </p:spPr>
        </p:pic>
        <p:sp>
          <p:nvSpPr>
            <p:cNvPr id="6" name="object 6"/>
            <p:cNvSpPr/>
            <p:nvPr/>
          </p:nvSpPr>
          <p:spPr>
            <a:xfrm>
              <a:off x="771025" y="5302086"/>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7" name="object 7"/>
            <p:cNvSpPr/>
            <p:nvPr/>
          </p:nvSpPr>
          <p:spPr>
            <a:xfrm>
              <a:off x="2715310"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8" name="object 8"/>
            <p:cNvSpPr/>
            <p:nvPr/>
          </p:nvSpPr>
          <p:spPr>
            <a:xfrm>
              <a:off x="771025" y="3360566"/>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9" name="object 9"/>
            <p:cNvSpPr/>
            <p:nvPr/>
          </p:nvSpPr>
          <p:spPr>
            <a:xfrm>
              <a:off x="2715310" y="336337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0" name="object 10"/>
            <p:cNvSpPr/>
            <p:nvPr/>
          </p:nvSpPr>
          <p:spPr>
            <a:xfrm>
              <a:off x="2712499"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1" name="object 11"/>
            <p:cNvSpPr/>
            <p:nvPr/>
          </p:nvSpPr>
          <p:spPr>
            <a:xfrm>
              <a:off x="2715310"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2" name="object 12"/>
            <p:cNvSpPr/>
            <p:nvPr/>
          </p:nvSpPr>
          <p:spPr>
            <a:xfrm>
              <a:off x="771025"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3" name="object 13"/>
            <p:cNvSpPr/>
            <p:nvPr/>
          </p:nvSpPr>
          <p:spPr>
            <a:xfrm>
              <a:off x="773850" y="530490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14" name="object 14"/>
            <p:cNvSpPr/>
            <p:nvPr/>
          </p:nvSpPr>
          <p:spPr>
            <a:xfrm>
              <a:off x="771025" y="5302086"/>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15" name="object 15"/>
            <p:cNvSpPr/>
            <p:nvPr/>
          </p:nvSpPr>
          <p:spPr>
            <a:xfrm>
              <a:off x="2715310"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6" name="object 16"/>
            <p:cNvSpPr/>
            <p:nvPr/>
          </p:nvSpPr>
          <p:spPr>
            <a:xfrm>
              <a:off x="771025"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7" name="object 17"/>
            <p:cNvSpPr/>
            <p:nvPr/>
          </p:nvSpPr>
          <p:spPr>
            <a:xfrm>
              <a:off x="773850" y="530490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18" name="object 18"/>
            <p:cNvSpPr/>
            <p:nvPr/>
          </p:nvSpPr>
          <p:spPr>
            <a:xfrm>
              <a:off x="1144469"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9" name="object 19"/>
            <p:cNvSpPr/>
            <p:nvPr/>
          </p:nvSpPr>
          <p:spPr>
            <a:xfrm>
              <a:off x="1147352" y="528231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0" name="object 20"/>
            <p:cNvSpPr/>
            <p:nvPr/>
          </p:nvSpPr>
          <p:spPr>
            <a:xfrm>
              <a:off x="1144469" y="3360566"/>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1" name="object 21"/>
            <p:cNvSpPr/>
            <p:nvPr/>
          </p:nvSpPr>
          <p:spPr>
            <a:xfrm>
              <a:off x="1147352" y="338618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2" name="object 22"/>
            <p:cNvSpPr/>
            <p:nvPr/>
          </p:nvSpPr>
          <p:spPr>
            <a:xfrm>
              <a:off x="1512493"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3" name="object 23"/>
            <p:cNvSpPr/>
            <p:nvPr/>
          </p:nvSpPr>
          <p:spPr>
            <a:xfrm>
              <a:off x="1515304" y="528231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4" name="object 24"/>
            <p:cNvSpPr/>
            <p:nvPr/>
          </p:nvSpPr>
          <p:spPr>
            <a:xfrm>
              <a:off x="1512493" y="3360566"/>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5" name="object 25"/>
            <p:cNvSpPr/>
            <p:nvPr/>
          </p:nvSpPr>
          <p:spPr>
            <a:xfrm>
              <a:off x="1515304" y="338618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6" name="object 26"/>
            <p:cNvSpPr/>
            <p:nvPr/>
          </p:nvSpPr>
          <p:spPr>
            <a:xfrm>
              <a:off x="1886139"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7" name="object 27"/>
            <p:cNvSpPr/>
            <p:nvPr/>
          </p:nvSpPr>
          <p:spPr>
            <a:xfrm>
              <a:off x="1888950" y="5282319"/>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8" name="object 28"/>
            <p:cNvSpPr/>
            <p:nvPr/>
          </p:nvSpPr>
          <p:spPr>
            <a:xfrm>
              <a:off x="1886139" y="3360566"/>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9" name="object 29"/>
            <p:cNvSpPr/>
            <p:nvPr/>
          </p:nvSpPr>
          <p:spPr>
            <a:xfrm>
              <a:off x="1888950" y="338618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30" name="object 30"/>
            <p:cNvSpPr/>
            <p:nvPr/>
          </p:nvSpPr>
          <p:spPr>
            <a:xfrm>
              <a:off x="2259568"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31" name="object 31"/>
            <p:cNvSpPr/>
            <p:nvPr/>
          </p:nvSpPr>
          <p:spPr>
            <a:xfrm>
              <a:off x="2262379" y="5282319"/>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32" name="object 32"/>
            <p:cNvSpPr/>
            <p:nvPr/>
          </p:nvSpPr>
          <p:spPr>
            <a:xfrm>
              <a:off x="2259568" y="3360566"/>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33" name="object 33"/>
            <p:cNvSpPr/>
            <p:nvPr/>
          </p:nvSpPr>
          <p:spPr>
            <a:xfrm>
              <a:off x="2262379" y="338618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34" name="object 34"/>
            <p:cNvSpPr/>
            <p:nvPr/>
          </p:nvSpPr>
          <p:spPr>
            <a:xfrm>
              <a:off x="2633214"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35" name="object 35"/>
            <p:cNvSpPr/>
            <p:nvPr/>
          </p:nvSpPr>
          <p:spPr>
            <a:xfrm>
              <a:off x="2636025" y="5282319"/>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36" name="object 36"/>
            <p:cNvSpPr/>
            <p:nvPr/>
          </p:nvSpPr>
          <p:spPr>
            <a:xfrm>
              <a:off x="2633214" y="3360566"/>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37" name="object 37"/>
            <p:cNvSpPr/>
            <p:nvPr/>
          </p:nvSpPr>
          <p:spPr>
            <a:xfrm>
              <a:off x="2636025" y="338618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38" name="object 38"/>
            <p:cNvSpPr/>
            <p:nvPr/>
          </p:nvSpPr>
          <p:spPr>
            <a:xfrm>
              <a:off x="771025" y="3734167"/>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39" name="object 39"/>
            <p:cNvSpPr/>
            <p:nvPr/>
          </p:nvSpPr>
          <p:spPr>
            <a:xfrm>
              <a:off x="796454" y="3736974"/>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40" name="object 40"/>
            <p:cNvSpPr/>
            <p:nvPr/>
          </p:nvSpPr>
          <p:spPr>
            <a:xfrm>
              <a:off x="2689939" y="3734167"/>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41" name="object 41"/>
            <p:cNvSpPr/>
            <p:nvPr/>
          </p:nvSpPr>
          <p:spPr>
            <a:xfrm>
              <a:off x="2692750" y="3736974"/>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42" name="object 42"/>
            <p:cNvSpPr/>
            <p:nvPr/>
          </p:nvSpPr>
          <p:spPr>
            <a:xfrm>
              <a:off x="771025" y="4102084"/>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43" name="object 43"/>
            <p:cNvSpPr/>
            <p:nvPr/>
          </p:nvSpPr>
          <p:spPr>
            <a:xfrm>
              <a:off x="796454" y="4104891"/>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44" name="object 44"/>
            <p:cNvSpPr/>
            <p:nvPr/>
          </p:nvSpPr>
          <p:spPr>
            <a:xfrm>
              <a:off x="2689939" y="4102084"/>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45" name="object 45"/>
            <p:cNvSpPr/>
            <p:nvPr/>
          </p:nvSpPr>
          <p:spPr>
            <a:xfrm>
              <a:off x="2692750" y="410489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46" name="object 46"/>
            <p:cNvSpPr/>
            <p:nvPr/>
          </p:nvSpPr>
          <p:spPr>
            <a:xfrm>
              <a:off x="771025" y="4475686"/>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47" name="object 47"/>
            <p:cNvSpPr/>
            <p:nvPr/>
          </p:nvSpPr>
          <p:spPr>
            <a:xfrm>
              <a:off x="796454" y="4478492"/>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48" name="object 48"/>
            <p:cNvSpPr/>
            <p:nvPr/>
          </p:nvSpPr>
          <p:spPr>
            <a:xfrm>
              <a:off x="2689939" y="447568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49" name="object 49"/>
            <p:cNvSpPr/>
            <p:nvPr/>
          </p:nvSpPr>
          <p:spPr>
            <a:xfrm>
              <a:off x="2692750" y="447849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50" name="object 50"/>
            <p:cNvSpPr/>
            <p:nvPr/>
          </p:nvSpPr>
          <p:spPr>
            <a:xfrm>
              <a:off x="771025" y="4849266"/>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51" name="object 51"/>
            <p:cNvSpPr/>
            <p:nvPr/>
          </p:nvSpPr>
          <p:spPr>
            <a:xfrm>
              <a:off x="796454" y="4852087"/>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52" name="object 52"/>
            <p:cNvSpPr/>
            <p:nvPr/>
          </p:nvSpPr>
          <p:spPr>
            <a:xfrm>
              <a:off x="2689939" y="484926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53" name="object 53"/>
            <p:cNvSpPr/>
            <p:nvPr/>
          </p:nvSpPr>
          <p:spPr>
            <a:xfrm>
              <a:off x="2692750" y="4852087"/>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54" name="object 54"/>
            <p:cNvSpPr/>
            <p:nvPr/>
          </p:nvSpPr>
          <p:spPr>
            <a:xfrm>
              <a:off x="771025" y="5222854"/>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55" name="object 55"/>
            <p:cNvSpPr/>
            <p:nvPr/>
          </p:nvSpPr>
          <p:spPr>
            <a:xfrm>
              <a:off x="796454" y="5225674"/>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56" name="object 56"/>
            <p:cNvSpPr/>
            <p:nvPr/>
          </p:nvSpPr>
          <p:spPr>
            <a:xfrm>
              <a:off x="2689939" y="5222854"/>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57" name="object 57"/>
            <p:cNvSpPr/>
            <p:nvPr/>
          </p:nvSpPr>
          <p:spPr>
            <a:xfrm>
              <a:off x="2692750" y="5225674"/>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58" name="object 58"/>
            <p:cNvSpPr/>
            <p:nvPr/>
          </p:nvSpPr>
          <p:spPr>
            <a:xfrm>
              <a:off x="771025" y="5302086"/>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59" name="object 59"/>
            <p:cNvSpPr/>
            <p:nvPr/>
          </p:nvSpPr>
          <p:spPr>
            <a:xfrm>
              <a:off x="2715310"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60" name="object 60"/>
            <p:cNvSpPr/>
            <p:nvPr/>
          </p:nvSpPr>
          <p:spPr>
            <a:xfrm>
              <a:off x="771025" y="3360566"/>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61" name="object 61"/>
            <p:cNvSpPr/>
            <p:nvPr/>
          </p:nvSpPr>
          <p:spPr>
            <a:xfrm>
              <a:off x="2715310" y="336337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62" name="object 62"/>
            <p:cNvSpPr/>
            <p:nvPr/>
          </p:nvSpPr>
          <p:spPr>
            <a:xfrm>
              <a:off x="2712499"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63" name="object 63"/>
            <p:cNvSpPr/>
            <p:nvPr/>
          </p:nvSpPr>
          <p:spPr>
            <a:xfrm>
              <a:off x="2715310"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64" name="object 64"/>
            <p:cNvSpPr/>
            <p:nvPr/>
          </p:nvSpPr>
          <p:spPr>
            <a:xfrm>
              <a:off x="771025"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65" name="object 65"/>
            <p:cNvSpPr/>
            <p:nvPr/>
          </p:nvSpPr>
          <p:spPr>
            <a:xfrm>
              <a:off x="773850" y="530490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grpSp>
      <p:sp>
        <p:nvSpPr>
          <p:cNvPr id="66" name="object 66"/>
          <p:cNvSpPr txBox="1"/>
          <p:nvPr/>
        </p:nvSpPr>
        <p:spPr>
          <a:xfrm>
            <a:off x="1324473" y="2677207"/>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sp>
        <p:nvSpPr>
          <p:cNvPr id="67" name="object 67"/>
          <p:cNvSpPr txBox="1"/>
          <p:nvPr/>
        </p:nvSpPr>
        <p:spPr>
          <a:xfrm>
            <a:off x="577376" y="3135718"/>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50</a:t>
            </a:r>
            <a:endParaRPr sz="550">
              <a:latin typeface="Arial MT"/>
              <a:cs typeface="Arial MT"/>
            </a:endParaRPr>
          </a:p>
        </p:txBody>
      </p:sp>
      <p:sp>
        <p:nvSpPr>
          <p:cNvPr id="68" name="object 68"/>
          <p:cNvSpPr txBox="1"/>
          <p:nvPr/>
        </p:nvSpPr>
        <p:spPr>
          <a:xfrm>
            <a:off x="537640" y="3503635"/>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sp>
        <p:nvSpPr>
          <p:cNvPr id="69" name="object 69"/>
          <p:cNvSpPr txBox="1"/>
          <p:nvPr/>
        </p:nvSpPr>
        <p:spPr>
          <a:xfrm>
            <a:off x="537640" y="3877237"/>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150</a:t>
            </a:r>
            <a:endParaRPr sz="550">
              <a:latin typeface="Arial MT"/>
              <a:cs typeface="Arial MT"/>
            </a:endParaRPr>
          </a:p>
        </p:txBody>
      </p:sp>
      <p:sp>
        <p:nvSpPr>
          <p:cNvPr id="70" name="object 70"/>
          <p:cNvSpPr txBox="1"/>
          <p:nvPr/>
        </p:nvSpPr>
        <p:spPr>
          <a:xfrm>
            <a:off x="537640" y="425080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200</a:t>
            </a:r>
            <a:endParaRPr sz="550">
              <a:latin typeface="Arial MT"/>
              <a:cs typeface="Arial MT"/>
            </a:endParaRPr>
          </a:p>
        </p:txBody>
      </p:sp>
      <p:sp>
        <p:nvSpPr>
          <p:cNvPr id="71" name="object 71"/>
          <p:cNvSpPr txBox="1"/>
          <p:nvPr/>
        </p:nvSpPr>
        <p:spPr>
          <a:xfrm>
            <a:off x="537640" y="4624390"/>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250</a:t>
            </a:r>
            <a:endParaRPr sz="550">
              <a:latin typeface="Arial MT"/>
              <a:cs typeface="Arial MT"/>
            </a:endParaRPr>
          </a:p>
        </p:txBody>
      </p:sp>
      <p:grpSp>
        <p:nvGrpSpPr>
          <p:cNvPr id="72" name="object 72"/>
          <p:cNvGrpSpPr/>
          <p:nvPr/>
        </p:nvGrpSpPr>
        <p:grpSpPr>
          <a:xfrm>
            <a:off x="3471253" y="2819268"/>
            <a:ext cx="1953895" cy="1948180"/>
            <a:chOff x="3555972" y="3359930"/>
            <a:chExt cx="1953895" cy="1948180"/>
          </a:xfrm>
        </p:grpSpPr>
        <p:pic>
          <p:nvPicPr>
            <p:cNvPr id="73" name="object 73"/>
            <p:cNvPicPr/>
            <p:nvPr/>
          </p:nvPicPr>
          <p:blipFill>
            <a:blip r:embed="rId4" cstate="print"/>
            <a:stretch>
              <a:fillRect/>
            </a:stretch>
          </p:blipFill>
          <p:spPr>
            <a:xfrm>
              <a:off x="3562258" y="3366221"/>
              <a:ext cx="1935837" cy="1935864"/>
            </a:xfrm>
            <a:prstGeom prst="rect">
              <a:avLst/>
            </a:prstGeom>
          </p:spPr>
        </p:pic>
        <p:sp>
          <p:nvSpPr>
            <p:cNvPr id="74" name="object 74"/>
            <p:cNvSpPr/>
            <p:nvPr/>
          </p:nvSpPr>
          <p:spPr>
            <a:xfrm>
              <a:off x="3556607"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75" name="object 75"/>
            <p:cNvSpPr/>
            <p:nvPr/>
          </p:nvSpPr>
          <p:spPr>
            <a:xfrm>
              <a:off x="5500892"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76" name="object 76"/>
            <p:cNvSpPr/>
            <p:nvPr/>
          </p:nvSpPr>
          <p:spPr>
            <a:xfrm>
              <a:off x="3556607" y="336056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77" name="object 77"/>
            <p:cNvSpPr/>
            <p:nvPr/>
          </p:nvSpPr>
          <p:spPr>
            <a:xfrm>
              <a:off x="5500892" y="336337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78" name="object 78"/>
            <p:cNvSpPr/>
            <p:nvPr/>
          </p:nvSpPr>
          <p:spPr>
            <a:xfrm>
              <a:off x="5498081"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79" name="object 79"/>
            <p:cNvSpPr/>
            <p:nvPr/>
          </p:nvSpPr>
          <p:spPr>
            <a:xfrm>
              <a:off x="5500892"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80" name="object 80"/>
            <p:cNvSpPr/>
            <p:nvPr/>
          </p:nvSpPr>
          <p:spPr>
            <a:xfrm>
              <a:off x="3556607"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81" name="object 81"/>
            <p:cNvSpPr/>
            <p:nvPr/>
          </p:nvSpPr>
          <p:spPr>
            <a:xfrm>
              <a:off x="3559433"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82" name="object 82"/>
            <p:cNvSpPr/>
            <p:nvPr/>
          </p:nvSpPr>
          <p:spPr>
            <a:xfrm>
              <a:off x="3556607"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83" name="object 83"/>
            <p:cNvSpPr/>
            <p:nvPr/>
          </p:nvSpPr>
          <p:spPr>
            <a:xfrm>
              <a:off x="5500892"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84" name="object 84"/>
            <p:cNvSpPr/>
            <p:nvPr/>
          </p:nvSpPr>
          <p:spPr>
            <a:xfrm>
              <a:off x="3556607"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85" name="object 85"/>
            <p:cNvSpPr/>
            <p:nvPr/>
          </p:nvSpPr>
          <p:spPr>
            <a:xfrm>
              <a:off x="3559433"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86" name="object 86"/>
            <p:cNvSpPr/>
            <p:nvPr/>
          </p:nvSpPr>
          <p:spPr>
            <a:xfrm>
              <a:off x="3930051"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87" name="object 87"/>
            <p:cNvSpPr/>
            <p:nvPr/>
          </p:nvSpPr>
          <p:spPr>
            <a:xfrm>
              <a:off x="3932934" y="5282319"/>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88" name="object 88"/>
            <p:cNvSpPr/>
            <p:nvPr/>
          </p:nvSpPr>
          <p:spPr>
            <a:xfrm>
              <a:off x="3930051"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89" name="object 89"/>
            <p:cNvSpPr/>
            <p:nvPr/>
          </p:nvSpPr>
          <p:spPr>
            <a:xfrm>
              <a:off x="3932934" y="338618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90" name="object 90"/>
            <p:cNvSpPr/>
            <p:nvPr/>
          </p:nvSpPr>
          <p:spPr>
            <a:xfrm>
              <a:off x="4298075"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91" name="object 91"/>
            <p:cNvSpPr/>
            <p:nvPr/>
          </p:nvSpPr>
          <p:spPr>
            <a:xfrm>
              <a:off x="4300886" y="5282319"/>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92" name="object 92"/>
            <p:cNvSpPr/>
            <p:nvPr/>
          </p:nvSpPr>
          <p:spPr>
            <a:xfrm>
              <a:off x="4298075"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93" name="object 93"/>
            <p:cNvSpPr/>
            <p:nvPr/>
          </p:nvSpPr>
          <p:spPr>
            <a:xfrm>
              <a:off x="4300886" y="338618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94" name="object 94"/>
            <p:cNvSpPr/>
            <p:nvPr/>
          </p:nvSpPr>
          <p:spPr>
            <a:xfrm>
              <a:off x="4671721"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95" name="object 95"/>
            <p:cNvSpPr/>
            <p:nvPr/>
          </p:nvSpPr>
          <p:spPr>
            <a:xfrm>
              <a:off x="4674532" y="5282319"/>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96" name="object 96"/>
            <p:cNvSpPr/>
            <p:nvPr/>
          </p:nvSpPr>
          <p:spPr>
            <a:xfrm>
              <a:off x="4671721"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97" name="object 97"/>
            <p:cNvSpPr/>
            <p:nvPr/>
          </p:nvSpPr>
          <p:spPr>
            <a:xfrm>
              <a:off x="4674532" y="338618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98" name="object 98"/>
            <p:cNvSpPr/>
            <p:nvPr/>
          </p:nvSpPr>
          <p:spPr>
            <a:xfrm>
              <a:off x="5045151"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99" name="object 99"/>
            <p:cNvSpPr/>
            <p:nvPr/>
          </p:nvSpPr>
          <p:spPr>
            <a:xfrm>
              <a:off x="5047962" y="5282319"/>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00" name="object 100"/>
            <p:cNvSpPr/>
            <p:nvPr/>
          </p:nvSpPr>
          <p:spPr>
            <a:xfrm>
              <a:off x="5045151"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01" name="object 101"/>
            <p:cNvSpPr/>
            <p:nvPr/>
          </p:nvSpPr>
          <p:spPr>
            <a:xfrm>
              <a:off x="5047962" y="338618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02" name="object 102"/>
            <p:cNvSpPr/>
            <p:nvPr/>
          </p:nvSpPr>
          <p:spPr>
            <a:xfrm>
              <a:off x="5418797"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03" name="object 103"/>
            <p:cNvSpPr/>
            <p:nvPr/>
          </p:nvSpPr>
          <p:spPr>
            <a:xfrm>
              <a:off x="5421608" y="5282319"/>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04" name="object 104"/>
            <p:cNvSpPr/>
            <p:nvPr/>
          </p:nvSpPr>
          <p:spPr>
            <a:xfrm>
              <a:off x="5418797"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05" name="object 105"/>
            <p:cNvSpPr/>
            <p:nvPr/>
          </p:nvSpPr>
          <p:spPr>
            <a:xfrm>
              <a:off x="5421608" y="338618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grpSp>
      <p:sp>
        <p:nvSpPr>
          <p:cNvPr id="106" name="object 106"/>
          <p:cNvSpPr txBox="1"/>
          <p:nvPr/>
        </p:nvSpPr>
        <p:spPr>
          <a:xfrm>
            <a:off x="1007551" y="4765743"/>
            <a:ext cx="4401820" cy="100669"/>
          </a:xfrm>
          <a:prstGeom prst="rect">
            <a:avLst/>
          </a:prstGeom>
        </p:spPr>
        <p:txBody>
          <a:bodyPr vert="horz" wrap="square" lIns="0" tIns="15875" rIns="0" bIns="0" rtlCol="0">
            <a:spAutoFit/>
          </a:bodyPr>
          <a:lstStyle/>
          <a:p>
            <a:pPr marL="12700">
              <a:spcBef>
                <a:spcPts val="125"/>
              </a:spcBef>
              <a:tabLst>
                <a:tab pos="363220" algn="l"/>
                <a:tab pos="736600" algn="l"/>
                <a:tab pos="1110615" algn="l"/>
                <a:tab pos="1483995" algn="l"/>
                <a:tab pos="2797810" algn="l"/>
                <a:tab pos="3148965" algn="l"/>
                <a:tab pos="3522345" algn="l"/>
                <a:tab pos="3895725" algn="l"/>
                <a:tab pos="4269740" algn="l"/>
              </a:tabLst>
            </a:pPr>
            <a:r>
              <a:rPr sz="550" spc="-25" dirty="0">
                <a:latin typeface="Arial MT"/>
                <a:cs typeface="Arial MT"/>
              </a:rPr>
              <a:t>50</a:t>
            </a:r>
            <a:r>
              <a:rPr sz="550" dirty="0">
                <a:latin typeface="Arial MT"/>
                <a:cs typeface="Arial MT"/>
              </a:rPr>
              <a:t>	</a:t>
            </a:r>
            <a:r>
              <a:rPr sz="550" spc="-25" dirty="0">
                <a:latin typeface="Arial MT"/>
                <a:cs typeface="Arial MT"/>
              </a:rPr>
              <a:t>100</a:t>
            </a:r>
            <a:r>
              <a:rPr sz="550" dirty="0">
                <a:latin typeface="Arial MT"/>
                <a:cs typeface="Arial MT"/>
              </a:rPr>
              <a:t>	</a:t>
            </a:r>
            <a:r>
              <a:rPr sz="550" spc="-25" dirty="0">
                <a:latin typeface="Arial MT"/>
                <a:cs typeface="Arial MT"/>
              </a:rPr>
              <a:t>150</a:t>
            </a:r>
            <a:r>
              <a:rPr sz="550" dirty="0">
                <a:latin typeface="Arial MT"/>
                <a:cs typeface="Arial MT"/>
              </a:rPr>
              <a:t>	</a:t>
            </a:r>
            <a:r>
              <a:rPr sz="550" spc="-25" dirty="0">
                <a:latin typeface="Arial MT"/>
                <a:cs typeface="Arial MT"/>
              </a:rPr>
              <a:t>200</a:t>
            </a:r>
            <a:r>
              <a:rPr sz="550" dirty="0">
                <a:latin typeface="Arial MT"/>
                <a:cs typeface="Arial MT"/>
              </a:rPr>
              <a:t>	</a:t>
            </a:r>
            <a:r>
              <a:rPr sz="550" spc="-25" dirty="0">
                <a:latin typeface="Arial MT"/>
                <a:cs typeface="Arial MT"/>
              </a:rPr>
              <a:t>250</a:t>
            </a:r>
            <a:r>
              <a:rPr sz="550" dirty="0">
                <a:latin typeface="Arial MT"/>
                <a:cs typeface="Arial MT"/>
              </a:rPr>
              <a:t>	</a:t>
            </a:r>
            <a:r>
              <a:rPr sz="550" spc="-25" dirty="0">
                <a:latin typeface="Arial MT"/>
                <a:cs typeface="Arial MT"/>
              </a:rPr>
              <a:t>50</a:t>
            </a:r>
            <a:r>
              <a:rPr sz="550" dirty="0">
                <a:latin typeface="Arial MT"/>
                <a:cs typeface="Arial MT"/>
              </a:rPr>
              <a:t>	</a:t>
            </a:r>
            <a:r>
              <a:rPr sz="550" spc="-25" dirty="0">
                <a:latin typeface="Arial MT"/>
                <a:cs typeface="Arial MT"/>
              </a:rPr>
              <a:t>100</a:t>
            </a:r>
            <a:r>
              <a:rPr sz="550" dirty="0">
                <a:latin typeface="Arial MT"/>
                <a:cs typeface="Arial MT"/>
              </a:rPr>
              <a:t>	</a:t>
            </a:r>
            <a:r>
              <a:rPr sz="550" spc="-25" dirty="0">
                <a:latin typeface="Arial MT"/>
                <a:cs typeface="Arial MT"/>
              </a:rPr>
              <a:t>150</a:t>
            </a:r>
            <a:r>
              <a:rPr sz="550" dirty="0">
                <a:latin typeface="Arial MT"/>
                <a:cs typeface="Arial MT"/>
              </a:rPr>
              <a:t>	</a:t>
            </a:r>
            <a:r>
              <a:rPr sz="550" spc="-25" dirty="0">
                <a:latin typeface="Arial MT"/>
                <a:cs typeface="Arial MT"/>
              </a:rPr>
              <a:t>200</a:t>
            </a:r>
            <a:r>
              <a:rPr sz="550" dirty="0">
                <a:latin typeface="Arial MT"/>
                <a:cs typeface="Arial MT"/>
              </a:rPr>
              <a:t>	</a:t>
            </a:r>
            <a:r>
              <a:rPr sz="550" spc="-25" dirty="0">
                <a:latin typeface="Arial MT"/>
                <a:cs typeface="Arial MT"/>
              </a:rPr>
              <a:t>250</a:t>
            </a:r>
            <a:endParaRPr sz="550">
              <a:latin typeface="Arial MT"/>
              <a:cs typeface="Arial MT"/>
            </a:endParaRPr>
          </a:p>
        </p:txBody>
      </p:sp>
      <p:sp>
        <p:nvSpPr>
          <p:cNvPr id="107" name="object 107"/>
          <p:cNvSpPr txBox="1"/>
          <p:nvPr/>
        </p:nvSpPr>
        <p:spPr>
          <a:xfrm>
            <a:off x="4110056" y="2677207"/>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grpSp>
        <p:nvGrpSpPr>
          <p:cNvPr id="108" name="object 108"/>
          <p:cNvGrpSpPr/>
          <p:nvPr/>
        </p:nvGrpSpPr>
        <p:grpSpPr>
          <a:xfrm>
            <a:off x="3471383" y="2819400"/>
            <a:ext cx="1950720" cy="1948180"/>
            <a:chOff x="3556103" y="3360062"/>
            <a:chExt cx="1950720" cy="1948180"/>
          </a:xfrm>
        </p:grpSpPr>
        <p:sp>
          <p:nvSpPr>
            <p:cNvPr id="109" name="object 109"/>
            <p:cNvSpPr/>
            <p:nvPr/>
          </p:nvSpPr>
          <p:spPr>
            <a:xfrm>
              <a:off x="3556608" y="3734167"/>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10" name="object 110"/>
            <p:cNvSpPr/>
            <p:nvPr/>
          </p:nvSpPr>
          <p:spPr>
            <a:xfrm>
              <a:off x="3582036" y="3736974"/>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11" name="object 111"/>
            <p:cNvSpPr/>
            <p:nvPr/>
          </p:nvSpPr>
          <p:spPr>
            <a:xfrm>
              <a:off x="5475521" y="3734167"/>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12" name="object 112"/>
            <p:cNvSpPr/>
            <p:nvPr/>
          </p:nvSpPr>
          <p:spPr>
            <a:xfrm>
              <a:off x="5478332" y="3736974"/>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13" name="object 113"/>
            <p:cNvSpPr/>
            <p:nvPr/>
          </p:nvSpPr>
          <p:spPr>
            <a:xfrm>
              <a:off x="3556608" y="4102084"/>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14" name="object 114"/>
            <p:cNvSpPr/>
            <p:nvPr/>
          </p:nvSpPr>
          <p:spPr>
            <a:xfrm>
              <a:off x="3582036" y="410489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15" name="object 115"/>
            <p:cNvSpPr/>
            <p:nvPr/>
          </p:nvSpPr>
          <p:spPr>
            <a:xfrm>
              <a:off x="5475521" y="4102084"/>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16" name="object 116"/>
            <p:cNvSpPr/>
            <p:nvPr/>
          </p:nvSpPr>
          <p:spPr>
            <a:xfrm>
              <a:off x="5478332" y="410489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17" name="object 117"/>
            <p:cNvSpPr/>
            <p:nvPr/>
          </p:nvSpPr>
          <p:spPr>
            <a:xfrm>
              <a:off x="3556608" y="447568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18" name="object 118"/>
            <p:cNvSpPr/>
            <p:nvPr/>
          </p:nvSpPr>
          <p:spPr>
            <a:xfrm>
              <a:off x="3582036" y="4478492"/>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19" name="object 119"/>
            <p:cNvSpPr/>
            <p:nvPr/>
          </p:nvSpPr>
          <p:spPr>
            <a:xfrm>
              <a:off x="5475521" y="447568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20" name="object 120"/>
            <p:cNvSpPr/>
            <p:nvPr/>
          </p:nvSpPr>
          <p:spPr>
            <a:xfrm>
              <a:off x="5478332" y="447849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21" name="object 121"/>
            <p:cNvSpPr/>
            <p:nvPr/>
          </p:nvSpPr>
          <p:spPr>
            <a:xfrm>
              <a:off x="3556608" y="484926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22" name="object 122"/>
            <p:cNvSpPr/>
            <p:nvPr/>
          </p:nvSpPr>
          <p:spPr>
            <a:xfrm>
              <a:off x="3582036" y="4852087"/>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23" name="object 123"/>
            <p:cNvSpPr/>
            <p:nvPr/>
          </p:nvSpPr>
          <p:spPr>
            <a:xfrm>
              <a:off x="5475521" y="484926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24" name="object 124"/>
            <p:cNvSpPr/>
            <p:nvPr/>
          </p:nvSpPr>
          <p:spPr>
            <a:xfrm>
              <a:off x="5478332" y="4852087"/>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25" name="object 125"/>
            <p:cNvSpPr/>
            <p:nvPr/>
          </p:nvSpPr>
          <p:spPr>
            <a:xfrm>
              <a:off x="3556608" y="5222854"/>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26" name="object 126"/>
            <p:cNvSpPr/>
            <p:nvPr/>
          </p:nvSpPr>
          <p:spPr>
            <a:xfrm>
              <a:off x="3582036" y="5225674"/>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27" name="object 127"/>
            <p:cNvSpPr/>
            <p:nvPr/>
          </p:nvSpPr>
          <p:spPr>
            <a:xfrm>
              <a:off x="5475521" y="5222854"/>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28" name="object 128"/>
            <p:cNvSpPr/>
            <p:nvPr/>
          </p:nvSpPr>
          <p:spPr>
            <a:xfrm>
              <a:off x="5478332" y="5225674"/>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29" name="object 129"/>
            <p:cNvSpPr/>
            <p:nvPr/>
          </p:nvSpPr>
          <p:spPr>
            <a:xfrm>
              <a:off x="3556608"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30" name="object 130"/>
            <p:cNvSpPr/>
            <p:nvPr/>
          </p:nvSpPr>
          <p:spPr>
            <a:xfrm>
              <a:off x="5500892"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31" name="object 131"/>
            <p:cNvSpPr/>
            <p:nvPr/>
          </p:nvSpPr>
          <p:spPr>
            <a:xfrm>
              <a:off x="3556608" y="336056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32" name="object 132"/>
            <p:cNvSpPr/>
            <p:nvPr/>
          </p:nvSpPr>
          <p:spPr>
            <a:xfrm>
              <a:off x="5500892" y="3363372"/>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33" name="object 133"/>
            <p:cNvSpPr/>
            <p:nvPr/>
          </p:nvSpPr>
          <p:spPr>
            <a:xfrm>
              <a:off x="5498081"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34" name="object 134"/>
            <p:cNvSpPr/>
            <p:nvPr/>
          </p:nvSpPr>
          <p:spPr>
            <a:xfrm>
              <a:off x="5500892" y="5304906"/>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35" name="object 135"/>
            <p:cNvSpPr/>
            <p:nvPr/>
          </p:nvSpPr>
          <p:spPr>
            <a:xfrm>
              <a:off x="3556608"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36" name="object 136"/>
            <p:cNvSpPr/>
            <p:nvPr/>
          </p:nvSpPr>
          <p:spPr>
            <a:xfrm>
              <a:off x="3559433"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grpSp>
      <p:sp>
        <p:nvSpPr>
          <p:cNvPr id="137" name="object 137"/>
          <p:cNvSpPr txBox="1"/>
          <p:nvPr/>
        </p:nvSpPr>
        <p:spPr>
          <a:xfrm>
            <a:off x="3362959" y="3135718"/>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50</a:t>
            </a:r>
            <a:endParaRPr sz="550">
              <a:latin typeface="Arial MT"/>
              <a:cs typeface="Arial MT"/>
            </a:endParaRPr>
          </a:p>
        </p:txBody>
      </p:sp>
      <p:sp>
        <p:nvSpPr>
          <p:cNvPr id="138" name="object 138"/>
          <p:cNvSpPr txBox="1"/>
          <p:nvPr/>
        </p:nvSpPr>
        <p:spPr>
          <a:xfrm>
            <a:off x="3323223" y="3503635"/>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sp>
        <p:nvSpPr>
          <p:cNvPr id="139" name="object 139"/>
          <p:cNvSpPr txBox="1"/>
          <p:nvPr/>
        </p:nvSpPr>
        <p:spPr>
          <a:xfrm>
            <a:off x="3323223" y="3877237"/>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150</a:t>
            </a:r>
            <a:endParaRPr sz="550">
              <a:latin typeface="Arial MT"/>
              <a:cs typeface="Arial MT"/>
            </a:endParaRPr>
          </a:p>
        </p:txBody>
      </p:sp>
      <p:sp>
        <p:nvSpPr>
          <p:cNvPr id="140" name="object 140"/>
          <p:cNvSpPr txBox="1"/>
          <p:nvPr/>
        </p:nvSpPr>
        <p:spPr>
          <a:xfrm>
            <a:off x="3323223" y="425080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200</a:t>
            </a:r>
            <a:endParaRPr sz="550">
              <a:latin typeface="Arial MT"/>
              <a:cs typeface="Arial MT"/>
            </a:endParaRPr>
          </a:p>
        </p:txBody>
      </p:sp>
      <p:sp>
        <p:nvSpPr>
          <p:cNvPr id="141" name="object 141"/>
          <p:cNvSpPr txBox="1"/>
          <p:nvPr/>
        </p:nvSpPr>
        <p:spPr>
          <a:xfrm>
            <a:off x="3323222" y="4624390"/>
            <a:ext cx="2929890" cy="100669"/>
          </a:xfrm>
          <a:prstGeom prst="rect">
            <a:avLst/>
          </a:prstGeom>
        </p:spPr>
        <p:txBody>
          <a:bodyPr vert="horz" wrap="square" lIns="0" tIns="15875" rIns="0" bIns="0" rtlCol="0">
            <a:spAutoFit/>
          </a:bodyPr>
          <a:lstStyle/>
          <a:p>
            <a:pPr marL="12700">
              <a:spcBef>
                <a:spcPts val="125"/>
              </a:spcBef>
              <a:tabLst>
                <a:tab pos="2797810" algn="l"/>
              </a:tabLst>
            </a:pPr>
            <a:r>
              <a:rPr sz="550" spc="-25" dirty="0">
                <a:latin typeface="Arial MT"/>
                <a:cs typeface="Arial MT"/>
              </a:rPr>
              <a:t>250</a:t>
            </a:r>
            <a:r>
              <a:rPr sz="550" dirty="0">
                <a:latin typeface="Arial MT"/>
                <a:cs typeface="Arial MT"/>
              </a:rPr>
              <a:t>	</a:t>
            </a:r>
            <a:r>
              <a:rPr sz="550" spc="-25" dirty="0">
                <a:latin typeface="Arial MT"/>
                <a:cs typeface="Arial MT"/>
              </a:rPr>
              <a:t>250</a:t>
            </a:r>
            <a:endParaRPr sz="550">
              <a:latin typeface="Arial MT"/>
              <a:cs typeface="Arial MT"/>
            </a:endParaRPr>
          </a:p>
        </p:txBody>
      </p:sp>
      <p:sp>
        <p:nvSpPr>
          <p:cNvPr id="142" name="object 142"/>
          <p:cNvSpPr txBox="1"/>
          <p:nvPr/>
        </p:nvSpPr>
        <p:spPr>
          <a:xfrm>
            <a:off x="1420727" y="4824807"/>
            <a:ext cx="6419226" cy="1102866"/>
          </a:xfrm>
          <a:prstGeom prst="rect">
            <a:avLst/>
          </a:prstGeom>
        </p:spPr>
        <p:txBody>
          <a:bodyPr vert="horz" wrap="square" lIns="0" tIns="106680" rIns="0" bIns="0" rtlCol="0">
            <a:spAutoFit/>
          </a:bodyPr>
          <a:lstStyle/>
          <a:p>
            <a:pPr marR="189865" algn="ctr">
              <a:spcBef>
                <a:spcPts val="840"/>
              </a:spcBef>
            </a:pPr>
            <a:r>
              <a:rPr b="1" dirty="0" err="1">
                <a:solidFill>
                  <a:srgbClr val="FF0000"/>
                </a:solidFill>
                <a:latin typeface="Arial"/>
                <a:cs typeface="Arial"/>
              </a:rPr>
              <a:t>Dsensor</a:t>
            </a:r>
            <a:r>
              <a:rPr lang="en-US" b="1" dirty="0">
                <a:solidFill>
                  <a:srgbClr val="FF0000"/>
                </a:solidFill>
                <a:latin typeface="Arial"/>
                <a:cs typeface="Arial"/>
              </a:rPr>
              <a:t>: </a:t>
            </a:r>
            <a:r>
              <a:rPr b="1" spc="-50" dirty="0">
                <a:solidFill>
                  <a:srgbClr val="FF0000"/>
                </a:solidFill>
                <a:latin typeface="Arial"/>
                <a:cs typeface="Arial"/>
              </a:rPr>
              <a:t>1</a:t>
            </a:r>
            <a:endParaRPr lang="en-US" b="1" spc="-50" dirty="0">
              <a:solidFill>
                <a:srgbClr val="FF0000"/>
              </a:solidFill>
              <a:latin typeface="Arial"/>
              <a:cs typeface="Arial"/>
            </a:endParaRPr>
          </a:p>
          <a:p>
            <a:pPr marR="189865" algn="ctr">
              <a:spcBef>
                <a:spcPts val="840"/>
              </a:spcBef>
            </a:pPr>
            <a:r>
              <a:rPr sz="2000" b="1" dirty="0">
                <a:solidFill>
                  <a:srgbClr val="00AF50"/>
                </a:solidFill>
                <a:latin typeface="Arial"/>
                <a:cs typeface="Arial"/>
              </a:rPr>
              <a:t>The</a:t>
            </a:r>
            <a:r>
              <a:rPr sz="2000" b="1" spc="-25" dirty="0">
                <a:solidFill>
                  <a:srgbClr val="00AF50"/>
                </a:solidFill>
                <a:latin typeface="Arial"/>
                <a:cs typeface="Arial"/>
              </a:rPr>
              <a:t> </a:t>
            </a:r>
            <a:r>
              <a:rPr sz="2000" b="1" dirty="0">
                <a:solidFill>
                  <a:srgbClr val="00AF50"/>
                </a:solidFill>
                <a:latin typeface="Arial"/>
                <a:cs typeface="Arial"/>
              </a:rPr>
              <a:t>resolution</a:t>
            </a:r>
            <a:r>
              <a:rPr sz="2000" b="1" spc="-25" dirty="0">
                <a:solidFill>
                  <a:srgbClr val="00AF50"/>
                </a:solidFill>
                <a:latin typeface="Arial"/>
                <a:cs typeface="Arial"/>
              </a:rPr>
              <a:t> </a:t>
            </a:r>
            <a:r>
              <a:rPr sz="2000" b="1" dirty="0">
                <a:solidFill>
                  <a:srgbClr val="00AF50"/>
                </a:solidFill>
                <a:latin typeface="Arial"/>
                <a:cs typeface="Arial"/>
              </a:rPr>
              <a:t>is related</a:t>
            </a:r>
            <a:r>
              <a:rPr sz="2000" b="1" spc="-40" dirty="0">
                <a:solidFill>
                  <a:srgbClr val="00AF50"/>
                </a:solidFill>
                <a:latin typeface="Arial"/>
                <a:cs typeface="Arial"/>
              </a:rPr>
              <a:t> </a:t>
            </a:r>
            <a:r>
              <a:rPr sz="2000" b="1" dirty="0">
                <a:solidFill>
                  <a:srgbClr val="00AF50"/>
                </a:solidFill>
                <a:latin typeface="Arial"/>
                <a:cs typeface="Arial"/>
              </a:rPr>
              <a:t>to</a:t>
            </a:r>
            <a:r>
              <a:rPr sz="2000" b="1" spc="10" dirty="0">
                <a:solidFill>
                  <a:srgbClr val="00AF50"/>
                </a:solidFill>
                <a:latin typeface="Arial"/>
                <a:cs typeface="Arial"/>
              </a:rPr>
              <a:t> </a:t>
            </a:r>
            <a:r>
              <a:rPr sz="2000" b="1" spc="-25" dirty="0">
                <a:solidFill>
                  <a:srgbClr val="00AF50"/>
                </a:solidFill>
                <a:latin typeface="Arial"/>
                <a:cs typeface="Arial"/>
              </a:rPr>
              <a:t>the </a:t>
            </a:r>
            <a:r>
              <a:rPr sz="2000" b="1" dirty="0">
                <a:solidFill>
                  <a:srgbClr val="00AF50"/>
                </a:solidFill>
                <a:latin typeface="Arial"/>
                <a:cs typeface="Arial"/>
              </a:rPr>
              <a:t>sensor</a:t>
            </a:r>
            <a:r>
              <a:rPr sz="2000" b="1" spc="-15" dirty="0">
                <a:solidFill>
                  <a:srgbClr val="00AF50"/>
                </a:solidFill>
                <a:latin typeface="Arial"/>
                <a:cs typeface="Arial"/>
              </a:rPr>
              <a:t> </a:t>
            </a:r>
            <a:r>
              <a:rPr sz="2000" b="1" dirty="0">
                <a:solidFill>
                  <a:srgbClr val="00AF50"/>
                </a:solidFill>
                <a:latin typeface="Arial"/>
                <a:cs typeface="Arial"/>
              </a:rPr>
              <a:t>spacing</a:t>
            </a:r>
            <a:r>
              <a:rPr sz="2000" b="1" spc="-15" dirty="0">
                <a:solidFill>
                  <a:srgbClr val="00AF50"/>
                </a:solidFill>
                <a:latin typeface="Arial"/>
                <a:cs typeface="Arial"/>
              </a:rPr>
              <a:t> </a:t>
            </a:r>
            <a:r>
              <a:rPr sz="2000" b="1" dirty="0">
                <a:solidFill>
                  <a:srgbClr val="00AF50"/>
                </a:solidFill>
                <a:latin typeface="Arial"/>
                <a:cs typeface="Arial"/>
              </a:rPr>
              <a:t>(high</a:t>
            </a:r>
            <a:r>
              <a:rPr sz="2000" b="1" spc="-15" dirty="0">
                <a:solidFill>
                  <a:srgbClr val="00AF50"/>
                </a:solidFill>
                <a:latin typeface="Arial"/>
                <a:cs typeface="Arial"/>
              </a:rPr>
              <a:t> </a:t>
            </a:r>
            <a:r>
              <a:rPr sz="2000" b="1" dirty="0">
                <a:solidFill>
                  <a:srgbClr val="00AF50"/>
                </a:solidFill>
                <a:latin typeface="Arial"/>
                <a:cs typeface="Arial"/>
              </a:rPr>
              <a:t>spacing</a:t>
            </a:r>
            <a:r>
              <a:rPr sz="2000" b="1" spc="-15" dirty="0">
                <a:solidFill>
                  <a:srgbClr val="00AF50"/>
                </a:solidFill>
                <a:latin typeface="Arial"/>
                <a:cs typeface="Arial"/>
              </a:rPr>
              <a:t> </a:t>
            </a:r>
            <a:r>
              <a:rPr lang="en-US" sz="2000" b="1" spc="-50" dirty="0">
                <a:solidFill>
                  <a:srgbClr val="00AF50"/>
                </a:solidFill>
                <a:latin typeface="Arial"/>
                <a:cs typeface="Arial"/>
              </a:rPr>
              <a:t>equals</a:t>
            </a:r>
            <a:r>
              <a:rPr sz="2000" b="1" spc="-50" dirty="0">
                <a:solidFill>
                  <a:srgbClr val="00AF50"/>
                </a:solidFill>
                <a:latin typeface="Arial"/>
                <a:cs typeface="Arial"/>
              </a:rPr>
              <a:t> </a:t>
            </a:r>
            <a:r>
              <a:rPr sz="2000" b="1" dirty="0">
                <a:solidFill>
                  <a:srgbClr val="00AF50"/>
                </a:solidFill>
                <a:latin typeface="Arial"/>
                <a:cs typeface="Arial"/>
              </a:rPr>
              <a:t>low</a:t>
            </a:r>
            <a:r>
              <a:rPr sz="2000" b="1" spc="-25" dirty="0">
                <a:solidFill>
                  <a:srgbClr val="00AF50"/>
                </a:solidFill>
                <a:latin typeface="Arial"/>
                <a:cs typeface="Arial"/>
              </a:rPr>
              <a:t> </a:t>
            </a:r>
            <a:r>
              <a:rPr sz="2000" b="1" spc="-10" dirty="0">
                <a:solidFill>
                  <a:srgbClr val="00AF50"/>
                </a:solidFill>
                <a:latin typeface="Arial"/>
                <a:cs typeface="Arial"/>
              </a:rPr>
              <a:t>resolution)*</a:t>
            </a:r>
            <a:endParaRPr sz="2000" dirty="0">
              <a:latin typeface="Arial"/>
              <a:cs typeface="Arial"/>
            </a:endParaRPr>
          </a:p>
        </p:txBody>
      </p:sp>
      <p:grpSp>
        <p:nvGrpSpPr>
          <p:cNvPr id="143" name="object 143"/>
          <p:cNvGrpSpPr/>
          <p:nvPr/>
        </p:nvGrpSpPr>
        <p:grpSpPr>
          <a:xfrm>
            <a:off x="6256871" y="2819268"/>
            <a:ext cx="1953895" cy="1948180"/>
            <a:chOff x="6341590" y="3359930"/>
            <a:chExt cx="1953895" cy="1948180"/>
          </a:xfrm>
        </p:grpSpPr>
        <p:pic>
          <p:nvPicPr>
            <p:cNvPr id="144" name="object 144"/>
            <p:cNvPicPr/>
            <p:nvPr/>
          </p:nvPicPr>
          <p:blipFill>
            <a:blip r:embed="rId5" cstate="print"/>
            <a:stretch>
              <a:fillRect/>
            </a:stretch>
          </p:blipFill>
          <p:spPr>
            <a:xfrm>
              <a:off x="6347876" y="3366221"/>
              <a:ext cx="1935837" cy="1935864"/>
            </a:xfrm>
            <a:prstGeom prst="rect">
              <a:avLst/>
            </a:prstGeom>
          </p:spPr>
        </p:pic>
        <p:sp>
          <p:nvSpPr>
            <p:cNvPr id="145" name="object 145"/>
            <p:cNvSpPr/>
            <p:nvPr/>
          </p:nvSpPr>
          <p:spPr>
            <a:xfrm>
              <a:off x="6342225"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46" name="object 146"/>
            <p:cNvSpPr/>
            <p:nvPr/>
          </p:nvSpPr>
          <p:spPr>
            <a:xfrm>
              <a:off x="8286510" y="530490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47" name="object 147"/>
            <p:cNvSpPr/>
            <p:nvPr/>
          </p:nvSpPr>
          <p:spPr>
            <a:xfrm>
              <a:off x="6342225" y="336056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48" name="object 148"/>
            <p:cNvSpPr/>
            <p:nvPr/>
          </p:nvSpPr>
          <p:spPr>
            <a:xfrm>
              <a:off x="8286510" y="3363372"/>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49" name="object 149"/>
            <p:cNvSpPr/>
            <p:nvPr/>
          </p:nvSpPr>
          <p:spPr>
            <a:xfrm>
              <a:off x="8283699"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50" name="object 150"/>
            <p:cNvSpPr/>
            <p:nvPr/>
          </p:nvSpPr>
          <p:spPr>
            <a:xfrm>
              <a:off x="8286510" y="530490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51" name="object 151"/>
            <p:cNvSpPr/>
            <p:nvPr/>
          </p:nvSpPr>
          <p:spPr>
            <a:xfrm>
              <a:off x="6342225"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52" name="object 152"/>
            <p:cNvSpPr/>
            <p:nvPr/>
          </p:nvSpPr>
          <p:spPr>
            <a:xfrm>
              <a:off x="6345051"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53" name="object 153"/>
            <p:cNvSpPr/>
            <p:nvPr/>
          </p:nvSpPr>
          <p:spPr>
            <a:xfrm>
              <a:off x="6342225"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54" name="object 154"/>
            <p:cNvSpPr/>
            <p:nvPr/>
          </p:nvSpPr>
          <p:spPr>
            <a:xfrm>
              <a:off x="8286510" y="530490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55" name="object 155"/>
            <p:cNvSpPr/>
            <p:nvPr/>
          </p:nvSpPr>
          <p:spPr>
            <a:xfrm>
              <a:off x="6342225" y="336056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56" name="object 156"/>
            <p:cNvSpPr/>
            <p:nvPr/>
          </p:nvSpPr>
          <p:spPr>
            <a:xfrm>
              <a:off x="6345051"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57" name="object 157"/>
            <p:cNvSpPr/>
            <p:nvPr/>
          </p:nvSpPr>
          <p:spPr>
            <a:xfrm>
              <a:off x="6715669"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58" name="object 158"/>
            <p:cNvSpPr/>
            <p:nvPr/>
          </p:nvSpPr>
          <p:spPr>
            <a:xfrm>
              <a:off x="6718552" y="528231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59" name="object 159"/>
            <p:cNvSpPr/>
            <p:nvPr/>
          </p:nvSpPr>
          <p:spPr>
            <a:xfrm>
              <a:off x="6715669"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60" name="object 160"/>
            <p:cNvSpPr/>
            <p:nvPr/>
          </p:nvSpPr>
          <p:spPr>
            <a:xfrm>
              <a:off x="6718552" y="338618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61" name="object 161"/>
            <p:cNvSpPr/>
            <p:nvPr/>
          </p:nvSpPr>
          <p:spPr>
            <a:xfrm>
              <a:off x="7083693"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62" name="object 162"/>
            <p:cNvSpPr/>
            <p:nvPr/>
          </p:nvSpPr>
          <p:spPr>
            <a:xfrm>
              <a:off x="7086504" y="528231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63" name="object 163"/>
            <p:cNvSpPr/>
            <p:nvPr/>
          </p:nvSpPr>
          <p:spPr>
            <a:xfrm>
              <a:off x="7083693"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64" name="object 164"/>
            <p:cNvSpPr/>
            <p:nvPr/>
          </p:nvSpPr>
          <p:spPr>
            <a:xfrm>
              <a:off x="7086504" y="338618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65" name="object 165"/>
            <p:cNvSpPr/>
            <p:nvPr/>
          </p:nvSpPr>
          <p:spPr>
            <a:xfrm>
              <a:off x="7457339"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66" name="object 166"/>
            <p:cNvSpPr/>
            <p:nvPr/>
          </p:nvSpPr>
          <p:spPr>
            <a:xfrm>
              <a:off x="7460150" y="528231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67" name="object 167"/>
            <p:cNvSpPr/>
            <p:nvPr/>
          </p:nvSpPr>
          <p:spPr>
            <a:xfrm>
              <a:off x="7457339"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68" name="object 168"/>
            <p:cNvSpPr/>
            <p:nvPr/>
          </p:nvSpPr>
          <p:spPr>
            <a:xfrm>
              <a:off x="7460150" y="338618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69" name="object 169"/>
            <p:cNvSpPr/>
            <p:nvPr/>
          </p:nvSpPr>
          <p:spPr>
            <a:xfrm>
              <a:off x="7830769"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70" name="object 170"/>
            <p:cNvSpPr/>
            <p:nvPr/>
          </p:nvSpPr>
          <p:spPr>
            <a:xfrm>
              <a:off x="7833580" y="5282319"/>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71" name="object 171"/>
            <p:cNvSpPr/>
            <p:nvPr/>
          </p:nvSpPr>
          <p:spPr>
            <a:xfrm>
              <a:off x="7830769"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72" name="object 172"/>
            <p:cNvSpPr/>
            <p:nvPr/>
          </p:nvSpPr>
          <p:spPr>
            <a:xfrm>
              <a:off x="7833580" y="3386182"/>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73" name="object 173"/>
            <p:cNvSpPr/>
            <p:nvPr/>
          </p:nvSpPr>
          <p:spPr>
            <a:xfrm>
              <a:off x="8204415" y="5279498"/>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74" name="object 174"/>
            <p:cNvSpPr/>
            <p:nvPr/>
          </p:nvSpPr>
          <p:spPr>
            <a:xfrm>
              <a:off x="8207225" y="5282319"/>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75" name="object 175"/>
            <p:cNvSpPr/>
            <p:nvPr/>
          </p:nvSpPr>
          <p:spPr>
            <a:xfrm>
              <a:off x="8204415" y="336056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176" name="object 176"/>
            <p:cNvSpPr/>
            <p:nvPr/>
          </p:nvSpPr>
          <p:spPr>
            <a:xfrm>
              <a:off x="8207225" y="3386182"/>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grpSp>
      <p:sp>
        <p:nvSpPr>
          <p:cNvPr id="177" name="object 177"/>
          <p:cNvSpPr txBox="1"/>
          <p:nvPr/>
        </p:nvSpPr>
        <p:spPr>
          <a:xfrm>
            <a:off x="6895674" y="2677207"/>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sp>
        <p:nvSpPr>
          <p:cNvPr id="178" name="object 178"/>
          <p:cNvSpPr txBox="1"/>
          <p:nvPr/>
        </p:nvSpPr>
        <p:spPr>
          <a:xfrm>
            <a:off x="8050488" y="476574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250</a:t>
            </a:r>
            <a:endParaRPr sz="550">
              <a:latin typeface="Arial MT"/>
              <a:cs typeface="Arial MT"/>
            </a:endParaRPr>
          </a:p>
        </p:txBody>
      </p:sp>
      <p:grpSp>
        <p:nvGrpSpPr>
          <p:cNvPr id="179" name="object 179"/>
          <p:cNvGrpSpPr/>
          <p:nvPr/>
        </p:nvGrpSpPr>
        <p:grpSpPr>
          <a:xfrm>
            <a:off x="6257001" y="2819400"/>
            <a:ext cx="1950720" cy="1948180"/>
            <a:chOff x="6341721" y="3360062"/>
            <a:chExt cx="1950720" cy="1948180"/>
          </a:xfrm>
        </p:grpSpPr>
        <p:sp>
          <p:nvSpPr>
            <p:cNvPr id="180" name="object 180"/>
            <p:cNvSpPr/>
            <p:nvPr/>
          </p:nvSpPr>
          <p:spPr>
            <a:xfrm>
              <a:off x="6342225" y="3734167"/>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81" name="object 181"/>
            <p:cNvSpPr/>
            <p:nvPr/>
          </p:nvSpPr>
          <p:spPr>
            <a:xfrm>
              <a:off x="6367654" y="3736974"/>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82" name="object 182"/>
            <p:cNvSpPr/>
            <p:nvPr/>
          </p:nvSpPr>
          <p:spPr>
            <a:xfrm>
              <a:off x="8261139" y="3734167"/>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183" name="object 183"/>
            <p:cNvSpPr/>
            <p:nvPr/>
          </p:nvSpPr>
          <p:spPr>
            <a:xfrm>
              <a:off x="8263950" y="3736974"/>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84" name="object 184"/>
            <p:cNvSpPr/>
            <p:nvPr/>
          </p:nvSpPr>
          <p:spPr>
            <a:xfrm>
              <a:off x="6342225" y="4102084"/>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85" name="object 185"/>
            <p:cNvSpPr/>
            <p:nvPr/>
          </p:nvSpPr>
          <p:spPr>
            <a:xfrm>
              <a:off x="6367654" y="410489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86" name="object 186"/>
            <p:cNvSpPr/>
            <p:nvPr/>
          </p:nvSpPr>
          <p:spPr>
            <a:xfrm>
              <a:off x="8261139" y="4102084"/>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187" name="object 187"/>
            <p:cNvSpPr/>
            <p:nvPr/>
          </p:nvSpPr>
          <p:spPr>
            <a:xfrm>
              <a:off x="8263950" y="410489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88" name="object 188"/>
            <p:cNvSpPr/>
            <p:nvPr/>
          </p:nvSpPr>
          <p:spPr>
            <a:xfrm>
              <a:off x="6342225" y="447568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89" name="object 189"/>
            <p:cNvSpPr/>
            <p:nvPr/>
          </p:nvSpPr>
          <p:spPr>
            <a:xfrm>
              <a:off x="6367654" y="4478492"/>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90" name="object 190"/>
            <p:cNvSpPr/>
            <p:nvPr/>
          </p:nvSpPr>
          <p:spPr>
            <a:xfrm>
              <a:off x="8261139" y="4475686"/>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191" name="object 191"/>
            <p:cNvSpPr/>
            <p:nvPr/>
          </p:nvSpPr>
          <p:spPr>
            <a:xfrm>
              <a:off x="8263950" y="447849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92" name="object 192"/>
            <p:cNvSpPr/>
            <p:nvPr/>
          </p:nvSpPr>
          <p:spPr>
            <a:xfrm>
              <a:off x="6342225" y="484926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93" name="object 193"/>
            <p:cNvSpPr/>
            <p:nvPr/>
          </p:nvSpPr>
          <p:spPr>
            <a:xfrm>
              <a:off x="6367654" y="4852087"/>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94" name="object 194"/>
            <p:cNvSpPr/>
            <p:nvPr/>
          </p:nvSpPr>
          <p:spPr>
            <a:xfrm>
              <a:off x="8261139" y="4849266"/>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195" name="object 195"/>
            <p:cNvSpPr/>
            <p:nvPr/>
          </p:nvSpPr>
          <p:spPr>
            <a:xfrm>
              <a:off x="8263950" y="4852087"/>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196" name="object 196"/>
            <p:cNvSpPr/>
            <p:nvPr/>
          </p:nvSpPr>
          <p:spPr>
            <a:xfrm>
              <a:off x="6342225" y="5222854"/>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97" name="object 197"/>
            <p:cNvSpPr/>
            <p:nvPr/>
          </p:nvSpPr>
          <p:spPr>
            <a:xfrm>
              <a:off x="6367654" y="5225674"/>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98" name="object 198"/>
            <p:cNvSpPr/>
            <p:nvPr/>
          </p:nvSpPr>
          <p:spPr>
            <a:xfrm>
              <a:off x="8261139" y="5222854"/>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199" name="object 199"/>
            <p:cNvSpPr/>
            <p:nvPr/>
          </p:nvSpPr>
          <p:spPr>
            <a:xfrm>
              <a:off x="8263950" y="5225674"/>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00" name="object 200"/>
            <p:cNvSpPr/>
            <p:nvPr/>
          </p:nvSpPr>
          <p:spPr>
            <a:xfrm>
              <a:off x="6342225" y="530208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201" name="object 201"/>
            <p:cNvSpPr/>
            <p:nvPr/>
          </p:nvSpPr>
          <p:spPr>
            <a:xfrm>
              <a:off x="8286510" y="530490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202" name="object 202"/>
            <p:cNvSpPr/>
            <p:nvPr/>
          </p:nvSpPr>
          <p:spPr>
            <a:xfrm>
              <a:off x="6342225" y="3360566"/>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203" name="object 203"/>
            <p:cNvSpPr/>
            <p:nvPr/>
          </p:nvSpPr>
          <p:spPr>
            <a:xfrm>
              <a:off x="8286510" y="3363372"/>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204" name="object 204"/>
            <p:cNvSpPr/>
            <p:nvPr/>
          </p:nvSpPr>
          <p:spPr>
            <a:xfrm>
              <a:off x="8283699"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05" name="object 205"/>
            <p:cNvSpPr/>
            <p:nvPr/>
          </p:nvSpPr>
          <p:spPr>
            <a:xfrm>
              <a:off x="8286510" y="530490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206" name="object 206"/>
            <p:cNvSpPr/>
            <p:nvPr/>
          </p:nvSpPr>
          <p:spPr>
            <a:xfrm>
              <a:off x="6342225" y="3360566"/>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07" name="object 207"/>
            <p:cNvSpPr/>
            <p:nvPr/>
          </p:nvSpPr>
          <p:spPr>
            <a:xfrm>
              <a:off x="6345051" y="5304906"/>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grpSp>
      <p:sp>
        <p:nvSpPr>
          <p:cNvPr id="208" name="object 208"/>
          <p:cNvSpPr txBox="1"/>
          <p:nvPr/>
        </p:nvSpPr>
        <p:spPr>
          <a:xfrm>
            <a:off x="6511533" y="4751681"/>
            <a:ext cx="1328420" cy="443711"/>
          </a:xfrm>
          <a:prstGeom prst="rect">
            <a:avLst/>
          </a:prstGeom>
        </p:spPr>
        <p:txBody>
          <a:bodyPr vert="horz" wrap="square" lIns="0" tIns="30480" rIns="0" bIns="0" rtlCol="0">
            <a:spAutoFit/>
          </a:bodyPr>
          <a:lstStyle/>
          <a:p>
            <a:pPr marL="79375">
              <a:spcBef>
                <a:spcPts val="240"/>
              </a:spcBef>
              <a:tabLst>
                <a:tab pos="430530" algn="l"/>
                <a:tab pos="803910" algn="l"/>
                <a:tab pos="1177925" algn="l"/>
              </a:tabLst>
            </a:pPr>
            <a:r>
              <a:rPr sz="550" spc="-25" dirty="0">
                <a:latin typeface="Arial MT"/>
                <a:cs typeface="Arial MT"/>
              </a:rPr>
              <a:t>50</a:t>
            </a:r>
            <a:r>
              <a:rPr sz="550" dirty="0">
                <a:latin typeface="Arial MT"/>
                <a:cs typeface="Arial MT"/>
              </a:rPr>
              <a:t>	</a:t>
            </a:r>
            <a:r>
              <a:rPr sz="550" spc="-25" dirty="0">
                <a:latin typeface="Arial MT"/>
                <a:cs typeface="Arial MT"/>
              </a:rPr>
              <a:t>100</a:t>
            </a:r>
            <a:r>
              <a:rPr sz="550" dirty="0">
                <a:latin typeface="Arial MT"/>
                <a:cs typeface="Arial MT"/>
              </a:rPr>
              <a:t>	</a:t>
            </a:r>
            <a:r>
              <a:rPr sz="550" spc="-25" dirty="0">
                <a:latin typeface="Arial MT"/>
                <a:cs typeface="Arial MT"/>
              </a:rPr>
              <a:t>150</a:t>
            </a:r>
            <a:r>
              <a:rPr sz="550" dirty="0">
                <a:latin typeface="Arial MT"/>
                <a:cs typeface="Arial MT"/>
              </a:rPr>
              <a:t>	</a:t>
            </a:r>
            <a:r>
              <a:rPr sz="550" spc="-25" dirty="0">
                <a:latin typeface="Arial MT"/>
                <a:cs typeface="Arial MT"/>
              </a:rPr>
              <a:t>200</a:t>
            </a:r>
            <a:endParaRPr sz="550" dirty="0">
              <a:latin typeface="Arial MT"/>
              <a:cs typeface="Arial MT"/>
            </a:endParaRPr>
          </a:p>
          <a:p>
            <a:pPr marL="12700">
              <a:spcBef>
                <a:spcPts val="350"/>
              </a:spcBef>
            </a:pPr>
            <a:r>
              <a:rPr b="1" dirty="0" err="1">
                <a:solidFill>
                  <a:srgbClr val="FF0000"/>
                </a:solidFill>
                <a:latin typeface="Arial"/>
                <a:cs typeface="Arial"/>
              </a:rPr>
              <a:t>Dsensor</a:t>
            </a:r>
            <a:r>
              <a:rPr lang="en-US" b="1" dirty="0">
                <a:solidFill>
                  <a:srgbClr val="FF0000"/>
                </a:solidFill>
                <a:latin typeface="Arial"/>
                <a:cs typeface="Arial"/>
              </a:rPr>
              <a:t>: </a:t>
            </a:r>
            <a:r>
              <a:rPr b="1" spc="-50" dirty="0">
                <a:solidFill>
                  <a:srgbClr val="FF0000"/>
                </a:solidFill>
                <a:latin typeface="Arial"/>
                <a:cs typeface="Arial"/>
              </a:rPr>
              <a:t>5</a:t>
            </a:r>
            <a:endParaRPr dirty="0">
              <a:latin typeface="Arial"/>
              <a:cs typeface="Arial"/>
            </a:endParaRPr>
          </a:p>
        </p:txBody>
      </p:sp>
      <p:sp>
        <p:nvSpPr>
          <p:cNvPr id="209" name="object 209"/>
          <p:cNvSpPr txBox="1"/>
          <p:nvPr/>
        </p:nvSpPr>
        <p:spPr>
          <a:xfrm>
            <a:off x="6148577" y="3135718"/>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50</a:t>
            </a:r>
            <a:endParaRPr sz="550">
              <a:latin typeface="Arial MT"/>
              <a:cs typeface="Arial MT"/>
            </a:endParaRPr>
          </a:p>
        </p:txBody>
      </p:sp>
      <p:sp>
        <p:nvSpPr>
          <p:cNvPr id="210" name="object 210"/>
          <p:cNvSpPr txBox="1"/>
          <p:nvPr/>
        </p:nvSpPr>
        <p:spPr>
          <a:xfrm>
            <a:off x="6108841" y="3503635"/>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sp>
        <p:nvSpPr>
          <p:cNvPr id="211" name="object 211"/>
          <p:cNvSpPr txBox="1"/>
          <p:nvPr/>
        </p:nvSpPr>
        <p:spPr>
          <a:xfrm>
            <a:off x="6108841" y="3877237"/>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150</a:t>
            </a:r>
            <a:endParaRPr sz="550">
              <a:latin typeface="Arial MT"/>
              <a:cs typeface="Arial MT"/>
            </a:endParaRPr>
          </a:p>
        </p:txBody>
      </p:sp>
      <p:sp>
        <p:nvSpPr>
          <p:cNvPr id="212" name="object 212"/>
          <p:cNvSpPr txBox="1"/>
          <p:nvPr/>
        </p:nvSpPr>
        <p:spPr>
          <a:xfrm>
            <a:off x="6108841" y="425080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200</a:t>
            </a:r>
            <a:endParaRPr sz="550">
              <a:latin typeface="Arial MT"/>
              <a:cs typeface="Arial MT"/>
            </a:endParaRPr>
          </a:p>
        </p:txBody>
      </p:sp>
      <p:sp>
        <p:nvSpPr>
          <p:cNvPr id="213" name="object 213"/>
          <p:cNvSpPr txBox="1"/>
          <p:nvPr/>
        </p:nvSpPr>
        <p:spPr>
          <a:xfrm>
            <a:off x="813018" y="4897681"/>
            <a:ext cx="1580515" cy="289823"/>
          </a:xfrm>
          <a:prstGeom prst="rect">
            <a:avLst/>
          </a:prstGeom>
        </p:spPr>
        <p:txBody>
          <a:bodyPr vert="horz" wrap="square" lIns="0" tIns="12700" rIns="0" bIns="0" rtlCol="0">
            <a:spAutoFit/>
          </a:bodyPr>
          <a:lstStyle/>
          <a:p>
            <a:pPr marL="12700">
              <a:spcBef>
                <a:spcPts val="100"/>
              </a:spcBef>
              <a:tabLst>
                <a:tab pos="1053465" algn="l"/>
              </a:tabLst>
            </a:pPr>
            <a:r>
              <a:rPr b="1" spc="-10" dirty="0" err="1">
                <a:solidFill>
                  <a:srgbClr val="FF0000"/>
                </a:solidFill>
                <a:latin typeface="Arial"/>
                <a:cs typeface="Arial"/>
              </a:rPr>
              <a:t>Dsensor</a:t>
            </a:r>
            <a:r>
              <a:rPr lang="en-US" b="1" spc="-10" dirty="0">
                <a:solidFill>
                  <a:srgbClr val="FF0000"/>
                </a:solidFill>
                <a:latin typeface="Arial"/>
                <a:cs typeface="Arial"/>
              </a:rPr>
              <a:t>:</a:t>
            </a:r>
            <a:r>
              <a:rPr b="1" dirty="0">
                <a:solidFill>
                  <a:srgbClr val="FF0000"/>
                </a:solidFill>
                <a:latin typeface="Arial"/>
                <a:cs typeface="Arial"/>
              </a:rPr>
              <a:t> </a:t>
            </a:r>
            <a:r>
              <a:rPr b="1" spc="-25" dirty="0">
                <a:solidFill>
                  <a:srgbClr val="FF0000"/>
                </a:solidFill>
                <a:latin typeface="Arial"/>
                <a:cs typeface="Arial"/>
              </a:rPr>
              <a:t>0.5</a:t>
            </a:r>
            <a:endParaRPr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4519" y="171705"/>
            <a:ext cx="8543934" cy="1004839"/>
          </a:xfrm>
          <a:prstGeom prst="rect">
            <a:avLst/>
          </a:prstGeom>
        </p:spPr>
        <p:txBody>
          <a:bodyPr vert="horz" wrap="square" lIns="0" tIns="324561" rIns="0" bIns="0" rtlCol="0">
            <a:spAutoFit/>
          </a:bodyPr>
          <a:lstStyle/>
          <a:p>
            <a:pPr marL="1186180">
              <a:spcBef>
                <a:spcPts val="105"/>
              </a:spcBef>
            </a:pPr>
            <a:r>
              <a:rPr dirty="0"/>
              <a:t>Example</a:t>
            </a:r>
            <a:r>
              <a:rPr spc="15" dirty="0"/>
              <a:t> </a:t>
            </a:r>
            <a:r>
              <a:rPr dirty="0"/>
              <a:t>3:</a:t>
            </a:r>
            <a:r>
              <a:rPr spc="35" dirty="0"/>
              <a:t> </a:t>
            </a:r>
            <a:r>
              <a:rPr lang="en-US" spc="35" dirty="0"/>
              <a:t>F</a:t>
            </a:r>
            <a:r>
              <a:rPr dirty="0"/>
              <a:t>an</a:t>
            </a:r>
            <a:r>
              <a:rPr lang="en-US" spc="35" dirty="0"/>
              <a:t>-B</a:t>
            </a:r>
            <a:r>
              <a:rPr dirty="0"/>
              <a:t>eam</a:t>
            </a:r>
            <a:r>
              <a:rPr spc="50" dirty="0"/>
              <a:t> </a:t>
            </a:r>
            <a:r>
              <a:rPr spc="-25" dirty="0"/>
              <a:t>CT</a:t>
            </a:r>
          </a:p>
        </p:txBody>
      </p:sp>
      <p:sp>
        <p:nvSpPr>
          <p:cNvPr id="3" name="object 3"/>
          <p:cNvSpPr txBox="1"/>
          <p:nvPr/>
        </p:nvSpPr>
        <p:spPr>
          <a:xfrm>
            <a:off x="2059941" y="1624329"/>
            <a:ext cx="7317105" cy="878840"/>
          </a:xfrm>
          <a:prstGeom prst="rect">
            <a:avLst/>
          </a:prstGeom>
        </p:spPr>
        <p:txBody>
          <a:bodyPr vert="horz" wrap="square" lIns="0" tIns="12065" rIns="0" bIns="0" rtlCol="0">
            <a:spAutoFit/>
          </a:bodyPr>
          <a:lstStyle/>
          <a:p>
            <a:pPr marL="355600" marR="5080" indent="-342900">
              <a:spcBef>
                <a:spcPts val="95"/>
              </a:spcBef>
              <a:buChar char="•"/>
              <a:tabLst>
                <a:tab pos="355600" algn="l"/>
              </a:tabLst>
            </a:pPr>
            <a:r>
              <a:rPr sz="2800" dirty="0">
                <a:latin typeface="Microsoft Sans Serif"/>
                <a:cs typeface="Microsoft Sans Serif"/>
              </a:rPr>
              <a:t>What</a:t>
            </a:r>
            <a:r>
              <a:rPr sz="2800" spc="-35" dirty="0">
                <a:latin typeface="Microsoft Sans Serif"/>
                <a:cs typeface="Microsoft Sans Serif"/>
              </a:rPr>
              <a:t> </a:t>
            </a:r>
            <a:r>
              <a:rPr sz="2800" dirty="0">
                <a:latin typeface="Microsoft Sans Serif"/>
                <a:cs typeface="Microsoft Sans Serif"/>
              </a:rPr>
              <a:t>happens</a:t>
            </a:r>
            <a:r>
              <a:rPr sz="2800" spc="-15" dirty="0">
                <a:latin typeface="Microsoft Sans Serif"/>
                <a:cs typeface="Microsoft Sans Serif"/>
              </a:rPr>
              <a:t> </a:t>
            </a:r>
            <a:r>
              <a:rPr sz="2800" dirty="0">
                <a:latin typeface="Microsoft Sans Serif"/>
                <a:cs typeface="Microsoft Sans Serif"/>
              </a:rPr>
              <a:t>if</a:t>
            </a:r>
            <a:r>
              <a:rPr sz="2800" spc="-35" dirty="0">
                <a:latin typeface="Microsoft Sans Serif"/>
                <a:cs typeface="Microsoft Sans Serif"/>
              </a:rPr>
              <a:t> </a:t>
            </a:r>
            <a:r>
              <a:rPr sz="2800" dirty="0">
                <a:latin typeface="Microsoft Sans Serif"/>
                <a:cs typeface="Microsoft Sans Serif"/>
              </a:rPr>
              <a:t>you</a:t>
            </a:r>
            <a:r>
              <a:rPr sz="2800" spc="-25" dirty="0">
                <a:latin typeface="Microsoft Sans Serif"/>
                <a:cs typeface="Microsoft Sans Serif"/>
              </a:rPr>
              <a:t> </a:t>
            </a:r>
            <a:r>
              <a:rPr sz="2800" dirty="0">
                <a:latin typeface="Microsoft Sans Serif"/>
                <a:cs typeface="Microsoft Sans Serif"/>
              </a:rPr>
              <a:t>increase</a:t>
            </a:r>
            <a:r>
              <a:rPr sz="2800" spc="-20" dirty="0">
                <a:latin typeface="Microsoft Sans Serif"/>
                <a:cs typeface="Microsoft Sans Serif"/>
              </a:rPr>
              <a:t> </a:t>
            </a:r>
            <a:r>
              <a:rPr sz="2800" dirty="0">
                <a:latin typeface="Microsoft Sans Serif"/>
                <a:cs typeface="Microsoft Sans Serif"/>
              </a:rPr>
              <a:t>D</a:t>
            </a:r>
            <a:r>
              <a:rPr sz="2800" spc="-35" dirty="0">
                <a:latin typeface="Microsoft Sans Serif"/>
                <a:cs typeface="Microsoft Sans Serif"/>
              </a:rPr>
              <a:t> </a:t>
            </a:r>
            <a:r>
              <a:rPr sz="2800" dirty="0">
                <a:latin typeface="Microsoft Sans Serif"/>
                <a:cs typeface="Microsoft Sans Serif"/>
              </a:rPr>
              <a:t>in</a:t>
            </a:r>
            <a:r>
              <a:rPr sz="2800" spc="10" dirty="0">
                <a:latin typeface="Microsoft Sans Serif"/>
                <a:cs typeface="Microsoft Sans Serif"/>
              </a:rPr>
              <a:t> </a:t>
            </a:r>
            <a:r>
              <a:rPr sz="2800" b="1" dirty="0">
                <a:latin typeface="Arial"/>
                <a:cs typeface="Arial"/>
              </a:rPr>
              <a:t>Line</a:t>
            </a:r>
            <a:r>
              <a:rPr sz="2800" b="1" spc="-50" dirty="0">
                <a:latin typeface="Arial"/>
                <a:cs typeface="Arial"/>
              </a:rPr>
              <a:t> </a:t>
            </a:r>
            <a:r>
              <a:rPr sz="2800" b="1" spc="-25" dirty="0">
                <a:latin typeface="Arial"/>
                <a:cs typeface="Arial"/>
              </a:rPr>
              <a:t>28</a:t>
            </a:r>
            <a:r>
              <a:rPr sz="2800" spc="-25" dirty="0">
                <a:latin typeface="Microsoft Sans Serif"/>
                <a:cs typeface="Microsoft Sans Serif"/>
              </a:rPr>
              <a:t>? </a:t>
            </a:r>
            <a:r>
              <a:rPr sz="2800" dirty="0">
                <a:latin typeface="Microsoft Sans Serif"/>
                <a:cs typeface="Microsoft Sans Serif"/>
              </a:rPr>
              <a:t>(</a:t>
            </a:r>
            <a:r>
              <a:rPr sz="2800" dirty="0" err="1">
                <a:latin typeface="Microsoft Sans Serif"/>
                <a:cs typeface="Microsoft Sans Serif"/>
              </a:rPr>
              <a:t>Dsensor</a:t>
            </a:r>
            <a:r>
              <a:rPr sz="2800" spc="-15" dirty="0">
                <a:latin typeface="Microsoft Sans Serif"/>
                <a:cs typeface="Microsoft Sans Serif"/>
              </a:rPr>
              <a:t> </a:t>
            </a:r>
            <a:r>
              <a:rPr lang="en-US" sz="2800" dirty="0">
                <a:latin typeface="Microsoft Sans Serif"/>
                <a:cs typeface="Microsoft Sans Serif"/>
              </a:rPr>
              <a:t>equals</a:t>
            </a:r>
            <a:r>
              <a:rPr sz="2800" spc="-40" dirty="0">
                <a:latin typeface="Microsoft Sans Serif"/>
                <a:cs typeface="Microsoft Sans Serif"/>
              </a:rPr>
              <a:t> </a:t>
            </a:r>
            <a:r>
              <a:rPr sz="2800" spc="-25" dirty="0">
                <a:latin typeface="Microsoft Sans Serif"/>
                <a:cs typeface="Microsoft Sans Serif"/>
              </a:rPr>
              <a:t>1)</a:t>
            </a:r>
            <a:endParaRPr sz="2800" dirty="0">
              <a:latin typeface="Microsoft Sans Serif"/>
              <a:cs typeface="Microsoft Sans Serif"/>
            </a:endParaRPr>
          </a:p>
        </p:txBody>
      </p:sp>
      <p:grpSp>
        <p:nvGrpSpPr>
          <p:cNvPr id="4" name="object 4"/>
          <p:cNvGrpSpPr/>
          <p:nvPr/>
        </p:nvGrpSpPr>
        <p:grpSpPr>
          <a:xfrm>
            <a:off x="152400" y="2503169"/>
            <a:ext cx="8630920" cy="342265"/>
            <a:chOff x="67152" y="2705861"/>
            <a:chExt cx="8630920" cy="342265"/>
          </a:xfrm>
        </p:grpSpPr>
        <p:pic>
          <p:nvPicPr>
            <p:cNvPr id="5" name="object 5"/>
            <p:cNvPicPr/>
            <p:nvPr/>
          </p:nvPicPr>
          <p:blipFill>
            <a:blip r:embed="rId3" cstate="print"/>
            <a:stretch>
              <a:fillRect/>
            </a:stretch>
          </p:blipFill>
          <p:spPr>
            <a:xfrm>
              <a:off x="67152" y="2743199"/>
              <a:ext cx="8630633" cy="304800"/>
            </a:xfrm>
            <a:prstGeom prst="rect">
              <a:avLst/>
            </a:prstGeom>
          </p:spPr>
        </p:pic>
        <p:sp>
          <p:nvSpPr>
            <p:cNvPr id="6" name="object 6"/>
            <p:cNvSpPr/>
            <p:nvPr/>
          </p:nvSpPr>
          <p:spPr>
            <a:xfrm>
              <a:off x="4857496" y="2718561"/>
              <a:ext cx="228600" cy="304800"/>
            </a:xfrm>
            <a:custGeom>
              <a:avLst/>
              <a:gdLst/>
              <a:ahLst/>
              <a:cxnLst/>
              <a:rect l="l" t="t" r="r" b="b"/>
              <a:pathLst>
                <a:path w="228600" h="304800">
                  <a:moveTo>
                    <a:pt x="0" y="152400"/>
                  </a:moveTo>
                  <a:lnTo>
                    <a:pt x="5827" y="104217"/>
                  </a:lnTo>
                  <a:lnTo>
                    <a:pt x="22055" y="62380"/>
                  </a:lnTo>
                  <a:lnTo>
                    <a:pt x="46798" y="29394"/>
                  </a:lnTo>
                  <a:lnTo>
                    <a:pt x="78175" y="7766"/>
                  </a:lnTo>
                  <a:lnTo>
                    <a:pt x="114300" y="0"/>
                  </a:lnTo>
                  <a:lnTo>
                    <a:pt x="150424" y="7766"/>
                  </a:lnTo>
                  <a:lnTo>
                    <a:pt x="181801" y="29394"/>
                  </a:lnTo>
                  <a:lnTo>
                    <a:pt x="206544" y="62380"/>
                  </a:lnTo>
                  <a:lnTo>
                    <a:pt x="222772" y="104217"/>
                  </a:lnTo>
                  <a:lnTo>
                    <a:pt x="228600" y="152400"/>
                  </a:lnTo>
                  <a:lnTo>
                    <a:pt x="222772" y="200534"/>
                  </a:lnTo>
                  <a:lnTo>
                    <a:pt x="206544" y="242364"/>
                  </a:lnTo>
                  <a:lnTo>
                    <a:pt x="181801" y="275368"/>
                  </a:lnTo>
                  <a:lnTo>
                    <a:pt x="150424" y="297021"/>
                  </a:lnTo>
                  <a:lnTo>
                    <a:pt x="114300" y="304800"/>
                  </a:lnTo>
                  <a:lnTo>
                    <a:pt x="78175" y="297021"/>
                  </a:lnTo>
                  <a:lnTo>
                    <a:pt x="46798" y="275368"/>
                  </a:lnTo>
                  <a:lnTo>
                    <a:pt x="22055" y="242364"/>
                  </a:lnTo>
                  <a:lnTo>
                    <a:pt x="5827" y="200534"/>
                  </a:lnTo>
                  <a:lnTo>
                    <a:pt x="0" y="152400"/>
                  </a:lnTo>
                  <a:close/>
                </a:path>
              </a:pathLst>
            </a:custGeom>
            <a:ln w="25400">
              <a:solidFill>
                <a:srgbClr val="FF0000"/>
              </a:solidFill>
            </a:ln>
          </p:spPr>
          <p:txBody>
            <a:bodyPr wrap="square" lIns="0" tIns="0" rIns="0" bIns="0" rtlCol="0"/>
            <a:lstStyle/>
            <a:p>
              <a:endParaRPr/>
            </a:p>
          </p:txBody>
        </p:sp>
      </p:grpSp>
      <p:grpSp>
        <p:nvGrpSpPr>
          <p:cNvPr id="7" name="object 7"/>
          <p:cNvGrpSpPr/>
          <p:nvPr/>
        </p:nvGrpSpPr>
        <p:grpSpPr>
          <a:xfrm>
            <a:off x="6625656" y="3182789"/>
            <a:ext cx="1948180" cy="1942464"/>
            <a:chOff x="6540408" y="3385482"/>
            <a:chExt cx="1948180" cy="1942464"/>
          </a:xfrm>
        </p:grpSpPr>
        <p:pic>
          <p:nvPicPr>
            <p:cNvPr id="8" name="object 8"/>
            <p:cNvPicPr/>
            <p:nvPr/>
          </p:nvPicPr>
          <p:blipFill>
            <a:blip r:embed="rId4" cstate="print"/>
            <a:stretch>
              <a:fillRect/>
            </a:stretch>
          </p:blipFill>
          <p:spPr>
            <a:xfrm>
              <a:off x="6541043" y="3386161"/>
              <a:ext cx="1935837" cy="1935864"/>
            </a:xfrm>
            <a:prstGeom prst="rect">
              <a:avLst/>
            </a:prstGeom>
          </p:spPr>
        </p:pic>
        <p:sp>
          <p:nvSpPr>
            <p:cNvPr id="9" name="object 9"/>
            <p:cNvSpPr/>
            <p:nvPr/>
          </p:nvSpPr>
          <p:spPr>
            <a:xfrm>
              <a:off x="6541043" y="5322025"/>
              <a:ext cx="1936114" cy="0"/>
            </a:xfrm>
            <a:custGeom>
              <a:avLst/>
              <a:gdLst/>
              <a:ahLst/>
              <a:cxnLst/>
              <a:rect l="l" t="t" r="r" b="b"/>
              <a:pathLst>
                <a:path w="1936115">
                  <a:moveTo>
                    <a:pt x="0" y="0"/>
                  </a:moveTo>
                  <a:lnTo>
                    <a:pt x="1935822" y="0"/>
                  </a:lnTo>
                </a:path>
              </a:pathLst>
            </a:custGeom>
            <a:ln w="3175">
              <a:solidFill>
                <a:srgbClr val="000000"/>
              </a:solidFill>
            </a:ln>
          </p:spPr>
          <p:txBody>
            <a:bodyPr wrap="square" lIns="0" tIns="0" rIns="0" bIns="0" rtlCol="0"/>
            <a:lstStyle/>
            <a:p>
              <a:endParaRPr/>
            </a:p>
          </p:txBody>
        </p:sp>
        <p:sp>
          <p:nvSpPr>
            <p:cNvPr id="10" name="object 10"/>
            <p:cNvSpPr/>
            <p:nvPr/>
          </p:nvSpPr>
          <p:spPr>
            <a:xfrm>
              <a:off x="8479677" y="532484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1" name="object 11"/>
            <p:cNvSpPr/>
            <p:nvPr/>
          </p:nvSpPr>
          <p:spPr>
            <a:xfrm>
              <a:off x="6541043" y="3386117"/>
              <a:ext cx="1936114" cy="0"/>
            </a:xfrm>
            <a:custGeom>
              <a:avLst/>
              <a:gdLst/>
              <a:ahLst/>
              <a:cxnLst/>
              <a:rect l="l" t="t" r="r" b="b"/>
              <a:pathLst>
                <a:path w="1936115">
                  <a:moveTo>
                    <a:pt x="0" y="0"/>
                  </a:moveTo>
                  <a:lnTo>
                    <a:pt x="1935822" y="0"/>
                  </a:lnTo>
                </a:path>
              </a:pathLst>
            </a:custGeom>
            <a:ln w="3175">
              <a:solidFill>
                <a:srgbClr val="000000"/>
              </a:solidFill>
            </a:ln>
          </p:spPr>
          <p:txBody>
            <a:bodyPr wrap="square" lIns="0" tIns="0" rIns="0" bIns="0" rtlCol="0"/>
            <a:lstStyle/>
            <a:p>
              <a:endParaRPr/>
            </a:p>
          </p:txBody>
        </p:sp>
        <p:sp>
          <p:nvSpPr>
            <p:cNvPr id="12" name="object 12"/>
            <p:cNvSpPr/>
            <p:nvPr/>
          </p:nvSpPr>
          <p:spPr>
            <a:xfrm>
              <a:off x="8479677" y="338899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3" name="object 13"/>
            <p:cNvSpPr/>
            <p:nvPr/>
          </p:nvSpPr>
          <p:spPr>
            <a:xfrm>
              <a:off x="8476866" y="3386117"/>
              <a:ext cx="0" cy="1936114"/>
            </a:xfrm>
            <a:custGeom>
              <a:avLst/>
              <a:gdLst/>
              <a:ahLst/>
              <a:cxnLst/>
              <a:rect l="l" t="t" r="r" b="b"/>
              <a:pathLst>
                <a:path h="1936114">
                  <a:moveTo>
                    <a:pt x="0" y="0"/>
                  </a:moveTo>
                  <a:lnTo>
                    <a:pt x="0" y="1935907"/>
                  </a:lnTo>
                </a:path>
              </a:pathLst>
            </a:custGeom>
            <a:ln w="3175">
              <a:solidFill>
                <a:srgbClr val="000000"/>
              </a:solidFill>
            </a:ln>
          </p:spPr>
          <p:txBody>
            <a:bodyPr wrap="square" lIns="0" tIns="0" rIns="0" bIns="0" rtlCol="0"/>
            <a:lstStyle/>
            <a:p>
              <a:endParaRPr/>
            </a:p>
          </p:txBody>
        </p:sp>
        <p:sp>
          <p:nvSpPr>
            <p:cNvPr id="14" name="object 14"/>
            <p:cNvSpPr/>
            <p:nvPr/>
          </p:nvSpPr>
          <p:spPr>
            <a:xfrm>
              <a:off x="8479677" y="532484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5" name="object 15"/>
            <p:cNvSpPr/>
            <p:nvPr/>
          </p:nvSpPr>
          <p:spPr>
            <a:xfrm>
              <a:off x="6541043" y="3386117"/>
              <a:ext cx="0" cy="1936114"/>
            </a:xfrm>
            <a:custGeom>
              <a:avLst/>
              <a:gdLst/>
              <a:ahLst/>
              <a:cxnLst/>
              <a:rect l="l" t="t" r="r" b="b"/>
              <a:pathLst>
                <a:path h="1936114">
                  <a:moveTo>
                    <a:pt x="0" y="0"/>
                  </a:moveTo>
                  <a:lnTo>
                    <a:pt x="0" y="1935907"/>
                  </a:lnTo>
                </a:path>
              </a:pathLst>
            </a:custGeom>
            <a:ln w="3175">
              <a:solidFill>
                <a:srgbClr val="000000"/>
              </a:solidFill>
            </a:ln>
          </p:spPr>
          <p:txBody>
            <a:bodyPr wrap="square" lIns="0" tIns="0" rIns="0" bIns="0" rtlCol="0"/>
            <a:lstStyle/>
            <a:p>
              <a:endParaRPr/>
            </a:p>
          </p:txBody>
        </p:sp>
        <p:sp>
          <p:nvSpPr>
            <p:cNvPr id="16" name="object 16"/>
            <p:cNvSpPr/>
            <p:nvPr/>
          </p:nvSpPr>
          <p:spPr>
            <a:xfrm>
              <a:off x="6543868" y="532484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17" name="object 17"/>
            <p:cNvSpPr/>
            <p:nvPr/>
          </p:nvSpPr>
          <p:spPr>
            <a:xfrm>
              <a:off x="6541043" y="5322025"/>
              <a:ext cx="1936114" cy="0"/>
            </a:xfrm>
            <a:custGeom>
              <a:avLst/>
              <a:gdLst/>
              <a:ahLst/>
              <a:cxnLst/>
              <a:rect l="l" t="t" r="r" b="b"/>
              <a:pathLst>
                <a:path w="1936115">
                  <a:moveTo>
                    <a:pt x="0" y="0"/>
                  </a:moveTo>
                  <a:lnTo>
                    <a:pt x="1935822" y="0"/>
                  </a:lnTo>
                </a:path>
              </a:pathLst>
            </a:custGeom>
            <a:ln w="3175">
              <a:solidFill>
                <a:srgbClr val="000000"/>
              </a:solidFill>
            </a:ln>
          </p:spPr>
          <p:txBody>
            <a:bodyPr wrap="square" lIns="0" tIns="0" rIns="0" bIns="0" rtlCol="0"/>
            <a:lstStyle/>
            <a:p>
              <a:endParaRPr/>
            </a:p>
          </p:txBody>
        </p:sp>
        <p:sp>
          <p:nvSpPr>
            <p:cNvPr id="18" name="object 18"/>
            <p:cNvSpPr/>
            <p:nvPr/>
          </p:nvSpPr>
          <p:spPr>
            <a:xfrm>
              <a:off x="8479677" y="5324846"/>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19" name="object 19"/>
            <p:cNvSpPr/>
            <p:nvPr/>
          </p:nvSpPr>
          <p:spPr>
            <a:xfrm>
              <a:off x="6541043" y="3386117"/>
              <a:ext cx="0" cy="1936114"/>
            </a:xfrm>
            <a:custGeom>
              <a:avLst/>
              <a:gdLst/>
              <a:ahLst/>
              <a:cxnLst/>
              <a:rect l="l" t="t" r="r" b="b"/>
              <a:pathLst>
                <a:path h="1936114">
                  <a:moveTo>
                    <a:pt x="0" y="0"/>
                  </a:moveTo>
                  <a:lnTo>
                    <a:pt x="0" y="1935907"/>
                  </a:lnTo>
                </a:path>
              </a:pathLst>
            </a:custGeom>
            <a:ln w="3175">
              <a:solidFill>
                <a:srgbClr val="000000"/>
              </a:solidFill>
            </a:ln>
          </p:spPr>
          <p:txBody>
            <a:bodyPr wrap="square" lIns="0" tIns="0" rIns="0" bIns="0" rtlCol="0"/>
            <a:lstStyle/>
            <a:p>
              <a:endParaRPr/>
            </a:p>
          </p:txBody>
        </p:sp>
        <p:sp>
          <p:nvSpPr>
            <p:cNvPr id="20" name="object 20"/>
            <p:cNvSpPr/>
            <p:nvPr/>
          </p:nvSpPr>
          <p:spPr>
            <a:xfrm>
              <a:off x="6543868" y="532484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1" name="object 21"/>
            <p:cNvSpPr/>
            <p:nvPr/>
          </p:nvSpPr>
          <p:spPr>
            <a:xfrm>
              <a:off x="6914530"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2" name="object 22"/>
            <p:cNvSpPr/>
            <p:nvPr/>
          </p:nvSpPr>
          <p:spPr>
            <a:xfrm>
              <a:off x="6917341"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3" name="object 23"/>
            <p:cNvSpPr/>
            <p:nvPr/>
          </p:nvSpPr>
          <p:spPr>
            <a:xfrm>
              <a:off x="6914530"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24" name="object 24"/>
            <p:cNvSpPr/>
            <p:nvPr/>
          </p:nvSpPr>
          <p:spPr>
            <a:xfrm>
              <a:off x="6917341"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5" name="object 25"/>
            <p:cNvSpPr/>
            <p:nvPr/>
          </p:nvSpPr>
          <p:spPr>
            <a:xfrm>
              <a:off x="7305114"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6" name="object 26"/>
            <p:cNvSpPr/>
            <p:nvPr/>
          </p:nvSpPr>
          <p:spPr>
            <a:xfrm>
              <a:off x="7307925"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7" name="object 27"/>
            <p:cNvSpPr/>
            <p:nvPr/>
          </p:nvSpPr>
          <p:spPr>
            <a:xfrm>
              <a:off x="7305114"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28" name="object 28"/>
            <p:cNvSpPr/>
            <p:nvPr/>
          </p:nvSpPr>
          <p:spPr>
            <a:xfrm>
              <a:off x="7307925"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9" name="object 29"/>
            <p:cNvSpPr/>
            <p:nvPr/>
          </p:nvSpPr>
          <p:spPr>
            <a:xfrm>
              <a:off x="7690076"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30" name="object 30"/>
            <p:cNvSpPr/>
            <p:nvPr/>
          </p:nvSpPr>
          <p:spPr>
            <a:xfrm>
              <a:off x="7692887"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31" name="object 31"/>
            <p:cNvSpPr/>
            <p:nvPr/>
          </p:nvSpPr>
          <p:spPr>
            <a:xfrm>
              <a:off x="7690076"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32" name="object 32"/>
            <p:cNvSpPr/>
            <p:nvPr/>
          </p:nvSpPr>
          <p:spPr>
            <a:xfrm>
              <a:off x="7692887"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33" name="object 33"/>
            <p:cNvSpPr/>
            <p:nvPr/>
          </p:nvSpPr>
          <p:spPr>
            <a:xfrm>
              <a:off x="8074966"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34" name="object 34"/>
            <p:cNvSpPr/>
            <p:nvPr/>
          </p:nvSpPr>
          <p:spPr>
            <a:xfrm>
              <a:off x="8077777" y="5302258"/>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35" name="object 35"/>
            <p:cNvSpPr/>
            <p:nvPr/>
          </p:nvSpPr>
          <p:spPr>
            <a:xfrm>
              <a:off x="8074966"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36" name="object 36"/>
            <p:cNvSpPr/>
            <p:nvPr/>
          </p:nvSpPr>
          <p:spPr>
            <a:xfrm>
              <a:off x="8077777" y="3406121"/>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grpSp>
      <p:sp>
        <p:nvSpPr>
          <p:cNvPr id="37" name="object 37"/>
          <p:cNvSpPr txBox="1"/>
          <p:nvPr/>
        </p:nvSpPr>
        <p:spPr>
          <a:xfrm>
            <a:off x="7258809" y="3040799"/>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sp>
        <p:nvSpPr>
          <p:cNvPr id="38" name="object 38"/>
          <p:cNvSpPr txBox="1"/>
          <p:nvPr/>
        </p:nvSpPr>
        <p:spPr>
          <a:xfrm>
            <a:off x="8107801" y="5123651"/>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80</a:t>
            </a:r>
            <a:endParaRPr sz="550">
              <a:latin typeface="Arial MT"/>
              <a:cs typeface="Arial MT"/>
            </a:endParaRPr>
          </a:p>
        </p:txBody>
      </p:sp>
      <p:grpSp>
        <p:nvGrpSpPr>
          <p:cNvPr id="39" name="object 39"/>
          <p:cNvGrpSpPr/>
          <p:nvPr/>
        </p:nvGrpSpPr>
        <p:grpSpPr>
          <a:xfrm>
            <a:off x="8550164" y="3182790"/>
            <a:ext cx="12065" cy="1937385"/>
            <a:chOff x="8464915" y="3385482"/>
            <a:chExt cx="12065" cy="1937385"/>
          </a:xfrm>
        </p:grpSpPr>
        <p:sp>
          <p:nvSpPr>
            <p:cNvPr id="40" name="object 40"/>
            <p:cNvSpPr/>
            <p:nvPr/>
          </p:nvSpPr>
          <p:spPr>
            <a:xfrm>
              <a:off x="8465550"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41" name="object 41"/>
            <p:cNvSpPr/>
            <p:nvPr/>
          </p:nvSpPr>
          <p:spPr>
            <a:xfrm>
              <a:off x="8468433"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42" name="object 42"/>
            <p:cNvSpPr/>
            <p:nvPr/>
          </p:nvSpPr>
          <p:spPr>
            <a:xfrm>
              <a:off x="8465550"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43" name="object 43"/>
            <p:cNvSpPr/>
            <p:nvPr/>
          </p:nvSpPr>
          <p:spPr>
            <a:xfrm>
              <a:off x="8468433"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grpSp>
      <p:sp>
        <p:nvSpPr>
          <p:cNvPr id="44" name="object 44"/>
          <p:cNvSpPr txBox="1"/>
          <p:nvPr/>
        </p:nvSpPr>
        <p:spPr>
          <a:xfrm>
            <a:off x="8481447" y="5123651"/>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grpSp>
        <p:nvGrpSpPr>
          <p:cNvPr id="45" name="object 45"/>
          <p:cNvGrpSpPr/>
          <p:nvPr/>
        </p:nvGrpSpPr>
        <p:grpSpPr>
          <a:xfrm>
            <a:off x="6625788" y="3182920"/>
            <a:ext cx="1945005" cy="1942464"/>
            <a:chOff x="6540539" y="3385613"/>
            <a:chExt cx="1945005" cy="1942464"/>
          </a:xfrm>
        </p:grpSpPr>
        <p:sp>
          <p:nvSpPr>
            <p:cNvPr id="46" name="object 46"/>
            <p:cNvSpPr/>
            <p:nvPr/>
          </p:nvSpPr>
          <p:spPr>
            <a:xfrm>
              <a:off x="6541044" y="3567377"/>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47" name="object 47"/>
            <p:cNvSpPr/>
            <p:nvPr/>
          </p:nvSpPr>
          <p:spPr>
            <a:xfrm>
              <a:off x="6560821" y="3570184"/>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48" name="object 48"/>
            <p:cNvSpPr/>
            <p:nvPr/>
          </p:nvSpPr>
          <p:spPr>
            <a:xfrm>
              <a:off x="8454306" y="3567377"/>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49" name="object 49"/>
            <p:cNvSpPr/>
            <p:nvPr/>
          </p:nvSpPr>
          <p:spPr>
            <a:xfrm>
              <a:off x="8457117" y="3570184"/>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50" name="object 50"/>
            <p:cNvSpPr/>
            <p:nvPr/>
          </p:nvSpPr>
          <p:spPr>
            <a:xfrm>
              <a:off x="6541044" y="3759719"/>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51" name="object 51"/>
            <p:cNvSpPr/>
            <p:nvPr/>
          </p:nvSpPr>
          <p:spPr>
            <a:xfrm>
              <a:off x="6560821" y="376252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52" name="object 52"/>
            <p:cNvSpPr/>
            <p:nvPr/>
          </p:nvSpPr>
          <p:spPr>
            <a:xfrm>
              <a:off x="8454306" y="3759719"/>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53" name="object 53"/>
            <p:cNvSpPr/>
            <p:nvPr/>
          </p:nvSpPr>
          <p:spPr>
            <a:xfrm>
              <a:off x="8457117" y="3762525"/>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54" name="object 54"/>
            <p:cNvSpPr/>
            <p:nvPr/>
          </p:nvSpPr>
          <p:spPr>
            <a:xfrm>
              <a:off x="6541044" y="3952276"/>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55" name="object 55"/>
            <p:cNvSpPr/>
            <p:nvPr/>
          </p:nvSpPr>
          <p:spPr>
            <a:xfrm>
              <a:off x="6560821" y="3955083"/>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56" name="object 56"/>
            <p:cNvSpPr/>
            <p:nvPr/>
          </p:nvSpPr>
          <p:spPr>
            <a:xfrm>
              <a:off x="8454306" y="3952276"/>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57" name="object 57"/>
            <p:cNvSpPr/>
            <p:nvPr/>
          </p:nvSpPr>
          <p:spPr>
            <a:xfrm>
              <a:off x="8457117" y="3955083"/>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58" name="object 58"/>
            <p:cNvSpPr/>
            <p:nvPr/>
          </p:nvSpPr>
          <p:spPr>
            <a:xfrm>
              <a:off x="6541044" y="4150446"/>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59" name="object 59"/>
            <p:cNvSpPr/>
            <p:nvPr/>
          </p:nvSpPr>
          <p:spPr>
            <a:xfrm>
              <a:off x="6560821" y="4153253"/>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60" name="object 60"/>
            <p:cNvSpPr/>
            <p:nvPr/>
          </p:nvSpPr>
          <p:spPr>
            <a:xfrm>
              <a:off x="8454306" y="4150446"/>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61" name="object 61"/>
            <p:cNvSpPr/>
            <p:nvPr/>
          </p:nvSpPr>
          <p:spPr>
            <a:xfrm>
              <a:off x="8457117" y="4153253"/>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62" name="object 62"/>
            <p:cNvSpPr/>
            <p:nvPr/>
          </p:nvSpPr>
          <p:spPr>
            <a:xfrm>
              <a:off x="6541044" y="4342788"/>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63" name="object 63"/>
            <p:cNvSpPr/>
            <p:nvPr/>
          </p:nvSpPr>
          <p:spPr>
            <a:xfrm>
              <a:off x="6560821" y="4345594"/>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64" name="object 64"/>
            <p:cNvSpPr/>
            <p:nvPr/>
          </p:nvSpPr>
          <p:spPr>
            <a:xfrm>
              <a:off x="8454306" y="4342788"/>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65" name="object 65"/>
            <p:cNvSpPr/>
            <p:nvPr/>
          </p:nvSpPr>
          <p:spPr>
            <a:xfrm>
              <a:off x="8457117" y="4345594"/>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66" name="object 66"/>
            <p:cNvSpPr/>
            <p:nvPr/>
          </p:nvSpPr>
          <p:spPr>
            <a:xfrm>
              <a:off x="6541044" y="4535345"/>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67" name="object 67"/>
            <p:cNvSpPr/>
            <p:nvPr/>
          </p:nvSpPr>
          <p:spPr>
            <a:xfrm>
              <a:off x="6560821" y="4538152"/>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68" name="object 68"/>
            <p:cNvSpPr/>
            <p:nvPr/>
          </p:nvSpPr>
          <p:spPr>
            <a:xfrm>
              <a:off x="8454306" y="4535345"/>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69" name="object 69"/>
            <p:cNvSpPr/>
            <p:nvPr/>
          </p:nvSpPr>
          <p:spPr>
            <a:xfrm>
              <a:off x="8457117" y="4538152"/>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70" name="object 70"/>
            <p:cNvSpPr/>
            <p:nvPr/>
          </p:nvSpPr>
          <p:spPr>
            <a:xfrm>
              <a:off x="6541044" y="4727687"/>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71" name="object 71"/>
            <p:cNvSpPr/>
            <p:nvPr/>
          </p:nvSpPr>
          <p:spPr>
            <a:xfrm>
              <a:off x="6560821" y="4730493"/>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72" name="object 72"/>
            <p:cNvSpPr/>
            <p:nvPr/>
          </p:nvSpPr>
          <p:spPr>
            <a:xfrm>
              <a:off x="8454306" y="4727687"/>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73" name="object 73"/>
            <p:cNvSpPr/>
            <p:nvPr/>
          </p:nvSpPr>
          <p:spPr>
            <a:xfrm>
              <a:off x="8457117" y="4730493"/>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74" name="object 74"/>
            <p:cNvSpPr/>
            <p:nvPr/>
          </p:nvSpPr>
          <p:spPr>
            <a:xfrm>
              <a:off x="6541044" y="4920201"/>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75" name="object 75"/>
            <p:cNvSpPr/>
            <p:nvPr/>
          </p:nvSpPr>
          <p:spPr>
            <a:xfrm>
              <a:off x="6560821" y="4923029"/>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76" name="object 76"/>
            <p:cNvSpPr/>
            <p:nvPr/>
          </p:nvSpPr>
          <p:spPr>
            <a:xfrm>
              <a:off x="8454306" y="4920201"/>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77" name="object 77"/>
            <p:cNvSpPr/>
            <p:nvPr/>
          </p:nvSpPr>
          <p:spPr>
            <a:xfrm>
              <a:off x="8457117" y="492302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78" name="object 78"/>
            <p:cNvSpPr/>
            <p:nvPr/>
          </p:nvSpPr>
          <p:spPr>
            <a:xfrm>
              <a:off x="6541044" y="5118379"/>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79" name="object 79"/>
            <p:cNvSpPr/>
            <p:nvPr/>
          </p:nvSpPr>
          <p:spPr>
            <a:xfrm>
              <a:off x="6560821" y="5121199"/>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80" name="object 80"/>
            <p:cNvSpPr/>
            <p:nvPr/>
          </p:nvSpPr>
          <p:spPr>
            <a:xfrm>
              <a:off x="8454306" y="5118379"/>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81" name="object 81"/>
            <p:cNvSpPr/>
            <p:nvPr/>
          </p:nvSpPr>
          <p:spPr>
            <a:xfrm>
              <a:off x="8457117" y="5121199"/>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82" name="object 82"/>
            <p:cNvSpPr/>
            <p:nvPr/>
          </p:nvSpPr>
          <p:spPr>
            <a:xfrm>
              <a:off x="6541044" y="5310727"/>
              <a:ext cx="17145" cy="0"/>
            </a:xfrm>
            <a:custGeom>
              <a:avLst/>
              <a:gdLst/>
              <a:ahLst/>
              <a:cxnLst/>
              <a:rect l="l" t="t" r="r" b="b"/>
              <a:pathLst>
                <a:path w="17145">
                  <a:moveTo>
                    <a:pt x="0" y="0"/>
                  </a:moveTo>
                  <a:lnTo>
                    <a:pt x="16952" y="0"/>
                  </a:lnTo>
                </a:path>
              </a:pathLst>
            </a:custGeom>
            <a:ln w="3175">
              <a:solidFill>
                <a:srgbClr val="000000"/>
              </a:solidFill>
            </a:ln>
          </p:spPr>
          <p:txBody>
            <a:bodyPr wrap="square" lIns="0" tIns="0" rIns="0" bIns="0" rtlCol="0"/>
            <a:lstStyle/>
            <a:p>
              <a:endParaRPr/>
            </a:p>
          </p:txBody>
        </p:sp>
        <p:sp>
          <p:nvSpPr>
            <p:cNvPr id="83" name="object 83"/>
            <p:cNvSpPr/>
            <p:nvPr/>
          </p:nvSpPr>
          <p:spPr>
            <a:xfrm>
              <a:off x="6560821" y="531355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84" name="object 84"/>
            <p:cNvSpPr/>
            <p:nvPr/>
          </p:nvSpPr>
          <p:spPr>
            <a:xfrm>
              <a:off x="8454306" y="5310727"/>
              <a:ext cx="22860" cy="0"/>
            </a:xfrm>
            <a:custGeom>
              <a:avLst/>
              <a:gdLst/>
              <a:ahLst/>
              <a:cxnLst/>
              <a:rect l="l" t="t" r="r" b="b"/>
              <a:pathLst>
                <a:path w="22859">
                  <a:moveTo>
                    <a:pt x="22560" y="0"/>
                  </a:moveTo>
                  <a:lnTo>
                    <a:pt x="0" y="0"/>
                  </a:lnTo>
                </a:path>
              </a:pathLst>
            </a:custGeom>
            <a:ln w="3175">
              <a:solidFill>
                <a:srgbClr val="000000"/>
              </a:solidFill>
            </a:ln>
          </p:spPr>
          <p:txBody>
            <a:bodyPr wrap="square" lIns="0" tIns="0" rIns="0" bIns="0" rtlCol="0"/>
            <a:lstStyle/>
            <a:p>
              <a:endParaRPr/>
            </a:p>
          </p:txBody>
        </p:sp>
        <p:sp>
          <p:nvSpPr>
            <p:cNvPr id="85" name="object 85"/>
            <p:cNvSpPr/>
            <p:nvPr/>
          </p:nvSpPr>
          <p:spPr>
            <a:xfrm>
              <a:off x="8457117" y="5313555"/>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86" name="object 86"/>
            <p:cNvSpPr/>
            <p:nvPr/>
          </p:nvSpPr>
          <p:spPr>
            <a:xfrm>
              <a:off x="6541044" y="5322024"/>
              <a:ext cx="1936114" cy="0"/>
            </a:xfrm>
            <a:custGeom>
              <a:avLst/>
              <a:gdLst/>
              <a:ahLst/>
              <a:cxnLst/>
              <a:rect l="l" t="t" r="r" b="b"/>
              <a:pathLst>
                <a:path w="1936115">
                  <a:moveTo>
                    <a:pt x="0" y="0"/>
                  </a:moveTo>
                  <a:lnTo>
                    <a:pt x="1935822" y="0"/>
                  </a:lnTo>
                </a:path>
              </a:pathLst>
            </a:custGeom>
            <a:ln w="3175">
              <a:solidFill>
                <a:srgbClr val="000000"/>
              </a:solidFill>
            </a:ln>
          </p:spPr>
          <p:txBody>
            <a:bodyPr wrap="square" lIns="0" tIns="0" rIns="0" bIns="0" rtlCol="0"/>
            <a:lstStyle/>
            <a:p>
              <a:endParaRPr/>
            </a:p>
          </p:txBody>
        </p:sp>
        <p:sp>
          <p:nvSpPr>
            <p:cNvPr id="87" name="object 87"/>
            <p:cNvSpPr/>
            <p:nvPr/>
          </p:nvSpPr>
          <p:spPr>
            <a:xfrm>
              <a:off x="8479677" y="5324845"/>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88" name="object 88"/>
            <p:cNvSpPr/>
            <p:nvPr/>
          </p:nvSpPr>
          <p:spPr>
            <a:xfrm>
              <a:off x="6541044" y="3386117"/>
              <a:ext cx="1936114" cy="0"/>
            </a:xfrm>
            <a:custGeom>
              <a:avLst/>
              <a:gdLst/>
              <a:ahLst/>
              <a:cxnLst/>
              <a:rect l="l" t="t" r="r" b="b"/>
              <a:pathLst>
                <a:path w="1936115">
                  <a:moveTo>
                    <a:pt x="0" y="0"/>
                  </a:moveTo>
                  <a:lnTo>
                    <a:pt x="1935822" y="0"/>
                  </a:lnTo>
                </a:path>
              </a:pathLst>
            </a:custGeom>
            <a:ln w="3175">
              <a:solidFill>
                <a:srgbClr val="000000"/>
              </a:solidFill>
            </a:ln>
          </p:spPr>
          <p:txBody>
            <a:bodyPr wrap="square" lIns="0" tIns="0" rIns="0" bIns="0" rtlCol="0"/>
            <a:lstStyle/>
            <a:p>
              <a:endParaRPr/>
            </a:p>
          </p:txBody>
        </p:sp>
        <p:sp>
          <p:nvSpPr>
            <p:cNvPr id="89" name="object 89"/>
            <p:cNvSpPr/>
            <p:nvPr/>
          </p:nvSpPr>
          <p:spPr>
            <a:xfrm>
              <a:off x="8479677" y="3388995"/>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90" name="object 90"/>
            <p:cNvSpPr/>
            <p:nvPr/>
          </p:nvSpPr>
          <p:spPr>
            <a:xfrm>
              <a:off x="8476866" y="3386117"/>
              <a:ext cx="0" cy="1936114"/>
            </a:xfrm>
            <a:custGeom>
              <a:avLst/>
              <a:gdLst/>
              <a:ahLst/>
              <a:cxnLst/>
              <a:rect l="l" t="t" r="r" b="b"/>
              <a:pathLst>
                <a:path h="1936114">
                  <a:moveTo>
                    <a:pt x="0" y="0"/>
                  </a:moveTo>
                  <a:lnTo>
                    <a:pt x="0" y="1935907"/>
                  </a:lnTo>
                </a:path>
              </a:pathLst>
            </a:custGeom>
            <a:ln w="3175">
              <a:solidFill>
                <a:srgbClr val="000000"/>
              </a:solidFill>
            </a:ln>
          </p:spPr>
          <p:txBody>
            <a:bodyPr wrap="square" lIns="0" tIns="0" rIns="0" bIns="0" rtlCol="0"/>
            <a:lstStyle/>
            <a:p>
              <a:endParaRPr/>
            </a:p>
          </p:txBody>
        </p:sp>
        <p:sp>
          <p:nvSpPr>
            <p:cNvPr id="91" name="object 91"/>
            <p:cNvSpPr/>
            <p:nvPr/>
          </p:nvSpPr>
          <p:spPr>
            <a:xfrm>
              <a:off x="8479677" y="5324845"/>
              <a:ext cx="5715" cy="0"/>
            </a:xfrm>
            <a:custGeom>
              <a:avLst/>
              <a:gdLst/>
              <a:ahLst/>
              <a:cxnLst/>
              <a:rect l="l" t="t" r="r" b="b"/>
              <a:pathLst>
                <a:path w="5715">
                  <a:moveTo>
                    <a:pt x="0" y="0"/>
                  </a:moveTo>
                  <a:lnTo>
                    <a:pt x="5694" y="0"/>
                  </a:lnTo>
                </a:path>
              </a:pathLst>
            </a:custGeom>
            <a:ln w="5647">
              <a:solidFill>
                <a:srgbClr val="000000"/>
              </a:solidFill>
            </a:ln>
          </p:spPr>
          <p:txBody>
            <a:bodyPr wrap="square" lIns="0" tIns="0" rIns="0" bIns="0" rtlCol="0"/>
            <a:lstStyle/>
            <a:p>
              <a:endParaRPr/>
            </a:p>
          </p:txBody>
        </p:sp>
        <p:sp>
          <p:nvSpPr>
            <p:cNvPr id="92" name="object 92"/>
            <p:cNvSpPr/>
            <p:nvPr/>
          </p:nvSpPr>
          <p:spPr>
            <a:xfrm>
              <a:off x="6541044" y="3386117"/>
              <a:ext cx="0" cy="1936114"/>
            </a:xfrm>
            <a:custGeom>
              <a:avLst/>
              <a:gdLst/>
              <a:ahLst/>
              <a:cxnLst/>
              <a:rect l="l" t="t" r="r" b="b"/>
              <a:pathLst>
                <a:path h="1936114">
                  <a:moveTo>
                    <a:pt x="0" y="0"/>
                  </a:moveTo>
                  <a:lnTo>
                    <a:pt x="0" y="1935907"/>
                  </a:lnTo>
                </a:path>
              </a:pathLst>
            </a:custGeom>
            <a:ln w="3175">
              <a:solidFill>
                <a:srgbClr val="000000"/>
              </a:solidFill>
            </a:ln>
          </p:spPr>
          <p:txBody>
            <a:bodyPr wrap="square" lIns="0" tIns="0" rIns="0" bIns="0" rtlCol="0"/>
            <a:lstStyle/>
            <a:p>
              <a:endParaRPr/>
            </a:p>
          </p:txBody>
        </p:sp>
        <p:sp>
          <p:nvSpPr>
            <p:cNvPr id="93" name="object 93"/>
            <p:cNvSpPr/>
            <p:nvPr/>
          </p:nvSpPr>
          <p:spPr>
            <a:xfrm>
              <a:off x="6543869" y="532484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grpSp>
      <p:sp>
        <p:nvSpPr>
          <p:cNvPr id="94" name="object 94"/>
          <p:cNvSpPr txBox="1"/>
          <p:nvPr/>
        </p:nvSpPr>
        <p:spPr>
          <a:xfrm>
            <a:off x="6947508" y="5087772"/>
            <a:ext cx="1007110" cy="537326"/>
          </a:xfrm>
          <a:prstGeom prst="rect">
            <a:avLst/>
          </a:prstGeom>
        </p:spPr>
        <p:txBody>
          <a:bodyPr vert="horz" wrap="square" lIns="0" tIns="52069" rIns="0" bIns="0" rtlCol="0">
            <a:spAutoFit/>
          </a:bodyPr>
          <a:lstStyle/>
          <a:p>
            <a:pPr marL="12700">
              <a:spcBef>
                <a:spcPts val="409"/>
              </a:spcBef>
              <a:tabLst>
                <a:tab pos="403225" algn="l"/>
                <a:tab pos="788035" algn="l"/>
              </a:tabLst>
            </a:pPr>
            <a:r>
              <a:rPr sz="550" spc="-25" dirty="0">
                <a:latin typeface="Arial MT"/>
                <a:cs typeface="Arial MT"/>
              </a:rPr>
              <a:t>20</a:t>
            </a:r>
            <a:r>
              <a:rPr sz="550" dirty="0">
                <a:latin typeface="Arial MT"/>
                <a:cs typeface="Arial MT"/>
              </a:rPr>
              <a:t>	</a:t>
            </a:r>
            <a:r>
              <a:rPr sz="550" spc="-25" dirty="0">
                <a:latin typeface="Arial MT"/>
                <a:cs typeface="Arial MT"/>
              </a:rPr>
              <a:t>40</a:t>
            </a:r>
            <a:r>
              <a:rPr sz="550" dirty="0">
                <a:latin typeface="Arial MT"/>
                <a:cs typeface="Arial MT"/>
              </a:rPr>
              <a:t>	</a:t>
            </a:r>
            <a:r>
              <a:rPr sz="550" spc="-25" dirty="0">
                <a:latin typeface="Arial MT"/>
                <a:cs typeface="Arial MT"/>
              </a:rPr>
              <a:t>60</a:t>
            </a:r>
            <a:endParaRPr sz="550" dirty="0">
              <a:latin typeface="Arial MT"/>
              <a:cs typeface="Arial MT"/>
            </a:endParaRPr>
          </a:p>
          <a:p>
            <a:pPr>
              <a:spcBef>
                <a:spcPts val="250"/>
              </a:spcBef>
            </a:pPr>
            <a:endParaRPr sz="550" dirty="0">
              <a:latin typeface="Arial MT"/>
              <a:cs typeface="Arial MT"/>
            </a:endParaRPr>
          </a:p>
          <a:p>
            <a:pPr marL="187960"/>
            <a:r>
              <a:rPr b="1" dirty="0">
                <a:solidFill>
                  <a:srgbClr val="FF0000"/>
                </a:solidFill>
                <a:latin typeface="Arial"/>
                <a:cs typeface="Arial"/>
              </a:rPr>
              <a:t>D</a:t>
            </a:r>
            <a:r>
              <a:rPr lang="en-US" b="1" spc="-15" dirty="0">
                <a:solidFill>
                  <a:srgbClr val="FF0000"/>
                </a:solidFill>
                <a:latin typeface="Arial"/>
                <a:cs typeface="Arial"/>
              </a:rPr>
              <a:t>: </a:t>
            </a:r>
            <a:r>
              <a:rPr b="1" spc="-25" dirty="0">
                <a:solidFill>
                  <a:srgbClr val="FF0000"/>
                </a:solidFill>
                <a:latin typeface="Arial"/>
                <a:cs typeface="Arial"/>
              </a:rPr>
              <a:t>500</a:t>
            </a:r>
            <a:endParaRPr dirty="0">
              <a:latin typeface="Arial"/>
              <a:cs typeface="Arial"/>
            </a:endParaRPr>
          </a:p>
        </p:txBody>
      </p:sp>
      <p:sp>
        <p:nvSpPr>
          <p:cNvPr id="95" name="object 95"/>
          <p:cNvSpPr txBox="1"/>
          <p:nvPr/>
        </p:nvSpPr>
        <p:spPr>
          <a:xfrm>
            <a:off x="6511712" y="3306681"/>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a:t>
            </a:r>
            <a:endParaRPr sz="550">
              <a:latin typeface="Arial MT"/>
              <a:cs typeface="Arial MT"/>
            </a:endParaRPr>
          </a:p>
        </p:txBody>
      </p:sp>
      <p:sp>
        <p:nvSpPr>
          <p:cNvPr id="96" name="object 96"/>
          <p:cNvSpPr txBox="1"/>
          <p:nvPr/>
        </p:nvSpPr>
        <p:spPr>
          <a:xfrm>
            <a:off x="6511712" y="3499239"/>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a:t>
            </a:r>
            <a:endParaRPr sz="550">
              <a:latin typeface="Arial MT"/>
              <a:cs typeface="Arial MT"/>
            </a:endParaRPr>
          </a:p>
        </p:txBody>
      </p:sp>
      <p:sp>
        <p:nvSpPr>
          <p:cNvPr id="97" name="object 97"/>
          <p:cNvSpPr txBox="1"/>
          <p:nvPr/>
        </p:nvSpPr>
        <p:spPr>
          <a:xfrm>
            <a:off x="6511712" y="3691580"/>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30</a:t>
            </a:r>
            <a:endParaRPr sz="550">
              <a:latin typeface="Arial MT"/>
              <a:cs typeface="Arial MT"/>
            </a:endParaRPr>
          </a:p>
        </p:txBody>
      </p:sp>
      <p:sp>
        <p:nvSpPr>
          <p:cNvPr id="98" name="object 98"/>
          <p:cNvSpPr txBox="1"/>
          <p:nvPr/>
        </p:nvSpPr>
        <p:spPr>
          <a:xfrm>
            <a:off x="6511712" y="3889750"/>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40</a:t>
            </a:r>
            <a:endParaRPr sz="550">
              <a:latin typeface="Arial MT"/>
              <a:cs typeface="Arial MT"/>
            </a:endParaRPr>
          </a:p>
        </p:txBody>
      </p:sp>
      <p:sp>
        <p:nvSpPr>
          <p:cNvPr id="99" name="object 99"/>
          <p:cNvSpPr txBox="1"/>
          <p:nvPr/>
        </p:nvSpPr>
        <p:spPr>
          <a:xfrm>
            <a:off x="6511712" y="4082308"/>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50</a:t>
            </a:r>
            <a:endParaRPr sz="550">
              <a:latin typeface="Arial MT"/>
              <a:cs typeface="Arial MT"/>
            </a:endParaRPr>
          </a:p>
        </p:txBody>
      </p:sp>
      <p:sp>
        <p:nvSpPr>
          <p:cNvPr id="100" name="object 100"/>
          <p:cNvSpPr txBox="1"/>
          <p:nvPr/>
        </p:nvSpPr>
        <p:spPr>
          <a:xfrm>
            <a:off x="6511712" y="4274649"/>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60</a:t>
            </a:r>
            <a:endParaRPr sz="550">
              <a:latin typeface="Arial MT"/>
              <a:cs typeface="Arial MT"/>
            </a:endParaRPr>
          </a:p>
        </p:txBody>
      </p:sp>
      <p:sp>
        <p:nvSpPr>
          <p:cNvPr id="101" name="object 101"/>
          <p:cNvSpPr txBox="1"/>
          <p:nvPr/>
        </p:nvSpPr>
        <p:spPr>
          <a:xfrm>
            <a:off x="6511712" y="4467207"/>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70</a:t>
            </a:r>
            <a:endParaRPr sz="550">
              <a:latin typeface="Arial MT"/>
              <a:cs typeface="Arial MT"/>
            </a:endParaRPr>
          </a:p>
        </p:txBody>
      </p:sp>
      <p:sp>
        <p:nvSpPr>
          <p:cNvPr id="102" name="object 102"/>
          <p:cNvSpPr txBox="1"/>
          <p:nvPr/>
        </p:nvSpPr>
        <p:spPr>
          <a:xfrm>
            <a:off x="6511712" y="4659534"/>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80</a:t>
            </a:r>
            <a:endParaRPr sz="550">
              <a:latin typeface="Arial MT"/>
              <a:cs typeface="Arial MT"/>
            </a:endParaRPr>
          </a:p>
        </p:txBody>
      </p:sp>
      <p:sp>
        <p:nvSpPr>
          <p:cNvPr id="103" name="object 103"/>
          <p:cNvSpPr txBox="1"/>
          <p:nvPr/>
        </p:nvSpPr>
        <p:spPr>
          <a:xfrm>
            <a:off x="6511712" y="4857711"/>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90</a:t>
            </a:r>
            <a:endParaRPr sz="550">
              <a:latin typeface="Arial MT"/>
              <a:cs typeface="Arial MT"/>
            </a:endParaRPr>
          </a:p>
        </p:txBody>
      </p:sp>
      <p:sp>
        <p:nvSpPr>
          <p:cNvPr id="104" name="object 104"/>
          <p:cNvSpPr txBox="1"/>
          <p:nvPr/>
        </p:nvSpPr>
        <p:spPr>
          <a:xfrm>
            <a:off x="6471976" y="5050060"/>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grpSp>
        <p:nvGrpSpPr>
          <p:cNvPr id="105" name="object 105"/>
          <p:cNvGrpSpPr/>
          <p:nvPr/>
        </p:nvGrpSpPr>
        <p:grpSpPr>
          <a:xfrm>
            <a:off x="3701546" y="3177177"/>
            <a:ext cx="1953895" cy="1948180"/>
            <a:chOff x="3616297" y="3379870"/>
            <a:chExt cx="1953895" cy="1948180"/>
          </a:xfrm>
        </p:grpSpPr>
        <p:pic>
          <p:nvPicPr>
            <p:cNvPr id="106" name="object 106"/>
            <p:cNvPicPr/>
            <p:nvPr/>
          </p:nvPicPr>
          <p:blipFill>
            <a:blip r:embed="rId5" cstate="print"/>
            <a:stretch>
              <a:fillRect/>
            </a:stretch>
          </p:blipFill>
          <p:spPr>
            <a:xfrm>
              <a:off x="3622583" y="3386160"/>
              <a:ext cx="1935837" cy="1935864"/>
            </a:xfrm>
            <a:prstGeom prst="rect">
              <a:avLst/>
            </a:prstGeom>
          </p:spPr>
        </p:pic>
        <p:sp>
          <p:nvSpPr>
            <p:cNvPr id="107" name="object 107"/>
            <p:cNvSpPr/>
            <p:nvPr/>
          </p:nvSpPr>
          <p:spPr>
            <a:xfrm>
              <a:off x="3616932" y="532202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08" name="object 108"/>
            <p:cNvSpPr/>
            <p:nvPr/>
          </p:nvSpPr>
          <p:spPr>
            <a:xfrm>
              <a:off x="5561217"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09" name="object 109"/>
            <p:cNvSpPr/>
            <p:nvPr/>
          </p:nvSpPr>
          <p:spPr>
            <a:xfrm>
              <a:off x="3616932" y="338050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10" name="object 110"/>
            <p:cNvSpPr/>
            <p:nvPr/>
          </p:nvSpPr>
          <p:spPr>
            <a:xfrm>
              <a:off x="5561217" y="338331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11" name="object 111"/>
            <p:cNvSpPr/>
            <p:nvPr/>
          </p:nvSpPr>
          <p:spPr>
            <a:xfrm>
              <a:off x="5558406"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12" name="object 112"/>
            <p:cNvSpPr/>
            <p:nvPr/>
          </p:nvSpPr>
          <p:spPr>
            <a:xfrm>
              <a:off x="5561217"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13" name="object 113"/>
            <p:cNvSpPr/>
            <p:nvPr/>
          </p:nvSpPr>
          <p:spPr>
            <a:xfrm>
              <a:off x="3616932"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14" name="object 114"/>
            <p:cNvSpPr/>
            <p:nvPr/>
          </p:nvSpPr>
          <p:spPr>
            <a:xfrm>
              <a:off x="3619758" y="5324845"/>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15" name="object 115"/>
            <p:cNvSpPr/>
            <p:nvPr/>
          </p:nvSpPr>
          <p:spPr>
            <a:xfrm>
              <a:off x="3616932" y="532202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16" name="object 116"/>
            <p:cNvSpPr/>
            <p:nvPr/>
          </p:nvSpPr>
          <p:spPr>
            <a:xfrm>
              <a:off x="5561217"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17" name="object 117"/>
            <p:cNvSpPr/>
            <p:nvPr/>
          </p:nvSpPr>
          <p:spPr>
            <a:xfrm>
              <a:off x="3616932"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18" name="object 118"/>
            <p:cNvSpPr/>
            <p:nvPr/>
          </p:nvSpPr>
          <p:spPr>
            <a:xfrm>
              <a:off x="3619758" y="5324845"/>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19" name="object 119"/>
            <p:cNvSpPr/>
            <p:nvPr/>
          </p:nvSpPr>
          <p:spPr>
            <a:xfrm>
              <a:off x="3848962"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20" name="object 120"/>
            <p:cNvSpPr/>
            <p:nvPr/>
          </p:nvSpPr>
          <p:spPr>
            <a:xfrm>
              <a:off x="3851773"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21" name="object 121"/>
            <p:cNvSpPr/>
            <p:nvPr/>
          </p:nvSpPr>
          <p:spPr>
            <a:xfrm>
              <a:off x="3848962"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22" name="object 122"/>
            <p:cNvSpPr/>
            <p:nvPr/>
          </p:nvSpPr>
          <p:spPr>
            <a:xfrm>
              <a:off x="3851773"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23" name="object 123"/>
            <p:cNvSpPr/>
            <p:nvPr/>
          </p:nvSpPr>
          <p:spPr>
            <a:xfrm>
              <a:off x="4080977"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24" name="object 124"/>
            <p:cNvSpPr/>
            <p:nvPr/>
          </p:nvSpPr>
          <p:spPr>
            <a:xfrm>
              <a:off x="4083788"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25" name="object 125"/>
            <p:cNvSpPr/>
            <p:nvPr/>
          </p:nvSpPr>
          <p:spPr>
            <a:xfrm>
              <a:off x="4080977"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26" name="object 126"/>
            <p:cNvSpPr/>
            <p:nvPr/>
          </p:nvSpPr>
          <p:spPr>
            <a:xfrm>
              <a:off x="4083788"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27" name="object 127"/>
            <p:cNvSpPr/>
            <p:nvPr/>
          </p:nvSpPr>
          <p:spPr>
            <a:xfrm>
              <a:off x="4313208"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28" name="object 128"/>
            <p:cNvSpPr/>
            <p:nvPr/>
          </p:nvSpPr>
          <p:spPr>
            <a:xfrm>
              <a:off x="4316019" y="5302258"/>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29" name="object 129"/>
            <p:cNvSpPr/>
            <p:nvPr/>
          </p:nvSpPr>
          <p:spPr>
            <a:xfrm>
              <a:off x="4313208"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30" name="object 130"/>
            <p:cNvSpPr/>
            <p:nvPr/>
          </p:nvSpPr>
          <p:spPr>
            <a:xfrm>
              <a:off x="4316019" y="340612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31" name="object 131"/>
            <p:cNvSpPr/>
            <p:nvPr/>
          </p:nvSpPr>
          <p:spPr>
            <a:xfrm>
              <a:off x="4545223"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32" name="object 132"/>
            <p:cNvSpPr/>
            <p:nvPr/>
          </p:nvSpPr>
          <p:spPr>
            <a:xfrm>
              <a:off x="4548034" y="5302258"/>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33" name="object 133"/>
            <p:cNvSpPr/>
            <p:nvPr/>
          </p:nvSpPr>
          <p:spPr>
            <a:xfrm>
              <a:off x="4545223"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34" name="object 134"/>
            <p:cNvSpPr/>
            <p:nvPr/>
          </p:nvSpPr>
          <p:spPr>
            <a:xfrm>
              <a:off x="4548034" y="340612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35" name="object 135"/>
            <p:cNvSpPr/>
            <p:nvPr/>
          </p:nvSpPr>
          <p:spPr>
            <a:xfrm>
              <a:off x="4777238"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36" name="object 136"/>
            <p:cNvSpPr/>
            <p:nvPr/>
          </p:nvSpPr>
          <p:spPr>
            <a:xfrm>
              <a:off x="4780049" y="5302258"/>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37" name="object 137"/>
            <p:cNvSpPr/>
            <p:nvPr/>
          </p:nvSpPr>
          <p:spPr>
            <a:xfrm>
              <a:off x="4777238"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38" name="object 138"/>
            <p:cNvSpPr/>
            <p:nvPr/>
          </p:nvSpPr>
          <p:spPr>
            <a:xfrm>
              <a:off x="4780049" y="340612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39" name="object 139"/>
            <p:cNvSpPr/>
            <p:nvPr/>
          </p:nvSpPr>
          <p:spPr>
            <a:xfrm>
              <a:off x="5014875"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40" name="object 140"/>
            <p:cNvSpPr/>
            <p:nvPr/>
          </p:nvSpPr>
          <p:spPr>
            <a:xfrm>
              <a:off x="5017758" y="5302258"/>
              <a:ext cx="6350" cy="0"/>
            </a:xfrm>
            <a:custGeom>
              <a:avLst/>
              <a:gdLst/>
              <a:ahLst/>
              <a:cxnLst/>
              <a:rect l="l" t="t" r="r" b="b"/>
              <a:pathLst>
                <a:path w="6350">
                  <a:moveTo>
                    <a:pt x="0" y="0"/>
                  </a:moveTo>
                  <a:lnTo>
                    <a:pt x="5766" y="0"/>
                  </a:lnTo>
                </a:path>
              </a:pathLst>
            </a:custGeom>
            <a:ln w="5647">
              <a:solidFill>
                <a:srgbClr val="000000"/>
              </a:solidFill>
            </a:ln>
          </p:spPr>
          <p:txBody>
            <a:bodyPr wrap="square" lIns="0" tIns="0" rIns="0" bIns="0" rtlCol="0"/>
            <a:lstStyle/>
            <a:p>
              <a:endParaRPr/>
            </a:p>
          </p:txBody>
        </p:sp>
        <p:sp>
          <p:nvSpPr>
            <p:cNvPr id="141" name="object 141"/>
            <p:cNvSpPr/>
            <p:nvPr/>
          </p:nvSpPr>
          <p:spPr>
            <a:xfrm>
              <a:off x="5014875"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42" name="object 142"/>
            <p:cNvSpPr/>
            <p:nvPr/>
          </p:nvSpPr>
          <p:spPr>
            <a:xfrm>
              <a:off x="5017758" y="3406121"/>
              <a:ext cx="6350" cy="0"/>
            </a:xfrm>
            <a:custGeom>
              <a:avLst/>
              <a:gdLst/>
              <a:ahLst/>
              <a:cxnLst/>
              <a:rect l="l" t="t" r="r" b="b"/>
              <a:pathLst>
                <a:path w="6350">
                  <a:moveTo>
                    <a:pt x="0" y="0"/>
                  </a:moveTo>
                  <a:lnTo>
                    <a:pt x="5766" y="0"/>
                  </a:lnTo>
                </a:path>
              </a:pathLst>
            </a:custGeom>
            <a:ln w="5647">
              <a:solidFill>
                <a:srgbClr val="000000"/>
              </a:solidFill>
            </a:ln>
          </p:spPr>
          <p:txBody>
            <a:bodyPr wrap="square" lIns="0" tIns="0" rIns="0" bIns="0" rtlCol="0"/>
            <a:lstStyle/>
            <a:p>
              <a:endParaRPr/>
            </a:p>
          </p:txBody>
        </p:sp>
        <p:sp>
          <p:nvSpPr>
            <p:cNvPr id="143" name="object 143"/>
            <p:cNvSpPr/>
            <p:nvPr/>
          </p:nvSpPr>
          <p:spPr>
            <a:xfrm>
              <a:off x="5247107"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44" name="object 144"/>
            <p:cNvSpPr/>
            <p:nvPr/>
          </p:nvSpPr>
          <p:spPr>
            <a:xfrm>
              <a:off x="5249918"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45" name="object 145"/>
            <p:cNvSpPr/>
            <p:nvPr/>
          </p:nvSpPr>
          <p:spPr>
            <a:xfrm>
              <a:off x="5247107"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46" name="object 146"/>
            <p:cNvSpPr/>
            <p:nvPr/>
          </p:nvSpPr>
          <p:spPr>
            <a:xfrm>
              <a:off x="5249918"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47" name="object 147"/>
            <p:cNvSpPr/>
            <p:nvPr/>
          </p:nvSpPr>
          <p:spPr>
            <a:xfrm>
              <a:off x="5479122"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148" name="object 148"/>
            <p:cNvSpPr/>
            <p:nvPr/>
          </p:nvSpPr>
          <p:spPr>
            <a:xfrm>
              <a:off x="5481933"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49" name="object 149"/>
            <p:cNvSpPr/>
            <p:nvPr/>
          </p:nvSpPr>
          <p:spPr>
            <a:xfrm>
              <a:off x="5479122" y="3386117"/>
              <a:ext cx="0" cy="17145"/>
            </a:xfrm>
            <a:custGeom>
              <a:avLst/>
              <a:gdLst/>
              <a:ahLst/>
              <a:cxnLst/>
              <a:rect l="l" t="t" r="r" b="b"/>
              <a:pathLst>
                <a:path h="17145">
                  <a:moveTo>
                    <a:pt x="0" y="0"/>
                  </a:moveTo>
                  <a:lnTo>
                    <a:pt x="0" y="17125"/>
                  </a:lnTo>
                </a:path>
              </a:pathLst>
            </a:custGeom>
            <a:ln w="3175">
              <a:solidFill>
                <a:srgbClr val="000000"/>
              </a:solidFill>
            </a:ln>
          </p:spPr>
          <p:txBody>
            <a:bodyPr wrap="square" lIns="0" tIns="0" rIns="0" bIns="0" rtlCol="0"/>
            <a:lstStyle/>
            <a:p>
              <a:endParaRPr/>
            </a:p>
          </p:txBody>
        </p:sp>
        <p:sp>
          <p:nvSpPr>
            <p:cNvPr id="150" name="object 150"/>
            <p:cNvSpPr/>
            <p:nvPr/>
          </p:nvSpPr>
          <p:spPr>
            <a:xfrm>
              <a:off x="5481933"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51" name="object 151"/>
            <p:cNvSpPr/>
            <p:nvPr/>
          </p:nvSpPr>
          <p:spPr>
            <a:xfrm>
              <a:off x="3616932" y="361256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52" name="object 152"/>
            <p:cNvSpPr/>
            <p:nvPr/>
          </p:nvSpPr>
          <p:spPr>
            <a:xfrm>
              <a:off x="3642361" y="3615373"/>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53" name="object 153"/>
            <p:cNvSpPr/>
            <p:nvPr/>
          </p:nvSpPr>
          <p:spPr>
            <a:xfrm>
              <a:off x="5535846" y="361256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54" name="object 154"/>
            <p:cNvSpPr/>
            <p:nvPr/>
          </p:nvSpPr>
          <p:spPr>
            <a:xfrm>
              <a:off x="5538657" y="3615373"/>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55" name="object 155"/>
            <p:cNvSpPr/>
            <p:nvPr/>
          </p:nvSpPr>
          <p:spPr>
            <a:xfrm>
              <a:off x="3616932" y="3844772"/>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56" name="object 156"/>
            <p:cNvSpPr/>
            <p:nvPr/>
          </p:nvSpPr>
          <p:spPr>
            <a:xfrm>
              <a:off x="3642361" y="384765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57" name="object 157"/>
            <p:cNvSpPr/>
            <p:nvPr/>
          </p:nvSpPr>
          <p:spPr>
            <a:xfrm>
              <a:off x="5535846" y="3844772"/>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58" name="object 158"/>
            <p:cNvSpPr/>
            <p:nvPr/>
          </p:nvSpPr>
          <p:spPr>
            <a:xfrm>
              <a:off x="5538657" y="384765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59" name="object 159"/>
            <p:cNvSpPr/>
            <p:nvPr/>
          </p:nvSpPr>
          <p:spPr>
            <a:xfrm>
              <a:off x="3616932" y="4076834"/>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60" name="object 160"/>
            <p:cNvSpPr/>
            <p:nvPr/>
          </p:nvSpPr>
          <p:spPr>
            <a:xfrm>
              <a:off x="3642361" y="407964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61" name="object 161"/>
            <p:cNvSpPr/>
            <p:nvPr/>
          </p:nvSpPr>
          <p:spPr>
            <a:xfrm>
              <a:off x="5535846" y="4076834"/>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62" name="object 162"/>
            <p:cNvSpPr/>
            <p:nvPr/>
          </p:nvSpPr>
          <p:spPr>
            <a:xfrm>
              <a:off x="5538657" y="407964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63" name="object 163"/>
            <p:cNvSpPr/>
            <p:nvPr/>
          </p:nvSpPr>
          <p:spPr>
            <a:xfrm>
              <a:off x="3616932" y="4308896"/>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64" name="object 164"/>
            <p:cNvSpPr/>
            <p:nvPr/>
          </p:nvSpPr>
          <p:spPr>
            <a:xfrm>
              <a:off x="3642361" y="4311703"/>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65" name="object 165"/>
            <p:cNvSpPr/>
            <p:nvPr/>
          </p:nvSpPr>
          <p:spPr>
            <a:xfrm>
              <a:off x="5535846" y="430889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66" name="object 166"/>
            <p:cNvSpPr/>
            <p:nvPr/>
          </p:nvSpPr>
          <p:spPr>
            <a:xfrm>
              <a:off x="5538657" y="4311703"/>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67" name="object 167"/>
            <p:cNvSpPr/>
            <p:nvPr/>
          </p:nvSpPr>
          <p:spPr>
            <a:xfrm>
              <a:off x="3616932" y="4540958"/>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68" name="object 168"/>
            <p:cNvSpPr/>
            <p:nvPr/>
          </p:nvSpPr>
          <p:spPr>
            <a:xfrm>
              <a:off x="3642361" y="4543764"/>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69" name="object 169"/>
            <p:cNvSpPr/>
            <p:nvPr/>
          </p:nvSpPr>
          <p:spPr>
            <a:xfrm>
              <a:off x="5535846" y="4540958"/>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70" name="object 170"/>
            <p:cNvSpPr/>
            <p:nvPr/>
          </p:nvSpPr>
          <p:spPr>
            <a:xfrm>
              <a:off x="5538657" y="4543764"/>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71" name="object 171"/>
            <p:cNvSpPr/>
            <p:nvPr/>
          </p:nvSpPr>
          <p:spPr>
            <a:xfrm>
              <a:off x="3616932" y="4778705"/>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72" name="object 172"/>
            <p:cNvSpPr/>
            <p:nvPr/>
          </p:nvSpPr>
          <p:spPr>
            <a:xfrm>
              <a:off x="3642361" y="478151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73" name="object 173"/>
            <p:cNvSpPr/>
            <p:nvPr/>
          </p:nvSpPr>
          <p:spPr>
            <a:xfrm>
              <a:off x="5535846" y="4778705"/>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74" name="object 174"/>
            <p:cNvSpPr/>
            <p:nvPr/>
          </p:nvSpPr>
          <p:spPr>
            <a:xfrm>
              <a:off x="5538657" y="478151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75" name="object 175"/>
            <p:cNvSpPr/>
            <p:nvPr/>
          </p:nvSpPr>
          <p:spPr>
            <a:xfrm>
              <a:off x="3616932" y="5010731"/>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76" name="object 176"/>
            <p:cNvSpPr/>
            <p:nvPr/>
          </p:nvSpPr>
          <p:spPr>
            <a:xfrm>
              <a:off x="3642361" y="5013551"/>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77" name="object 177"/>
            <p:cNvSpPr/>
            <p:nvPr/>
          </p:nvSpPr>
          <p:spPr>
            <a:xfrm>
              <a:off x="5535846" y="5010731"/>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78" name="object 178"/>
            <p:cNvSpPr/>
            <p:nvPr/>
          </p:nvSpPr>
          <p:spPr>
            <a:xfrm>
              <a:off x="5538657" y="501355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179" name="object 179"/>
            <p:cNvSpPr/>
            <p:nvPr/>
          </p:nvSpPr>
          <p:spPr>
            <a:xfrm>
              <a:off x="3616932" y="5242793"/>
              <a:ext cx="22860" cy="0"/>
            </a:xfrm>
            <a:custGeom>
              <a:avLst/>
              <a:gdLst/>
              <a:ahLst/>
              <a:cxnLst/>
              <a:rect l="l" t="t" r="r" b="b"/>
              <a:pathLst>
                <a:path w="22860">
                  <a:moveTo>
                    <a:pt x="0" y="0"/>
                  </a:moveTo>
                  <a:lnTo>
                    <a:pt x="22603" y="0"/>
                  </a:lnTo>
                </a:path>
              </a:pathLst>
            </a:custGeom>
            <a:ln w="3175">
              <a:solidFill>
                <a:srgbClr val="000000"/>
              </a:solidFill>
            </a:ln>
          </p:spPr>
          <p:txBody>
            <a:bodyPr wrap="square" lIns="0" tIns="0" rIns="0" bIns="0" rtlCol="0"/>
            <a:lstStyle/>
            <a:p>
              <a:endParaRPr/>
            </a:p>
          </p:txBody>
        </p:sp>
        <p:sp>
          <p:nvSpPr>
            <p:cNvPr id="180" name="object 180"/>
            <p:cNvSpPr/>
            <p:nvPr/>
          </p:nvSpPr>
          <p:spPr>
            <a:xfrm>
              <a:off x="3642361" y="5245613"/>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sp>
          <p:nvSpPr>
            <p:cNvPr id="181" name="object 181"/>
            <p:cNvSpPr/>
            <p:nvPr/>
          </p:nvSpPr>
          <p:spPr>
            <a:xfrm>
              <a:off x="5535846" y="5242793"/>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182" name="object 182"/>
            <p:cNvSpPr/>
            <p:nvPr/>
          </p:nvSpPr>
          <p:spPr>
            <a:xfrm>
              <a:off x="5538657" y="5245613"/>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grpSp>
      <p:sp>
        <p:nvSpPr>
          <p:cNvPr id="183" name="object 183"/>
          <p:cNvSpPr txBox="1"/>
          <p:nvPr/>
        </p:nvSpPr>
        <p:spPr>
          <a:xfrm>
            <a:off x="4340349" y="3040799"/>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sp>
        <p:nvSpPr>
          <p:cNvPr id="184" name="object 184"/>
          <p:cNvSpPr txBox="1"/>
          <p:nvPr/>
        </p:nvSpPr>
        <p:spPr>
          <a:xfrm>
            <a:off x="3593252" y="3352086"/>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a:t>
            </a:r>
            <a:endParaRPr sz="550">
              <a:latin typeface="Arial MT"/>
              <a:cs typeface="Arial MT"/>
            </a:endParaRPr>
          </a:p>
        </p:txBody>
      </p:sp>
      <p:sp>
        <p:nvSpPr>
          <p:cNvPr id="185" name="object 185"/>
          <p:cNvSpPr txBox="1"/>
          <p:nvPr/>
        </p:nvSpPr>
        <p:spPr>
          <a:xfrm>
            <a:off x="3593252" y="3584148"/>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40</a:t>
            </a:r>
            <a:endParaRPr sz="550">
              <a:latin typeface="Arial MT"/>
              <a:cs typeface="Arial MT"/>
            </a:endParaRPr>
          </a:p>
        </p:txBody>
      </p:sp>
      <p:sp>
        <p:nvSpPr>
          <p:cNvPr id="186" name="object 186"/>
          <p:cNvSpPr txBox="1"/>
          <p:nvPr/>
        </p:nvSpPr>
        <p:spPr>
          <a:xfrm>
            <a:off x="3593252" y="3816210"/>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60</a:t>
            </a:r>
            <a:endParaRPr sz="550">
              <a:latin typeface="Arial MT"/>
              <a:cs typeface="Arial MT"/>
            </a:endParaRPr>
          </a:p>
        </p:txBody>
      </p:sp>
      <p:sp>
        <p:nvSpPr>
          <p:cNvPr id="187" name="object 187"/>
          <p:cNvSpPr txBox="1"/>
          <p:nvPr/>
        </p:nvSpPr>
        <p:spPr>
          <a:xfrm>
            <a:off x="3593252" y="4048272"/>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80</a:t>
            </a:r>
            <a:endParaRPr sz="550">
              <a:latin typeface="Arial MT"/>
              <a:cs typeface="Arial MT"/>
            </a:endParaRPr>
          </a:p>
        </p:txBody>
      </p:sp>
      <p:sp>
        <p:nvSpPr>
          <p:cNvPr id="188" name="object 188"/>
          <p:cNvSpPr txBox="1"/>
          <p:nvPr/>
        </p:nvSpPr>
        <p:spPr>
          <a:xfrm>
            <a:off x="3553516" y="4280334"/>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sp>
        <p:nvSpPr>
          <p:cNvPr id="189" name="object 189"/>
          <p:cNvSpPr txBox="1"/>
          <p:nvPr/>
        </p:nvSpPr>
        <p:spPr>
          <a:xfrm>
            <a:off x="3553516" y="4518009"/>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120</a:t>
            </a:r>
            <a:endParaRPr sz="550">
              <a:latin typeface="Arial MT"/>
              <a:cs typeface="Arial MT"/>
            </a:endParaRPr>
          </a:p>
        </p:txBody>
      </p:sp>
      <p:sp>
        <p:nvSpPr>
          <p:cNvPr id="190" name="object 190"/>
          <p:cNvSpPr txBox="1"/>
          <p:nvPr/>
        </p:nvSpPr>
        <p:spPr>
          <a:xfrm>
            <a:off x="3553516" y="475006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140</a:t>
            </a:r>
            <a:endParaRPr sz="550">
              <a:latin typeface="Arial MT"/>
              <a:cs typeface="Arial MT"/>
            </a:endParaRPr>
          </a:p>
        </p:txBody>
      </p:sp>
      <p:sp>
        <p:nvSpPr>
          <p:cNvPr id="191" name="object 191"/>
          <p:cNvSpPr txBox="1"/>
          <p:nvPr/>
        </p:nvSpPr>
        <p:spPr>
          <a:xfrm>
            <a:off x="3553516" y="4982298"/>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160</a:t>
            </a:r>
            <a:endParaRPr sz="550">
              <a:latin typeface="Arial MT"/>
              <a:cs typeface="Arial MT"/>
            </a:endParaRPr>
          </a:p>
        </p:txBody>
      </p:sp>
      <p:grpSp>
        <p:nvGrpSpPr>
          <p:cNvPr id="192" name="object 192"/>
          <p:cNvGrpSpPr/>
          <p:nvPr/>
        </p:nvGrpSpPr>
        <p:grpSpPr>
          <a:xfrm>
            <a:off x="3701676" y="3177308"/>
            <a:ext cx="1950720" cy="1948180"/>
            <a:chOff x="3616428" y="3380001"/>
            <a:chExt cx="1950720" cy="1948180"/>
          </a:xfrm>
        </p:grpSpPr>
        <p:sp>
          <p:nvSpPr>
            <p:cNvPr id="193" name="object 193"/>
            <p:cNvSpPr/>
            <p:nvPr/>
          </p:nvSpPr>
          <p:spPr>
            <a:xfrm>
              <a:off x="3616933" y="532202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94" name="object 194"/>
            <p:cNvSpPr/>
            <p:nvPr/>
          </p:nvSpPr>
          <p:spPr>
            <a:xfrm>
              <a:off x="5561217"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95" name="object 195"/>
            <p:cNvSpPr/>
            <p:nvPr/>
          </p:nvSpPr>
          <p:spPr>
            <a:xfrm>
              <a:off x="3616933" y="3380505"/>
              <a:ext cx="1941830" cy="0"/>
            </a:xfrm>
            <a:custGeom>
              <a:avLst/>
              <a:gdLst/>
              <a:ahLst/>
              <a:cxnLst/>
              <a:rect l="l" t="t" r="r" b="b"/>
              <a:pathLst>
                <a:path w="1941829">
                  <a:moveTo>
                    <a:pt x="0" y="0"/>
                  </a:moveTo>
                  <a:lnTo>
                    <a:pt x="1941473" y="0"/>
                  </a:lnTo>
                </a:path>
              </a:pathLst>
            </a:custGeom>
            <a:ln w="3175">
              <a:solidFill>
                <a:srgbClr val="000000"/>
              </a:solidFill>
            </a:ln>
          </p:spPr>
          <p:txBody>
            <a:bodyPr wrap="square" lIns="0" tIns="0" rIns="0" bIns="0" rtlCol="0"/>
            <a:lstStyle/>
            <a:p>
              <a:endParaRPr/>
            </a:p>
          </p:txBody>
        </p:sp>
        <p:sp>
          <p:nvSpPr>
            <p:cNvPr id="196" name="object 196"/>
            <p:cNvSpPr/>
            <p:nvPr/>
          </p:nvSpPr>
          <p:spPr>
            <a:xfrm>
              <a:off x="5561217" y="338331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97" name="object 197"/>
            <p:cNvSpPr/>
            <p:nvPr/>
          </p:nvSpPr>
          <p:spPr>
            <a:xfrm>
              <a:off x="5558406"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198" name="object 198"/>
            <p:cNvSpPr/>
            <p:nvPr/>
          </p:nvSpPr>
          <p:spPr>
            <a:xfrm>
              <a:off x="5561217"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199" name="object 199"/>
            <p:cNvSpPr/>
            <p:nvPr/>
          </p:nvSpPr>
          <p:spPr>
            <a:xfrm>
              <a:off x="3616933"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00" name="object 200"/>
            <p:cNvSpPr/>
            <p:nvPr/>
          </p:nvSpPr>
          <p:spPr>
            <a:xfrm>
              <a:off x="3619758" y="5324845"/>
              <a:ext cx="5715" cy="0"/>
            </a:xfrm>
            <a:custGeom>
              <a:avLst/>
              <a:gdLst/>
              <a:ahLst/>
              <a:cxnLst/>
              <a:rect l="l" t="t" r="r" b="b"/>
              <a:pathLst>
                <a:path w="5714">
                  <a:moveTo>
                    <a:pt x="0" y="0"/>
                  </a:moveTo>
                  <a:lnTo>
                    <a:pt x="5650" y="0"/>
                  </a:lnTo>
                </a:path>
              </a:pathLst>
            </a:custGeom>
            <a:ln w="5647">
              <a:solidFill>
                <a:srgbClr val="000000"/>
              </a:solidFill>
            </a:ln>
          </p:spPr>
          <p:txBody>
            <a:bodyPr wrap="square" lIns="0" tIns="0" rIns="0" bIns="0" rtlCol="0"/>
            <a:lstStyle/>
            <a:p>
              <a:endParaRPr/>
            </a:p>
          </p:txBody>
        </p:sp>
      </p:grpSp>
      <p:sp>
        <p:nvSpPr>
          <p:cNvPr id="201" name="object 201"/>
          <p:cNvSpPr txBox="1"/>
          <p:nvPr/>
        </p:nvSpPr>
        <p:spPr>
          <a:xfrm>
            <a:off x="3017805" y="5087773"/>
            <a:ext cx="3202940" cy="1505585"/>
          </a:xfrm>
          <a:prstGeom prst="rect">
            <a:avLst/>
          </a:prstGeom>
        </p:spPr>
        <p:txBody>
          <a:bodyPr vert="horz" wrap="square" lIns="0" tIns="52069" rIns="0" bIns="0" rtlCol="0">
            <a:spAutoFit/>
          </a:bodyPr>
          <a:lstStyle/>
          <a:p>
            <a:pPr marL="876300">
              <a:spcBef>
                <a:spcPts val="409"/>
              </a:spcBef>
              <a:tabLst>
                <a:tab pos="1108710" algn="l"/>
                <a:tab pos="1340485" algn="l"/>
                <a:tab pos="1572895" algn="l"/>
                <a:tab pos="1787525" algn="l"/>
              </a:tabLst>
            </a:pPr>
            <a:r>
              <a:rPr sz="550" spc="-25" dirty="0">
                <a:latin typeface="Arial MT"/>
                <a:cs typeface="Arial MT"/>
              </a:rPr>
              <a:t>20</a:t>
            </a:r>
            <a:r>
              <a:rPr sz="550" dirty="0">
                <a:latin typeface="Arial MT"/>
                <a:cs typeface="Arial MT"/>
              </a:rPr>
              <a:t>	</a:t>
            </a:r>
            <a:r>
              <a:rPr sz="550" spc="-25" dirty="0">
                <a:latin typeface="Arial MT"/>
                <a:cs typeface="Arial MT"/>
              </a:rPr>
              <a:t>40</a:t>
            </a:r>
            <a:r>
              <a:rPr sz="550" dirty="0">
                <a:latin typeface="Arial MT"/>
                <a:cs typeface="Arial MT"/>
              </a:rPr>
              <a:t>	</a:t>
            </a:r>
            <a:r>
              <a:rPr sz="550" spc="-25" dirty="0">
                <a:latin typeface="Arial MT"/>
                <a:cs typeface="Arial MT"/>
              </a:rPr>
              <a:t>60</a:t>
            </a:r>
            <a:r>
              <a:rPr sz="550" dirty="0">
                <a:latin typeface="Arial MT"/>
                <a:cs typeface="Arial MT"/>
              </a:rPr>
              <a:t>	</a:t>
            </a:r>
            <a:r>
              <a:rPr sz="550" spc="-25" dirty="0">
                <a:latin typeface="Arial MT"/>
                <a:cs typeface="Arial MT"/>
              </a:rPr>
              <a:t>80</a:t>
            </a:r>
            <a:r>
              <a:rPr sz="550" dirty="0">
                <a:latin typeface="Arial MT"/>
                <a:cs typeface="Arial MT"/>
              </a:rPr>
              <a:t>	100</a:t>
            </a:r>
            <a:r>
              <a:rPr sz="550" spc="315" dirty="0">
                <a:latin typeface="Arial MT"/>
                <a:cs typeface="Arial MT"/>
              </a:rPr>
              <a:t>  </a:t>
            </a:r>
            <a:r>
              <a:rPr sz="550" dirty="0">
                <a:latin typeface="Arial MT"/>
                <a:cs typeface="Arial MT"/>
              </a:rPr>
              <a:t>120</a:t>
            </a:r>
            <a:r>
              <a:rPr sz="550" spc="300" dirty="0">
                <a:latin typeface="Arial MT"/>
                <a:cs typeface="Arial MT"/>
              </a:rPr>
              <a:t>  </a:t>
            </a:r>
            <a:r>
              <a:rPr sz="550" dirty="0">
                <a:latin typeface="Arial MT"/>
                <a:cs typeface="Arial MT"/>
              </a:rPr>
              <a:t>140</a:t>
            </a:r>
            <a:r>
              <a:rPr sz="550" spc="300" dirty="0">
                <a:latin typeface="Arial MT"/>
                <a:cs typeface="Arial MT"/>
              </a:rPr>
              <a:t>  </a:t>
            </a:r>
            <a:r>
              <a:rPr sz="550" spc="-25" dirty="0">
                <a:latin typeface="Arial MT"/>
                <a:cs typeface="Arial MT"/>
              </a:rPr>
              <a:t>160</a:t>
            </a:r>
            <a:endParaRPr sz="550" dirty="0">
              <a:latin typeface="Arial MT"/>
              <a:cs typeface="Arial MT"/>
            </a:endParaRPr>
          </a:p>
          <a:p>
            <a:pPr>
              <a:spcBef>
                <a:spcPts val="250"/>
              </a:spcBef>
            </a:pPr>
            <a:endParaRPr sz="550" dirty="0">
              <a:latin typeface="Arial MT"/>
              <a:cs typeface="Arial MT"/>
            </a:endParaRPr>
          </a:p>
          <a:p>
            <a:pPr marL="1270" algn="ctr"/>
            <a:r>
              <a:rPr b="1" dirty="0">
                <a:solidFill>
                  <a:srgbClr val="FF0000"/>
                </a:solidFill>
                <a:latin typeface="Arial"/>
                <a:cs typeface="Arial"/>
              </a:rPr>
              <a:t>D</a:t>
            </a:r>
            <a:r>
              <a:rPr lang="en-US" b="1" spc="-15" dirty="0">
                <a:solidFill>
                  <a:srgbClr val="FF0000"/>
                </a:solidFill>
                <a:latin typeface="Arial"/>
                <a:cs typeface="Arial"/>
              </a:rPr>
              <a:t>: </a:t>
            </a:r>
            <a:r>
              <a:rPr b="1" spc="-25" dirty="0">
                <a:solidFill>
                  <a:srgbClr val="FF0000"/>
                </a:solidFill>
                <a:latin typeface="Arial"/>
                <a:cs typeface="Arial"/>
              </a:rPr>
              <a:t>300</a:t>
            </a:r>
            <a:endParaRPr dirty="0">
              <a:latin typeface="Arial"/>
              <a:cs typeface="Arial"/>
            </a:endParaRPr>
          </a:p>
          <a:p>
            <a:pPr marL="12700" marR="5080" algn="ctr">
              <a:spcBef>
                <a:spcPts val="434"/>
              </a:spcBef>
            </a:pPr>
            <a:r>
              <a:rPr sz="2000" b="1" dirty="0">
                <a:solidFill>
                  <a:srgbClr val="00AF50"/>
                </a:solidFill>
                <a:latin typeface="Arial"/>
                <a:cs typeface="Arial"/>
              </a:rPr>
              <a:t>Higher</a:t>
            </a:r>
            <a:r>
              <a:rPr sz="2000" b="1" spc="-15" dirty="0">
                <a:solidFill>
                  <a:srgbClr val="00AF50"/>
                </a:solidFill>
                <a:latin typeface="Arial"/>
                <a:cs typeface="Arial"/>
              </a:rPr>
              <a:t> </a:t>
            </a:r>
            <a:r>
              <a:rPr sz="2000" b="1" dirty="0">
                <a:solidFill>
                  <a:srgbClr val="00AF50"/>
                </a:solidFill>
                <a:latin typeface="Arial"/>
                <a:cs typeface="Arial"/>
              </a:rPr>
              <a:t>source-</a:t>
            </a:r>
            <a:r>
              <a:rPr sz="2000" b="1" spc="-10" dirty="0">
                <a:solidFill>
                  <a:srgbClr val="00AF50"/>
                </a:solidFill>
                <a:latin typeface="Arial"/>
                <a:cs typeface="Arial"/>
              </a:rPr>
              <a:t>object </a:t>
            </a:r>
            <a:r>
              <a:rPr sz="2000" b="1" dirty="0">
                <a:solidFill>
                  <a:srgbClr val="00AF50"/>
                </a:solidFill>
                <a:latin typeface="Arial"/>
                <a:cs typeface="Arial"/>
              </a:rPr>
              <a:t>distance</a:t>
            </a:r>
            <a:r>
              <a:rPr sz="2000" b="1" spc="-40" dirty="0">
                <a:solidFill>
                  <a:srgbClr val="00AF50"/>
                </a:solidFill>
                <a:latin typeface="Arial"/>
                <a:cs typeface="Arial"/>
              </a:rPr>
              <a:t> </a:t>
            </a:r>
            <a:r>
              <a:rPr sz="2000" b="1" dirty="0">
                <a:solidFill>
                  <a:srgbClr val="00AF50"/>
                </a:solidFill>
                <a:latin typeface="Arial"/>
                <a:cs typeface="Arial"/>
              </a:rPr>
              <a:t>gives</a:t>
            </a:r>
            <a:r>
              <a:rPr sz="2000" b="1" spc="-10" dirty="0">
                <a:solidFill>
                  <a:srgbClr val="00AF50"/>
                </a:solidFill>
                <a:latin typeface="Arial"/>
                <a:cs typeface="Arial"/>
              </a:rPr>
              <a:t> </a:t>
            </a:r>
            <a:r>
              <a:rPr sz="2000" b="1" spc="-20" dirty="0">
                <a:solidFill>
                  <a:srgbClr val="00AF50"/>
                </a:solidFill>
                <a:latin typeface="Arial"/>
                <a:cs typeface="Arial"/>
              </a:rPr>
              <a:t>lower </a:t>
            </a:r>
            <a:r>
              <a:rPr sz="2000" b="1" dirty="0">
                <a:solidFill>
                  <a:srgbClr val="00AF50"/>
                </a:solidFill>
                <a:latin typeface="Arial"/>
                <a:cs typeface="Arial"/>
              </a:rPr>
              <a:t>reconstruction</a:t>
            </a:r>
            <a:r>
              <a:rPr sz="2000" b="1" spc="-50" dirty="0">
                <a:solidFill>
                  <a:srgbClr val="00AF50"/>
                </a:solidFill>
                <a:latin typeface="Arial"/>
                <a:cs typeface="Arial"/>
              </a:rPr>
              <a:t> </a:t>
            </a:r>
            <a:r>
              <a:rPr sz="2000" b="1" spc="-10" dirty="0">
                <a:solidFill>
                  <a:srgbClr val="00AF50"/>
                </a:solidFill>
                <a:latin typeface="Arial"/>
                <a:cs typeface="Arial"/>
              </a:rPr>
              <a:t>resolution</a:t>
            </a:r>
            <a:endParaRPr sz="2000" dirty="0">
              <a:latin typeface="Arial"/>
              <a:cs typeface="Arial"/>
            </a:endParaRPr>
          </a:p>
        </p:txBody>
      </p:sp>
      <p:grpSp>
        <p:nvGrpSpPr>
          <p:cNvPr id="202" name="object 202"/>
          <p:cNvGrpSpPr/>
          <p:nvPr/>
        </p:nvGrpSpPr>
        <p:grpSpPr>
          <a:xfrm>
            <a:off x="783088" y="3177177"/>
            <a:ext cx="1953895" cy="1948180"/>
            <a:chOff x="697839" y="3379870"/>
            <a:chExt cx="1953895" cy="1948180"/>
          </a:xfrm>
        </p:grpSpPr>
        <p:pic>
          <p:nvPicPr>
            <p:cNvPr id="203" name="object 203"/>
            <p:cNvPicPr/>
            <p:nvPr/>
          </p:nvPicPr>
          <p:blipFill>
            <a:blip r:embed="rId6" cstate="print"/>
            <a:stretch>
              <a:fillRect/>
            </a:stretch>
          </p:blipFill>
          <p:spPr>
            <a:xfrm>
              <a:off x="704124" y="3386160"/>
              <a:ext cx="1935837" cy="1935864"/>
            </a:xfrm>
            <a:prstGeom prst="rect">
              <a:avLst/>
            </a:prstGeom>
          </p:spPr>
        </p:pic>
        <p:sp>
          <p:nvSpPr>
            <p:cNvPr id="204" name="object 204"/>
            <p:cNvSpPr/>
            <p:nvPr/>
          </p:nvSpPr>
          <p:spPr>
            <a:xfrm>
              <a:off x="698474" y="5322025"/>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205" name="object 205"/>
            <p:cNvSpPr/>
            <p:nvPr/>
          </p:nvSpPr>
          <p:spPr>
            <a:xfrm>
              <a:off x="2642758"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06" name="object 206"/>
            <p:cNvSpPr/>
            <p:nvPr/>
          </p:nvSpPr>
          <p:spPr>
            <a:xfrm>
              <a:off x="698474" y="3380505"/>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207" name="object 207"/>
            <p:cNvSpPr/>
            <p:nvPr/>
          </p:nvSpPr>
          <p:spPr>
            <a:xfrm>
              <a:off x="2642758" y="338331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08" name="object 208"/>
            <p:cNvSpPr/>
            <p:nvPr/>
          </p:nvSpPr>
          <p:spPr>
            <a:xfrm>
              <a:off x="2639947"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09" name="object 209"/>
            <p:cNvSpPr/>
            <p:nvPr/>
          </p:nvSpPr>
          <p:spPr>
            <a:xfrm>
              <a:off x="2642758"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10" name="object 210"/>
            <p:cNvSpPr/>
            <p:nvPr/>
          </p:nvSpPr>
          <p:spPr>
            <a:xfrm>
              <a:off x="698474"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11" name="object 211"/>
            <p:cNvSpPr/>
            <p:nvPr/>
          </p:nvSpPr>
          <p:spPr>
            <a:xfrm>
              <a:off x="701299" y="532484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12" name="object 212"/>
            <p:cNvSpPr/>
            <p:nvPr/>
          </p:nvSpPr>
          <p:spPr>
            <a:xfrm>
              <a:off x="698474" y="5322025"/>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213" name="object 213"/>
            <p:cNvSpPr/>
            <p:nvPr/>
          </p:nvSpPr>
          <p:spPr>
            <a:xfrm>
              <a:off x="2642758"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14" name="object 214"/>
            <p:cNvSpPr/>
            <p:nvPr/>
          </p:nvSpPr>
          <p:spPr>
            <a:xfrm>
              <a:off x="698474"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15" name="object 215"/>
            <p:cNvSpPr/>
            <p:nvPr/>
          </p:nvSpPr>
          <p:spPr>
            <a:xfrm>
              <a:off x="701299" y="532484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16" name="object 216"/>
            <p:cNvSpPr/>
            <p:nvPr/>
          </p:nvSpPr>
          <p:spPr>
            <a:xfrm>
              <a:off x="1071918"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17" name="object 217"/>
            <p:cNvSpPr/>
            <p:nvPr/>
          </p:nvSpPr>
          <p:spPr>
            <a:xfrm>
              <a:off x="1074801"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18" name="object 218"/>
            <p:cNvSpPr/>
            <p:nvPr/>
          </p:nvSpPr>
          <p:spPr>
            <a:xfrm>
              <a:off x="1071918" y="338050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19" name="object 219"/>
            <p:cNvSpPr/>
            <p:nvPr/>
          </p:nvSpPr>
          <p:spPr>
            <a:xfrm>
              <a:off x="1074801"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20" name="object 220"/>
            <p:cNvSpPr/>
            <p:nvPr/>
          </p:nvSpPr>
          <p:spPr>
            <a:xfrm>
              <a:off x="1439942"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21" name="object 221"/>
            <p:cNvSpPr/>
            <p:nvPr/>
          </p:nvSpPr>
          <p:spPr>
            <a:xfrm>
              <a:off x="1442753" y="5302258"/>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22" name="object 222"/>
            <p:cNvSpPr/>
            <p:nvPr/>
          </p:nvSpPr>
          <p:spPr>
            <a:xfrm>
              <a:off x="1439942" y="338050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23" name="object 223"/>
            <p:cNvSpPr/>
            <p:nvPr/>
          </p:nvSpPr>
          <p:spPr>
            <a:xfrm>
              <a:off x="1442753" y="3406121"/>
              <a:ext cx="5715" cy="0"/>
            </a:xfrm>
            <a:custGeom>
              <a:avLst/>
              <a:gdLst/>
              <a:ahLst/>
              <a:cxnLst/>
              <a:rect l="l" t="t" r="r" b="b"/>
              <a:pathLst>
                <a:path w="5715">
                  <a:moveTo>
                    <a:pt x="0" y="0"/>
                  </a:moveTo>
                  <a:lnTo>
                    <a:pt x="5621" y="0"/>
                  </a:lnTo>
                </a:path>
              </a:pathLst>
            </a:custGeom>
            <a:ln w="5647">
              <a:solidFill>
                <a:srgbClr val="000000"/>
              </a:solidFill>
            </a:ln>
          </p:spPr>
          <p:txBody>
            <a:bodyPr wrap="square" lIns="0" tIns="0" rIns="0" bIns="0" rtlCol="0"/>
            <a:lstStyle/>
            <a:p>
              <a:endParaRPr/>
            </a:p>
          </p:txBody>
        </p:sp>
        <p:sp>
          <p:nvSpPr>
            <p:cNvPr id="224" name="object 224"/>
            <p:cNvSpPr/>
            <p:nvPr/>
          </p:nvSpPr>
          <p:spPr>
            <a:xfrm>
              <a:off x="1813587"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25" name="object 225"/>
            <p:cNvSpPr/>
            <p:nvPr/>
          </p:nvSpPr>
          <p:spPr>
            <a:xfrm>
              <a:off x="1816398" y="5302258"/>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26" name="object 226"/>
            <p:cNvSpPr/>
            <p:nvPr/>
          </p:nvSpPr>
          <p:spPr>
            <a:xfrm>
              <a:off x="1813587" y="338050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27" name="object 227"/>
            <p:cNvSpPr/>
            <p:nvPr/>
          </p:nvSpPr>
          <p:spPr>
            <a:xfrm>
              <a:off x="1816398" y="3406121"/>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28" name="object 228"/>
            <p:cNvSpPr/>
            <p:nvPr/>
          </p:nvSpPr>
          <p:spPr>
            <a:xfrm>
              <a:off x="2187017"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29" name="object 229"/>
            <p:cNvSpPr/>
            <p:nvPr/>
          </p:nvSpPr>
          <p:spPr>
            <a:xfrm>
              <a:off x="2189828"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30" name="object 230"/>
            <p:cNvSpPr/>
            <p:nvPr/>
          </p:nvSpPr>
          <p:spPr>
            <a:xfrm>
              <a:off x="2187017" y="338050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31" name="object 231"/>
            <p:cNvSpPr/>
            <p:nvPr/>
          </p:nvSpPr>
          <p:spPr>
            <a:xfrm>
              <a:off x="2189828"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32" name="object 232"/>
            <p:cNvSpPr/>
            <p:nvPr/>
          </p:nvSpPr>
          <p:spPr>
            <a:xfrm>
              <a:off x="2560663" y="5299437"/>
              <a:ext cx="0" cy="22860"/>
            </a:xfrm>
            <a:custGeom>
              <a:avLst/>
              <a:gdLst/>
              <a:ahLst/>
              <a:cxnLst/>
              <a:rect l="l" t="t" r="r" b="b"/>
              <a:pathLst>
                <a:path h="22860">
                  <a:moveTo>
                    <a:pt x="0" y="22587"/>
                  </a:moveTo>
                  <a:lnTo>
                    <a:pt x="0" y="0"/>
                  </a:lnTo>
                </a:path>
              </a:pathLst>
            </a:custGeom>
            <a:ln w="3175">
              <a:solidFill>
                <a:srgbClr val="000000"/>
              </a:solidFill>
            </a:ln>
          </p:spPr>
          <p:txBody>
            <a:bodyPr wrap="square" lIns="0" tIns="0" rIns="0" bIns="0" rtlCol="0"/>
            <a:lstStyle/>
            <a:p>
              <a:endParaRPr/>
            </a:p>
          </p:txBody>
        </p:sp>
        <p:sp>
          <p:nvSpPr>
            <p:cNvPr id="233" name="object 233"/>
            <p:cNvSpPr/>
            <p:nvPr/>
          </p:nvSpPr>
          <p:spPr>
            <a:xfrm>
              <a:off x="2563474" y="5302258"/>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34" name="object 234"/>
            <p:cNvSpPr/>
            <p:nvPr/>
          </p:nvSpPr>
          <p:spPr>
            <a:xfrm>
              <a:off x="2560663" y="3380505"/>
              <a:ext cx="0" cy="22860"/>
            </a:xfrm>
            <a:custGeom>
              <a:avLst/>
              <a:gdLst/>
              <a:ahLst/>
              <a:cxnLst/>
              <a:rect l="l" t="t" r="r" b="b"/>
              <a:pathLst>
                <a:path h="22860">
                  <a:moveTo>
                    <a:pt x="0" y="0"/>
                  </a:moveTo>
                  <a:lnTo>
                    <a:pt x="0" y="22738"/>
                  </a:lnTo>
                </a:path>
              </a:pathLst>
            </a:custGeom>
            <a:ln w="3175">
              <a:solidFill>
                <a:srgbClr val="000000"/>
              </a:solidFill>
            </a:ln>
          </p:spPr>
          <p:txBody>
            <a:bodyPr wrap="square" lIns="0" tIns="0" rIns="0" bIns="0" rtlCol="0"/>
            <a:lstStyle/>
            <a:p>
              <a:endParaRPr/>
            </a:p>
          </p:txBody>
        </p:sp>
        <p:sp>
          <p:nvSpPr>
            <p:cNvPr id="235" name="object 235"/>
            <p:cNvSpPr/>
            <p:nvPr/>
          </p:nvSpPr>
          <p:spPr>
            <a:xfrm>
              <a:off x="2563474" y="340612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grpSp>
      <p:sp>
        <p:nvSpPr>
          <p:cNvPr id="236" name="object 236"/>
          <p:cNvSpPr txBox="1"/>
          <p:nvPr/>
        </p:nvSpPr>
        <p:spPr>
          <a:xfrm>
            <a:off x="1421890" y="3035115"/>
            <a:ext cx="659765" cy="100669"/>
          </a:xfrm>
          <a:prstGeom prst="rect">
            <a:avLst/>
          </a:prstGeom>
        </p:spPr>
        <p:txBody>
          <a:bodyPr vert="horz" wrap="square" lIns="0" tIns="15875" rIns="0" bIns="0" rtlCol="0">
            <a:spAutoFit/>
          </a:bodyPr>
          <a:lstStyle/>
          <a:p>
            <a:pPr marL="12700">
              <a:spcBef>
                <a:spcPts val="125"/>
              </a:spcBef>
            </a:pPr>
            <a:r>
              <a:rPr sz="550" dirty="0">
                <a:latin typeface="Arial MT"/>
                <a:cs typeface="Arial MT"/>
              </a:rPr>
              <a:t>FBP</a:t>
            </a:r>
            <a:r>
              <a:rPr sz="550" spc="105" dirty="0">
                <a:latin typeface="Arial MT"/>
                <a:cs typeface="Arial MT"/>
              </a:rPr>
              <a:t> </a:t>
            </a:r>
            <a:r>
              <a:rPr sz="550" spc="-10" dirty="0">
                <a:latin typeface="Arial MT"/>
                <a:cs typeface="Arial MT"/>
              </a:rPr>
              <a:t>reconstruction</a:t>
            </a:r>
            <a:endParaRPr sz="550">
              <a:latin typeface="Arial MT"/>
              <a:cs typeface="Arial MT"/>
            </a:endParaRPr>
          </a:p>
        </p:txBody>
      </p:sp>
      <p:sp>
        <p:nvSpPr>
          <p:cNvPr id="237" name="object 237"/>
          <p:cNvSpPr txBox="1"/>
          <p:nvPr/>
        </p:nvSpPr>
        <p:spPr>
          <a:xfrm>
            <a:off x="2576704" y="5123651"/>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250</a:t>
            </a:r>
            <a:endParaRPr sz="550">
              <a:latin typeface="Arial MT"/>
              <a:cs typeface="Arial MT"/>
            </a:endParaRPr>
          </a:p>
        </p:txBody>
      </p:sp>
      <p:grpSp>
        <p:nvGrpSpPr>
          <p:cNvPr id="238" name="object 238"/>
          <p:cNvGrpSpPr/>
          <p:nvPr/>
        </p:nvGrpSpPr>
        <p:grpSpPr>
          <a:xfrm>
            <a:off x="783217" y="3177308"/>
            <a:ext cx="1950720" cy="1948180"/>
            <a:chOff x="697969" y="3380001"/>
            <a:chExt cx="1950720" cy="1948180"/>
          </a:xfrm>
        </p:grpSpPr>
        <p:sp>
          <p:nvSpPr>
            <p:cNvPr id="239" name="object 239"/>
            <p:cNvSpPr/>
            <p:nvPr/>
          </p:nvSpPr>
          <p:spPr>
            <a:xfrm>
              <a:off x="698474" y="3754106"/>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240" name="object 240"/>
            <p:cNvSpPr/>
            <p:nvPr/>
          </p:nvSpPr>
          <p:spPr>
            <a:xfrm>
              <a:off x="723902" y="3756913"/>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41" name="object 241"/>
            <p:cNvSpPr/>
            <p:nvPr/>
          </p:nvSpPr>
          <p:spPr>
            <a:xfrm>
              <a:off x="2617387" y="3754106"/>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242" name="object 242"/>
            <p:cNvSpPr/>
            <p:nvPr/>
          </p:nvSpPr>
          <p:spPr>
            <a:xfrm>
              <a:off x="2620198" y="3756913"/>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43" name="object 243"/>
            <p:cNvSpPr/>
            <p:nvPr/>
          </p:nvSpPr>
          <p:spPr>
            <a:xfrm>
              <a:off x="698474" y="4122023"/>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244" name="object 244"/>
            <p:cNvSpPr/>
            <p:nvPr/>
          </p:nvSpPr>
          <p:spPr>
            <a:xfrm>
              <a:off x="723902" y="4124830"/>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45" name="object 245"/>
            <p:cNvSpPr/>
            <p:nvPr/>
          </p:nvSpPr>
          <p:spPr>
            <a:xfrm>
              <a:off x="2617387" y="4122023"/>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246" name="object 246"/>
            <p:cNvSpPr/>
            <p:nvPr/>
          </p:nvSpPr>
          <p:spPr>
            <a:xfrm>
              <a:off x="2620198" y="4124830"/>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47" name="object 247"/>
            <p:cNvSpPr/>
            <p:nvPr/>
          </p:nvSpPr>
          <p:spPr>
            <a:xfrm>
              <a:off x="698474" y="4495625"/>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248" name="object 248"/>
            <p:cNvSpPr/>
            <p:nvPr/>
          </p:nvSpPr>
          <p:spPr>
            <a:xfrm>
              <a:off x="723902" y="4498432"/>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49" name="object 249"/>
            <p:cNvSpPr/>
            <p:nvPr/>
          </p:nvSpPr>
          <p:spPr>
            <a:xfrm>
              <a:off x="2617387" y="4495625"/>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250" name="object 250"/>
            <p:cNvSpPr/>
            <p:nvPr/>
          </p:nvSpPr>
          <p:spPr>
            <a:xfrm>
              <a:off x="2620198" y="4498432"/>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51" name="object 251"/>
            <p:cNvSpPr/>
            <p:nvPr/>
          </p:nvSpPr>
          <p:spPr>
            <a:xfrm>
              <a:off x="698474" y="4869205"/>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252" name="object 252"/>
            <p:cNvSpPr/>
            <p:nvPr/>
          </p:nvSpPr>
          <p:spPr>
            <a:xfrm>
              <a:off x="723902" y="4872026"/>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53" name="object 253"/>
            <p:cNvSpPr/>
            <p:nvPr/>
          </p:nvSpPr>
          <p:spPr>
            <a:xfrm>
              <a:off x="2617387" y="4869205"/>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254" name="object 254"/>
            <p:cNvSpPr/>
            <p:nvPr/>
          </p:nvSpPr>
          <p:spPr>
            <a:xfrm>
              <a:off x="2620198" y="4872026"/>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55" name="object 255"/>
            <p:cNvSpPr/>
            <p:nvPr/>
          </p:nvSpPr>
          <p:spPr>
            <a:xfrm>
              <a:off x="698474" y="5242793"/>
              <a:ext cx="22860" cy="0"/>
            </a:xfrm>
            <a:custGeom>
              <a:avLst/>
              <a:gdLst/>
              <a:ahLst/>
              <a:cxnLst/>
              <a:rect l="l" t="t" r="r" b="b"/>
              <a:pathLst>
                <a:path w="22859">
                  <a:moveTo>
                    <a:pt x="0" y="0"/>
                  </a:moveTo>
                  <a:lnTo>
                    <a:pt x="22603" y="0"/>
                  </a:lnTo>
                </a:path>
              </a:pathLst>
            </a:custGeom>
            <a:ln w="3175">
              <a:solidFill>
                <a:srgbClr val="000000"/>
              </a:solidFill>
            </a:ln>
          </p:spPr>
          <p:txBody>
            <a:bodyPr wrap="square" lIns="0" tIns="0" rIns="0" bIns="0" rtlCol="0"/>
            <a:lstStyle/>
            <a:p>
              <a:endParaRPr/>
            </a:p>
          </p:txBody>
        </p:sp>
        <p:sp>
          <p:nvSpPr>
            <p:cNvPr id="256" name="object 256"/>
            <p:cNvSpPr/>
            <p:nvPr/>
          </p:nvSpPr>
          <p:spPr>
            <a:xfrm>
              <a:off x="723902" y="5245613"/>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sp>
          <p:nvSpPr>
            <p:cNvPr id="257" name="object 257"/>
            <p:cNvSpPr/>
            <p:nvPr/>
          </p:nvSpPr>
          <p:spPr>
            <a:xfrm>
              <a:off x="2617387" y="5242793"/>
              <a:ext cx="22860" cy="0"/>
            </a:xfrm>
            <a:custGeom>
              <a:avLst/>
              <a:gdLst/>
              <a:ahLst/>
              <a:cxnLst/>
              <a:rect l="l" t="t" r="r" b="b"/>
              <a:pathLst>
                <a:path w="22860">
                  <a:moveTo>
                    <a:pt x="22560" y="0"/>
                  </a:moveTo>
                  <a:lnTo>
                    <a:pt x="0" y="0"/>
                  </a:lnTo>
                </a:path>
              </a:pathLst>
            </a:custGeom>
            <a:ln w="3175">
              <a:solidFill>
                <a:srgbClr val="000000"/>
              </a:solidFill>
            </a:ln>
          </p:spPr>
          <p:txBody>
            <a:bodyPr wrap="square" lIns="0" tIns="0" rIns="0" bIns="0" rtlCol="0"/>
            <a:lstStyle/>
            <a:p>
              <a:endParaRPr/>
            </a:p>
          </p:txBody>
        </p:sp>
        <p:sp>
          <p:nvSpPr>
            <p:cNvPr id="258" name="object 258"/>
            <p:cNvSpPr/>
            <p:nvPr/>
          </p:nvSpPr>
          <p:spPr>
            <a:xfrm>
              <a:off x="2620198" y="5245613"/>
              <a:ext cx="5715" cy="0"/>
            </a:xfrm>
            <a:custGeom>
              <a:avLst/>
              <a:gdLst/>
              <a:ahLst/>
              <a:cxnLst/>
              <a:rect l="l" t="t" r="r" b="b"/>
              <a:pathLst>
                <a:path w="5714">
                  <a:moveTo>
                    <a:pt x="0" y="0"/>
                  </a:moveTo>
                  <a:lnTo>
                    <a:pt x="5621" y="0"/>
                  </a:lnTo>
                </a:path>
              </a:pathLst>
            </a:custGeom>
            <a:ln w="5647">
              <a:solidFill>
                <a:srgbClr val="000000"/>
              </a:solidFill>
            </a:ln>
          </p:spPr>
          <p:txBody>
            <a:bodyPr wrap="square" lIns="0" tIns="0" rIns="0" bIns="0" rtlCol="0"/>
            <a:lstStyle/>
            <a:p>
              <a:endParaRPr/>
            </a:p>
          </p:txBody>
        </p:sp>
        <p:sp>
          <p:nvSpPr>
            <p:cNvPr id="259" name="object 259"/>
            <p:cNvSpPr/>
            <p:nvPr/>
          </p:nvSpPr>
          <p:spPr>
            <a:xfrm>
              <a:off x="698474" y="5322025"/>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260" name="object 260"/>
            <p:cNvSpPr/>
            <p:nvPr/>
          </p:nvSpPr>
          <p:spPr>
            <a:xfrm>
              <a:off x="2642758"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61" name="object 261"/>
            <p:cNvSpPr/>
            <p:nvPr/>
          </p:nvSpPr>
          <p:spPr>
            <a:xfrm>
              <a:off x="698474" y="3380505"/>
              <a:ext cx="1941830" cy="0"/>
            </a:xfrm>
            <a:custGeom>
              <a:avLst/>
              <a:gdLst/>
              <a:ahLst/>
              <a:cxnLst/>
              <a:rect l="l" t="t" r="r" b="b"/>
              <a:pathLst>
                <a:path w="1941830">
                  <a:moveTo>
                    <a:pt x="0" y="0"/>
                  </a:moveTo>
                  <a:lnTo>
                    <a:pt x="1941473" y="0"/>
                  </a:lnTo>
                </a:path>
              </a:pathLst>
            </a:custGeom>
            <a:ln w="3175">
              <a:solidFill>
                <a:srgbClr val="000000"/>
              </a:solidFill>
            </a:ln>
          </p:spPr>
          <p:txBody>
            <a:bodyPr wrap="square" lIns="0" tIns="0" rIns="0" bIns="0" rtlCol="0"/>
            <a:lstStyle/>
            <a:p>
              <a:endParaRPr/>
            </a:p>
          </p:txBody>
        </p:sp>
        <p:sp>
          <p:nvSpPr>
            <p:cNvPr id="262" name="object 262"/>
            <p:cNvSpPr/>
            <p:nvPr/>
          </p:nvSpPr>
          <p:spPr>
            <a:xfrm>
              <a:off x="2642758" y="3383311"/>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63" name="object 263"/>
            <p:cNvSpPr/>
            <p:nvPr/>
          </p:nvSpPr>
          <p:spPr>
            <a:xfrm>
              <a:off x="2639947"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64" name="object 264"/>
            <p:cNvSpPr/>
            <p:nvPr/>
          </p:nvSpPr>
          <p:spPr>
            <a:xfrm>
              <a:off x="2642758" y="5324845"/>
              <a:ext cx="5715" cy="0"/>
            </a:xfrm>
            <a:custGeom>
              <a:avLst/>
              <a:gdLst/>
              <a:ahLst/>
              <a:cxnLst/>
              <a:rect l="l" t="t" r="r" b="b"/>
              <a:pathLst>
                <a:path w="5714">
                  <a:moveTo>
                    <a:pt x="0" y="0"/>
                  </a:moveTo>
                  <a:lnTo>
                    <a:pt x="5694" y="0"/>
                  </a:lnTo>
                </a:path>
              </a:pathLst>
            </a:custGeom>
            <a:ln w="5647">
              <a:solidFill>
                <a:srgbClr val="000000"/>
              </a:solidFill>
            </a:ln>
          </p:spPr>
          <p:txBody>
            <a:bodyPr wrap="square" lIns="0" tIns="0" rIns="0" bIns="0" rtlCol="0"/>
            <a:lstStyle/>
            <a:p>
              <a:endParaRPr/>
            </a:p>
          </p:txBody>
        </p:sp>
        <p:sp>
          <p:nvSpPr>
            <p:cNvPr id="265" name="object 265"/>
            <p:cNvSpPr/>
            <p:nvPr/>
          </p:nvSpPr>
          <p:spPr>
            <a:xfrm>
              <a:off x="698474" y="3380505"/>
              <a:ext cx="0" cy="1941830"/>
            </a:xfrm>
            <a:custGeom>
              <a:avLst/>
              <a:gdLst/>
              <a:ahLst/>
              <a:cxnLst/>
              <a:rect l="l" t="t" r="r" b="b"/>
              <a:pathLst>
                <a:path h="1941829">
                  <a:moveTo>
                    <a:pt x="0" y="0"/>
                  </a:moveTo>
                  <a:lnTo>
                    <a:pt x="0" y="1941520"/>
                  </a:lnTo>
                </a:path>
              </a:pathLst>
            </a:custGeom>
            <a:ln w="3175">
              <a:solidFill>
                <a:srgbClr val="000000"/>
              </a:solidFill>
            </a:ln>
          </p:spPr>
          <p:txBody>
            <a:bodyPr wrap="square" lIns="0" tIns="0" rIns="0" bIns="0" rtlCol="0"/>
            <a:lstStyle/>
            <a:p>
              <a:endParaRPr/>
            </a:p>
          </p:txBody>
        </p:sp>
        <p:sp>
          <p:nvSpPr>
            <p:cNvPr id="266" name="object 266"/>
            <p:cNvSpPr/>
            <p:nvPr/>
          </p:nvSpPr>
          <p:spPr>
            <a:xfrm>
              <a:off x="701299" y="5324845"/>
              <a:ext cx="5715" cy="0"/>
            </a:xfrm>
            <a:custGeom>
              <a:avLst/>
              <a:gdLst/>
              <a:ahLst/>
              <a:cxnLst/>
              <a:rect l="l" t="t" r="r" b="b"/>
              <a:pathLst>
                <a:path w="5715">
                  <a:moveTo>
                    <a:pt x="0" y="0"/>
                  </a:moveTo>
                  <a:lnTo>
                    <a:pt x="5650" y="0"/>
                  </a:lnTo>
                </a:path>
              </a:pathLst>
            </a:custGeom>
            <a:ln w="5647">
              <a:solidFill>
                <a:srgbClr val="000000"/>
              </a:solidFill>
            </a:ln>
          </p:spPr>
          <p:txBody>
            <a:bodyPr wrap="square" lIns="0" tIns="0" rIns="0" bIns="0" rtlCol="0"/>
            <a:lstStyle/>
            <a:p>
              <a:endParaRPr/>
            </a:p>
          </p:txBody>
        </p:sp>
      </p:grpSp>
      <p:sp>
        <p:nvSpPr>
          <p:cNvPr id="267" name="object 267"/>
          <p:cNvSpPr txBox="1"/>
          <p:nvPr/>
        </p:nvSpPr>
        <p:spPr>
          <a:xfrm>
            <a:off x="1100944" y="5087772"/>
            <a:ext cx="1246505" cy="537326"/>
          </a:xfrm>
          <a:prstGeom prst="rect">
            <a:avLst/>
          </a:prstGeom>
        </p:spPr>
        <p:txBody>
          <a:bodyPr vert="horz" wrap="square" lIns="0" tIns="52069" rIns="0" bIns="0" rtlCol="0">
            <a:spAutoFit/>
          </a:bodyPr>
          <a:lstStyle/>
          <a:p>
            <a:pPr marL="16510">
              <a:spcBef>
                <a:spcPts val="409"/>
              </a:spcBef>
              <a:tabLst>
                <a:tab pos="367030" algn="l"/>
                <a:tab pos="741045" algn="l"/>
                <a:tab pos="1114425" algn="l"/>
              </a:tabLst>
            </a:pPr>
            <a:r>
              <a:rPr sz="550" spc="-25" dirty="0">
                <a:latin typeface="Arial MT"/>
                <a:cs typeface="Arial MT"/>
              </a:rPr>
              <a:t>50</a:t>
            </a:r>
            <a:r>
              <a:rPr sz="550" dirty="0">
                <a:latin typeface="Arial MT"/>
                <a:cs typeface="Arial MT"/>
              </a:rPr>
              <a:t>	</a:t>
            </a:r>
            <a:r>
              <a:rPr sz="550" spc="-25" dirty="0">
                <a:latin typeface="Arial MT"/>
                <a:cs typeface="Arial MT"/>
              </a:rPr>
              <a:t>100</a:t>
            </a:r>
            <a:r>
              <a:rPr sz="550" dirty="0">
                <a:latin typeface="Arial MT"/>
                <a:cs typeface="Arial MT"/>
              </a:rPr>
              <a:t>	</a:t>
            </a:r>
            <a:r>
              <a:rPr sz="550" spc="-25" dirty="0">
                <a:latin typeface="Arial MT"/>
                <a:cs typeface="Arial MT"/>
              </a:rPr>
              <a:t>150</a:t>
            </a:r>
            <a:r>
              <a:rPr sz="550" dirty="0">
                <a:latin typeface="Arial MT"/>
                <a:cs typeface="Arial MT"/>
              </a:rPr>
              <a:t>	</a:t>
            </a:r>
            <a:r>
              <a:rPr sz="550" spc="-25" dirty="0">
                <a:latin typeface="Arial MT"/>
                <a:cs typeface="Arial MT"/>
              </a:rPr>
              <a:t>200</a:t>
            </a:r>
            <a:endParaRPr sz="550" dirty="0">
              <a:latin typeface="Arial MT"/>
              <a:cs typeface="Arial MT"/>
            </a:endParaRPr>
          </a:p>
          <a:p>
            <a:pPr>
              <a:spcBef>
                <a:spcPts val="250"/>
              </a:spcBef>
            </a:pPr>
            <a:endParaRPr sz="550" dirty="0">
              <a:latin typeface="Arial MT"/>
              <a:cs typeface="Arial MT"/>
            </a:endParaRPr>
          </a:p>
          <a:p>
            <a:pPr marL="266700" marR="50800" indent="-254635"/>
            <a:r>
              <a:rPr b="1" dirty="0">
                <a:solidFill>
                  <a:srgbClr val="FF0000"/>
                </a:solidFill>
                <a:latin typeface="Arial"/>
                <a:cs typeface="Arial"/>
              </a:rPr>
              <a:t>D</a:t>
            </a:r>
            <a:r>
              <a:rPr lang="en-US" b="1" spc="-15" dirty="0">
                <a:solidFill>
                  <a:srgbClr val="FF0000"/>
                </a:solidFill>
                <a:latin typeface="Arial"/>
                <a:cs typeface="Arial"/>
              </a:rPr>
              <a:t>L: </a:t>
            </a:r>
            <a:r>
              <a:rPr b="1" spc="-10" dirty="0">
                <a:solidFill>
                  <a:srgbClr val="FF0000"/>
                </a:solidFill>
                <a:latin typeface="Arial"/>
                <a:cs typeface="Arial"/>
              </a:rPr>
              <a:t>191)</a:t>
            </a:r>
            <a:endParaRPr dirty="0">
              <a:latin typeface="Arial"/>
              <a:cs typeface="Arial"/>
            </a:endParaRPr>
          </a:p>
        </p:txBody>
      </p:sp>
      <p:sp>
        <p:nvSpPr>
          <p:cNvPr id="268" name="object 268"/>
          <p:cNvSpPr txBox="1"/>
          <p:nvPr/>
        </p:nvSpPr>
        <p:spPr>
          <a:xfrm>
            <a:off x="674793" y="3493626"/>
            <a:ext cx="10477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50</a:t>
            </a:r>
            <a:endParaRPr sz="550">
              <a:latin typeface="Arial MT"/>
              <a:cs typeface="Arial MT"/>
            </a:endParaRPr>
          </a:p>
        </p:txBody>
      </p:sp>
      <p:sp>
        <p:nvSpPr>
          <p:cNvPr id="269" name="object 269"/>
          <p:cNvSpPr txBox="1"/>
          <p:nvPr/>
        </p:nvSpPr>
        <p:spPr>
          <a:xfrm>
            <a:off x="635057" y="3861543"/>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100</a:t>
            </a:r>
            <a:endParaRPr sz="550">
              <a:latin typeface="Arial MT"/>
              <a:cs typeface="Arial MT"/>
            </a:endParaRPr>
          </a:p>
        </p:txBody>
      </p:sp>
      <p:sp>
        <p:nvSpPr>
          <p:cNvPr id="270" name="object 270"/>
          <p:cNvSpPr txBox="1"/>
          <p:nvPr/>
        </p:nvSpPr>
        <p:spPr>
          <a:xfrm>
            <a:off x="635057" y="4235145"/>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150</a:t>
            </a:r>
            <a:endParaRPr sz="550">
              <a:latin typeface="Arial MT"/>
              <a:cs typeface="Arial MT"/>
            </a:endParaRPr>
          </a:p>
        </p:txBody>
      </p:sp>
      <p:sp>
        <p:nvSpPr>
          <p:cNvPr id="271" name="object 271"/>
          <p:cNvSpPr txBox="1"/>
          <p:nvPr/>
        </p:nvSpPr>
        <p:spPr>
          <a:xfrm>
            <a:off x="635057" y="4608711"/>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200</a:t>
            </a:r>
            <a:endParaRPr sz="550">
              <a:latin typeface="Arial MT"/>
              <a:cs typeface="Arial MT"/>
            </a:endParaRPr>
          </a:p>
        </p:txBody>
      </p:sp>
      <p:sp>
        <p:nvSpPr>
          <p:cNvPr id="272" name="object 272"/>
          <p:cNvSpPr txBox="1"/>
          <p:nvPr/>
        </p:nvSpPr>
        <p:spPr>
          <a:xfrm>
            <a:off x="635057" y="4982298"/>
            <a:ext cx="144145" cy="100669"/>
          </a:xfrm>
          <a:prstGeom prst="rect">
            <a:avLst/>
          </a:prstGeom>
        </p:spPr>
        <p:txBody>
          <a:bodyPr vert="horz" wrap="square" lIns="0" tIns="15875" rIns="0" bIns="0" rtlCol="0">
            <a:spAutoFit/>
          </a:bodyPr>
          <a:lstStyle/>
          <a:p>
            <a:pPr marL="12700">
              <a:spcBef>
                <a:spcPts val="125"/>
              </a:spcBef>
            </a:pPr>
            <a:r>
              <a:rPr sz="550" spc="-25" dirty="0">
                <a:latin typeface="Arial MT"/>
                <a:cs typeface="Arial MT"/>
              </a:rPr>
              <a:t>250</a:t>
            </a:r>
            <a:endParaRPr sz="55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6414" y="171704"/>
            <a:ext cx="4058285" cy="635000"/>
          </a:xfrm>
          <a:prstGeom prst="rect">
            <a:avLst/>
          </a:prstGeom>
        </p:spPr>
        <p:txBody>
          <a:bodyPr vert="horz" wrap="square" lIns="0" tIns="12065" rIns="0" bIns="0" rtlCol="0">
            <a:spAutoFit/>
          </a:bodyPr>
          <a:lstStyle/>
          <a:p>
            <a:pPr marL="12700">
              <a:spcBef>
                <a:spcPts val="95"/>
              </a:spcBef>
            </a:pPr>
            <a:r>
              <a:rPr sz="4000" b="1" spc="-10" dirty="0">
                <a:latin typeface="Arial"/>
                <a:cs typeface="Arial"/>
              </a:rPr>
              <a:t>Homework</a:t>
            </a:r>
            <a:endParaRPr sz="4000" dirty="0">
              <a:latin typeface="Arial"/>
              <a:cs typeface="Arial"/>
            </a:endParaRPr>
          </a:p>
        </p:txBody>
      </p:sp>
      <p:sp>
        <p:nvSpPr>
          <p:cNvPr id="3" name="object 3"/>
          <p:cNvSpPr txBox="1"/>
          <p:nvPr/>
        </p:nvSpPr>
        <p:spPr>
          <a:xfrm>
            <a:off x="1755140" y="1277874"/>
            <a:ext cx="8585200" cy="2817118"/>
          </a:xfrm>
          <a:prstGeom prst="rect">
            <a:avLst/>
          </a:prstGeom>
        </p:spPr>
        <p:txBody>
          <a:bodyPr vert="horz" wrap="square" lIns="0" tIns="48895" rIns="0" bIns="0" rtlCol="0">
            <a:spAutoFit/>
          </a:bodyPr>
          <a:lstStyle/>
          <a:p>
            <a:pPr marL="12700" marR="478790">
              <a:lnSpc>
                <a:spcPct val="110000"/>
              </a:lnSpc>
              <a:spcBef>
                <a:spcPts val="385"/>
              </a:spcBef>
            </a:pPr>
            <a:r>
              <a:rPr sz="2400" dirty="0">
                <a:latin typeface="Microsoft Sans Serif"/>
                <a:cs typeface="Microsoft Sans Serif"/>
              </a:rPr>
              <a:t>Read</a:t>
            </a:r>
            <a:r>
              <a:rPr sz="2400" spc="-30" dirty="0">
                <a:latin typeface="Microsoft Sans Serif"/>
                <a:cs typeface="Microsoft Sans Serif"/>
              </a:rPr>
              <a:t> </a:t>
            </a:r>
            <a:r>
              <a:rPr sz="2400" dirty="0">
                <a:latin typeface="Microsoft Sans Serif"/>
                <a:cs typeface="Microsoft Sans Serif"/>
              </a:rPr>
              <a:t>the</a:t>
            </a:r>
            <a:r>
              <a:rPr sz="2400" spc="-25" dirty="0">
                <a:latin typeface="Microsoft Sans Serif"/>
                <a:cs typeface="Microsoft Sans Serif"/>
              </a:rPr>
              <a:t> </a:t>
            </a:r>
            <a:r>
              <a:rPr sz="2400" dirty="0">
                <a:latin typeface="Microsoft Sans Serif"/>
                <a:cs typeface="Microsoft Sans Serif"/>
              </a:rPr>
              <a:t>web</a:t>
            </a:r>
            <a:r>
              <a:rPr sz="2400" spc="-20" dirty="0">
                <a:latin typeface="Microsoft Sans Serif"/>
                <a:cs typeface="Microsoft Sans Serif"/>
              </a:rPr>
              <a:t> </a:t>
            </a:r>
            <a:r>
              <a:rPr sz="2400" dirty="0">
                <a:latin typeface="Microsoft Sans Serif"/>
                <a:cs typeface="Microsoft Sans Serif"/>
              </a:rPr>
              <a:t>page</a:t>
            </a:r>
            <a:r>
              <a:rPr sz="2400" spc="-15" dirty="0">
                <a:latin typeface="Microsoft Sans Serif"/>
                <a:cs typeface="Microsoft Sans Serif"/>
              </a:rPr>
              <a:t> </a:t>
            </a:r>
            <a:r>
              <a:rPr sz="2400" dirty="0">
                <a:latin typeface="Microsoft Sans Serif"/>
                <a:cs typeface="Microsoft Sans Serif"/>
              </a:rPr>
              <a:t>carefully</a:t>
            </a:r>
            <a:r>
              <a:rPr sz="2400" spc="-20" dirty="0">
                <a:latin typeface="Microsoft Sans Serif"/>
                <a:cs typeface="Microsoft Sans Serif"/>
              </a:rPr>
              <a:t> </a:t>
            </a:r>
            <a:r>
              <a:rPr sz="2400" dirty="0">
                <a:latin typeface="Microsoft Sans Serif"/>
                <a:cs typeface="Microsoft Sans Serif"/>
              </a:rPr>
              <a:t>and</a:t>
            </a:r>
            <a:r>
              <a:rPr sz="2400" spc="-40" dirty="0">
                <a:latin typeface="Microsoft Sans Serif"/>
                <a:cs typeface="Microsoft Sans Serif"/>
              </a:rPr>
              <a:t> </a:t>
            </a:r>
            <a:r>
              <a:rPr sz="2400" dirty="0">
                <a:latin typeface="Microsoft Sans Serif"/>
                <a:cs typeface="Microsoft Sans Serif"/>
              </a:rPr>
              <a:t>run</a:t>
            </a:r>
            <a:r>
              <a:rPr sz="2400" spc="-35" dirty="0">
                <a:latin typeface="Microsoft Sans Serif"/>
                <a:cs typeface="Microsoft Sans Serif"/>
              </a:rPr>
              <a:t> </a:t>
            </a:r>
            <a:r>
              <a:rPr sz="2400" dirty="0">
                <a:latin typeface="Microsoft Sans Serif"/>
                <a:cs typeface="Microsoft Sans Serif"/>
              </a:rPr>
              <a:t>the</a:t>
            </a:r>
            <a:r>
              <a:rPr sz="2400" spc="-40" dirty="0">
                <a:latin typeface="Microsoft Sans Serif"/>
                <a:cs typeface="Microsoft Sans Serif"/>
              </a:rPr>
              <a:t> </a:t>
            </a:r>
            <a:r>
              <a:rPr sz="2400" dirty="0">
                <a:latin typeface="Microsoft Sans Serif"/>
                <a:cs typeface="Microsoft Sans Serif"/>
              </a:rPr>
              <a:t>codes</a:t>
            </a:r>
            <a:r>
              <a:rPr sz="2400" spc="-20" dirty="0">
                <a:latin typeface="Microsoft Sans Serif"/>
                <a:cs typeface="Microsoft Sans Serif"/>
              </a:rPr>
              <a:t> </a:t>
            </a:r>
            <a:r>
              <a:rPr sz="2400" dirty="0">
                <a:latin typeface="Microsoft Sans Serif"/>
                <a:cs typeface="Microsoft Sans Serif"/>
              </a:rPr>
              <a:t>on</a:t>
            </a:r>
            <a:r>
              <a:rPr sz="2400" spc="-35" dirty="0">
                <a:latin typeface="Microsoft Sans Serif"/>
                <a:cs typeface="Microsoft Sans Serif"/>
              </a:rPr>
              <a:t> </a:t>
            </a:r>
            <a:r>
              <a:rPr sz="2400" dirty="0">
                <a:latin typeface="Microsoft Sans Serif"/>
                <a:cs typeface="Microsoft Sans Serif"/>
              </a:rPr>
              <a:t>your</a:t>
            </a:r>
            <a:r>
              <a:rPr sz="2400" spc="-35" dirty="0">
                <a:latin typeface="Microsoft Sans Serif"/>
                <a:cs typeface="Microsoft Sans Serif"/>
              </a:rPr>
              <a:t> </a:t>
            </a:r>
            <a:r>
              <a:rPr sz="2400" spc="-25" dirty="0">
                <a:latin typeface="Microsoft Sans Serif"/>
                <a:cs typeface="Microsoft Sans Serif"/>
              </a:rPr>
              <a:t>PC: </a:t>
            </a:r>
            <a:r>
              <a:rPr sz="2400" u="sng" spc="-10" dirty="0">
                <a:solidFill>
                  <a:srgbClr val="0000FF"/>
                </a:solidFill>
                <a:uFill>
                  <a:solidFill>
                    <a:srgbClr val="0000FF"/>
                  </a:solidFill>
                </a:uFill>
                <a:latin typeface="Microsoft Sans Serif"/>
                <a:cs typeface="Microsoft Sans Serif"/>
                <a:hlinkClick r:id="rId3"/>
              </a:rPr>
              <a:t>http://www.mathworks.com/help/images/radon-</a:t>
            </a:r>
            <a:r>
              <a:rPr sz="2400" spc="-10" dirty="0">
                <a:solidFill>
                  <a:srgbClr val="0000FF"/>
                </a:solidFill>
                <a:latin typeface="Microsoft Sans Serif"/>
                <a:cs typeface="Microsoft Sans Serif"/>
              </a:rPr>
              <a:t> </a:t>
            </a:r>
            <a:r>
              <a:rPr sz="2400" u="sng" spc="-10" dirty="0" err="1">
                <a:solidFill>
                  <a:srgbClr val="0000FF"/>
                </a:solidFill>
                <a:uFill>
                  <a:solidFill>
                    <a:srgbClr val="0000FF"/>
                  </a:solidFill>
                </a:uFill>
                <a:latin typeface="Microsoft Sans Serif"/>
                <a:cs typeface="Microsoft Sans Serif"/>
                <a:hlinkClick r:id="rId3"/>
              </a:rPr>
              <a:t>transform.html?refresh</a:t>
            </a:r>
            <a:r>
              <a:rPr lang="en-US" sz="2400" u="sng" spc="-10" dirty="0" err="1">
                <a:solidFill>
                  <a:srgbClr val="0000FF"/>
                </a:solidFill>
                <a:uFill>
                  <a:solidFill>
                    <a:srgbClr val="0000FF"/>
                  </a:solidFill>
                </a:uFill>
                <a:latin typeface="Microsoft Sans Serif"/>
                <a:cs typeface="Microsoft Sans Serif"/>
                <a:hlinkClick r:id="rId3"/>
              </a:rPr>
              <a:t>equals</a:t>
            </a:r>
            <a:r>
              <a:rPr sz="2400" u="sng" spc="-10" dirty="0" err="1">
                <a:solidFill>
                  <a:srgbClr val="0000FF"/>
                </a:solidFill>
                <a:uFill>
                  <a:solidFill>
                    <a:srgbClr val="0000FF"/>
                  </a:solidFill>
                </a:uFill>
                <a:latin typeface="Microsoft Sans Serif"/>
                <a:cs typeface="Microsoft Sans Serif"/>
                <a:hlinkClick r:id="rId3"/>
              </a:rPr>
              <a:t>true</a:t>
            </a:r>
            <a:endParaRPr sz="2400" dirty="0">
              <a:latin typeface="Microsoft Sans Serif"/>
              <a:cs typeface="Microsoft Sans Serif"/>
            </a:endParaRPr>
          </a:p>
          <a:p>
            <a:pPr marL="12700" marR="5080">
              <a:spcBef>
                <a:spcPts val="575"/>
              </a:spcBef>
            </a:pPr>
            <a:r>
              <a:rPr sz="2400" dirty="0">
                <a:latin typeface="Microsoft Sans Serif"/>
                <a:cs typeface="Microsoft Sans Serif"/>
              </a:rPr>
              <a:t>Then</a:t>
            </a:r>
            <a:r>
              <a:rPr sz="2400" spc="-45" dirty="0">
                <a:latin typeface="Microsoft Sans Serif"/>
                <a:cs typeface="Microsoft Sans Serif"/>
              </a:rPr>
              <a:t> </a:t>
            </a:r>
            <a:r>
              <a:rPr sz="2400" dirty="0">
                <a:latin typeface="Microsoft Sans Serif"/>
                <a:cs typeface="Microsoft Sans Serif"/>
              </a:rPr>
              <a:t>write</a:t>
            </a:r>
            <a:r>
              <a:rPr sz="2400" spc="-30" dirty="0">
                <a:latin typeface="Microsoft Sans Serif"/>
                <a:cs typeface="Microsoft Sans Serif"/>
              </a:rPr>
              <a:t> </a:t>
            </a:r>
            <a:r>
              <a:rPr sz="2400" dirty="0">
                <a:latin typeface="Microsoft Sans Serif"/>
                <a:cs typeface="Microsoft Sans Serif"/>
              </a:rPr>
              <a:t>a</a:t>
            </a:r>
            <a:r>
              <a:rPr sz="2400" spc="-50" dirty="0">
                <a:latin typeface="Microsoft Sans Serif"/>
                <a:cs typeface="Microsoft Sans Serif"/>
              </a:rPr>
              <a:t> </a:t>
            </a:r>
            <a:r>
              <a:rPr sz="2400" dirty="0">
                <a:latin typeface="Microsoft Sans Serif"/>
                <a:cs typeface="Microsoft Sans Serif"/>
              </a:rPr>
              <a:t>similar</a:t>
            </a:r>
            <a:r>
              <a:rPr sz="2400" spc="-15" dirty="0">
                <a:latin typeface="Microsoft Sans Serif"/>
                <a:cs typeface="Microsoft Sans Serif"/>
              </a:rPr>
              <a:t> </a:t>
            </a:r>
            <a:r>
              <a:rPr sz="2400" dirty="0">
                <a:latin typeface="Microsoft Sans Serif"/>
                <a:cs typeface="Microsoft Sans Serif"/>
              </a:rPr>
              <a:t>page</a:t>
            </a:r>
            <a:r>
              <a:rPr sz="2400" spc="-30" dirty="0">
                <a:latin typeface="Microsoft Sans Serif"/>
                <a:cs typeface="Microsoft Sans Serif"/>
              </a:rPr>
              <a:t> </a:t>
            </a:r>
            <a:r>
              <a:rPr sz="2400" dirty="0">
                <a:latin typeface="Microsoft Sans Serif"/>
                <a:cs typeface="Microsoft Sans Serif"/>
              </a:rPr>
              <a:t>with</a:t>
            </a:r>
            <a:r>
              <a:rPr sz="2400" spc="-40" dirty="0">
                <a:latin typeface="Microsoft Sans Serif"/>
                <a:cs typeface="Microsoft Sans Serif"/>
              </a:rPr>
              <a:t> </a:t>
            </a:r>
            <a:r>
              <a:rPr sz="2400" dirty="0">
                <a:latin typeface="Microsoft Sans Serif"/>
                <a:cs typeface="Microsoft Sans Serif"/>
              </a:rPr>
              <a:t>an</a:t>
            </a:r>
            <a:r>
              <a:rPr sz="2400" spc="-40" dirty="0">
                <a:latin typeface="Microsoft Sans Serif"/>
                <a:cs typeface="Microsoft Sans Serif"/>
              </a:rPr>
              <a:t> </a:t>
            </a:r>
            <a:r>
              <a:rPr sz="2400" dirty="0">
                <a:latin typeface="Microsoft Sans Serif"/>
                <a:cs typeface="Microsoft Sans Serif"/>
              </a:rPr>
              <a:t>ellipse</a:t>
            </a:r>
            <a:r>
              <a:rPr sz="2400" spc="-10" dirty="0">
                <a:latin typeface="Microsoft Sans Serif"/>
                <a:cs typeface="Microsoft Sans Serif"/>
              </a:rPr>
              <a:t> </a:t>
            </a:r>
            <a:r>
              <a:rPr sz="2400" dirty="0">
                <a:latin typeface="Microsoft Sans Serif"/>
                <a:cs typeface="Microsoft Sans Serif"/>
              </a:rPr>
              <a:t>as</a:t>
            </a:r>
            <a:r>
              <a:rPr sz="2400" spc="-45" dirty="0">
                <a:latin typeface="Microsoft Sans Serif"/>
                <a:cs typeface="Microsoft Sans Serif"/>
              </a:rPr>
              <a:t> </a:t>
            </a:r>
            <a:r>
              <a:rPr sz="2400" dirty="0">
                <a:latin typeface="Microsoft Sans Serif"/>
                <a:cs typeface="Microsoft Sans Serif"/>
              </a:rPr>
              <a:t>your</a:t>
            </a:r>
            <a:r>
              <a:rPr sz="2400" spc="-35" dirty="0">
                <a:latin typeface="Microsoft Sans Serif"/>
                <a:cs typeface="Microsoft Sans Serif"/>
              </a:rPr>
              <a:t> </a:t>
            </a:r>
            <a:r>
              <a:rPr sz="2400" dirty="0">
                <a:latin typeface="Microsoft Sans Serif"/>
                <a:cs typeface="Microsoft Sans Serif"/>
              </a:rPr>
              <a:t>object</a:t>
            </a:r>
            <a:r>
              <a:rPr sz="2400" spc="-40" dirty="0">
                <a:latin typeface="Microsoft Sans Serif"/>
                <a:cs typeface="Microsoft Sans Serif"/>
              </a:rPr>
              <a:t> </a:t>
            </a:r>
            <a:r>
              <a:rPr sz="2400" spc="-10" dirty="0">
                <a:latin typeface="Microsoft Sans Serif"/>
                <a:cs typeface="Microsoft Sans Serif"/>
              </a:rPr>
              <a:t>(instead </a:t>
            </a:r>
            <a:r>
              <a:rPr sz="2400" dirty="0">
                <a:latin typeface="Microsoft Sans Serif"/>
                <a:cs typeface="Microsoft Sans Serif"/>
              </a:rPr>
              <a:t>of</a:t>
            </a:r>
            <a:r>
              <a:rPr sz="2400" spc="5" dirty="0">
                <a:latin typeface="Microsoft Sans Serif"/>
                <a:cs typeface="Microsoft Sans Serif"/>
              </a:rPr>
              <a:t> </a:t>
            </a:r>
            <a:r>
              <a:rPr sz="2400" dirty="0">
                <a:latin typeface="Microsoft Sans Serif"/>
                <a:cs typeface="Microsoft Sans Serif"/>
              </a:rPr>
              <a:t>the</a:t>
            </a:r>
            <a:r>
              <a:rPr sz="2400" spc="-5" dirty="0">
                <a:latin typeface="Microsoft Sans Serif"/>
                <a:cs typeface="Microsoft Sans Serif"/>
              </a:rPr>
              <a:t> </a:t>
            </a:r>
            <a:r>
              <a:rPr sz="2400" spc="-10" dirty="0">
                <a:latin typeface="Microsoft Sans Serif"/>
                <a:cs typeface="Microsoft Sans Serif"/>
              </a:rPr>
              <a:t>square).</a:t>
            </a:r>
            <a:endParaRPr sz="2400" dirty="0">
              <a:latin typeface="Microsoft Sans Serif"/>
              <a:cs typeface="Microsoft Sans Serif"/>
            </a:endParaRPr>
          </a:p>
          <a:p>
            <a:pPr marL="12700" marR="1789430">
              <a:lnSpc>
                <a:spcPct val="240000"/>
              </a:lnSpc>
              <a:spcBef>
                <a:spcPts val="5"/>
              </a:spcBef>
            </a:pPr>
            <a:r>
              <a:rPr sz="2400" dirty="0">
                <a:latin typeface="Microsoft Sans Serif"/>
                <a:cs typeface="Microsoft Sans Serif"/>
              </a:rPr>
              <a:t>Use</a:t>
            </a:r>
            <a:r>
              <a:rPr sz="2400" spc="-45" dirty="0">
                <a:latin typeface="Microsoft Sans Serif"/>
                <a:cs typeface="Microsoft Sans Serif"/>
              </a:rPr>
              <a:t> </a:t>
            </a:r>
            <a:r>
              <a:rPr sz="2400" dirty="0">
                <a:latin typeface="Microsoft Sans Serif"/>
                <a:cs typeface="Microsoft Sans Serif"/>
              </a:rPr>
              <a:t>the</a:t>
            </a:r>
            <a:r>
              <a:rPr sz="2400" spc="-35" dirty="0">
                <a:latin typeface="Microsoft Sans Serif"/>
                <a:cs typeface="Microsoft Sans Serif"/>
              </a:rPr>
              <a:t> </a:t>
            </a:r>
            <a:r>
              <a:rPr sz="2400" dirty="0">
                <a:latin typeface="Microsoft Sans Serif"/>
                <a:cs typeface="Microsoft Sans Serif"/>
              </a:rPr>
              <a:t>iradon</a:t>
            </a:r>
            <a:r>
              <a:rPr sz="2400" spc="-30" dirty="0">
                <a:latin typeface="Microsoft Sans Serif"/>
                <a:cs typeface="Microsoft Sans Serif"/>
              </a:rPr>
              <a:t> </a:t>
            </a:r>
            <a:r>
              <a:rPr sz="2400" dirty="0">
                <a:latin typeface="Microsoft Sans Serif"/>
                <a:cs typeface="Microsoft Sans Serif"/>
              </a:rPr>
              <a:t>function</a:t>
            </a:r>
            <a:r>
              <a:rPr sz="2400" spc="-30" dirty="0">
                <a:latin typeface="Microsoft Sans Serif"/>
                <a:cs typeface="Microsoft Sans Serif"/>
              </a:rPr>
              <a:t> </a:t>
            </a:r>
            <a:r>
              <a:rPr sz="2400" dirty="0">
                <a:latin typeface="Microsoft Sans Serif"/>
                <a:cs typeface="Microsoft Sans Serif"/>
              </a:rPr>
              <a:t>to</a:t>
            </a:r>
            <a:r>
              <a:rPr sz="2400" spc="-50" dirty="0">
                <a:latin typeface="Microsoft Sans Serif"/>
                <a:cs typeface="Microsoft Sans Serif"/>
              </a:rPr>
              <a:t> </a:t>
            </a:r>
            <a:r>
              <a:rPr sz="2400" dirty="0">
                <a:latin typeface="Microsoft Sans Serif"/>
                <a:cs typeface="Microsoft Sans Serif"/>
              </a:rPr>
              <a:t>reconstruct</a:t>
            </a:r>
            <a:r>
              <a:rPr sz="2400" spc="-35" dirty="0">
                <a:latin typeface="Microsoft Sans Serif"/>
                <a:cs typeface="Microsoft Sans Serif"/>
              </a:rPr>
              <a:t> </a:t>
            </a:r>
            <a:r>
              <a:rPr sz="2400" dirty="0">
                <a:latin typeface="Microsoft Sans Serif"/>
                <a:cs typeface="Microsoft Sans Serif"/>
              </a:rPr>
              <a:t>your</a:t>
            </a:r>
            <a:r>
              <a:rPr sz="2400" spc="-30" dirty="0">
                <a:latin typeface="Microsoft Sans Serif"/>
                <a:cs typeface="Microsoft Sans Serif"/>
              </a:rPr>
              <a:t> </a:t>
            </a:r>
            <a:r>
              <a:rPr sz="2400" spc="-10" dirty="0">
                <a:latin typeface="Microsoft Sans Serif"/>
                <a:cs typeface="Microsoft Sans Serif"/>
              </a:rPr>
              <a:t>ellipse. </a:t>
            </a:r>
            <a:endParaRPr sz="2400" dirty="0">
              <a:latin typeface="Microsoft Sans Serif"/>
              <a:cs typeface="Microsoft Sans Serif"/>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66414" y="171704"/>
            <a:ext cx="4058285" cy="750847"/>
          </a:xfrm>
          <a:prstGeom prst="rect">
            <a:avLst/>
          </a:prstGeom>
        </p:spPr>
        <p:txBody>
          <a:bodyPr vert="horz" wrap="square" lIns="0" tIns="12065" rIns="0" bIns="0" rtlCol="0">
            <a:spAutoFit/>
          </a:bodyPr>
          <a:lstStyle/>
          <a:p>
            <a:pPr marL="12700">
              <a:spcBef>
                <a:spcPts val="95"/>
              </a:spcBef>
            </a:pPr>
            <a:r>
              <a:rPr sz="4800" b="1" spc="-10" dirty="0">
                <a:latin typeface="Arial" panose="020B0604020202020204" pitchFamily="34" charset="0"/>
                <a:cs typeface="Arial" panose="020B0604020202020204" pitchFamily="34" charset="0"/>
              </a:rPr>
              <a:t>Homework</a:t>
            </a:r>
            <a:endParaRPr sz="4800" dirty="0">
              <a:latin typeface="Arial" panose="020B0604020202020204" pitchFamily="34" charset="0"/>
              <a:cs typeface="Arial" panose="020B0604020202020204" pitchFamily="34" charset="0"/>
            </a:endParaRPr>
          </a:p>
        </p:txBody>
      </p:sp>
      <p:sp>
        <p:nvSpPr>
          <p:cNvPr id="3" name="object 3"/>
          <p:cNvSpPr txBox="1">
            <a:spLocks noGrp="1"/>
          </p:cNvSpPr>
          <p:nvPr>
            <p:ph type="body" idx="1"/>
          </p:nvPr>
        </p:nvSpPr>
        <p:spPr>
          <a:xfrm>
            <a:off x="228600" y="1050414"/>
            <a:ext cx="11811000" cy="4008149"/>
          </a:xfrm>
          <a:prstGeom prst="rect">
            <a:avLst/>
          </a:prstGeom>
        </p:spPr>
        <p:txBody>
          <a:bodyPr vert="horz" wrap="square" lIns="0" tIns="85725" rIns="0" bIns="0" rtlCol="0">
            <a:spAutoFit/>
          </a:bodyPr>
          <a:lstStyle/>
          <a:p>
            <a:pPr marL="12700">
              <a:spcBef>
                <a:spcPts val="675"/>
              </a:spcBef>
            </a:pPr>
            <a:r>
              <a:rPr sz="2800" dirty="0">
                <a:latin typeface="Arial" panose="020B0604020202020204" pitchFamily="34" charset="0"/>
                <a:cs typeface="Arial" panose="020B0604020202020204" pitchFamily="34" charset="0"/>
              </a:rPr>
              <a:t>Green</a:t>
            </a:r>
            <a:r>
              <a:rPr sz="2800" spc="-80" dirty="0">
                <a:latin typeface="Arial" panose="020B0604020202020204" pitchFamily="34" charset="0"/>
                <a:cs typeface="Arial" panose="020B0604020202020204" pitchFamily="34" charset="0"/>
              </a:rPr>
              <a:t> </a:t>
            </a:r>
            <a:r>
              <a:rPr sz="2800" spc="-20" dirty="0">
                <a:latin typeface="Arial" panose="020B0604020202020204" pitchFamily="34" charset="0"/>
                <a:cs typeface="Arial" panose="020B0604020202020204" pitchFamily="34" charset="0"/>
              </a:rPr>
              <a:t>Book</a:t>
            </a:r>
          </a:p>
          <a:p>
            <a:pPr marL="12700">
              <a:spcBef>
                <a:spcPts val="580"/>
              </a:spcBef>
            </a:pPr>
            <a:r>
              <a:rPr sz="2800" dirty="0">
                <a:latin typeface="Arial" panose="020B0604020202020204" pitchFamily="34" charset="0"/>
                <a:cs typeface="Arial" panose="020B0604020202020204" pitchFamily="34" charset="0"/>
              </a:rPr>
              <a:t>1.14,</a:t>
            </a:r>
            <a:r>
              <a:rPr sz="2800" spc="-15"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1.15</a:t>
            </a:r>
            <a:r>
              <a:rPr sz="2800" spc="-5"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and</a:t>
            </a:r>
            <a:r>
              <a:rPr sz="2800" spc="-15" dirty="0">
                <a:latin typeface="Arial" panose="020B0604020202020204" pitchFamily="34" charset="0"/>
                <a:cs typeface="Arial" panose="020B0604020202020204" pitchFamily="34" charset="0"/>
              </a:rPr>
              <a:t> </a:t>
            </a:r>
            <a:r>
              <a:rPr sz="2800" spc="-20" dirty="0">
                <a:latin typeface="Arial" panose="020B0604020202020204" pitchFamily="34" charset="0"/>
                <a:cs typeface="Arial" panose="020B0604020202020204" pitchFamily="34" charset="0"/>
              </a:rPr>
              <a:t>1.18</a:t>
            </a:r>
            <a:endParaRPr lang="en-US" sz="2800" spc="-20" dirty="0">
              <a:latin typeface="Arial" panose="020B0604020202020204" pitchFamily="34" charset="0"/>
              <a:cs typeface="Arial" panose="020B0604020202020204" pitchFamily="34" charset="0"/>
            </a:endParaRPr>
          </a:p>
          <a:p>
            <a:pPr marL="12700">
              <a:spcBef>
                <a:spcPts val="580"/>
              </a:spcBef>
            </a:pPr>
            <a:endParaRPr lang="en-US" sz="2800" spc="-20" dirty="0">
              <a:latin typeface="Arial" panose="020B0604020202020204" pitchFamily="34" charset="0"/>
              <a:cs typeface="Arial" panose="020B0604020202020204" pitchFamily="34" charset="0"/>
            </a:endParaRPr>
          </a:p>
          <a:p>
            <a:pPr marL="12700">
              <a:spcBef>
                <a:spcPts val="580"/>
              </a:spcBef>
            </a:pPr>
            <a:endParaRPr sz="2800" spc="-20" dirty="0">
              <a:latin typeface="Arial" panose="020B0604020202020204" pitchFamily="34" charset="0"/>
              <a:cs typeface="Arial" panose="020B0604020202020204" pitchFamily="34" charset="0"/>
            </a:endParaRPr>
          </a:p>
          <a:p>
            <a:pPr>
              <a:spcBef>
                <a:spcPts val="1270"/>
              </a:spcBef>
            </a:pPr>
            <a:endParaRPr sz="2800" spc="-20" dirty="0">
              <a:latin typeface="Arial" panose="020B0604020202020204" pitchFamily="34" charset="0"/>
              <a:cs typeface="Arial" panose="020B0604020202020204" pitchFamily="34" charset="0"/>
            </a:endParaRPr>
          </a:p>
          <a:p>
            <a:pPr marL="12700"/>
            <a:r>
              <a:rPr sz="2800" b="0" spc="-10" dirty="0">
                <a:solidFill>
                  <a:srgbClr val="00AF50"/>
                </a:solidFill>
                <a:latin typeface="Arial" panose="020B0604020202020204" pitchFamily="34" charset="0"/>
                <a:cs typeface="Arial" panose="020B0604020202020204" pitchFamily="34" charset="0"/>
              </a:rPr>
              <a:t>Optional:</a:t>
            </a:r>
          </a:p>
          <a:p>
            <a:pPr marL="12700" marR="5080" algn="just">
              <a:spcBef>
                <a:spcPts val="575"/>
              </a:spcBef>
            </a:pPr>
            <a:r>
              <a:rPr sz="2800" b="0" dirty="0">
                <a:solidFill>
                  <a:srgbClr val="00AF50"/>
                </a:solidFill>
                <a:latin typeface="Arial" panose="020B0604020202020204" pitchFamily="34" charset="0"/>
                <a:cs typeface="Arial" panose="020B0604020202020204" pitchFamily="34" charset="0"/>
              </a:rPr>
              <a:t>As</a:t>
            </a:r>
            <a:r>
              <a:rPr sz="2800" b="0" spc="-3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an</a:t>
            </a:r>
            <a:r>
              <a:rPr sz="2800" b="0" spc="-3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Art_X</a:t>
            </a:r>
            <a:r>
              <a:rPr sz="2800" b="0" spc="-4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Project,</a:t>
            </a:r>
            <a:r>
              <a:rPr sz="2800" b="0" spc="-4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Please</a:t>
            </a:r>
            <a:r>
              <a:rPr sz="2800" b="0" spc="-1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Design</a:t>
            </a:r>
            <a:r>
              <a:rPr sz="2800" b="0" spc="-1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Portable</a:t>
            </a:r>
            <a:r>
              <a:rPr sz="2800" b="0" spc="-25" dirty="0">
                <a:solidFill>
                  <a:srgbClr val="00AF50"/>
                </a:solidFill>
                <a:latin typeface="Arial" panose="020B0604020202020204" pitchFamily="34" charset="0"/>
                <a:cs typeface="Arial" panose="020B0604020202020204" pitchFamily="34" charset="0"/>
              </a:rPr>
              <a:t> CT </a:t>
            </a:r>
            <a:r>
              <a:rPr sz="2800" b="0" dirty="0">
                <a:solidFill>
                  <a:srgbClr val="00AF50"/>
                </a:solidFill>
                <a:latin typeface="Arial" panose="020B0604020202020204" pitchFamily="34" charset="0"/>
                <a:cs typeface="Arial" panose="020B0604020202020204" pitchFamily="34" charset="0"/>
              </a:rPr>
              <a:t>Scanner</a:t>
            </a:r>
            <a:r>
              <a:rPr sz="2800" b="0" spc="-1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in</a:t>
            </a:r>
            <a:r>
              <a:rPr sz="2800" b="0" spc="-3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a</a:t>
            </a:r>
            <a:r>
              <a:rPr lang="en-US" sz="2800" b="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Car</a:t>
            </a:r>
            <a:r>
              <a:rPr sz="2800" b="0" spc="-2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or</a:t>
            </a:r>
            <a:r>
              <a:rPr sz="2800" b="0" spc="-25"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a</a:t>
            </a:r>
            <a:r>
              <a:rPr sz="2800" b="0" spc="-30" dirty="0">
                <a:solidFill>
                  <a:srgbClr val="00AF50"/>
                </a:solidFill>
                <a:latin typeface="Arial" panose="020B0604020202020204" pitchFamily="34" charset="0"/>
                <a:cs typeface="Arial" panose="020B0604020202020204" pitchFamily="34" charset="0"/>
              </a:rPr>
              <a:t> </a:t>
            </a:r>
            <a:r>
              <a:rPr sz="2800" b="0" spc="-10" dirty="0">
                <a:solidFill>
                  <a:srgbClr val="00AF50"/>
                </a:solidFill>
                <a:latin typeface="Arial" panose="020B0604020202020204" pitchFamily="34" charset="0"/>
                <a:cs typeface="Arial" panose="020B0604020202020204" pitchFamily="34" charset="0"/>
              </a:rPr>
              <a:t>Scanner </a:t>
            </a:r>
            <a:r>
              <a:rPr sz="2800" b="0" dirty="0">
                <a:solidFill>
                  <a:srgbClr val="00AF50"/>
                </a:solidFill>
                <a:latin typeface="Arial" panose="020B0604020202020204" pitchFamily="34" charset="0"/>
                <a:cs typeface="Arial" panose="020B0604020202020204" pitchFamily="34" charset="0"/>
              </a:rPr>
              <a:t>for</a:t>
            </a:r>
            <a:r>
              <a:rPr sz="2800" b="0" spc="-1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a</a:t>
            </a:r>
            <a:r>
              <a:rPr sz="2800" b="0" spc="-20" dirty="0">
                <a:solidFill>
                  <a:srgbClr val="00AF50"/>
                </a:solidFill>
                <a:latin typeface="Arial" panose="020B0604020202020204" pitchFamily="34" charset="0"/>
                <a:cs typeface="Arial" panose="020B0604020202020204" pitchFamily="34" charset="0"/>
              </a:rPr>
              <a:t> </a:t>
            </a:r>
            <a:r>
              <a:rPr sz="2800" b="0" dirty="0">
                <a:solidFill>
                  <a:srgbClr val="00AF50"/>
                </a:solidFill>
                <a:latin typeface="Arial" panose="020B0604020202020204" pitchFamily="34" charset="0"/>
                <a:cs typeface="Arial" panose="020B0604020202020204" pitchFamily="34" charset="0"/>
              </a:rPr>
              <a:t>Novel</a:t>
            </a:r>
            <a:r>
              <a:rPr sz="2800" b="0" spc="15" dirty="0">
                <a:solidFill>
                  <a:srgbClr val="00AF50"/>
                </a:solidFill>
                <a:latin typeface="Arial" panose="020B0604020202020204" pitchFamily="34" charset="0"/>
                <a:cs typeface="Arial" panose="020B0604020202020204" pitchFamily="34" charset="0"/>
              </a:rPr>
              <a:t> </a:t>
            </a:r>
            <a:r>
              <a:rPr sz="2800" b="0" spc="-10" dirty="0">
                <a:solidFill>
                  <a:srgbClr val="00AF50"/>
                </a:solidFill>
                <a:latin typeface="Arial" panose="020B0604020202020204" pitchFamily="34" charset="0"/>
                <a:cs typeface="Arial" panose="020B0604020202020204" pitchFamily="34" charset="0"/>
              </a:rPr>
              <a:t>Application.</a:t>
            </a:r>
          </a:p>
        </p:txBody>
      </p:sp>
      <p:pic>
        <p:nvPicPr>
          <p:cNvPr id="5" name="object 5"/>
          <p:cNvPicPr/>
          <p:nvPr/>
        </p:nvPicPr>
        <p:blipFill>
          <a:blip r:embed="rId3" cstate="print"/>
          <a:stretch>
            <a:fillRect/>
          </a:stretch>
        </p:blipFill>
        <p:spPr>
          <a:xfrm>
            <a:off x="4507749" y="1152095"/>
            <a:ext cx="2731251" cy="2621116"/>
          </a:xfrm>
          <a:prstGeom prst="rect">
            <a:avLst/>
          </a:prstGeom>
        </p:spPr>
      </p:pic>
      <p:pic>
        <p:nvPicPr>
          <p:cNvPr id="6" name="object 6"/>
          <p:cNvPicPr/>
          <p:nvPr/>
        </p:nvPicPr>
        <p:blipFill>
          <a:blip r:embed="rId4" cstate="print"/>
          <a:stretch>
            <a:fillRect/>
          </a:stretch>
        </p:blipFill>
        <p:spPr>
          <a:xfrm>
            <a:off x="7683363" y="960284"/>
            <a:ext cx="3175614" cy="2621116"/>
          </a:xfrm>
          <a:prstGeom prst="rect">
            <a:avLst/>
          </a:prstGeom>
        </p:spPr>
      </p:pic>
      <p:sp>
        <p:nvSpPr>
          <p:cNvPr id="7" name="object 7"/>
          <p:cNvSpPr txBox="1"/>
          <p:nvPr/>
        </p:nvSpPr>
        <p:spPr>
          <a:xfrm>
            <a:off x="76200" y="5638800"/>
            <a:ext cx="7315200" cy="750847"/>
          </a:xfrm>
          <a:prstGeom prst="rect">
            <a:avLst/>
          </a:prstGeom>
        </p:spPr>
        <p:txBody>
          <a:bodyPr vert="horz" wrap="square" lIns="0" tIns="12065" rIns="0" bIns="0" rtlCol="0">
            <a:spAutoFit/>
          </a:bodyPr>
          <a:lstStyle/>
          <a:p>
            <a:pPr marL="12700">
              <a:spcBef>
                <a:spcPts val="95"/>
              </a:spcBef>
            </a:pPr>
            <a:r>
              <a:rPr sz="1600" u="sng" spc="-10" dirty="0">
                <a:solidFill>
                  <a:srgbClr val="0000FF"/>
                </a:solidFill>
                <a:uFill>
                  <a:solidFill>
                    <a:srgbClr val="0000FF"/>
                  </a:solidFill>
                </a:uFill>
                <a:latin typeface="Arial" panose="020B0604020202020204" pitchFamily="34" charset="0"/>
                <a:cs typeface="Arial" panose="020B0604020202020204" pitchFamily="34" charset="0"/>
                <a:hlinkClick r:id="rId5"/>
              </a:rPr>
              <a:t>https://arxiv.org/ftp/arxiv/papers/1312/1312.6046.pdf</a:t>
            </a:r>
            <a:endParaRPr sz="1600" dirty="0">
              <a:latin typeface="Arial" panose="020B0604020202020204" pitchFamily="34" charset="0"/>
              <a:cs typeface="Arial" panose="020B0604020202020204" pitchFamily="34" charset="0"/>
            </a:endParaRPr>
          </a:p>
          <a:p>
            <a:pPr marL="12700"/>
            <a:r>
              <a:rPr sz="1600" u="sng" spc="-10" dirty="0">
                <a:solidFill>
                  <a:srgbClr val="0000FF"/>
                </a:solidFill>
                <a:uFill>
                  <a:solidFill>
                    <a:srgbClr val="0000FF"/>
                  </a:solidFill>
                </a:uFill>
                <a:latin typeface="Arial" panose="020B0604020202020204" pitchFamily="34" charset="0"/>
                <a:cs typeface="Arial" panose="020B0604020202020204" pitchFamily="34" charset="0"/>
                <a:hlinkClick r:id="rId6"/>
              </a:rPr>
              <a:t>http://content.iospress.com/articles/journal-</a:t>
            </a:r>
            <a:r>
              <a:rPr sz="1600" u="sng" spc="-20" dirty="0">
                <a:solidFill>
                  <a:srgbClr val="0000FF"/>
                </a:solidFill>
                <a:uFill>
                  <a:solidFill>
                    <a:srgbClr val="0000FF"/>
                  </a:solidFill>
                </a:uFill>
                <a:latin typeface="Arial" panose="020B0604020202020204" pitchFamily="34" charset="0"/>
                <a:cs typeface="Arial" panose="020B0604020202020204" pitchFamily="34" charset="0"/>
                <a:hlinkClick r:id="rId6"/>
              </a:rPr>
              <a:t>of-</a:t>
            </a:r>
            <a:r>
              <a:rPr sz="1600" u="sng" spc="-10" dirty="0">
                <a:solidFill>
                  <a:srgbClr val="0000FF"/>
                </a:solidFill>
                <a:uFill>
                  <a:solidFill>
                    <a:srgbClr val="0000FF"/>
                  </a:solidFill>
                </a:uFill>
                <a:latin typeface="Arial" panose="020B0604020202020204" pitchFamily="34" charset="0"/>
                <a:cs typeface="Arial" panose="020B0604020202020204" pitchFamily="34" charset="0"/>
                <a:hlinkClick r:id="rId6"/>
              </a:rPr>
              <a:t>x-</a:t>
            </a:r>
            <a:r>
              <a:rPr sz="1600" u="sng" spc="-20" dirty="0">
                <a:solidFill>
                  <a:srgbClr val="0000FF"/>
                </a:solidFill>
                <a:uFill>
                  <a:solidFill>
                    <a:srgbClr val="0000FF"/>
                  </a:solidFill>
                </a:uFill>
                <a:latin typeface="Arial" panose="020B0604020202020204" pitchFamily="34" charset="0"/>
                <a:cs typeface="Arial" panose="020B0604020202020204" pitchFamily="34" charset="0"/>
                <a:hlinkClick r:id="rId6"/>
              </a:rPr>
              <a:t>ray-</a:t>
            </a:r>
            <a:r>
              <a:rPr sz="1600" u="sng" spc="-10" dirty="0">
                <a:solidFill>
                  <a:srgbClr val="0000FF"/>
                </a:solidFill>
                <a:uFill>
                  <a:solidFill>
                    <a:srgbClr val="0000FF"/>
                  </a:solidFill>
                </a:uFill>
                <a:latin typeface="Arial" panose="020B0604020202020204" pitchFamily="34" charset="0"/>
                <a:cs typeface="Arial" panose="020B0604020202020204" pitchFamily="34" charset="0"/>
                <a:hlinkClick r:id="rId6"/>
              </a:rPr>
              <a:t>science-and-technology/xst00453</a:t>
            </a:r>
            <a:endParaRPr sz="1600" dirty="0">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9629" y="3034410"/>
            <a:ext cx="2876550" cy="756920"/>
          </a:xfrm>
          <a:prstGeom prst="rect">
            <a:avLst/>
          </a:prstGeom>
        </p:spPr>
        <p:txBody>
          <a:bodyPr vert="horz" wrap="square" lIns="0" tIns="12700" rIns="0" bIns="0" rtlCol="0">
            <a:spAutoFit/>
          </a:bodyPr>
          <a:lstStyle/>
          <a:p>
            <a:pPr marL="12700">
              <a:spcBef>
                <a:spcPts val="100"/>
              </a:spcBef>
            </a:pPr>
            <a:r>
              <a:rPr sz="4800" dirty="0"/>
              <a:t>Thank</a:t>
            </a:r>
            <a:r>
              <a:rPr sz="4800" spc="-45" dirty="0"/>
              <a:t> </a:t>
            </a:r>
            <a:r>
              <a:rPr sz="4800" spc="-25" dirty="0"/>
              <a:t>you</a:t>
            </a:r>
            <a:endParaRPr sz="4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271</TotalTime>
  <Words>7721</Words>
  <Application>Microsoft Office PowerPoint</Application>
  <PresentationFormat>Widescreen</PresentationFormat>
  <Paragraphs>628</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Arial</vt:lpstr>
      <vt:lpstr>Arial MT</vt:lpstr>
      <vt:lpstr>Microsoft Sans Serif</vt:lpstr>
      <vt:lpstr>Symbol</vt:lpstr>
      <vt:lpstr>Times New Roman</vt:lpstr>
      <vt:lpstr>Office Theme</vt:lpstr>
      <vt:lpstr>PowerPoint Presentation</vt:lpstr>
      <vt:lpstr>PowerPoint Presentation</vt:lpstr>
      <vt:lpstr>Reminders</vt:lpstr>
      <vt:lpstr>Theory of CT</vt:lpstr>
      <vt:lpstr>CT Process</vt:lpstr>
      <vt:lpstr>Sampling &amp; Resolution</vt:lpstr>
      <vt:lpstr>Radon Transform</vt:lpstr>
      <vt:lpstr>Fourier Slice Theorem</vt:lpstr>
      <vt:lpstr>Back-projection</vt:lpstr>
      <vt:lpstr>Filtered Back-Projection (FBP)</vt:lpstr>
      <vt:lpstr>FBP in Progress</vt:lpstr>
      <vt:lpstr>PowerPoint Presentation</vt:lpstr>
      <vt:lpstr>Parallel-Beam CT</vt:lpstr>
      <vt:lpstr>Parallel-beam: radon</vt:lpstr>
      <vt:lpstr>Example 1: Parallel beam</vt:lpstr>
      <vt:lpstr>Example 1: Parallel-Beam</vt:lpstr>
      <vt:lpstr>Example 1: Parallel-Beam</vt:lpstr>
      <vt:lpstr>Parallel beam back-projection: iradon</vt:lpstr>
      <vt:lpstr>Example 2: Parallel-Beam BP</vt:lpstr>
      <vt:lpstr>Example 2: Parallel-Beam BP</vt:lpstr>
      <vt:lpstr>Fan-Beam CT</vt:lpstr>
      <vt:lpstr>Fan-Beam: fanbeam</vt:lpstr>
      <vt:lpstr>Fan beam: fanbeam</vt:lpstr>
      <vt:lpstr>Fan-Beam FBP: ifanbeam</vt:lpstr>
      <vt:lpstr>Example 3: Fan-beam CT</vt:lpstr>
      <vt:lpstr>Example 3: Fan-Beam CT</vt:lpstr>
      <vt:lpstr>Example 3: Fan-Beam CT</vt:lpstr>
      <vt:lpstr>Homework</vt:lpstr>
      <vt:lpstr>Homework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MATLAB-CT</dc:title>
  <dc:creator>Kathleen Chen</dc:creator>
  <cp:lastModifiedBy>Manik, Md Motaleb Hossen</cp:lastModifiedBy>
  <cp:revision>21</cp:revision>
  <dcterms:created xsi:type="dcterms:W3CDTF">2025-08-14T05:34:25Z</dcterms:created>
  <dcterms:modified xsi:type="dcterms:W3CDTF">2025-09-12T13:47:53Z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2018-03-20T00:00:00Z</vt:filetime>
  </property>
  <property fmtid="{D5CDD505-2E9C-101B-9397-08002B2CF9AE}" pid="3" name="Creator">
    <vt:lpwstr>Microsoft® PowerPoint® 2010</vt:lpwstr>
  </property>
  <property fmtid="{D5CDD505-2E9C-101B-9397-08002B2CF9AE}" pid="4" name="LastSaved">
    <vt:filetime>2025-08-14T00:00:00Z</vt:filetime>
  </property>
  <property fmtid="{D5CDD505-2E9C-101B-9397-08002B2CF9AE}" pid="5" name="Producer">
    <vt:lpwstr>Microsoft® PowerPoint® 2010</vt:lpwstr>
  </property>
</Properties>
</file>