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52"/>
  </p:notesMasterIdLst>
  <p:handoutMasterIdLst>
    <p:handoutMasterId r:id="rId53"/>
  </p:handoutMasterIdLst>
  <p:sldIdLst>
    <p:sldId id="564" r:id="rId3"/>
    <p:sldId id="676" r:id="rId4"/>
    <p:sldId id="677" r:id="rId5"/>
    <p:sldId id="679" r:id="rId6"/>
    <p:sldId id="661" r:id="rId7"/>
    <p:sldId id="662" r:id="rId8"/>
    <p:sldId id="663" r:id="rId9"/>
    <p:sldId id="664" r:id="rId10"/>
    <p:sldId id="665" r:id="rId11"/>
    <p:sldId id="666" r:id="rId12"/>
    <p:sldId id="680" r:id="rId13"/>
    <p:sldId id="667" r:id="rId14"/>
    <p:sldId id="682" r:id="rId15"/>
    <p:sldId id="668" r:id="rId16"/>
    <p:sldId id="681" r:id="rId17"/>
    <p:sldId id="671" r:id="rId18"/>
    <p:sldId id="669" r:id="rId19"/>
    <p:sldId id="670" r:id="rId20"/>
    <p:sldId id="660" r:id="rId21"/>
    <p:sldId id="685" r:id="rId22"/>
    <p:sldId id="673" r:id="rId23"/>
    <p:sldId id="686" r:id="rId24"/>
    <p:sldId id="658" r:id="rId25"/>
    <p:sldId id="674" r:id="rId26"/>
    <p:sldId id="678" r:id="rId27"/>
    <p:sldId id="592" r:id="rId28"/>
    <p:sldId id="609" r:id="rId29"/>
    <p:sldId id="610" r:id="rId30"/>
    <p:sldId id="602" r:id="rId31"/>
    <p:sldId id="606" r:id="rId32"/>
    <p:sldId id="607" r:id="rId33"/>
    <p:sldId id="608" r:id="rId34"/>
    <p:sldId id="639" r:id="rId35"/>
    <p:sldId id="675" r:id="rId36"/>
    <p:sldId id="613" r:id="rId37"/>
    <p:sldId id="612" r:id="rId38"/>
    <p:sldId id="655" r:id="rId39"/>
    <p:sldId id="656" r:id="rId40"/>
    <p:sldId id="687" r:id="rId41"/>
    <p:sldId id="646" r:id="rId42"/>
    <p:sldId id="635" r:id="rId43"/>
    <p:sldId id="645" r:id="rId44"/>
    <p:sldId id="615" r:id="rId45"/>
    <p:sldId id="621" r:id="rId46"/>
    <p:sldId id="623" r:id="rId47"/>
    <p:sldId id="614" r:id="rId48"/>
    <p:sldId id="628" r:id="rId49"/>
    <p:sldId id="622" r:id="rId50"/>
    <p:sldId id="659" r:id="rId51"/>
  </p:sldIdLst>
  <p:sldSz cx="12192000" cy="6858000"/>
  <p:notesSz cx="7010400" cy="9296400"/>
  <p:defaultTextStyle>
    <a:defPPr>
      <a:defRPr lang="en-US"/>
    </a:defPPr>
    <a:lvl1pPr algn="l" rtl="0" fontAlgn="base">
      <a:spcBef>
        <a:spcPct val="0"/>
      </a:spcBef>
      <a:spcAft>
        <a:spcPct val="0"/>
      </a:spcAft>
      <a:defRPr sz="2400" kern="1200">
        <a:solidFill>
          <a:schemeClr val="tx1"/>
        </a:solidFill>
        <a:latin typeface="Garamond" pitchFamily="18" charset="0"/>
        <a:ea typeface="+mn-ea"/>
        <a:cs typeface="Times New Roman" pitchFamily="18" charset="0"/>
      </a:defRPr>
    </a:lvl1pPr>
    <a:lvl2pPr marL="457200" algn="l" rtl="0" fontAlgn="base">
      <a:spcBef>
        <a:spcPct val="0"/>
      </a:spcBef>
      <a:spcAft>
        <a:spcPct val="0"/>
      </a:spcAft>
      <a:defRPr sz="2400" kern="1200">
        <a:solidFill>
          <a:schemeClr val="tx1"/>
        </a:solidFill>
        <a:latin typeface="Garamond" pitchFamily="18" charset="0"/>
        <a:ea typeface="+mn-ea"/>
        <a:cs typeface="Times New Roman" pitchFamily="18" charset="0"/>
      </a:defRPr>
    </a:lvl2pPr>
    <a:lvl3pPr marL="914400" algn="l" rtl="0" fontAlgn="base">
      <a:spcBef>
        <a:spcPct val="0"/>
      </a:spcBef>
      <a:spcAft>
        <a:spcPct val="0"/>
      </a:spcAft>
      <a:defRPr sz="2400" kern="1200">
        <a:solidFill>
          <a:schemeClr val="tx1"/>
        </a:solidFill>
        <a:latin typeface="Garamond" pitchFamily="18" charset="0"/>
        <a:ea typeface="+mn-ea"/>
        <a:cs typeface="Times New Roman" pitchFamily="18" charset="0"/>
      </a:defRPr>
    </a:lvl3pPr>
    <a:lvl4pPr marL="1371600" algn="l" rtl="0" fontAlgn="base">
      <a:spcBef>
        <a:spcPct val="0"/>
      </a:spcBef>
      <a:spcAft>
        <a:spcPct val="0"/>
      </a:spcAft>
      <a:defRPr sz="2400" kern="1200">
        <a:solidFill>
          <a:schemeClr val="tx1"/>
        </a:solidFill>
        <a:latin typeface="Garamond" pitchFamily="18" charset="0"/>
        <a:ea typeface="+mn-ea"/>
        <a:cs typeface="Times New Roman" pitchFamily="18" charset="0"/>
      </a:defRPr>
    </a:lvl4pPr>
    <a:lvl5pPr marL="1828800" algn="l" rtl="0" fontAlgn="base">
      <a:spcBef>
        <a:spcPct val="0"/>
      </a:spcBef>
      <a:spcAft>
        <a:spcPct val="0"/>
      </a:spcAft>
      <a:defRPr sz="2400" kern="1200">
        <a:solidFill>
          <a:schemeClr val="tx1"/>
        </a:solidFill>
        <a:latin typeface="Garamond" pitchFamily="18" charset="0"/>
        <a:ea typeface="+mn-ea"/>
        <a:cs typeface="Times New Roman" pitchFamily="18" charset="0"/>
      </a:defRPr>
    </a:lvl5pPr>
    <a:lvl6pPr marL="2286000" algn="l" defTabSz="914400" rtl="0" eaLnBrk="1" latinLnBrk="0" hangingPunct="1">
      <a:defRPr sz="2400" kern="1200">
        <a:solidFill>
          <a:schemeClr val="tx1"/>
        </a:solidFill>
        <a:latin typeface="Garamond" pitchFamily="18" charset="0"/>
        <a:ea typeface="+mn-ea"/>
        <a:cs typeface="Times New Roman" pitchFamily="18" charset="0"/>
      </a:defRPr>
    </a:lvl6pPr>
    <a:lvl7pPr marL="2743200" algn="l" defTabSz="914400" rtl="0" eaLnBrk="1" latinLnBrk="0" hangingPunct="1">
      <a:defRPr sz="2400" kern="1200">
        <a:solidFill>
          <a:schemeClr val="tx1"/>
        </a:solidFill>
        <a:latin typeface="Garamond" pitchFamily="18" charset="0"/>
        <a:ea typeface="+mn-ea"/>
        <a:cs typeface="Times New Roman" pitchFamily="18" charset="0"/>
      </a:defRPr>
    </a:lvl7pPr>
    <a:lvl8pPr marL="3200400" algn="l" defTabSz="914400" rtl="0" eaLnBrk="1" latinLnBrk="0" hangingPunct="1">
      <a:defRPr sz="2400" kern="1200">
        <a:solidFill>
          <a:schemeClr val="tx1"/>
        </a:solidFill>
        <a:latin typeface="Garamond" pitchFamily="18" charset="0"/>
        <a:ea typeface="+mn-ea"/>
        <a:cs typeface="Times New Roman" pitchFamily="18" charset="0"/>
      </a:defRPr>
    </a:lvl8pPr>
    <a:lvl9pPr marL="3657600" algn="l" defTabSz="914400" rtl="0" eaLnBrk="1" latinLnBrk="0" hangingPunct="1">
      <a:defRPr sz="2400" kern="1200">
        <a:solidFill>
          <a:schemeClr val="tx1"/>
        </a:solidFill>
        <a:latin typeface="Garamond" pitchFamily="18" charset="0"/>
        <a:ea typeface="+mn-ea"/>
        <a:cs typeface="Times New Roman" pitchFamily="18" charset="0"/>
      </a:defRPr>
    </a:lvl9pPr>
  </p:defaultTextStyle>
  <p:extLst>
    <p:ext uri="{EFAFB233-063F-42B5-8137-9DF3F51BA10A}">
      <p15:sldGuideLst xmlns:p15="http://schemas.microsoft.com/office/powerpoint/2012/main">
        <p15:guide id="1" orient="horz" pos="2161" userDrawn="1">
          <p15:clr>
            <a:srgbClr val="A4A3A4"/>
          </p15:clr>
        </p15:guide>
        <p15:guide id="2" pos="394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99"/>
    <a:srgbClr val="0000FF"/>
    <a:srgbClr val="0033CC"/>
    <a:srgbClr val="008000"/>
    <a:srgbClr val="006600"/>
    <a:srgbClr val="FF0000"/>
    <a:srgbClr val="CCFFCC"/>
    <a:srgbClr val="A50021"/>
    <a:srgbClr val="660033"/>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93" autoAdjust="0"/>
    <p:restoredTop sz="26667" autoAdjust="0"/>
  </p:normalViewPr>
  <p:slideViewPr>
    <p:cSldViewPr snapToGrid="0" showGuides="1">
      <p:cViewPr varScale="1">
        <p:scale>
          <a:sx n="22" d="100"/>
          <a:sy n="22" d="100"/>
        </p:scale>
        <p:origin x="2981" y="24"/>
      </p:cViewPr>
      <p:guideLst>
        <p:guide orient="horz" pos="2161"/>
        <p:guide pos="3941"/>
      </p:guideLst>
    </p:cSldViewPr>
  </p:slideViewPr>
  <p:outlineViewPr>
    <p:cViewPr>
      <p:scale>
        <a:sx n="33" d="100"/>
        <a:sy n="33" d="100"/>
      </p:scale>
      <p:origin x="0" y="-3798"/>
    </p:cViewPr>
  </p:outlineViewPr>
  <p:notesTextViewPr>
    <p:cViewPr>
      <p:scale>
        <a:sx n="125" d="100"/>
        <a:sy n="125" d="100"/>
      </p:scale>
      <p:origin x="0" y="0"/>
    </p:cViewPr>
  </p:notesTextViewPr>
  <p:sorterViewPr>
    <p:cViewPr varScale="1">
      <p:scale>
        <a:sx n="1" d="1"/>
        <a:sy n="1" d="1"/>
      </p:scale>
      <p:origin x="0" y="-6114"/>
    </p:cViewPr>
  </p:sorterViewPr>
  <p:notesViewPr>
    <p:cSldViewPr snapToGrid="0">
      <p:cViewPr varScale="1">
        <p:scale>
          <a:sx n="84" d="100"/>
          <a:sy n="84" d="100"/>
        </p:scale>
        <p:origin x="2934"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handoutMaster" Target="handoutMasters/handoutMaster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defTabSz="931863">
              <a:defRPr sz="1200"/>
            </a:lvl1pPr>
          </a:lstStyle>
          <a:p>
            <a:pPr>
              <a:defRPr/>
            </a:pPr>
            <a:endParaRPr lang="en-US"/>
          </a:p>
        </p:txBody>
      </p:sp>
      <p:sp>
        <p:nvSpPr>
          <p:cNvPr id="31747" name="Rectangle 3"/>
          <p:cNvSpPr>
            <a:spLocks noGrp="1" noChangeArrowheads="1"/>
          </p:cNvSpPr>
          <p:nvPr>
            <p:ph type="dt" sz="quarter" idx="1"/>
          </p:nvPr>
        </p:nvSpPr>
        <p:spPr bwMode="auto">
          <a:xfrm>
            <a:off x="3971925"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defRPr sz="1200"/>
            </a:lvl1pPr>
          </a:lstStyle>
          <a:p>
            <a:pPr>
              <a:defRPr/>
            </a:pPr>
            <a:endParaRPr lang="en-US"/>
          </a:p>
        </p:txBody>
      </p:sp>
      <p:sp>
        <p:nvSpPr>
          <p:cNvPr id="31748" name="Rectangle 4"/>
          <p:cNvSpPr>
            <a:spLocks noGrp="1" noChangeArrowheads="1"/>
          </p:cNvSpPr>
          <p:nvPr>
            <p:ph type="ftr" sz="quarter" idx="2"/>
          </p:nvPr>
        </p:nvSpPr>
        <p:spPr bwMode="auto">
          <a:xfrm>
            <a:off x="0" y="8831263"/>
            <a:ext cx="3038475"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defTabSz="931863">
              <a:defRPr sz="1200"/>
            </a:lvl1pPr>
          </a:lstStyle>
          <a:p>
            <a:pPr>
              <a:defRPr/>
            </a:pPr>
            <a:endParaRPr lang="en-US"/>
          </a:p>
        </p:txBody>
      </p:sp>
      <p:sp>
        <p:nvSpPr>
          <p:cNvPr id="31749" name="Rectangle 5"/>
          <p:cNvSpPr>
            <a:spLocks noGrp="1" noChangeArrowheads="1"/>
          </p:cNvSpPr>
          <p:nvPr>
            <p:ph type="sldNum" sz="quarter" idx="3"/>
          </p:nvPr>
        </p:nvSpPr>
        <p:spPr bwMode="auto">
          <a:xfrm>
            <a:off x="3971925" y="8831263"/>
            <a:ext cx="3038475"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defRPr sz="1200"/>
            </a:lvl1pPr>
          </a:lstStyle>
          <a:p>
            <a:pPr>
              <a:defRPr/>
            </a:pPr>
            <a:fld id="{46D8321B-B1F8-47E2-9D75-5A7D0DBE14B9}" type="slidenum">
              <a:rPr lang="en-US"/>
              <a:pPr>
                <a:defRPr/>
              </a:pPr>
              <a:t>‹#›</a:t>
            </a:fld>
            <a:endParaRPr lang="en-US"/>
          </a:p>
        </p:txBody>
      </p:sp>
    </p:spTree>
    <p:extLst>
      <p:ext uri="{BB962C8B-B14F-4D97-AF65-F5344CB8AC3E}">
        <p14:creationId xmlns:p14="http://schemas.microsoft.com/office/powerpoint/2010/main" val="19853888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8B6C7C08-D46C-4550-8D8F-27E1E0F58F4A}" type="datetimeFigureOut">
              <a:rPr lang="en-US" smtClean="0"/>
              <a:pPr/>
              <a:t>8/8/2025</a:t>
            </a:fld>
            <a:endParaRPr lang="en-US"/>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16362E68-66C4-4B01-8D1F-712CF75BFD43}" type="slidenum">
              <a:rPr lang="en-US" smtClean="0"/>
              <a:pPr/>
              <a:t>‹#›</a:t>
            </a:fld>
            <a:endParaRPr lang="en-US"/>
          </a:p>
        </p:txBody>
      </p:sp>
    </p:spTree>
    <p:extLst>
      <p:ext uri="{BB962C8B-B14F-4D97-AF65-F5344CB8AC3E}">
        <p14:creationId xmlns:p14="http://schemas.microsoft.com/office/powerpoint/2010/main" val="2189652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42E5D3-627C-4511-B3F4-264A77E3CF6D}" type="slidenum">
              <a:rPr lang="en-US"/>
              <a:pPr/>
              <a:t>1</a:t>
            </a:fld>
            <a:endParaRPr lang="en-US"/>
          </a:p>
        </p:txBody>
      </p:sp>
      <p:sp>
        <p:nvSpPr>
          <p:cNvPr id="6146" name="Rectangle 2"/>
          <p:cNvSpPr>
            <a:spLocks noGrp="1" noRot="1" noChangeAspect="1" noChangeArrowheads="1" noTextEdit="1"/>
          </p:cNvSpPr>
          <p:nvPr>
            <p:ph type="sldImg"/>
          </p:nvPr>
        </p:nvSpPr>
        <p:spPr>
          <a:xfrm>
            <a:off x="406400" y="696913"/>
            <a:ext cx="6197600" cy="3486150"/>
          </a:xfrm>
          <a:ln/>
        </p:spPr>
      </p:sp>
      <p:sp>
        <p:nvSpPr>
          <p:cNvPr id="6147" name="Rectangle 3"/>
          <p:cNvSpPr>
            <a:spLocks noGrp="1" noChangeArrowheads="1"/>
          </p:cNvSpPr>
          <p:nvPr>
            <p:ph type="body" idx="1"/>
          </p:nvPr>
        </p:nvSpPr>
        <p:spPr/>
        <p:txBody>
          <a:bodyPr/>
          <a:lstStyle/>
          <a:p>
            <a:r>
              <a:rPr lang="en-US" dirty="0"/>
              <a:t>Today, we move on to our fourth lecture, where our focus will be on </a:t>
            </a:r>
            <a:r>
              <a:rPr lang="en-US" b="1" dirty="0"/>
              <a:t>convolution</a:t>
            </a:r>
            <a:r>
              <a:rPr lang="en-US" dirty="0"/>
              <a:t>.</a:t>
            </a:r>
          </a:p>
          <a:p>
            <a:endParaRPr lang="en-US" dirty="0"/>
          </a:p>
          <a:p>
            <a:r>
              <a:rPr lang="en-US" dirty="0"/>
              <a:t>This is a direct continuation of our recent discussion on </a:t>
            </a:r>
            <a:r>
              <a:rPr lang="en-US" b="1" dirty="0"/>
              <a:t>systems</a:t>
            </a:r>
            <a:r>
              <a:rPr lang="en-US" dirty="0"/>
              <a:t>, especially </a:t>
            </a:r>
            <a:r>
              <a:rPr lang="en-US" b="1" dirty="0"/>
              <a:t>linear systems</a:t>
            </a:r>
            <a:r>
              <a:rPr lang="en-US" dirty="0"/>
              <a:t> that are </a:t>
            </a:r>
            <a:r>
              <a:rPr lang="en-US" b="1" dirty="0"/>
              <a:t>shift-invariant</a:t>
            </a:r>
            <a:r>
              <a:rPr lang="en-US" dirty="0"/>
              <a:t> — two foundational concepts we began unpacking in the previous lecture. Understanding convolution will allow us to model how these systems respond to different types of input, and it's a concept that shows up across many areas in engineering, physics, and especially medical imaging.</a:t>
            </a:r>
          </a:p>
          <a:p>
            <a:endParaRPr lang="en-US" dirty="0"/>
          </a:p>
        </p:txBody>
      </p:sp>
    </p:spTree>
    <p:extLst>
      <p:ext uri="{BB962C8B-B14F-4D97-AF65-F5344CB8AC3E}">
        <p14:creationId xmlns:p14="http://schemas.microsoft.com/office/powerpoint/2010/main" val="1698709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We are right on schedule in our journey through this material.</a:t>
            </a:r>
          </a:p>
          <a:p>
            <a:endParaRPr lang="en-US" dirty="0"/>
          </a:p>
          <a:p>
            <a:r>
              <a:rPr lang="en-US" dirty="0"/>
              <a:t>If you’ve already gone through the reading materials for today, that’s excellent — it will help you link the concepts more quickly. If you haven’t, that’s okay. Just stay engaged during the lecture and review the key points afterward. </a:t>
            </a:r>
            <a:r>
              <a:rPr lang="en-US"/>
              <a:t>Building this habit of revisiting ideas will strengthen your understanding, especially as we move into more math-heavy topics</a:t>
            </a:r>
            <a:endParaRPr lang="en-US" dirty="0"/>
          </a:p>
        </p:txBody>
      </p:sp>
      <p:sp>
        <p:nvSpPr>
          <p:cNvPr id="4" name="Slide Number Placeholder 3"/>
          <p:cNvSpPr>
            <a:spLocks noGrp="1"/>
          </p:cNvSpPr>
          <p:nvPr>
            <p:ph type="sldNum" sz="quarter" idx="5"/>
          </p:nvPr>
        </p:nvSpPr>
        <p:spPr/>
        <p:txBody>
          <a:bodyPr/>
          <a:lstStyle/>
          <a:p>
            <a:fld id="{16362E68-66C4-4B01-8D1F-712CF75BFD43}" type="slidenum">
              <a:rPr lang="en-US" smtClean="0"/>
              <a:pPr/>
              <a:t>2</a:t>
            </a:fld>
            <a:endParaRPr lang="en-US"/>
          </a:p>
        </p:txBody>
      </p:sp>
    </p:spTree>
    <p:extLst>
      <p:ext uri="{BB962C8B-B14F-4D97-AF65-F5344CB8AC3E}">
        <p14:creationId xmlns:p14="http://schemas.microsoft.com/office/powerpoint/2010/main" val="3855786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As we step into the topic of convolution, let’s outline what we’ll be exploring today.</a:t>
            </a:r>
          </a:p>
          <a:p>
            <a:r>
              <a:rPr lang="en-US" dirty="0"/>
              <a:t>We’ll begin by revisiting </a:t>
            </a:r>
            <a:r>
              <a:rPr lang="en-US" b="1" dirty="0"/>
              <a:t>shift-invariant linear systems</a:t>
            </a:r>
            <a:r>
              <a:rPr lang="en-US" dirty="0"/>
              <a:t>, grounding ourselves in a concept we touched on earlier. Then, we’ll move into two important formulations of convolution: </a:t>
            </a:r>
            <a:r>
              <a:rPr lang="en-US" b="1" dirty="0"/>
              <a:t>continuous convolution</a:t>
            </a:r>
            <a:r>
              <a:rPr lang="en-US" dirty="0"/>
              <a:t> and </a:t>
            </a:r>
            <a:r>
              <a:rPr lang="en-US" b="1" dirty="0"/>
              <a:t>discrete convolution</a:t>
            </a:r>
            <a:r>
              <a:rPr lang="en-US" dirty="0"/>
              <a:t>.</a:t>
            </a:r>
          </a:p>
          <a:p>
            <a:endParaRPr lang="en-US" dirty="0"/>
          </a:p>
          <a:p>
            <a:r>
              <a:rPr lang="en-US" dirty="0"/>
              <a:t>Each of them plays a crucial role depending on the context — continuous for signals that evolve smoothly over time or space, and discrete for digital signals and images. Through this lecture, we’ll examine both perspectives and their practical implications.</a:t>
            </a:r>
          </a:p>
          <a:p>
            <a:r>
              <a:rPr lang="en-US" dirty="0"/>
              <a:t>By the end of the course, you’ll not only understand how convolution works — you'll also appreciate why it matters in system analysis, image reconstruction, and the broader field of medical imaging.</a:t>
            </a:r>
          </a:p>
        </p:txBody>
      </p:sp>
      <p:sp>
        <p:nvSpPr>
          <p:cNvPr id="4" name="Slide Number Placeholder 3"/>
          <p:cNvSpPr>
            <a:spLocks noGrp="1"/>
          </p:cNvSpPr>
          <p:nvPr>
            <p:ph type="sldNum" sz="quarter" idx="5"/>
          </p:nvPr>
        </p:nvSpPr>
        <p:spPr/>
        <p:txBody>
          <a:bodyPr/>
          <a:lstStyle/>
          <a:p>
            <a:fld id="{16362E68-66C4-4B01-8D1F-712CF75BFD43}" type="slidenum">
              <a:rPr lang="en-US" smtClean="0"/>
              <a:pPr/>
              <a:t>3</a:t>
            </a:fld>
            <a:endParaRPr lang="en-US"/>
          </a:p>
        </p:txBody>
      </p:sp>
    </p:spTree>
    <p:extLst>
      <p:ext uri="{BB962C8B-B14F-4D97-AF65-F5344CB8AC3E}">
        <p14:creationId xmlns:p14="http://schemas.microsoft.com/office/powerpoint/2010/main" val="8726159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Let’s refresh our picture of a </a:t>
            </a:r>
            <a:r>
              <a:rPr lang="en-US" b="1" dirty="0"/>
              <a:t>linear, shift-invariant system</a:t>
            </a:r>
            <a:r>
              <a:rPr lang="en-US" dirty="0"/>
              <a:t>.</a:t>
            </a:r>
          </a:p>
          <a:p>
            <a:r>
              <a:rPr lang="en-US" dirty="0"/>
              <a:t>Imagine dropping a pebble into a still pond. No matter where the pebble lands, the ripples that form spread out in the same circular pattern. This uniformity — where the system’s response doesn’t change based on where the input occurs — is what we call </a:t>
            </a:r>
            <a:r>
              <a:rPr lang="en-US" b="1" dirty="0"/>
              <a:t>shift-invariance</a:t>
            </a:r>
            <a:r>
              <a:rPr lang="en-US" dirty="0"/>
              <a:t>.</a:t>
            </a:r>
          </a:p>
          <a:p>
            <a:endParaRPr lang="en-US" dirty="0"/>
          </a:p>
          <a:p>
            <a:r>
              <a:rPr lang="en-US" dirty="0"/>
              <a:t>Now, relate this to medical imaging. Suppose you undergo a scan at one hospital today and another hospital next week. If your physiological condition hasn’t changed, you’d expect the scans to look the same. That’s shift-invariance in action — it ensures reliability across time and space.</a:t>
            </a:r>
          </a:p>
          <a:p>
            <a:endParaRPr lang="en-US" dirty="0"/>
          </a:p>
          <a:p>
            <a:r>
              <a:rPr lang="en-US" dirty="0"/>
              <a:t>Next, we have </a:t>
            </a:r>
            <a:r>
              <a:rPr lang="en-US" b="1" dirty="0"/>
              <a:t>linearity</a:t>
            </a:r>
            <a:r>
              <a:rPr lang="en-US" dirty="0"/>
              <a:t>. It has two key components:</a:t>
            </a:r>
          </a:p>
          <a:p>
            <a:r>
              <a:rPr lang="en-US" b="1" dirty="0"/>
              <a:t>Additivity</a:t>
            </a:r>
            <a:r>
              <a:rPr lang="en-US" dirty="0"/>
              <a:t> — if two features exist, like two separate tumors, the system should show the combination of both clearly.</a:t>
            </a:r>
          </a:p>
          <a:p>
            <a:r>
              <a:rPr lang="en-US" b="1" dirty="0"/>
              <a:t>Homogeneity</a:t>
            </a:r>
            <a:r>
              <a:rPr lang="en-US" dirty="0"/>
              <a:t> — if a feature changes in intensity, like a tumor growing larger, the imaging should reflect that change proportionally.</a:t>
            </a:r>
          </a:p>
          <a:p>
            <a:endParaRPr lang="en-US" dirty="0"/>
          </a:p>
          <a:p>
            <a:r>
              <a:rPr lang="en-US" dirty="0"/>
              <a:t>Together, these properties form what’s known as the </a:t>
            </a:r>
            <a:r>
              <a:rPr lang="en-US" b="1" dirty="0"/>
              <a:t>superposition principle</a:t>
            </a:r>
            <a:r>
              <a:rPr lang="en-US" dirty="0"/>
              <a:t> — the foundation for much of modern system analysis, including medical imaging.</a:t>
            </a:r>
          </a:p>
          <a:p>
            <a:r>
              <a:rPr lang="en-US" dirty="0"/>
              <a:t>So, as we move ahead, keep the ripple analogy in mind. It's a simple yet powerful way to visualize how linear, shift-invariant systems behave — consistently, predictably, and truthfully.</a:t>
            </a:r>
          </a:p>
        </p:txBody>
      </p:sp>
      <p:sp>
        <p:nvSpPr>
          <p:cNvPr id="4" name="Slide Number Placeholder 3"/>
          <p:cNvSpPr>
            <a:spLocks noGrp="1"/>
          </p:cNvSpPr>
          <p:nvPr>
            <p:ph type="sldNum" sz="quarter" idx="5"/>
          </p:nvPr>
        </p:nvSpPr>
        <p:spPr/>
        <p:txBody>
          <a:bodyPr/>
          <a:lstStyle/>
          <a:p>
            <a:fld id="{16362E68-66C4-4B01-8D1F-712CF75BFD43}" type="slidenum">
              <a:rPr lang="en-US" smtClean="0"/>
              <a:pPr/>
              <a:t>4</a:t>
            </a:fld>
            <a:endParaRPr lang="en-US"/>
          </a:p>
        </p:txBody>
      </p:sp>
    </p:spTree>
    <p:extLst>
      <p:ext uri="{BB962C8B-B14F-4D97-AF65-F5344CB8AC3E}">
        <p14:creationId xmlns:p14="http://schemas.microsoft.com/office/powerpoint/2010/main" val="2931706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To understand convolution deeply, let’s frame it through a familiar story from </a:t>
            </a:r>
            <a:r>
              <a:rPr lang="en-US" b="1" dirty="0"/>
              <a:t>physics</a:t>
            </a:r>
            <a:r>
              <a:rPr lang="en-US" dirty="0"/>
              <a:t>.</a:t>
            </a:r>
          </a:p>
          <a:p>
            <a:r>
              <a:rPr lang="en-US" dirty="0"/>
              <a:t>You might recall the idea — sometimes attributed to Newton — that the universe began with a single </a:t>
            </a:r>
            <a:r>
              <a:rPr lang="en-US" b="1" dirty="0"/>
              <a:t>impulse</a:t>
            </a:r>
            <a:r>
              <a:rPr lang="en-US" dirty="0"/>
              <a:t>, a sort of divine kick that set everything into motion. Whether metaphor or mechanics, this idea captures something fundamental.</a:t>
            </a:r>
          </a:p>
          <a:p>
            <a:r>
              <a:rPr lang="en-US" dirty="0"/>
              <a:t>In physics, we often model this idea of an initial force as an </a:t>
            </a:r>
            <a:r>
              <a:rPr lang="en-US" b="1" dirty="0"/>
              <a:t>impulse</a:t>
            </a:r>
            <a:r>
              <a:rPr lang="en-US" dirty="0"/>
              <a:t> — a very short burst of energy that sets a system into motion. For instance, think of hitting a golf ball with a club. That brief push is an impulse, and the ball's subsequent motion is the </a:t>
            </a:r>
            <a:r>
              <a:rPr lang="en-US" b="1" dirty="0"/>
              <a:t>system’s response</a:t>
            </a:r>
            <a:r>
              <a:rPr lang="en-US" dirty="0"/>
              <a:t>.</a:t>
            </a:r>
          </a:p>
          <a:p>
            <a:endParaRPr lang="en-US" dirty="0"/>
          </a:p>
        </p:txBody>
      </p:sp>
      <p:sp>
        <p:nvSpPr>
          <p:cNvPr id="4" name="Slide Number Placeholder 3"/>
          <p:cNvSpPr>
            <a:spLocks noGrp="1"/>
          </p:cNvSpPr>
          <p:nvPr>
            <p:ph type="sldNum" sz="quarter" idx="10"/>
          </p:nvPr>
        </p:nvSpPr>
        <p:spPr/>
        <p:txBody>
          <a:bodyPr/>
          <a:lstStyle/>
          <a:p>
            <a:fld id="{16362E68-66C4-4B01-8D1F-712CF75BFD43}" type="slidenum">
              <a:rPr lang="en-US" smtClean="0"/>
              <a:pPr/>
              <a:t>5</a:t>
            </a:fld>
            <a:endParaRPr lang="en-US"/>
          </a:p>
        </p:txBody>
      </p:sp>
    </p:spTree>
    <p:extLst>
      <p:ext uri="{BB962C8B-B14F-4D97-AF65-F5344CB8AC3E}">
        <p14:creationId xmlns:p14="http://schemas.microsoft.com/office/powerpoint/2010/main" val="587451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Let’s take a closer look at what that </a:t>
            </a:r>
            <a:r>
              <a:rPr lang="en-US" b="1" dirty="0"/>
              <a:t>impulse</a:t>
            </a:r>
            <a:r>
              <a:rPr lang="en-US" dirty="0"/>
              <a:t> does.</a:t>
            </a:r>
          </a:p>
          <a:p>
            <a:endParaRPr lang="en-US" dirty="0"/>
          </a:p>
          <a:p>
            <a:r>
              <a:rPr lang="en-US" dirty="0"/>
              <a:t>When you strike a stationary object, like a golf ball, the force you apply doesn’t last long — it’s concentrated over a short time. But that momentary push has a lasting effect: it changes the ball’s velocity and sets it into motion.</a:t>
            </a:r>
          </a:p>
          <a:p>
            <a:r>
              <a:rPr lang="en-US" dirty="0"/>
              <a:t>This simple interaction captures an essential principle: </a:t>
            </a:r>
            <a:r>
              <a:rPr lang="en-US" b="1" dirty="0"/>
              <a:t>an impulse causes change</a:t>
            </a:r>
            <a:r>
              <a:rPr lang="en-US" dirty="0"/>
              <a:t>.</a:t>
            </a:r>
          </a:p>
          <a:p>
            <a:endParaRPr lang="en-US" dirty="0"/>
          </a:p>
          <a:p>
            <a:r>
              <a:rPr lang="en-US" dirty="0"/>
              <a:t>In the context of system analysis, we’re interested in how a system responds over time after receiving an impulse. That response — often called the </a:t>
            </a:r>
            <a:r>
              <a:rPr lang="en-US" b="1" dirty="0"/>
              <a:t>impulse response</a:t>
            </a:r>
            <a:r>
              <a:rPr lang="en-US" dirty="0"/>
              <a:t> — tells us how the system behaves dynamically. Once we know the impulse response, we can use convolution to determine the system’s output for any more complex input signal.</a:t>
            </a:r>
          </a:p>
          <a:p>
            <a:endParaRPr lang="en-US" dirty="0"/>
          </a:p>
        </p:txBody>
      </p:sp>
      <p:sp>
        <p:nvSpPr>
          <p:cNvPr id="4" name="Slide Number Placeholder 3"/>
          <p:cNvSpPr>
            <a:spLocks noGrp="1"/>
          </p:cNvSpPr>
          <p:nvPr>
            <p:ph type="sldNum" sz="quarter" idx="5"/>
          </p:nvPr>
        </p:nvSpPr>
        <p:spPr/>
        <p:txBody>
          <a:bodyPr/>
          <a:lstStyle/>
          <a:p>
            <a:fld id="{16362E68-66C4-4B01-8D1F-712CF75BFD43}" type="slidenum">
              <a:rPr lang="en-US" smtClean="0"/>
              <a:pPr/>
              <a:t>6</a:t>
            </a:fld>
            <a:endParaRPr lang="en-US"/>
          </a:p>
        </p:txBody>
      </p:sp>
    </p:spTree>
    <p:extLst>
      <p:ext uri="{BB962C8B-B14F-4D97-AF65-F5344CB8AC3E}">
        <p14:creationId xmlns:p14="http://schemas.microsoft.com/office/powerpoint/2010/main" val="1992552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Let’s look at how </a:t>
            </a:r>
            <a:r>
              <a:rPr lang="en-US" b="1" dirty="0"/>
              <a:t>impulse</a:t>
            </a:r>
            <a:r>
              <a:rPr lang="en-US" dirty="0"/>
              <a:t> relates to </a:t>
            </a:r>
            <a:r>
              <a:rPr lang="en-US" b="1" dirty="0"/>
              <a:t>momentum</a:t>
            </a:r>
            <a:r>
              <a:rPr lang="en-US" dirty="0"/>
              <a:t> — a key concept in both physics and system analysis.</a:t>
            </a:r>
          </a:p>
          <a:p>
            <a:r>
              <a:rPr lang="en-US" dirty="0"/>
              <a:t>Momentum, as you may recall, is simply </a:t>
            </a:r>
            <a:r>
              <a:rPr lang="en-US" b="1" dirty="0"/>
              <a:t>mass multiplied by velocity</a:t>
            </a:r>
            <a:r>
              <a:rPr lang="en-US" dirty="0"/>
              <a:t>. </a:t>
            </a:r>
          </a:p>
          <a:p>
            <a:endParaRPr lang="en-US" dirty="0"/>
          </a:p>
          <a:p>
            <a:r>
              <a:rPr lang="en-US" dirty="0"/>
              <a:t>So if an object is at rest, it has zero momentum. When you apply a </a:t>
            </a:r>
            <a:r>
              <a:rPr lang="en-US" b="1" dirty="0"/>
              <a:t>force</a:t>
            </a:r>
            <a:r>
              <a:rPr lang="en-US" dirty="0"/>
              <a:t> over a period of time — say, when you hit a tennis ball with a racket — the object gains velocity. That change in velocity reflects a change in momentum.</a:t>
            </a:r>
          </a:p>
          <a:p>
            <a:endParaRPr lang="en-US" dirty="0"/>
          </a:p>
          <a:p>
            <a:r>
              <a:rPr lang="en-US" dirty="0"/>
              <a:t>Now here’s the essential link:</a:t>
            </a:r>
            <a:br>
              <a:rPr lang="en-US" dirty="0"/>
            </a:br>
            <a:r>
              <a:rPr lang="en-US" b="1" dirty="0"/>
              <a:t>Impulse is defined as force multiplied by the time over which it acts.</a:t>
            </a:r>
          </a:p>
          <a:p>
            <a:br>
              <a:rPr lang="en-US" dirty="0"/>
            </a:br>
            <a:r>
              <a:rPr lang="en-US" dirty="0"/>
              <a:t>We start with Newton’s second law, which tells us:</a:t>
            </a:r>
            <a:br>
              <a:rPr lang="en-US" dirty="0"/>
            </a:br>
            <a:r>
              <a:rPr lang="en-US" b="1" dirty="0"/>
              <a:t>Force equals mass times acceleration</a:t>
            </a:r>
            <a:r>
              <a:rPr lang="en-US" dirty="0"/>
              <a:t> — or simply,</a:t>
            </a:r>
            <a:br>
              <a:rPr lang="en-US" dirty="0"/>
            </a:br>
            <a:r>
              <a:rPr lang="en-US" b="1" dirty="0"/>
              <a:t>F equals m a.</a:t>
            </a:r>
          </a:p>
          <a:p>
            <a:endParaRPr lang="en-US" dirty="0"/>
          </a:p>
          <a:p>
            <a:r>
              <a:rPr lang="en-US" dirty="0"/>
              <a:t>Now, acceleration is defined as the </a:t>
            </a:r>
            <a:r>
              <a:rPr lang="en-US" b="1" dirty="0"/>
              <a:t>change in velocity divided by the change in time</a:t>
            </a:r>
            <a:r>
              <a:rPr lang="en-US" dirty="0"/>
              <a:t> — so we write:</a:t>
            </a:r>
            <a:br>
              <a:rPr lang="en-US" dirty="0"/>
            </a:br>
            <a:r>
              <a:rPr lang="en-US" b="1" dirty="0"/>
              <a:t>a equals delta v over delta t.</a:t>
            </a:r>
          </a:p>
          <a:p>
            <a:endParaRPr lang="en-US" dirty="0"/>
          </a:p>
          <a:p>
            <a:r>
              <a:rPr lang="en-US" dirty="0"/>
              <a:t>If we substitute that into Newton’s law, we get:</a:t>
            </a:r>
            <a:br>
              <a:rPr lang="en-US" dirty="0"/>
            </a:br>
            <a:r>
              <a:rPr lang="en-US" b="1" dirty="0"/>
              <a:t>F times delta t equals m times delta v.</a:t>
            </a:r>
          </a:p>
          <a:p>
            <a:endParaRPr lang="en-US" dirty="0"/>
          </a:p>
          <a:p>
            <a:r>
              <a:rPr lang="en-US" dirty="0"/>
              <a:t>This equation shows us something powerful:</a:t>
            </a:r>
            <a:br>
              <a:rPr lang="en-US" dirty="0"/>
            </a:br>
            <a:r>
              <a:rPr lang="en-US" b="1" dirty="0"/>
              <a:t>Impulse — that’s force times time — equals the change in momentum.</a:t>
            </a:r>
            <a:endParaRPr lang="en-US" dirty="0"/>
          </a:p>
          <a:p>
            <a:r>
              <a:rPr lang="en-US" dirty="0"/>
              <a:t>tells us that </a:t>
            </a:r>
            <a:r>
              <a:rPr lang="en-US" b="1" dirty="0"/>
              <a:t>impulse causes the change in momentum</a:t>
            </a:r>
            <a:r>
              <a:rPr lang="en-US" dirty="0"/>
              <a:t>.</a:t>
            </a:r>
          </a:p>
          <a:p>
            <a:endParaRPr lang="en-US" dirty="0"/>
          </a:p>
          <a:p>
            <a:endParaRPr lang="en-US" dirty="0"/>
          </a:p>
          <a:p>
            <a:r>
              <a:rPr lang="en-US" dirty="0"/>
              <a:t> It’s the way to model how mechanical systems respond to external inputs, and the idea applies to other input-output relationships as well.</a:t>
            </a:r>
          </a:p>
        </p:txBody>
      </p:sp>
      <p:sp>
        <p:nvSpPr>
          <p:cNvPr id="4" name="Slide Number Placeholder 3"/>
          <p:cNvSpPr>
            <a:spLocks noGrp="1"/>
          </p:cNvSpPr>
          <p:nvPr>
            <p:ph type="sldNum" sz="quarter" idx="5"/>
          </p:nvPr>
        </p:nvSpPr>
        <p:spPr/>
        <p:txBody>
          <a:bodyPr/>
          <a:lstStyle/>
          <a:p>
            <a:fld id="{16362E68-66C4-4B01-8D1F-712CF75BFD43}" type="slidenum">
              <a:rPr lang="en-US" smtClean="0"/>
              <a:pPr/>
              <a:t>7</a:t>
            </a:fld>
            <a:endParaRPr lang="en-US"/>
          </a:p>
        </p:txBody>
      </p:sp>
    </p:spTree>
    <p:extLst>
      <p:ext uri="{BB962C8B-B14F-4D97-AF65-F5344CB8AC3E}">
        <p14:creationId xmlns:p14="http://schemas.microsoft.com/office/powerpoint/2010/main" val="22372658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Building on what we just discussed, here we observe something quite elegant:</a:t>
            </a:r>
          </a:p>
          <a:p>
            <a:r>
              <a:rPr lang="en-US" dirty="0"/>
              <a:t>The </a:t>
            </a:r>
            <a:r>
              <a:rPr lang="en-US" b="1" dirty="0"/>
              <a:t>shape of the force curve</a:t>
            </a:r>
            <a:r>
              <a:rPr lang="en-US" dirty="0"/>
              <a:t> — whether it’s a tall narrow spike or a wide shallow push — doesn’t actually matter when it comes to total impulse. What truly matters is the </a:t>
            </a:r>
            <a:r>
              <a:rPr lang="en-US" b="1" dirty="0"/>
              <a:t>area under the force-time curve</a:t>
            </a:r>
            <a:r>
              <a:rPr lang="en-US" dirty="0"/>
              <a:t>.</a:t>
            </a:r>
          </a:p>
          <a:p>
            <a:endParaRPr lang="en-US" dirty="0"/>
          </a:p>
          <a:p>
            <a:r>
              <a:rPr lang="en-US" dirty="0"/>
              <a:t>This area represents the </a:t>
            </a:r>
            <a:r>
              <a:rPr lang="en-US" b="1" dirty="0"/>
              <a:t>cumulative effect</a:t>
            </a:r>
            <a:r>
              <a:rPr lang="en-US" dirty="0"/>
              <a:t> of the force. So, a small force applied over a long duration can have the same impulse as a large force applied for a short time.</a:t>
            </a:r>
          </a:p>
          <a:p>
            <a:endParaRPr lang="en-US" dirty="0"/>
          </a:p>
          <a:p>
            <a:r>
              <a:rPr lang="en-US" dirty="0"/>
              <a:t>In system terms, different kinds of inputs can result in the same response if their total impact — the area — is identical.</a:t>
            </a:r>
          </a:p>
          <a:p>
            <a:r>
              <a:rPr lang="en-US" dirty="0"/>
              <a:t>This idea is central to convolution: we’re not just tracking individual values, but the </a:t>
            </a:r>
            <a:r>
              <a:rPr lang="en-US" b="1" dirty="0"/>
              <a:t>accumulated effect</a:t>
            </a:r>
            <a:r>
              <a:rPr lang="en-US" dirty="0"/>
              <a:t> of an input across time.</a:t>
            </a:r>
          </a:p>
        </p:txBody>
      </p:sp>
      <p:sp>
        <p:nvSpPr>
          <p:cNvPr id="4" name="Slide Number Placeholder 3"/>
          <p:cNvSpPr>
            <a:spLocks noGrp="1"/>
          </p:cNvSpPr>
          <p:nvPr>
            <p:ph type="sldNum" sz="quarter" idx="5"/>
          </p:nvPr>
        </p:nvSpPr>
        <p:spPr/>
        <p:txBody>
          <a:bodyPr/>
          <a:lstStyle/>
          <a:p>
            <a:fld id="{16362E68-66C4-4B01-8D1F-712CF75BFD43}" type="slidenum">
              <a:rPr lang="en-US" smtClean="0"/>
              <a:pPr/>
              <a:t>8</a:t>
            </a:fld>
            <a:endParaRPr lang="en-US"/>
          </a:p>
        </p:txBody>
      </p:sp>
    </p:spTree>
    <p:extLst>
      <p:ext uri="{BB962C8B-B14F-4D97-AF65-F5344CB8AC3E}">
        <p14:creationId xmlns:p14="http://schemas.microsoft.com/office/powerpoint/2010/main" val="30112579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Now let’s extend that idea.</a:t>
            </a:r>
          </a:p>
          <a:p>
            <a:r>
              <a:rPr lang="en-US" dirty="0"/>
              <a:t>Impulse isn’t limited to rectangular shapes. We can see in this graph that different </a:t>
            </a:r>
            <a:r>
              <a:rPr lang="en-US" b="1" dirty="0"/>
              <a:t>Gaussian curves</a:t>
            </a:r>
            <a:r>
              <a:rPr lang="en-US" dirty="0"/>
              <a:t> — whether wide or narrow, flat or sharp — can all serve as impulse-like inputs.</a:t>
            </a:r>
          </a:p>
          <a:p>
            <a:endParaRPr lang="en-US" dirty="0"/>
          </a:p>
          <a:p>
            <a:r>
              <a:rPr lang="en-US" dirty="0"/>
              <a:t>What matters is the </a:t>
            </a:r>
            <a:r>
              <a:rPr lang="en-US" b="1" dirty="0"/>
              <a:t>area under each curve</a:t>
            </a:r>
            <a:r>
              <a:rPr lang="en-US" dirty="0"/>
              <a:t>. This area represents the </a:t>
            </a:r>
            <a:r>
              <a:rPr lang="en-US" b="1" dirty="0"/>
              <a:t>total impulse</a:t>
            </a:r>
            <a:r>
              <a:rPr lang="en-US" dirty="0"/>
              <a:t> delivered by the force, regardless of how the function looks. As long as that area remains the same, the impact on the system is the same.</a:t>
            </a:r>
          </a:p>
          <a:p>
            <a:r>
              <a:rPr lang="en-US" dirty="0"/>
              <a:t>This insight is critical in both physics and engineering: we often abstract away the exact shape of a signal and focus instead on its </a:t>
            </a:r>
            <a:r>
              <a:rPr lang="en-US" b="1" dirty="0"/>
              <a:t>integrated effect</a:t>
            </a:r>
            <a:r>
              <a:rPr lang="en-US" dirty="0"/>
              <a:t> — the impulse.</a:t>
            </a:r>
          </a:p>
        </p:txBody>
      </p:sp>
      <p:sp>
        <p:nvSpPr>
          <p:cNvPr id="4" name="Slide Number Placeholder 3"/>
          <p:cNvSpPr>
            <a:spLocks noGrp="1"/>
          </p:cNvSpPr>
          <p:nvPr>
            <p:ph type="sldNum" sz="quarter" idx="5"/>
          </p:nvPr>
        </p:nvSpPr>
        <p:spPr/>
        <p:txBody>
          <a:bodyPr/>
          <a:lstStyle/>
          <a:p>
            <a:fld id="{16362E68-66C4-4B01-8D1F-712CF75BFD43}" type="slidenum">
              <a:rPr lang="en-US" smtClean="0"/>
              <a:pPr/>
              <a:t>9</a:t>
            </a:fld>
            <a:endParaRPr lang="en-US"/>
          </a:p>
        </p:txBody>
      </p:sp>
    </p:spTree>
    <p:extLst>
      <p:ext uri="{BB962C8B-B14F-4D97-AF65-F5344CB8AC3E}">
        <p14:creationId xmlns:p14="http://schemas.microsoft.com/office/powerpoint/2010/main" val="10544336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This brings us to an important mathematical idea — the </a:t>
            </a:r>
            <a:r>
              <a:rPr lang="en-US" b="1" dirty="0"/>
              <a:t>limiting process</a:t>
            </a:r>
            <a:r>
              <a:rPr lang="en-US" dirty="0"/>
              <a:t>, which gives us a way to model an ideal impulse.</a:t>
            </a:r>
          </a:p>
          <a:p>
            <a:r>
              <a:rPr lang="en-US" dirty="0"/>
              <a:t>Let’s define a simple function — we’ll call it </a:t>
            </a:r>
            <a:r>
              <a:rPr lang="en-US" b="1" dirty="0"/>
              <a:t>d tau of t</a:t>
            </a:r>
            <a:r>
              <a:rPr lang="en-US" dirty="0"/>
              <a:t>.</a:t>
            </a:r>
          </a:p>
          <a:p>
            <a:r>
              <a:rPr lang="en-US" dirty="0"/>
              <a:t>It’s equal to </a:t>
            </a:r>
            <a:r>
              <a:rPr lang="en-US" b="1" dirty="0"/>
              <a:t>one divided by two tau</a:t>
            </a:r>
            <a:r>
              <a:rPr lang="en-US" dirty="0"/>
              <a:t> when </a:t>
            </a:r>
            <a:r>
              <a:rPr lang="en-US" b="1" dirty="0"/>
              <a:t>t is between minus tau and tau</a:t>
            </a:r>
            <a:r>
              <a:rPr lang="en-US" dirty="0"/>
              <a:t>.</a:t>
            </a:r>
          </a:p>
          <a:p>
            <a:br>
              <a:rPr lang="en-US" dirty="0"/>
            </a:br>
            <a:r>
              <a:rPr lang="en-US" dirty="0"/>
              <a:t>And it’s equal to </a:t>
            </a:r>
            <a:r>
              <a:rPr lang="en-US" b="1" dirty="0"/>
              <a:t>zero</a:t>
            </a:r>
            <a:r>
              <a:rPr lang="en-US" dirty="0"/>
              <a:t> everywhere else.</a:t>
            </a:r>
          </a:p>
          <a:p>
            <a:r>
              <a:rPr lang="en-US" dirty="0"/>
              <a:t>So again:</a:t>
            </a:r>
          </a:p>
          <a:p>
            <a:r>
              <a:rPr lang="en-US" b="1" dirty="0"/>
              <a:t>d tau of t equals one over two tau</a:t>
            </a:r>
            <a:r>
              <a:rPr lang="en-US" dirty="0"/>
              <a:t>, if </a:t>
            </a:r>
            <a:r>
              <a:rPr lang="en-US" b="1" dirty="0"/>
              <a:t>t is greater than minus tau and less than tau</a:t>
            </a:r>
            <a:r>
              <a:rPr lang="en-US" dirty="0"/>
              <a:t>.</a:t>
            </a:r>
            <a:br>
              <a:rPr lang="en-US" dirty="0"/>
            </a:br>
            <a:r>
              <a:rPr lang="en-US" dirty="0"/>
              <a:t>Otherwise, it’s </a:t>
            </a:r>
            <a:r>
              <a:rPr lang="en-US" b="1" dirty="0"/>
              <a:t>zero</a:t>
            </a:r>
            <a:r>
              <a:rPr lang="en-US" dirty="0"/>
              <a:t>.</a:t>
            </a:r>
          </a:p>
          <a:p>
            <a:r>
              <a:rPr lang="en-US" dirty="0"/>
              <a:t>Now, as </a:t>
            </a:r>
            <a:r>
              <a:rPr lang="en-US" b="1" dirty="0"/>
              <a:t>tau gets smaller and smaller</a:t>
            </a:r>
            <a:r>
              <a:rPr lang="en-US" dirty="0"/>
              <a:t>, this function becomes </a:t>
            </a:r>
            <a:r>
              <a:rPr lang="en-US" b="1" dirty="0"/>
              <a:t>taller and narrower</a:t>
            </a:r>
            <a:r>
              <a:rPr lang="en-US" dirty="0"/>
              <a:t>, but the </a:t>
            </a:r>
            <a:r>
              <a:rPr lang="en-US" b="1" dirty="0"/>
              <a:t>area under the curve remains exactly one</a:t>
            </a:r>
            <a:r>
              <a:rPr lang="en-US" dirty="0"/>
              <a:t>.</a:t>
            </a:r>
          </a:p>
          <a:p>
            <a:endParaRPr lang="en-US" dirty="0"/>
          </a:p>
          <a:p>
            <a:r>
              <a:rPr lang="en-US" dirty="0"/>
              <a:t>That’s the key. As we shrink the width to zero — and the height grows without bound — we approach the </a:t>
            </a:r>
            <a:r>
              <a:rPr lang="en-US" b="1" dirty="0"/>
              <a:t>Dirac delta function</a:t>
            </a:r>
            <a:r>
              <a:rPr lang="en-US" dirty="0"/>
              <a:t>.</a:t>
            </a:r>
          </a:p>
          <a:p>
            <a:r>
              <a:rPr lang="en-US" dirty="0"/>
              <a:t>Mathematically, we say:</a:t>
            </a:r>
          </a:p>
          <a:p>
            <a:r>
              <a:rPr lang="en-US" b="1" dirty="0"/>
              <a:t>The limit of d tau of t, as tau approaches zero, is zero everywhere except at t equals zero.</a:t>
            </a:r>
            <a:br>
              <a:rPr lang="en-US" dirty="0"/>
            </a:br>
            <a:r>
              <a:rPr lang="en-US" dirty="0"/>
              <a:t>And at the same time,</a:t>
            </a:r>
            <a:br>
              <a:rPr lang="en-US" dirty="0"/>
            </a:br>
            <a:r>
              <a:rPr lang="en-US" b="1" dirty="0"/>
              <a:t>The limit of the area under the curve — capital I of tau — is equal to one.</a:t>
            </a:r>
            <a:endParaRPr lang="en-US" dirty="0"/>
          </a:p>
          <a:p>
            <a:r>
              <a:rPr lang="en-US" dirty="0"/>
              <a:t>In other words, the delta function is </a:t>
            </a:r>
            <a:r>
              <a:rPr lang="en-US" b="1" dirty="0"/>
              <a:t>infinitely narrow</a:t>
            </a:r>
            <a:r>
              <a:rPr lang="en-US" dirty="0"/>
              <a:t>, </a:t>
            </a:r>
            <a:r>
              <a:rPr lang="en-US" b="1" dirty="0"/>
              <a:t>infinitely tall</a:t>
            </a:r>
            <a:r>
              <a:rPr lang="en-US" dirty="0"/>
              <a:t>, and yet has </a:t>
            </a:r>
            <a:r>
              <a:rPr lang="en-US" b="1" dirty="0"/>
              <a:t>a finite area of one</a:t>
            </a:r>
            <a:r>
              <a:rPr lang="en-US" dirty="0"/>
              <a:t>.</a:t>
            </a:r>
          </a:p>
          <a:p>
            <a:endParaRPr lang="en-US" dirty="0"/>
          </a:p>
          <a:p>
            <a:r>
              <a:rPr lang="en-US" dirty="0"/>
              <a:t>This makes it a perfect tool for modeling </a:t>
            </a:r>
            <a:r>
              <a:rPr lang="en-US" b="1" dirty="0"/>
              <a:t>ideal impulses,</a:t>
            </a:r>
            <a:r>
              <a:rPr lang="en-US" dirty="0"/>
              <a:t> especially when we need to represent quick, concentrated energy or a sharp event in time.</a:t>
            </a:r>
          </a:p>
          <a:p>
            <a:r>
              <a:rPr lang="en-US" dirty="0"/>
              <a:t>And this idea will become central as we move into our discussion of </a:t>
            </a:r>
            <a:r>
              <a:rPr lang="en-US" b="1" dirty="0"/>
              <a:t>convolution,</a:t>
            </a:r>
            <a:r>
              <a:rPr lang="en-US" dirty="0"/>
              <a:t> where impulse responses help us understand how systems behave in response to various inputs.</a:t>
            </a:r>
          </a:p>
        </p:txBody>
      </p:sp>
      <p:sp>
        <p:nvSpPr>
          <p:cNvPr id="4" name="Slide Number Placeholder 3"/>
          <p:cNvSpPr>
            <a:spLocks noGrp="1"/>
          </p:cNvSpPr>
          <p:nvPr>
            <p:ph type="sldNum" sz="quarter" idx="5"/>
          </p:nvPr>
        </p:nvSpPr>
        <p:spPr/>
        <p:txBody>
          <a:bodyPr/>
          <a:lstStyle/>
          <a:p>
            <a:fld id="{16362E68-66C4-4B01-8D1F-712CF75BFD43}" type="slidenum">
              <a:rPr lang="en-US" smtClean="0"/>
              <a:pPr/>
              <a:t>10</a:t>
            </a:fld>
            <a:endParaRPr lang="en-US"/>
          </a:p>
        </p:txBody>
      </p:sp>
    </p:spTree>
    <p:extLst>
      <p:ext uri="{BB962C8B-B14F-4D97-AF65-F5344CB8AC3E}">
        <p14:creationId xmlns:p14="http://schemas.microsoft.com/office/powerpoint/2010/main" val="2276283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Let’s take a moment to reflect on why the </a:t>
            </a:r>
            <a:r>
              <a:rPr lang="en-US" b="1" dirty="0"/>
              <a:t>limiting process</a:t>
            </a:r>
            <a:r>
              <a:rPr lang="en-US" dirty="0"/>
              <a:t> is essential when defining an impulse.</a:t>
            </a:r>
          </a:p>
          <a:p>
            <a:r>
              <a:rPr lang="en-US" dirty="0"/>
              <a:t>You might wonder — if we already know an impulse gives us the desired effect, like setting a golf ball in motion, why go through the trouble of idealizing it mathematically? The reason lies in precision. By applying the limiting process, we create a </a:t>
            </a:r>
            <a:r>
              <a:rPr lang="en-US" b="1" dirty="0"/>
              <a:t>perfect, universal model</a:t>
            </a:r>
            <a:r>
              <a:rPr lang="en-US" dirty="0"/>
              <a:t> of an impulse, one that’s as rigorous as the definition of a derivative in calculus.</a:t>
            </a:r>
          </a:p>
          <a:p>
            <a:r>
              <a:rPr lang="en-US" dirty="0"/>
              <a:t>Think of how we define a derivative: we take a small change, and by letting that change approach zero, we achieve an exact result. We’re doing something similar here with the </a:t>
            </a:r>
            <a:r>
              <a:rPr lang="en-US" b="1" dirty="0"/>
              <a:t>Dirac delta function</a:t>
            </a:r>
            <a:r>
              <a:rPr lang="en-US" dirty="0"/>
              <a:t>.</a:t>
            </a:r>
          </a:p>
          <a:p>
            <a:endParaRPr lang="en-US" dirty="0"/>
          </a:p>
          <a:p>
            <a:r>
              <a:rPr lang="en-US" dirty="0"/>
              <a:t>Now, regarding the shape of the delta function — does it matter? In fact, no. What matters is the </a:t>
            </a:r>
            <a:r>
              <a:rPr lang="en-US" b="1" dirty="0"/>
              <a:t>area under the curve</a:t>
            </a:r>
            <a:r>
              <a:rPr lang="en-US" dirty="0"/>
              <a:t>, not how the curve looks. It’s like receiving payment: whether it comes in one sum or in smaller installments, the total value is what counts.</a:t>
            </a:r>
          </a:p>
          <a:p>
            <a:endParaRPr lang="en-US" dirty="0"/>
          </a:p>
          <a:p>
            <a:r>
              <a:rPr lang="en-US" dirty="0"/>
              <a:t>Interestingly, if you start worrying about the exact shape without measuring it, you’re in uncertain territory. Without measurement, all shapes are possible — a bit like the probabilistic world of quantum mechanics! Only when we observe or measure do we know what’s truly there. This connection offers a fascinating lens on how we idealize and model impulses in system theory.</a:t>
            </a:r>
          </a:p>
        </p:txBody>
      </p:sp>
      <p:sp>
        <p:nvSpPr>
          <p:cNvPr id="4" name="Slide Number Placeholder 3"/>
          <p:cNvSpPr>
            <a:spLocks noGrp="1"/>
          </p:cNvSpPr>
          <p:nvPr>
            <p:ph type="sldNum" sz="quarter" idx="5"/>
          </p:nvPr>
        </p:nvSpPr>
        <p:spPr/>
        <p:txBody>
          <a:bodyPr/>
          <a:lstStyle/>
          <a:p>
            <a:fld id="{16362E68-66C4-4B01-8D1F-712CF75BFD43}" type="slidenum">
              <a:rPr lang="en-US" smtClean="0"/>
              <a:pPr/>
              <a:t>11</a:t>
            </a:fld>
            <a:endParaRPr lang="en-US"/>
          </a:p>
        </p:txBody>
      </p:sp>
    </p:spTree>
    <p:extLst>
      <p:ext uri="{BB962C8B-B14F-4D97-AF65-F5344CB8AC3E}">
        <p14:creationId xmlns:p14="http://schemas.microsoft.com/office/powerpoint/2010/main" val="22470224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Let’s take a deeper look at the Dirac delta function — one of the most powerful concepts in system analysis.</a:t>
            </a:r>
          </a:p>
          <a:p>
            <a:r>
              <a:rPr lang="en-US" dirty="0"/>
              <a:t>The delta function is what we call a </a:t>
            </a:r>
            <a:r>
              <a:rPr lang="en-US" b="1" dirty="0"/>
              <a:t>generalized function,</a:t>
            </a:r>
            <a:r>
              <a:rPr lang="en-US" dirty="0"/>
              <a:t> or in mathematical terms, a </a:t>
            </a:r>
            <a:r>
              <a:rPr lang="en-US" b="1" dirty="0"/>
              <a:t>distribution</a:t>
            </a:r>
            <a:r>
              <a:rPr lang="en-US" dirty="0"/>
              <a:t>. It helps us model a perfect impulse — something that delivers a concentrated effect at a single moment in time.</a:t>
            </a:r>
          </a:p>
          <a:p>
            <a:endParaRPr lang="en-US" dirty="0"/>
          </a:p>
          <a:p>
            <a:r>
              <a:rPr lang="en-US" dirty="0"/>
              <a:t>Now, here’s how we describe it mathematically:</a:t>
            </a:r>
          </a:p>
          <a:p>
            <a:r>
              <a:rPr lang="en-US" dirty="0"/>
              <a:t>We say that delta of </a:t>
            </a:r>
            <a:r>
              <a:rPr lang="en-US" b="1" dirty="0"/>
              <a:t>t minus t naught</a:t>
            </a:r>
            <a:r>
              <a:rPr lang="en-US" dirty="0"/>
              <a:t> equals zero for all values of t not equal to t naught.</a:t>
            </a:r>
            <a:br>
              <a:rPr lang="en-US" dirty="0"/>
            </a:br>
            <a:r>
              <a:rPr lang="en-US" dirty="0"/>
              <a:t>And, when we integrate this delta function from minus infinity to infinity, the result is one.</a:t>
            </a:r>
          </a:p>
          <a:p>
            <a:r>
              <a:rPr lang="en-US" dirty="0"/>
              <a:t>What does that mean?</a:t>
            </a:r>
          </a:p>
          <a:p>
            <a:r>
              <a:rPr lang="en-US" dirty="0"/>
              <a:t>It means the function is </a:t>
            </a:r>
            <a:r>
              <a:rPr lang="en-US" b="1" dirty="0"/>
              <a:t>zero everywhere</a:t>
            </a:r>
            <a:r>
              <a:rPr lang="en-US" dirty="0"/>
              <a:t> — except at one specific point in time, which we call t naught. At that single point, it has an </a:t>
            </a:r>
            <a:r>
              <a:rPr lang="en-US" b="1" dirty="0"/>
              <a:t>infinitely sharp spike</a:t>
            </a:r>
            <a:r>
              <a:rPr lang="en-US" dirty="0"/>
              <a:t>, but the </a:t>
            </a:r>
            <a:r>
              <a:rPr lang="en-US" b="1" dirty="0"/>
              <a:t>area under the spike is exactly one</a:t>
            </a:r>
            <a:r>
              <a:rPr lang="en-US" dirty="0"/>
              <a:t>. That area is what we call the impulse.</a:t>
            </a:r>
          </a:p>
          <a:p>
            <a:r>
              <a:rPr lang="en-US" dirty="0"/>
              <a:t>So even though we can’t see or draw the spike perfectly, we know that its total effect — the impulse — is one. That’s what matters. The effect is important, but the exact shape doesn’t matter.</a:t>
            </a:r>
          </a:p>
          <a:p>
            <a:endParaRPr lang="en-US" dirty="0"/>
          </a:p>
          <a:p>
            <a:r>
              <a:rPr lang="en-US" dirty="0"/>
              <a:t>Now, let’s shift to the </a:t>
            </a:r>
            <a:r>
              <a:rPr lang="en-US" b="1" dirty="0"/>
              <a:t>discrete version</a:t>
            </a:r>
            <a:r>
              <a:rPr lang="en-US" dirty="0"/>
              <a:t> of the delta function — something we use in digital systems.</a:t>
            </a:r>
          </a:p>
          <a:p>
            <a:r>
              <a:rPr lang="en-US" dirty="0"/>
              <a:t>We define delta of </a:t>
            </a:r>
            <a:r>
              <a:rPr lang="en-US" b="1" dirty="0"/>
              <a:t>n</a:t>
            </a:r>
            <a:r>
              <a:rPr lang="en-US" dirty="0"/>
              <a:t> like this:</a:t>
            </a:r>
          </a:p>
          <a:p>
            <a:r>
              <a:rPr lang="en-US" dirty="0"/>
              <a:t>It equals one when n is zero,</a:t>
            </a:r>
            <a:br>
              <a:rPr lang="en-US" dirty="0"/>
            </a:br>
            <a:r>
              <a:rPr lang="en-US" dirty="0"/>
              <a:t>and it equals zero for all other values of n.</a:t>
            </a:r>
          </a:p>
          <a:p>
            <a:endParaRPr lang="en-US" dirty="0"/>
          </a:p>
          <a:p>
            <a:r>
              <a:rPr lang="en-US" dirty="0"/>
              <a:t>In other words, this function is zero everywhere — except at </a:t>
            </a:r>
            <a:r>
              <a:rPr lang="en-US" b="1" dirty="0"/>
              <a:t>n equals zero</a:t>
            </a:r>
            <a:r>
              <a:rPr lang="en-US" dirty="0"/>
              <a:t>, where it has a value of one.</a:t>
            </a:r>
            <a:br>
              <a:rPr lang="en-US" dirty="0"/>
            </a:br>
            <a:r>
              <a:rPr lang="en-US" dirty="0"/>
              <a:t>It’s a single pulse — like a quick tap — at a specific point in time.</a:t>
            </a:r>
          </a:p>
          <a:p>
            <a:endParaRPr lang="en-US" dirty="0"/>
          </a:p>
          <a:p>
            <a:r>
              <a:rPr lang="en-US" dirty="0"/>
              <a:t>We can also shift this pulse. For example, </a:t>
            </a:r>
            <a:r>
              <a:rPr lang="en-US" b="1" dirty="0"/>
              <a:t>delta of n minus two</a:t>
            </a:r>
            <a:r>
              <a:rPr lang="en-US" dirty="0"/>
              <a:t> just moves the pulse to position n equals two.</a:t>
            </a:r>
          </a:p>
          <a:p>
            <a:endParaRPr lang="en-US" dirty="0"/>
          </a:p>
          <a:p>
            <a:r>
              <a:rPr lang="en-US" dirty="0"/>
              <a:t>This simple pulse is incredibly useful. It forms the building block for </a:t>
            </a:r>
            <a:r>
              <a:rPr lang="en-US" b="1" dirty="0"/>
              <a:t>discrete-time convolution</a:t>
            </a:r>
            <a:r>
              <a:rPr lang="en-US" dirty="0"/>
              <a:t>, which we’ll talk about next.</a:t>
            </a:r>
          </a:p>
          <a:p>
            <a:r>
              <a:rPr lang="en-US" dirty="0"/>
              <a:t>So both the continuous and discrete versions of the delta function help us analyze how systems respond to input — whether we’re dealing with real-world signals or digital data.</a:t>
            </a:r>
          </a:p>
        </p:txBody>
      </p:sp>
      <p:sp>
        <p:nvSpPr>
          <p:cNvPr id="4" name="Slide Number Placeholder 3"/>
          <p:cNvSpPr>
            <a:spLocks noGrp="1"/>
          </p:cNvSpPr>
          <p:nvPr>
            <p:ph type="sldNum" sz="quarter" idx="5"/>
          </p:nvPr>
        </p:nvSpPr>
        <p:spPr/>
        <p:txBody>
          <a:bodyPr/>
          <a:lstStyle/>
          <a:p>
            <a:fld id="{16362E68-66C4-4B01-8D1F-712CF75BFD43}" type="slidenum">
              <a:rPr lang="en-US" smtClean="0"/>
              <a:pPr/>
              <a:t>12</a:t>
            </a:fld>
            <a:endParaRPr lang="en-US"/>
          </a:p>
        </p:txBody>
      </p:sp>
    </p:spTree>
    <p:extLst>
      <p:ext uri="{BB962C8B-B14F-4D97-AF65-F5344CB8AC3E}">
        <p14:creationId xmlns:p14="http://schemas.microsoft.com/office/powerpoint/2010/main" val="17800086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Before we explore how the delta function models sampling, let’s take a quick look at the </a:t>
            </a:r>
            <a:r>
              <a:rPr lang="en-US" b="1" dirty="0"/>
              <a:t>integral mean value theorem</a:t>
            </a:r>
            <a:r>
              <a:rPr lang="en-US" dirty="0"/>
              <a:t> — a fundamental concept from calculus.</a:t>
            </a:r>
          </a:p>
          <a:p>
            <a:r>
              <a:rPr lang="en-US" dirty="0"/>
              <a:t>Imagine we have a continuous function plotted over the interval from </a:t>
            </a:r>
            <a:r>
              <a:rPr lang="en-US" b="1" dirty="0"/>
              <a:t>a to b</a:t>
            </a:r>
            <a:r>
              <a:rPr lang="en-US" dirty="0"/>
              <a:t>. The area under the curve — shaded in green on the slide — is found by integrating the function from a to b.</a:t>
            </a:r>
          </a:p>
          <a:p>
            <a:endParaRPr lang="en-US" dirty="0"/>
          </a:p>
          <a:p>
            <a:r>
              <a:rPr lang="en-US" dirty="0"/>
              <a:t>Now, here’s what the mean value theorem says:</a:t>
            </a:r>
            <a:br>
              <a:rPr lang="en-US" dirty="0"/>
            </a:br>
            <a:r>
              <a:rPr lang="en-US" dirty="0"/>
              <a:t>Somewhere between </a:t>
            </a:r>
            <a:r>
              <a:rPr lang="en-US" b="1" dirty="0"/>
              <a:t>a and b</a:t>
            </a:r>
            <a:r>
              <a:rPr lang="en-US" dirty="0"/>
              <a:t>, there’s at least one point, which we’ll call </a:t>
            </a:r>
            <a:r>
              <a:rPr lang="en-US" b="1" dirty="0"/>
              <a:t>c</a:t>
            </a:r>
            <a:r>
              <a:rPr lang="en-US" dirty="0"/>
              <a:t>, where the height of the function at that point — </a:t>
            </a:r>
            <a:r>
              <a:rPr lang="en-US" b="1" dirty="0"/>
              <a:t>f of c</a:t>
            </a:r>
            <a:r>
              <a:rPr lang="en-US" dirty="0"/>
              <a:t> — multiplied by the width of the interval, gives you the </a:t>
            </a:r>
            <a:r>
              <a:rPr lang="en-US" b="1" dirty="0"/>
              <a:t>same area</a:t>
            </a:r>
            <a:r>
              <a:rPr lang="en-US" dirty="0"/>
              <a:t> as the one under the curve.</a:t>
            </a:r>
          </a:p>
          <a:p>
            <a:r>
              <a:rPr lang="en-US" dirty="0"/>
              <a:t>It’s like finding a rectangle with the same base and the same area — it represents the "average" value of the function across the interval.</a:t>
            </a:r>
          </a:p>
          <a:p>
            <a:endParaRPr lang="en-US" dirty="0"/>
          </a:p>
          <a:p>
            <a:r>
              <a:rPr lang="en-US" dirty="0"/>
              <a:t>This concept of "average value over a short interval" will help us understand how the delta function works when it comes to </a:t>
            </a:r>
            <a:r>
              <a:rPr lang="en-US" b="1" dirty="0"/>
              <a:t>sampling a continuous function</a:t>
            </a:r>
            <a:r>
              <a:rPr lang="en-US" dirty="0"/>
              <a:t>.</a:t>
            </a:r>
          </a:p>
        </p:txBody>
      </p:sp>
      <p:sp>
        <p:nvSpPr>
          <p:cNvPr id="4" name="Slide Number Placeholder 3"/>
          <p:cNvSpPr>
            <a:spLocks noGrp="1"/>
          </p:cNvSpPr>
          <p:nvPr>
            <p:ph type="sldNum" sz="quarter" idx="5"/>
          </p:nvPr>
        </p:nvSpPr>
        <p:spPr/>
        <p:txBody>
          <a:bodyPr/>
          <a:lstStyle/>
          <a:p>
            <a:fld id="{16362E68-66C4-4B01-8D1F-712CF75BFD43}" type="slidenum">
              <a:rPr lang="en-US" smtClean="0"/>
              <a:pPr/>
              <a:t>13</a:t>
            </a:fld>
            <a:endParaRPr lang="en-US"/>
          </a:p>
        </p:txBody>
      </p:sp>
    </p:spTree>
    <p:extLst>
      <p:ext uri="{BB962C8B-B14F-4D97-AF65-F5344CB8AC3E}">
        <p14:creationId xmlns:p14="http://schemas.microsoft.com/office/powerpoint/2010/main" val="26372715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Let’s now connect this idea directly to the </a:t>
            </a:r>
            <a:r>
              <a:rPr lang="en-US" b="1" dirty="0"/>
              <a:t>delta function</a:t>
            </a:r>
            <a:r>
              <a:rPr lang="en-US" dirty="0"/>
              <a:t> and its role in sampling.</a:t>
            </a:r>
          </a:p>
          <a:p>
            <a:r>
              <a:rPr lang="en-US" dirty="0"/>
              <a:t>Imagine you have a continuous function — let’s call it </a:t>
            </a:r>
            <a:r>
              <a:rPr lang="en-US" b="1" dirty="0"/>
              <a:t>f of t</a:t>
            </a:r>
            <a:r>
              <a:rPr lang="en-US" dirty="0"/>
              <a:t>. Now, if you multiply this function by a </a:t>
            </a:r>
            <a:r>
              <a:rPr lang="en-US" b="1" dirty="0"/>
              <a:t>shifted delta function</a:t>
            </a:r>
            <a:r>
              <a:rPr lang="en-US" dirty="0"/>
              <a:t>, specifically </a:t>
            </a:r>
            <a:r>
              <a:rPr lang="en-US" b="1" dirty="0"/>
              <a:t>delta of t minus t naught</a:t>
            </a:r>
            <a:r>
              <a:rPr lang="en-US" dirty="0"/>
              <a:t>, and then integrate, something powerful happens:</a:t>
            </a:r>
          </a:p>
          <a:p>
            <a:br>
              <a:rPr lang="en-US" dirty="0"/>
            </a:br>
            <a:r>
              <a:rPr lang="en-US" dirty="0"/>
              <a:t>You end up </a:t>
            </a:r>
            <a:r>
              <a:rPr lang="en-US" b="1" dirty="0"/>
              <a:t>extracting the value of f at t naught</a:t>
            </a:r>
            <a:r>
              <a:rPr lang="en-US" dirty="0"/>
              <a:t>. In other words, the delta function acts like a perfect sampling tool.</a:t>
            </a:r>
          </a:p>
          <a:p>
            <a:r>
              <a:rPr lang="en-US" dirty="0"/>
              <a:t>Mathematically, this is shown through a </a:t>
            </a:r>
            <a:r>
              <a:rPr lang="en-US" b="1" dirty="0"/>
              <a:t>limiting process</a:t>
            </a:r>
            <a:r>
              <a:rPr lang="en-US" dirty="0"/>
              <a:t>. As the width of the delta function shrinks toward zero, its height increases — but the </a:t>
            </a:r>
            <a:r>
              <a:rPr lang="en-US" b="1" dirty="0"/>
              <a:t>total area remains one</a:t>
            </a:r>
            <a:r>
              <a:rPr lang="en-US" dirty="0"/>
              <a:t>. That’s key.</a:t>
            </a:r>
          </a:p>
          <a:p>
            <a:r>
              <a:rPr lang="en-US" dirty="0"/>
              <a:t>Inside this narrow window around </a:t>
            </a:r>
            <a:r>
              <a:rPr lang="en-US" b="1" dirty="0"/>
              <a:t>t naught</a:t>
            </a:r>
            <a:r>
              <a:rPr lang="en-US" dirty="0"/>
              <a:t>, the function f is essentially flat — and using the mean value theorem, we know there must be some point where the function's value equals the average over that interval. As the window becomes infinitesimally small, that point converges exactly to </a:t>
            </a:r>
            <a:r>
              <a:rPr lang="en-US" b="1" dirty="0"/>
              <a:t>t naught</a:t>
            </a:r>
            <a:r>
              <a:rPr lang="en-US" dirty="0"/>
              <a:t>.</a:t>
            </a:r>
          </a:p>
          <a:p>
            <a:r>
              <a:rPr lang="en-US" dirty="0"/>
              <a:t>So what do we get?</a:t>
            </a:r>
          </a:p>
          <a:p>
            <a:endParaRPr lang="en-US" dirty="0"/>
          </a:p>
          <a:p>
            <a:r>
              <a:rPr lang="en-US" dirty="0"/>
              <a:t>The integral from minus infinity to infinity of delta of t minus t naught, times f of t, d t — equals f of t naught.</a:t>
            </a:r>
          </a:p>
          <a:p>
            <a:r>
              <a:rPr lang="en-US" dirty="0"/>
              <a:t>This is called the </a:t>
            </a:r>
            <a:r>
              <a:rPr lang="en-US" b="1" dirty="0"/>
              <a:t>sampling property</a:t>
            </a:r>
            <a:r>
              <a:rPr lang="en-US" dirty="0"/>
              <a:t> of the delta function. It’s as if the delta function "reaches into" the function and pulls out the value at a single point.</a:t>
            </a:r>
          </a:p>
          <a:p>
            <a:r>
              <a:rPr lang="en-US" dirty="0"/>
              <a:t>Even more fascinating — we can actually </a:t>
            </a:r>
            <a:r>
              <a:rPr lang="en-US" b="1" dirty="0"/>
              <a:t>rebuild</a:t>
            </a:r>
            <a:r>
              <a:rPr lang="en-US" dirty="0"/>
              <a:t> any continuous function using this idea. By stacking many delta functions across time, each weighted by the function’s value at that point, we can reconstruct the entire function. Think of it like slicing the function into tiny pieces — each slice tells us something, and when you add them all together, you get the full picture again.</a:t>
            </a:r>
          </a:p>
        </p:txBody>
      </p:sp>
      <p:sp>
        <p:nvSpPr>
          <p:cNvPr id="4" name="Slide Number Placeholder 3"/>
          <p:cNvSpPr>
            <a:spLocks noGrp="1"/>
          </p:cNvSpPr>
          <p:nvPr>
            <p:ph type="sldNum" sz="quarter" idx="10"/>
          </p:nvPr>
        </p:nvSpPr>
        <p:spPr/>
        <p:txBody>
          <a:bodyPr/>
          <a:lstStyle/>
          <a:p>
            <a:fld id="{16362E68-66C4-4B01-8D1F-712CF75BFD43}" type="slidenum">
              <a:rPr lang="en-US" smtClean="0"/>
              <a:pPr/>
              <a:t>14</a:t>
            </a:fld>
            <a:endParaRPr lang="en-US"/>
          </a:p>
        </p:txBody>
      </p:sp>
    </p:spTree>
    <p:extLst>
      <p:ext uri="{BB962C8B-B14F-4D97-AF65-F5344CB8AC3E}">
        <p14:creationId xmlns:p14="http://schemas.microsoft.com/office/powerpoint/2010/main" val="40070651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Let’s now think about how this idea translates to the discrete case.</a:t>
            </a:r>
          </a:p>
          <a:p>
            <a:r>
              <a:rPr lang="en-US" dirty="0"/>
              <a:t>You can visualize a discrete function as a collection of rectangular bars — sometimes called gate functions. These bars represent values at specific, evenly spaced points — like sampling a continuous function at fixed intervals.</a:t>
            </a:r>
          </a:p>
          <a:p>
            <a:r>
              <a:rPr lang="en-US" dirty="0"/>
              <a:t>Here you can see the mathematical expression in this slide.</a:t>
            </a:r>
          </a:p>
          <a:p>
            <a:endParaRPr lang="en-US" dirty="0"/>
          </a:p>
          <a:p>
            <a:r>
              <a:rPr lang="en-US" dirty="0"/>
              <a:t>This function is defined piecewise as follows:</a:t>
            </a:r>
          </a:p>
          <a:p>
            <a:r>
              <a:rPr lang="en-US" dirty="0"/>
              <a:t>It equals zero when the absolute value of t is greater than one-half,</a:t>
            </a:r>
          </a:p>
          <a:p>
            <a:r>
              <a:rPr lang="en-US" dirty="0"/>
              <a:t>It equals one-half when the absolute value of t is exactly one-half,</a:t>
            </a:r>
          </a:p>
          <a:p>
            <a:r>
              <a:rPr lang="en-US" dirty="0"/>
              <a:t>And it equals one when the absolute value of t is less than one-half.</a:t>
            </a:r>
          </a:p>
          <a:p>
            <a:r>
              <a:rPr lang="en-US" dirty="0"/>
              <a:t>In other words, the rectangular function is centered at zero, has a total width of one, and represents a simple, finite pulse — like a short “on” signal.</a:t>
            </a:r>
          </a:p>
          <a:p>
            <a:endParaRPr lang="en-US" dirty="0"/>
          </a:p>
          <a:p>
            <a:r>
              <a:rPr lang="en-US" dirty="0"/>
              <a:t>At the bottom of the slide, we define the </a:t>
            </a:r>
            <a:r>
              <a:rPr lang="en-US" b="1" dirty="0"/>
              <a:t>discrete delta function</a:t>
            </a:r>
            <a:r>
              <a:rPr lang="en-US" dirty="0"/>
              <a:t>, written as delta of n.</a:t>
            </a:r>
          </a:p>
          <a:p>
            <a:r>
              <a:rPr lang="en-US" dirty="0"/>
              <a:t>It equals one when n is zero, and zero otherwise.</a:t>
            </a:r>
          </a:p>
          <a:p>
            <a:r>
              <a:rPr lang="en-US" dirty="0"/>
              <a:t>So delta of n is a single spike located at n equals zero.</a:t>
            </a:r>
            <a:br>
              <a:rPr lang="en-US" dirty="0"/>
            </a:br>
            <a:r>
              <a:rPr lang="en-US" dirty="0"/>
              <a:t>If we shift it, like delta of n minus two, the spike moves to n equals two.</a:t>
            </a:r>
          </a:p>
          <a:p>
            <a:endParaRPr lang="en-US" dirty="0"/>
          </a:p>
          <a:p>
            <a:r>
              <a:rPr lang="en-US" dirty="0"/>
              <a:t>This function serves as the discrete version of the continuous delta function. By shifting and scaling these unit impulses, we can represent any discrete signal as a sum of these basic components — just like reconstructing a picture with pixels.</a:t>
            </a:r>
          </a:p>
        </p:txBody>
      </p:sp>
      <p:sp>
        <p:nvSpPr>
          <p:cNvPr id="4" name="Slide Number Placeholder 3"/>
          <p:cNvSpPr>
            <a:spLocks noGrp="1"/>
          </p:cNvSpPr>
          <p:nvPr>
            <p:ph type="sldNum" sz="quarter" idx="5"/>
          </p:nvPr>
        </p:nvSpPr>
        <p:spPr/>
        <p:txBody>
          <a:bodyPr/>
          <a:lstStyle/>
          <a:p>
            <a:fld id="{16362E68-66C4-4B01-8D1F-712CF75BFD43}" type="slidenum">
              <a:rPr lang="en-US" smtClean="0"/>
              <a:pPr/>
              <a:t>15</a:t>
            </a:fld>
            <a:endParaRPr lang="en-US"/>
          </a:p>
        </p:txBody>
      </p:sp>
    </p:spTree>
    <p:extLst>
      <p:ext uri="{BB962C8B-B14F-4D97-AF65-F5344CB8AC3E}">
        <p14:creationId xmlns:p14="http://schemas.microsoft.com/office/powerpoint/2010/main" val="7340320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Here, you can see the idea visually.</a:t>
            </a:r>
          </a:p>
          <a:p>
            <a:r>
              <a:rPr lang="en-US" dirty="0"/>
              <a:t>Imagine the original continuous function shown in gray.</a:t>
            </a:r>
            <a:br>
              <a:rPr lang="en-US" dirty="0"/>
            </a:br>
            <a:r>
              <a:rPr lang="en-US" dirty="0"/>
              <a:t>We can approximate it piecewise using constant slices — small rectangles, each with a height that matches the continuous function’s value at that point.</a:t>
            </a:r>
          </a:p>
          <a:p>
            <a:r>
              <a:rPr lang="en-US" dirty="0"/>
              <a:t>Each rectangle corresponds to a delta function, or a rectangular bar, scaled to match the original function’s height.</a:t>
            </a:r>
          </a:p>
          <a:p>
            <a:endParaRPr lang="en-US" dirty="0"/>
          </a:p>
          <a:p>
            <a:r>
              <a:rPr lang="en-US" dirty="0"/>
              <a:t>The key point is: the area under each rectangle is equivalent to the area under the corresponding delta function at that location.</a:t>
            </a:r>
          </a:p>
          <a:p>
            <a:r>
              <a:rPr lang="en-US" dirty="0"/>
              <a:t>In this way, everything ties together between the continuous and discrete perspectives.</a:t>
            </a:r>
          </a:p>
          <a:p>
            <a:endParaRPr lang="en-US" dirty="0"/>
          </a:p>
        </p:txBody>
      </p:sp>
      <p:sp>
        <p:nvSpPr>
          <p:cNvPr id="4" name="Slide Number Placeholder 3"/>
          <p:cNvSpPr>
            <a:spLocks noGrp="1"/>
          </p:cNvSpPr>
          <p:nvPr>
            <p:ph type="sldNum" sz="quarter" idx="5"/>
          </p:nvPr>
        </p:nvSpPr>
        <p:spPr/>
        <p:txBody>
          <a:bodyPr/>
          <a:lstStyle/>
          <a:p>
            <a:fld id="{16362E68-66C4-4B01-8D1F-712CF75BFD43}" type="slidenum">
              <a:rPr lang="en-US" smtClean="0"/>
              <a:pPr/>
              <a:t>16</a:t>
            </a:fld>
            <a:endParaRPr lang="en-US"/>
          </a:p>
        </p:txBody>
      </p:sp>
    </p:spTree>
    <p:extLst>
      <p:ext uri="{BB962C8B-B14F-4D97-AF65-F5344CB8AC3E}">
        <p14:creationId xmlns:p14="http://schemas.microsoft.com/office/powerpoint/2010/main" val="32186929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In fact, you can use discrete delta functions to represent any arbitrary discrete function.</a:t>
            </a:r>
          </a:p>
          <a:p>
            <a:r>
              <a:rPr lang="en-US" dirty="0"/>
              <a:t>Each value of the function can be represented as a </a:t>
            </a:r>
            <a:r>
              <a:rPr lang="en-US" b="1" dirty="0"/>
              <a:t>scaled delta function</a:t>
            </a:r>
            <a:r>
              <a:rPr lang="en-US" dirty="0"/>
              <a:t> at that point.</a:t>
            </a:r>
          </a:p>
          <a:p>
            <a:r>
              <a:rPr lang="en-US" dirty="0"/>
              <a:t>When we </a:t>
            </a:r>
            <a:r>
              <a:rPr lang="en-US" b="1" dirty="0"/>
              <a:t>sum these scaled delta functions</a:t>
            </a:r>
            <a:r>
              <a:rPr lang="en-US" dirty="0"/>
              <a:t>, we reconstruct the original discrete function.</a:t>
            </a:r>
          </a:p>
          <a:p>
            <a:endParaRPr lang="en-US" dirty="0"/>
          </a:p>
        </p:txBody>
      </p:sp>
      <p:sp>
        <p:nvSpPr>
          <p:cNvPr id="4" name="Slide Number Placeholder 3"/>
          <p:cNvSpPr>
            <a:spLocks noGrp="1"/>
          </p:cNvSpPr>
          <p:nvPr>
            <p:ph type="sldNum" sz="quarter" idx="5"/>
          </p:nvPr>
        </p:nvSpPr>
        <p:spPr/>
        <p:txBody>
          <a:bodyPr/>
          <a:lstStyle/>
          <a:p>
            <a:fld id="{16362E68-66C4-4B01-8D1F-712CF75BFD43}" type="slidenum">
              <a:rPr lang="en-US" smtClean="0"/>
              <a:pPr/>
              <a:t>17</a:t>
            </a:fld>
            <a:endParaRPr lang="en-US"/>
          </a:p>
        </p:txBody>
      </p:sp>
    </p:spTree>
    <p:extLst>
      <p:ext uri="{BB962C8B-B14F-4D97-AF65-F5344CB8AC3E}">
        <p14:creationId xmlns:p14="http://schemas.microsoft.com/office/powerpoint/2010/main" val="22158589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Now that we’ve developed an understanding of the delta function and its role in modeling discrete events, let’s take this idea a step further and see how we can use it to represent an entire discrete function.</a:t>
            </a:r>
          </a:p>
          <a:p>
            <a:endParaRPr lang="en-US" dirty="0"/>
          </a:p>
          <a:p>
            <a:r>
              <a:rPr lang="en-US" dirty="0"/>
              <a:t>Here we observe a powerful mathematical concept: any discrete function — let’s call it g of n — can be expressed as a weighted sum of shifted delta functions. That is, we take the delta function, shift it to the appropriate position, and scale it by the function’s value at that point. When we add all these together, we recover the original function.</a:t>
            </a:r>
          </a:p>
          <a:p>
            <a:r>
              <a:rPr lang="en-US" dirty="0"/>
              <a:t>Here you can see the mathematical expression in this slide.</a:t>
            </a:r>
          </a:p>
          <a:p>
            <a:endParaRPr lang="en-US" dirty="0"/>
          </a:p>
          <a:p>
            <a:r>
              <a:rPr lang="en-US" dirty="0"/>
              <a:t>This formula tells us that each sample of g contributes one impulse, located at n equals k, and scaled by g at that k. When we add up all these scaled and shifted impulses, we rebuild the function g.</a:t>
            </a:r>
          </a:p>
          <a:p>
            <a:endParaRPr lang="en-US" dirty="0"/>
          </a:p>
          <a:p>
            <a:r>
              <a:rPr lang="en-US" dirty="0"/>
              <a:t>Let’s look at a specific example to make this concrete.</a:t>
            </a:r>
          </a:p>
          <a:p>
            <a:endParaRPr lang="en-US" dirty="0"/>
          </a:p>
          <a:p>
            <a:r>
              <a:rPr lang="en-US" dirty="0"/>
              <a:t>Suppose your discrete function consists of just a few nonzero points. The first point is at n equals 0 with value 1 — that’s just delta of n.</a:t>
            </a:r>
          </a:p>
          <a:p>
            <a:br>
              <a:rPr lang="en-US" dirty="0"/>
            </a:br>
            <a:r>
              <a:rPr lang="en-US" dirty="0"/>
              <a:t>The second point is at n equals 1 with a value of negative 1 — so we write that as minus delta of n minus 1.</a:t>
            </a:r>
          </a:p>
          <a:p>
            <a:br>
              <a:rPr lang="en-US" dirty="0"/>
            </a:br>
            <a:r>
              <a:rPr lang="en-US" dirty="0"/>
              <a:t>And the third point is at n equals 2 with a value of 1.5 — which becomes 1.5 times delta of n minus 2.</a:t>
            </a:r>
          </a:p>
          <a:p>
            <a:endParaRPr lang="en-US" dirty="0"/>
          </a:p>
          <a:p>
            <a:r>
              <a:rPr lang="en-US" dirty="0"/>
              <a:t>By adding these three impulses together, we effectively reconstruct the original signal, point by point.</a:t>
            </a:r>
          </a:p>
          <a:p>
            <a:endParaRPr lang="en-US" dirty="0"/>
          </a:p>
          <a:p>
            <a:r>
              <a:rPr lang="en-US" dirty="0"/>
              <a:t>This approach is not only elegant, it’s also foundational in signal processing and linear systems. It allows us to treat any discrete-time signal as a sum of building blocks — scaled and shifted impulses — making analysis and filtering much easier later on.</a:t>
            </a:r>
          </a:p>
          <a:p>
            <a:r>
              <a:rPr lang="en-US" dirty="0"/>
              <a:t>We’ll continue building on this idea when we introduce convolution, which is just the response of a system to this kind of delta-based representation.</a:t>
            </a:r>
          </a:p>
          <a:p>
            <a:endParaRPr lang="en-US" dirty="0"/>
          </a:p>
        </p:txBody>
      </p:sp>
      <p:sp>
        <p:nvSpPr>
          <p:cNvPr id="4" name="Slide Number Placeholder 3"/>
          <p:cNvSpPr>
            <a:spLocks noGrp="1"/>
          </p:cNvSpPr>
          <p:nvPr>
            <p:ph type="sldNum" sz="quarter" idx="5"/>
          </p:nvPr>
        </p:nvSpPr>
        <p:spPr/>
        <p:txBody>
          <a:bodyPr/>
          <a:lstStyle/>
          <a:p>
            <a:fld id="{16362E68-66C4-4B01-8D1F-712CF75BFD43}" type="slidenum">
              <a:rPr lang="en-US" smtClean="0"/>
              <a:pPr/>
              <a:t>18</a:t>
            </a:fld>
            <a:endParaRPr lang="en-US"/>
          </a:p>
        </p:txBody>
      </p:sp>
    </p:spTree>
    <p:extLst>
      <p:ext uri="{BB962C8B-B14F-4D97-AF65-F5344CB8AC3E}">
        <p14:creationId xmlns:p14="http://schemas.microsoft.com/office/powerpoint/2010/main" val="750915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So far, we’ve explored both the </a:t>
            </a:r>
            <a:r>
              <a:rPr lang="en-US" b="1" dirty="0"/>
              <a:t>continuous</a:t>
            </a:r>
            <a:r>
              <a:rPr lang="en-US" dirty="0"/>
              <a:t> and </a:t>
            </a:r>
            <a:r>
              <a:rPr lang="en-US" b="1" dirty="0"/>
              <a:t>discrete</a:t>
            </a:r>
            <a:r>
              <a:rPr lang="en-US" dirty="0"/>
              <a:t> versions of the delta function.</a:t>
            </a:r>
          </a:p>
          <a:p>
            <a:r>
              <a:rPr lang="en-US" dirty="0"/>
              <a:t>Both approaches give us ways to express functions as </a:t>
            </a:r>
            <a:r>
              <a:rPr lang="en-US" b="1" dirty="0"/>
              <a:t>combinations of basic building blocks</a:t>
            </a:r>
            <a:r>
              <a:rPr lang="en-US" dirty="0"/>
              <a:t>.</a:t>
            </a:r>
          </a:p>
          <a:p>
            <a:r>
              <a:rPr lang="en-US" dirty="0"/>
              <a:t>Whether a system or phenomenon is fundamentally continuous or discrete isn’t always clear — think of water.</a:t>
            </a:r>
          </a:p>
          <a:p>
            <a:r>
              <a:rPr lang="en-US" dirty="0"/>
              <a:t>When you see a flowing stream, it seems </a:t>
            </a:r>
            <a:r>
              <a:rPr lang="en-US" b="1" dirty="0"/>
              <a:t>continuous</a:t>
            </a:r>
            <a:r>
              <a:rPr lang="en-US" dirty="0"/>
              <a:t>. But if you zoom in, you’ll find </a:t>
            </a:r>
            <a:r>
              <a:rPr lang="en-US" b="1" dirty="0"/>
              <a:t>discrete molecules</a:t>
            </a:r>
            <a:r>
              <a:rPr lang="en-US" dirty="0"/>
              <a:t>.</a:t>
            </a:r>
            <a:br>
              <a:rPr lang="en-US" dirty="0"/>
            </a:br>
            <a:r>
              <a:rPr lang="en-US" dirty="0"/>
              <a:t>And if you go even deeper, those molecules follow the rules of </a:t>
            </a:r>
            <a:r>
              <a:rPr lang="en-US" b="1" dirty="0"/>
              <a:t>quantum mechanics</a:t>
            </a:r>
            <a:r>
              <a:rPr lang="en-US" dirty="0"/>
              <a:t>, where a continuous probability wave describes behavior.</a:t>
            </a:r>
          </a:p>
          <a:p>
            <a:endParaRPr lang="en-US" dirty="0"/>
          </a:p>
          <a:p>
            <a:r>
              <a:rPr lang="en-US" dirty="0"/>
              <a:t>In engineering, we switch between these views depending on what’s useful.</a:t>
            </a:r>
            <a:br>
              <a:rPr lang="en-US" dirty="0"/>
            </a:br>
            <a:r>
              <a:rPr lang="en-US" dirty="0"/>
              <a:t>A </a:t>
            </a:r>
            <a:r>
              <a:rPr lang="en-US" b="1" dirty="0"/>
              <a:t>summation</a:t>
            </a:r>
            <a:r>
              <a:rPr lang="en-US" dirty="0"/>
              <a:t> represents the discrete case. An </a:t>
            </a:r>
            <a:r>
              <a:rPr lang="en-US" b="1" dirty="0"/>
              <a:t>integral</a:t>
            </a:r>
            <a:r>
              <a:rPr lang="en-US" dirty="0"/>
              <a:t> represents the continuous case.</a:t>
            </a:r>
            <a:br>
              <a:rPr lang="en-US" dirty="0"/>
            </a:br>
            <a:r>
              <a:rPr lang="en-US" dirty="0"/>
              <a:t>They are really </a:t>
            </a:r>
            <a:r>
              <a:rPr lang="en-US" b="1" dirty="0"/>
              <a:t>two sides of the same coin</a:t>
            </a:r>
            <a:r>
              <a:rPr lang="en-US" dirty="0"/>
              <a:t>.</a:t>
            </a:r>
          </a:p>
          <a:p>
            <a:r>
              <a:rPr lang="en-US" dirty="0"/>
              <a:t>With this foundation, we’re ready to move forward —</a:t>
            </a:r>
            <a:br>
              <a:rPr lang="en-US" dirty="0"/>
            </a:br>
            <a:r>
              <a:rPr lang="en-US" dirty="0"/>
              <a:t>and explore how </a:t>
            </a:r>
            <a:r>
              <a:rPr lang="en-US" b="1" dirty="0"/>
              <a:t>delta functions</a:t>
            </a:r>
            <a:r>
              <a:rPr lang="en-US" dirty="0"/>
              <a:t> connect directly to </a:t>
            </a:r>
            <a:r>
              <a:rPr lang="en-US" b="1" dirty="0"/>
              <a:t>shift-invariant systems</a:t>
            </a:r>
            <a:r>
              <a:rPr lang="en-US" dirty="0"/>
              <a:t>,</a:t>
            </a:r>
            <a:br>
              <a:rPr lang="en-US" dirty="0"/>
            </a:br>
            <a:r>
              <a:rPr lang="en-US" dirty="0"/>
              <a:t>which play a key role in imaging and signal processing.</a:t>
            </a:r>
          </a:p>
        </p:txBody>
      </p:sp>
      <p:sp>
        <p:nvSpPr>
          <p:cNvPr id="4" name="Slide Number Placeholder 3"/>
          <p:cNvSpPr>
            <a:spLocks noGrp="1"/>
          </p:cNvSpPr>
          <p:nvPr>
            <p:ph type="sldNum" sz="quarter" idx="5"/>
          </p:nvPr>
        </p:nvSpPr>
        <p:spPr/>
        <p:txBody>
          <a:bodyPr/>
          <a:lstStyle/>
          <a:p>
            <a:fld id="{16362E68-66C4-4B01-8D1F-712CF75BFD43}" type="slidenum">
              <a:rPr lang="en-US" smtClean="0"/>
              <a:pPr/>
              <a:t>19</a:t>
            </a:fld>
            <a:endParaRPr lang="en-US"/>
          </a:p>
        </p:txBody>
      </p:sp>
    </p:spTree>
    <p:extLst>
      <p:ext uri="{BB962C8B-B14F-4D97-AF65-F5344CB8AC3E}">
        <p14:creationId xmlns:p14="http://schemas.microsoft.com/office/powerpoint/2010/main" val="15180976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Let’s take a look at this graph.</a:t>
            </a:r>
          </a:p>
          <a:p>
            <a:r>
              <a:rPr lang="en-US" dirty="0"/>
              <a:t>This </a:t>
            </a:r>
            <a:r>
              <a:rPr lang="en-US" b="1" dirty="0"/>
              <a:t>impulse response</a:t>
            </a:r>
            <a:r>
              <a:rPr lang="en-US" dirty="0"/>
              <a:t>, shown here as </a:t>
            </a:r>
            <a:r>
              <a:rPr lang="en-US" b="1" dirty="0"/>
              <a:t>h of n</a:t>
            </a:r>
            <a:r>
              <a:rPr lang="en-US" dirty="0"/>
              <a:t>, is our key piece of knowledge.</a:t>
            </a:r>
          </a:p>
          <a:p>
            <a:r>
              <a:rPr lang="en-US" dirty="0"/>
              <a:t>I’m not asking you to start from nothing.</a:t>
            </a:r>
            <a:br>
              <a:rPr lang="en-US" dirty="0"/>
            </a:br>
            <a:r>
              <a:rPr lang="en-US" dirty="0"/>
              <a:t>I’m giving you the system’s reaction to a standardized input — the </a:t>
            </a:r>
            <a:r>
              <a:rPr lang="en-US" b="1" dirty="0"/>
              <a:t>delta function</a:t>
            </a:r>
            <a:r>
              <a:rPr lang="en-US" dirty="0"/>
              <a:t> applied at </a:t>
            </a:r>
            <a:r>
              <a:rPr lang="en-US" b="1" dirty="0"/>
              <a:t>time zero</a:t>
            </a:r>
            <a:r>
              <a:rPr lang="en-US" dirty="0"/>
              <a:t>.</a:t>
            </a:r>
          </a:p>
          <a:p>
            <a:r>
              <a:rPr lang="en-US" dirty="0"/>
              <a:t>Once you have that, you’re ready.</a:t>
            </a:r>
          </a:p>
          <a:p>
            <a:r>
              <a:rPr lang="en-US" dirty="0"/>
              <a:t>Because if I give the system a more general input — not just a single impulse, but any arbitrary shape —</a:t>
            </a:r>
            <a:br>
              <a:rPr lang="en-US" dirty="0"/>
            </a:br>
            <a:r>
              <a:rPr lang="en-US" dirty="0"/>
              <a:t>you can still figure out the output.</a:t>
            </a:r>
          </a:p>
          <a:p>
            <a:r>
              <a:rPr lang="en-US" dirty="0"/>
              <a:t>So the question becomes:</a:t>
            </a:r>
            <a:br>
              <a:rPr lang="en-US" dirty="0"/>
            </a:br>
            <a:r>
              <a:rPr lang="en-US" b="1" dirty="0"/>
              <a:t>How do you compute the output from this known impulse response and a general input?</a:t>
            </a:r>
            <a:endParaRPr lang="en-US" dirty="0"/>
          </a:p>
          <a:p>
            <a:r>
              <a:rPr lang="en-US" dirty="0"/>
              <a:t>That’s exactly where </a:t>
            </a:r>
            <a:r>
              <a:rPr lang="en-US" b="1" dirty="0"/>
              <a:t>convolution</a:t>
            </a:r>
            <a:r>
              <a:rPr lang="en-US" dirty="0"/>
              <a:t> comes in.</a:t>
            </a:r>
          </a:p>
          <a:p>
            <a:r>
              <a:rPr lang="en-US" dirty="0"/>
              <a:t>Convolution is the operation that combines the </a:t>
            </a:r>
            <a:r>
              <a:rPr lang="en-US" b="1" dirty="0"/>
              <a:t>input signal</a:t>
            </a:r>
            <a:r>
              <a:rPr lang="en-US" dirty="0"/>
              <a:t> with the </a:t>
            </a:r>
            <a:r>
              <a:rPr lang="en-US" b="1" dirty="0"/>
              <a:t>impulse response</a:t>
            </a:r>
            <a:r>
              <a:rPr lang="en-US" dirty="0"/>
              <a:t>,</a:t>
            </a:r>
            <a:br>
              <a:rPr lang="en-US" dirty="0"/>
            </a:br>
            <a:r>
              <a:rPr lang="en-US" dirty="0"/>
              <a:t>to produce the final output.</a:t>
            </a:r>
          </a:p>
          <a:p>
            <a:r>
              <a:rPr lang="en-US" dirty="0"/>
              <a:t>It’s absolutely essential in imaging and signal processing.</a:t>
            </a:r>
          </a:p>
        </p:txBody>
      </p:sp>
      <p:sp>
        <p:nvSpPr>
          <p:cNvPr id="4" name="Slide Number Placeholder 3"/>
          <p:cNvSpPr>
            <a:spLocks noGrp="1"/>
          </p:cNvSpPr>
          <p:nvPr>
            <p:ph type="sldNum" sz="quarter" idx="5"/>
          </p:nvPr>
        </p:nvSpPr>
        <p:spPr/>
        <p:txBody>
          <a:bodyPr/>
          <a:lstStyle/>
          <a:p>
            <a:fld id="{16362E68-66C4-4B01-8D1F-712CF75BFD43}" type="slidenum">
              <a:rPr lang="en-US" smtClean="0"/>
              <a:pPr/>
              <a:t>20</a:t>
            </a:fld>
            <a:endParaRPr lang="en-US"/>
          </a:p>
        </p:txBody>
      </p:sp>
    </p:spTree>
    <p:extLst>
      <p:ext uri="{BB962C8B-B14F-4D97-AF65-F5344CB8AC3E}">
        <p14:creationId xmlns:p14="http://schemas.microsoft.com/office/powerpoint/2010/main" val="34270308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In a </a:t>
            </a:r>
            <a:r>
              <a:rPr lang="en-US" b="1" dirty="0"/>
              <a:t>shift-invariant system</a:t>
            </a:r>
            <a:r>
              <a:rPr lang="en-US" dirty="0"/>
              <a:t>, if you know the system’s response to an </a:t>
            </a:r>
            <a:r>
              <a:rPr lang="en-US" b="1" dirty="0"/>
              <a:t>impulse at one location</a:t>
            </a:r>
            <a:r>
              <a:rPr lang="en-US" dirty="0"/>
              <a:t>, you can predict its response at </a:t>
            </a:r>
            <a:r>
              <a:rPr lang="en-US" b="1" dirty="0"/>
              <a:t>any other location or time</a:t>
            </a:r>
            <a:r>
              <a:rPr lang="en-US" dirty="0"/>
              <a:t>.</a:t>
            </a:r>
          </a:p>
          <a:p>
            <a:r>
              <a:rPr lang="en-US" dirty="0"/>
              <a:t>That’s because shift-invariance means the system behaves </a:t>
            </a:r>
            <a:r>
              <a:rPr lang="en-US" b="1" dirty="0"/>
              <a:t>the same way</a:t>
            </a:r>
            <a:r>
              <a:rPr lang="en-US" dirty="0"/>
              <a:t>, no matter </a:t>
            </a:r>
            <a:r>
              <a:rPr lang="en-US" b="1" dirty="0"/>
              <a:t>where</a:t>
            </a:r>
            <a:r>
              <a:rPr lang="en-US" dirty="0"/>
              <a:t> or </a:t>
            </a:r>
            <a:r>
              <a:rPr lang="en-US" b="1" dirty="0"/>
              <a:t>when</a:t>
            </a:r>
            <a:r>
              <a:rPr lang="en-US" dirty="0"/>
              <a:t> you apply the impulse.</a:t>
            </a:r>
          </a:p>
          <a:p>
            <a:r>
              <a:rPr lang="en-US" dirty="0"/>
              <a:t>If you apply an impulse at a different time or position, you can infer the output by simply </a:t>
            </a:r>
            <a:r>
              <a:rPr lang="en-US" b="1" dirty="0"/>
              <a:t>shifting the known response</a:t>
            </a:r>
            <a:r>
              <a:rPr lang="en-US" dirty="0"/>
              <a:t> accordingly.</a:t>
            </a:r>
          </a:p>
          <a:p>
            <a:r>
              <a:rPr lang="en-US" dirty="0"/>
              <a:t>And because the system is </a:t>
            </a:r>
            <a:r>
              <a:rPr lang="en-US" b="1" dirty="0"/>
              <a:t>linear</a:t>
            </a:r>
            <a:r>
              <a:rPr lang="en-US" dirty="0"/>
              <a:t>, you have additivity and homogeneity.</a:t>
            </a:r>
          </a:p>
          <a:p>
            <a:r>
              <a:rPr lang="en-US" dirty="0"/>
              <a:t>If you scale an input, the output will be scaled in the same way.</a:t>
            </a:r>
          </a:p>
          <a:p>
            <a:r>
              <a:rPr lang="en-US" dirty="0"/>
              <a:t>If you add multiple inputs, the output will be the sum of individual outputs due to each input.</a:t>
            </a:r>
          </a:p>
          <a:p>
            <a:r>
              <a:rPr lang="en-US" dirty="0"/>
              <a:t>This is exactly why knowing the </a:t>
            </a:r>
            <a:r>
              <a:rPr lang="en-US" b="1" dirty="0"/>
              <a:t>impulse response</a:t>
            </a:r>
            <a:r>
              <a:rPr lang="en-US" dirty="0"/>
              <a:t> of a system tells you everything about how that system behaves — no matter what input you give it.</a:t>
            </a:r>
          </a:p>
          <a:p>
            <a:endParaRPr lang="en-US" dirty="0"/>
          </a:p>
          <a:p>
            <a:r>
              <a:rPr lang="en-US" dirty="0"/>
              <a:t>To summarize, for a </a:t>
            </a:r>
            <a:r>
              <a:rPr lang="en-US" b="1" dirty="0"/>
              <a:t>shift-invariant linear system</a:t>
            </a:r>
            <a:r>
              <a:rPr lang="en-US" dirty="0"/>
              <a:t>, given any input, we want to </a:t>
            </a:r>
            <a:r>
              <a:rPr lang="en-US" b="1" dirty="0"/>
              <a:t>compute the output</a:t>
            </a:r>
            <a:r>
              <a:rPr lang="en-US" dirty="0"/>
              <a:t>.</a:t>
            </a:r>
            <a:br>
              <a:rPr lang="en-US" dirty="0"/>
            </a:br>
            <a:r>
              <a:rPr lang="en-US" dirty="0"/>
              <a:t>The critical information we rely on is the system’s </a:t>
            </a:r>
            <a:r>
              <a:rPr lang="en-US" b="1" dirty="0"/>
              <a:t>impulse response</a:t>
            </a:r>
            <a:r>
              <a:rPr lang="en-US" dirty="0"/>
              <a:t>.</a:t>
            </a:r>
            <a:br>
              <a:rPr lang="en-US" dirty="0"/>
            </a:br>
            <a:r>
              <a:rPr lang="en-US" dirty="0"/>
              <a:t>If we know how the system reacts to a </a:t>
            </a:r>
            <a:r>
              <a:rPr lang="en-US" b="1" dirty="0"/>
              <a:t>delta function at time zero</a:t>
            </a:r>
            <a:r>
              <a:rPr lang="en-US" dirty="0"/>
              <a:t>,</a:t>
            </a:r>
            <a:br>
              <a:rPr lang="en-US" dirty="0"/>
            </a:br>
            <a:r>
              <a:rPr lang="en-US" dirty="0"/>
              <a:t>we can use that as a </a:t>
            </a:r>
            <a:r>
              <a:rPr lang="en-US" b="1" dirty="0"/>
              <a:t>building block</a:t>
            </a:r>
            <a:r>
              <a:rPr lang="en-US" dirty="0"/>
              <a:t> to find the output for </a:t>
            </a:r>
            <a:r>
              <a:rPr lang="en-US" b="1" dirty="0"/>
              <a:t>any input</a:t>
            </a:r>
            <a:r>
              <a:rPr lang="en-US" dirty="0"/>
              <a:t>.</a:t>
            </a:r>
          </a:p>
        </p:txBody>
      </p:sp>
      <p:sp>
        <p:nvSpPr>
          <p:cNvPr id="4" name="Slide Number Placeholder 3"/>
          <p:cNvSpPr>
            <a:spLocks noGrp="1"/>
          </p:cNvSpPr>
          <p:nvPr>
            <p:ph type="sldNum" sz="quarter" idx="5"/>
          </p:nvPr>
        </p:nvSpPr>
        <p:spPr/>
        <p:txBody>
          <a:bodyPr/>
          <a:lstStyle/>
          <a:p>
            <a:fld id="{16362E68-66C4-4B01-8D1F-712CF75BFD43}" type="slidenum">
              <a:rPr lang="en-US" smtClean="0"/>
              <a:pPr/>
              <a:t>21</a:t>
            </a:fld>
            <a:endParaRPr lang="en-US"/>
          </a:p>
        </p:txBody>
      </p:sp>
    </p:spTree>
    <p:extLst>
      <p:ext uri="{BB962C8B-B14F-4D97-AF65-F5344CB8AC3E}">
        <p14:creationId xmlns:p14="http://schemas.microsoft.com/office/powerpoint/2010/main" val="14417344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To be specific, now let’s see how we actually compute the output y of n of a </a:t>
            </a:r>
            <a:r>
              <a:rPr lang="en-US" b="1" dirty="0"/>
              <a:t>shift-invariant linear system to an arbitrary input x of n, formulated on the 1</a:t>
            </a:r>
            <a:r>
              <a:rPr lang="en-US" b="1" baseline="30000" dirty="0"/>
              <a:t>st</a:t>
            </a:r>
            <a:r>
              <a:rPr lang="en-US" b="1" dirty="0"/>
              <a:t> line.</a:t>
            </a:r>
            <a:endParaRPr lang="en-US" dirty="0"/>
          </a:p>
          <a:p>
            <a:r>
              <a:rPr lang="en-US" dirty="0"/>
              <a:t>Suppose I give you a system characterized by its </a:t>
            </a:r>
            <a:r>
              <a:rPr lang="en-US" b="1" dirty="0"/>
              <a:t>impulse response</a:t>
            </a:r>
            <a:r>
              <a:rPr lang="en-US" dirty="0"/>
              <a:t>, written as </a:t>
            </a:r>
            <a:r>
              <a:rPr lang="en-US" b="1" dirty="0"/>
              <a:t>h of n, which is shown on the 2</a:t>
            </a:r>
            <a:r>
              <a:rPr lang="en-US" b="1" baseline="30000" dirty="0"/>
              <a:t>nd</a:t>
            </a:r>
            <a:r>
              <a:rPr lang="en-US" b="1" dirty="0"/>
              <a:t> line.</a:t>
            </a:r>
            <a:br>
              <a:rPr lang="en-US" dirty="0"/>
            </a:br>
            <a:r>
              <a:rPr lang="en-US" dirty="0"/>
              <a:t>That means: if you feed the system a </a:t>
            </a:r>
            <a:r>
              <a:rPr lang="en-US" b="1" dirty="0"/>
              <a:t>discrete delta function</a:t>
            </a:r>
            <a:r>
              <a:rPr lang="en-US" dirty="0"/>
              <a:t> as input, the output will be </a:t>
            </a:r>
            <a:r>
              <a:rPr lang="en-US" b="1" dirty="0"/>
              <a:t>h of n</a:t>
            </a:r>
            <a:r>
              <a:rPr lang="en-US" dirty="0"/>
              <a:t>.</a:t>
            </a:r>
            <a:br>
              <a:rPr lang="en-US" dirty="0"/>
            </a:br>
            <a:r>
              <a:rPr lang="en-US" dirty="0"/>
              <a:t>This response — h of n — is the system’s character.</a:t>
            </a:r>
          </a:p>
          <a:p>
            <a:r>
              <a:rPr lang="en-US" dirty="0"/>
              <a:t>But what if you give the system a more general input, say </a:t>
            </a:r>
            <a:r>
              <a:rPr lang="en-US" b="1" dirty="0"/>
              <a:t>x of n</a:t>
            </a:r>
            <a:r>
              <a:rPr lang="en-US" dirty="0"/>
              <a:t>?</a:t>
            </a:r>
            <a:br>
              <a:rPr lang="en-US" dirty="0"/>
            </a:br>
            <a:r>
              <a:rPr lang="en-US" dirty="0"/>
              <a:t>What will the output </a:t>
            </a:r>
            <a:r>
              <a:rPr lang="en-US" b="1" dirty="0"/>
              <a:t>y of n</a:t>
            </a:r>
            <a:r>
              <a:rPr lang="en-US" dirty="0"/>
              <a:t> be, which is what I just formulated on the 1</a:t>
            </a:r>
            <a:r>
              <a:rPr lang="en-US" baseline="30000" dirty="0"/>
              <a:t>st</a:t>
            </a:r>
            <a:r>
              <a:rPr lang="en-US" dirty="0"/>
              <a:t> line, and a very important question.</a:t>
            </a:r>
          </a:p>
          <a:p>
            <a:r>
              <a:rPr lang="en-US" dirty="0"/>
              <a:t>Let’s break it down step by step.</a:t>
            </a:r>
          </a:p>
          <a:p>
            <a:r>
              <a:rPr lang="en-US" dirty="0"/>
              <a:t>Since the system is </a:t>
            </a:r>
            <a:r>
              <a:rPr lang="en-US" b="1" dirty="0"/>
              <a:t>shift-invariant</a:t>
            </a:r>
            <a:r>
              <a:rPr lang="en-US" dirty="0"/>
              <a:t>, if you shift the input by </a:t>
            </a:r>
            <a:r>
              <a:rPr lang="en-US" b="1" dirty="0"/>
              <a:t>k</a:t>
            </a:r>
            <a:r>
              <a:rPr lang="en-US" dirty="0"/>
              <a:t>, the output also shifts by </a:t>
            </a:r>
            <a:r>
              <a:rPr lang="en-US" b="1" dirty="0"/>
              <a:t>k, shown on the 3</a:t>
            </a:r>
            <a:r>
              <a:rPr lang="en-US" b="1" baseline="30000" dirty="0"/>
              <a:t>rd</a:t>
            </a:r>
            <a:r>
              <a:rPr lang="en-US" b="1" dirty="0"/>
              <a:t> line.</a:t>
            </a:r>
            <a:br>
              <a:rPr lang="en-US" dirty="0"/>
            </a:br>
            <a:r>
              <a:rPr lang="en-US" dirty="0"/>
              <a:t>So if the input is </a:t>
            </a:r>
            <a:r>
              <a:rPr lang="en-US" b="1" dirty="0"/>
              <a:t>delta of n minus k</a:t>
            </a:r>
            <a:r>
              <a:rPr lang="en-US" dirty="0"/>
              <a:t>, the output becomes </a:t>
            </a:r>
            <a:r>
              <a:rPr lang="en-US" b="1" dirty="0"/>
              <a:t>h of n minus k</a:t>
            </a:r>
            <a:r>
              <a:rPr lang="en-US" dirty="0"/>
              <a:t>.</a:t>
            </a:r>
          </a:p>
          <a:p>
            <a:r>
              <a:rPr lang="en-US" dirty="0"/>
              <a:t>Then, because the system is </a:t>
            </a:r>
            <a:r>
              <a:rPr lang="en-US" b="1" dirty="0"/>
              <a:t>linear</a:t>
            </a:r>
            <a:r>
              <a:rPr lang="en-US" dirty="0"/>
              <a:t>, if we scale the input by </a:t>
            </a:r>
            <a:r>
              <a:rPr lang="en-US" b="1" dirty="0"/>
              <a:t>x of k</a:t>
            </a:r>
            <a:r>
              <a:rPr lang="en-US" dirty="0"/>
              <a:t>,</a:t>
            </a:r>
            <a:br>
              <a:rPr lang="en-US" dirty="0"/>
            </a:br>
            <a:r>
              <a:rPr lang="en-US" dirty="0"/>
              <a:t>Consequently, the output is also scaled by </a:t>
            </a:r>
            <a:r>
              <a:rPr lang="en-US" b="1" dirty="0"/>
              <a:t>x of k.</a:t>
            </a:r>
            <a:br>
              <a:rPr lang="en-US" dirty="0"/>
            </a:br>
            <a:r>
              <a:rPr lang="en-US" dirty="0"/>
              <a:t>That gives us </a:t>
            </a:r>
            <a:r>
              <a:rPr lang="en-US" b="1" dirty="0"/>
              <a:t>x of k times h of n minus k on the 4</a:t>
            </a:r>
            <a:r>
              <a:rPr lang="en-US" b="1" baseline="30000" dirty="0"/>
              <a:t>th</a:t>
            </a:r>
            <a:r>
              <a:rPr lang="en-US" b="1" dirty="0"/>
              <a:t> line.</a:t>
            </a:r>
            <a:endParaRPr lang="en-US" dirty="0"/>
          </a:p>
          <a:p>
            <a:r>
              <a:rPr lang="en-US" dirty="0"/>
              <a:t>Now, to get the total output, we </a:t>
            </a:r>
            <a:r>
              <a:rPr lang="en-US" b="1" dirty="0"/>
              <a:t>add up all of these scaled and shifted responses</a:t>
            </a:r>
            <a:r>
              <a:rPr lang="en-US" dirty="0"/>
              <a:t>.</a:t>
            </a:r>
          </a:p>
          <a:p>
            <a:r>
              <a:rPr lang="en-US" dirty="0"/>
              <a:t>Mathematically, this gives us the </a:t>
            </a:r>
            <a:r>
              <a:rPr lang="en-US" b="1" dirty="0"/>
              <a:t>convolution sum, on the right-hand side of the last two lines</a:t>
            </a:r>
            <a:r>
              <a:rPr lang="en-US" dirty="0"/>
              <a:t>:</a:t>
            </a:r>
          </a:p>
          <a:p>
            <a:r>
              <a:rPr lang="en-US" b="1" dirty="0"/>
              <a:t>y of n equals the sum over k from minus infinity to infinity of x of k times h of n minus k.</a:t>
            </a:r>
            <a:endParaRPr lang="en-US" dirty="0"/>
          </a:p>
          <a:p>
            <a:r>
              <a:rPr lang="en-US" dirty="0"/>
              <a:t>This is how the convolution is defined, and also why we need this concept.</a:t>
            </a:r>
          </a:p>
          <a:p>
            <a:br>
              <a:rPr lang="en-US" dirty="0"/>
            </a:br>
            <a:r>
              <a:rPr lang="en-US" dirty="0"/>
              <a:t>It shows why the impulse response is so powerful — it’s all you need to compute the system’s output for any input.</a:t>
            </a:r>
          </a:p>
          <a:p>
            <a:r>
              <a:rPr lang="en-US" dirty="0"/>
              <a:t>Now, convolution might seem a bit tricky at first, especially because of the </a:t>
            </a:r>
            <a:r>
              <a:rPr lang="en-US" b="1" dirty="0"/>
              <a:t>flipping and shifting</a:t>
            </a:r>
            <a:r>
              <a:rPr lang="en-US" dirty="0"/>
              <a:t> involved —</a:t>
            </a:r>
            <a:br>
              <a:rPr lang="en-US" dirty="0"/>
            </a:br>
            <a:r>
              <a:rPr lang="en-US" dirty="0"/>
              <a:t>that negative </a:t>
            </a:r>
            <a:r>
              <a:rPr lang="en-US" b="1" dirty="0"/>
              <a:t>k</a:t>
            </a:r>
            <a:r>
              <a:rPr lang="en-US" dirty="0"/>
              <a:t> inside </a:t>
            </a:r>
            <a:r>
              <a:rPr lang="en-US" b="1" dirty="0"/>
              <a:t>h of n minus k</a:t>
            </a:r>
            <a:r>
              <a:rPr lang="en-US" dirty="0"/>
              <a:t> could appear confusing.</a:t>
            </a:r>
          </a:p>
          <a:p>
            <a:br>
              <a:rPr lang="en-US" dirty="0"/>
            </a:br>
            <a:r>
              <a:rPr lang="en-US" dirty="0"/>
              <a:t>But if you follow the logic step-by-step, the structure becomes clear.</a:t>
            </a:r>
          </a:p>
          <a:p>
            <a:r>
              <a:rPr lang="en-US" dirty="0"/>
              <a:t>This convolution concept is </a:t>
            </a:r>
            <a:r>
              <a:rPr lang="en-US" b="1" dirty="0"/>
              <a:t>fundamental </a:t>
            </a:r>
            <a:r>
              <a:rPr lang="en-US" dirty="0"/>
              <a:t>in linear systems and engineering —</a:t>
            </a:r>
            <a:br>
              <a:rPr lang="en-US" dirty="0"/>
            </a:br>
            <a:r>
              <a:rPr lang="en-US" dirty="0"/>
              <a:t>and that’s why we dedicate so much attention to understanding </a:t>
            </a:r>
            <a:r>
              <a:rPr lang="en-US" b="1" dirty="0"/>
              <a:t>convolution</a:t>
            </a:r>
            <a:r>
              <a:rPr lang="en-US" dirty="0"/>
              <a:t>.</a:t>
            </a:r>
          </a:p>
          <a:p>
            <a:endParaRPr lang="en-US" dirty="0"/>
          </a:p>
        </p:txBody>
      </p:sp>
      <p:sp>
        <p:nvSpPr>
          <p:cNvPr id="4" name="Slide Number Placeholder 3"/>
          <p:cNvSpPr>
            <a:spLocks noGrp="1"/>
          </p:cNvSpPr>
          <p:nvPr>
            <p:ph type="sldNum" sz="quarter" idx="5"/>
          </p:nvPr>
        </p:nvSpPr>
        <p:spPr/>
        <p:txBody>
          <a:bodyPr/>
          <a:lstStyle/>
          <a:p>
            <a:fld id="{16362E68-66C4-4B01-8D1F-712CF75BFD43}" type="slidenum">
              <a:rPr lang="en-US" smtClean="0"/>
              <a:pPr/>
              <a:t>22</a:t>
            </a:fld>
            <a:endParaRPr lang="en-US"/>
          </a:p>
        </p:txBody>
      </p:sp>
    </p:spTree>
    <p:extLst>
      <p:ext uri="{BB962C8B-B14F-4D97-AF65-F5344CB8AC3E}">
        <p14:creationId xmlns:p14="http://schemas.microsoft.com/office/powerpoint/2010/main" val="40042408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Now let’s apply the same idea in the </a:t>
            </a:r>
            <a:r>
              <a:rPr lang="en-US" b="1" dirty="0"/>
              <a:t>continuous case</a:t>
            </a:r>
            <a:r>
              <a:rPr lang="en-US" dirty="0"/>
              <a:t>.</a:t>
            </a:r>
          </a:p>
          <a:p>
            <a:r>
              <a:rPr lang="en-US" dirty="0"/>
              <a:t>Again, you’re given the system’s response to a </a:t>
            </a:r>
            <a:r>
              <a:rPr lang="en-US" b="1" dirty="0"/>
              <a:t>delta function</a:t>
            </a:r>
            <a:r>
              <a:rPr lang="en-US" dirty="0"/>
              <a:t>, which we call </a:t>
            </a:r>
            <a:r>
              <a:rPr lang="en-US" b="1" dirty="0"/>
              <a:t>h of t</a:t>
            </a:r>
            <a:r>
              <a:rPr lang="en-US" dirty="0"/>
              <a:t>.</a:t>
            </a:r>
          </a:p>
          <a:p>
            <a:r>
              <a:rPr lang="en-US" dirty="0"/>
              <a:t>If we shift the delta to </a:t>
            </a:r>
            <a:r>
              <a:rPr lang="en-US" b="1" dirty="0"/>
              <a:t>t minus tau</a:t>
            </a:r>
            <a:r>
              <a:rPr lang="en-US" dirty="0"/>
              <a:t>, the output becomes </a:t>
            </a:r>
            <a:r>
              <a:rPr lang="en-US" b="1" dirty="0"/>
              <a:t>h of t minus tau</a:t>
            </a:r>
            <a:r>
              <a:rPr lang="en-US" dirty="0"/>
              <a:t>.</a:t>
            </a:r>
            <a:br>
              <a:rPr lang="en-US" dirty="0"/>
            </a:br>
            <a:r>
              <a:rPr lang="en-US" dirty="0"/>
              <a:t>In other words, shifting the input shifts the output in the same way — that’s shift-invariance.</a:t>
            </a:r>
          </a:p>
          <a:p>
            <a:r>
              <a:rPr lang="en-US" dirty="0"/>
              <a:t>Next, we </a:t>
            </a:r>
            <a:r>
              <a:rPr lang="en-US" b="1" dirty="0"/>
              <a:t>scale the input</a:t>
            </a:r>
            <a:r>
              <a:rPr lang="en-US" dirty="0"/>
              <a:t> by </a:t>
            </a:r>
            <a:r>
              <a:rPr lang="en-US" b="1" dirty="0"/>
              <a:t>x of tau</a:t>
            </a:r>
            <a:r>
              <a:rPr lang="en-US" dirty="0"/>
              <a:t>.</a:t>
            </a:r>
            <a:br>
              <a:rPr lang="en-US" dirty="0"/>
            </a:br>
            <a:r>
              <a:rPr lang="en-US" dirty="0"/>
              <a:t>Because the system is linear, the output also gets scaled — giving us </a:t>
            </a:r>
            <a:r>
              <a:rPr lang="en-US" b="1" dirty="0"/>
              <a:t>x of tau times h of t minus tau</a:t>
            </a:r>
            <a:r>
              <a:rPr lang="en-US" dirty="0"/>
              <a:t>.</a:t>
            </a:r>
          </a:p>
          <a:p>
            <a:r>
              <a:rPr lang="en-US" dirty="0"/>
              <a:t>Finally, to build the full output for a general input signal,</a:t>
            </a:r>
            <a:br>
              <a:rPr lang="en-US" dirty="0"/>
            </a:br>
            <a:r>
              <a:rPr lang="en-US" dirty="0"/>
              <a:t>we </a:t>
            </a:r>
            <a:r>
              <a:rPr lang="en-US" b="1" dirty="0"/>
              <a:t>integrate over all time</a:t>
            </a:r>
            <a:r>
              <a:rPr lang="en-US" dirty="0"/>
              <a:t> — summing these scaled and shifted responses.</a:t>
            </a:r>
          </a:p>
          <a:p>
            <a:r>
              <a:rPr lang="en-US" dirty="0"/>
              <a:t>This gives us the </a:t>
            </a:r>
            <a:r>
              <a:rPr lang="en-US" b="1" dirty="0"/>
              <a:t>continuous-time convolution integral</a:t>
            </a:r>
            <a:r>
              <a:rPr lang="en-US" dirty="0"/>
              <a:t>:</a:t>
            </a:r>
          </a:p>
          <a:p>
            <a:endParaRPr lang="en-US" dirty="0"/>
          </a:p>
          <a:p>
            <a:r>
              <a:rPr lang="en-US" dirty="0"/>
              <a:t>You can think of this as collecting all the weighted impulse responses across time,</a:t>
            </a:r>
            <a:br>
              <a:rPr lang="en-US" dirty="0"/>
            </a:br>
            <a:r>
              <a:rPr lang="en-US" dirty="0"/>
              <a:t>and combining them to form the system’s output, where we have utilized the sampling property of the delta function.</a:t>
            </a:r>
          </a:p>
          <a:p>
            <a:r>
              <a:rPr lang="en-US" dirty="0"/>
              <a:t>This is how linear, shift-invariant systems behave in continuous time —</a:t>
            </a:r>
            <a:br>
              <a:rPr lang="en-US" dirty="0"/>
            </a:br>
            <a:r>
              <a:rPr lang="en-US" dirty="0"/>
              <a:t>and this operation, convolution, lies at the heart of modeling and understanding them.</a:t>
            </a:r>
          </a:p>
          <a:p>
            <a:r>
              <a:rPr lang="en-US" dirty="0"/>
              <a:t>Finally, we have assumed that all involved integrals or summations on the previous slide converge, so mathematically well defined.</a:t>
            </a:r>
          </a:p>
          <a:p>
            <a:endParaRPr lang="en-US" dirty="0"/>
          </a:p>
        </p:txBody>
      </p:sp>
      <p:sp>
        <p:nvSpPr>
          <p:cNvPr id="4" name="Slide Number Placeholder 3"/>
          <p:cNvSpPr>
            <a:spLocks noGrp="1"/>
          </p:cNvSpPr>
          <p:nvPr>
            <p:ph type="sldNum" sz="quarter" idx="5"/>
          </p:nvPr>
        </p:nvSpPr>
        <p:spPr/>
        <p:txBody>
          <a:bodyPr/>
          <a:lstStyle/>
          <a:p>
            <a:fld id="{16362E68-66C4-4B01-8D1F-712CF75BFD43}" type="slidenum">
              <a:rPr lang="en-US" smtClean="0"/>
              <a:pPr/>
              <a:t>23</a:t>
            </a:fld>
            <a:endParaRPr lang="en-US"/>
          </a:p>
        </p:txBody>
      </p:sp>
    </p:spTree>
    <p:extLst>
      <p:ext uri="{BB962C8B-B14F-4D97-AF65-F5344CB8AC3E}">
        <p14:creationId xmlns:p14="http://schemas.microsoft.com/office/powerpoint/2010/main" val="35534866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So whether we’re dealing with </a:t>
            </a:r>
            <a:r>
              <a:rPr lang="en-US" b="1" dirty="0"/>
              <a:t>discrete</a:t>
            </a:r>
            <a:r>
              <a:rPr lang="en-US" dirty="0"/>
              <a:t> or </a:t>
            </a:r>
            <a:r>
              <a:rPr lang="en-US" b="1" dirty="0"/>
              <a:t>continuous</a:t>
            </a:r>
            <a:r>
              <a:rPr lang="en-US" dirty="0"/>
              <a:t> systems,</a:t>
            </a:r>
            <a:br>
              <a:rPr lang="en-US" dirty="0"/>
            </a:br>
            <a:r>
              <a:rPr lang="en-US" b="1" dirty="0"/>
              <a:t>Convolution</a:t>
            </a:r>
            <a:r>
              <a:rPr lang="en-US" dirty="0"/>
              <a:t> is the tool we use to compute the output.</a:t>
            </a:r>
          </a:p>
          <a:p>
            <a:r>
              <a:rPr lang="en-US" dirty="0"/>
              <a:t>In both cases, the idea is the same:</a:t>
            </a:r>
          </a:p>
          <a:p>
            <a:endParaRPr lang="en-US" dirty="0"/>
          </a:p>
          <a:p>
            <a:r>
              <a:rPr lang="en-US" dirty="0"/>
              <a:t>First, </a:t>
            </a:r>
            <a:r>
              <a:rPr lang="en-US" b="1" dirty="0"/>
              <a:t>express the input</a:t>
            </a:r>
            <a:r>
              <a:rPr lang="en-US" dirty="0"/>
              <a:t> as a collection of impulses.</a:t>
            </a:r>
            <a:br>
              <a:rPr lang="en-US" dirty="0"/>
            </a:br>
            <a:r>
              <a:rPr lang="en-US" dirty="0"/>
              <a:t>Then, for each impulse, you already know the output — that's the </a:t>
            </a:r>
            <a:r>
              <a:rPr lang="en-US" b="1" dirty="0"/>
              <a:t>impulse response</a:t>
            </a:r>
            <a:r>
              <a:rPr lang="en-US" dirty="0"/>
              <a:t>.</a:t>
            </a:r>
            <a:br>
              <a:rPr lang="en-US" dirty="0"/>
            </a:br>
            <a:r>
              <a:rPr lang="en-US" dirty="0"/>
              <a:t>Finally, </a:t>
            </a:r>
            <a:r>
              <a:rPr lang="en-US" b="1" dirty="0"/>
              <a:t>sum</a:t>
            </a:r>
            <a:r>
              <a:rPr lang="en-US" dirty="0"/>
              <a:t> or </a:t>
            </a:r>
            <a:r>
              <a:rPr lang="en-US" b="1" dirty="0"/>
              <a:t>integrate</a:t>
            </a:r>
            <a:r>
              <a:rPr lang="en-US" dirty="0"/>
              <a:t> all of those individual responses to get the final output.</a:t>
            </a:r>
          </a:p>
          <a:p>
            <a:r>
              <a:rPr lang="en-US" dirty="0"/>
              <a:t>This process is captured using these two key equations:</a:t>
            </a:r>
          </a:p>
          <a:p>
            <a:r>
              <a:rPr lang="en-US" dirty="0"/>
              <a:t>We can see here discrete and continuous </a:t>
            </a:r>
            <a:r>
              <a:rPr lang="en-US" b="1" dirty="0"/>
              <a:t>mathematical formulations.</a:t>
            </a:r>
            <a:br>
              <a:rPr lang="en-US" dirty="0"/>
            </a:br>
            <a:endParaRPr lang="en-US" dirty="0"/>
          </a:p>
          <a:p>
            <a:r>
              <a:rPr lang="en-US" dirty="0"/>
              <a:t>But I know from experience that convolution can feel </a:t>
            </a:r>
            <a:r>
              <a:rPr lang="en-US" b="1" dirty="0"/>
              <a:t>confusing at first</a:t>
            </a:r>
            <a:r>
              <a:rPr lang="en-US" dirty="0"/>
              <a:t>.</a:t>
            </a:r>
            <a:br>
              <a:rPr lang="en-US" dirty="0"/>
            </a:br>
            <a:r>
              <a:rPr lang="en-US" dirty="0"/>
              <a:t>That’s why it really helps to look at a </a:t>
            </a:r>
            <a:r>
              <a:rPr lang="en-US" b="1" dirty="0"/>
              <a:t>concrete example</a:t>
            </a:r>
            <a:r>
              <a:rPr lang="en-US" dirty="0"/>
              <a:t>.</a:t>
            </a:r>
          </a:p>
          <a:p>
            <a:r>
              <a:rPr lang="en-US" dirty="0"/>
              <a:t>Let’s move on to one now.</a:t>
            </a:r>
          </a:p>
        </p:txBody>
      </p:sp>
      <p:sp>
        <p:nvSpPr>
          <p:cNvPr id="4" name="Slide Number Placeholder 3"/>
          <p:cNvSpPr>
            <a:spLocks noGrp="1"/>
          </p:cNvSpPr>
          <p:nvPr>
            <p:ph type="sldNum" sz="quarter" idx="5"/>
          </p:nvPr>
        </p:nvSpPr>
        <p:spPr/>
        <p:txBody>
          <a:bodyPr/>
          <a:lstStyle/>
          <a:p>
            <a:fld id="{16362E68-66C4-4B01-8D1F-712CF75BFD43}" type="slidenum">
              <a:rPr lang="en-US" smtClean="0"/>
              <a:pPr/>
              <a:t>24</a:t>
            </a:fld>
            <a:endParaRPr lang="en-US"/>
          </a:p>
        </p:txBody>
      </p:sp>
    </p:spTree>
    <p:extLst>
      <p:ext uri="{BB962C8B-B14F-4D97-AF65-F5344CB8AC3E}">
        <p14:creationId xmlns:p14="http://schemas.microsoft.com/office/powerpoint/2010/main" val="32955405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Let’s consider a </a:t>
            </a:r>
            <a:r>
              <a:rPr lang="en-US" b="1" dirty="0"/>
              <a:t>hands-on example</a:t>
            </a:r>
            <a:r>
              <a:rPr lang="en-US" dirty="0"/>
              <a:t> using two discrete functions, each with </a:t>
            </a:r>
            <a:r>
              <a:rPr lang="en-US" b="1" dirty="0"/>
              <a:t>five data points</a:t>
            </a:r>
            <a:r>
              <a:rPr lang="en-US" dirty="0"/>
              <a:t>.</a:t>
            </a:r>
          </a:p>
          <a:p>
            <a:r>
              <a:rPr lang="en-US" dirty="0"/>
              <a:t>Now imagine holding out both hands:</a:t>
            </a:r>
            <a:br>
              <a:rPr lang="en-US" dirty="0"/>
            </a:br>
            <a:r>
              <a:rPr lang="en-US" dirty="0"/>
              <a:t>your </a:t>
            </a:r>
            <a:r>
              <a:rPr lang="en-US" b="1" dirty="0"/>
              <a:t>left hand</a:t>
            </a:r>
            <a:r>
              <a:rPr lang="en-US" dirty="0"/>
              <a:t> represents one function — let’s call it </a:t>
            </a:r>
            <a:r>
              <a:rPr lang="en-US" b="1" dirty="0"/>
              <a:t>x of n</a:t>
            </a:r>
            <a:r>
              <a:rPr lang="en-US" dirty="0"/>
              <a:t>,</a:t>
            </a:r>
            <a:br>
              <a:rPr lang="en-US" dirty="0"/>
            </a:br>
            <a:r>
              <a:rPr lang="en-US" dirty="0"/>
              <a:t>and your </a:t>
            </a:r>
            <a:r>
              <a:rPr lang="en-US" b="1" dirty="0"/>
              <a:t>right hand</a:t>
            </a:r>
            <a:r>
              <a:rPr lang="en-US" dirty="0"/>
              <a:t> represents the other — this will be </a:t>
            </a:r>
            <a:r>
              <a:rPr lang="en-US" b="1" dirty="0"/>
              <a:t>h of n</a:t>
            </a:r>
            <a:r>
              <a:rPr lang="en-US" dirty="0"/>
              <a:t>, the impulse response.</a:t>
            </a:r>
          </a:p>
          <a:p>
            <a:r>
              <a:rPr lang="en-US" dirty="0"/>
              <a:t>Because of that </a:t>
            </a:r>
            <a:r>
              <a:rPr lang="en-US" b="1" dirty="0"/>
              <a:t>negative k</a:t>
            </a:r>
            <a:r>
              <a:rPr lang="en-US" dirty="0"/>
              <a:t> in the convolution sum,</a:t>
            </a:r>
            <a:br>
              <a:rPr lang="en-US" dirty="0"/>
            </a:br>
            <a:r>
              <a:rPr lang="en-US" dirty="0"/>
              <a:t>one function needs to be </a:t>
            </a:r>
            <a:r>
              <a:rPr lang="en-US" b="1" dirty="0"/>
              <a:t>flipped</a:t>
            </a:r>
            <a:r>
              <a:rPr lang="en-US" dirty="0"/>
              <a:t> — think of it like </a:t>
            </a:r>
            <a:r>
              <a:rPr lang="en-US" b="1" dirty="0"/>
              <a:t>flipping your right hand</a:t>
            </a:r>
            <a:r>
              <a:rPr lang="en-US" dirty="0"/>
              <a:t> so you see the back of it.</a:t>
            </a:r>
            <a:br>
              <a:rPr lang="en-US" dirty="0"/>
            </a:br>
            <a:r>
              <a:rPr lang="en-US" dirty="0"/>
              <a:t>That’s how we visualize </a:t>
            </a:r>
            <a:r>
              <a:rPr lang="en-US" b="1" dirty="0"/>
              <a:t>h of n minus k</a:t>
            </a:r>
            <a:r>
              <a:rPr lang="en-US" dirty="0"/>
              <a:t>.</a:t>
            </a:r>
          </a:p>
          <a:p>
            <a:r>
              <a:rPr lang="en-US" dirty="0"/>
              <a:t>Now we </a:t>
            </a:r>
            <a:r>
              <a:rPr lang="en-US" b="1" dirty="0"/>
              <a:t>shift this flipped function</a:t>
            </a:r>
            <a:r>
              <a:rPr lang="en-US" dirty="0"/>
              <a:t> across the input and calculate the output step-by-step.</a:t>
            </a:r>
          </a:p>
          <a:p>
            <a:endParaRPr lang="en-US" dirty="0"/>
          </a:p>
          <a:p>
            <a:r>
              <a:rPr lang="en-US" dirty="0"/>
              <a:t>For </a:t>
            </a:r>
            <a:r>
              <a:rPr lang="en-US" b="1" dirty="0"/>
              <a:t>n equals zero</a:t>
            </a:r>
            <a:r>
              <a:rPr lang="en-US" dirty="0"/>
              <a:t>, you align the flipped function with the origin,</a:t>
            </a:r>
            <a:br>
              <a:rPr lang="en-US" dirty="0"/>
            </a:br>
            <a:r>
              <a:rPr lang="en-US" dirty="0"/>
              <a:t>multiply the overlapping points, then </a:t>
            </a:r>
            <a:r>
              <a:rPr lang="en-US" b="1" dirty="0"/>
              <a:t>sum the products</a:t>
            </a:r>
            <a:r>
              <a:rPr lang="en-US" dirty="0"/>
              <a:t> —</a:t>
            </a:r>
            <a:br>
              <a:rPr lang="en-US" dirty="0"/>
            </a:br>
            <a:r>
              <a:rPr lang="en-US" dirty="0"/>
              <a:t>this gives you the output </a:t>
            </a:r>
            <a:r>
              <a:rPr lang="en-US" b="1" dirty="0"/>
              <a:t>y of zero</a:t>
            </a:r>
            <a:r>
              <a:rPr lang="en-US" dirty="0"/>
              <a:t>.</a:t>
            </a:r>
          </a:p>
          <a:p>
            <a:endParaRPr lang="en-US" dirty="0"/>
          </a:p>
          <a:p>
            <a:r>
              <a:rPr lang="en-US" dirty="0"/>
              <a:t>For </a:t>
            </a:r>
            <a:r>
              <a:rPr lang="en-US" b="1" dirty="0"/>
              <a:t>n equals one</a:t>
            </a:r>
            <a:r>
              <a:rPr lang="en-US" dirty="0"/>
              <a:t>, shift the flipped function </a:t>
            </a:r>
            <a:r>
              <a:rPr lang="en-US" b="1" dirty="0"/>
              <a:t>one step to the right</a:t>
            </a:r>
            <a:r>
              <a:rPr lang="en-US" dirty="0"/>
              <a:t>,</a:t>
            </a:r>
            <a:br>
              <a:rPr lang="en-US" dirty="0"/>
            </a:br>
            <a:r>
              <a:rPr lang="en-US" dirty="0"/>
              <a:t>multiply again, sum the result — and you get </a:t>
            </a:r>
            <a:r>
              <a:rPr lang="en-US" b="1" dirty="0"/>
              <a:t>y of one</a:t>
            </a:r>
            <a:r>
              <a:rPr lang="en-US" dirty="0"/>
              <a:t>.</a:t>
            </a:r>
          </a:p>
          <a:p>
            <a:r>
              <a:rPr lang="en-US" dirty="0"/>
              <a:t>You keep shifting, multiplying, and summing for each value of </a:t>
            </a:r>
            <a:r>
              <a:rPr lang="en-US" b="1" dirty="0"/>
              <a:t>n</a:t>
            </a:r>
            <a:r>
              <a:rPr lang="en-US" dirty="0"/>
              <a:t>.</a:t>
            </a:r>
          </a:p>
          <a:p>
            <a:r>
              <a:rPr lang="en-US" dirty="0"/>
              <a:t>You’ll notice that when the two functions </a:t>
            </a:r>
            <a:r>
              <a:rPr lang="en-US" b="1" dirty="0"/>
              <a:t>fully overlap</a:t>
            </a:r>
            <a:r>
              <a:rPr lang="en-US" dirty="0"/>
              <a:t>,</a:t>
            </a:r>
            <a:br>
              <a:rPr lang="en-US" dirty="0"/>
            </a:br>
            <a:r>
              <a:rPr lang="en-US" dirty="0"/>
              <a:t>you get the </a:t>
            </a:r>
            <a:r>
              <a:rPr lang="en-US" b="1" dirty="0"/>
              <a:t>largest value</a:t>
            </a:r>
            <a:r>
              <a:rPr lang="en-US" dirty="0"/>
              <a:t> in the convolution.</a:t>
            </a:r>
            <a:br>
              <a:rPr lang="en-US" dirty="0"/>
            </a:br>
            <a:r>
              <a:rPr lang="en-US" dirty="0"/>
              <a:t>And as they </a:t>
            </a:r>
            <a:r>
              <a:rPr lang="en-US" b="1" dirty="0"/>
              <a:t>slide past each other</a:t>
            </a:r>
            <a:r>
              <a:rPr lang="en-US" dirty="0"/>
              <a:t>, the overlap decreases,</a:t>
            </a:r>
            <a:br>
              <a:rPr lang="en-US" dirty="0"/>
            </a:br>
            <a:r>
              <a:rPr lang="en-US" dirty="0"/>
              <a:t>so the convolution value gradually falls back to </a:t>
            </a:r>
            <a:r>
              <a:rPr lang="en-US" b="1" dirty="0"/>
              <a:t>zero</a:t>
            </a:r>
            <a:r>
              <a:rPr lang="en-US" dirty="0"/>
              <a:t>.</a:t>
            </a:r>
          </a:p>
          <a:p>
            <a:endParaRPr lang="en-US" dirty="0"/>
          </a:p>
          <a:p>
            <a:r>
              <a:rPr lang="en-US" dirty="0"/>
              <a:t>This visual analogy with your hands is a powerful way to understand discrete convolution —</a:t>
            </a:r>
            <a:br>
              <a:rPr lang="en-US" dirty="0"/>
            </a:br>
            <a:r>
              <a:rPr lang="en-US" dirty="0"/>
              <a:t>especially how </a:t>
            </a:r>
            <a:r>
              <a:rPr lang="en-US" b="1" dirty="0"/>
              <a:t>flipping</a:t>
            </a:r>
            <a:r>
              <a:rPr lang="en-US" dirty="0"/>
              <a:t>, </a:t>
            </a:r>
            <a:r>
              <a:rPr lang="en-US" b="1" dirty="0"/>
              <a:t>shifting</a:t>
            </a:r>
            <a:r>
              <a:rPr lang="en-US" dirty="0"/>
              <a:t>, </a:t>
            </a:r>
            <a:r>
              <a:rPr lang="en-US" b="1" dirty="0"/>
              <a:t>multiplying</a:t>
            </a:r>
            <a:r>
              <a:rPr lang="en-US" dirty="0"/>
              <a:t>, and </a:t>
            </a:r>
            <a:r>
              <a:rPr lang="en-US" b="1" dirty="0"/>
              <a:t>summing</a:t>
            </a:r>
            <a:r>
              <a:rPr lang="en-US" dirty="0"/>
              <a:t> all come together.</a:t>
            </a:r>
          </a:p>
        </p:txBody>
      </p:sp>
      <p:sp>
        <p:nvSpPr>
          <p:cNvPr id="4" name="Slide Number Placeholder 3"/>
          <p:cNvSpPr>
            <a:spLocks noGrp="1"/>
          </p:cNvSpPr>
          <p:nvPr>
            <p:ph type="sldNum" sz="quarter" idx="5"/>
          </p:nvPr>
        </p:nvSpPr>
        <p:spPr/>
        <p:txBody>
          <a:bodyPr/>
          <a:lstStyle/>
          <a:p>
            <a:fld id="{16362E68-66C4-4B01-8D1F-712CF75BFD43}" type="slidenum">
              <a:rPr lang="en-US" smtClean="0"/>
              <a:pPr/>
              <a:t>25</a:t>
            </a:fld>
            <a:endParaRPr lang="en-US"/>
          </a:p>
        </p:txBody>
      </p:sp>
    </p:spTree>
    <p:extLst>
      <p:ext uri="{BB962C8B-B14F-4D97-AF65-F5344CB8AC3E}">
        <p14:creationId xmlns:p14="http://schemas.microsoft.com/office/powerpoint/2010/main" val="41824229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Let’s assign specific numbers to this example.</a:t>
            </a:r>
          </a:p>
          <a:p>
            <a:r>
              <a:rPr lang="en-US" dirty="0"/>
              <a:t>Suppose on your </a:t>
            </a:r>
            <a:r>
              <a:rPr lang="en-US" b="1" dirty="0"/>
              <a:t>left hand</a:t>
            </a:r>
            <a:r>
              <a:rPr lang="en-US" dirty="0"/>
              <a:t>, your </a:t>
            </a:r>
            <a:r>
              <a:rPr lang="en-US" b="1" dirty="0"/>
              <a:t>thumb</a:t>
            </a:r>
            <a:r>
              <a:rPr lang="en-US" dirty="0"/>
              <a:t> has value </a:t>
            </a:r>
            <a:r>
              <a:rPr lang="en-US" b="1" dirty="0"/>
              <a:t>5</a:t>
            </a:r>
            <a:r>
              <a:rPr lang="en-US" dirty="0"/>
              <a:t>, your </a:t>
            </a:r>
            <a:r>
              <a:rPr lang="en-US" b="1" dirty="0"/>
              <a:t>index finger</a:t>
            </a:r>
            <a:r>
              <a:rPr lang="en-US" dirty="0"/>
              <a:t> is </a:t>
            </a:r>
            <a:r>
              <a:rPr lang="en-US" b="1" dirty="0"/>
              <a:t>4</a:t>
            </a:r>
            <a:r>
              <a:rPr lang="en-US" dirty="0"/>
              <a:t>,</a:t>
            </a:r>
            <a:br>
              <a:rPr lang="en-US" dirty="0"/>
            </a:br>
            <a:r>
              <a:rPr lang="en-US" dirty="0"/>
              <a:t>then </a:t>
            </a:r>
            <a:r>
              <a:rPr lang="en-US" b="1" dirty="0"/>
              <a:t>3</a:t>
            </a:r>
            <a:r>
              <a:rPr lang="en-US" dirty="0"/>
              <a:t>, </a:t>
            </a:r>
            <a:r>
              <a:rPr lang="en-US" b="1" dirty="0"/>
              <a:t>2</a:t>
            </a:r>
            <a:r>
              <a:rPr lang="en-US" dirty="0"/>
              <a:t>, and </a:t>
            </a:r>
            <a:r>
              <a:rPr lang="en-US" b="1" dirty="0"/>
              <a:t>1</a:t>
            </a:r>
            <a:r>
              <a:rPr lang="en-US" dirty="0"/>
              <a:t> for the middle, ring, and little fingers.</a:t>
            </a:r>
          </a:p>
          <a:p>
            <a:r>
              <a:rPr lang="en-US" dirty="0"/>
              <a:t>On your </a:t>
            </a:r>
            <a:r>
              <a:rPr lang="en-US" b="1" dirty="0"/>
              <a:t>right hand</a:t>
            </a:r>
            <a:r>
              <a:rPr lang="en-US" dirty="0"/>
              <a:t>, the values go the other way — your </a:t>
            </a:r>
            <a:r>
              <a:rPr lang="en-US" b="1" dirty="0"/>
              <a:t>little finger</a:t>
            </a:r>
            <a:r>
              <a:rPr lang="en-US" dirty="0"/>
              <a:t> is </a:t>
            </a:r>
            <a:r>
              <a:rPr lang="en-US" b="1" dirty="0"/>
              <a:t>1</a:t>
            </a:r>
            <a:r>
              <a:rPr lang="en-US" dirty="0"/>
              <a:t>, ring finger is </a:t>
            </a:r>
            <a:r>
              <a:rPr lang="en-US" b="1" dirty="0"/>
              <a:t>2</a:t>
            </a:r>
            <a:r>
              <a:rPr lang="en-US" dirty="0"/>
              <a:t>,</a:t>
            </a:r>
            <a:br>
              <a:rPr lang="en-US" dirty="0"/>
            </a:br>
            <a:r>
              <a:rPr lang="en-US" dirty="0"/>
              <a:t>and it increases up to </a:t>
            </a:r>
            <a:r>
              <a:rPr lang="en-US" b="1" dirty="0"/>
              <a:t>5</a:t>
            </a:r>
            <a:r>
              <a:rPr lang="en-US" dirty="0"/>
              <a:t> at the thumb.</a:t>
            </a:r>
          </a:p>
          <a:p>
            <a:r>
              <a:rPr lang="en-US" dirty="0"/>
              <a:t>Now, flip the right hand — just like we flip </a:t>
            </a:r>
            <a:r>
              <a:rPr lang="en-US" b="1" dirty="0"/>
              <a:t>h of n</a:t>
            </a:r>
            <a:r>
              <a:rPr lang="en-US" dirty="0"/>
              <a:t> in the convolution process —</a:t>
            </a:r>
            <a:br>
              <a:rPr lang="en-US" dirty="0"/>
            </a:br>
            <a:r>
              <a:rPr lang="en-US" dirty="0"/>
              <a:t>then slide it across the left hand, computing the </a:t>
            </a:r>
            <a:r>
              <a:rPr lang="en-US" b="1" dirty="0"/>
              <a:t>pairwise products</a:t>
            </a:r>
            <a:r>
              <a:rPr lang="en-US" dirty="0"/>
              <a:t> at each shift,</a:t>
            </a:r>
            <a:br>
              <a:rPr lang="en-US" dirty="0"/>
            </a:br>
            <a:r>
              <a:rPr lang="en-US" dirty="0"/>
              <a:t>and summing them to get each value of the output.</a:t>
            </a:r>
          </a:p>
          <a:p>
            <a:r>
              <a:rPr lang="en-US" dirty="0"/>
              <a:t>This is exactly what’s happening in the MATLAB code shown on the slide.</a:t>
            </a:r>
          </a:p>
          <a:p>
            <a:r>
              <a:rPr lang="en-US" dirty="0"/>
              <a:t>We define </a:t>
            </a:r>
            <a:r>
              <a:rPr lang="en-US" b="1" dirty="0"/>
              <a:t>x</a:t>
            </a:r>
            <a:r>
              <a:rPr lang="en-US" dirty="0"/>
              <a:t> as the vector [5, 4, 3, 2, 1]</a:t>
            </a:r>
            <a:br>
              <a:rPr lang="en-US" dirty="0"/>
            </a:br>
            <a:r>
              <a:rPr lang="en-US" dirty="0"/>
              <a:t>and </a:t>
            </a:r>
            <a:r>
              <a:rPr lang="en-US" b="1" dirty="0"/>
              <a:t>h</a:t>
            </a:r>
            <a:r>
              <a:rPr lang="en-US" dirty="0"/>
              <a:t> as [1, 2, 3, 4, 5].</a:t>
            </a:r>
          </a:p>
          <a:p>
            <a:r>
              <a:rPr lang="en-US" dirty="0"/>
              <a:t>Then we call </a:t>
            </a:r>
            <a:r>
              <a:rPr lang="en-US" b="1" dirty="0"/>
              <a:t>y equals conv of x and h</a:t>
            </a:r>
            <a:br>
              <a:rPr lang="en-US" dirty="0"/>
            </a:br>
            <a:r>
              <a:rPr lang="en-US" dirty="0"/>
              <a:t>and finally, we plot the result.</a:t>
            </a:r>
          </a:p>
          <a:p>
            <a:r>
              <a:rPr lang="en-US" dirty="0"/>
              <a:t>The plot shows a </a:t>
            </a:r>
            <a:r>
              <a:rPr lang="en-US" b="1" dirty="0"/>
              <a:t>symmetric peak</a:t>
            </a:r>
            <a:r>
              <a:rPr lang="en-US" dirty="0"/>
              <a:t>, just as we expect — the center point reflects full overlap between the two sequences,</a:t>
            </a:r>
            <a:br>
              <a:rPr lang="en-US" dirty="0"/>
            </a:br>
            <a:r>
              <a:rPr lang="en-US" dirty="0"/>
              <a:t>and the values decrease symmetrically as they slide past each other.</a:t>
            </a:r>
          </a:p>
          <a:p>
            <a:r>
              <a:rPr lang="en-US" dirty="0"/>
              <a:t>Also remember: when you convolve two sequences of lengths </a:t>
            </a:r>
            <a:r>
              <a:rPr lang="en-US" b="1" dirty="0"/>
              <a:t>n 1</a:t>
            </a:r>
            <a:r>
              <a:rPr lang="en-US" dirty="0"/>
              <a:t> and </a:t>
            </a:r>
            <a:r>
              <a:rPr lang="en-US" b="1" dirty="0"/>
              <a:t>n 2</a:t>
            </a:r>
            <a:r>
              <a:rPr lang="en-US" dirty="0"/>
              <a:t>,</a:t>
            </a:r>
            <a:br>
              <a:rPr lang="en-US" dirty="0"/>
            </a:br>
            <a:r>
              <a:rPr lang="en-US" dirty="0"/>
              <a:t>the result will have a length of </a:t>
            </a:r>
            <a:r>
              <a:rPr lang="en-US" b="1" dirty="0"/>
              <a:t>n 1 plus n 1 minus one</a:t>
            </a:r>
            <a:r>
              <a:rPr lang="en-US" dirty="0"/>
              <a:t>.</a:t>
            </a:r>
          </a:p>
          <a:p>
            <a:r>
              <a:rPr lang="en-US" dirty="0"/>
              <a:t>Practicing with simple examples like this helps you </a:t>
            </a:r>
            <a:r>
              <a:rPr lang="en-US" b="1" dirty="0"/>
              <a:t>visualize</a:t>
            </a:r>
            <a:r>
              <a:rPr lang="en-US" dirty="0"/>
              <a:t> and </a:t>
            </a:r>
            <a:r>
              <a:rPr lang="en-US" b="1" dirty="0"/>
              <a:t>internalize</a:t>
            </a:r>
            <a:r>
              <a:rPr lang="en-US" dirty="0"/>
              <a:t> the convolution process —</a:t>
            </a:r>
            <a:br>
              <a:rPr lang="en-US" dirty="0"/>
            </a:br>
            <a:r>
              <a:rPr lang="en-US" dirty="0"/>
              <a:t>flipping, shifting, multiplying, and adding.</a:t>
            </a:r>
          </a:p>
          <a:p>
            <a:r>
              <a:rPr lang="en-US" dirty="0"/>
              <a:t>And in </a:t>
            </a:r>
            <a:r>
              <a:rPr lang="en-US" b="1" dirty="0"/>
              <a:t>imaging systems</a:t>
            </a:r>
            <a:r>
              <a:rPr lang="en-US" dirty="0"/>
              <a:t>, which are designed to be </a:t>
            </a:r>
            <a:r>
              <a:rPr lang="en-US" b="1" dirty="0"/>
              <a:t>linear and shift-invariant</a:t>
            </a:r>
            <a:r>
              <a:rPr lang="en-US" dirty="0"/>
              <a:t>,</a:t>
            </a:r>
            <a:br>
              <a:rPr lang="en-US" dirty="0"/>
            </a:br>
            <a:r>
              <a:rPr lang="en-US" b="1" dirty="0"/>
              <a:t>convolution defines how the system responds</a:t>
            </a:r>
            <a:r>
              <a:rPr lang="en-US" dirty="0"/>
              <a:t> to any input.</a:t>
            </a:r>
          </a:p>
          <a:p>
            <a:r>
              <a:rPr lang="en-US" dirty="0"/>
              <a:t>That’s why mastering this operation is essential.</a:t>
            </a:r>
          </a:p>
        </p:txBody>
      </p:sp>
      <p:sp>
        <p:nvSpPr>
          <p:cNvPr id="4" name="Slide Number Placeholder 3"/>
          <p:cNvSpPr>
            <a:spLocks noGrp="1"/>
          </p:cNvSpPr>
          <p:nvPr>
            <p:ph type="sldNum" sz="quarter" idx="5"/>
          </p:nvPr>
        </p:nvSpPr>
        <p:spPr/>
        <p:txBody>
          <a:bodyPr/>
          <a:lstStyle/>
          <a:p>
            <a:fld id="{16362E68-66C4-4B01-8D1F-712CF75BFD43}" type="slidenum">
              <a:rPr lang="en-US" smtClean="0"/>
              <a:pPr/>
              <a:t>26</a:t>
            </a:fld>
            <a:endParaRPr lang="en-US"/>
          </a:p>
        </p:txBody>
      </p:sp>
    </p:spTree>
    <p:extLst>
      <p:ext uri="{BB962C8B-B14F-4D97-AF65-F5344CB8AC3E}">
        <p14:creationId xmlns:p14="http://schemas.microsoft.com/office/powerpoint/2010/main" val="15244876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Let’s see another example — this time from </a:t>
            </a:r>
            <a:r>
              <a:rPr lang="en-US" b="1" dirty="0"/>
              <a:t>medical imaging</a:t>
            </a:r>
            <a:r>
              <a:rPr lang="en-US" dirty="0"/>
              <a:t>.</a:t>
            </a:r>
          </a:p>
          <a:p>
            <a:r>
              <a:rPr lang="en-US" dirty="0"/>
              <a:t>Imagine you’re injecting a </a:t>
            </a:r>
            <a:r>
              <a:rPr lang="en-US" b="1" dirty="0"/>
              <a:t>contrast agent</a:t>
            </a:r>
            <a:r>
              <a:rPr lang="en-US" dirty="0"/>
              <a:t>, like </a:t>
            </a:r>
            <a:r>
              <a:rPr lang="en-US" b="1" dirty="0"/>
              <a:t>iodine</a:t>
            </a:r>
            <a:r>
              <a:rPr lang="en-US" dirty="0"/>
              <a:t>, into the bloodstream to highlight blood vessels in an X-ray image.</a:t>
            </a:r>
          </a:p>
          <a:p>
            <a:r>
              <a:rPr lang="en-US" dirty="0"/>
              <a:t>Without contrast, the blood, vessels, and surrounding tissue can look very similar.</a:t>
            </a:r>
            <a:br>
              <a:rPr lang="en-US" dirty="0"/>
            </a:br>
            <a:r>
              <a:rPr lang="en-US" dirty="0"/>
              <a:t>But when you add contrast, the vessels </a:t>
            </a:r>
            <a:r>
              <a:rPr lang="en-US" b="1" dirty="0"/>
              <a:t>light up more clearly</a:t>
            </a:r>
            <a:r>
              <a:rPr lang="en-US" dirty="0"/>
              <a:t>, making them easier to detect and interpret.</a:t>
            </a:r>
          </a:p>
          <a:p>
            <a:r>
              <a:rPr lang="en-US" dirty="0"/>
              <a:t>Now here’s the key part: as the iodine travels through the body, it moves along </a:t>
            </a:r>
            <a:r>
              <a:rPr lang="en-US" b="1" dirty="0"/>
              <a:t>multiple paths</a:t>
            </a:r>
            <a:r>
              <a:rPr lang="en-US" dirty="0"/>
              <a:t>.</a:t>
            </a:r>
          </a:p>
          <a:p>
            <a:r>
              <a:rPr lang="en-US" dirty="0"/>
              <a:t>Some paths are fast — like </a:t>
            </a:r>
            <a:r>
              <a:rPr lang="en-US" b="1" dirty="0"/>
              <a:t>major arteries</a:t>
            </a:r>
            <a:r>
              <a:rPr lang="en-US" dirty="0"/>
              <a:t>. Others are slower — like </a:t>
            </a:r>
            <a:r>
              <a:rPr lang="en-US" b="1" dirty="0"/>
              <a:t>capillaries or microvasculature</a:t>
            </a:r>
            <a:r>
              <a:rPr lang="en-US" dirty="0"/>
              <a:t>.</a:t>
            </a:r>
            <a:br>
              <a:rPr lang="en-US" dirty="0"/>
            </a:br>
            <a:r>
              <a:rPr lang="en-US" dirty="0"/>
              <a:t>Each of these paths introduces a different </a:t>
            </a:r>
            <a:r>
              <a:rPr lang="en-US" b="1" dirty="0"/>
              <a:t>delay</a:t>
            </a:r>
            <a:r>
              <a:rPr lang="en-US" dirty="0"/>
              <a:t> before the contrast reaches the detector.</a:t>
            </a:r>
          </a:p>
          <a:p>
            <a:r>
              <a:rPr lang="en-US" dirty="0"/>
              <a:t>If you could inject an ideal, </a:t>
            </a:r>
            <a:r>
              <a:rPr lang="en-US" b="1" dirty="0"/>
              <a:t>instantaneous impulse</a:t>
            </a:r>
            <a:r>
              <a:rPr lang="en-US" dirty="0"/>
              <a:t> of contrast — in other words, a perfect delta function —</a:t>
            </a:r>
            <a:br>
              <a:rPr lang="en-US" dirty="0"/>
            </a:br>
            <a:r>
              <a:rPr lang="en-US" dirty="0"/>
              <a:t>then what you would see is a collection of </a:t>
            </a:r>
            <a:r>
              <a:rPr lang="en-US" b="1" dirty="0"/>
              <a:t>impulse responses</a:t>
            </a:r>
            <a:r>
              <a:rPr lang="en-US" dirty="0"/>
              <a:t>, labeled here as </a:t>
            </a:r>
            <a:r>
              <a:rPr lang="en-US" b="1" dirty="0"/>
              <a:t>H 1, H 2, H 3</a:t>
            </a:r>
            <a:r>
              <a:rPr lang="en-US" dirty="0"/>
              <a:t>, and so on.</a:t>
            </a:r>
          </a:p>
          <a:p>
            <a:endParaRPr lang="en-US" dirty="0"/>
          </a:p>
          <a:p>
            <a:r>
              <a:rPr lang="en-US" dirty="0"/>
              <a:t>Each of these responses corresponds to a different path, and each arrives at a different time.</a:t>
            </a:r>
          </a:p>
          <a:p>
            <a:r>
              <a:rPr lang="en-US" dirty="0"/>
              <a:t>But in reality, injections are not perfect impulses. They take time.</a:t>
            </a:r>
          </a:p>
          <a:p>
            <a:br>
              <a:rPr lang="en-US" dirty="0"/>
            </a:br>
            <a:r>
              <a:rPr lang="en-US" dirty="0"/>
              <a:t>This means the actual contrast input is more spread out — and the measured output at the gamma camera</a:t>
            </a:r>
            <a:br>
              <a:rPr lang="en-US" dirty="0"/>
            </a:br>
            <a:r>
              <a:rPr lang="en-US" dirty="0"/>
              <a:t>becomes a </a:t>
            </a:r>
            <a:r>
              <a:rPr lang="en-US" b="1" dirty="0"/>
              <a:t>sum of all these delayed responses</a:t>
            </a:r>
            <a:r>
              <a:rPr lang="en-US" dirty="0"/>
              <a:t>, weighted by how much contrast passes through each path.</a:t>
            </a:r>
          </a:p>
          <a:p>
            <a:endParaRPr lang="en-US" dirty="0"/>
          </a:p>
          <a:p>
            <a:r>
              <a:rPr lang="en-US" dirty="0"/>
              <a:t>In other words, the system’s output is a </a:t>
            </a:r>
            <a:r>
              <a:rPr lang="en-US" b="1" dirty="0"/>
              <a:t>convolution</a:t>
            </a:r>
            <a:r>
              <a:rPr lang="en-US" dirty="0"/>
              <a:t> of the injected input with the system’s </a:t>
            </a:r>
            <a:r>
              <a:rPr lang="en-US" b="1" dirty="0"/>
              <a:t>impulse response</a:t>
            </a:r>
            <a:r>
              <a:rPr lang="en-US" dirty="0"/>
              <a:t>.</a:t>
            </a:r>
          </a:p>
          <a:p>
            <a:r>
              <a:rPr lang="en-US" dirty="0"/>
              <a:t>This illustrates exactly why </a:t>
            </a:r>
            <a:r>
              <a:rPr lang="en-US" b="1" dirty="0"/>
              <a:t>convolution is so important in medical imaging</a:t>
            </a:r>
            <a:r>
              <a:rPr lang="en-US" dirty="0"/>
              <a:t>:</a:t>
            </a:r>
            <a:br>
              <a:rPr lang="en-US" dirty="0"/>
            </a:br>
            <a:r>
              <a:rPr lang="en-US" dirty="0"/>
              <a:t>it helps us model and interpret how signals — like contrast or radiation — travel through complex biological systems,</a:t>
            </a:r>
            <a:br>
              <a:rPr lang="en-US" dirty="0"/>
            </a:br>
            <a:r>
              <a:rPr lang="en-US" dirty="0"/>
              <a:t>and how we capture those signals with imaging devices like a </a:t>
            </a:r>
            <a:r>
              <a:rPr lang="en-US" b="1" dirty="0"/>
              <a:t>gamma camera</a:t>
            </a:r>
            <a:r>
              <a:rPr lang="en-US" dirty="0"/>
              <a:t>.</a:t>
            </a:r>
          </a:p>
        </p:txBody>
      </p:sp>
      <p:sp>
        <p:nvSpPr>
          <p:cNvPr id="4" name="Slide Number Placeholder 3"/>
          <p:cNvSpPr>
            <a:spLocks noGrp="1"/>
          </p:cNvSpPr>
          <p:nvPr>
            <p:ph type="sldNum" sz="quarter" idx="5"/>
          </p:nvPr>
        </p:nvSpPr>
        <p:spPr/>
        <p:txBody>
          <a:bodyPr/>
          <a:lstStyle/>
          <a:p>
            <a:fld id="{16362E68-66C4-4B01-8D1F-712CF75BFD43}" type="slidenum">
              <a:rPr lang="en-US" smtClean="0"/>
              <a:pPr/>
              <a:t>27</a:t>
            </a:fld>
            <a:endParaRPr lang="en-US"/>
          </a:p>
        </p:txBody>
      </p:sp>
    </p:spTree>
    <p:extLst>
      <p:ext uri="{BB962C8B-B14F-4D97-AF65-F5344CB8AC3E}">
        <p14:creationId xmlns:p14="http://schemas.microsoft.com/office/powerpoint/2010/main" val="30986779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In reality, the contrast isn’t delivered as a perfect impulse —</a:t>
            </a:r>
            <a:br>
              <a:rPr lang="en-US" dirty="0"/>
            </a:br>
            <a:r>
              <a:rPr lang="en-US" dirty="0"/>
              <a:t>it’s </a:t>
            </a:r>
            <a:r>
              <a:rPr lang="en-US" b="1" dirty="0"/>
              <a:t>injected over a period of time</a:t>
            </a:r>
            <a:r>
              <a:rPr lang="en-US" dirty="0"/>
              <a:t>, with </a:t>
            </a:r>
            <a:r>
              <a:rPr lang="en-US" b="1" dirty="0"/>
              <a:t>more at the start</a:t>
            </a:r>
            <a:r>
              <a:rPr lang="en-US" dirty="0"/>
              <a:t> and </a:t>
            </a:r>
            <a:r>
              <a:rPr lang="en-US" b="1" dirty="0"/>
              <a:t>less later</a:t>
            </a:r>
            <a:r>
              <a:rPr lang="en-US" dirty="0"/>
              <a:t>, forming a time curve.</a:t>
            </a:r>
          </a:p>
          <a:p>
            <a:r>
              <a:rPr lang="en-US" dirty="0"/>
              <a:t>We can think of this </a:t>
            </a:r>
            <a:r>
              <a:rPr lang="en-US" b="1" dirty="0"/>
              <a:t>non-ideal input</a:t>
            </a:r>
            <a:r>
              <a:rPr lang="en-US" dirty="0"/>
              <a:t> as a </a:t>
            </a:r>
            <a:r>
              <a:rPr lang="en-US" b="1" dirty="0"/>
              <a:t>sum of small impulses</a:t>
            </a:r>
            <a:r>
              <a:rPr lang="en-US" dirty="0"/>
              <a:t> occurring at different times —</a:t>
            </a:r>
            <a:br>
              <a:rPr lang="en-US" dirty="0"/>
            </a:br>
            <a:r>
              <a:rPr lang="en-US" dirty="0"/>
              <a:t>each one representing a fraction of the total injected dose.</a:t>
            </a:r>
          </a:p>
          <a:p>
            <a:r>
              <a:rPr lang="en-US" dirty="0"/>
              <a:t>For each of these small impulses, we already know the system’s response —</a:t>
            </a:r>
            <a:br>
              <a:rPr lang="en-US" dirty="0"/>
            </a:br>
            <a:r>
              <a:rPr lang="en-US" dirty="0"/>
              <a:t>that’s the </a:t>
            </a:r>
            <a:r>
              <a:rPr lang="en-US" b="1" dirty="0"/>
              <a:t>impulse response</a:t>
            </a:r>
            <a:r>
              <a:rPr lang="en-US" dirty="0"/>
              <a:t> we’ve discussed.</a:t>
            </a:r>
          </a:p>
          <a:p>
            <a:r>
              <a:rPr lang="en-US" dirty="0"/>
              <a:t>So what do we do?</a:t>
            </a:r>
          </a:p>
          <a:p>
            <a:r>
              <a:rPr lang="en-US" dirty="0"/>
              <a:t>We </a:t>
            </a:r>
            <a:r>
              <a:rPr lang="en-US" b="1" dirty="0"/>
              <a:t>scale</a:t>
            </a:r>
            <a:r>
              <a:rPr lang="en-US" dirty="0"/>
              <a:t> each impulse response based on how much contrast was injected at that moment,</a:t>
            </a:r>
            <a:br>
              <a:rPr lang="en-US" dirty="0"/>
            </a:br>
            <a:r>
              <a:rPr lang="en-US" b="1" dirty="0"/>
              <a:t>shift it in time</a:t>
            </a:r>
            <a:r>
              <a:rPr lang="en-US" dirty="0"/>
              <a:t> according to when it was injected,</a:t>
            </a:r>
            <a:br>
              <a:rPr lang="en-US" dirty="0"/>
            </a:br>
            <a:r>
              <a:rPr lang="en-US" dirty="0"/>
              <a:t>and then </a:t>
            </a:r>
            <a:r>
              <a:rPr lang="en-US" b="1" dirty="0"/>
              <a:t>add all the individual responses together</a:t>
            </a:r>
            <a:r>
              <a:rPr lang="en-US" dirty="0"/>
              <a:t>.</a:t>
            </a:r>
          </a:p>
          <a:p>
            <a:r>
              <a:rPr lang="en-US" dirty="0"/>
              <a:t>What we get is the system’s total response — the final signal that’s measured by the detector.</a:t>
            </a:r>
          </a:p>
          <a:p>
            <a:r>
              <a:rPr lang="en-US" dirty="0"/>
              <a:t>This is a perfect visualization of </a:t>
            </a:r>
            <a:r>
              <a:rPr lang="en-US" b="1" dirty="0"/>
              <a:t>discrete convolution</a:t>
            </a:r>
            <a:r>
              <a:rPr lang="en-US" dirty="0"/>
              <a:t> in a real-world setting.</a:t>
            </a:r>
            <a:br>
              <a:rPr lang="en-US" dirty="0"/>
            </a:br>
            <a:r>
              <a:rPr lang="en-US" dirty="0"/>
              <a:t>It shows how imaging systems handle </a:t>
            </a:r>
            <a:r>
              <a:rPr lang="en-US" b="1" dirty="0"/>
              <a:t>non-ideal, time-varying inputs</a:t>
            </a:r>
            <a:r>
              <a:rPr lang="en-US" dirty="0"/>
              <a:t> using the exact same principles we’ve learned.</a:t>
            </a:r>
          </a:p>
          <a:p>
            <a:r>
              <a:rPr lang="en-US" dirty="0"/>
              <a:t>It may take some time for these ideas to fully sink in,</a:t>
            </a:r>
            <a:br>
              <a:rPr lang="en-US" dirty="0"/>
            </a:br>
            <a:r>
              <a:rPr lang="en-US" dirty="0"/>
              <a:t>but they form the </a:t>
            </a:r>
            <a:r>
              <a:rPr lang="en-US" b="1" dirty="0"/>
              <a:t>foundation</a:t>
            </a:r>
            <a:r>
              <a:rPr lang="en-US" dirty="0"/>
              <a:t> for understanding how imaging systems </a:t>
            </a:r>
            <a:r>
              <a:rPr lang="en-US" b="1" dirty="0"/>
              <a:t>process signals</a:t>
            </a:r>
            <a:r>
              <a:rPr lang="en-US" dirty="0"/>
              <a:t> and generate useful images.</a:t>
            </a:r>
          </a:p>
        </p:txBody>
      </p:sp>
      <p:sp>
        <p:nvSpPr>
          <p:cNvPr id="4" name="Slide Number Placeholder 3"/>
          <p:cNvSpPr>
            <a:spLocks noGrp="1"/>
          </p:cNvSpPr>
          <p:nvPr>
            <p:ph type="sldNum" sz="quarter" idx="5"/>
          </p:nvPr>
        </p:nvSpPr>
        <p:spPr/>
        <p:txBody>
          <a:bodyPr/>
          <a:lstStyle/>
          <a:p>
            <a:fld id="{16362E68-66C4-4B01-8D1F-712CF75BFD43}" type="slidenum">
              <a:rPr lang="en-US" smtClean="0"/>
              <a:pPr/>
              <a:t>28</a:t>
            </a:fld>
            <a:endParaRPr lang="en-US"/>
          </a:p>
        </p:txBody>
      </p:sp>
    </p:spTree>
    <p:extLst>
      <p:ext uri="{BB962C8B-B14F-4D97-AF65-F5344CB8AC3E}">
        <p14:creationId xmlns:p14="http://schemas.microsoft.com/office/powerpoint/2010/main" val="13823360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Now, let’s work through a more abstract — and slightly more mathematical — example.</a:t>
            </a:r>
            <a:br>
              <a:rPr lang="en-US" dirty="0"/>
            </a:br>
            <a:r>
              <a:rPr lang="en-US" dirty="0"/>
              <a:t>I like to call this a </a:t>
            </a:r>
            <a:r>
              <a:rPr lang="en-US" b="1" dirty="0"/>
              <a:t>minds-on example</a:t>
            </a:r>
            <a:r>
              <a:rPr lang="en-US" dirty="0"/>
              <a:t>.</a:t>
            </a:r>
          </a:p>
          <a:p>
            <a:r>
              <a:rPr lang="en-US" dirty="0"/>
              <a:t>This example is based on </a:t>
            </a:r>
            <a:r>
              <a:rPr lang="en-US" b="1" dirty="0"/>
              <a:t>continuous convolution</a:t>
            </a:r>
            <a:r>
              <a:rPr lang="en-US" dirty="0"/>
              <a:t>, and while it’s not difficult, it does require you to </a:t>
            </a:r>
            <a:r>
              <a:rPr lang="en-US" b="1" dirty="0"/>
              <a:t>think like in calculus</a:t>
            </a:r>
            <a:r>
              <a:rPr lang="en-US" dirty="0"/>
              <a:t>.</a:t>
            </a:r>
          </a:p>
          <a:p>
            <a:r>
              <a:rPr lang="en-US" dirty="0"/>
              <a:t>So let’s take our time with it.</a:t>
            </a:r>
          </a:p>
          <a:p>
            <a:r>
              <a:rPr lang="en-US" dirty="0"/>
              <a:t>With convolution, the basic process is this:</a:t>
            </a:r>
            <a:br>
              <a:rPr lang="en-US" dirty="0"/>
            </a:br>
            <a:r>
              <a:rPr lang="en-US" dirty="0"/>
              <a:t>We </a:t>
            </a:r>
            <a:r>
              <a:rPr lang="en-US" b="1" dirty="0"/>
              <a:t>flip</a:t>
            </a:r>
            <a:r>
              <a:rPr lang="en-US" dirty="0"/>
              <a:t> one function, </a:t>
            </a:r>
            <a:r>
              <a:rPr lang="en-US" b="1" dirty="0"/>
              <a:t>shift</a:t>
            </a:r>
            <a:r>
              <a:rPr lang="en-US" dirty="0"/>
              <a:t> it, </a:t>
            </a:r>
            <a:r>
              <a:rPr lang="en-US" b="1" dirty="0"/>
              <a:t>multiply</a:t>
            </a:r>
            <a:r>
              <a:rPr lang="en-US" dirty="0"/>
              <a:t> them point by point, and then </a:t>
            </a:r>
            <a:r>
              <a:rPr lang="en-US" b="1" dirty="0"/>
              <a:t>integrate</a:t>
            </a:r>
            <a:r>
              <a:rPr lang="en-US" dirty="0"/>
              <a:t> over the region where they overlap.</a:t>
            </a:r>
          </a:p>
          <a:p>
            <a:r>
              <a:rPr lang="en-US" dirty="0"/>
              <a:t>At first, that might sound a little mechanical. So let’s break it down clearly, step by step.</a:t>
            </a:r>
          </a:p>
          <a:p>
            <a:r>
              <a:rPr lang="en-US" dirty="0"/>
              <a:t>We’re working with </a:t>
            </a:r>
            <a:r>
              <a:rPr lang="en-US" b="1" dirty="0"/>
              <a:t>two functions</a:t>
            </a:r>
            <a:r>
              <a:rPr lang="en-US" dirty="0"/>
              <a:t> here:</a:t>
            </a:r>
          </a:p>
          <a:p>
            <a:r>
              <a:rPr lang="en-US" b="1" dirty="0"/>
              <a:t>f of t</a:t>
            </a:r>
            <a:r>
              <a:rPr lang="en-US" dirty="0"/>
              <a:t>, shown in red. This is a triangular function — it starts at zero, rises to a peak at t equals 2, and then drops back to zero.</a:t>
            </a:r>
          </a:p>
          <a:p>
            <a:r>
              <a:rPr lang="en-US" b="1" dirty="0"/>
              <a:t>g of t</a:t>
            </a:r>
            <a:r>
              <a:rPr lang="en-US" dirty="0"/>
              <a:t>, shown in purple. This is a rectangular pulse that spans from t equals minus 2 to plus 2, with a constant value of 3.</a:t>
            </a:r>
          </a:p>
          <a:p>
            <a:r>
              <a:rPr lang="en-US" dirty="0"/>
              <a:t>Now, because g of t is </a:t>
            </a:r>
            <a:r>
              <a:rPr lang="en-US" b="1" dirty="0"/>
              <a:t>symmetric</a:t>
            </a:r>
            <a:r>
              <a:rPr lang="en-US" dirty="0"/>
              <a:t>, flipping it across the vertical axis doesn’t change its shape —</a:t>
            </a:r>
            <a:br>
              <a:rPr lang="en-US" dirty="0"/>
            </a:br>
            <a:r>
              <a:rPr lang="en-US" dirty="0"/>
              <a:t>which actually makes our job easier.</a:t>
            </a:r>
          </a:p>
          <a:p>
            <a:r>
              <a:rPr lang="en-US" dirty="0"/>
              <a:t>So we’ll flip g to get </a:t>
            </a:r>
            <a:r>
              <a:rPr lang="en-US" b="1" dirty="0"/>
              <a:t>g of t minus tau</a:t>
            </a:r>
            <a:r>
              <a:rPr lang="en-US" dirty="0"/>
              <a:t>, and then </a:t>
            </a:r>
            <a:r>
              <a:rPr lang="en-US" b="1" dirty="0"/>
              <a:t>slide it across</a:t>
            </a:r>
            <a:r>
              <a:rPr lang="en-US" dirty="0"/>
              <a:t> f of tau,</a:t>
            </a:r>
            <a:br>
              <a:rPr lang="en-US" dirty="0"/>
            </a:br>
            <a:r>
              <a:rPr lang="en-US" dirty="0"/>
              <a:t>evaluating the convolution </a:t>
            </a:r>
            <a:r>
              <a:rPr lang="en-US" b="1" dirty="0"/>
              <a:t>at each position t</a:t>
            </a:r>
            <a:r>
              <a:rPr lang="en-US" dirty="0"/>
              <a:t>.</a:t>
            </a:r>
          </a:p>
          <a:p>
            <a:r>
              <a:rPr lang="en-US" dirty="0"/>
              <a:t>Here’s the key part:</a:t>
            </a:r>
            <a:br>
              <a:rPr lang="en-US" dirty="0"/>
            </a:br>
            <a:r>
              <a:rPr lang="en-US" dirty="0"/>
              <a:t>Both functions are </a:t>
            </a:r>
            <a:r>
              <a:rPr lang="en-US" b="1" dirty="0"/>
              <a:t>compactly supported</a:t>
            </a:r>
            <a:r>
              <a:rPr lang="en-US" dirty="0"/>
              <a:t>, meaning they’re only non-zero over a specific range.</a:t>
            </a:r>
            <a:br>
              <a:rPr lang="en-US" dirty="0"/>
            </a:br>
            <a:r>
              <a:rPr lang="en-US" dirty="0"/>
              <a:t>That means the overlap only happens during certain intervals.</a:t>
            </a:r>
          </a:p>
          <a:p>
            <a:r>
              <a:rPr lang="en-US" dirty="0"/>
              <a:t>So to compute the convolution, we’ll handle it </a:t>
            </a:r>
            <a:r>
              <a:rPr lang="en-US" b="1" dirty="0"/>
              <a:t>case by case</a:t>
            </a:r>
            <a:r>
              <a:rPr lang="en-US" dirty="0"/>
              <a:t> — based on the value of t.</a:t>
            </a:r>
          </a:p>
        </p:txBody>
      </p:sp>
      <p:sp>
        <p:nvSpPr>
          <p:cNvPr id="4" name="Slide Number Placeholder 3"/>
          <p:cNvSpPr>
            <a:spLocks noGrp="1"/>
          </p:cNvSpPr>
          <p:nvPr>
            <p:ph type="sldNum" sz="quarter" idx="5"/>
          </p:nvPr>
        </p:nvSpPr>
        <p:spPr/>
        <p:txBody>
          <a:bodyPr/>
          <a:lstStyle/>
          <a:p>
            <a:fld id="{16362E68-66C4-4B01-8D1F-712CF75BFD43}" type="slidenum">
              <a:rPr lang="en-US" smtClean="0"/>
              <a:pPr/>
              <a:t>29</a:t>
            </a:fld>
            <a:endParaRPr lang="en-US"/>
          </a:p>
        </p:txBody>
      </p:sp>
    </p:spTree>
    <p:extLst>
      <p:ext uri="{BB962C8B-B14F-4D97-AF65-F5344CB8AC3E}">
        <p14:creationId xmlns:p14="http://schemas.microsoft.com/office/powerpoint/2010/main" val="1810794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 </a:t>
            </a:r>
            <a:r>
              <a:rPr lang="en-US" b="1" dirty="0"/>
              <a:t>Case 1: When t is less than –2</a:t>
            </a:r>
            <a:endParaRPr lang="en-US" dirty="0"/>
          </a:p>
          <a:p>
            <a:r>
              <a:rPr lang="en-US" dirty="0"/>
              <a:t>At this stage, the flipped and shifted version of </a:t>
            </a:r>
            <a:r>
              <a:rPr lang="en-US" b="1" dirty="0"/>
              <a:t>g</a:t>
            </a:r>
            <a:r>
              <a:rPr lang="en-US" dirty="0"/>
              <a:t>, written as </a:t>
            </a:r>
            <a:r>
              <a:rPr lang="en-US" b="1" dirty="0"/>
              <a:t>g of t minus tau</a:t>
            </a:r>
            <a:r>
              <a:rPr lang="en-US" dirty="0"/>
              <a:t>,</a:t>
            </a:r>
            <a:br>
              <a:rPr lang="en-US" dirty="0"/>
            </a:br>
            <a:r>
              <a:rPr lang="en-US" dirty="0"/>
              <a:t>is positioned so far to the left that it </a:t>
            </a:r>
            <a:r>
              <a:rPr lang="en-US" b="1" dirty="0"/>
              <a:t>does not overlap</a:t>
            </a:r>
            <a:r>
              <a:rPr lang="en-US" dirty="0"/>
              <a:t> with </a:t>
            </a:r>
            <a:r>
              <a:rPr lang="en-US" b="1" dirty="0"/>
              <a:t>f of tau</a:t>
            </a:r>
            <a:r>
              <a:rPr lang="en-US" dirty="0"/>
              <a:t> at all.</a:t>
            </a:r>
          </a:p>
          <a:p>
            <a:r>
              <a:rPr lang="en-US" dirty="0"/>
              <a:t>That means the product of the two functions is </a:t>
            </a:r>
            <a:r>
              <a:rPr lang="en-US" b="1" dirty="0"/>
              <a:t>zero everywhere</a:t>
            </a:r>
            <a:r>
              <a:rPr lang="en-US" dirty="0"/>
              <a:t>,</a:t>
            </a:r>
            <a:br>
              <a:rPr lang="en-US" dirty="0"/>
            </a:br>
            <a:r>
              <a:rPr lang="en-US" dirty="0"/>
              <a:t>so the </a:t>
            </a:r>
            <a:r>
              <a:rPr lang="en-US" b="1" dirty="0"/>
              <a:t>convolution result y of t is also zero</a:t>
            </a:r>
            <a:r>
              <a:rPr lang="en-US" dirty="0"/>
              <a:t>.</a:t>
            </a:r>
          </a:p>
          <a:p>
            <a:r>
              <a:rPr lang="en-US" dirty="0"/>
              <a:t>This is our first insight:</a:t>
            </a:r>
            <a:br>
              <a:rPr lang="en-US" dirty="0"/>
            </a:br>
            <a:r>
              <a:rPr lang="en-US" b="1" dirty="0"/>
              <a:t>No overlap means no contribution to the integral</a:t>
            </a:r>
            <a:r>
              <a:rPr lang="en-US" dirty="0"/>
              <a:t>, and the output is zero.</a:t>
            </a:r>
          </a:p>
          <a:p>
            <a:endParaRPr lang="en-US" dirty="0"/>
          </a:p>
          <a:p>
            <a:endParaRPr lang="en-US" dirty="0"/>
          </a:p>
          <a:p>
            <a:r>
              <a:rPr lang="en-US" dirty="0"/>
              <a:t> </a:t>
            </a:r>
            <a:r>
              <a:rPr lang="en-US" b="1" dirty="0"/>
              <a:t>Case 2: When t is between –2 and 0</a:t>
            </a:r>
            <a:endParaRPr lang="en-US" dirty="0"/>
          </a:p>
          <a:p>
            <a:r>
              <a:rPr lang="en-US" dirty="0"/>
              <a:t>Now we begin to see </a:t>
            </a:r>
            <a:r>
              <a:rPr lang="en-US" b="1" dirty="0"/>
              <a:t>partial overlap</a:t>
            </a:r>
            <a:r>
              <a:rPr lang="en-US" dirty="0"/>
              <a:t>.</a:t>
            </a:r>
          </a:p>
          <a:p>
            <a:r>
              <a:rPr lang="en-US" dirty="0"/>
              <a:t>As </a:t>
            </a:r>
            <a:r>
              <a:rPr lang="en-US" b="1" dirty="0"/>
              <a:t>g of t minus tau</a:t>
            </a:r>
            <a:r>
              <a:rPr lang="en-US" dirty="0"/>
              <a:t> slides to the right, part of it starts to </a:t>
            </a:r>
            <a:r>
              <a:rPr lang="en-US" b="1" dirty="0"/>
              <a:t>enter the region</a:t>
            </a:r>
            <a:r>
              <a:rPr lang="en-US" dirty="0"/>
              <a:t> where </a:t>
            </a:r>
            <a:r>
              <a:rPr lang="en-US" b="1" dirty="0"/>
              <a:t>f of tau</a:t>
            </a:r>
            <a:r>
              <a:rPr lang="en-US" dirty="0"/>
              <a:t> is non-zero.</a:t>
            </a:r>
          </a:p>
          <a:p>
            <a:r>
              <a:rPr lang="en-US" dirty="0"/>
              <a:t>Let’s break this down mathematically:</a:t>
            </a:r>
          </a:p>
          <a:p>
            <a:r>
              <a:rPr lang="en-US" dirty="0"/>
              <a:t>Over the region where they overlap, </a:t>
            </a:r>
            <a:r>
              <a:rPr lang="en-US" b="1" dirty="0"/>
              <a:t>f of tau</a:t>
            </a:r>
            <a:r>
              <a:rPr lang="en-US" dirty="0"/>
              <a:t> is defined as</a:t>
            </a:r>
            <a:br>
              <a:rPr lang="en-US" dirty="0"/>
            </a:br>
            <a:r>
              <a:rPr lang="en-US" b="1" dirty="0"/>
              <a:t>f of tau equals negative tau plus 2</a:t>
            </a:r>
            <a:r>
              <a:rPr lang="en-US" dirty="0"/>
              <a:t>, valid from </a:t>
            </a:r>
            <a:r>
              <a:rPr lang="en-US" b="1" dirty="0"/>
              <a:t>tau equals 0 to tau equals 2</a:t>
            </a:r>
            <a:r>
              <a:rPr lang="en-US" dirty="0"/>
              <a:t>.</a:t>
            </a:r>
          </a:p>
          <a:p>
            <a:r>
              <a:rPr lang="en-US" dirty="0"/>
              <a:t>And the flipped rectangle, </a:t>
            </a:r>
            <a:r>
              <a:rPr lang="en-US" b="1" dirty="0"/>
              <a:t>g of t minus tau</a:t>
            </a:r>
            <a:r>
              <a:rPr lang="en-US" dirty="0"/>
              <a:t>, still has a constant height of 3 wherever it overlaps.</a:t>
            </a:r>
          </a:p>
          <a:p>
            <a:r>
              <a:rPr lang="en-US" dirty="0"/>
              <a:t>So we’re integrating the product of these two functions across the overlapping interval.</a:t>
            </a:r>
          </a:p>
          <a:p>
            <a:endParaRPr lang="en-US" dirty="0"/>
          </a:p>
          <a:p>
            <a:r>
              <a:rPr lang="en-US" dirty="0"/>
              <a:t>The simplifies convolution becomes:</a:t>
            </a:r>
            <a:br>
              <a:rPr lang="en-US" dirty="0"/>
            </a:br>
            <a:r>
              <a:rPr lang="en-US" b="1" dirty="0"/>
              <a:t>3 times the integral of (–tau + 2), from 0 to 2 plus t.</a:t>
            </a:r>
            <a:endParaRPr lang="en-US" dirty="0"/>
          </a:p>
          <a:p>
            <a:r>
              <a:rPr lang="en-US" dirty="0"/>
              <a:t>If you evaluate this integral, you get:</a:t>
            </a:r>
            <a:br>
              <a:rPr lang="en-US" dirty="0"/>
            </a:br>
            <a:r>
              <a:rPr lang="en-US" b="1" dirty="0"/>
              <a:t>y of t equals negative three-halves t squared plus 6.</a:t>
            </a:r>
            <a:endParaRPr lang="en-US" dirty="0"/>
          </a:p>
          <a:p>
            <a:r>
              <a:rPr lang="en-US" dirty="0"/>
              <a:t>So the convolution result in this case is a </a:t>
            </a:r>
            <a:r>
              <a:rPr lang="en-US" b="1" dirty="0"/>
              <a:t>parabolic curve</a:t>
            </a:r>
            <a:r>
              <a:rPr lang="en-US" dirty="0"/>
              <a:t>, rising as t approaches zero.</a:t>
            </a:r>
          </a:p>
          <a:p>
            <a:endParaRPr lang="en-US" dirty="0"/>
          </a:p>
          <a:p>
            <a:r>
              <a:rPr lang="en-US" dirty="0"/>
              <a:t>This illustrates an important idea:</a:t>
            </a:r>
            <a:br>
              <a:rPr lang="en-US" dirty="0"/>
            </a:br>
            <a:r>
              <a:rPr lang="en-US" dirty="0"/>
              <a:t>Convolution is constructed from </a:t>
            </a:r>
            <a:r>
              <a:rPr lang="en-US" b="1" dirty="0"/>
              <a:t>slices of overlapping areas</a:t>
            </a:r>
            <a:r>
              <a:rPr lang="en-US" dirty="0"/>
              <a:t> —</a:t>
            </a:r>
            <a:br>
              <a:rPr lang="en-US" dirty="0"/>
            </a:br>
            <a:r>
              <a:rPr lang="en-US" dirty="0"/>
              <a:t>and in each case, we’re summing the product over those intervals of overlap.</a:t>
            </a:r>
          </a:p>
        </p:txBody>
      </p:sp>
      <p:sp>
        <p:nvSpPr>
          <p:cNvPr id="4" name="Slide Number Placeholder 3"/>
          <p:cNvSpPr>
            <a:spLocks noGrp="1"/>
          </p:cNvSpPr>
          <p:nvPr>
            <p:ph type="sldNum" sz="quarter" idx="10"/>
          </p:nvPr>
        </p:nvSpPr>
        <p:spPr/>
        <p:txBody>
          <a:bodyPr/>
          <a:lstStyle/>
          <a:p>
            <a:fld id="{16362E68-66C4-4B01-8D1F-712CF75BFD43}" type="slidenum">
              <a:rPr lang="en-US" smtClean="0"/>
              <a:pPr/>
              <a:t>30</a:t>
            </a:fld>
            <a:endParaRPr lang="en-US"/>
          </a:p>
        </p:txBody>
      </p:sp>
    </p:spTree>
    <p:extLst>
      <p:ext uri="{BB962C8B-B14F-4D97-AF65-F5344CB8AC3E}">
        <p14:creationId xmlns:p14="http://schemas.microsoft.com/office/powerpoint/2010/main" val="25799197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b="1" dirty="0"/>
              <a:t>Case 3: When t is between 0 and 2</a:t>
            </a:r>
            <a:endParaRPr lang="en-US" dirty="0"/>
          </a:p>
          <a:p>
            <a:r>
              <a:rPr lang="en-US" dirty="0"/>
              <a:t>In this case, the flipped and shifted version of </a:t>
            </a:r>
            <a:r>
              <a:rPr lang="en-US" b="1" dirty="0"/>
              <a:t>g</a:t>
            </a:r>
            <a:r>
              <a:rPr lang="en-US" dirty="0"/>
              <a:t>, that is, </a:t>
            </a:r>
            <a:r>
              <a:rPr lang="en-US" b="1" dirty="0"/>
              <a:t>g of t minus tau</a:t>
            </a:r>
            <a:r>
              <a:rPr lang="en-US" dirty="0"/>
              <a:t>,</a:t>
            </a:r>
            <a:br>
              <a:rPr lang="en-US" dirty="0"/>
            </a:br>
            <a:r>
              <a:rPr lang="en-US" b="1" dirty="0"/>
              <a:t>completely overlaps</a:t>
            </a:r>
            <a:r>
              <a:rPr lang="en-US" dirty="0"/>
              <a:t> the triangular function </a:t>
            </a:r>
            <a:r>
              <a:rPr lang="en-US" b="1" dirty="0"/>
              <a:t>f of tau</a:t>
            </a:r>
            <a:r>
              <a:rPr lang="en-US" dirty="0"/>
              <a:t>.</a:t>
            </a:r>
          </a:p>
          <a:p>
            <a:r>
              <a:rPr lang="en-US" dirty="0"/>
              <a:t>This means we integrate across the </a:t>
            </a:r>
            <a:r>
              <a:rPr lang="en-US" b="1" dirty="0"/>
              <a:t>entire support</a:t>
            </a:r>
            <a:r>
              <a:rPr lang="en-US" dirty="0"/>
              <a:t> of </a:t>
            </a:r>
            <a:r>
              <a:rPr lang="en-US" b="1" dirty="0"/>
              <a:t>f of tau</a:t>
            </a:r>
            <a:r>
              <a:rPr lang="en-US" dirty="0"/>
              <a:t>,</a:t>
            </a:r>
            <a:br>
              <a:rPr lang="en-US" dirty="0"/>
            </a:br>
            <a:r>
              <a:rPr lang="en-US" dirty="0"/>
              <a:t>from </a:t>
            </a:r>
            <a:r>
              <a:rPr lang="en-US" b="1" dirty="0"/>
              <a:t>tau equals 0 to 2</a:t>
            </a:r>
            <a:r>
              <a:rPr lang="en-US" dirty="0"/>
              <a:t>.</a:t>
            </a:r>
          </a:p>
          <a:p>
            <a:r>
              <a:rPr lang="en-US" dirty="0"/>
              <a:t>Within this interval:</a:t>
            </a:r>
          </a:p>
          <a:p>
            <a:r>
              <a:rPr lang="en-US" b="1" dirty="0"/>
              <a:t>f of tau equals negative tau plus 2</a:t>
            </a:r>
            <a:endParaRPr lang="en-US" dirty="0"/>
          </a:p>
          <a:p>
            <a:r>
              <a:rPr lang="en-US" b="1" dirty="0"/>
              <a:t>g of t minus tau</a:t>
            </a:r>
            <a:r>
              <a:rPr lang="en-US" dirty="0"/>
              <a:t> is constant at 3</a:t>
            </a:r>
          </a:p>
          <a:p>
            <a:r>
              <a:rPr lang="en-US" dirty="0"/>
              <a:t>So the convolution becomes:</a:t>
            </a:r>
            <a:br>
              <a:rPr lang="en-US" dirty="0"/>
            </a:br>
            <a:r>
              <a:rPr lang="en-US" b="1" dirty="0"/>
              <a:t>y of t equals the integral from 0 to 2 of 3 times (–tau + 2), d tau</a:t>
            </a:r>
            <a:endParaRPr lang="en-US" dirty="0"/>
          </a:p>
          <a:p>
            <a:r>
              <a:rPr lang="en-US" dirty="0"/>
              <a:t>When we evaluate this, we get:</a:t>
            </a:r>
            <a:br>
              <a:rPr lang="en-US" dirty="0"/>
            </a:br>
            <a:r>
              <a:rPr lang="en-US" b="1" dirty="0"/>
              <a:t>y of t equals 6</a:t>
            </a:r>
            <a:endParaRPr lang="en-US" dirty="0"/>
          </a:p>
          <a:p>
            <a:r>
              <a:rPr lang="en-US" dirty="0"/>
              <a:t>So, for t between 0 and 2, the convolution gives a </a:t>
            </a:r>
            <a:r>
              <a:rPr lang="en-US" b="1" dirty="0"/>
              <a:t>flat region</a:t>
            </a:r>
            <a:r>
              <a:rPr lang="en-US" dirty="0"/>
              <a:t> with a constant value of 6.</a:t>
            </a:r>
            <a:br>
              <a:rPr lang="en-US" dirty="0"/>
            </a:br>
            <a:r>
              <a:rPr lang="en-US" dirty="0"/>
              <a:t>This happens because the area under the product is the same across the entire interval.</a:t>
            </a:r>
          </a:p>
          <a:p>
            <a:endParaRPr lang="en-US" dirty="0"/>
          </a:p>
          <a:p>
            <a:r>
              <a:rPr lang="en-US" dirty="0"/>
              <a:t> </a:t>
            </a:r>
            <a:r>
              <a:rPr lang="en-US" b="1" dirty="0"/>
              <a:t>Case 4: When t is between 2 and 4</a:t>
            </a:r>
            <a:endParaRPr lang="en-US" dirty="0"/>
          </a:p>
          <a:p>
            <a:r>
              <a:rPr lang="en-US" dirty="0"/>
              <a:t>Now, </a:t>
            </a:r>
            <a:r>
              <a:rPr lang="en-US" b="1" dirty="0"/>
              <a:t>f of tau</a:t>
            </a:r>
            <a:r>
              <a:rPr lang="en-US" dirty="0"/>
              <a:t> begins to slide </a:t>
            </a:r>
            <a:r>
              <a:rPr lang="en-US" b="1" dirty="0"/>
              <a:t>out of</a:t>
            </a:r>
            <a:r>
              <a:rPr lang="en-US" dirty="0"/>
              <a:t> the rectangular window of </a:t>
            </a:r>
            <a:r>
              <a:rPr lang="en-US" b="1" dirty="0"/>
              <a:t>g of t minus tau</a:t>
            </a:r>
            <a:r>
              <a:rPr lang="en-US" dirty="0"/>
              <a:t>.</a:t>
            </a:r>
          </a:p>
          <a:p>
            <a:r>
              <a:rPr lang="en-US" dirty="0"/>
              <a:t>We’re back to a </a:t>
            </a:r>
            <a:r>
              <a:rPr lang="en-US" b="1" dirty="0"/>
              <a:t>partial overlap</a:t>
            </a:r>
            <a:r>
              <a:rPr lang="en-US" dirty="0"/>
              <a:t>, but this time on the </a:t>
            </a:r>
            <a:r>
              <a:rPr lang="en-US" b="1" dirty="0"/>
              <a:t>opposite side</a:t>
            </a:r>
            <a:r>
              <a:rPr lang="en-US" dirty="0"/>
              <a:t> —</a:t>
            </a:r>
            <a:br>
              <a:rPr lang="en-US" dirty="0"/>
            </a:br>
            <a:r>
              <a:rPr lang="en-US" dirty="0"/>
              <a:t>the right edge of </a:t>
            </a:r>
            <a:r>
              <a:rPr lang="en-US" b="1" dirty="0"/>
              <a:t>g</a:t>
            </a:r>
            <a:r>
              <a:rPr lang="en-US" dirty="0"/>
              <a:t> is moving past </a:t>
            </a:r>
            <a:r>
              <a:rPr lang="en-US" b="1" dirty="0"/>
              <a:t>f</a:t>
            </a:r>
            <a:r>
              <a:rPr lang="en-US" dirty="0"/>
              <a:t>.</a:t>
            </a:r>
          </a:p>
          <a:p>
            <a:r>
              <a:rPr lang="en-US" dirty="0"/>
              <a:t>The new overlapping interval runs from</a:t>
            </a:r>
            <a:br>
              <a:rPr lang="en-US" dirty="0"/>
            </a:br>
            <a:r>
              <a:rPr lang="en-US" b="1" dirty="0"/>
              <a:t>tau equals t minus 2</a:t>
            </a:r>
            <a:r>
              <a:rPr lang="en-US" dirty="0"/>
              <a:t> to </a:t>
            </a:r>
            <a:r>
              <a:rPr lang="en-US" b="1" dirty="0"/>
              <a:t>tau equals 2</a:t>
            </a:r>
            <a:endParaRPr lang="en-US" dirty="0"/>
          </a:p>
          <a:p>
            <a:r>
              <a:rPr lang="en-US" dirty="0"/>
              <a:t>Again, we use:</a:t>
            </a:r>
          </a:p>
          <a:p>
            <a:r>
              <a:rPr lang="en-US" b="1" dirty="0"/>
              <a:t>f of tau equals negative tau plus 2</a:t>
            </a:r>
            <a:endParaRPr lang="en-US" dirty="0"/>
          </a:p>
          <a:p>
            <a:r>
              <a:rPr lang="en-US" b="1" dirty="0"/>
              <a:t>g of t minus tau equals 3</a:t>
            </a:r>
            <a:endParaRPr lang="en-US" dirty="0"/>
          </a:p>
          <a:p>
            <a:r>
              <a:rPr lang="en-US" dirty="0"/>
              <a:t>So the convolution becomes:</a:t>
            </a:r>
            <a:br>
              <a:rPr lang="en-US" dirty="0"/>
            </a:br>
            <a:r>
              <a:rPr lang="en-US" b="1" dirty="0"/>
              <a:t>y of t equals the integral from t minus 2 to 2 of 3 times (–tau + 2), d tau</a:t>
            </a:r>
            <a:endParaRPr lang="en-US" dirty="0"/>
          </a:p>
          <a:p>
            <a:r>
              <a:rPr lang="en-US" dirty="0"/>
              <a:t>Evaluating this gives:</a:t>
            </a:r>
            <a:br>
              <a:rPr lang="en-US" dirty="0"/>
            </a:br>
            <a:r>
              <a:rPr lang="en-US" b="1" dirty="0"/>
              <a:t>y of t equals three-halves t squared minus twelve t plus 24</a:t>
            </a:r>
            <a:endParaRPr lang="en-US" dirty="0"/>
          </a:p>
          <a:p>
            <a:r>
              <a:rPr lang="en-US" dirty="0"/>
              <a:t>This result traces out the </a:t>
            </a:r>
            <a:r>
              <a:rPr lang="en-US" b="1" dirty="0"/>
              <a:t>descending part</a:t>
            </a:r>
            <a:r>
              <a:rPr lang="en-US" dirty="0"/>
              <a:t> of the convolution curve,</a:t>
            </a:r>
            <a:br>
              <a:rPr lang="en-US" dirty="0"/>
            </a:br>
            <a:r>
              <a:rPr lang="en-US" dirty="0"/>
              <a:t>as the overlap shrinks toward zero.</a:t>
            </a:r>
          </a:p>
          <a:p>
            <a:endParaRPr lang="en-US" dirty="0"/>
          </a:p>
          <a:p>
            <a:r>
              <a:rPr lang="en-US" dirty="0"/>
              <a:t> </a:t>
            </a:r>
            <a:r>
              <a:rPr lang="en-US" b="1" dirty="0"/>
              <a:t>Case 5: When t is greater than or equal to 4</a:t>
            </a:r>
            <a:endParaRPr lang="en-US" dirty="0"/>
          </a:p>
          <a:p>
            <a:r>
              <a:rPr lang="en-US" dirty="0"/>
              <a:t>At this point, </a:t>
            </a:r>
            <a:r>
              <a:rPr lang="en-US" b="1" dirty="0"/>
              <a:t>g of t minus tau</a:t>
            </a:r>
            <a:r>
              <a:rPr lang="en-US" dirty="0"/>
              <a:t> has completely moved past </a:t>
            </a:r>
            <a:r>
              <a:rPr lang="en-US" b="1" dirty="0"/>
              <a:t>f of tau</a:t>
            </a:r>
            <a:r>
              <a:rPr lang="en-US" dirty="0"/>
              <a:t>.</a:t>
            </a:r>
          </a:p>
          <a:p>
            <a:r>
              <a:rPr lang="en-US" dirty="0"/>
              <a:t>There is </a:t>
            </a:r>
            <a:r>
              <a:rPr lang="en-US" b="1" dirty="0"/>
              <a:t>no overlap</a:t>
            </a:r>
            <a:r>
              <a:rPr lang="en-US" dirty="0"/>
              <a:t> between the two functions,</a:t>
            </a:r>
            <a:br>
              <a:rPr lang="en-US" dirty="0"/>
            </a:br>
            <a:r>
              <a:rPr lang="en-US" dirty="0"/>
              <a:t>so the convolution result once again becomes:</a:t>
            </a:r>
            <a:br>
              <a:rPr lang="en-US" dirty="0"/>
            </a:br>
            <a:r>
              <a:rPr lang="en-US" b="1" dirty="0"/>
              <a:t>y of t equals 0</a:t>
            </a:r>
            <a:endParaRPr lang="en-US" dirty="0"/>
          </a:p>
        </p:txBody>
      </p:sp>
      <p:sp>
        <p:nvSpPr>
          <p:cNvPr id="4" name="Slide Number Placeholder 3"/>
          <p:cNvSpPr>
            <a:spLocks noGrp="1"/>
          </p:cNvSpPr>
          <p:nvPr>
            <p:ph type="sldNum" sz="quarter" idx="5"/>
          </p:nvPr>
        </p:nvSpPr>
        <p:spPr/>
        <p:txBody>
          <a:bodyPr/>
          <a:lstStyle/>
          <a:p>
            <a:fld id="{16362E68-66C4-4B01-8D1F-712CF75BFD43}" type="slidenum">
              <a:rPr lang="en-US" smtClean="0"/>
              <a:pPr/>
              <a:t>31</a:t>
            </a:fld>
            <a:endParaRPr lang="en-US"/>
          </a:p>
        </p:txBody>
      </p:sp>
    </p:spTree>
    <p:extLst>
      <p:ext uri="{BB962C8B-B14F-4D97-AF65-F5344CB8AC3E}">
        <p14:creationId xmlns:p14="http://schemas.microsoft.com/office/powerpoint/2010/main" val="2563117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Now, let’s bring all the cases together to write the </a:t>
            </a:r>
            <a:r>
              <a:rPr lang="en-US" b="1" dirty="0"/>
              <a:t>full piecewise definition</a:t>
            </a:r>
            <a:r>
              <a:rPr lang="en-US" dirty="0"/>
              <a:t> of the convolution result.</a:t>
            </a:r>
          </a:p>
          <a:p>
            <a:r>
              <a:rPr lang="en-US" dirty="0"/>
              <a:t>We’ve carefully stepped through five distinct intervals,</a:t>
            </a:r>
            <a:br>
              <a:rPr lang="en-US" dirty="0"/>
            </a:br>
            <a:r>
              <a:rPr lang="en-US" dirty="0"/>
              <a:t>each showing how the </a:t>
            </a:r>
            <a:r>
              <a:rPr lang="en-US" b="1" dirty="0"/>
              <a:t>amount of overlap</a:t>
            </a:r>
            <a:r>
              <a:rPr lang="en-US" dirty="0"/>
              <a:t> between </a:t>
            </a:r>
            <a:r>
              <a:rPr lang="en-US" b="1" dirty="0"/>
              <a:t>f of t</a:t>
            </a:r>
            <a:r>
              <a:rPr lang="en-US" dirty="0"/>
              <a:t> and </a:t>
            </a:r>
            <a:r>
              <a:rPr lang="en-US" b="1" dirty="0"/>
              <a:t>g of t</a:t>
            </a:r>
            <a:r>
              <a:rPr lang="en-US" dirty="0"/>
              <a:t> determines the value of the convolution.</a:t>
            </a:r>
          </a:p>
          <a:p>
            <a:r>
              <a:rPr lang="en-US" dirty="0"/>
              <a:t>Putting everything together, we now have the </a:t>
            </a:r>
            <a:r>
              <a:rPr lang="en-US" b="1" dirty="0"/>
              <a:t>complete solution</a:t>
            </a:r>
            <a:r>
              <a:rPr lang="en-US" dirty="0"/>
              <a:t>.</a:t>
            </a:r>
          </a:p>
          <a:p>
            <a:endParaRPr lang="en-US" dirty="0"/>
          </a:p>
          <a:p>
            <a:r>
              <a:rPr lang="en-US" dirty="0"/>
              <a:t>Each case — from full overlap, to partial overlap, to no overlap —</a:t>
            </a:r>
            <a:br>
              <a:rPr lang="en-US" dirty="0"/>
            </a:br>
            <a:r>
              <a:rPr lang="en-US" dirty="0"/>
              <a:t>contributes a </a:t>
            </a:r>
            <a:r>
              <a:rPr lang="en-US" b="1" dirty="0"/>
              <a:t>segment of the final output</a:t>
            </a:r>
            <a:r>
              <a:rPr lang="en-US" dirty="0"/>
              <a:t>.</a:t>
            </a:r>
          </a:p>
          <a:p>
            <a:endParaRPr lang="en-US" dirty="0"/>
          </a:p>
          <a:p>
            <a:r>
              <a:rPr lang="en-US" dirty="0"/>
              <a:t>This leads to a </a:t>
            </a:r>
            <a:r>
              <a:rPr lang="en-US" b="1" dirty="0"/>
              <a:t>piecewise-defined function</a:t>
            </a:r>
            <a:r>
              <a:rPr lang="en-US" dirty="0"/>
              <a:t>, expressed as follows:</a:t>
            </a:r>
          </a:p>
          <a:p>
            <a:r>
              <a:rPr lang="en-US" b="1" dirty="0"/>
              <a:t>y of t equals 0</a:t>
            </a:r>
            <a:r>
              <a:rPr lang="en-US" dirty="0"/>
              <a:t>,          for </a:t>
            </a:r>
            <a:r>
              <a:rPr lang="en-US" b="1" dirty="0"/>
              <a:t>t less than –2</a:t>
            </a:r>
            <a:endParaRPr lang="en-US" dirty="0"/>
          </a:p>
          <a:p>
            <a:r>
              <a:rPr lang="en-US" b="1" dirty="0"/>
              <a:t>y of t equals –three-halves t squared plus 6</a:t>
            </a:r>
            <a:r>
              <a:rPr lang="en-US" dirty="0"/>
              <a:t>, for </a:t>
            </a:r>
            <a:r>
              <a:rPr lang="en-US" b="1" dirty="0"/>
              <a:t>t between –2 and 0</a:t>
            </a:r>
            <a:endParaRPr lang="en-US" dirty="0"/>
          </a:p>
          <a:p>
            <a:r>
              <a:rPr lang="en-US" b="1" dirty="0"/>
              <a:t>y of t equals 6</a:t>
            </a:r>
            <a:r>
              <a:rPr lang="en-US" dirty="0"/>
              <a:t>,             for </a:t>
            </a:r>
            <a:r>
              <a:rPr lang="en-US" b="1" dirty="0"/>
              <a:t>t between 0 and 2</a:t>
            </a:r>
            <a:endParaRPr lang="en-US" dirty="0"/>
          </a:p>
          <a:p>
            <a:r>
              <a:rPr lang="en-US" b="1" dirty="0"/>
              <a:t>y of t equals three-halves t squared minus 12 t plus 24</a:t>
            </a:r>
            <a:r>
              <a:rPr lang="en-US" dirty="0"/>
              <a:t>, for </a:t>
            </a:r>
            <a:r>
              <a:rPr lang="en-US" b="1" dirty="0"/>
              <a:t>t between 2 and 4</a:t>
            </a:r>
            <a:endParaRPr lang="en-US" dirty="0"/>
          </a:p>
          <a:p>
            <a:r>
              <a:rPr lang="en-US" b="1" dirty="0"/>
              <a:t>y of t equals 0</a:t>
            </a:r>
            <a:r>
              <a:rPr lang="en-US" dirty="0"/>
              <a:t>,          for </a:t>
            </a:r>
            <a:r>
              <a:rPr lang="en-US" b="1" dirty="0"/>
              <a:t>t greater than or equal to 4</a:t>
            </a:r>
            <a:endParaRPr lang="en-US" dirty="0"/>
          </a:p>
          <a:p>
            <a:r>
              <a:rPr lang="en-US" dirty="0"/>
              <a:t>When we plot these expressions, we get a </a:t>
            </a:r>
            <a:r>
              <a:rPr lang="en-US" b="1" dirty="0"/>
              <a:t>smooth, continuous curve</a:t>
            </a:r>
            <a:r>
              <a:rPr lang="en-US" dirty="0"/>
              <a:t> —</a:t>
            </a:r>
            <a:br>
              <a:rPr lang="en-US" dirty="0"/>
            </a:br>
            <a:r>
              <a:rPr lang="en-US" dirty="0"/>
              <a:t>it rises, flattens out in the middle, and then gradually falls again.</a:t>
            </a:r>
            <a:br>
              <a:rPr lang="en-US" dirty="0"/>
            </a:br>
            <a:r>
              <a:rPr lang="en-US" dirty="0"/>
              <a:t>It forms a kind of </a:t>
            </a:r>
            <a:r>
              <a:rPr lang="en-US" b="1" dirty="0"/>
              <a:t>bump</a:t>
            </a:r>
            <a:r>
              <a:rPr lang="en-US" dirty="0"/>
              <a:t>, which is exactly what we expect</a:t>
            </a:r>
            <a:br>
              <a:rPr lang="en-US" dirty="0"/>
            </a:br>
            <a:r>
              <a:rPr lang="en-US" dirty="0"/>
              <a:t>as </a:t>
            </a:r>
            <a:r>
              <a:rPr lang="en-US" b="1" dirty="0"/>
              <a:t>g of t</a:t>
            </a:r>
            <a:r>
              <a:rPr lang="en-US" dirty="0"/>
              <a:t> slides over and past </a:t>
            </a:r>
            <a:r>
              <a:rPr lang="en-US" b="1" dirty="0"/>
              <a:t>f of t</a:t>
            </a:r>
            <a:r>
              <a:rPr lang="en-US" dirty="0"/>
              <a:t>.</a:t>
            </a:r>
          </a:p>
          <a:p>
            <a:endParaRPr lang="en-US" dirty="0"/>
          </a:p>
          <a:p>
            <a:r>
              <a:rPr lang="en-US" dirty="0"/>
              <a:t>This example gives us a </a:t>
            </a:r>
            <a:r>
              <a:rPr lang="en-US" b="1" dirty="0"/>
              <a:t>complete, mathematical walkthrough</a:t>
            </a:r>
            <a:r>
              <a:rPr lang="en-US" dirty="0"/>
              <a:t> of </a:t>
            </a:r>
            <a:r>
              <a:rPr lang="en-US" b="1" dirty="0"/>
              <a:t>continuous convolution</a:t>
            </a:r>
            <a:r>
              <a:rPr lang="en-US" dirty="0"/>
              <a:t> —</a:t>
            </a:r>
            <a:br>
              <a:rPr lang="en-US" dirty="0"/>
            </a:br>
            <a:r>
              <a:rPr lang="en-US" dirty="0"/>
              <a:t>from defining the problem, to analyzing it case by case, to combining all pieces into the final solution.</a:t>
            </a:r>
          </a:p>
          <a:p>
            <a:r>
              <a:rPr lang="en-US" dirty="0"/>
              <a:t>It beautifully demonstrates how convolution is built:</a:t>
            </a:r>
            <a:br>
              <a:rPr lang="en-US" dirty="0"/>
            </a:br>
            <a:r>
              <a:rPr lang="en-US" dirty="0"/>
              <a:t>by accumulating the </a:t>
            </a:r>
            <a:r>
              <a:rPr lang="en-US" b="1" dirty="0"/>
              <a:t>area under the product</a:t>
            </a:r>
            <a:r>
              <a:rPr lang="en-US" dirty="0"/>
              <a:t> of two functions —</a:t>
            </a:r>
            <a:br>
              <a:rPr lang="en-US" dirty="0"/>
            </a:br>
            <a:r>
              <a:rPr lang="en-US" dirty="0"/>
              <a:t>each one </a:t>
            </a:r>
            <a:r>
              <a:rPr lang="en-US" b="1" dirty="0"/>
              <a:t>flipped</a:t>
            </a:r>
            <a:r>
              <a:rPr lang="en-US" dirty="0"/>
              <a:t>, </a:t>
            </a:r>
            <a:r>
              <a:rPr lang="en-US" b="1" dirty="0"/>
              <a:t>shifted</a:t>
            </a:r>
            <a:r>
              <a:rPr lang="en-US" dirty="0"/>
              <a:t>, </a:t>
            </a:r>
            <a:r>
              <a:rPr lang="en-US" b="1" dirty="0"/>
              <a:t>multiplied</a:t>
            </a:r>
            <a:r>
              <a:rPr lang="en-US" dirty="0"/>
              <a:t>, and then </a:t>
            </a:r>
            <a:r>
              <a:rPr lang="en-US" b="1" dirty="0"/>
              <a:t>integrated</a:t>
            </a:r>
            <a:r>
              <a:rPr lang="en-US" dirty="0"/>
              <a:t>, step by step.</a:t>
            </a:r>
          </a:p>
          <a:p>
            <a:r>
              <a:rPr lang="en-US" dirty="0"/>
              <a:t>It’s a powerful blend of </a:t>
            </a:r>
            <a:r>
              <a:rPr lang="en-US" b="1" dirty="0"/>
              <a:t>geometry and calculus</a:t>
            </a:r>
            <a:r>
              <a:rPr lang="en-US" dirty="0"/>
              <a:t>,</a:t>
            </a:r>
            <a:br>
              <a:rPr lang="en-US" dirty="0"/>
            </a:br>
            <a:r>
              <a:rPr lang="en-US" dirty="0"/>
              <a:t>and it’s absolutely foundational in </a:t>
            </a:r>
            <a:r>
              <a:rPr lang="en-US" b="1" dirty="0"/>
              <a:t>signal processing</a:t>
            </a:r>
            <a:r>
              <a:rPr lang="en-US" dirty="0"/>
              <a:t> and </a:t>
            </a:r>
            <a:r>
              <a:rPr lang="en-US" b="1" dirty="0"/>
              <a:t>medical imaging</a:t>
            </a:r>
            <a:r>
              <a:rPr lang="en-US" dirty="0"/>
              <a:t>.</a:t>
            </a:r>
          </a:p>
          <a:p>
            <a:endParaRPr lang="en-US" dirty="0"/>
          </a:p>
        </p:txBody>
      </p:sp>
      <p:sp>
        <p:nvSpPr>
          <p:cNvPr id="4" name="Slide Number Placeholder 3"/>
          <p:cNvSpPr>
            <a:spLocks noGrp="1"/>
          </p:cNvSpPr>
          <p:nvPr>
            <p:ph type="sldNum" sz="quarter" idx="5"/>
          </p:nvPr>
        </p:nvSpPr>
        <p:spPr/>
        <p:txBody>
          <a:bodyPr/>
          <a:lstStyle/>
          <a:p>
            <a:fld id="{16362E68-66C4-4B01-8D1F-712CF75BFD43}" type="slidenum">
              <a:rPr lang="en-US" smtClean="0"/>
              <a:pPr/>
              <a:t>32</a:t>
            </a:fld>
            <a:endParaRPr lang="en-US"/>
          </a:p>
        </p:txBody>
      </p:sp>
    </p:spTree>
    <p:extLst>
      <p:ext uri="{BB962C8B-B14F-4D97-AF65-F5344CB8AC3E}">
        <p14:creationId xmlns:p14="http://schemas.microsoft.com/office/powerpoint/2010/main" val="27425258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Now, let’s look at a </a:t>
            </a:r>
            <a:r>
              <a:rPr lang="en-US" b="1" dirty="0"/>
              <a:t>practical example</a:t>
            </a:r>
            <a:r>
              <a:rPr lang="en-US" dirty="0"/>
              <a:t> that ties all of this together — the </a:t>
            </a:r>
            <a:r>
              <a:rPr lang="en-US" b="1" dirty="0"/>
              <a:t>RC circuit</a:t>
            </a:r>
            <a:r>
              <a:rPr lang="en-US" dirty="0"/>
              <a:t>.</a:t>
            </a:r>
          </a:p>
          <a:p>
            <a:r>
              <a:rPr lang="en-US" dirty="0"/>
              <a:t>If you’re not familiar with electrical circuits, don’t worry.</a:t>
            </a:r>
            <a:br>
              <a:rPr lang="en-US" dirty="0"/>
            </a:br>
            <a:r>
              <a:rPr lang="en-US" dirty="0"/>
              <a:t>For our purposes, you can think of this setup as a </a:t>
            </a:r>
            <a:r>
              <a:rPr lang="en-US" b="1" dirty="0"/>
              <a:t>black box</a:t>
            </a:r>
            <a:r>
              <a:rPr lang="en-US" dirty="0"/>
              <a:t>.</a:t>
            </a:r>
            <a:br>
              <a:rPr lang="en-US" dirty="0"/>
            </a:br>
            <a:r>
              <a:rPr lang="en-US" dirty="0"/>
              <a:t>The </a:t>
            </a:r>
            <a:r>
              <a:rPr lang="en-US" b="1" dirty="0"/>
              <a:t>input</a:t>
            </a:r>
            <a:r>
              <a:rPr lang="en-US" dirty="0"/>
              <a:t> is a signal, and the </a:t>
            </a:r>
            <a:r>
              <a:rPr lang="en-US" b="1" dirty="0"/>
              <a:t>output</a:t>
            </a:r>
            <a:r>
              <a:rPr lang="en-US" dirty="0"/>
              <a:t> depends on the system’s behavior — specifically, its </a:t>
            </a:r>
            <a:r>
              <a:rPr lang="en-US" b="1" dirty="0"/>
              <a:t>impulse response</a:t>
            </a:r>
            <a:r>
              <a:rPr lang="en-US" dirty="0"/>
              <a:t>.</a:t>
            </a:r>
          </a:p>
          <a:p>
            <a:r>
              <a:rPr lang="en-US" dirty="0"/>
              <a:t>In this circuit, we have a </a:t>
            </a:r>
            <a:r>
              <a:rPr lang="en-US" b="1" dirty="0"/>
              <a:t>resistor R</a:t>
            </a:r>
            <a:r>
              <a:rPr lang="en-US" dirty="0"/>
              <a:t> and a </a:t>
            </a:r>
            <a:r>
              <a:rPr lang="en-US" b="1" dirty="0"/>
              <a:t>capacitor C</a:t>
            </a:r>
            <a:r>
              <a:rPr lang="en-US" dirty="0"/>
              <a:t> connected in series.</a:t>
            </a:r>
            <a:br>
              <a:rPr lang="en-US" dirty="0"/>
            </a:br>
            <a:r>
              <a:rPr lang="en-US" dirty="0"/>
              <a:t>The voltage signal going in is </a:t>
            </a:r>
            <a:r>
              <a:rPr lang="en-US" b="1" dirty="0"/>
              <a:t>x of t</a:t>
            </a:r>
            <a:r>
              <a:rPr lang="en-US" dirty="0"/>
              <a:t>, and the voltage across the capacitor is the output </a:t>
            </a:r>
            <a:r>
              <a:rPr lang="en-US" b="1" dirty="0"/>
              <a:t>y of t</a:t>
            </a:r>
            <a:r>
              <a:rPr lang="en-US" dirty="0"/>
              <a:t>.</a:t>
            </a:r>
          </a:p>
          <a:p>
            <a:r>
              <a:rPr lang="en-US" dirty="0"/>
              <a:t>Now here’s the key point:</a:t>
            </a:r>
            <a:br>
              <a:rPr lang="en-US" dirty="0"/>
            </a:br>
            <a:r>
              <a:rPr lang="en-US" dirty="0"/>
              <a:t>If we apply a </a:t>
            </a:r>
            <a:r>
              <a:rPr lang="en-US" b="1" dirty="0"/>
              <a:t>delta function</a:t>
            </a:r>
            <a:r>
              <a:rPr lang="en-US" dirty="0"/>
              <a:t> as the input — meaning a sharp, instantaneous impulse —</a:t>
            </a:r>
            <a:br>
              <a:rPr lang="en-US" dirty="0"/>
            </a:br>
            <a:r>
              <a:rPr lang="en-US" dirty="0"/>
              <a:t>the output is the circuit’s </a:t>
            </a:r>
            <a:r>
              <a:rPr lang="en-US" b="1" dirty="0"/>
              <a:t>impulse response</a:t>
            </a:r>
            <a:r>
              <a:rPr lang="en-US" dirty="0"/>
              <a:t>, denoted </a:t>
            </a:r>
            <a:r>
              <a:rPr lang="en-US" b="1" dirty="0"/>
              <a:t>h of t</a:t>
            </a:r>
            <a:r>
              <a:rPr lang="en-US" dirty="0"/>
              <a:t>.</a:t>
            </a:r>
          </a:p>
          <a:p>
            <a:endParaRPr lang="en-US" dirty="0"/>
          </a:p>
          <a:p>
            <a:r>
              <a:rPr lang="en-US" dirty="0"/>
              <a:t>The h of t of the RC circuit is a </a:t>
            </a:r>
            <a:r>
              <a:rPr lang="en-US" b="1" dirty="0"/>
              <a:t>decaying exponential</a:t>
            </a:r>
            <a:r>
              <a:rPr lang="en-US" dirty="0"/>
              <a:t>. It tells us how the circuit reacts over time after a sudden input.</a:t>
            </a:r>
          </a:p>
          <a:p>
            <a:r>
              <a:rPr lang="en-US" dirty="0"/>
              <a:t>But what happens if we apply a more general input — like a square pulse or a step function?</a:t>
            </a:r>
          </a:p>
          <a:p>
            <a:r>
              <a:rPr lang="en-US" dirty="0"/>
              <a:t>Well, just like we learned, we can </a:t>
            </a:r>
            <a:r>
              <a:rPr lang="en-US" b="1" dirty="0"/>
              <a:t>decompose that input</a:t>
            </a:r>
            <a:r>
              <a:rPr lang="en-US" dirty="0"/>
              <a:t> into a sum of small impulse components.</a:t>
            </a:r>
            <a:br>
              <a:rPr lang="en-US" dirty="0"/>
            </a:br>
            <a:r>
              <a:rPr lang="en-US" dirty="0"/>
              <a:t>Each tiny impulse generates a scaled copy of the impulse response, and the total output is the </a:t>
            </a:r>
            <a:r>
              <a:rPr lang="en-US" b="1" dirty="0"/>
              <a:t>convolution</a:t>
            </a:r>
            <a:r>
              <a:rPr lang="en-US" dirty="0"/>
              <a:t> of the input and h of t.</a:t>
            </a:r>
          </a:p>
          <a:p>
            <a:endParaRPr lang="en-US" dirty="0"/>
          </a:p>
          <a:p>
            <a:r>
              <a:rPr lang="en-US" dirty="0"/>
              <a:t>We can see this visually on the right:</a:t>
            </a:r>
            <a:br>
              <a:rPr lang="en-US" dirty="0"/>
            </a:br>
            <a:r>
              <a:rPr lang="en-US" dirty="0"/>
              <a:t>Different inputs — like short pulses or longer ones — are convolved with </a:t>
            </a:r>
            <a:r>
              <a:rPr lang="en-US" b="1" dirty="0"/>
              <a:t>h of t</a:t>
            </a:r>
            <a:r>
              <a:rPr lang="en-US" dirty="0"/>
              <a:t>,</a:t>
            </a:r>
            <a:br>
              <a:rPr lang="en-US" dirty="0"/>
            </a:br>
            <a:r>
              <a:rPr lang="en-US" dirty="0"/>
              <a:t>and the resulting output curves </a:t>
            </a:r>
            <a:r>
              <a:rPr lang="en-US" b="1" dirty="0"/>
              <a:t>smoothly reflect how the circuit responds over time</a:t>
            </a:r>
            <a:r>
              <a:rPr lang="en-US" dirty="0"/>
              <a:t>.</a:t>
            </a:r>
          </a:p>
          <a:p>
            <a:r>
              <a:rPr lang="en-US" dirty="0"/>
              <a:t>Try experimenting with this in MATLAB or Python.</a:t>
            </a:r>
            <a:br>
              <a:rPr lang="en-US" dirty="0"/>
            </a:br>
            <a:r>
              <a:rPr lang="en-US" dirty="0"/>
              <a:t>Decompose the signal, apply convolution, and see how the </a:t>
            </a:r>
            <a:r>
              <a:rPr lang="en-US" b="1" dirty="0"/>
              <a:t>shape of the output curve</a:t>
            </a:r>
            <a:r>
              <a:rPr lang="en-US" dirty="0"/>
              <a:t> emerges naturally.</a:t>
            </a:r>
          </a:p>
          <a:p>
            <a:r>
              <a:rPr lang="en-US" dirty="0"/>
              <a:t>This kind of modeling is not just useful for circuits — it’s a powerful tool in </a:t>
            </a:r>
            <a:r>
              <a:rPr lang="en-US" b="1" dirty="0"/>
              <a:t>medical imaging</a:t>
            </a:r>
            <a:r>
              <a:rPr lang="en-US" dirty="0"/>
              <a:t>, </a:t>
            </a:r>
            <a:r>
              <a:rPr lang="en-US" b="1" dirty="0"/>
              <a:t>signal filtering</a:t>
            </a:r>
            <a:r>
              <a:rPr lang="en-US" dirty="0"/>
              <a:t>, and </a:t>
            </a:r>
            <a:r>
              <a:rPr lang="en-US" b="1" dirty="0"/>
              <a:t>physiological modeling</a:t>
            </a:r>
            <a:r>
              <a:rPr lang="en-US" dirty="0"/>
              <a:t>, where systems respond to inputs in time-dependent ways.</a:t>
            </a:r>
          </a:p>
        </p:txBody>
      </p:sp>
      <p:sp>
        <p:nvSpPr>
          <p:cNvPr id="4" name="Slide Number Placeholder 3"/>
          <p:cNvSpPr>
            <a:spLocks noGrp="1"/>
          </p:cNvSpPr>
          <p:nvPr>
            <p:ph type="sldNum" sz="quarter" idx="5"/>
          </p:nvPr>
        </p:nvSpPr>
        <p:spPr/>
        <p:txBody>
          <a:bodyPr/>
          <a:lstStyle/>
          <a:p>
            <a:fld id="{16362E68-66C4-4B01-8D1F-712CF75BFD43}" type="slidenum">
              <a:rPr lang="en-US" smtClean="0"/>
              <a:pPr/>
              <a:t>33</a:t>
            </a:fld>
            <a:endParaRPr lang="en-US"/>
          </a:p>
        </p:txBody>
      </p:sp>
    </p:spTree>
    <p:extLst>
      <p:ext uri="{BB962C8B-B14F-4D97-AF65-F5344CB8AC3E}">
        <p14:creationId xmlns:p14="http://schemas.microsoft.com/office/powerpoint/2010/main" val="3642057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Now that you understand how </a:t>
            </a:r>
            <a:r>
              <a:rPr lang="en-US" b="1" dirty="0"/>
              <a:t>1D convolution</a:t>
            </a:r>
            <a:r>
              <a:rPr lang="en-US" dirty="0"/>
              <a:t> works,</a:t>
            </a:r>
            <a:br>
              <a:rPr lang="en-US" dirty="0"/>
            </a:br>
            <a:r>
              <a:rPr lang="en-US" dirty="0"/>
              <a:t>it’s actually quite easy to extend the idea to </a:t>
            </a:r>
            <a:r>
              <a:rPr lang="en-US" b="1" dirty="0"/>
              <a:t>two dimensions</a:t>
            </a:r>
            <a:r>
              <a:rPr lang="en-US" dirty="0"/>
              <a:t>, especially when working with </a:t>
            </a:r>
            <a:r>
              <a:rPr lang="en-US" b="1" dirty="0"/>
              <a:t>images</a:t>
            </a:r>
            <a:r>
              <a:rPr lang="en-US" dirty="0"/>
              <a:t>.</a:t>
            </a:r>
          </a:p>
          <a:p>
            <a:endParaRPr lang="en-US" dirty="0"/>
          </a:p>
          <a:p>
            <a:r>
              <a:rPr lang="en-US" dirty="0"/>
              <a:t>In </a:t>
            </a:r>
            <a:r>
              <a:rPr lang="en-US" b="1" dirty="0"/>
              <a:t>2D convolution</a:t>
            </a:r>
            <a:r>
              <a:rPr lang="en-US" dirty="0"/>
              <a:t>, you’re essentially applying the same process —</a:t>
            </a:r>
            <a:br>
              <a:rPr lang="en-US" dirty="0"/>
            </a:br>
            <a:r>
              <a:rPr lang="en-US" dirty="0"/>
              <a:t>but now, instead of just one variable like </a:t>
            </a:r>
            <a:r>
              <a:rPr lang="en-US" b="1" dirty="0"/>
              <a:t>t</a:t>
            </a:r>
            <a:r>
              <a:rPr lang="en-US" dirty="0"/>
              <a:t>, you’re working with two:</a:t>
            </a:r>
            <a:br>
              <a:rPr lang="en-US" dirty="0"/>
            </a:br>
            <a:r>
              <a:rPr lang="en-US" b="1" dirty="0"/>
              <a:t>x and y</a:t>
            </a:r>
            <a:r>
              <a:rPr lang="en-US" dirty="0"/>
              <a:t> in the discrete case, or </a:t>
            </a:r>
            <a:r>
              <a:rPr lang="en-US" b="1" dirty="0"/>
              <a:t>tau one and tau two</a:t>
            </a:r>
            <a:r>
              <a:rPr lang="en-US" dirty="0"/>
              <a:t> in the continuous case.</a:t>
            </a:r>
          </a:p>
          <a:p>
            <a:endParaRPr lang="en-US" dirty="0"/>
          </a:p>
          <a:p>
            <a:r>
              <a:rPr lang="en-US" dirty="0"/>
              <a:t>Let’s take a look at the discrete form first.</a:t>
            </a:r>
          </a:p>
          <a:p>
            <a:r>
              <a:rPr lang="en-US" dirty="0"/>
              <a:t>We can see the formula at the top of the slide:</a:t>
            </a:r>
          </a:p>
          <a:p>
            <a:r>
              <a:rPr lang="en-US" b="1" dirty="0"/>
              <a:t>f of x, y convolved with g of x, y</a:t>
            </a:r>
            <a:r>
              <a:rPr lang="en-US" dirty="0"/>
              <a:t> equals the double sum</a:t>
            </a:r>
            <a:br>
              <a:rPr lang="en-US" dirty="0"/>
            </a:br>
            <a:r>
              <a:rPr lang="en-US" dirty="0"/>
              <a:t>over </a:t>
            </a:r>
            <a:r>
              <a:rPr lang="en-US" b="1" dirty="0"/>
              <a:t>n 1 and n 2</a:t>
            </a:r>
            <a:r>
              <a:rPr lang="en-US" dirty="0"/>
              <a:t> of </a:t>
            </a:r>
            <a:r>
              <a:rPr lang="en-US" b="1" dirty="0"/>
              <a:t>f at n 1, n 2</a:t>
            </a:r>
            <a:r>
              <a:rPr lang="en-US" dirty="0"/>
              <a:t> times </a:t>
            </a:r>
            <a:r>
              <a:rPr lang="en-US" b="1" dirty="0"/>
              <a:t>g at x minus n 1, y minus n 1</a:t>
            </a:r>
            <a:r>
              <a:rPr lang="en-US" dirty="0"/>
              <a:t>.</a:t>
            </a:r>
          </a:p>
          <a:p>
            <a:r>
              <a:rPr lang="en-US" dirty="0"/>
              <a:t>Just like in 1D, we flip the kernel, shift it, multiply, and sum —</a:t>
            </a:r>
            <a:br>
              <a:rPr lang="en-US" dirty="0"/>
            </a:br>
            <a:r>
              <a:rPr lang="en-US" dirty="0"/>
              <a:t>but now we do this across both </a:t>
            </a:r>
            <a:r>
              <a:rPr lang="en-US" b="1" dirty="0"/>
              <a:t>rows and columns</a:t>
            </a:r>
            <a:r>
              <a:rPr lang="en-US" dirty="0"/>
              <a:t>.</a:t>
            </a:r>
          </a:p>
          <a:p>
            <a:r>
              <a:rPr lang="en-US" dirty="0"/>
              <a:t>In the </a:t>
            </a:r>
            <a:r>
              <a:rPr lang="en-US" b="1" dirty="0"/>
              <a:t>continuous case</a:t>
            </a:r>
            <a:r>
              <a:rPr lang="en-US" dirty="0"/>
              <a:t>, we do the same thing using integrals.</a:t>
            </a:r>
            <a:br>
              <a:rPr lang="en-US" dirty="0"/>
            </a:br>
            <a:r>
              <a:rPr lang="en-US" dirty="0"/>
              <a:t>We integrate over both variables — </a:t>
            </a:r>
            <a:r>
              <a:rPr lang="en-US" b="1" dirty="0"/>
              <a:t>tau one and tau two</a:t>
            </a:r>
            <a:r>
              <a:rPr lang="en-US" dirty="0"/>
              <a:t> —</a:t>
            </a:r>
            <a:br>
              <a:rPr lang="en-US" dirty="0"/>
            </a:br>
            <a:r>
              <a:rPr lang="en-US" dirty="0"/>
              <a:t>to compute the total area under the product.</a:t>
            </a:r>
          </a:p>
          <a:p>
            <a:endParaRPr lang="en-US" dirty="0"/>
          </a:p>
          <a:p>
            <a:r>
              <a:rPr lang="en-US" dirty="0"/>
              <a:t>So the core principle stays the same:</a:t>
            </a:r>
            <a:br>
              <a:rPr lang="en-US" dirty="0"/>
            </a:br>
            <a:r>
              <a:rPr lang="en-US" b="1" dirty="0"/>
              <a:t>Flip, shift, multiply, and sum or integrate</a:t>
            </a:r>
            <a:r>
              <a:rPr lang="en-US" dirty="0"/>
              <a:t> —</a:t>
            </a:r>
            <a:br>
              <a:rPr lang="en-US" dirty="0"/>
            </a:br>
            <a:r>
              <a:rPr lang="en-US" dirty="0"/>
              <a:t>but now it happens in </a:t>
            </a:r>
            <a:r>
              <a:rPr lang="en-US" b="1" dirty="0"/>
              <a:t>two directions at once</a:t>
            </a:r>
            <a:r>
              <a:rPr lang="en-US" dirty="0"/>
              <a:t>, across a 2D grid or surface.</a:t>
            </a:r>
          </a:p>
          <a:p>
            <a:r>
              <a:rPr lang="en-US" dirty="0"/>
              <a:t>This extension is especially important in </a:t>
            </a:r>
            <a:r>
              <a:rPr lang="en-US" b="1" dirty="0"/>
              <a:t>image processing</a:t>
            </a:r>
            <a:r>
              <a:rPr lang="en-US" dirty="0"/>
              <a:t> and </a:t>
            </a:r>
            <a:r>
              <a:rPr lang="en-US" b="1" dirty="0"/>
              <a:t>medical imaging</a:t>
            </a:r>
            <a:r>
              <a:rPr lang="en-US" dirty="0"/>
              <a:t>,</a:t>
            </a:r>
            <a:br>
              <a:rPr lang="en-US" dirty="0"/>
            </a:br>
            <a:r>
              <a:rPr lang="en-US" dirty="0"/>
              <a:t>where we often apply filters, masks, or system responses across 2D signals like slices or projection data.</a:t>
            </a:r>
          </a:p>
          <a:p>
            <a:r>
              <a:rPr lang="en-US" dirty="0"/>
              <a:t>Whether you’re summing or integrating,</a:t>
            </a:r>
            <a:br>
              <a:rPr lang="en-US" dirty="0"/>
            </a:br>
            <a:r>
              <a:rPr lang="en-US" dirty="0"/>
              <a:t>convolution gives you a systematic way to model how a signal transforms when passed through a system.</a:t>
            </a:r>
          </a:p>
        </p:txBody>
      </p:sp>
      <p:sp>
        <p:nvSpPr>
          <p:cNvPr id="4" name="Slide Number Placeholder 3"/>
          <p:cNvSpPr>
            <a:spLocks noGrp="1"/>
          </p:cNvSpPr>
          <p:nvPr>
            <p:ph type="sldNum" sz="quarter" idx="5"/>
          </p:nvPr>
        </p:nvSpPr>
        <p:spPr/>
        <p:txBody>
          <a:bodyPr/>
          <a:lstStyle/>
          <a:p>
            <a:fld id="{16362E68-66C4-4B01-8D1F-712CF75BFD43}" type="slidenum">
              <a:rPr lang="en-US" smtClean="0"/>
              <a:pPr/>
              <a:t>34</a:t>
            </a:fld>
            <a:endParaRPr lang="en-US"/>
          </a:p>
        </p:txBody>
      </p:sp>
    </p:spTree>
    <p:extLst>
      <p:ext uri="{BB962C8B-B14F-4D97-AF65-F5344CB8AC3E}">
        <p14:creationId xmlns:p14="http://schemas.microsoft.com/office/powerpoint/2010/main" val="17648637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In imaging, </a:t>
            </a:r>
            <a:r>
              <a:rPr lang="en-US" b="1" dirty="0"/>
              <a:t>2D convolution</a:t>
            </a:r>
            <a:r>
              <a:rPr lang="en-US" dirty="0"/>
              <a:t> is a powerful tool for modeling </a:t>
            </a:r>
            <a:r>
              <a:rPr lang="en-US" b="1" dirty="0"/>
              <a:t>blurring</a:t>
            </a:r>
            <a:r>
              <a:rPr lang="en-US" dirty="0"/>
              <a:t>.</a:t>
            </a:r>
          </a:p>
          <a:p>
            <a:r>
              <a:rPr lang="en-US" dirty="0"/>
              <a:t>Let’s take a look at how this works using a simple example.</a:t>
            </a:r>
          </a:p>
          <a:p>
            <a:r>
              <a:rPr lang="en-US" dirty="0"/>
              <a:t>On the left, we see an </a:t>
            </a:r>
            <a:r>
              <a:rPr lang="en-US" b="1" dirty="0"/>
              <a:t>input image</a:t>
            </a:r>
            <a:r>
              <a:rPr lang="en-US" dirty="0"/>
              <a:t> represented as a matrix of pixel intensities.</a:t>
            </a:r>
            <a:br>
              <a:rPr lang="en-US" dirty="0"/>
            </a:br>
            <a:r>
              <a:rPr lang="en-US" dirty="0"/>
              <a:t>Each number corresponds to the brightness level of a pixel.</a:t>
            </a:r>
          </a:p>
          <a:p>
            <a:r>
              <a:rPr lang="en-US" dirty="0"/>
              <a:t>In the middle, we see a </a:t>
            </a:r>
            <a:r>
              <a:rPr lang="en-US" b="1" dirty="0"/>
              <a:t>3 by 3 averaging mask</a:t>
            </a:r>
            <a:r>
              <a:rPr lang="en-US" dirty="0"/>
              <a:t>.</a:t>
            </a:r>
            <a:br>
              <a:rPr lang="en-US" dirty="0"/>
            </a:br>
            <a:r>
              <a:rPr lang="en-US" dirty="0"/>
              <a:t>All entries are 1, and we divide the result by 9 —</a:t>
            </a:r>
            <a:br>
              <a:rPr lang="en-US" dirty="0"/>
            </a:br>
            <a:r>
              <a:rPr lang="en-US" dirty="0"/>
              <a:t>which means we’re averaging the values in a </a:t>
            </a:r>
            <a:r>
              <a:rPr lang="en-US" b="1" dirty="0"/>
              <a:t>3 by 3 window</a:t>
            </a:r>
            <a:r>
              <a:rPr lang="en-US" dirty="0"/>
              <a:t>.</a:t>
            </a:r>
          </a:p>
          <a:p>
            <a:r>
              <a:rPr lang="en-US" dirty="0"/>
              <a:t>This operation is a 2D convolution:</a:t>
            </a:r>
            <a:br>
              <a:rPr lang="en-US" dirty="0"/>
            </a:br>
            <a:r>
              <a:rPr lang="en-US" dirty="0"/>
              <a:t>we slide the mask across the image, and at each position,</a:t>
            </a:r>
            <a:br>
              <a:rPr lang="en-US" dirty="0"/>
            </a:br>
            <a:r>
              <a:rPr lang="en-US" dirty="0"/>
              <a:t>we </a:t>
            </a:r>
            <a:r>
              <a:rPr lang="en-US" b="1" dirty="0"/>
              <a:t>multiply corresponding elements</a:t>
            </a:r>
            <a:r>
              <a:rPr lang="en-US" dirty="0"/>
              <a:t>, </a:t>
            </a:r>
            <a:r>
              <a:rPr lang="en-US" b="1" dirty="0"/>
              <a:t>sum them up</a:t>
            </a:r>
            <a:r>
              <a:rPr lang="en-US" dirty="0"/>
              <a:t>, and </a:t>
            </a:r>
            <a:r>
              <a:rPr lang="en-US" b="1" dirty="0"/>
              <a:t>store the result</a:t>
            </a:r>
            <a:r>
              <a:rPr lang="en-US" dirty="0"/>
              <a:t> in the center pixel of the output.</a:t>
            </a:r>
          </a:p>
          <a:p>
            <a:r>
              <a:rPr lang="en-US" dirty="0"/>
              <a:t>Let’s focus on the region that’s highlighted.</a:t>
            </a:r>
          </a:p>
          <a:p>
            <a:r>
              <a:rPr lang="en-US" dirty="0"/>
              <a:t>For the top-left example, the 3 by 3 neighborhood includes values like 1, 2, 3, and so on.</a:t>
            </a:r>
            <a:br>
              <a:rPr lang="en-US" dirty="0"/>
            </a:br>
            <a:r>
              <a:rPr lang="en-US" dirty="0"/>
              <a:t>When we sum those values and divide by 9, we get the </a:t>
            </a:r>
            <a:r>
              <a:rPr lang="en-US" b="1" dirty="0"/>
              <a:t>blurred output value</a:t>
            </a:r>
            <a:r>
              <a:rPr lang="en-US" dirty="0"/>
              <a:t>, shown in yellow.</a:t>
            </a:r>
          </a:p>
          <a:p>
            <a:r>
              <a:rPr lang="en-US" dirty="0"/>
              <a:t>The same thing happens throughout the image.</a:t>
            </a:r>
            <a:br>
              <a:rPr lang="en-US" dirty="0"/>
            </a:br>
            <a:r>
              <a:rPr lang="en-US" dirty="0"/>
              <a:t>Each pixel in the </a:t>
            </a:r>
            <a:r>
              <a:rPr lang="en-US" b="1" dirty="0"/>
              <a:t>output image</a:t>
            </a:r>
            <a:r>
              <a:rPr lang="en-US" dirty="0"/>
              <a:t> becomes the </a:t>
            </a:r>
            <a:r>
              <a:rPr lang="en-US" b="1" dirty="0"/>
              <a:t>average of itself and its eight neighbors</a:t>
            </a:r>
            <a:r>
              <a:rPr lang="en-US" dirty="0"/>
              <a:t>.</a:t>
            </a:r>
          </a:p>
          <a:p>
            <a:r>
              <a:rPr lang="en-US" dirty="0"/>
              <a:t>The result?</a:t>
            </a:r>
            <a:br>
              <a:rPr lang="en-US" dirty="0"/>
            </a:br>
            <a:r>
              <a:rPr lang="en-US" dirty="0"/>
              <a:t>Sharp transitions are smoothed out, fine details are softened —</a:t>
            </a:r>
            <a:br>
              <a:rPr lang="en-US" dirty="0"/>
            </a:br>
            <a:r>
              <a:rPr lang="en-US" dirty="0"/>
              <a:t>and the image takes on a </a:t>
            </a:r>
            <a:r>
              <a:rPr lang="en-US" b="1" dirty="0"/>
              <a:t>blurred appearance</a:t>
            </a:r>
            <a:r>
              <a:rPr lang="en-US" dirty="0"/>
              <a:t>.</a:t>
            </a:r>
          </a:p>
          <a:p>
            <a:r>
              <a:rPr lang="en-US" dirty="0"/>
              <a:t>This is a fundamental application of 2D convolution —</a:t>
            </a:r>
            <a:br>
              <a:rPr lang="en-US" dirty="0"/>
            </a:br>
            <a:r>
              <a:rPr lang="en-US" dirty="0"/>
              <a:t>and it’s used not only for visual effects, but also as a </a:t>
            </a:r>
            <a:r>
              <a:rPr lang="en-US" b="1" dirty="0"/>
              <a:t>preprocessing step</a:t>
            </a:r>
            <a:r>
              <a:rPr lang="en-US" dirty="0"/>
              <a:t> in many medical imaging tasks,</a:t>
            </a:r>
            <a:br>
              <a:rPr lang="en-US" dirty="0"/>
            </a:br>
            <a:r>
              <a:rPr lang="en-US" dirty="0"/>
              <a:t>like noise reduction and feature extraction.</a:t>
            </a:r>
          </a:p>
        </p:txBody>
      </p:sp>
      <p:sp>
        <p:nvSpPr>
          <p:cNvPr id="4" name="Slide Number Placeholder 3"/>
          <p:cNvSpPr>
            <a:spLocks noGrp="1"/>
          </p:cNvSpPr>
          <p:nvPr>
            <p:ph type="sldNum" sz="quarter" idx="5"/>
          </p:nvPr>
        </p:nvSpPr>
        <p:spPr/>
        <p:txBody>
          <a:bodyPr/>
          <a:lstStyle/>
          <a:p>
            <a:fld id="{16362E68-66C4-4B01-8D1F-712CF75BFD43}" type="slidenum">
              <a:rPr lang="en-US" smtClean="0"/>
              <a:pPr/>
              <a:t>35</a:t>
            </a:fld>
            <a:endParaRPr lang="en-US"/>
          </a:p>
        </p:txBody>
      </p:sp>
    </p:spTree>
    <p:extLst>
      <p:ext uri="{BB962C8B-B14F-4D97-AF65-F5344CB8AC3E}">
        <p14:creationId xmlns:p14="http://schemas.microsoft.com/office/powerpoint/2010/main" val="23872177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Let’s take a look at how </a:t>
            </a:r>
            <a:r>
              <a:rPr lang="en-US" b="1" dirty="0"/>
              <a:t>blurring arises naturally in imaging systems</a:t>
            </a:r>
            <a:r>
              <a:rPr lang="en-US" dirty="0"/>
              <a:t> — not just from digital filters, but from </a:t>
            </a:r>
            <a:r>
              <a:rPr lang="en-US" b="1" dirty="0"/>
              <a:t>physical limitations</a:t>
            </a:r>
            <a:r>
              <a:rPr lang="en-US" dirty="0"/>
              <a:t>.</a:t>
            </a:r>
          </a:p>
          <a:p>
            <a:r>
              <a:rPr lang="en-US" dirty="0"/>
              <a:t>Here we observe a key concept in optics called the </a:t>
            </a:r>
            <a:r>
              <a:rPr lang="en-US" b="1" dirty="0"/>
              <a:t>point spread function</a:t>
            </a:r>
            <a:r>
              <a:rPr lang="en-US" dirty="0"/>
              <a:t>, or </a:t>
            </a:r>
            <a:r>
              <a:rPr lang="en-US" b="1" dirty="0"/>
              <a:t>PSF</a:t>
            </a:r>
            <a:r>
              <a:rPr lang="en-US" dirty="0"/>
              <a:t>.</a:t>
            </a:r>
          </a:p>
          <a:p>
            <a:r>
              <a:rPr lang="en-US" dirty="0"/>
              <a:t>In theory, if you image a perfect point of light, it should appear as a sharp dot on the detector.</a:t>
            </a:r>
            <a:br>
              <a:rPr lang="en-US" dirty="0"/>
            </a:br>
            <a:r>
              <a:rPr lang="en-US" dirty="0"/>
              <a:t>But in reality, that point gets </a:t>
            </a:r>
            <a:r>
              <a:rPr lang="en-US" b="1" dirty="0"/>
              <a:t>blurred</a:t>
            </a:r>
            <a:r>
              <a:rPr lang="en-US" dirty="0"/>
              <a:t> into a small disk — often called an </a:t>
            </a:r>
            <a:r>
              <a:rPr lang="en-US" b="1" dirty="0"/>
              <a:t>Airy disk</a:t>
            </a:r>
            <a:r>
              <a:rPr lang="en-US" dirty="0"/>
              <a:t> —</a:t>
            </a:r>
            <a:br>
              <a:rPr lang="en-US" dirty="0"/>
            </a:br>
            <a:r>
              <a:rPr lang="en-US" dirty="0"/>
              <a:t>because of how light diffracts through the lens system.</a:t>
            </a:r>
          </a:p>
          <a:p>
            <a:r>
              <a:rPr lang="en-US" dirty="0"/>
              <a:t>This is the system’s </a:t>
            </a:r>
            <a:r>
              <a:rPr lang="en-US" b="1" dirty="0"/>
              <a:t>impulse response</a:t>
            </a:r>
            <a:r>
              <a:rPr lang="en-US" dirty="0"/>
              <a:t> in two dimensions.</a:t>
            </a:r>
          </a:p>
          <a:p>
            <a:r>
              <a:rPr lang="en-US" dirty="0"/>
              <a:t>So even if your input is just a single point — like a star in the night sky —</a:t>
            </a:r>
            <a:br>
              <a:rPr lang="en-US" dirty="0"/>
            </a:br>
            <a:r>
              <a:rPr lang="en-US" dirty="0"/>
              <a:t>the output captured by your imaging system is a small, spread-out shape.</a:t>
            </a:r>
          </a:p>
          <a:p>
            <a:r>
              <a:rPr lang="en-US" dirty="0"/>
              <a:t>And when </a:t>
            </a:r>
            <a:r>
              <a:rPr lang="en-US" b="1" dirty="0"/>
              <a:t>two bright points</a:t>
            </a:r>
            <a:r>
              <a:rPr lang="en-US" dirty="0"/>
              <a:t> are placed </a:t>
            </a:r>
            <a:r>
              <a:rPr lang="en-US" b="1" dirty="0"/>
              <a:t>too close together</a:t>
            </a:r>
            <a:r>
              <a:rPr lang="en-US" dirty="0"/>
              <a:t>,</a:t>
            </a:r>
            <a:br>
              <a:rPr lang="en-US" dirty="0"/>
            </a:br>
            <a:r>
              <a:rPr lang="en-US" dirty="0"/>
              <a:t>their point spread functions begin to </a:t>
            </a:r>
            <a:r>
              <a:rPr lang="en-US" b="1" dirty="0"/>
              <a:t>overlap</a:t>
            </a:r>
            <a:r>
              <a:rPr lang="en-US" dirty="0"/>
              <a:t>.</a:t>
            </a:r>
            <a:br>
              <a:rPr lang="en-US" dirty="0"/>
            </a:br>
            <a:r>
              <a:rPr lang="en-US" dirty="0"/>
              <a:t>This overlap makes it difficult — or even impossible — to tell them apart in the final image.</a:t>
            </a:r>
          </a:p>
          <a:p>
            <a:r>
              <a:rPr lang="en-US" dirty="0"/>
              <a:t>This phenomenon is at the core of what we call the </a:t>
            </a:r>
            <a:r>
              <a:rPr lang="en-US" b="1" dirty="0"/>
              <a:t>resolution limit</a:t>
            </a:r>
            <a:r>
              <a:rPr lang="en-US" dirty="0"/>
              <a:t> in optical systems.</a:t>
            </a:r>
          </a:p>
          <a:p>
            <a:r>
              <a:rPr lang="en-US" dirty="0"/>
              <a:t>In fact, PSFs are not just a curiosity —</a:t>
            </a:r>
            <a:br>
              <a:rPr lang="en-US" dirty="0"/>
            </a:br>
            <a:r>
              <a:rPr lang="en-US" dirty="0"/>
              <a:t>they’re </a:t>
            </a:r>
            <a:r>
              <a:rPr lang="en-US" b="1" dirty="0"/>
              <a:t>mathematically modeled and measured</a:t>
            </a:r>
            <a:r>
              <a:rPr lang="en-US" dirty="0"/>
              <a:t>,</a:t>
            </a:r>
            <a:br>
              <a:rPr lang="en-US" dirty="0"/>
            </a:br>
            <a:r>
              <a:rPr lang="en-US" dirty="0"/>
              <a:t>and they define how sharp or blurry every part of an image will be.</a:t>
            </a:r>
          </a:p>
          <a:p>
            <a:r>
              <a:rPr lang="en-US" dirty="0"/>
              <a:t>So in medical imaging, astronomy, microscopy —</a:t>
            </a:r>
            <a:br>
              <a:rPr lang="en-US" dirty="0"/>
            </a:br>
            <a:r>
              <a:rPr lang="en-US" dirty="0"/>
              <a:t>understanding the point spread function is essential to both image formation and image reconstruction.</a:t>
            </a:r>
          </a:p>
          <a:p>
            <a:endParaRPr lang="en-US" dirty="0"/>
          </a:p>
        </p:txBody>
      </p:sp>
      <p:sp>
        <p:nvSpPr>
          <p:cNvPr id="4" name="Slide Number Placeholder 3"/>
          <p:cNvSpPr>
            <a:spLocks noGrp="1"/>
          </p:cNvSpPr>
          <p:nvPr>
            <p:ph type="sldNum" sz="quarter" idx="10"/>
          </p:nvPr>
        </p:nvSpPr>
        <p:spPr/>
        <p:txBody>
          <a:bodyPr/>
          <a:lstStyle/>
          <a:p>
            <a:fld id="{16362E68-66C4-4B01-8D1F-712CF75BFD43}" type="slidenum">
              <a:rPr lang="en-US" smtClean="0"/>
              <a:pPr/>
              <a:t>36</a:t>
            </a:fld>
            <a:endParaRPr lang="en-US"/>
          </a:p>
        </p:txBody>
      </p:sp>
    </p:spTree>
    <p:extLst>
      <p:ext uri="{BB962C8B-B14F-4D97-AF65-F5344CB8AC3E}">
        <p14:creationId xmlns:p14="http://schemas.microsoft.com/office/powerpoint/2010/main" val="35305256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Now let’s talk about the </a:t>
            </a:r>
            <a:r>
              <a:rPr lang="en-US" b="1" dirty="0"/>
              <a:t>reverse process</a:t>
            </a:r>
            <a:r>
              <a:rPr lang="en-US" dirty="0"/>
              <a:t> of blurring — a technique called </a:t>
            </a:r>
            <a:r>
              <a:rPr lang="en-US" b="1" dirty="0"/>
              <a:t>deconvolution</a:t>
            </a:r>
            <a:r>
              <a:rPr lang="en-US" dirty="0"/>
              <a:t>.</a:t>
            </a:r>
          </a:p>
          <a:p>
            <a:r>
              <a:rPr lang="en-US" dirty="0"/>
              <a:t>When an image is blurred, it’s often because the original scene has been </a:t>
            </a:r>
            <a:r>
              <a:rPr lang="en-US" b="1" dirty="0"/>
              <a:t>convolved</a:t>
            </a:r>
            <a:r>
              <a:rPr lang="en-US" dirty="0"/>
              <a:t> with a </a:t>
            </a:r>
            <a:r>
              <a:rPr lang="en-US" b="1" dirty="0"/>
              <a:t>point spread function</a:t>
            </a:r>
            <a:r>
              <a:rPr lang="en-US" dirty="0"/>
              <a:t> — or PSF.</a:t>
            </a:r>
            <a:br>
              <a:rPr lang="en-US" dirty="0"/>
            </a:br>
            <a:r>
              <a:rPr lang="en-US" dirty="0"/>
              <a:t>We saw earlier that even a perfect point source becomes a blurred spot due to system limitations.</a:t>
            </a:r>
          </a:p>
          <a:p>
            <a:r>
              <a:rPr lang="en-US" b="1" dirty="0"/>
              <a:t>Deconvolution</a:t>
            </a:r>
            <a:r>
              <a:rPr lang="en-US" dirty="0"/>
              <a:t> is the process of trying to </a:t>
            </a:r>
            <a:r>
              <a:rPr lang="en-US" b="1" dirty="0"/>
              <a:t>undo</a:t>
            </a:r>
            <a:r>
              <a:rPr lang="en-US" dirty="0"/>
              <a:t> that effect —</a:t>
            </a:r>
            <a:br>
              <a:rPr lang="en-US" dirty="0"/>
            </a:br>
            <a:r>
              <a:rPr lang="en-US" dirty="0"/>
              <a:t>to </a:t>
            </a:r>
            <a:r>
              <a:rPr lang="en-US" b="1" dirty="0"/>
              <a:t>recover the original image</a:t>
            </a:r>
            <a:r>
              <a:rPr lang="en-US" dirty="0"/>
              <a:t> from its blurred version.</a:t>
            </a:r>
          </a:p>
          <a:p>
            <a:r>
              <a:rPr lang="en-US" dirty="0"/>
              <a:t>You can think of </a:t>
            </a:r>
            <a:r>
              <a:rPr lang="en-US" b="1" dirty="0"/>
              <a:t>convolution</a:t>
            </a:r>
            <a:r>
              <a:rPr lang="en-US" dirty="0"/>
              <a:t> like a kind of advanced multiplication:</a:t>
            </a:r>
            <a:br>
              <a:rPr lang="en-US" dirty="0"/>
            </a:br>
            <a:r>
              <a:rPr lang="en-US" dirty="0"/>
              <a:t>we blend the signal with the system’s response.</a:t>
            </a:r>
            <a:br>
              <a:rPr lang="en-US" dirty="0"/>
            </a:br>
            <a:r>
              <a:rPr lang="en-US" dirty="0"/>
              <a:t>In that same spirit, </a:t>
            </a:r>
            <a:r>
              <a:rPr lang="en-US" b="1" dirty="0"/>
              <a:t>deconvolution</a:t>
            </a:r>
            <a:r>
              <a:rPr lang="en-US" dirty="0"/>
              <a:t> behaves like an advanced form of division —</a:t>
            </a:r>
            <a:br>
              <a:rPr lang="en-US" dirty="0"/>
            </a:br>
            <a:r>
              <a:rPr lang="en-US" dirty="0"/>
              <a:t>we’re trying to </a:t>
            </a:r>
            <a:r>
              <a:rPr lang="en-US" b="1" dirty="0"/>
              <a:t>undo the blending</a:t>
            </a:r>
            <a:r>
              <a:rPr lang="en-US" dirty="0"/>
              <a:t>, and isolate the original input.</a:t>
            </a:r>
          </a:p>
          <a:p>
            <a:r>
              <a:rPr lang="en-US" dirty="0"/>
              <a:t>We can see that clearly in the example on this slide.</a:t>
            </a:r>
            <a:br>
              <a:rPr lang="en-US" dirty="0"/>
            </a:br>
            <a:r>
              <a:rPr lang="en-US" dirty="0"/>
              <a:t>The left image is a blurred photo of a car — the license plate is unreadable.</a:t>
            </a:r>
            <a:br>
              <a:rPr lang="en-US" dirty="0"/>
            </a:br>
            <a:r>
              <a:rPr lang="en-US" dirty="0"/>
              <a:t>After deconvolution, the right image restores the clarity — now we can read the plate.</a:t>
            </a:r>
          </a:p>
          <a:p>
            <a:r>
              <a:rPr lang="en-US" dirty="0"/>
              <a:t>This kind of technique is used not just in photography, but in </a:t>
            </a:r>
            <a:r>
              <a:rPr lang="en-US" b="1" dirty="0"/>
              <a:t>microscopy</a:t>
            </a:r>
            <a:r>
              <a:rPr lang="en-US" dirty="0"/>
              <a:t>, </a:t>
            </a:r>
            <a:r>
              <a:rPr lang="en-US" b="1" dirty="0"/>
              <a:t>astronomy</a:t>
            </a:r>
            <a:r>
              <a:rPr lang="en-US" dirty="0"/>
              <a:t>, and especially in </a:t>
            </a:r>
            <a:r>
              <a:rPr lang="en-US" b="1" dirty="0"/>
              <a:t>medical imaging</a:t>
            </a:r>
            <a:r>
              <a:rPr lang="en-US" dirty="0"/>
              <a:t>,</a:t>
            </a:r>
            <a:br>
              <a:rPr lang="en-US" dirty="0"/>
            </a:br>
            <a:r>
              <a:rPr lang="en-US" dirty="0"/>
              <a:t>where resolving fine detail can be critical.</a:t>
            </a:r>
          </a:p>
          <a:p>
            <a:r>
              <a:rPr lang="en-US" dirty="0"/>
              <a:t>It’s important to note that </a:t>
            </a:r>
            <a:r>
              <a:rPr lang="en-US" b="1" dirty="0"/>
              <a:t>deconvolution is not always perfect</a:t>
            </a:r>
            <a:r>
              <a:rPr lang="en-US" dirty="0"/>
              <a:t> —</a:t>
            </a:r>
            <a:br>
              <a:rPr lang="en-US" dirty="0"/>
            </a:br>
            <a:r>
              <a:rPr lang="en-US" dirty="0"/>
              <a:t>in real-world systems, noise and distortion make it a challenging problem.</a:t>
            </a:r>
            <a:br>
              <a:rPr lang="en-US" dirty="0"/>
            </a:br>
            <a:r>
              <a:rPr lang="en-US" dirty="0"/>
              <a:t>But with good modeling of the PSF and proper regularization,</a:t>
            </a:r>
            <a:br>
              <a:rPr lang="en-US" dirty="0"/>
            </a:br>
            <a:r>
              <a:rPr lang="en-US" dirty="0"/>
              <a:t>we can often </a:t>
            </a:r>
            <a:r>
              <a:rPr lang="en-US" b="1" dirty="0"/>
              <a:t>greatly enhance image quality</a:t>
            </a:r>
            <a:r>
              <a:rPr lang="en-US" dirty="0"/>
              <a:t>.</a:t>
            </a:r>
          </a:p>
        </p:txBody>
      </p:sp>
      <p:sp>
        <p:nvSpPr>
          <p:cNvPr id="4" name="Slide Number Placeholder 3"/>
          <p:cNvSpPr>
            <a:spLocks noGrp="1"/>
          </p:cNvSpPr>
          <p:nvPr>
            <p:ph type="sldNum" sz="quarter" idx="5"/>
          </p:nvPr>
        </p:nvSpPr>
        <p:spPr/>
        <p:txBody>
          <a:bodyPr/>
          <a:lstStyle/>
          <a:p>
            <a:fld id="{16362E68-66C4-4B01-8D1F-712CF75BFD43}" type="slidenum">
              <a:rPr lang="en-US" smtClean="0"/>
              <a:pPr/>
              <a:t>37</a:t>
            </a:fld>
            <a:endParaRPr lang="en-US"/>
          </a:p>
        </p:txBody>
      </p:sp>
    </p:spTree>
    <p:extLst>
      <p:ext uri="{BB962C8B-B14F-4D97-AF65-F5344CB8AC3E}">
        <p14:creationId xmlns:p14="http://schemas.microsoft.com/office/powerpoint/2010/main" val="33919883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Here’s the idea in action.</a:t>
            </a:r>
          </a:p>
          <a:p>
            <a:r>
              <a:rPr lang="en-US" dirty="0"/>
              <a:t>This slide shows how inverse filtering works in the </a:t>
            </a:r>
            <a:r>
              <a:rPr lang="en-US" b="1" dirty="0"/>
              <a:t>frequency domain</a:t>
            </a:r>
            <a:r>
              <a:rPr lang="en-US" dirty="0"/>
              <a:t>.</a:t>
            </a:r>
          </a:p>
          <a:p>
            <a:r>
              <a:rPr lang="en-US" dirty="0"/>
              <a:t>A </a:t>
            </a:r>
            <a:r>
              <a:rPr lang="en-US" b="1" dirty="0"/>
              <a:t>sharp image</a:t>
            </a:r>
            <a:r>
              <a:rPr lang="en-US" dirty="0"/>
              <a:t>, when convolved with a </a:t>
            </a:r>
            <a:r>
              <a:rPr lang="en-US" b="1" dirty="0"/>
              <a:t>point spread function</a:t>
            </a:r>
            <a:r>
              <a:rPr lang="en-US" dirty="0"/>
              <a:t>, results in a </a:t>
            </a:r>
            <a:r>
              <a:rPr lang="en-US" b="1" dirty="0"/>
              <a:t>blurred image</a:t>
            </a:r>
            <a:r>
              <a:rPr lang="en-US" dirty="0"/>
              <a:t>.</a:t>
            </a:r>
          </a:p>
          <a:p>
            <a:r>
              <a:rPr lang="en-US" dirty="0"/>
              <a:t>In the </a:t>
            </a:r>
            <a:r>
              <a:rPr lang="en-US" b="1" dirty="0"/>
              <a:t>Fourier domain</a:t>
            </a:r>
            <a:r>
              <a:rPr lang="en-US" dirty="0"/>
              <a:t>, convolution becomes </a:t>
            </a:r>
            <a:r>
              <a:rPr lang="en-US" b="1" dirty="0"/>
              <a:t>multiplication</a:t>
            </a:r>
            <a:r>
              <a:rPr lang="en-US" dirty="0"/>
              <a:t>.</a:t>
            </a:r>
            <a:br>
              <a:rPr lang="en-US" dirty="0"/>
            </a:br>
            <a:r>
              <a:rPr lang="en-US" dirty="0"/>
              <a:t>So, the Fourier transform of the blurred image equals</a:t>
            </a:r>
            <a:br>
              <a:rPr lang="en-US" dirty="0"/>
            </a:br>
            <a:r>
              <a:rPr lang="en-US" dirty="0"/>
              <a:t>the product of the transforms of the original image and the PSF.</a:t>
            </a:r>
          </a:p>
          <a:p>
            <a:r>
              <a:rPr lang="en-US" dirty="0"/>
              <a:t>To reverse this, we perform </a:t>
            </a:r>
            <a:r>
              <a:rPr lang="en-US" b="1" dirty="0"/>
              <a:t>division</a:t>
            </a:r>
            <a:r>
              <a:rPr lang="en-US" dirty="0"/>
              <a:t> in the frequency domain —</a:t>
            </a:r>
            <a:br>
              <a:rPr lang="en-US" dirty="0"/>
            </a:br>
            <a:r>
              <a:rPr lang="en-US" dirty="0"/>
              <a:t>this is the essence of </a:t>
            </a:r>
            <a:r>
              <a:rPr lang="en-US" b="1" dirty="0"/>
              <a:t>inverse filtering</a:t>
            </a:r>
            <a:r>
              <a:rPr lang="en-US" dirty="0"/>
              <a:t>.</a:t>
            </a:r>
          </a:p>
          <a:p>
            <a:r>
              <a:rPr lang="en-US" dirty="0"/>
              <a:t>In the red box below, the image on the right is the transform of the blurred image,</a:t>
            </a:r>
            <a:br>
              <a:rPr lang="en-US" dirty="0"/>
            </a:br>
            <a:r>
              <a:rPr lang="en-US" dirty="0"/>
              <a:t>the center is the transform of the PSF,</a:t>
            </a:r>
            <a:br>
              <a:rPr lang="en-US" dirty="0"/>
            </a:br>
            <a:r>
              <a:rPr lang="en-US" dirty="0"/>
              <a:t>and the left is the result of dividing them — recovering the original image spectrum.</a:t>
            </a:r>
          </a:p>
          <a:p>
            <a:r>
              <a:rPr lang="en-US" dirty="0"/>
              <a:t>Applying the </a:t>
            </a:r>
            <a:r>
              <a:rPr lang="en-US" b="1" dirty="0"/>
              <a:t>inverse Fourier transform</a:t>
            </a:r>
            <a:r>
              <a:rPr lang="en-US" dirty="0"/>
              <a:t> brings us back to the spatial domain.</a:t>
            </a:r>
          </a:p>
          <a:p>
            <a:r>
              <a:rPr lang="en-US" dirty="0"/>
              <a:t>This process forms the basis of many </a:t>
            </a:r>
            <a:r>
              <a:rPr lang="en-US" b="1" dirty="0"/>
              <a:t>image restoration techniques</a:t>
            </a:r>
            <a:r>
              <a:rPr lang="en-US" dirty="0"/>
              <a:t>.</a:t>
            </a:r>
          </a:p>
        </p:txBody>
      </p:sp>
      <p:sp>
        <p:nvSpPr>
          <p:cNvPr id="4" name="Slide Number Placeholder 3"/>
          <p:cNvSpPr>
            <a:spLocks noGrp="1"/>
          </p:cNvSpPr>
          <p:nvPr>
            <p:ph type="sldNum" sz="quarter" idx="5"/>
          </p:nvPr>
        </p:nvSpPr>
        <p:spPr/>
        <p:txBody>
          <a:bodyPr/>
          <a:lstStyle/>
          <a:p>
            <a:fld id="{16362E68-66C4-4B01-8D1F-712CF75BFD43}" type="slidenum">
              <a:rPr lang="en-US" smtClean="0"/>
              <a:pPr/>
              <a:t>38</a:t>
            </a:fld>
            <a:endParaRPr lang="en-US"/>
          </a:p>
        </p:txBody>
      </p:sp>
    </p:spTree>
    <p:extLst>
      <p:ext uri="{BB962C8B-B14F-4D97-AF65-F5344CB8AC3E}">
        <p14:creationId xmlns:p14="http://schemas.microsoft.com/office/powerpoint/2010/main" val="11484683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You might not fully grasp this yet — and that’s perfectly fine.</a:t>
            </a:r>
          </a:p>
          <a:p>
            <a:r>
              <a:rPr lang="en-US" dirty="0"/>
              <a:t>Once we cover </a:t>
            </a:r>
            <a:r>
              <a:rPr lang="en-US" b="1" dirty="0"/>
              <a:t>Fourier analysis</a:t>
            </a:r>
            <a:r>
              <a:rPr lang="en-US" dirty="0"/>
              <a:t>, the connection between convolution and deconvolution will become much clearer.</a:t>
            </a:r>
          </a:p>
          <a:p>
            <a:r>
              <a:rPr lang="en-US" dirty="0"/>
              <a:t>For now, think of </a:t>
            </a:r>
            <a:r>
              <a:rPr lang="en-US" b="1" dirty="0"/>
              <a:t>convolution</a:t>
            </a:r>
            <a:r>
              <a:rPr lang="en-US" dirty="0"/>
              <a:t> and </a:t>
            </a:r>
            <a:r>
              <a:rPr lang="en-US" b="1" dirty="0"/>
              <a:t>deconvolution</a:t>
            </a:r>
            <a:r>
              <a:rPr lang="en-US" dirty="0"/>
              <a:t> as the advanced forms of </a:t>
            </a:r>
            <a:r>
              <a:rPr lang="en-US" b="1" dirty="0"/>
              <a:t>multiplication</a:t>
            </a:r>
            <a:r>
              <a:rPr lang="en-US" dirty="0"/>
              <a:t> and </a:t>
            </a:r>
            <a:r>
              <a:rPr lang="en-US" b="1" dirty="0"/>
              <a:t>division</a:t>
            </a:r>
            <a:r>
              <a:rPr lang="en-US" dirty="0"/>
              <a:t>,</a:t>
            </a:r>
            <a:br>
              <a:rPr lang="en-US" dirty="0"/>
            </a:br>
            <a:r>
              <a:rPr lang="en-US" dirty="0"/>
              <a:t>just like </a:t>
            </a:r>
            <a:r>
              <a:rPr lang="en-US" b="1" dirty="0"/>
              <a:t>integration</a:t>
            </a:r>
            <a:r>
              <a:rPr lang="en-US" dirty="0"/>
              <a:t> is the continuous counterpart of </a:t>
            </a:r>
            <a:r>
              <a:rPr lang="en-US" b="1" dirty="0"/>
              <a:t>summation</a:t>
            </a:r>
            <a:r>
              <a:rPr lang="en-US" dirty="0"/>
              <a:t>.</a:t>
            </a:r>
          </a:p>
          <a:p>
            <a:endParaRPr lang="en-US" dirty="0"/>
          </a:p>
        </p:txBody>
      </p:sp>
      <p:sp>
        <p:nvSpPr>
          <p:cNvPr id="4" name="Slide Number Placeholder 3"/>
          <p:cNvSpPr>
            <a:spLocks noGrp="1"/>
          </p:cNvSpPr>
          <p:nvPr>
            <p:ph type="sldNum" sz="quarter" idx="5"/>
          </p:nvPr>
        </p:nvSpPr>
        <p:spPr/>
        <p:txBody>
          <a:bodyPr/>
          <a:lstStyle/>
          <a:p>
            <a:fld id="{16362E68-66C4-4B01-8D1F-712CF75BFD43}" type="slidenum">
              <a:rPr lang="en-US" smtClean="0"/>
              <a:pPr/>
              <a:t>39</a:t>
            </a:fld>
            <a:endParaRPr lang="en-US"/>
          </a:p>
        </p:txBody>
      </p:sp>
    </p:spTree>
    <p:extLst>
      <p:ext uri="{BB962C8B-B14F-4D97-AF65-F5344CB8AC3E}">
        <p14:creationId xmlns:p14="http://schemas.microsoft.com/office/powerpoint/2010/main" val="22871627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Returning to one-dimensional signals, convolution behaves like multiplication in several key ways:</a:t>
            </a:r>
          </a:p>
          <a:p>
            <a:r>
              <a:rPr lang="en-US" b="1" dirty="0"/>
              <a:t>Commutative</a:t>
            </a:r>
            <a:r>
              <a:rPr lang="en-US" dirty="0"/>
              <a:t>: h convolved with f equals f convolved with h.</a:t>
            </a:r>
          </a:p>
          <a:p>
            <a:r>
              <a:rPr lang="en-US" b="1" dirty="0"/>
              <a:t>Associative</a:t>
            </a:r>
            <a:r>
              <a:rPr lang="en-US" dirty="0"/>
              <a:t>: h convolved with the result of f convolved with g equals the result of h convolved with f, then convolved with g.</a:t>
            </a:r>
          </a:p>
          <a:p>
            <a:r>
              <a:rPr lang="en-US" b="1" dirty="0"/>
              <a:t>Distributive</a:t>
            </a:r>
            <a:r>
              <a:rPr lang="en-US" dirty="0"/>
              <a:t>: h convolved with the sum of f and g equals h convolved with f plus h convolved with g.</a:t>
            </a:r>
          </a:p>
          <a:p>
            <a:r>
              <a:rPr lang="en-US" dirty="0"/>
              <a:t>These properties show that </a:t>
            </a:r>
            <a:r>
              <a:rPr lang="en-US" b="1" dirty="0"/>
              <a:t>convolution is algebraically structured</a:t>
            </a:r>
            <a:r>
              <a:rPr lang="en-US" dirty="0"/>
              <a:t>, and they will connect directly to </a:t>
            </a:r>
            <a:r>
              <a:rPr lang="en-US" b="1" dirty="0"/>
              <a:t>Fourier analysis</a:t>
            </a:r>
            <a:r>
              <a:rPr lang="en-US" dirty="0"/>
              <a:t>.</a:t>
            </a:r>
          </a:p>
          <a:p>
            <a:r>
              <a:rPr lang="en-US" dirty="0"/>
              <a:t>You’re invited to try a quick quiz:</a:t>
            </a:r>
            <a:br>
              <a:rPr lang="en-US" dirty="0"/>
            </a:br>
            <a:r>
              <a:rPr lang="en-US" dirty="0"/>
              <a:t>If y of n equals h of n convolved with x of n,</a:t>
            </a:r>
            <a:br>
              <a:rPr lang="en-US" dirty="0"/>
            </a:br>
            <a:r>
              <a:rPr lang="en-US" dirty="0"/>
              <a:t>prove that y of n minus k equals h of n convolved with x of n minus k.</a:t>
            </a:r>
          </a:p>
          <a:p>
            <a:r>
              <a:rPr lang="en-US" dirty="0"/>
              <a:t>This follows naturally from the meaning of convolution.</a:t>
            </a:r>
          </a:p>
          <a:p>
            <a:endParaRPr lang="en-US" dirty="0"/>
          </a:p>
        </p:txBody>
      </p:sp>
      <p:sp>
        <p:nvSpPr>
          <p:cNvPr id="4" name="Slide Number Placeholder 3"/>
          <p:cNvSpPr>
            <a:spLocks noGrp="1"/>
          </p:cNvSpPr>
          <p:nvPr>
            <p:ph type="sldNum" sz="quarter" idx="5"/>
          </p:nvPr>
        </p:nvSpPr>
        <p:spPr/>
        <p:txBody>
          <a:bodyPr/>
          <a:lstStyle/>
          <a:p>
            <a:fld id="{16362E68-66C4-4B01-8D1F-712CF75BFD43}" type="slidenum">
              <a:rPr lang="en-US" smtClean="0"/>
              <a:pPr/>
              <a:t>40</a:t>
            </a:fld>
            <a:endParaRPr lang="en-US"/>
          </a:p>
        </p:txBody>
      </p:sp>
    </p:spTree>
    <p:extLst>
      <p:ext uri="{BB962C8B-B14F-4D97-AF65-F5344CB8AC3E}">
        <p14:creationId xmlns:p14="http://schemas.microsoft.com/office/powerpoint/2010/main" val="37836697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We can even </a:t>
            </a:r>
            <a:r>
              <a:rPr lang="en-US" b="1" dirty="0"/>
              <a:t>prove</a:t>
            </a:r>
            <a:r>
              <a:rPr lang="en-US" dirty="0"/>
              <a:t> these properties. I won’t go through the full proof now, but it follows directly from how convolution is defined.</a:t>
            </a:r>
          </a:p>
          <a:p>
            <a:endParaRPr lang="en-US" dirty="0"/>
          </a:p>
          <a:p>
            <a:r>
              <a:rPr lang="en-US" dirty="0"/>
              <a:t>Here, we start with the standard convolution definition:</a:t>
            </a:r>
            <a:br>
              <a:rPr lang="en-US" dirty="0"/>
            </a:br>
            <a:r>
              <a:rPr lang="en-US" b="1" dirty="0"/>
              <a:t>y of n equals the sum over k of x of k times h of n minus k</a:t>
            </a:r>
            <a:r>
              <a:rPr lang="en-US" dirty="0"/>
              <a:t>.</a:t>
            </a:r>
          </a:p>
          <a:p>
            <a:r>
              <a:rPr lang="en-US" dirty="0"/>
              <a:t>By substituting </a:t>
            </a:r>
            <a:r>
              <a:rPr lang="en-US" b="1" dirty="0"/>
              <a:t>k equals n minus capital K</a:t>
            </a:r>
            <a:r>
              <a:rPr lang="en-US" dirty="0"/>
              <a:t>,</a:t>
            </a:r>
            <a:br>
              <a:rPr lang="en-US" dirty="0"/>
            </a:br>
            <a:r>
              <a:rPr lang="en-US" dirty="0"/>
              <a:t>we change the index of summation and rewrite the expression in reversed order.</a:t>
            </a:r>
          </a:p>
          <a:p>
            <a:r>
              <a:rPr lang="en-US" dirty="0"/>
              <a:t>This leads directly to:</a:t>
            </a:r>
            <a:br>
              <a:rPr lang="en-US" dirty="0"/>
            </a:br>
            <a:r>
              <a:rPr lang="en-US" b="1" dirty="0"/>
              <a:t>h convolved with x equals x convolved with h</a:t>
            </a:r>
            <a:r>
              <a:rPr lang="en-US" dirty="0"/>
              <a:t>.</a:t>
            </a:r>
          </a:p>
          <a:p>
            <a:r>
              <a:rPr lang="en-US" dirty="0"/>
              <a:t>So, convolution is commutative — just like multiplication.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16362E68-66C4-4B01-8D1F-712CF75BFD43}" type="slidenum">
              <a:rPr lang="en-US" smtClean="0"/>
              <a:pPr/>
              <a:t>41</a:t>
            </a:fld>
            <a:endParaRPr lang="en-US"/>
          </a:p>
        </p:txBody>
      </p:sp>
    </p:spTree>
    <p:extLst>
      <p:ext uri="{BB962C8B-B14F-4D97-AF65-F5344CB8AC3E}">
        <p14:creationId xmlns:p14="http://schemas.microsoft.com/office/powerpoint/2010/main" val="39804949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A related concept to convolution is </a:t>
            </a:r>
            <a:r>
              <a:rPr lang="en-US" b="1" dirty="0"/>
              <a:t>cross-correlation</a:t>
            </a:r>
            <a:r>
              <a:rPr lang="en-US" dirty="0"/>
              <a:t>.</a:t>
            </a:r>
          </a:p>
          <a:p>
            <a:r>
              <a:rPr lang="en-US" dirty="0"/>
              <a:t>Mathematically, the key difference is in the </a:t>
            </a:r>
            <a:r>
              <a:rPr lang="en-US" b="1" dirty="0"/>
              <a:t>sign of the shift</a:t>
            </a:r>
            <a:r>
              <a:rPr lang="en-US" dirty="0"/>
              <a:t>.</a:t>
            </a:r>
          </a:p>
          <a:p>
            <a:r>
              <a:rPr lang="en-US" dirty="0"/>
              <a:t>In </a:t>
            </a:r>
            <a:r>
              <a:rPr lang="en-US" b="1" dirty="0"/>
              <a:t>convolution</a:t>
            </a:r>
            <a:r>
              <a:rPr lang="en-US" dirty="0"/>
              <a:t>, we compute the integral of f of x minus u times g of u.</a:t>
            </a:r>
          </a:p>
          <a:p>
            <a:r>
              <a:rPr lang="en-US" dirty="0"/>
              <a:t>In </a:t>
            </a:r>
            <a:r>
              <a:rPr lang="en-US" b="1" dirty="0"/>
              <a:t>cross-correlation</a:t>
            </a:r>
            <a:r>
              <a:rPr lang="en-US" dirty="0"/>
              <a:t>, it’s f of x plus u times g of u.</a:t>
            </a:r>
          </a:p>
          <a:p>
            <a:r>
              <a:rPr lang="en-US" dirty="0"/>
              <a:t>So, convolution </a:t>
            </a:r>
            <a:r>
              <a:rPr lang="en-US" b="1" dirty="0"/>
              <a:t>flips</a:t>
            </a:r>
            <a:r>
              <a:rPr lang="en-US" dirty="0"/>
              <a:t> one of the functions before shifting and multiplying,</a:t>
            </a:r>
            <a:br>
              <a:rPr lang="en-US" dirty="0"/>
            </a:br>
            <a:r>
              <a:rPr lang="en-US" dirty="0"/>
              <a:t>while cross-correlation </a:t>
            </a:r>
            <a:r>
              <a:rPr lang="en-US" b="1" dirty="0"/>
              <a:t>does not</a:t>
            </a:r>
            <a:r>
              <a:rPr lang="en-US" dirty="0"/>
              <a:t>.</a:t>
            </a:r>
          </a:p>
          <a:p>
            <a:r>
              <a:rPr lang="en-US" dirty="0"/>
              <a:t>Both are useful in signal processing —</a:t>
            </a:r>
            <a:br>
              <a:rPr lang="en-US" dirty="0"/>
            </a:br>
            <a:r>
              <a:rPr lang="en-US" dirty="0"/>
              <a:t>but for different purposes, like system response versus pattern matching.</a:t>
            </a:r>
          </a:p>
          <a:p>
            <a:endParaRPr lang="en-US" dirty="0"/>
          </a:p>
        </p:txBody>
      </p:sp>
      <p:sp>
        <p:nvSpPr>
          <p:cNvPr id="4" name="Slide Number Placeholder 3"/>
          <p:cNvSpPr>
            <a:spLocks noGrp="1"/>
          </p:cNvSpPr>
          <p:nvPr>
            <p:ph type="sldNum" sz="quarter" idx="5"/>
          </p:nvPr>
        </p:nvSpPr>
        <p:spPr/>
        <p:txBody>
          <a:bodyPr/>
          <a:lstStyle/>
          <a:p>
            <a:fld id="{16362E68-66C4-4B01-8D1F-712CF75BFD43}" type="slidenum">
              <a:rPr lang="en-US" smtClean="0"/>
              <a:pPr/>
              <a:t>42</a:t>
            </a:fld>
            <a:endParaRPr lang="en-US"/>
          </a:p>
        </p:txBody>
      </p:sp>
    </p:spTree>
    <p:extLst>
      <p:ext uri="{BB962C8B-B14F-4D97-AF65-F5344CB8AC3E}">
        <p14:creationId xmlns:p14="http://schemas.microsoft.com/office/powerpoint/2010/main" val="31599911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Let’s take a closer look at the graphical differences between </a:t>
            </a:r>
            <a:r>
              <a:rPr lang="en-US" b="1" dirty="0"/>
              <a:t>convolution</a:t>
            </a:r>
            <a:r>
              <a:rPr lang="en-US" dirty="0"/>
              <a:t>, </a:t>
            </a:r>
            <a:r>
              <a:rPr lang="en-US" b="1" dirty="0"/>
              <a:t>cross-correlation</a:t>
            </a:r>
            <a:r>
              <a:rPr lang="en-US" dirty="0"/>
              <a:t>, and </a:t>
            </a:r>
            <a:r>
              <a:rPr lang="en-US" b="1" dirty="0"/>
              <a:t>autocorrelation</a:t>
            </a:r>
            <a:r>
              <a:rPr lang="en-US" dirty="0"/>
              <a:t>.</a:t>
            </a:r>
          </a:p>
          <a:p>
            <a:r>
              <a:rPr lang="en-US" dirty="0"/>
              <a:t>On the </a:t>
            </a:r>
            <a:r>
              <a:rPr lang="en-US" b="1" dirty="0"/>
              <a:t>left</a:t>
            </a:r>
            <a:r>
              <a:rPr lang="en-US" dirty="0"/>
              <a:t>, we see </a:t>
            </a:r>
            <a:r>
              <a:rPr lang="en-US" b="1" dirty="0"/>
              <a:t>convolution</a:t>
            </a:r>
            <a:r>
              <a:rPr lang="en-US" dirty="0"/>
              <a:t>.</a:t>
            </a:r>
            <a:br>
              <a:rPr lang="en-US" dirty="0"/>
            </a:br>
            <a:r>
              <a:rPr lang="en-US" dirty="0"/>
              <a:t>Function f is in blue, and function g is in red.</a:t>
            </a:r>
            <a:br>
              <a:rPr lang="en-US" dirty="0"/>
            </a:br>
            <a:r>
              <a:rPr lang="en-US" dirty="0"/>
              <a:t>In convolution, g is first </a:t>
            </a:r>
            <a:r>
              <a:rPr lang="en-US" b="1" dirty="0"/>
              <a:t>flipped horizontally</a:t>
            </a:r>
            <a:r>
              <a:rPr lang="en-US" dirty="0"/>
              <a:t>, then </a:t>
            </a:r>
            <a:r>
              <a:rPr lang="en-US" b="1" dirty="0"/>
              <a:t>shifted</a:t>
            </a:r>
            <a:r>
              <a:rPr lang="en-US" dirty="0"/>
              <a:t>, multiplied with f, and finally </a:t>
            </a:r>
            <a:r>
              <a:rPr lang="en-US" b="1" dirty="0"/>
              <a:t>integrated or summed</a:t>
            </a:r>
            <a:r>
              <a:rPr lang="en-US" dirty="0"/>
              <a:t>.</a:t>
            </a:r>
            <a:br>
              <a:rPr lang="en-US" dirty="0"/>
            </a:br>
            <a:r>
              <a:rPr lang="en-US" dirty="0"/>
              <a:t>As g slides across f, the overlapping area is computed at each step — producing the black output curve below.</a:t>
            </a:r>
          </a:p>
          <a:p>
            <a:r>
              <a:rPr lang="en-US" dirty="0"/>
              <a:t>In the </a:t>
            </a:r>
            <a:r>
              <a:rPr lang="en-US" b="1" dirty="0"/>
              <a:t>middle</a:t>
            </a:r>
            <a:r>
              <a:rPr lang="en-US" dirty="0"/>
              <a:t>, we have </a:t>
            </a:r>
            <a:r>
              <a:rPr lang="en-US" b="1" dirty="0"/>
              <a:t>cross-correlation</a:t>
            </a:r>
            <a:r>
              <a:rPr lang="en-US" dirty="0"/>
              <a:t>.</a:t>
            </a:r>
            <a:br>
              <a:rPr lang="en-US" dirty="0"/>
            </a:br>
            <a:r>
              <a:rPr lang="en-US" dirty="0"/>
              <a:t>It follows the same steps as convolution, except there’s </a:t>
            </a:r>
            <a:r>
              <a:rPr lang="en-US" b="1" dirty="0"/>
              <a:t>no flipping</a:t>
            </a:r>
            <a:r>
              <a:rPr lang="en-US" dirty="0"/>
              <a:t> of g.</a:t>
            </a:r>
            <a:br>
              <a:rPr lang="en-US" dirty="0"/>
            </a:br>
            <a:r>
              <a:rPr lang="en-US" dirty="0"/>
              <a:t>We simply shift g across f, multiply at each point, and accumulate the result.</a:t>
            </a:r>
            <a:br>
              <a:rPr lang="en-US" dirty="0"/>
            </a:br>
            <a:r>
              <a:rPr lang="en-US" dirty="0"/>
              <a:t>So visually, the shapes are the same, but the symmetry is different — this matters in pattern alignment and signal comparison.</a:t>
            </a:r>
          </a:p>
          <a:p>
            <a:r>
              <a:rPr lang="en-US" dirty="0"/>
              <a:t>On the </a:t>
            </a:r>
            <a:r>
              <a:rPr lang="en-US" b="1" dirty="0"/>
              <a:t>right</a:t>
            </a:r>
            <a:r>
              <a:rPr lang="en-US" dirty="0"/>
              <a:t>, we see </a:t>
            </a:r>
            <a:r>
              <a:rPr lang="en-US" b="1" dirty="0"/>
              <a:t>autocorrelation</a:t>
            </a:r>
            <a:r>
              <a:rPr lang="en-US" dirty="0"/>
              <a:t>.</a:t>
            </a:r>
            <a:br>
              <a:rPr lang="en-US" dirty="0"/>
            </a:br>
            <a:r>
              <a:rPr lang="en-US" dirty="0"/>
              <a:t>This is a special case of cross-correlation where the </a:t>
            </a:r>
            <a:r>
              <a:rPr lang="en-US" b="1" dirty="0"/>
              <a:t>same function is compared with itself</a:t>
            </a:r>
            <a:r>
              <a:rPr lang="en-US" dirty="0"/>
              <a:t>.</a:t>
            </a:r>
            <a:br>
              <a:rPr lang="en-US" dirty="0"/>
            </a:br>
            <a:r>
              <a:rPr lang="en-US" dirty="0"/>
              <a:t>So g and f are the same, and we measure how well the signal matches its own shifted versions.</a:t>
            </a:r>
            <a:br>
              <a:rPr lang="en-US" dirty="0"/>
            </a:br>
            <a:r>
              <a:rPr lang="en-US" dirty="0"/>
              <a:t>The result usually peaks at zero shift — showing maximum similarity with itself — and falls off on either side.</a:t>
            </a:r>
          </a:p>
          <a:p>
            <a:endParaRPr lang="en-US" dirty="0"/>
          </a:p>
        </p:txBody>
      </p:sp>
      <p:sp>
        <p:nvSpPr>
          <p:cNvPr id="4" name="Slide Number Placeholder 3"/>
          <p:cNvSpPr>
            <a:spLocks noGrp="1"/>
          </p:cNvSpPr>
          <p:nvPr>
            <p:ph type="sldNum" sz="quarter" idx="5"/>
          </p:nvPr>
        </p:nvSpPr>
        <p:spPr/>
        <p:txBody>
          <a:bodyPr/>
          <a:lstStyle/>
          <a:p>
            <a:fld id="{16362E68-66C4-4B01-8D1F-712CF75BFD43}" type="slidenum">
              <a:rPr lang="en-US" smtClean="0"/>
              <a:pPr/>
              <a:t>43</a:t>
            </a:fld>
            <a:endParaRPr lang="en-US"/>
          </a:p>
        </p:txBody>
      </p:sp>
    </p:spTree>
    <p:extLst>
      <p:ext uri="{BB962C8B-B14F-4D97-AF65-F5344CB8AC3E}">
        <p14:creationId xmlns:p14="http://schemas.microsoft.com/office/powerpoint/2010/main" val="236615406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Cross-correlation is deeply connected to the </a:t>
            </a:r>
            <a:r>
              <a:rPr lang="en-US" b="1" dirty="0"/>
              <a:t>Cauchy–Schwarz inequality</a:t>
            </a:r>
            <a:r>
              <a:rPr lang="en-US" dirty="0"/>
              <a:t>.</a:t>
            </a:r>
          </a:p>
          <a:p>
            <a:r>
              <a:rPr lang="en-US" dirty="0"/>
              <a:t>This fundamental result tells us that the </a:t>
            </a:r>
            <a:r>
              <a:rPr lang="en-US" b="1" dirty="0"/>
              <a:t>inner product</a:t>
            </a:r>
            <a:r>
              <a:rPr lang="en-US" dirty="0"/>
              <a:t> of two signals</a:t>
            </a:r>
            <a:br>
              <a:rPr lang="en-US" dirty="0"/>
            </a:br>
            <a:r>
              <a:rPr lang="en-US" dirty="0"/>
              <a:t>is always less than or equal to the product of their norms.</a:t>
            </a:r>
          </a:p>
          <a:p>
            <a:r>
              <a:rPr lang="en-US" dirty="0"/>
              <a:t>Mathematically, this absolute value of the inner product is </a:t>
            </a:r>
            <a:r>
              <a:rPr lang="en-US" b="1" dirty="0"/>
              <a:t>less than or equal to</a:t>
            </a:r>
            <a:br>
              <a:rPr lang="en-US" dirty="0"/>
            </a:br>
            <a:r>
              <a:rPr lang="en-US" dirty="0"/>
              <a:t>the square root of the sum of all the </a:t>
            </a:r>
            <a:r>
              <a:rPr lang="en-US" b="1" dirty="0"/>
              <a:t>a k squared</a:t>
            </a:r>
            <a:br>
              <a:rPr lang="en-US" dirty="0"/>
            </a:br>
            <a:r>
              <a:rPr lang="en-US" dirty="0"/>
              <a:t>times the square root of the sum of all the </a:t>
            </a:r>
            <a:r>
              <a:rPr lang="en-US" b="1" dirty="0"/>
              <a:t>b k squared</a:t>
            </a:r>
            <a:r>
              <a:rPr lang="en-US" dirty="0"/>
              <a:t>.</a:t>
            </a:r>
          </a:p>
          <a:p>
            <a:endParaRPr lang="en-US" dirty="0"/>
          </a:p>
          <a:p>
            <a:r>
              <a:rPr lang="en-US" dirty="0"/>
              <a:t>Equality holds only when the two signals are </a:t>
            </a:r>
            <a:r>
              <a:rPr lang="en-US" b="1" dirty="0"/>
              <a:t>proportional</a:t>
            </a:r>
            <a:r>
              <a:rPr lang="en-US" dirty="0"/>
              <a:t>.</a:t>
            </a:r>
          </a:p>
          <a:p>
            <a:r>
              <a:rPr lang="en-US" dirty="0"/>
              <a:t>This is why cross-correlation works in this way:</a:t>
            </a:r>
            <a:br>
              <a:rPr lang="en-US" dirty="0"/>
            </a:br>
            <a:r>
              <a:rPr lang="en-US" dirty="0"/>
              <a:t>the output is </a:t>
            </a:r>
            <a:r>
              <a:rPr lang="en-US" b="1" dirty="0"/>
              <a:t>maximized</a:t>
            </a:r>
            <a:r>
              <a:rPr lang="en-US" dirty="0"/>
              <a:t> when the signal and the template are </a:t>
            </a:r>
            <a:r>
              <a:rPr lang="en-US" b="1" dirty="0"/>
              <a:t>aligned in shape</a:t>
            </a:r>
            <a:r>
              <a:rPr lang="en-US" dirty="0"/>
              <a:t> —</a:t>
            </a:r>
            <a:br>
              <a:rPr lang="en-US" dirty="0"/>
            </a:br>
            <a:r>
              <a:rPr lang="en-US" dirty="0"/>
              <a:t>a key idea in </a:t>
            </a:r>
            <a:r>
              <a:rPr lang="en-US" b="1" dirty="0"/>
              <a:t>pattern recognition</a:t>
            </a:r>
            <a:r>
              <a:rPr lang="en-US" dirty="0"/>
              <a:t> and </a:t>
            </a:r>
            <a:r>
              <a:rPr lang="en-US" b="1" dirty="0"/>
              <a:t>signal detection</a:t>
            </a:r>
            <a:r>
              <a:rPr lang="en-US" dirty="0"/>
              <a:t>.</a:t>
            </a:r>
          </a:p>
          <a:p>
            <a:endParaRPr lang="en-US" dirty="0"/>
          </a:p>
        </p:txBody>
      </p:sp>
      <p:sp>
        <p:nvSpPr>
          <p:cNvPr id="4" name="Slide Number Placeholder 3"/>
          <p:cNvSpPr>
            <a:spLocks noGrp="1"/>
          </p:cNvSpPr>
          <p:nvPr>
            <p:ph type="sldNum" sz="quarter" idx="5"/>
          </p:nvPr>
        </p:nvSpPr>
        <p:spPr/>
        <p:txBody>
          <a:bodyPr/>
          <a:lstStyle/>
          <a:p>
            <a:fld id="{16362E68-66C4-4B01-8D1F-712CF75BFD43}" type="slidenum">
              <a:rPr lang="en-US" smtClean="0"/>
              <a:pPr/>
              <a:t>44</a:t>
            </a:fld>
            <a:endParaRPr lang="en-US"/>
          </a:p>
        </p:txBody>
      </p:sp>
    </p:spTree>
    <p:extLst>
      <p:ext uri="{BB962C8B-B14F-4D97-AF65-F5344CB8AC3E}">
        <p14:creationId xmlns:p14="http://schemas.microsoft.com/office/powerpoint/2010/main" val="23213904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Here we observe a practical example of cross-correlation in action —</a:t>
            </a:r>
            <a:br>
              <a:rPr lang="en-US" dirty="0"/>
            </a:br>
            <a:r>
              <a:rPr lang="en-US" dirty="0"/>
              <a:t>a technique known as </a:t>
            </a:r>
            <a:r>
              <a:rPr lang="en-US" b="1" dirty="0"/>
              <a:t>matched filtering</a:t>
            </a:r>
            <a:r>
              <a:rPr lang="en-US" dirty="0"/>
              <a:t>, widely used in signal detection.</a:t>
            </a:r>
          </a:p>
          <a:p>
            <a:r>
              <a:rPr lang="en-US" dirty="0"/>
              <a:t>In the top plot, the blue curve shows a </a:t>
            </a:r>
            <a:r>
              <a:rPr lang="en-US" b="1" dirty="0"/>
              <a:t>received signal</a:t>
            </a:r>
            <a:r>
              <a:rPr lang="en-US" dirty="0"/>
              <a:t> that includes both the desired pulse and a lot of background noise.</a:t>
            </a:r>
            <a:br>
              <a:rPr lang="en-US" dirty="0"/>
            </a:br>
            <a:r>
              <a:rPr lang="en-US" dirty="0"/>
              <a:t>The red curve represents the </a:t>
            </a:r>
            <a:r>
              <a:rPr lang="en-US" b="1" dirty="0"/>
              <a:t>matched filter</a:t>
            </a:r>
            <a:r>
              <a:rPr lang="en-US" dirty="0"/>
              <a:t> — a reference copy of the signal we’re trying to detect.</a:t>
            </a:r>
          </a:p>
          <a:p>
            <a:r>
              <a:rPr lang="en-US" dirty="0"/>
              <a:t>The bottom plot shows the </a:t>
            </a:r>
            <a:r>
              <a:rPr lang="en-US" b="1" dirty="0"/>
              <a:t>cross-correlation output</a:t>
            </a:r>
            <a:r>
              <a:rPr lang="en-US" dirty="0"/>
              <a:t>.</a:t>
            </a:r>
            <a:br>
              <a:rPr lang="en-US" dirty="0"/>
            </a:br>
            <a:r>
              <a:rPr lang="en-US" dirty="0"/>
              <a:t>Notice the sharp peak centered around one second — this is where the received signal best aligns with the matched filter.</a:t>
            </a:r>
            <a:br>
              <a:rPr lang="en-US" dirty="0"/>
            </a:br>
            <a:r>
              <a:rPr lang="en-US" dirty="0"/>
              <a:t>That spike tells us that the target signal is present at that location in time.</a:t>
            </a:r>
          </a:p>
          <a:p>
            <a:r>
              <a:rPr lang="en-US" dirty="0"/>
              <a:t>This is exactly what the </a:t>
            </a:r>
            <a:r>
              <a:rPr lang="en-US" b="1" dirty="0"/>
              <a:t>Cauchy–Schwarz inequality</a:t>
            </a:r>
            <a:r>
              <a:rPr lang="en-US" dirty="0"/>
              <a:t> predicted:</a:t>
            </a:r>
            <a:br>
              <a:rPr lang="en-US" dirty="0"/>
            </a:br>
            <a:r>
              <a:rPr lang="en-US" dirty="0"/>
              <a:t>the inner product, or correlation, reaches its </a:t>
            </a:r>
            <a:r>
              <a:rPr lang="en-US" b="1" dirty="0"/>
              <a:t>maximum value</a:t>
            </a:r>
            <a:r>
              <a:rPr lang="en-US" dirty="0"/>
              <a:t> when the two signals are best aligned.</a:t>
            </a:r>
          </a:p>
          <a:p>
            <a:r>
              <a:rPr lang="en-US" dirty="0"/>
              <a:t>Matched filtering like this is essential in many fields:</a:t>
            </a:r>
            <a:br>
              <a:rPr lang="en-US" dirty="0"/>
            </a:br>
            <a:r>
              <a:rPr lang="en-US" dirty="0"/>
              <a:t>from radar and sonar, to wireless communication, and even in medical imaging —</a:t>
            </a:r>
            <a:br>
              <a:rPr lang="en-US" dirty="0"/>
            </a:br>
            <a:r>
              <a:rPr lang="en-US" dirty="0"/>
              <a:t>anywhere we want to pull a weak signal out of noisy data.</a:t>
            </a:r>
          </a:p>
          <a:p>
            <a:r>
              <a:rPr lang="en-US" dirty="0"/>
              <a:t>Cross-correlation gives us a way to do that precisely and efficiently.</a:t>
            </a:r>
          </a:p>
          <a:p>
            <a:endParaRPr lang="en-US" dirty="0"/>
          </a:p>
        </p:txBody>
      </p:sp>
      <p:sp>
        <p:nvSpPr>
          <p:cNvPr id="4" name="Slide Number Placeholder 3"/>
          <p:cNvSpPr>
            <a:spLocks noGrp="1"/>
          </p:cNvSpPr>
          <p:nvPr>
            <p:ph type="sldNum" sz="quarter" idx="10"/>
          </p:nvPr>
        </p:nvSpPr>
        <p:spPr/>
        <p:txBody>
          <a:bodyPr/>
          <a:lstStyle/>
          <a:p>
            <a:fld id="{16362E68-66C4-4B01-8D1F-712CF75BFD43}" type="slidenum">
              <a:rPr lang="en-US" smtClean="0"/>
              <a:pPr/>
              <a:t>45</a:t>
            </a:fld>
            <a:endParaRPr lang="en-US"/>
          </a:p>
        </p:txBody>
      </p:sp>
    </p:spTree>
    <p:extLst>
      <p:ext uri="{BB962C8B-B14F-4D97-AF65-F5344CB8AC3E}">
        <p14:creationId xmlns:p14="http://schemas.microsoft.com/office/powerpoint/2010/main" val="421624168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Let’s take a look at how convolution helps with feature extraction — especially edge detection — which is fundamental in medical imaging and computer vision.</a:t>
            </a:r>
          </a:p>
          <a:p>
            <a:r>
              <a:rPr lang="en-US" dirty="0"/>
              <a:t>In this example, we’re applying a </a:t>
            </a:r>
            <a:r>
              <a:rPr lang="en-US" b="1" dirty="0"/>
              <a:t>Sobel filter</a:t>
            </a:r>
            <a:r>
              <a:rPr lang="en-US" dirty="0"/>
              <a:t>, often used to detect edges in the horizontal direction.</a:t>
            </a:r>
          </a:p>
          <a:p>
            <a:r>
              <a:rPr lang="en-US" dirty="0"/>
              <a:t>We begin with the </a:t>
            </a:r>
            <a:r>
              <a:rPr lang="en-US" b="1" dirty="0"/>
              <a:t>source image</a:t>
            </a:r>
            <a:r>
              <a:rPr lang="en-US" dirty="0"/>
              <a:t>, represented as a grid of pixel intensity values.</a:t>
            </a:r>
            <a:br>
              <a:rPr lang="en-US" dirty="0"/>
            </a:br>
            <a:r>
              <a:rPr lang="en-US" dirty="0"/>
              <a:t>The </a:t>
            </a:r>
            <a:r>
              <a:rPr lang="en-US" b="1" dirty="0"/>
              <a:t>Sobel kernel</a:t>
            </a:r>
            <a:r>
              <a:rPr lang="en-US" dirty="0"/>
              <a:t>, shown here as a 3-by-3 matrix, contains weights:</a:t>
            </a:r>
            <a:br>
              <a:rPr lang="en-US" dirty="0"/>
            </a:br>
            <a:r>
              <a:rPr lang="en-US" dirty="0"/>
              <a:t>negative one, zero, and positive one across columns — designed to emphasize horizontal changes.</a:t>
            </a:r>
          </a:p>
          <a:p>
            <a:r>
              <a:rPr lang="en-US" dirty="0"/>
              <a:t>Here’s what happens:</a:t>
            </a:r>
            <a:br>
              <a:rPr lang="en-US" dirty="0"/>
            </a:br>
            <a:r>
              <a:rPr lang="en-US" dirty="0"/>
              <a:t>We align the filter over a 3-by-3 region of the input image.</a:t>
            </a:r>
            <a:br>
              <a:rPr lang="en-US" dirty="0"/>
            </a:br>
            <a:r>
              <a:rPr lang="en-US" dirty="0"/>
              <a:t>Then, we compute the </a:t>
            </a:r>
            <a:r>
              <a:rPr lang="en-US" b="1" dirty="0"/>
              <a:t>sum of products</a:t>
            </a:r>
            <a:r>
              <a:rPr lang="en-US" dirty="0"/>
              <a:t> between the kernel weights and the underlying pixel values.</a:t>
            </a:r>
          </a:p>
          <a:p>
            <a:r>
              <a:rPr lang="en-US" dirty="0"/>
              <a:t>For instance, at this highlighted region, the computation looks like this:</a:t>
            </a:r>
          </a:p>
          <a:p>
            <a:r>
              <a:rPr lang="en-US" dirty="0"/>
              <a:t> –1 times 3, plus 0 times 0, plus 1 times 1,</a:t>
            </a:r>
            <a:br>
              <a:rPr lang="en-US" dirty="0"/>
            </a:br>
            <a:r>
              <a:rPr lang="en-US" dirty="0"/>
              <a:t> plus –2 times 2, plus 0 times 6, plus 2 times 2,</a:t>
            </a:r>
            <a:br>
              <a:rPr lang="en-US" dirty="0"/>
            </a:br>
            <a:r>
              <a:rPr lang="en-US" dirty="0"/>
              <a:t> plus –1 times 2, plus 0 times 4, plus 1 times 1.</a:t>
            </a:r>
          </a:p>
          <a:p>
            <a:r>
              <a:rPr lang="en-US" dirty="0"/>
              <a:t>When we add those up, we get –3.</a:t>
            </a:r>
            <a:br>
              <a:rPr lang="en-US" dirty="0"/>
            </a:br>
            <a:r>
              <a:rPr lang="en-US" dirty="0"/>
              <a:t>That value becomes the output for the corresponding destination pixel.</a:t>
            </a:r>
          </a:p>
          <a:p>
            <a:r>
              <a:rPr lang="en-US" dirty="0"/>
              <a:t>Now, as the filter slides across the image — pixel by pixel — this process repeats.</a:t>
            </a:r>
            <a:br>
              <a:rPr lang="en-US" dirty="0"/>
            </a:br>
            <a:r>
              <a:rPr lang="en-US" dirty="0"/>
              <a:t>Wherever there’s a strong horizontal transition, the filter produces a large response.</a:t>
            </a:r>
            <a:br>
              <a:rPr lang="en-US" dirty="0"/>
            </a:br>
            <a:r>
              <a:rPr lang="en-US" dirty="0"/>
              <a:t>Where the region is uniform, the response is small or zero.</a:t>
            </a:r>
          </a:p>
          <a:p>
            <a:r>
              <a:rPr lang="en-US" dirty="0"/>
              <a:t>This is how edge detection works:</a:t>
            </a:r>
            <a:br>
              <a:rPr lang="en-US" dirty="0"/>
            </a:br>
            <a:r>
              <a:rPr lang="en-US" dirty="0"/>
              <a:t>It uses convolution to detect where </a:t>
            </a:r>
            <a:r>
              <a:rPr lang="en-US" b="1" dirty="0"/>
              <a:t>intensity changes rapidly</a:t>
            </a:r>
            <a:r>
              <a:rPr lang="en-US" dirty="0"/>
              <a:t>, allowing us to extract important </a:t>
            </a:r>
            <a:r>
              <a:rPr lang="en-US" b="1" dirty="0"/>
              <a:t>structural features</a:t>
            </a:r>
            <a:r>
              <a:rPr lang="en-US" dirty="0"/>
              <a:t> from an image.</a:t>
            </a:r>
          </a:p>
          <a:p>
            <a:endParaRPr lang="en-US" dirty="0"/>
          </a:p>
        </p:txBody>
      </p:sp>
      <p:sp>
        <p:nvSpPr>
          <p:cNvPr id="4" name="Slide Number Placeholder 3"/>
          <p:cNvSpPr>
            <a:spLocks noGrp="1"/>
          </p:cNvSpPr>
          <p:nvPr>
            <p:ph type="sldNum" sz="quarter" idx="5"/>
          </p:nvPr>
        </p:nvSpPr>
        <p:spPr/>
        <p:txBody>
          <a:bodyPr/>
          <a:lstStyle/>
          <a:p>
            <a:fld id="{16362E68-66C4-4B01-8D1F-712CF75BFD43}" type="slidenum">
              <a:rPr lang="en-US" smtClean="0"/>
              <a:pPr/>
              <a:t>46</a:t>
            </a:fld>
            <a:endParaRPr lang="en-US"/>
          </a:p>
        </p:txBody>
      </p:sp>
    </p:spTree>
    <p:extLst>
      <p:ext uri="{BB962C8B-B14F-4D97-AF65-F5344CB8AC3E}">
        <p14:creationId xmlns:p14="http://schemas.microsoft.com/office/powerpoint/2010/main" val="14400060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To detect edges effectively across all directions, we apply multiple convolution filters — each oriented differently.</a:t>
            </a:r>
          </a:p>
          <a:p>
            <a:r>
              <a:rPr lang="en-US" dirty="0"/>
              <a:t>The image on the left shows the original grayscale input. On the right, we see the result of applying the </a:t>
            </a:r>
            <a:r>
              <a:rPr lang="en-US" b="1" dirty="0"/>
              <a:t>Canny edge detector</a:t>
            </a:r>
            <a:r>
              <a:rPr lang="en-US" dirty="0"/>
              <a:t>, one of the most widely used edge detection algorithms.</a:t>
            </a:r>
          </a:p>
          <a:p>
            <a:r>
              <a:rPr lang="en-US" dirty="0"/>
              <a:t>What makes the Canny method powerful is its </a:t>
            </a:r>
            <a:r>
              <a:rPr lang="en-US" b="1" dirty="0"/>
              <a:t>multi-stage approach</a:t>
            </a:r>
            <a:r>
              <a:rPr lang="en-US" dirty="0"/>
              <a:t>. It starts with smoothing the image to suppress noise, then applies gradient-based filters in horizontal and vertical directions. From there, it calculates the </a:t>
            </a:r>
            <a:r>
              <a:rPr lang="en-US" b="1" dirty="0"/>
              <a:t>gradient magnitude and direction</a:t>
            </a:r>
            <a:r>
              <a:rPr lang="en-US" dirty="0"/>
              <a:t> at each pixel.</a:t>
            </a:r>
          </a:p>
          <a:p>
            <a:r>
              <a:rPr lang="en-US" dirty="0"/>
              <a:t>The algorithm then performs </a:t>
            </a:r>
            <a:r>
              <a:rPr lang="en-US" b="1" dirty="0"/>
              <a:t>non-maximum suppression</a:t>
            </a:r>
            <a:r>
              <a:rPr lang="en-US" dirty="0"/>
              <a:t> to thin out the edges, and finally applies </a:t>
            </a:r>
            <a:r>
              <a:rPr lang="en-US" b="1" dirty="0"/>
              <a:t>double thresholding</a:t>
            </a:r>
            <a:r>
              <a:rPr lang="en-US" dirty="0"/>
              <a:t> and </a:t>
            </a:r>
            <a:r>
              <a:rPr lang="en-US" b="1" dirty="0"/>
              <a:t>edge tracking by hysteresis</a:t>
            </a:r>
            <a:r>
              <a:rPr lang="en-US" dirty="0"/>
              <a:t> to preserve only the most significant contours.</a:t>
            </a:r>
          </a:p>
          <a:p>
            <a:r>
              <a:rPr lang="en-US" dirty="0"/>
              <a:t>The result is a crisp, binary edge map — like the one shown here — which highlights boundaries of objects and fine details.</a:t>
            </a:r>
          </a:p>
          <a:p>
            <a:endParaRPr lang="en-US" dirty="0"/>
          </a:p>
        </p:txBody>
      </p:sp>
      <p:sp>
        <p:nvSpPr>
          <p:cNvPr id="4" name="Slide Number Placeholder 3"/>
          <p:cNvSpPr>
            <a:spLocks noGrp="1"/>
          </p:cNvSpPr>
          <p:nvPr>
            <p:ph type="sldNum" sz="quarter" idx="5"/>
          </p:nvPr>
        </p:nvSpPr>
        <p:spPr/>
        <p:txBody>
          <a:bodyPr/>
          <a:lstStyle/>
          <a:p>
            <a:fld id="{16362E68-66C4-4B01-8D1F-712CF75BFD43}" type="slidenum">
              <a:rPr lang="en-US" smtClean="0"/>
              <a:pPr/>
              <a:t>47</a:t>
            </a:fld>
            <a:endParaRPr lang="en-US"/>
          </a:p>
        </p:txBody>
      </p:sp>
    </p:spTree>
    <p:extLst>
      <p:ext uri="{BB962C8B-B14F-4D97-AF65-F5344CB8AC3E}">
        <p14:creationId xmlns:p14="http://schemas.microsoft.com/office/powerpoint/2010/main" val="300879646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To sum up:</a:t>
            </a:r>
            <a:br>
              <a:rPr lang="en-US" dirty="0"/>
            </a:br>
            <a:r>
              <a:rPr lang="en-US" dirty="0"/>
              <a:t>We explored linear systems, especially shift-invariant systems.</a:t>
            </a:r>
            <a:br>
              <a:rPr lang="en-US" dirty="0"/>
            </a:br>
            <a:r>
              <a:rPr lang="en-US" dirty="0"/>
              <a:t>We saw how convolution helps compute the system output.</a:t>
            </a:r>
            <a:br>
              <a:rPr lang="en-US" dirty="0"/>
            </a:br>
            <a:r>
              <a:rPr lang="en-US" dirty="0"/>
              <a:t>We saw how cross-correlation relates to convolution and supports feature detection.</a:t>
            </a:r>
          </a:p>
          <a:p>
            <a:r>
              <a:rPr lang="en-US" dirty="0"/>
              <a:t>We learned how decomposing functions into impulses connects to these operations.</a:t>
            </a:r>
          </a:p>
          <a:p>
            <a:r>
              <a:rPr lang="en-US" dirty="0"/>
              <a:t>Convolution can feel tricky at first, but with practice, it becomes a powerful, intuitive tool.</a:t>
            </a:r>
          </a:p>
          <a:p>
            <a:endParaRPr lang="en-US" dirty="0"/>
          </a:p>
        </p:txBody>
      </p:sp>
      <p:sp>
        <p:nvSpPr>
          <p:cNvPr id="4" name="Slide Number Placeholder 3"/>
          <p:cNvSpPr>
            <a:spLocks noGrp="1"/>
          </p:cNvSpPr>
          <p:nvPr>
            <p:ph type="sldNum" sz="quarter" idx="5"/>
          </p:nvPr>
        </p:nvSpPr>
        <p:spPr/>
        <p:txBody>
          <a:bodyPr/>
          <a:lstStyle/>
          <a:p>
            <a:fld id="{16362E68-66C4-4B01-8D1F-712CF75BFD43}" type="slidenum">
              <a:rPr lang="en-US" smtClean="0"/>
              <a:pPr/>
              <a:t>48</a:t>
            </a:fld>
            <a:endParaRPr lang="en-US"/>
          </a:p>
        </p:txBody>
      </p:sp>
    </p:spTree>
    <p:extLst>
      <p:ext uri="{BB962C8B-B14F-4D97-AF65-F5344CB8AC3E}">
        <p14:creationId xmlns:p14="http://schemas.microsoft.com/office/powerpoint/2010/main" val="27830897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Now it’s time to apply what we’ve learned.</a:t>
            </a:r>
          </a:p>
          <a:p>
            <a:r>
              <a:rPr lang="en-US" dirty="0"/>
              <a:t>Suppose the time constant RC equals 1 second. Use MATLAB to generate the plots shown in the </a:t>
            </a:r>
            <a:r>
              <a:rPr lang="en-US" b="1" dirty="0"/>
              <a:t>first row</a:t>
            </a:r>
            <a:r>
              <a:rPr lang="en-US" dirty="0"/>
              <a:t>.</a:t>
            </a:r>
          </a:p>
          <a:p>
            <a:r>
              <a:rPr lang="en-US" dirty="0"/>
              <a:t>Your goal is to compute the convolution of the input signal with the system’s impulse response:</a:t>
            </a:r>
          </a:p>
          <a:p>
            <a:r>
              <a:rPr lang="en-US" dirty="0"/>
              <a:t> h of t equals R C times e to the power of minus t over R C, multiplied by the unit step function</a:t>
            </a:r>
          </a:p>
          <a:p>
            <a:r>
              <a:rPr lang="en-US" dirty="0"/>
              <a:t>Focus on how the input signal and the impulse response interact to produce the output.</a:t>
            </a:r>
          </a:p>
          <a:p>
            <a:r>
              <a:rPr lang="en-US" dirty="0"/>
              <a:t>Please submit:</a:t>
            </a:r>
          </a:p>
          <a:p>
            <a:r>
              <a:rPr lang="en-US" dirty="0"/>
              <a:t>– Your MATLAB script</a:t>
            </a:r>
            <a:br>
              <a:rPr lang="en-US" dirty="0"/>
            </a:br>
            <a:r>
              <a:rPr lang="en-US" dirty="0"/>
              <a:t>– The resulting figures</a:t>
            </a:r>
            <a:br>
              <a:rPr lang="en-US" dirty="0"/>
            </a:br>
            <a:r>
              <a:rPr lang="en-US" dirty="0"/>
              <a:t>– All combined in a Word document</a:t>
            </a:r>
          </a:p>
          <a:p>
            <a:endParaRPr lang="en-US" dirty="0"/>
          </a:p>
        </p:txBody>
      </p:sp>
      <p:sp>
        <p:nvSpPr>
          <p:cNvPr id="4" name="Slide Number Placeholder 3"/>
          <p:cNvSpPr>
            <a:spLocks noGrp="1"/>
          </p:cNvSpPr>
          <p:nvPr>
            <p:ph type="sldNum" sz="quarter" idx="5"/>
          </p:nvPr>
        </p:nvSpPr>
        <p:spPr/>
        <p:txBody>
          <a:bodyPr/>
          <a:lstStyle/>
          <a:p>
            <a:fld id="{16362E68-66C4-4B01-8D1F-712CF75BFD43}" type="slidenum">
              <a:rPr lang="en-US" smtClean="0"/>
              <a:pPr/>
              <a:t>49</a:t>
            </a:fld>
            <a:endParaRPr lang="en-US"/>
          </a:p>
        </p:txBody>
      </p:sp>
    </p:spTree>
    <p:extLst>
      <p:ext uri="{BB962C8B-B14F-4D97-AF65-F5344CB8AC3E}">
        <p14:creationId xmlns:p14="http://schemas.microsoft.com/office/powerpoint/2010/main" val="3316939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125" name="Line 29"/>
          <p:cNvSpPr>
            <a:spLocks noChangeShapeType="1"/>
          </p:cNvSpPr>
          <p:nvPr userDrawn="1"/>
        </p:nvSpPr>
        <p:spPr bwMode="auto">
          <a:xfrm>
            <a:off x="1117600" y="457200"/>
            <a:ext cx="0" cy="6096000"/>
          </a:xfrm>
          <a:prstGeom prst="line">
            <a:avLst/>
          </a:prstGeom>
          <a:noFill/>
          <a:ln w="9525">
            <a:solidFill>
              <a:schemeClr val="bg1"/>
            </a:solidFill>
            <a:round/>
            <a:headEnd/>
            <a:tailEnd/>
          </a:ln>
        </p:spPr>
        <p:txBody>
          <a:bodyPr wrap="none" anchor="ctr"/>
          <a:lstStyle/>
          <a:p>
            <a:pPr eaLnBrk="0" hangingPunct="0"/>
            <a:endParaRPr lang="en-US" sz="2400">
              <a:solidFill>
                <a:srgbClr val="000000"/>
              </a:solidFill>
              <a:latin typeface="Arial" charset="0"/>
              <a:cs typeface="+mn-cs"/>
            </a:endParaRPr>
          </a:p>
        </p:txBody>
      </p:sp>
      <p:sp>
        <p:nvSpPr>
          <p:cNvPr id="4126" name="Line 30"/>
          <p:cNvSpPr>
            <a:spLocks noChangeShapeType="1"/>
          </p:cNvSpPr>
          <p:nvPr userDrawn="1"/>
        </p:nvSpPr>
        <p:spPr bwMode="auto">
          <a:xfrm>
            <a:off x="1117600" y="6553200"/>
            <a:ext cx="10566400" cy="0"/>
          </a:xfrm>
          <a:prstGeom prst="line">
            <a:avLst/>
          </a:prstGeom>
          <a:noFill/>
          <a:ln w="9525">
            <a:solidFill>
              <a:schemeClr val="bg1"/>
            </a:solidFill>
            <a:round/>
            <a:headEnd/>
            <a:tailEnd/>
          </a:ln>
        </p:spPr>
        <p:txBody>
          <a:bodyPr wrap="none" anchor="ctr"/>
          <a:lstStyle/>
          <a:p>
            <a:pPr eaLnBrk="0" hangingPunct="0"/>
            <a:endParaRPr lang="en-US" sz="2400">
              <a:solidFill>
                <a:srgbClr val="000000"/>
              </a:solidFill>
              <a:latin typeface="Arial" charset="0"/>
              <a:cs typeface="+mn-cs"/>
            </a:endParaRPr>
          </a:p>
        </p:txBody>
      </p:sp>
      <p:sp>
        <p:nvSpPr>
          <p:cNvPr id="4127" name="Line 31"/>
          <p:cNvSpPr>
            <a:spLocks noChangeShapeType="1"/>
          </p:cNvSpPr>
          <p:nvPr userDrawn="1"/>
        </p:nvSpPr>
        <p:spPr bwMode="auto">
          <a:xfrm flipV="1">
            <a:off x="11684000" y="5791200"/>
            <a:ext cx="0" cy="762000"/>
          </a:xfrm>
          <a:prstGeom prst="line">
            <a:avLst/>
          </a:prstGeom>
          <a:noFill/>
          <a:ln w="9525">
            <a:solidFill>
              <a:schemeClr val="bg1"/>
            </a:solidFill>
            <a:round/>
            <a:headEnd/>
            <a:tailEnd/>
          </a:ln>
        </p:spPr>
        <p:txBody>
          <a:bodyPr wrap="none" anchor="ctr"/>
          <a:lstStyle/>
          <a:p>
            <a:pPr eaLnBrk="0" hangingPunct="0"/>
            <a:endParaRPr lang="en-US" sz="2400">
              <a:solidFill>
                <a:srgbClr val="000000"/>
              </a:solidFill>
              <a:latin typeface="Arial" charset="0"/>
              <a:cs typeface="+mn-cs"/>
            </a:endParaRPr>
          </a:p>
        </p:txBody>
      </p:sp>
      <p:sp>
        <p:nvSpPr>
          <p:cNvPr id="4128" name="Line 32"/>
          <p:cNvSpPr>
            <a:spLocks noChangeShapeType="1"/>
          </p:cNvSpPr>
          <p:nvPr userDrawn="1"/>
        </p:nvSpPr>
        <p:spPr bwMode="auto">
          <a:xfrm flipH="1">
            <a:off x="8636000" y="5791200"/>
            <a:ext cx="3048000" cy="0"/>
          </a:xfrm>
          <a:prstGeom prst="line">
            <a:avLst/>
          </a:prstGeom>
          <a:noFill/>
          <a:ln w="9525">
            <a:solidFill>
              <a:schemeClr val="bg1"/>
            </a:solidFill>
            <a:round/>
            <a:headEnd/>
            <a:tailEnd/>
          </a:ln>
        </p:spPr>
        <p:txBody>
          <a:bodyPr wrap="none" anchor="ctr"/>
          <a:lstStyle/>
          <a:p>
            <a:pPr eaLnBrk="0" hangingPunct="0"/>
            <a:endParaRPr lang="en-US" sz="2400">
              <a:solidFill>
                <a:srgbClr val="000000"/>
              </a:solidFill>
              <a:latin typeface="Arial" charset="0"/>
              <a:cs typeface="+mn-cs"/>
            </a:endParaRPr>
          </a:p>
        </p:txBody>
      </p:sp>
      <p:sp>
        <p:nvSpPr>
          <p:cNvPr id="4131" name="Line 35"/>
          <p:cNvSpPr>
            <a:spLocks noChangeShapeType="1"/>
          </p:cNvSpPr>
          <p:nvPr userDrawn="1"/>
        </p:nvSpPr>
        <p:spPr bwMode="auto">
          <a:xfrm>
            <a:off x="1117600" y="457200"/>
            <a:ext cx="1727200" cy="0"/>
          </a:xfrm>
          <a:prstGeom prst="line">
            <a:avLst/>
          </a:prstGeom>
          <a:noFill/>
          <a:ln w="9525">
            <a:solidFill>
              <a:schemeClr val="bg1"/>
            </a:solidFill>
            <a:round/>
            <a:headEnd/>
            <a:tailEnd/>
          </a:ln>
        </p:spPr>
        <p:txBody>
          <a:bodyPr wrap="none" anchor="ctr"/>
          <a:lstStyle/>
          <a:p>
            <a:pPr eaLnBrk="0" hangingPunct="0"/>
            <a:endParaRPr lang="en-US" sz="2400">
              <a:solidFill>
                <a:srgbClr val="000000"/>
              </a:solidFill>
              <a:latin typeface="Arial" charset="0"/>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152400"/>
            <a:ext cx="11785600" cy="838200"/>
          </a:xfrm>
        </p:spPr>
        <p:txBody>
          <a:bodyPr/>
          <a:lstStyle>
            <a:lvl1pPr algn="ctr">
              <a:defRPr sz="3600" b="1">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203200" y="1066800"/>
            <a:ext cx="11785600" cy="4419600"/>
          </a:xfrm>
        </p:spPr>
        <p:txBody>
          <a:bodyPr/>
          <a:lstStyle>
            <a:lvl1pPr marL="457200" indent="-457200">
              <a:buClrTx/>
              <a:buFont typeface="Arial" panose="020B0604020202020204" pitchFamily="34" charset="0"/>
              <a:buChar char="•"/>
              <a:defRPr b="1"/>
            </a:lvl1pPr>
          </a:lstStyle>
          <a:p>
            <a:pPr lvl="0"/>
            <a:r>
              <a:rPr lang="en-US" dirty="0"/>
              <a:t>Click to edit Master text styles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pPr eaLnBrk="0" hangingPunct="0"/>
            <a:fld id="{42551609-7012-4524-8F91-CAEC89A8DA26}" type="slidenum">
              <a:rPr lang="en-US">
                <a:solidFill>
                  <a:srgbClr val="000000"/>
                </a:solidFill>
                <a:latin typeface="Arial" charset="0"/>
                <a:cs typeface="+mn-cs"/>
              </a:rPr>
              <a:pPr eaLnBrk="0" hangingPunct="0"/>
              <a:t>‹#›</a:t>
            </a:fld>
            <a:endParaRPr lang="en-US">
              <a:solidFill>
                <a:srgbClr val="000000"/>
              </a:solidFill>
              <a:latin typeface="Arial" charset="0"/>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17600" y="16764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00800" y="16764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pPr eaLnBrk="0" hangingPunct="0"/>
            <a:fld id="{EC38EB37-9F67-488F-AFCB-318363D4DA79}" type="slidenum">
              <a:rPr lang="en-US">
                <a:solidFill>
                  <a:srgbClr val="000000"/>
                </a:solidFill>
                <a:latin typeface="Arial" charset="0"/>
                <a:cs typeface="+mn-cs"/>
              </a:rPr>
              <a:pPr eaLnBrk="0" hangingPunct="0"/>
              <a:t>‹#›</a:t>
            </a:fld>
            <a:endParaRPr lang="en-US">
              <a:solidFill>
                <a:srgbClr val="000000"/>
              </a:solidFill>
              <a:latin typeface="Arial" charset="0"/>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a:xfrm>
            <a:off x="146051" y="6288088"/>
            <a:ext cx="1219200" cy="457200"/>
          </a:xfrm>
          <a:prstGeom prst="rect">
            <a:avLst/>
          </a:prstGeom>
        </p:spPr>
        <p:txBody>
          <a:bodyPr/>
          <a:lstStyle>
            <a:lvl1pPr>
              <a:defRPr/>
            </a:lvl1pPr>
          </a:lstStyle>
          <a:p>
            <a:pPr eaLnBrk="0" hangingPunct="0"/>
            <a:fld id="{325EC937-4EEB-42FF-9745-F8ECC712C67B}" type="slidenum">
              <a:rPr lang="en-US">
                <a:solidFill>
                  <a:srgbClr val="000000"/>
                </a:solidFill>
                <a:latin typeface="Arial" charset="0"/>
                <a:cs typeface="+mn-cs"/>
              </a:rPr>
              <a:pPr eaLnBrk="0" hangingPunct="0"/>
              <a:t>‹#›</a:t>
            </a:fld>
            <a:endParaRPr lang="en-US">
              <a:solidFill>
                <a:srgbClr val="000000"/>
              </a:solidFill>
              <a:latin typeface="Arial" charset="0"/>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a:xfrm>
            <a:off x="146051" y="6288088"/>
            <a:ext cx="1219200" cy="457200"/>
          </a:xfrm>
          <a:prstGeom prst="rect">
            <a:avLst/>
          </a:prstGeom>
        </p:spPr>
        <p:txBody>
          <a:bodyPr/>
          <a:lstStyle>
            <a:lvl1pPr>
              <a:defRPr/>
            </a:lvl1pPr>
          </a:lstStyle>
          <a:p>
            <a:pPr eaLnBrk="0" hangingPunct="0"/>
            <a:fld id="{26E09F27-08E5-47E1-9081-CDEF6FA99715}" type="slidenum">
              <a:rPr lang="en-US">
                <a:solidFill>
                  <a:srgbClr val="000000"/>
                </a:solidFill>
                <a:latin typeface="Arial" charset="0"/>
                <a:cs typeface="+mn-cs"/>
              </a:rPr>
              <a:pPr eaLnBrk="0" hangingPunct="0"/>
              <a:t>‹#›</a:t>
            </a:fld>
            <a:endParaRPr lang="en-US">
              <a:solidFill>
                <a:srgbClr val="000000"/>
              </a:solidFill>
              <a:latin typeface="Arial" charset="0"/>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10972800" y="6561667"/>
            <a:ext cx="1219200" cy="296333"/>
          </a:xfrm>
          <a:prstGeom prst="rect">
            <a:avLst/>
          </a:prstGeom>
        </p:spPr>
        <p:txBody>
          <a:bodyPr/>
          <a:lstStyle>
            <a:lvl1pPr algn="r">
              <a:defRPr sz="1200">
                <a:solidFill>
                  <a:srgbClr val="00B050"/>
                </a:solidFill>
              </a:defRPr>
            </a:lvl1pPr>
          </a:lstStyle>
          <a:p>
            <a:pPr eaLnBrk="0" hangingPunct="0"/>
            <a:fld id="{CC251E47-B223-48F4-A299-CE4A766087D6}" type="slidenum">
              <a:rPr lang="en-US" smtClean="0">
                <a:latin typeface="Arial" charset="0"/>
                <a:cs typeface="+mn-cs"/>
              </a:rPr>
              <a:pPr eaLnBrk="0" hangingPunct="0"/>
              <a:t>‹#›</a:t>
            </a:fld>
            <a:endParaRPr lang="en-US" dirty="0">
              <a:latin typeface="Arial" charset="0"/>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pPr eaLnBrk="0" hangingPunct="0"/>
            <a:fld id="{5BB27830-E813-4D5B-BECC-EB4E76333BEB}" type="slidenum">
              <a:rPr lang="en-US">
                <a:solidFill>
                  <a:srgbClr val="000000"/>
                </a:solidFill>
                <a:latin typeface="Arial" charset="0"/>
                <a:cs typeface="+mn-cs"/>
              </a:rPr>
              <a:pPr eaLnBrk="0" hangingPunct="0"/>
              <a:t>‹#›</a:t>
            </a:fld>
            <a:endParaRPr lang="en-US">
              <a:solidFill>
                <a:srgbClr val="000000"/>
              </a:solidFill>
              <a:latin typeface="Arial" charset="0"/>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pPr eaLnBrk="0" hangingPunct="0"/>
            <a:fld id="{8950E5CE-EF1E-495C-8D34-E9307ADFFB20}" type="slidenum">
              <a:rPr lang="en-US">
                <a:solidFill>
                  <a:srgbClr val="000000"/>
                </a:solidFill>
                <a:latin typeface="Arial" charset="0"/>
                <a:cs typeface="+mn-cs"/>
              </a:rPr>
              <a:pPr eaLnBrk="0" hangingPunct="0"/>
              <a:t>‹#›</a:t>
            </a:fld>
            <a:endParaRPr lang="en-US">
              <a:solidFill>
                <a:srgbClr val="000000"/>
              </a:solidFill>
              <a:latin typeface="Arial" charset="0"/>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pPr eaLnBrk="0" hangingPunct="0"/>
            <a:fld id="{EDA7D03F-0D9F-4D6E-A9DA-DA22B08C88FB}" type="slidenum">
              <a:rPr lang="en-US">
                <a:solidFill>
                  <a:srgbClr val="000000"/>
                </a:solidFill>
                <a:latin typeface="Arial" charset="0"/>
                <a:cs typeface="+mn-cs"/>
              </a:rPr>
              <a:pPr eaLnBrk="0" hangingPunct="0"/>
              <a:t>‹#›</a:t>
            </a:fld>
            <a:endParaRPr lang="en-US">
              <a:solidFill>
                <a:srgbClr val="000000"/>
              </a:solidFill>
              <a:latin typeface="Arial" charset="0"/>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90000" y="3048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7600" y="3048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pPr eaLnBrk="0" hangingPunct="0"/>
            <a:fld id="{5D488692-0FB6-433E-9CFB-08D03A34DD8A}" type="slidenum">
              <a:rPr lang="en-US">
                <a:solidFill>
                  <a:srgbClr val="000000"/>
                </a:solidFill>
                <a:latin typeface="Arial" charset="0"/>
                <a:cs typeface="+mn-cs"/>
              </a:rPr>
              <a:pPr eaLnBrk="0" hangingPunct="0"/>
              <a:t>‹#›</a:t>
            </a:fld>
            <a:endParaRPr lang="en-US">
              <a:solidFill>
                <a:srgbClr val="000000"/>
              </a:solidFill>
              <a:latin typeface="Arial" charset="0"/>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125" name="Line 29"/>
          <p:cNvSpPr>
            <a:spLocks noChangeShapeType="1"/>
          </p:cNvSpPr>
          <p:nvPr userDrawn="1"/>
        </p:nvSpPr>
        <p:spPr bwMode="auto">
          <a:xfrm>
            <a:off x="1117600" y="457200"/>
            <a:ext cx="0" cy="6096000"/>
          </a:xfrm>
          <a:prstGeom prst="line">
            <a:avLst/>
          </a:prstGeom>
          <a:noFill/>
          <a:ln w="9525">
            <a:solidFill>
              <a:schemeClr val="bg1"/>
            </a:solidFill>
            <a:round/>
            <a:headEnd/>
            <a:tailEnd/>
          </a:ln>
        </p:spPr>
        <p:txBody>
          <a:bodyPr wrap="none" anchor="ctr"/>
          <a:lstStyle/>
          <a:p>
            <a:pPr eaLnBrk="0" hangingPunct="0"/>
            <a:endParaRPr lang="en-US" sz="2400">
              <a:solidFill>
                <a:srgbClr val="000000"/>
              </a:solidFill>
              <a:latin typeface="Arial" charset="0"/>
              <a:cs typeface="+mn-cs"/>
            </a:endParaRPr>
          </a:p>
        </p:txBody>
      </p:sp>
      <p:sp>
        <p:nvSpPr>
          <p:cNvPr id="4126" name="Line 30"/>
          <p:cNvSpPr>
            <a:spLocks noChangeShapeType="1"/>
          </p:cNvSpPr>
          <p:nvPr userDrawn="1"/>
        </p:nvSpPr>
        <p:spPr bwMode="auto">
          <a:xfrm>
            <a:off x="1117600" y="6553200"/>
            <a:ext cx="10566400" cy="0"/>
          </a:xfrm>
          <a:prstGeom prst="line">
            <a:avLst/>
          </a:prstGeom>
          <a:noFill/>
          <a:ln w="9525">
            <a:solidFill>
              <a:schemeClr val="bg1"/>
            </a:solidFill>
            <a:round/>
            <a:headEnd/>
            <a:tailEnd/>
          </a:ln>
        </p:spPr>
        <p:txBody>
          <a:bodyPr wrap="none" anchor="ctr"/>
          <a:lstStyle/>
          <a:p>
            <a:pPr eaLnBrk="0" hangingPunct="0"/>
            <a:endParaRPr lang="en-US" sz="2400">
              <a:solidFill>
                <a:srgbClr val="000000"/>
              </a:solidFill>
              <a:latin typeface="Arial" charset="0"/>
              <a:cs typeface="+mn-cs"/>
            </a:endParaRPr>
          </a:p>
        </p:txBody>
      </p:sp>
      <p:sp>
        <p:nvSpPr>
          <p:cNvPr id="4127" name="Line 31"/>
          <p:cNvSpPr>
            <a:spLocks noChangeShapeType="1"/>
          </p:cNvSpPr>
          <p:nvPr userDrawn="1"/>
        </p:nvSpPr>
        <p:spPr bwMode="auto">
          <a:xfrm flipV="1">
            <a:off x="11684000" y="5791200"/>
            <a:ext cx="0" cy="762000"/>
          </a:xfrm>
          <a:prstGeom prst="line">
            <a:avLst/>
          </a:prstGeom>
          <a:noFill/>
          <a:ln w="9525">
            <a:solidFill>
              <a:schemeClr val="bg1"/>
            </a:solidFill>
            <a:round/>
            <a:headEnd/>
            <a:tailEnd/>
          </a:ln>
        </p:spPr>
        <p:txBody>
          <a:bodyPr wrap="none" anchor="ctr"/>
          <a:lstStyle/>
          <a:p>
            <a:pPr eaLnBrk="0" hangingPunct="0"/>
            <a:endParaRPr lang="en-US" sz="2400">
              <a:solidFill>
                <a:srgbClr val="000000"/>
              </a:solidFill>
              <a:latin typeface="Arial" charset="0"/>
              <a:cs typeface="+mn-cs"/>
            </a:endParaRPr>
          </a:p>
        </p:txBody>
      </p:sp>
      <p:sp>
        <p:nvSpPr>
          <p:cNvPr id="4128" name="Line 32"/>
          <p:cNvSpPr>
            <a:spLocks noChangeShapeType="1"/>
          </p:cNvSpPr>
          <p:nvPr userDrawn="1"/>
        </p:nvSpPr>
        <p:spPr bwMode="auto">
          <a:xfrm flipH="1">
            <a:off x="8636000" y="5791200"/>
            <a:ext cx="3048000" cy="0"/>
          </a:xfrm>
          <a:prstGeom prst="line">
            <a:avLst/>
          </a:prstGeom>
          <a:noFill/>
          <a:ln w="9525">
            <a:solidFill>
              <a:schemeClr val="bg1"/>
            </a:solidFill>
            <a:round/>
            <a:headEnd/>
            <a:tailEnd/>
          </a:ln>
        </p:spPr>
        <p:txBody>
          <a:bodyPr wrap="none" anchor="ctr"/>
          <a:lstStyle/>
          <a:p>
            <a:pPr eaLnBrk="0" hangingPunct="0"/>
            <a:endParaRPr lang="en-US" sz="2400">
              <a:solidFill>
                <a:srgbClr val="000000"/>
              </a:solidFill>
              <a:latin typeface="Arial" charset="0"/>
              <a:cs typeface="+mn-cs"/>
            </a:endParaRPr>
          </a:p>
        </p:txBody>
      </p:sp>
      <p:sp>
        <p:nvSpPr>
          <p:cNvPr id="4131" name="Line 35"/>
          <p:cNvSpPr>
            <a:spLocks noChangeShapeType="1"/>
          </p:cNvSpPr>
          <p:nvPr userDrawn="1"/>
        </p:nvSpPr>
        <p:spPr bwMode="auto">
          <a:xfrm>
            <a:off x="1117600" y="457200"/>
            <a:ext cx="1727200" cy="0"/>
          </a:xfrm>
          <a:prstGeom prst="line">
            <a:avLst/>
          </a:prstGeom>
          <a:noFill/>
          <a:ln w="9525">
            <a:solidFill>
              <a:schemeClr val="bg1"/>
            </a:solidFill>
            <a:round/>
            <a:headEnd/>
            <a:tailEnd/>
          </a:ln>
        </p:spPr>
        <p:txBody>
          <a:bodyPr wrap="none" anchor="ctr"/>
          <a:lstStyle/>
          <a:p>
            <a:pPr eaLnBrk="0" hangingPunct="0"/>
            <a:endParaRPr lang="en-US" sz="2400">
              <a:solidFill>
                <a:srgbClr val="000000"/>
              </a:solidFill>
              <a:latin typeface="Arial" charset="0"/>
              <a:cs typeface="+mn-cs"/>
            </a:endParaRPr>
          </a:p>
        </p:txBody>
      </p:sp>
    </p:spTree>
    <p:extLst>
      <p:ext uri="{BB962C8B-B14F-4D97-AF65-F5344CB8AC3E}">
        <p14:creationId xmlns:p14="http://schemas.microsoft.com/office/powerpoint/2010/main" val="29287468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152400"/>
            <a:ext cx="11785600" cy="838200"/>
          </a:xfrm>
        </p:spPr>
        <p:txBody>
          <a:bodyPr/>
          <a:lstStyle>
            <a:lvl1pPr algn="ctr">
              <a:defRPr sz="4000" b="1">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203200" y="1066800"/>
            <a:ext cx="11785600" cy="4419600"/>
          </a:xfrm>
        </p:spPr>
        <p:txBody>
          <a:bodyPr/>
          <a:lstStyle>
            <a:lvl1pPr>
              <a:defRPr b="1"/>
            </a:lvl1pPr>
          </a:lstStyle>
          <a:p>
            <a:pPr lvl="0"/>
            <a:r>
              <a:rPr lang="en-US" dirty="0"/>
              <a:t>Click to edit Master text styles</a:t>
            </a:r>
          </a:p>
        </p:txBody>
      </p:sp>
    </p:spTree>
    <p:extLst>
      <p:ext uri="{BB962C8B-B14F-4D97-AF65-F5344CB8AC3E}">
        <p14:creationId xmlns:p14="http://schemas.microsoft.com/office/powerpoint/2010/main" val="38121794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pPr eaLnBrk="0" hangingPunct="0"/>
            <a:fld id="{42551609-7012-4524-8F91-CAEC89A8DA26}" type="slidenum">
              <a:rPr lang="en-US">
                <a:solidFill>
                  <a:srgbClr val="000000"/>
                </a:solidFill>
                <a:latin typeface="Arial" charset="0"/>
                <a:cs typeface="+mn-cs"/>
              </a:rPr>
              <a:pPr eaLnBrk="0" hangingPunct="0"/>
              <a:t>‹#›</a:t>
            </a:fld>
            <a:endParaRPr lang="en-US">
              <a:solidFill>
                <a:srgbClr val="000000"/>
              </a:solidFill>
              <a:latin typeface="Arial" charset="0"/>
              <a:cs typeface="+mn-cs"/>
            </a:endParaRPr>
          </a:p>
        </p:txBody>
      </p:sp>
    </p:spTree>
    <p:extLst>
      <p:ext uri="{BB962C8B-B14F-4D97-AF65-F5344CB8AC3E}">
        <p14:creationId xmlns:p14="http://schemas.microsoft.com/office/powerpoint/2010/main" val="19443961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17600" y="16764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00800" y="16764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pPr eaLnBrk="0" hangingPunct="0"/>
            <a:fld id="{EC38EB37-9F67-488F-AFCB-318363D4DA79}" type="slidenum">
              <a:rPr lang="en-US">
                <a:solidFill>
                  <a:srgbClr val="000000"/>
                </a:solidFill>
                <a:latin typeface="Arial" charset="0"/>
                <a:cs typeface="+mn-cs"/>
              </a:rPr>
              <a:pPr eaLnBrk="0" hangingPunct="0"/>
              <a:t>‹#›</a:t>
            </a:fld>
            <a:endParaRPr lang="en-US">
              <a:solidFill>
                <a:srgbClr val="000000"/>
              </a:solidFill>
              <a:latin typeface="Arial" charset="0"/>
              <a:cs typeface="+mn-cs"/>
            </a:endParaRPr>
          </a:p>
        </p:txBody>
      </p:sp>
    </p:spTree>
    <p:extLst>
      <p:ext uri="{BB962C8B-B14F-4D97-AF65-F5344CB8AC3E}">
        <p14:creationId xmlns:p14="http://schemas.microsoft.com/office/powerpoint/2010/main" val="15505895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a:xfrm>
            <a:off x="146051" y="6288088"/>
            <a:ext cx="1219200" cy="457200"/>
          </a:xfrm>
          <a:prstGeom prst="rect">
            <a:avLst/>
          </a:prstGeom>
        </p:spPr>
        <p:txBody>
          <a:bodyPr/>
          <a:lstStyle>
            <a:lvl1pPr>
              <a:defRPr/>
            </a:lvl1pPr>
          </a:lstStyle>
          <a:p>
            <a:pPr eaLnBrk="0" hangingPunct="0"/>
            <a:fld id="{325EC937-4EEB-42FF-9745-F8ECC712C67B}" type="slidenum">
              <a:rPr lang="en-US">
                <a:solidFill>
                  <a:srgbClr val="000000"/>
                </a:solidFill>
                <a:latin typeface="Arial" charset="0"/>
                <a:cs typeface="+mn-cs"/>
              </a:rPr>
              <a:pPr eaLnBrk="0" hangingPunct="0"/>
              <a:t>‹#›</a:t>
            </a:fld>
            <a:endParaRPr lang="en-US">
              <a:solidFill>
                <a:srgbClr val="000000"/>
              </a:solidFill>
              <a:latin typeface="Arial" charset="0"/>
              <a:cs typeface="+mn-cs"/>
            </a:endParaRPr>
          </a:p>
        </p:txBody>
      </p:sp>
    </p:spTree>
    <p:extLst>
      <p:ext uri="{BB962C8B-B14F-4D97-AF65-F5344CB8AC3E}">
        <p14:creationId xmlns:p14="http://schemas.microsoft.com/office/powerpoint/2010/main" val="39194895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a:xfrm>
            <a:off x="146051" y="6288088"/>
            <a:ext cx="1219200" cy="457200"/>
          </a:xfrm>
          <a:prstGeom prst="rect">
            <a:avLst/>
          </a:prstGeom>
        </p:spPr>
        <p:txBody>
          <a:bodyPr/>
          <a:lstStyle>
            <a:lvl1pPr>
              <a:defRPr/>
            </a:lvl1pPr>
          </a:lstStyle>
          <a:p>
            <a:pPr eaLnBrk="0" hangingPunct="0"/>
            <a:fld id="{26E09F27-08E5-47E1-9081-CDEF6FA99715}" type="slidenum">
              <a:rPr lang="en-US">
                <a:solidFill>
                  <a:srgbClr val="000000"/>
                </a:solidFill>
                <a:latin typeface="Arial" charset="0"/>
                <a:cs typeface="+mn-cs"/>
              </a:rPr>
              <a:pPr eaLnBrk="0" hangingPunct="0"/>
              <a:t>‹#›</a:t>
            </a:fld>
            <a:endParaRPr lang="en-US">
              <a:solidFill>
                <a:srgbClr val="000000"/>
              </a:solidFill>
              <a:latin typeface="Arial" charset="0"/>
              <a:cs typeface="+mn-cs"/>
            </a:endParaRPr>
          </a:p>
        </p:txBody>
      </p:sp>
    </p:spTree>
    <p:extLst>
      <p:ext uri="{BB962C8B-B14F-4D97-AF65-F5344CB8AC3E}">
        <p14:creationId xmlns:p14="http://schemas.microsoft.com/office/powerpoint/2010/main" val="41493471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146051" y="6288088"/>
            <a:ext cx="1219200" cy="457200"/>
          </a:xfrm>
          <a:prstGeom prst="rect">
            <a:avLst/>
          </a:prstGeom>
        </p:spPr>
        <p:txBody>
          <a:bodyPr/>
          <a:lstStyle>
            <a:lvl1pPr>
              <a:defRPr/>
            </a:lvl1pPr>
          </a:lstStyle>
          <a:p>
            <a:pPr eaLnBrk="0" hangingPunct="0"/>
            <a:fld id="{CC251E47-B223-48F4-A299-CE4A766087D6}" type="slidenum">
              <a:rPr lang="en-US">
                <a:solidFill>
                  <a:srgbClr val="000000"/>
                </a:solidFill>
                <a:latin typeface="Arial" charset="0"/>
                <a:cs typeface="+mn-cs"/>
              </a:rPr>
              <a:pPr eaLnBrk="0" hangingPunct="0"/>
              <a:t>‹#›</a:t>
            </a:fld>
            <a:endParaRPr lang="en-US">
              <a:solidFill>
                <a:srgbClr val="000000"/>
              </a:solidFill>
              <a:latin typeface="Arial" charset="0"/>
              <a:cs typeface="+mn-cs"/>
            </a:endParaRPr>
          </a:p>
        </p:txBody>
      </p:sp>
    </p:spTree>
    <p:extLst>
      <p:ext uri="{BB962C8B-B14F-4D97-AF65-F5344CB8AC3E}">
        <p14:creationId xmlns:p14="http://schemas.microsoft.com/office/powerpoint/2010/main" val="9244825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pPr eaLnBrk="0" hangingPunct="0"/>
            <a:fld id="{5BB27830-E813-4D5B-BECC-EB4E76333BEB}" type="slidenum">
              <a:rPr lang="en-US">
                <a:solidFill>
                  <a:srgbClr val="000000"/>
                </a:solidFill>
                <a:latin typeface="Arial" charset="0"/>
                <a:cs typeface="+mn-cs"/>
              </a:rPr>
              <a:pPr eaLnBrk="0" hangingPunct="0"/>
              <a:t>‹#›</a:t>
            </a:fld>
            <a:endParaRPr lang="en-US">
              <a:solidFill>
                <a:srgbClr val="000000"/>
              </a:solidFill>
              <a:latin typeface="Arial" charset="0"/>
              <a:cs typeface="+mn-cs"/>
            </a:endParaRPr>
          </a:p>
        </p:txBody>
      </p:sp>
    </p:spTree>
    <p:extLst>
      <p:ext uri="{BB962C8B-B14F-4D97-AF65-F5344CB8AC3E}">
        <p14:creationId xmlns:p14="http://schemas.microsoft.com/office/powerpoint/2010/main" val="21358085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pPr eaLnBrk="0" hangingPunct="0"/>
            <a:fld id="{8950E5CE-EF1E-495C-8D34-E9307ADFFB20}" type="slidenum">
              <a:rPr lang="en-US">
                <a:solidFill>
                  <a:srgbClr val="000000"/>
                </a:solidFill>
                <a:latin typeface="Arial" charset="0"/>
                <a:cs typeface="+mn-cs"/>
              </a:rPr>
              <a:pPr eaLnBrk="0" hangingPunct="0"/>
              <a:t>‹#›</a:t>
            </a:fld>
            <a:endParaRPr lang="en-US">
              <a:solidFill>
                <a:srgbClr val="000000"/>
              </a:solidFill>
              <a:latin typeface="Arial" charset="0"/>
              <a:cs typeface="+mn-cs"/>
            </a:endParaRPr>
          </a:p>
        </p:txBody>
      </p:sp>
    </p:spTree>
    <p:extLst>
      <p:ext uri="{BB962C8B-B14F-4D97-AF65-F5344CB8AC3E}">
        <p14:creationId xmlns:p14="http://schemas.microsoft.com/office/powerpoint/2010/main" val="33869288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pPr eaLnBrk="0" hangingPunct="0"/>
            <a:fld id="{EDA7D03F-0D9F-4D6E-A9DA-DA22B08C88FB}" type="slidenum">
              <a:rPr lang="en-US">
                <a:solidFill>
                  <a:srgbClr val="000000"/>
                </a:solidFill>
                <a:latin typeface="Arial" charset="0"/>
                <a:cs typeface="+mn-cs"/>
              </a:rPr>
              <a:pPr eaLnBrk="0" hangingPunct="0"/>
              <a:t>‹#›</a:t>
            </a:fld>
            <a:endParaRPr lang="en-US">
              <a:solidFill>
                <a:srgbClr val="000000"/>
              </a:solidFill>
              <a:latin typeface="Arial" charset="0"/>
              <a:cs typeface="+mn-cs"/>
            </a:endParaRPr>
          </a:p>
        </p:txBody>
      </p:sp>
    </p:spTree>
    <p:extLst>
      <p:ext uri="{BB962C8B-B14F-4D97-AF65-F5344CB8AC3E}">
        <p14:creationId xmlns:p14="http://schemas.microsoft.com/office/powerpoint/2010/main" val="24434861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90000" y="3048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7600" y="3048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pPr eaLnBrk="0" hangingPunct="0"/>
            <a:fld id="{5D488692-0FB6-433E-9CFB-08D03A34DD8A}" type="slidenum">
              <a:rPr lang="en-US">
                <a:solidFill>
                  <a:srgbClr val="000000"/>
                </a:solidFill>
                <a:latin typeface="Arial" charset="0"/>
                <a:cs typeface="+mn-cs"/>
              </a:rPr>
              <a:pPr eaLnBrk="0" hangingPunct="0"/>
              <a:t>‹#›</a:t>
            </a:fld>
            <a:endParaRPr lang="en-US">
              <a:solidFill>
                <a:srgbClr val="000000"/>
              </a:solidFill>
              <a:latin typeface="Arial" charset="0"/>
              <a:cs typeface="+mn-cs"/>
            </a:endParaRPr>
          </a:p>
        </p:txBody>
      </p:sp>
    </p:spTree>
    <p:extLst>
      <p:ext uri="{BB962C8B-B14F-4D97-AF65-F5344CB8AC3E}">
        <p14:creationId xmlns:p14="http://schemas.microsoft.com/office/powerpoint/2010/main" val="1749063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117600" y="304800"/>
            <a:ext cx="10363200" cy="1143000"/>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1117600" y="1676400"/>
            <a:ext cx="10363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p:txBody>
      </p:sp>
      <p:sp>
        <p:nvSpPr>
          <p:cNvPr id="1042" name="Line 18"/>
          <p:cNvSpPr>
            <a:spLocks noChangeShapeType="1"/>
          </p:cNvSpPr>
          <p:nvPr userDrawn="1"/>
        </p:nvSpPr>
        <p:spPr bwMode="auto">
          <a:xfrm>
            <a:off x="203200" y="6629400"/>
            <a:ext cx="711200" cy="0"/>
          </a:xfrm>
          <a:prstGeom prst="line">
            <a:avLst/>
          </a:prstGeom>
          <a:noFill/>
          <a:ln w="9525">
            <a:solidFill>
              <a:schemeClr val="bg1"/>
            </a:solidFill>
            <a:round/>
            <a:headEnd/>
            <a:tailEnd/>
          </a:ln>
        </p:spPr>
        <p:txBody>
          <a:bodyPr/>
          <a:lstStyle/>
          <a:p>
            <a:pPr eaLnBrk="0" hangingPunct="0"/>
            <a:endParaRPr lang="en-US" sz="2400">
              <a:solidFill>
                <a:srgbClr val="000000"/>
              </a:solidFill>
              <a:latin typeface="Arial" charset="0"/>
              <a:cs typeface="+mn-cs"/>
            </a:endParaRPr>
          </a:p>
        </p:txBody>
      </p:sp>
      <p:sp>
        <p:nvSpPr>
          <p:cNvPr id="1043" name="Line 19"/>
          <p:cNvSpPr>
            <a:spLocks noChangeShapeType="1"/>
          </p:cNvSpPr>
          <p:nvPr userDrawn="1"/>
        </p:nvSpPr>
        <p:spPr bwMode="auto">
          <a:xfrm flipV="1">
            <a:off x="203200" y="6400800"/>
            <a:ext cx="0" cy="228600"/>
          </a:xfrm>
          <a:prstGeom prst="line">
            <a:avLst/>
          </a:prstGeom>
          <a:noFill/>
          <a:ln w="9525">
            <a:solidFill>
              <a:schemeClr val="bg1"/>
            </a:solidFill>
            <a:round/>
            <a:headEnd/>
            <a:tailEnd/>
          </a:ln>
        </p:spPr>
        <p:txBody>
          <a:bodyPr wrap="none" anchor="ctr"/>
          <a:lstStyle/>
          <a:p>
            <a:pPr eaLnBrk="0" hangingPunct="0"/>
            <a:endParaRPr lang="en-US" sz="2400">
              <a:solidFill>
                <a:srgbClr val="000000"/>
              </a:solidFill>
              <a:latin typeface="Arial" charset="0"/>
              <a:cs typeface="+mn-cs"/>
            </a:endParaRPr>
          </a:p>
        </p:txBody>
      </p:sp>
      <p:sp>
        <p:nvSpPr>
          <p:cNvPr id="1044" name="Line 20"/>
          <p:cNvSpPr>
            <a:spLocks noChangeShapeType="1"/>
          </p:cNvSpPr>
          <p:nvPr userDrawn="1"/>
        </p:nvSpPr>
        <p:spPr bwMode="auto">
          <a:xfrm>
            <a:off x="203200" y="6400800"/>
            <a:ext cx="304800" cy="0"/>
          </a:xfrm>
          <a:prstGeom prst="line">
            <a:avLst/>
          </a:prstGeom>
          <a:noFill/>
          <a:ln w="9525">
            <a:solidFill>
              <a:schemeClr val="bg1"/>
            </a:solidFill>
            <a:round/>
            <a:headEnd/>
            <a:tailEnd/>
          </a:ln>
        </p:spPr>
        <p:txBody>
          <a:bodyPr wrap="none" anchor="ctr"/>
          <a:lstStyle/>
          <a:p>
            <a:pPr eaLnBrk="0" hangingPunct="0"/>
            <a:endParaRPr lang="en-US" sz="2400">
              <a:solidFill>
                <a:srgbClr val="000000"/>
              </a:solidFill>
              <a:latin typeface="Arial" charset="0"/>
              <a:cs typeface="+mn-cs"/>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fontAlgn="base">
        <a:spcBef>
          <a:spcPct val="0"/>
        </a:spcBef>
        <a:spcAft>
          <a:spcPct val="0"/>
        </a:spcAft>
        <a:defRPr sz="4400">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p:titleStyle>
    <p:bodyStyle>
      <a:lvl1pPr marL="0" indent="0" algn="l" rtl="0" fontAlgn="base">
        <a:spcBef>
          <a:spcPct val="20000"/>
        </a:spcBef>
        <a:spcAft>
          <a:spcPct val="0"/>
        </a:spcAft>
        <a:buClr>
          <a:srgbClr val="691638"/>
        </a:buClr>
        <a:buNone/>
        <a:defRPr sz="2800">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117600" y="304800"/>
            <a:ext cx="10363200" cy="1143000"/>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1117600" y="1676400"/>
            <a:ext cx="10363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p:txBody>
      </p:sp>
      <p:sp>
        <p:nvSpPr>
          <p:cNvPr id="1042" name="Line 18"/>
          <p:cNvSpPr>
            <a:spLocks noChangeShapeType="1"/>
          </p:cNvSpPr>
          <p:nvPr userDrawn="1"/>
        </p:nvSpPr>
        <p:spPr bwMode="auto">
          <a:xfrm>
            <a:off x="203200" y="6629400"/>
            <a:ext cx="711200" cy="0"/>
          </a:xfrm>
          <a:prstGeom prst="line">
            <a:avLst/>
          </a:prstGeom>
          <a:noFill/>
          <a:ln w="9525">
            <a:solidFill>
              <a:schemeClr val="bg1"/>
            </a:solidFill>
            <a:round/>
            <a:headEnd/>
            <a:tailEnd/>
          </a:ln>
        </p:spPr>
        <p:txBody>
          <a:bodyPr/>
          <a:lstStyle/>
          <a:p>
            <a:pPr eaLnBrk="0" hangingPunct="0"/>
            <a:endParaRPr lang="en-US" sz="2400">
              <a:solidFill>
                <a:srgbClr val="000000"/>
              </a:solidFill>
              <a:latin typeface="Arial" charset="0"/>
              <a:cs typeface="+mn-cs"/>
            </a:endParaRPr>
          </a:p>
        </p:txBody>
      </p:sp>
      <p:sp>
        <p:nvSpPr>
          <p:cNvPr id="1043" name="Line 19"/>
          <p:cNvSpPr>
            <a:spLocks noChangeShapeType="1"/>
          </p:cNvSpPr>
          <p:nvPr userDrawn="1"/>
        </p:nvSpPr>
        <p:spPr bwMode="auto">
          <a:xfrm flipV="1">
            <a:off x="203200" y="6400800"/>
            <a:ext cx="0" cy="228600"/>
          </a:xfrm>
          <a:prstGeom prst="line">
            <a:avLst/>
          </a:prstGeom>
          <a:noFill/>
          <a:ln w="9525">
            <a:solidFill>
              <a:schemeClr val="bg1"/>
            </a:solidFill>
            <a:round/>
            <a:headEnd/>
            <a:tailEnd/>
          </a:ln>
        </p:spPr>
        <p:txBody>
          <a:bodyPr wrap="none" anchor="ctr"/>
          <a:lstStyle/>
          <a:p>
            <a:pPr eaLnBrk="0" hangingPunct="0"/>
            <a:endParaRPr lang="en-US" sz="2400">
              <a:solidFill>
                <a:srgbClr val="000000"/>
              </a:solidFill>
              <a:latin typeface="Arial" charset="0"/>
              <a:cs typeface="+mn-cs"/>
            </a:endParaRPr>
          </a:p>
        </p:txBody>
      </p:sp>
      <p:sp>
        <p:nvSpPr>
          <p:cNvPr id="1044" name="Line 20"/>
          <p:cNvSpPr>
            <a:spLocks noChangeShapeType="1"/>
          </p:cNvSpPr>
          <p:nvPr userDrawn="1"/>
        </p:nvSpPr>
        <p:spPr bwMode="auto">
          <a:xfrm>
            <a:off x="203200" y="6400800"/>
            <a:ext cx="304800" cy="0"/>
          </a:xfrm>
          <a:prstGeom prst="line">
            <a:avLst/>
          </a:prstGeom>
          <a:noFill/>
          <a:ln w="9525">
            <a:solidFill>
              <a:schemeClr val="bg1"/>
            </a:solidFill>
            <a:round/>
            <a:headEnd/>
            <a:tailEnd/>
          </a:ln>
        </p:spPr>
        <p:txBody>
          <a:bodyPr wrap="none" anchor="ctr"/>
          <a:lstStyle/>
          <a:p>
            <a:pPr eaLnBrk="0" hangingPunct="0"/>
            <a:endParaRPr lang="en-US" sz="2400">
              <a:solidFill>
                <a:srgbClr val="000000"/>
              </a:solidFill>
              <a:latin typeface="Arial" charset="0"/>
              <a:cs typeface="+mn-cs"/>
            </a:endParaRPr>
          </a:p>
        </p:txBody>
      </p:sp>
    </p:spTree>
    <p:extLst>
      <p:ext uri="{BB962C8B-B14F-4D97-AF65-F5344CB8AC3E}">
        <p14:creationId xmlns:p14="http://schemas.microsoft.com/office/powerpoint/2010/main" val="33652999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rtl="0" fontAlgn="base">
        <a:spcBef>
          <a:spcPct val="0"/>
        </a:spcBef>
        <a:spcAft>
          <a:spcPct val="0"/>
        </a:spcAft>
        <a:defRPr sz="4400">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p:titleStyle>
    <p:bodyStyle>
      <a:lvl1pPr marL="0" indent="0" algn="l" rtl="0" fontAlgn="base">
        <a:spcBef>
          <a:spcPct val="20000"/>
        </a:spcBef>
        <a:spcAft>
          <a:spcPct val="0"/>
        </a:spcAft>
        <a:buClr>
          <a:srgbClr val="691638"/>
        </a:buClr>
        <a:buNone/>
        <a:defRPr sz="2800">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image" Target="../media/image1.jpeg"/><Relationship Id="rId7" Type="http://schemas.openxmlformats.org/officeDocument/2006/relationships/image" Target="../media/image4.wmf"/><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oleObject" Target="../embeddings/oleObject1.bin"/><Relationship Id="rId5" Type="http://schemas.openxmlformats.org/officeDocument/2006/relationships/image" Target="../media/image3.png"/><Relationship Id="rId4" Type="http://schemas.openxmlformats.org/officeDocument/2006/relationships/image" Target="../media/image2.jpeg"/><Relationship Id="rId9" Type="http://schemas.openxmlformats.org/officeDocument/2006/relationships/image" Target="../media/image5.w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10.jpe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3.bin"/><Relationship Id="rId7" Type="http://schemas.openxmlformats.org/officeDocument/2006/relationships/oleObject" Target="../embeddings/oleObject4.bin"/><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13.jpeg"/><Relationship Id="rId5" Type="http://schemas.openxmlformats.org/officeDocument/2006/relationships/image" Target="../media/image16.jpeg"/><Relationship Id="rId4" Type="http://schemas.openxmlformats.org/officeDocument/2006/relationships/image" Target="../media/image15.wmf"/></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21.emf"/><Relationship Id="rId5" Type="http://schemas.openxmlformats.org/officeDocument/2006/relationships/image" Target="../media/image20.emf"/><Relationship Id="rId4" Type="http://schemas.openxmlformats.org/officeDocument/2006/relationships/image" Target="../media/image19.wmf"/></Relationships>
</file>

<file path=ppt/slides/_rels/slide13.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24.wmf"/><Relationship Id="rId5" Type="http://schemas.openxmlformats.org/officeDocument/2006/relationships/oleObject" Target="../embeddings/oleObject7.bin"/><Relationship Id="rId4" Type="http://schemas.openxmlformats.org/officeDocument/2006/relationships/image" Target="../media/image23.wmf"/></Relationships>
</file>

<file path=ppt/slides/_rels/slide1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0.emf"/><Relationship Id="rId7"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26.wmf"/><Relationship Id="rId5" Type="http://schemas.openxmlformats.org/officeDocument/2006/relationships/oleObject" Target="../embeddings/oleObject9.bin"/><Relationship Id="rId4" Type="http://schemas.openxmlformats.org/officeDocument/2006/relationships/image" Target="../media/image21.emf"/></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4.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4.wmf"/></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7.wmf"/><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oleObject" Target="../embeddings/oleObject10.bin"/><Relationship Id="rId5" Type="http://schemas.openxmlformats.org/officeDocument/2006/relationships/image" Target="../media/image5.wmf"/><Relationship Id="rId4" Type="http://schemas.openxmlformats.org/officeDocument/2006/relationships/oleObject" Target="../embeddings/oleObject2.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image" Target="../media/image39.wmf"/><Relationship Id="rId5" Type="http://schemas.openxmlformats.org/officeDocument/2006/relationships/oleObject" Target="../embeddings/oleObject12.bin"/><Relationship Id="rId4" Type="http://schemas.openxmlformats.org/officeDocument/2006/relationships/image" Target="../media/image38.wmf"/></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9.wmf"/><Relationship Id="rId5" Type="http://schemas.openxmlformats.org/officeDocument/2006/relationships/oleObject" Target="../embeddings/oleObject12.bin"/><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7.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9.wmf"/><Relationship Id="rId5" Type="http://schemas.openxmlformats.org/officeDocument/2006/relationships/oleObject" Target="../embeddings/oleObject15.bin"/><Relationship Id="rId4" Type="http://schemas.openxmlformats.org/officeDocument/2006/relationships/image" Target="../media/image48.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50.wmf"/></Relationships>
</file>

<file path=ppt/slides/_rels/slide3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34.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image" Target="../media/image53.jpeg"/><Relationship Id="rId7" Type="http://schemas.openxmlformats.org/officeDocument/2006/relationships/oleObject" Target="../embeddings/oleObject2.bin"/><Relationship Id="rId2" Type="http://schemas.openxmlformats.org/officeDocument/2006/relationships/notesSlide" Target="../notesSlides/notesSlide34.xml"/><Relationship Id="rId1" Type="http://schemas.openxmlformats.org/officeDocument/2006/relationships/slideLayout" Target="../slideLayouts/slideLayout13.xml"/><Relationship Id="rId6" Type="http://schemas.openxmlformats.org/officeDocument/2006/relationships/image" Target="../media/image4.wmf"/><Relationship Id="rId5" Type="http://schemas.openxmlformats.org/officeDocument/2006/relationships/oleObject" Target="../embeddings/oleObject1.bin"/><Relationship Id="rId4" Type="http://schemas.openxmlformats.org/officeDocument/2006/relationships/image" Target="../media/image54.jpeg"/><Relationship Id="rId9"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3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67.png"/></Relationships>
</file>

<file path=ppt/slides/_rels/slide45.xml.rels><?xml version="1.0" encoding="UTF-8" standalone="yes"?>
<Relationships xmlns="http://schemas.openxmlformats.org/package/2006/relationships"><Relationship Id="rId3" Type="http://schemas.openxmlformats.org/officeDocument/2006/relationships/hyperlink" Target="http://www.michw.com/tag/matlab/"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4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4.jpe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wmf"/><Relationship Id="rId4" Type="http://schemas.openxmlformats.org/officeDocument/2006/relationships/image" Target="../media/image35.png"/></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31549" y="55626"/>
            <a:ext cx="1682262" cy="1600200"/>
          </a:xfrm>
          <a:prstGeom prst="rect">
            <a:avLst/>
          </a:prstGeom>
        </p:spPr>
      </p:pic>
      <p:pic>
        <p:nvPicPr>
          <p:cNvPr id="8194" name="Picture 2" descr="lgplogo2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959" y="62178"/>
            <a:ext cx="6707205" cy="1274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4896962"/>
            <a:ext cx="9144000" cy="196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5"/>
          <p:cNvSpPr txBox="1">
            <a:spLocks noChangeArrowheads="1"/>
          </p:cNvSpPr>
          <p:nvPr/>
        </p:nvSpPr>
        <p:spPr bwMode="auto">
          <a:xfrm>
            <a:off x="1524000" y="1722874"/>
            <a:ext cx="9144000" cy="3398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fontAlgn="base">
              <a:spcBef>
                <a:spcPct val="20000"/>
              </a:spcBef>
              <a:spcAft>
                <a:spcPct val="0"/>
              </a:spcAft>
              <a:buClr>
                <a:srgbClr val="691638"/>
              </a:buClr>
              <a:buNone/>
              <a:defRPr sz="2800">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algn="ctr">
              <a:lnSpc>
                <a:spcPct val="80000"/>
              </a:lnSpc>
              <a:spcBef>
                <a:spcPts val="0"/>
              </a:spcBef>
              <a:spcAft>
                <a:spcPts val="300"/>
              </a:spcAft>
            </a:pPr>
            <a:r>
              <a:rPr lang="en-US" sz="2400" dirty="0">
                <a:solidFill>
                  <a:schemeClr val="tx1"/>
                </a:solidFill>
              </a:rPr>
              <a:t>38655 BMED-2300-02</a:t>
            </a:r>
          </a:p>
          <a:p>
            <a:pPr algn="ctr">
              <a:lnSpc>
                <a:spcPct val="80000"/>
              </a:lnSpc>
              <a:spcBef>
                <a:spcPts val="600"/>
              </a:spcBef>
              <a:spcAft>
                <a:spcPts val="600"/>
              </a:spcAft>
            </a:pPr>
            <a:r>
              <a:rPr lang="en-US" sz="4800" b="1" dirty="0">
                <a:solidFill>
                  <a:schemeClr val="tx1"/>
                </a:solidFill>
              </a:rPr>
              <a:t>Lecture 4: Convolution</a:t>
            </a:r>
          </a:p>
          <a:p>
            <a:pPr algn="ctr">
              <a:lnSpc>
                <a:spcPct val="80000"/>
              </a:lnSpc>
              <a:spcBef>
                <a:spcPts val="0"/>
              </a:spcBef>
              <a:spcAft>
                <a:spcPts val="300"/>
              </a:spcAft>
            </a:pPr>
            <a:r>
              <a:rPr lang="en-US" sz="2400" dirty="0">
                <a:solidFill>
                  <a:schemeClr val="tx1"/>
                </a:solidFill>
              </a:rPr>
              <a:t>Ge Wang, PhD</a:t>
            </a:r>
          </a:p>
          <a:p>
            <a:pPr algn="ctr">
              <a:lnSpc>
                <a:spcPct val="80000"/>
              </a:lnSpc>
              <a:spcBef>
                <a:spcPts val="0"/>
              </a:spcBef>
              <a:spcAft>
                <a:spcPts val="300"/>
              </a:spcAft>
            </a:pPr>
            <a:r>
              <a:rPr lang="en-US" sz="2400" dirty="0">
                <a:solidFill>
                  <a:schemeClr val="tx1"/>
                </a:solidFill>
              </a:rPr>
              <a:t>Biomedical Imaging Center</a:t>
            </a:r>
          </a:p>
          <a:p>
            <a:pPr algn="ctr">
              <a:lnSpc>
                <a:spcPct val="80000"/>
              </a:lnSpc>
              <a:spcBef>
                <a:spcPts val="0"/>
              </a:spcBef>
              <a:spcAft>
                <a:spcPts val="300"/>
              </a:spcAft>
            </a:pPr>
            <a:r>
              <a:rPr lang="en-US" sz="2400" dirty="0">
                <a:solidFill>
                  <a:schemeClr val="tx1"/>
                </a:solidFill>
              </a:rPr>
              <a:t>CBIS/BME, RPI</a:t>
            </a:r>
          </a:p>
          <a:p>
            <a:pPr algn="ctr">
              <a:lnSpc>
                <a:spcPct val="80000"/>
              </a:lnSpc>
              <a:spcBef>
                <a:spcPts val="0"/>
              </a:spcBef>
              <a:spcAft>
                <a:spcPts val="300"/>
              </a:spcAft>
            </a:pPr>
            <a:r>
              <a:rPr lang="en-US" sz="2400" dirty="0">
                <a:solidFill>
                  <a:schemeClr val="tx1"/>
                </a:solidFill>
              </a:rPr>
              <a:t>wangg6@rpi.edu</a:t>
            </a:r>
          </a:p>
          <a:p>
            <a:pPr algn="ctr">
              <a:lnSpc>
                <a:spcPct val="80000"/>
              </a:lnSpc>
              <a:spcBef>
                <a:spcPts val="0"/>
              </a:spcBef>
              <a:spcAft>
                <a:spcPts val="300"/>
              </a:spcAft>
            </a:pPr>
            <a:endParaRPr lang="en-US" sz="2400" dirty="0">
              <a:solidFill>
                <a:schemeClr val="tx1"/>
              </a:solidFill>
            </a:endParaRPr>
          </a:p>
          <a:p>
            <a:pPr algn="ctr">
              <a:lnSpc>
                <a:spcPct val="80000"/>
              </a:lnSpc>
              <a:spcBef>
                <a:spcPts val="0"/>
              </a:spcBef>
              <a:spcAft>
                <a:spcPts val="0"/>
              </a:spcAft>
            </a:pPr>
            <a:endParaRPr lang="en-US" sz="2400" dirty="0">
              <a:solidFill>
                <a:schemeClr val="tx1"/>
              </a:solidFill>
            </a:endParaRPr>
          </a:p>
          <a:p>
            <a:pPr>
              <a:lnSpc>
                <a:spcPct val="80000"/>
              </a:lnSpc>
              <a:spcBef>
                <a:spcPts val="0"/>
              </a:spcBef>
              <a:spcAft>
                <a:spcPts val="0"/>
              </a:spcAft>
            </a:pPr>
            <a:endParaRPr lang="en-US" sz="2400" dirty="0">
              <a:solidFill>
                <a:schemeClr val="tx1"/>
              </a:solidFill>
            </a:endParaRPr>
          </a:p>
          <a:p>
            <a:pPr>
              <a:lnSpc>
                <a:spcPct val="80000"/>
              </a:lnSpc>
              <a:spcBef>
                <a:spcPts val="0"/>
              </a:spcBef>
              <a:spcAft>
                <a:spcPts val="0"/>
              </a:spcAft>
            </a:pPr>
            <a:endParaRPr lang="en-US" sz="2400" dirty="0">
              <a:solidFill>
                <a:schemeClr val="tx1"/>
              </a:solidFill>
            </a:endParaRPr>
          </a:p>
        </p:txBody>
      </p:sp>
      <p:graphicFrame>
        <p:nvGraphicFramePr>
          <p:cNvPr id="6" name="Object 11"/>
          <p:cNvGraphicFramePr>
            <a:graphicFrameLocks noChangeAspect="1"/>
          </p:cNvGraphicFramePr>
          <p:nvPr>
            <p:extLst>
              <p:ext uri="{D42A27DB-BD31-4B8C-83A1-F6EECF244321}">
                <p14:modId xmlns:p14="http://schemas.microsoft.com/office/powerpoint/2010/main" val="664862873"/>
              </p:ext>
            </p:extLst>
          </p:nvPr>
        </p:nvGraphicFramePr>
        <p:xfrm>
          <a:off x="2464457" y="3320698"/>
          <a:ext cx="1102657" cy="1382941"/>
        </p:xfrm>
        <a:graphic>
          <a:graphicData uri="http://schemas.openxmlformats.org/presentationml/2006/ole">
            <mc:AlternateContent xmlns:mc="http://schemas.openxmlformats.org/markup-compatibility/2006">
              <mc:Choice xmlns:v="urn:schemas-microsoft-com:vml" Requires="v">
                <p:oleObj name="Equation" r:id="rId6" imgW="545760" imgH="685800" progId="Equation.DSMT4">
                  <p:embed/>
                </p:oleObj>
              </mc:Choice>
              <mc:Fallback>
                <p:oleObj name="Equation" r:id="rId6" imgW="545760" imgH="685800" progId="Equation.DSMT4">
                  <p:embed/>
                  <p:pic>
                    <p:nvPicPr>
                      <p:cNvPr id="0" name=""/>
                      <p:cNvPicPr>
                        <a:picLocks noChangeAspect="1" noChangeArrowheads="1"/>
                      </p:cNvPicPr>
                      <p:nvPr/>
                    </p:nvPicPr>
                    <p:blipFill>
                      <a:blip r:embed="rId7"/>
                      <a:srcRect/>
                      <a:stretch>
                        <a:fillRect/>
                      </a:stretch>
                    </p:blipFill>
                    <p:spPr bwMode="auto">
                      <a:xfrm>
                        <a:off x="2464457" y="3320698"/>
                        <a:ext cx="1102657" cy="1382941"/>
                      </a:xfrm>
                      <a:prstGeom prst="rect">
                        <a:avLst/>
                      </a:prstGeom>
                      <a:noFill/>
                      <a:ln>
                        <a:noFill/>
                      </a:ln>
                      <a:effectLst/>
                    </p:spPr>
                  </p:pic>
                </p:oleObj>
              </mc:Fallback>
            </mc:AlternateContent>
          </a:graphicData>
        </a:graphic>
      </p:graphicFrame>
      <p:graphicFrame>
        <p:nvGraphicFramePr>
          <p:cNvPr id="7" name="Object 11"/>
          <p:cNvGraphicFramePr>
            <a:graphicFrameLocks noChangeAspect="1"/>
          </p:cNvGraphicFramePr>
          <p:nvPr>
            <p:extLst>
              <p:ext uri="{D42A27DB-BD31-4B8C-83A1-F6EECF244321}">
                <p14:modId xmlns:p14="http://schemas.microsoft.com/office/powerpoint/2010/main" val="636655495"/>
              </p:ext>
            </p:extLst>
          </p:nvPr>
        </p:nvGraphicFramePr>
        <p:xfrm>
          <a:off x="9002744" y="3377538"/>
          <a:ext cx="769937" cy="1485900"/>
        </p:xfrm>
        <a:graphic>
          <a:graphicData uri="http://schemas.openxmlformats.org/presentationml/2006/ole">
            <mc:AlternateContent xmlns:mc="http://schemas.openxmlformats.org/markup-compatibility/2006">
              <mc:Choice xmlns:v="urn:schemas-microsoft-com:vml" Requires="v">
                <p:oleObj name="Equation" r:id="rId8" imgW="380880" imgH="736560" progId="Equation.DSMT4">
                  <p:embed/>
                </p:oleObj>
              </mc:Choice>
              <mc:Fallback>
                <p:oleObj name="Equation" r:id="rId8" imgW="380880" imgH="736560" progId="Equation.DSMT4">
                  <p:embed/>
                  <p:pic>
                    <p:nvPicPr>
                      <p:cNvPr id="0" name=""/>
                      <p:cNvPicPr>
                        <a:picLocks noChangeAspect="1" noChangeArrowheads="1"/>
                      </p:cNvPicPr>
                      <p:nvPr/>
                    </p:nvPicPr>
                    <p:blipFill>
                      <a:blip r:embed="rId9"/>
                      <a:srcRect/>
                      <a:stretch>
                        <a:fillRect/>
                      </a:stretch>
                    </p:blipFill>
                    <p:spPr bwMode="auto">
                      <a:xfrm>
                        <a:off x="9002744" y="3377538"/>
                        <a:ext cx="769937" cy="14859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720023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p:cNvGraphicFramePr>
            <a:graphicFrameLocks noGrp="1"/>
          </p:cNvGraphicFramePr>
          <p:nvPr>
            <p:extLst>
              <p:ext uri="{D42A27DB-BD31-4B8C-83A1-F6EECF244321}">
                <p14:modId xmlns:p14="http://schemas.microsoft.com/office/powerpoint/2010/main" val="2459886889"/>
              </p:ext>
            </p:extLst>
          </p:nvPr>
        </p:nvGraphicFramePr>
        <p:xfrm>
          <a:off x="811714" y="1029728"/>
          <a:ext cx="7615822" cy="5029200"/>
        </p:xfrm>
        <a:graphic>
          <a:graphicData uri="http://schemas.openxmlformats.org/drawingml/2006/table">
            <a:tbl>
              <a:tblPr firstRow="1" bandRow="1"/>
              <a:tblGrid>
                <a:gridCol w="874726">
                  <a:extLst>
                    <a:ext uri="{9D8B030D-6E8A-4147-A177-3AD203B41FA5}">
                      <a16:colId xmlns:a16="http://schemas.microsoft.com/office/drawing/2014/main" val="20001"/>
                    </a:ext>
                  </a:extLst>
                </a:gridCol>
                <a:gridCol w="3052034">
                  <a:extLst>
                    <a:ext uri="{9D8B030D-6E8A-4147-A177-3AD203B41FA5}">
                      <a16:colId xmlns:a16="http://schemas.microsoft.com/office/drawing/2014/main" val="20002"/>
                    </a:ext>
                  </a:extLst>
                </a:gridCol>
                <a:gridCol w="817678">
                  <a:extLst>
                    <a:ext uri="{9D8B030D-6E8A-4147-A177-3AD203B41FA5}">
                      <a16:colId xmlns:a16="http://schemas.microsoft.com/office/drawing/2014/main" val="20003"/>
                    </a:ext>
                  </a:extLst>
                </a:gridCol>
                <a:gridCol w="2871384">
                  <a:extLst>
                    <a:ext uri="{9D8B030D-6E8A-4147-A177-3AD203B41FA5}">
                      <a16:colId xmlns:a16="http://schemas.microsoft.com/office/drawing/2014/main" val="20004"/>
                    </a:ext>
                  </a:extLst>
                </a:gridCol>
              </a:tblGrid>
              <a:tr h="29856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l"/>
                      <a:r>
                        <a:rPr lang="en-US" sz="1600" dirty="0">
                          <a:solidFill>
                            <a:schemeClr val="tx1"/>
                          </a:solidFill>
                          <a:latin typeface="Arial" panose="020B0604020202020204" pitchFamily="34" charset="0"/>
                          <a:cs typeface="Arial" panose="020B0604020202020204" pitchFamily="34" charset="0"/>
                        </a:rPr>
                        <a:t>Tue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l"/>
                      <a:r>
                        <a:rPr lang="en-US" sz="1600" dirty="0">
                          <a:solidFill>
                            <a:schemeClr val="tx1"/>
                          </a:solidFill>
                          <a:latin typeface="Arial" panose="020B0604020202020204" pitchFamily="34" charset="0"/>
                          <a:cs typeface="Arial" panose="020B0604020202020204" pitchFamily="34" charset="0"/>
                        </a:rPr>
                        <a:t>Topic</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l"/>
                      <a:r>
                        <a:rPr lang="en-US" sz="1600" dirty="0">
                          <a:solidFill>
                            <a:schemeClr val="tx1"/>
                          </a:solidFill>
                          <a:latin typeface="Arial" panose="020B0604020202020204" pitchFamily="34" charset="0"/>
                          <a:cs typeface="Arial" panose="020B0604020202020204" pitchFamily="34" charset="0"/>
                        </a:rPr>
                        <a:t>Fri</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l"/>
                      <a:r>
                        <a:rPr lang="en-US" sz="1600" dirty="0">
                          <a:solidFill>
                            <a:schemeClr val="tx1"/>
                          </a:solidFill>
                          <a:latin typeface="Arial" panose="020B0604020202020204" pitchFamily="34" charset="0"/>
                          <a:cs typeface="Arial" panose="020B0604020202020204" pitchFamily="34" charset="0"/>
                        </a:rPr>
                        <a:t>Topic</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10000"/>
                  </a:ext>
                </a:extLst>
              </a:tr>
              <a:tr h="29856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chemeClr val="bg1"/>
                          </a:solidFill>
                          <a:latin typeface="Arial" panose="020B0604020202020204" pitchFamily="34" charset="0"/>
                          <a:cs typeface="Arial" panose="020B0604020202020204" pitchFamily="34" charset="0"/>
                        </a:rPr>
                        <a:t>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1" strike="noStrike" spc="-10" dirty="0">
                          <a:solidFill>
                            <a:schemeClr val="bg1"/>
                          </a:solidFill>
                          <a:latin typeface="Arial" panose="020B0604020202020204" pitchFamily="34" charset="0"/>
                          <a:cs typeface="Arial" panose="020B0604020202020204" pitchFamily="34" charset="0"/>
                        </a:rPr>
                        <a:t>I</a:t>
                      </a:r>
                      <a:r>
                        <a:rPr lang="en-US" sz="1600" b="1" strike="noStrike" spc="-5" dirty="0">
                          <a:solidFill>
                            <a:schemeClr val="bg1"/>
                          </a:solidFill>
                          <a:latin typeface="Arial" panose="020B0604020202020204" pitchFamily="34" charset="0"/>
                          <a:cs typeface="Arial" panose="020B0604020202020204" pitchFamily="34" charset="0"/>
                        </a:rPr>
                        <a:t>ntro</a:t>
                      </a:r>
                      <a:r>
                        <a:rPr lang="en-US" sz="1600" b="1" strike="noStrike" spc="5" dirty="0">
                          <a:solidFill>
                            <a:schemeClr val="bg1"/>
                          </a:solidFill>
                          <a:latin typeface="Arial" panose="020B0604020202020204" pitchFamily="34" charset="0"/>
                          <a:cs typeface="Arial" panose="020B0604020202020204" pitchFamily="34" charset="0"/>
                        </a:rPr>
                        <a:t>d</a:t>
                      </a:r>
                      <a:r>
                        <a:rPr lang="en-US" sz="1600" b="1" strike="noStrike" spc="-10" dirty="0">
                          <a:solidFill>
                            <a:schemeClr val="bg1"/>
                          </a:solidFill>
                          <a:latin typeface="Arial" panose="020B0604020202020204" pitchFamily="34" charset="0"/>
                          <a:cs typeface="Arial" panose="020B0604020202020204" pitchFamily="34" charset="0"/>
                        </a:rPr>
                        <a:t>u</a:t>
                      </a:r>
                      <a:r>
                        <a:rPr lang="en-US" sz="1600" b="1" strike="noStrike" dirty="0">
                          <a:solidFill>
                            <a:schemeClr val="bg1"/>
                          </a:solidFill>
                          <a:latin typeface="Arial" panose="020B0604020202020204" pitchFamily="34" charset="0"/>
                          <a:cs typeface="Arial" panose="020B0604020202020204" pitchFamily="34" charset="0"/>
                        </a:rPr>
                        <a:t>ction</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chemeClr val="bg1"/>
                          </a:solidFill>
                          <a:latin typeface="Arial" panose="020B0604020202020204" pitchFamily="34" charset="0"/>
                          <a:cs typeface="Arial" panose="020B0604020202020204" pitchFamily="34" charset="0"/>
                        </a:rPr>
                        <a:t>2</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1" strike="noStrike" spc="0" dirty="0">
                          <a:solidFill>
                            <a:schemeClr val="bg1"/>
                          </a:solidFill>
                          <a:latin typeface="Arial" panose="020B0604020202020204" pitchFamily="34" charset="0"/>
                          <a:cs typeface="Arial" panose="020B0604020202020204" pitchFamily="34" charset="0"/>
                        </a:rPr>
                        <a:t>MatLab I (Basics)</a:t>
                      </a:r>
                      <a:endParaRPr lang="en-US" sz="1600" b="1" strike="noStrike" dirty="0">
                        <a:solidFill>
                          <a:schemeClr val="bg1"/>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001"/>
                  </a:ext>
                </a:extLst>
              </a:tr>
              <a:tr h="29856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rgbClr val="FFFF00"/>
                          </a:solidFill>
                          <a:latin typeface="Arial" panose="020B0604020202020204" pitchFamily="34" charset="0"/>
                          <a:cs typeface="Arial" panose="020B0604020202020204" pitchFamily="34" charset="0"/>
                        </a:rPr>
                        <a:t>3</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1" dirty="0">
                          <a:solidFill>
                            <a:srgbClr val="FFFF00"/>
                          </a:solidFill>
                          <a:latin typeface="Arial" panose="020B0604020202020204" pitchFamily="34" charset="0"/>
                          <a:cs typeface="Arial" panose="020B0604020202020204" pitchFamily="34" charset="0"/>
                        </a:rPr>
                        <a:t>System</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rgbClr val="FFFF00"/>
                          </a:solidFill>
                          <a:latin typeface="Arial" panose="020B0604020202020204" pitchFamily="34" charset="0"/>
                          <a:cs typeface="Arial" panose="020B0604020202020204" pitchFamily="34" charset="0"/>
                        </a:rPr>
                        <a:t>4</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1" spc="-5" dirty="0">
                          <a:solidFill>
                            <a:srgbClr val="FFFF00"/>
                          </a:solidFill>
                          <a:latin typeface="Arial" panose="020B0604020202020204" pitchFamily="34" charset="0"/>
                          <a:cs typeface="Arial" panose="020B0604020202020204" pitchFamily="34" charset="0"/>
                        </a:rPr>
                        <a:t>Convolution</a:t>
                      </a:r>
                      <a:endParaRPr lang="en-US" sz="1600" b="1" dirty="0">
                        <a:solidFill>
                          <a:srgbClr val="FFFF00"/>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002"/>
                  </a:ext>
                </a:extLst>
              </a:tr>
              <a:tr h="29856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rgbClr val="FFFF00"/>
                          </a:solidFill>
                          <a:latin typeface="Arial" panose="020B0604020202020204" pitchFamily="34" charset="0"/>
                          <a:cs typeface="Arial" panose="020B0604020202020204" pitchFamily="34" charset="0"/>
                        </a:rPr>
                        <a:t>5</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1" spc="-5" dirty="0">
                          <a:solidFill>
                            <a:srgbClr val="FFFF00"/>
                          </a:solidFill>
                          <a:latin typeface="Arial" panose="020B0604020202020204" pitchFamily="34" charset="0"/>
                          <a:cs typeface="Arial" panose="020B0604020202020204" pitchFamily="34" charset="0"/>
                        </a:rPr>
                        <a:t>Fourier Series</a:t>
                      </a:r>
                      <a:endParaRPr lang="en-US" sz="1600" b="1" dirty="0">
                        <a:solidFill>
                          <a:srgbClr val="FFFF00"/>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rgbClr val="FFFF00"/>
                          </a:solidFill>
                          <a:latin typeface="Arial" panose="020B0604020202020204" pitchFamily="34" charset="0"/>
                          <a:cs typeface="Arial" panose="020B0604020202020204" pitchFamily="34" charset="0"/>
                        </a:rPr>
                        <a:t>6</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1" spc="-50" dirty="0">
                          <a:solidFill>
                            <a:srgbClr val="FFFF00"/>
                          </a:solidFill>
                          <a:latin typeface="Arial" panose="020B0604020202020204" pitchFamily="34" charset="0"/>
                          <a:cs typeface="Arial" panose="020B0604020202020204" pitchFamily="34" charset="0"/>
                        </a:rPr>
                        <a:t>F</a:t>
                      </a:r>
                      <a:r>
                        <a:rPr lang="en-US" sz="1600" b="1" spc="-5" dirty="0">
                          <a:solidFill>
                            <a:srgbClr val="FFFF00"/>
                          </a:solidFill>
                          <a:latin typeface="Arial" panose="020B0604020202020204" pitchFamily="34" charset="0"/>
                          <a:cs typeface="Arial" panose="020B0604020202020204" pitchFamily="34" charset="0"/>
                        </a:rPr>
                        <a:t>ouri</a:t>
                      </a:r>
                      <a:r>
                        <a:rPr lang="en-US" sz="1600" b="1" spc="5" dirty="0">
                          <a:solidFill>
                            <a:srgbClr val="FFFF00"/>
                          </a:solidFill>
                          <a:latin typeface="Arial" panose="020B0604020202020204" pitchFamily="34" charset="0"/>
                          <a:cs typeface="Arial" panose="020B0604020202020204" pitchFamily="34" charset="0"/>
                        </a:rPr>
                        <a:t>e</a:t>
                      </a:r>
                      <a:r>
                        <a:rPr lang="en-US" sz="1600" b="1" dirty="0">
                          <a:solidFill>
                            <a:srgbClr val="FFFF00"/>
                          </a:solidFill>
                          <a:latin typeface="Arial" panose="020B0604020202020204" pitchFamily="34" charset="0"/>
                          <a:cs typeface="Arial" panose="020B0604020202020204" pitchFamily="34" charset="0"/>
                        </a:rPr>
                        <a:t>r</a:t>
                      </a:r>
                      <a:r>
                        <a:rPr lang="en-US" sz="1600" b="1" spc="-30" dirty="0">
                          <a:solidFill>
                            <a:srgbClr val="FFFF00"/>
                          </a:solidFill>
                          <a:latin typeface="Arial" panose="020B0604020202020204" pitchFamily="34" charset="0"/>
                          <a:cs typeface="Arial" panose="020B0604020202020204" pitchFamily="34" charset="0"/>
                        </a:rPr>
                        <a:t> </a:t>
                      </a:r>
                      <a:r>
                        <a:rPr lang="en-US" sz="1600" b="1" spc="-75" dirty="0">
                          <a:solidFill>
                            <a:srgbClr val="FFFF00"/>
                          </a:solidFill>
                          <a:latin typeface="Arial" panose="020B0604020202020204" pitchFamily="34" charset="0"/>
                          <a:cs typeface="Arial" panose="020B0604020202020204" pitchFamily="34" charset="0"/>
                        </a:rPr>
                        <a:t>T</a:t>
                      </a:r>
                      <a:r>
                        <a:rPr lang="en-US" sz="1600" b="1" spc="-5" dirty="0">
                          <a:solidFill>
                            <a:srgbClr val="FFFF00"/>
                          </a:solidFill>
                          <a:latin typeface="Arial" panose="020B0604020202020204" pitchFamily="34" charset="0"/>
                          <a:cs typeface="Arial" panose="020B0604020202020204" pitchFamily="34" charset="0"/>
                        </a:rPr>
                        <a:t>r</a:t>
                      </a:r>
                      <a:r>
                        <a:rPr lang="en-US" sz="1600" b="1" spc="5" dirty="0">
                          <a:solidFill>
                            <a:srgbClr val="FFFF00"/>
                          </a:solidFill>
                          <a:latin typeface="Arial" panose="020B0604020202020204" pitchFamily="34" charset="0"/>
                          <a:cs typeface="Arial" panose="020B0604020202020204" pitchFamily="34" charset="0"/>
                        </a:rPr>
                        <a:t>a</a:t>
                      </a:r>
                      <a:r>
                        <a:rPr lang="en-US" sz="1600" b="1" spc="-5" dirty="0">
                          <a:solidFill>
                            <a:srgbClr val="FFFF00"/>
                          </a:solidFill>
                          <a:latin typeface="Arial" panose="020B0604020202020204" pitchFamily="34" charset="0"/>
                          <a:cs typeface="Arial" panose="020B0604020202020204" pitchFamily="34" charset="0"/>
                        </a:rPr>
                        <a:t>n</a:t>
                      </a:r>
                      <a:r>
                        <a:rPr lang="en-US" sz="1600" b="1" spc="5" dirty="0">
                          <a:solidFill>
                            <a:srgbClr val="FFFF00"/>
                          </a:solidFill>
                          <a:latin typeface="Arial" panose="020B0604020202020204" pitchFamily="34" charset="0"/>
                          <a:cs typeface="Arial" panose="020B0604020202020204" pitchFamily="34" charset="0"/>
                        </a:rPr>
                        <a:t>s</a:t>
                      </a:r>
                      <a:r>
                        <a:rPr lang="en-US" sz="1600" b="1" dirty="0">
                          <a:solidFill>
                            <a:srgbClr val="FFFF00"/>
                          </a:solidFill>
                          <a:latin typeface="Arial" panose="020B0604020202020204" pitchFamily="34" charset="0"/>
                          <a:cs typeface="Arial" panose="020B0604020202020204" pitchFamily="34" charset="0"/>
                        </a:rPr>
                        <a:t>f</a:t>
                      </a:r>
                      <a:r>
                        <a:rPr lang="en-US" sz="1600" b="1" spc="5" dirty="0">
                          <a:solidFill>
                            <a:srgbClr val="FFFF00"/>
                          </a:solidFill>
                          <a:latin typeface="Arial" panose="020B0604020202020204" pitchFamily="34" charset="0"/>
                          <a:cs typeface="Arial" panose="020B0604020202020204" pitchFamily="34" charset="0"/>
                        </a:rPr>
                        <a:t>o</a:t>
                      </a:r>
                      <a:r>
                        <a:rPr lang="en-US" sz="1600" b="1" spc="45" dirty="0">
                          <a:solidFill>
                            <a:srgbClr val="FFFF00"/>
                          </a:solidFill>
                          <a:latin typeface="Arial" panose="020B0604020202020204" pitchFamily="34" charset="0"/>
                          <a:cs typeface="Arial" panose="020B0604020202020204" pitchFamily="34" charset="0"/>
                        </a:rPr>
                        <a:t>r</a:t>
                      </a:r>
                      <a:r>
                        <a:rPr lang="en-US" sz="1600" b="1" dirty="0">
                          <a:solidFill>
                            <a:srgbClr val="FFFF00"/>
                          </a:solidFill>
                          <a:latin typeface="Arial" panose="020B0604020202020204" pitchFamily="34" charset="0"/>
                          <a:cs typeface="Arial" panose="020B0604020202020204" pitchFamily="34" charset="0"/>
                        </a:rPr>
                        <a:t>m</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003"/>
                  </a:ext>
                </a:extLst>
              </a:tr>
              <a:tr h="29856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rgbClr val="FFFF00"/>
                          </a:solidFill>
                          <a:latin typeface="Arial" panose="020B0604020202020204" pitchFamily="34" charset="0"/>
                          <a:cs typeface="Arial" panose="020B0604020202020204" pitchFamily="34" charset="0"/>
                        </a:rPr>
                        <a:t>7</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1" dirty="0">
                          <a:solidFill>
                            <a:srgbClr val="FFFF00"/>
                          </a:solidFill>
                          <a:latin typeface="Arial" panose="020B0604020202020204" pitchFamily="34" charset="0"/>
                          <a:cs typeface="Arial" panose="020B0604020202020204" pitchFamily="34" charset="0"/>
                        </a:rPr>
                        <a:t>Signal Processing</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rgbClr val="FFFF00"/>
                          </a:solidFill>
                          <a:latin typeface="Arial" panose="020B0604020202020204" pitchFamily="34" charset="0"/>
                          <a:cs typeface="Arial" panose="020B0604020202020204" pitchFamily="34" charset="0"/>
                        </a:rPr>
                        <a:t>8</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1" dirty="0">
                          <a:solidFill>
                            <a:srgbClr val="FFFF00"/>
                          </a:solidFill>
                          <a:latin typeface="Arial" panose="020B0604020202020204" pitchFamily="34" charset="0"/>
                          <a:cs typeface="Arial" panose="020B0604020202020204" pitchFamily="34" charset="0"/>
                        </a:rPr>
                        <a:t>Discrete FT &amp; FFT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004"/>
                  </a:ext>
                </a:extLst>
              </a:tr>
              <a:tr h="29856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chemeClr val="bg1"/>
                          </a:solidFill>
                          <a:latin typeface="Arial" panose="020B0604020202020204" pitchFamily="34" charset="0"/>
                          <a:cs typeface="Arial" panose="020B0604020202020204" pitchFamily="34" charset="0"/>
                        </a:rPr>
                        <a:t>9</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1" spc="-5" dirty="0">
                          <a:solidFill>
                            <a:schemeClr val="bg1"/>
                          </a:solidFill>
                          <a:latin typeface="Arial" panose="020B0604020202020204" pitchFamily="34" charset="0"/>
                          <a:cs typeface="Arial" panose="020B0604020202020204" pitchFamily="34" charset="0"/>
                        </a:rPr>
                        <a:t>MatLab</a:t>
                      </a:r>
                      <a:r>
                        <a:rPr lang="en-US" sz="1600" b="1" spc="-5" baseline="0" dirty="0">
                          <a:solidFill>
                            <a:schemeClr val="bg1"/>
                          </a:solidFill>
                          <a:latin typeface="Arial" panose="020B0604020202020204" pitchFamily="34" charset="0"/>
                          <a:cs typeface="Arial" panose="020B0604020202020204" pitchFamily="34" charset="0"/>
                        </a:rPr>
                        <a:t> II (Homework)</a:t>
                      </a:r>
                      <a:endParaRPr lang="en-US" sz="1600" b="1" dirty="0">
                        <a:solidFill>
                          <a:schemeClr val="bg1"/>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rgbClr val="FFFF00"/>
                          </a:solidFill>
                          <a:latin typeface="Arial" panose="020B0604020202020204" pitchFamily="34" charset="0"/>
                          <a:cs typeface="Arial" panose="020B0604020202020204" pitchFamily="34" charset="0"/>
                        </a:rPr>
                        <a:t>10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1" spc="-50" dirty="0">
                          <a:solidFill>
                            <a:srgbClr val="FFFF00"/>
                          </a:solidFill>
                          <a:latin typeface="Arial" panose="020B0604020202020204" pitchFamily="34" charset="0"/>
                          <a:cs typeface="Arial" panose="020B0604020202020204" pitchFamily="34" charset="0"/>
                        </a:rPr>
                        <a:t>Network</a:t>
                      </a:r>
                      <a:endParaRPr lang="en-US" sz="1600" b="1" dirty="0">
                        <a:solidFill>
                          <a:srgbClr val="FFFF00"/>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005"/>
                  </a:ext>
                </a:extLst>
              </a:tr>
              <a:tr h="29856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endParaRPr lang="en-US" sz="1600" b="1" dirty="0">
                        <a:solidFill>
                          <a:srgbClr val="FFFF00"/>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endParaRPr lang="en-US" sz="1600" b="1" dirty="0">
                        <a:solidFill>
                          <a:srgbClr val="FFFF00"/>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endParaRPr lang="en-US" sz="1600" b="1" dirty="0">
                        <a:solidFill>
                          <a:schemeClr val="bg1"/>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1" spc="-5" dirty="0">
                          <a:solidFill>
                            <a:schemeClr val="bg1"/>
                          </a:solidFill>
                          <a:latin typeface="Arial" panose="020B0604020202020204" pitchFamily="34" charset="0"/>
                          <a:cs typeface="Arial" panose="020B0604020202020204" pitchFamily="34" charset="0"/>
                        </a:rPr>
                        <a:t>E</a:t>
                      </a:r>
                      <a:r>
                        <a:rPr lang="en-US" sz="1600" b="1" spc="5" dirty="0">
                          <a:solidFill>
                            <a:schemeClr val="bg1"/>
                          </a:solidFill>
                          <a:latin typeface="Arial" panose="020B0604020202020204" pitchFamily="34" charset="0"/>
                          <a:cs typeface="Arial" panose="020B0604020202020204" pitchFamily="34" charset="0"/>
                        </a:rPr>
                        <a:t>x</a:t>
                      </a:r>
                      <a:r>
                        <a:rPr lang="en-US" sz="1600" b="1" dirty="0">
                          <a:solidFill>
                            <a:schemeClr val="bg1"/>
                          </a:solidFill>
                          <a:latin typeface="Arial" panose="020B0604020202020204" pitchFamily="34" charset="0"/>
                          <a:cs typeface="Arial" panose="020B0604020202020204" pitchFamily="34" charset="0"/>
                        </a:rPr>
                        <a:t>am</a:t>
                      </a:r>
                      <a:r>
                        <a:rPr lang="en-US" sz="1600" b="1" spc="-10" dirty="0">
                          <a:solidFill>
                            <a:schemeClr val="bg1"/>
                          </a:solidFill>
                          <a:latin typeface="Arial" panose="020B0604020202020204" pitchFamily="34" charset="0"/>
                          <a:cs typeface="Arial" panose="020B0604020202020204" pitchFamily="34" charset="0"/>
                        </a:rPr>
                        <a:t> </a:t>
                      </a:r>
                      <a:r>
                        <a:rPr lang="en-US" sz="1600" b="1" spc="-5" dirty="0">
                          <a:solidFill>
                            <a:schemeClr val="bg1"/>
                          </a:solidFill>
                          <a:latin typeface="Arial" panose="020B0604020202020204" pitchFamily="34" charset="0"/>
                          <a:cs typeface="Arial" panose="020B0604020202020204" pitchFamily="34" charset="0"/>
                        </a:rPr>
                        <a:t>I</a:t>
                      </a:r>
                      <a:endParaRPr lang="en-US" sz="1600" b="1" dirty="0">
                        <a:solidFill>
                          <a:schemeClr val="bg1"/>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006"/>
                  </a:ext>
                </a:extLst>
              </a:tr>
              <a:tr h="29856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rgbClr val="FFFF00"/>
                          </a:solidFill>
                          <a:latin typeface="Arial" panose="020B0604020202020204" pitchFamily="34" charset="0"/>
                          <a:cs typeface="Arial" panose="020B0604020202020204" pitchFamily="34" charset="0"/>
                        </a:rPr>
                        <a:t>11</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rgbClr val="FFFF00"/>
                          </a:solidFill>
                          <a:latin typeface="Arial" panose="020B0604020202020204" pitchFamily="34" charset="0"/>
                          <a:cs typeface="Arial" panose="020B0604020202020204" pitchFamily="34" charset="0"/>
                        </a:rPr>
                        <a:t>Quality &amp; Performance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rgbClr val="FFFF00"/>
                          </a:solidFill>
                          <a:latin typeface="Arial" panose="020B0604020202020204" pitchFamily="34" charset="0"/>
                          <a:cs typeface="Arial" panose="020B0604020202020204" pitchFamily="34" charset="0"/>
                        </a:rPr>
                        <a:t>12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spc="-5" dirty="0">
                          <a:solidFill>
                            <a:srgbClr val="FFFF00"/>
                          </a:solidFill>
                          <a:latin typeface="Arial" panose="020B0604020202020204" pitchFamily="34" charset="0"/>
                          <a:cs typeface="Arial" panose="020B0604020202020204" pitchFamily="34" charset="0"/>
                        </a:rPr>
                        <a:t>X-ray &amp; Radiography</a:t>
                      </a:r>
                      <a:endParaRPr lang="en-US" sz="1600" b="1" dirty="0">
                        <a:solidFill>
                          <a:srgbClr val="FFFF00"/>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7"/>
                  </a:ext>
                </a:extLst>
              </a:tr>
              <a:tr h="29856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rgbClr val="FFFF00"/>
                          </a:solidFill>
                          <a:latin typeface="Arial" panose="020B0604020202020204" pitchFamily="34" charset="0"/>
                          <a:cs typeface="Arial" panose="020B0604020202020204" pitchFamily="34" charset="0"/>
                        </a:rPr>
                        <a:t>13</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rgbClr val="FFFF00"/>
                          </a:solidFill>
                          <a:latin typeface="Arial" panose="020B0604020202020204" pitchFamily="34" charset="0"/>
                          <a:cs typeface="Arial" panose="020B0604020202020204" pitchFamily="34" charset="0"/>
                        </a:rPr>
                        <a:t>CT Reconstruction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rgbClr val="FFFF00"/>
                          </a:solidFill>
                          <a:latin typeface="Arial" panose="020B0604020202020204" pitchFamily="34" charset="0"/>
                          <a:cs typeface="Arial" panose="020B0604020202020204" pitchFamily="34" charset="0"/>
                        </a:rPr>
                        <a:t>14</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rgbClr val="FFFF00"/>
                          </a:solidFill>
                          <a:latin typeface="Arial" panose="020B0604020202020204" pitchFamily="34" charset="0"/>
                          <a:cs typeface="Arial" panose="020B0604020202020204" pitchFamily="34" charset="0"/>
                        </a:rPr>
                        <a:t>CT Scanner</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8"/>
                  </a:ext>
                </a:extLst>
              </a:tr>
              <a:tr h="29856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chemeClr val="bg1"/>
                          </a:solidFill>
                          <a:latin typeface="Arial" panose="020B0604020202020204" pitchFamily="34" charset="0"/>
                          <a:cs typeface="Arial" panose="020B0604020202020204" pitchFamily="34" charset="0"/>
                        </a:rPr>
                        <a:t>15</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spc="-5" dirty="0">
                          <a:solidFill>
                            <a:schemeClr val="bg1"/>
                          </a:solidFill>
                          <a:latin typeface="Arial" panose="020B0604020202020204" pitchFamily="34" charset="0"/>
                          <a:cs typeface="Arial" panose="020B0604020202020204" pitchFamily="34" charset="0"/>
                        </a:rPr>
                        <a:t>MatLab III (CT)</a:t>
                      </a:r>
                      <a:endParaRPr lang="en-US" sz="1600" b="1" dirty="0">
                        <a:solidFill>
                          <a:schemeClr val="bg1"/>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rgbClr val="FFFF00"/>
                          </a:solidFill>
                          <a:latin typeface="Arial" panose="020B0604020202020204" pitchFamily="34" charset="0"/>
                          <a:cs typeface="Arial" panose="020B0604020202020204" pitchFamily="34" charset="0"/>
                        </a:rPr>
                        <a:t>16</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spc="-5" dirty="0">
                          <a:solidFill>
                            <a:srgbClr val="FFFF00"/>
                          </a:solidFill>
                          <a:latin typeface="Arial" panose="020B0604020202020204" pitchFamily="34" charset="0"/>
                          <a:cs typeface="Arial" panose="020B0604020202020204" pitchFamily="34" charset="0"/>
                        </a:rPr>
                        <a:t>Nuclear Physics</a:t>
                      </a:r>
                      <a:endParaRPr lang="en-US" sz="1600" b="1" dirty="0">
                        <a:solidFill>
                          <a:srgbClr val="FFFF00"/>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9"/>
                  </a:ext>
                </a:extLst>
              </a:tr>
              <a:tr h="29856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rgbClr val="FFFF00"/>
                          </a:solidFill>
                          <a:latin typeface="Arial" panose="020B0604020202020204" pitchFamily="34" charset="0"/>
                          <a:cs typeface="Arial" panose="020B0604020202020204" pitchFamily="34" charset="0"/>
                        </a:rPr>
                        <a:t>17</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1" spc="-5" dirty="0">
                          <a:solidFill>
                            <a:srgbClr val="FFFF00"/>
                          </a:solidFill>
                          <a:latin typeface="Arial" panose="020B0604020202020204" pitchFamily="34" charset="0"/>
                          <a:cs typeface="Arial" panose="020B0604020202020204" pitchFamily="34" charset="0"/>
                        </a:rPr>
                        <a:t>PET &amp; SPECT</a:t>
                      </a:r>
                      <a:endParaRPr lang="en-US" sz="1600" b="1" dirty="0">
                        <a:solidFill>
                          <a:srgbClr val="FFFF00"/>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rgbClr val="FFFF00"/>
                          </a:solidFill>
                          <a:latin typeface="Arial" panose="020B0604020202020204" pitchFamily="34" charset="0"/>
                          <a:cs typeface="Arial" panose="020B0604020202020204" pitchFamily="34" charset="0"/>
                        </a:rPr>
                        <a:t>18</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1" dirty="0">
                          <a:solidFill>
                            <a:srgbClr val="FFFF00"/>
                          </a:solidFill>
                          <a:latin typeface="Arial" panose="020B0604020202020204" pitchFamily="34" charset="0"/>
                          <a:cs typeface="Arial" panose="020B0604020202020204" pitchFamily="34" charset="0"/>
                        </a:rPr>
                        <a:t>MRI</a:t>
                      </a:r>
                      <a:r>
                        <a:rPr lang="en-US" sz="1600" b="1" baseline="0" dirty="0">
                          <a:solidFill>
                            <a:srgbClr val="FFFF00"/>
                          </a:solidFill>
                          <a:latin typeface="Arial" panose="020B0604020202020204" pitchFamily="34" charset="0"/>
                          <a:cs typeface="Arial" panose="020B0604020202020204" pitchFamily="34" charset="0"/>
                        </a:rPr>
                        <a:t> I</a:t>
                      </a:r>
                      <a:endParaRPr lang="en-US" sz="1600" b="1" dirty="0">
                        <a:solidFill>
                          <a:srgbClr val="FFFF00"/>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10"/>
                  </a:ext>
                </a:extLst>
              </a:tr>
              <a:tr h="29856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endParaRPr lang="en-US" sz="1600" b="1" dirty="0">
                        <a:solidFill>
                          <a:schemeClr val="bg1"/>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1" spc="-5" dirty="0">
                          <a:solidFill>
                            <a:schemeClr val="bg1"/>
                          </a:solidFill>
                          <a:latin typeface="Arial" panose="020B0604020202020204" pitchFamily="34" charset="0"/>
                          <a:cs typeface="Arial" panose="020B0604020202020204" pitchFamily="34" charset="0"/>
                        </a:rPr>
                        <a:t>E</a:t>
                      </a:r>
                      <a:r>
                        <a:rPr lang="en-US" sz="1600" b="1" spc="5" dirty="0">
                          <a:solidFill>
                            <a:schemeClr val="bg1"/>
                          </a:solidFill>
                          <a:latin typeface="Arial" panose="020B0604020202020204" pitchFamily="34" charset="0"/>
                          <a:cs typeface="Arial" panose="020B0604020202020204" pitchFamily="34" charset="0"/>
                        </a:rPr>
                        <a:t>x</a:t>
                      </a:r>
                      <a:r>
                        <a:rPr lang="en-US" sz="1600" b="1" dirty="0">
                          <a:solidFill>
                            <a:schemeClr val="bg1"/>
                          </a:solidFill>
                          <a:latin typeface="Arial" panose="020B0604020202020204" pitchFamily="34" charset="0"/>
                          <a:cs typeface="Arial" panose="020B0604020202020204" pitchFamily="34" charset="0"/>
                        </a:rPr>
                        <a:t>am</a:t>
                      </a:r>
                      <a:r>
                        <a:rPr lang="en-US" sz="1600" b="1" spc="-10" dirty="0">
                          <a:solidFill>
                            <a:schemeClr val="bg1"/>
                          </a:solidFill>
                          <a:latin typeface="Arial" panose="020B0604020202020204" pitchFamily="34" charset="0"/>
                          <a:cs typeface="Arial" panose="020B0604020202020204" pitchFamily="34" charset="0"/>
                        </a:rPr>
                        <a:t> </a:t>
                      </a:r>
                      <a:r>
                        <a:rPr lang="en-US" sz="1600" b="1" spc="-5" dirty="0">
                          <a:solidFill>
                            <a:schemeClr val="bg1"/>
                          </a:solidFill>
                          <a:latin typeface="Arial" panose="020B0604020202020204" pitchFamily="34" charset="0"/>
                          <a:cs typeface="Arial" panose="020B0604020202020204" pitchFamily="34" charset="0"/>
                        </a:rPr>
                        <a:t>I</a:t>
                      </a:r>
                      <a:r>
                        <a:rPr lang="en-US" sz="1600" b="1" dirty="0">
                          <a:solidFill>
                            <a:schemeClr val="bg1"/>
                          </a:solidFill>
                          <a:latin typeface="Arial" panose="020B0604020202020204" pitchFamily="34" charset="0"/>
                          <a:cs typeface="Arial" panose="020B0604020202020204" pitchFamily="34" charset="0"/>
                        </a:rPr>
                        <a:t>I</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rgbClr val="FFFF00"/>
                          </a:solidFill>
                          <a:latin typeface="Arial" panose="020B0604020202020204" pitchFamily="34" charset="0"/>
                          <a:cs typeface="Arial" panose="020B0604020202020204" pitchFamily="34" charset="0"/>
                        </a:rPr>
                        <a:t>19</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1" dirty="0">
                          <a:solidFill>
                            <a:srgbClr val="FFFF00"/>
                          </a:solidFill>
                          <a:latin typeface="Arial" panose="020B0604020202020204" pitchFamily="34" charset="0"/>
                          <a:cs typeface="Arial" panose="020B0604020202020204" pitchFamily="34" charset="0"/>
                        </a:rPr>
                        <a:t>MRI II</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11"/>
                  </a:ext>
                </a:extLst>
              </a:tr>
              <a:tr h="29856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rgbClr val="FFFF00"/>
                          </a:solidFill>
                          <a:latin typeface="Arial" panose="020B0604020202020204" pitchFamily="34" charset="0"/>
                          <a:cs typeface="Arial" panose="020B0604020202020204" pitchFamily="34" charset="0"/>
                        </a:rPr>
                        <a:t>20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1" spc="5" dirty="0">
                          <a:solidFill>
                            <a:srgbClr val="FFFF00"/>
                          </a:solidFill>
                          <a:latin typeface="Arial" panose="020B0604020202020204" pitchFamily="34" charset="0"/>
                          <a:cs typeface="Arial" panose="020B0604020202020204" pitchFamily="34" charset="0"/>
                        </a:rPr>
                        <a:t>MRI III</a:t>
                      </a:r>
                      <a:endParaRPr lang="en-US" sz="1600" b="1" dirty="0">
                        <a:solidFill>
                          <a:srgbClr val="FFFF00"/>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rgbClr val="FFFF00"/>
                          </a:solidFill>
                          <a:latin typeface="Arial" panose="020B0604020202020204" pitchFamily="34" charset="0"/>
                          <a:cs typeface="Arial" panose="020B0604020202020204" pitchFamily="34" charset="0"/>
                        </a:rPr>
                        <a:t>21</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1" spc="-5" dirty="0">
                          <a:solidFill>
                            <a:srgbClr val="FFFF00"/>
                          </a:solidFill>
                          <a:latin typeface="Arial" panose="020B0604020202020204" pitchFamily="34" charset="0"/>
                          <a:cs typeface="Arial" panose="020B0604020202020204" pitchFamily="34" charset="0"/>
                        </a:rPr>
                        <a:t>Ultrasound I</a:t>
                      </a:r>
                      <a:endParaRPr lang="en-US" sz="1600" b="1" dirty="0">
                        <a:solidFill>
                          <a:srgbClr val="FFFF00"/>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12"/>
                  </a:ext>
                </a:extLst>
              </a:tr>
              <a:tr h="29856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rgbClr val="FFFF00"/>
                          </a:solidFill>
                          <a:latin typeface="Arial" panose="020B0604020202020204" pitchFamily="34" charset="0"/>
                          <a:cs typeface="Arial" panose="020B0604020202020204" pitchFamily="34" charset="0"/>
                        </a:rPr>
                        <a:t>22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1" spc="-5" baseline="0" dirty="0">
                          <a:solidFill>
                            <a:srgbClr val="FFFF00"/>
                          </a:solidFill>
                          <a:latin typeface="Arial" panose="020B0604020202020204" pitchFamily="34" charset="0"/>
                          <a:cs typeface="Arial" panose="020B0604020202020204" pitchFamily="34" charset="0"/>
                        </a:rPr>
                        <a:t> </a:t>
                      </a:r>
                      <a:r>
                        <a:rPr lang="en-US" sz="1600" b="1" spc="-5" dirty="0">
                          <a:solidFill>
                            <a:srgbClr val="FFFF00"/>
                          </a:solidFill>
                          <a:latin typeface="Arial" panose="020B0604020202020204" pitchFamily="34" charset="0"/>
                          <a:cs typeface="Arial" panose="020B0604020202020204" pitchFamily="34" charset="0"/>
                        </a:rPr>
                        <a:t>Ultrasound</a:t>
                      </a:r>
                      <a:r>
                        <a:rPr lang="en-US" sz="1600" b="1" spc="0" baseline="0" dirty="0">
                          <a:solidFill>
                            <a:srgbClr val="FFFF00"/>
                          </a:solidFill>
                          <a:latin typeface="Arial" panose="020B0604020202020204" pitchFamily="34" charset="0"/>
                          <a:cs typeface="Arial" panose="020B0604020202020204" pitchFamily="34" charset="0"/>
                        </a:rPr>
                        <a:t> II</a:t>
                      </a:r>
                      <a:endParaRPr lang="en-US" sz="1600" b="1" dirty="0">
                        <a:solidFill>
                          <a:srgbClr val="FFFF00"/>
                        </a:solidFill>
                        <a:latin typeface="Arial" panose="020B0604020202020204" pitchFamily="34" charset="0"/>
                        <a:cs typeface="Arial" panose="020B0604020202020204" pitchFamily="34" charset="0"/>
                      </a:endParaRPr>
                    </a:p>
                  </a:txBody>
                  <a:tcPr marL="0" marR="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rgbClr val="FFFF00"/>
                          </a:solidFill>
                          <a:latin typeface="Arial" panose="020B0604020202020204" pitchFamily="34" charset="0"/>
                          <a:cs typeface="Arial" panose="020B0604020202020204" pitchFamily="34" charset="0"/>
                        </a:rPr>
                        <a:t>23</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1" spc="-5" dirty="0">
                          <a:solidFill>
                            <a:srgbClr val="FFFF00"/>
                          </a:solidFill>
                          <a:latin typeface="Arial" panose="020B0604020202020204" pitchFamily="34" charset="0"/>
                          <a:cs typeface="Arial" panose="020B0604020202020204" pitchFamily="34" charset="0"/>
                        </a:rPr>
                        <a:t>Opt</a:t>
                      </a:r>
                      <a:r>
                        <a:rPr lang="en-US" sz="1600" b="1" dirty="0">
                          <a:solidFill>
                            <a:srgbClr val="FFFF00"/>
                          </a:solidFill>
                          <a:latin typeface="Arial" panose="020B0604020202020204" pitchFamily="34" charset="0"/>
                          <a:cs typeface="Arial" panose="020B0604020202020204" pitchFamily="34" charset="0"/>
                        </a:rPr>
                        <a:t>ical</a:t>
                      </a:r>
                      <a:r>
                        <a:rPr lang="en-US" sz="1600" b="1" baseline="0" dirty="0">
                          <a:solidFill>
                            <a:srgbClr val="FFFF00"/>
                          </a:solidFill>
                          <a:latin typeface="Arial" panose="020B0604020202020204" pitchFamily="34" charset="0"/>
                          <a:cs typeface="Arial" panose="020B0604020202020204" pitchFamily="34" charset="0"/>
                        </a:rPr>
                        <a:t> Imaging</a:t>
                      </a:r>
                      <a:endParaRPr lang="en-US" sz="1600" b="1" dirty="0">
                        <a:solidFill>
                          <a:srgbClr val="FFFF00"/>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13"/>
                  </a:ext>
                </a:extLst>
              </a:tr>
              <a:tr h="29856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r>
                        <a:rPr lang="en-US" sz="1600" b="1" dirty="0">
                          <a:solidFill>
                            <a:schemeClr val="bg1"/>
                          </a:solidFill>
                          <a:latin typeface="Arial" panose="020B0604020202020204" pitchFamily="34" charset="0"/>
                          <a:cs typeface="Arial" panose="020B0604020202020204" pitchFamily="34" charset="0"/>
                        </a:rPr>
                        <a:t>24</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1" spc="-5" dirty="0">
                          <a:solidFill>
                            <a:schemeClr val="bg1"/>
                          </a:solidFill>
                          <a:latin typeface="Arial" panose="020B0604020202020204" pitchFamily="34" charset="0"/>
                          <a:cs typeface="Arial" panose="020B0604020202020204" pitchFamily="34" charset="0"/>
                        </a:rPr>
                        <a:t> Deep Imaging</a:t>
                      </a:r>
                      <a:endParaRPr lang="en-US" sz="1600" b="1" dirty="0">
                        <a:solidFill>
                          <a:schemeClr val="bg1"/>
                        </a:solidFill>
                        <a:latin typeface="Arial" panose="020B0604020202020204" pitchFamily="34" charset="0"/>
                        <a:cs typeface="Arial" panose="020B0604020202020204" pitchFamily="34" charset="0"/>
                      </a:endParaRPr>
                    </a:p>
                  </a:txBody>
                  <a:tcPr marL="0" marR="0" marT="0"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endParaRPr lang="en-US" sz="1600" b="1" dirty="0">
                        <a:solidFill>
                          <a:schemeClr val="bg1"/>
                        </a:solidFill>
                        <a:latin typeface="Arial" panose="020B0604020202020204" pitchFamily="34" charset="0"/>
                        <a:cs typeface="Arial" panose="020B060402020202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1" spc="-5" dirty="0">
                          <a:solidFill>
                            <a:schemeClr val="bg1"/>
                          </a:solidFill>
                          <a:latin typeface="Arial" panose="020B0604020202020204" pitchFamily="34" charset="0"/>
                          <a:cs typeface="Arial" panose="020B0604020202020204" pitchFamily="34" charset="0"/>
                        </a:rPr>
                        <a:t>E</a:t>
                      </a:r>
                      <a:r>
                        <a:rPr lang="en-US" sz="1600" b="1" dirty="0">
                          <a:solidFill>
                            <a:schemeClr val="bg1"/>
                          </a:solidFill>
                          <a:latin typeface="Arial" panose="020B0604020202020204" pitchFamily="34" charset="0"/>
                          <a:cs typeface="Arial" panose="020B0604020202020204" pitchFamily="34" charset="0"/>
                        </a:rPr>
                        <a:t>xam</a:t>
                      </a:r>
                      <a:r>
                        <a:rPr lang="en-US" sz="1600" b="1" spc="-15" dirty="0">
                          <a:solidFill>
                            <a:schemeClr val="bg1"/>
                          </a:solidFill>
                          <a:latin typeface="Arial" panose="020B0604020202020204" pitchFamily="34" charset="0"/>
                          <a:cs typeface="Arial" panose="020B0604020202020204" pitchFamily="34" charset="0"/>
                        </a:rPr>
                        <a:t> </a:t>
                      </a:r>
                      <a:r>
                        <a:rPr lang="en-US" sz="1600" b="1" spc="-10" dirty="0">
                          <a:solidFill>
                            <a:schemeClr val="bg1"/>
                          </a:solidFill>
                          <a:latin typeface="Arial" panose="020B0604020202020204" pitchFamily="34" charset="0"/>
                          <a:cs typeface="Arial" panose="020B0604020202020204" pitchFamily="34" charset="0"/>
                        </a:rPr>
                        <a:t>II</a:t>
                      </a:r>
                      <a:r>
                        <a:rPr lang="en-US" sz="1600" b="1" dirty="0">
                          <a:solidFill>
                            <a:schemeClr val="bg1"/>
                          </a:solidFill>
                          <a:latin typeface="Arial" panose="020B0604020202020204" pitchFamily="34" charset="0"/>
                          <a:cs typeface="Arial" panose="020B0604020202020204" pitchFamily="34" charset="0"/>
                        </a:rPr>
                        <a:t>I</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14"/>
                  </a:ext>
                </a:extLst>
              </a:tr>
            </a:tbl>
          </a:graphicData>
        </a:graphic>
      </p:graphicFrame>
      <p:sp>
        <p:nvSpPr>
          <p:cNvPr id="12" name="Title 1"/>
          <p:cNvSpPr txBox="1">
            <a:spLocks/>
          </p:cNvSpPr>
          <p:nvPr/>
        </p:nvSpPr>
        <p:spPr>
          <a:xfrm>
            <a:off x="200025" y="255865"/>
            <a:ext cx="8839200" cy="83820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fontAlgn="auto">
              <a:spcAft>
                <a:spcPts val="0"/>
              </a:spcAft>
            </a:pPr>
            <a:r>
              <a:rPr lang="en-US" sz="4000" b="1" dirty="0">
                <a:latin typeface="Arial" panose="020B0604020202020204" pitchFamily="34" charset="0"/>
                <a:cs typeface="Arial" panose="020B0604020202020204" pitchFamily="34" charset="0"/>
              </a:rPr>
              <a:t>Course Schedule</a:t>
            </a:r>
          </a:p>
        </p:txBody>
      </p:sp>
      <p:sp>
        <p:nvSpPr>
          <p:cNvPr id="13" name="Rectangle 12"/>
          <p:cNvSpPr/>
          <p:nvPr/>
        </p:nvSpPr>
        <p:spPr>
          <a:xfrm>
            <a:off x="811714" y="6143626"/>
            <a:ext cx="7615822" cy="369332"/>
          </a:xfrm>
          <a:prstGeom prst="rect">
            <a:avLst/>
          </a:prstGeom>
        </p:spPr>
        <p:txBody>
          <a:bodyPr wrap="square">
            <a:spAutoFit/>
          </a:bodyPr>
          <a:lstStyle/>
          <a:p>
            <a:pPr eaLnBrk="0" hangingPunct="0">
              <a:defRPr/>
            </a:pPr>
            <a:r>
              <a:rPr lang="en-US" sz="1800" b="1" dirty="0">
                <a:latin typeface="Arial" panose="020B0604020202020204" pitchFamily="34" charset="0"/>
                <a:cs typeface="Arial" panose="020B0604020202020204" pitchFamily="34" charset="0"/>
              </a:rPr>
              <a:t>Office Hour: Ge Tue &amp; Fri 3-4pm @ Ge’s room | </a:t>
            </a:r>
            <a:r>
              <a:rPr lang="en-US" sz="1800" dirty="0">
                <a:latin typeface="Arial" panose="020B0604020202020204" pitchFamily="34" charset="0"/>
                <a:cs typeface="Arial" panose="020B0604020202020204" pitchFamily="34" charset="0"/>
              </a:rPr>
              <a:t>wangg6@rpi.edu</a:t>
            </a:r>
          </a:p>
        </p:txBody>
      </p:sp>
    </p:spTree>
    <p:extLst>
      <p:ext uri="{BB962C8B-B14F-4D97-AF65-F5344CB8AC3E}">
        <p14:creationId xmlns:p14="http://schemas.microsoft.com/office/powerpoint/2010/main" val="2413287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pic>
        <p:nvPicPr>
          <p:cNvPr id="4" name="Picture 3"/>
          <p:cNvPicPr>
            <a:picLocks noChangeAspect="1"/>
          </p:cNvPicPr>
          <p:nvPr/>
        </p:nvPicPr>
        <p:blipFill>
          <a:blip r:embed="rId3"/>
          <a:stretch>
            <a:fillRect/>
          </a:stretch>
        </p:blipFill>
        <p:spPr>
          <a:xfrm>
            <a:off x="1755721" y="2480794"/>
            <a:ext cx="8680559" cy="1896413"/>
          </a:xfrm>
          <a:prstGeom prst="rect">
            <a:avLst/>
          </a:prstGeom>
        </p:spPr>
      </p:pic>
    </p:spTree>
    <p:extLst>
      <p:ext uri="{BB962C8B-B14F-4D97-AF65-F5344CB8AC3E}">
        <p14:creationId xmlns:p14="http://schemas.microsoft.com/office/powerpoint/2010/main" val="799316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descr="http://thumbs.dreamstime.com/x/water-intersecting-ripples-669496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51414"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632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0"/>
            <a:ext cx="9144000" cy="838200"/>
          </a:xfrm>
        </p:spPr>
        <p:txBody>
          <a:bodyPr/>
          <a:lstStyle/>
          <a:p>
            <a:r>
              <a:rPr lang="en-US" dirty="0"/>
              <a:t>First Push Must Be an Impulse</a:t>
            </a:r>
          </a:p>
        </p:txBody>
      </p:sp>
      <p:pic>
        <p:nvPicPr>
          <p:cNvPr id="28674" name="Picture 2" descr="Image result for solar syst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3567482"/>
            <a:ext cx="9144000" cy="3290519"/>
          </a:xfrm>
          <a:prstGeom prst="rect">
            <a:avLst/>
          </a:prstGeom>
          <a:noFill/>
          <a:extLst>
            <a:ext uri="{909E8E84-426E-40DD-AFC4-6F175D3DCCD1}">
              <a14:hiddenFill xmlns:a14="http://schemas.microsoft.com/office/drawing/2010/main">
                <a:solidFill>
                  <a:srgbClr val="FFFFFF"/>
                </a:solidFill>
              </a14:hiddenFill>
            </a:ext>
          </a:extLst>
        </p:spPr>
      </p:pic>
      <p:pic>
        <p:nvPicPr>
          <p:cNvPr id="28678" name="Picture 6" descr="Image result for angel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1" y="990601"/>
            <a:ext cx="4083009" cy="2711497"/>
          </a:xfrm>
          <a:prstGeom prst="rect">
            <a:avLst/>
          </a:prstGeom>
          <a:noFill/>
          <a:extLst>
            <a:ext uri="{909E8E84-426E-40DD-AFC4-6F175D3DCCD1}">
              <a14:hiddenFill xmlns:a14="http://schemas.microsoft.com/office/drawing/2010/main">
                <a:solidFill>
                  <a:srgbClr val="FFFFFF"/>
                </a:solidFill>
              </a14:hiddenFill>
            </a:ext>
          </a:extLst>
        </p:spPr>
      </p:pic>
      <p:pic>
        <p:nvPicPr>
          <p:cNvPr id="55298" name="Picture 2" descr="Related imag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07010" y="990600"/>
            <a:ext cx="2366559" cy="3348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8359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Impulse to Momentum Change</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02570" y="1417097"/>
            <a:ext cx="7186860" cy="4796890"/>
          </a:xfrm>
          <a:prstGeom prst="rect">
            <a:avLst/>
          </a:prstGeom>
        </p:spPr>
      </p:pic>
    </p:spTree>
    <p:extLst>
      <p:ext uri="{BB962C8B-B14F-4D97-AF65-F5344CB8AC3E}">
        <p14:creationId xmlns:p14="http://schemas.microsoft.com/office/powerpoint/2010/main" val="731703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Impulse to Momentum Change</a:t>
            </a:r>
          </a:p>
        </p:txBody>
      </p:sp>
      <p:pic>
        <p:nvPicPr>
          <p:cNvPr id="4" name="Picture 3"/>
          <p:cNvPicPr>
            <a:picLocks noChangeAspect="1"/>
          </p:cNvPicPr>
          <p:nvPr/>
        </p:nvPicPr>
        <p:blipFill>
          <a:blip r:embed="rId3"/>
          <a:stretch>
            <a:fillRect/>
          </a:stretch>
        </p:blipFill>
        <p:spPr>
          <a:xfrm>
            <a:off x="1524000" y="1237208"/>
            <a:ext cx="9087258" cy="4988913"/>
          </a:xfrm>
          <a:prstGeom prst="rect">
            <a:avLst/>
          </a:prstGeom>
        </p:spPr>
      </p:pic>
    </p:spTree>
    <p:extLst>
      <p:ext uri="{BB962C8B-B14F-4D97-AF65-F5344CB8AC3E}">
        <p14:creationId xmlns:p14="http://schemas.microsoft.com/office/powerpoint/2010/main" val="3529787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Impulse as an Overall Effect</a:t>
            </a:r>
          </a:p>
        </p:txBody>
      </p:sp>
      <p:pic>
        <p:nvPicPr>
          <p:cNvPr id="4" name="Picture 10" descr="w09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0863" y="1158497"/>
            <a:ext cx="6410274" cy="5448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50826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Regardless of Functional Shapes</a:t>
            </a:r>
          </a:p>
        </p:txBody>
      </p:sp>
      <p:sp>
        <p:nvSpPr>
          <p:cNvPr id="3" name="Content Placeholder 2"/>
          <p:cNvSpPr>
            <a:spLocks noGrp="1"/>
          </p:cNvSpPr>
          <p:nvPr>
            <p:ph idx="1"/>
          </p:nvPr>
        </p:nvSpPr>
        <p:spPr>
          <a:xfrm>
            <a:off x="1830029" y="1219200"/>
            <a:ext cx="8839200" cy="5193792"/>
          </a:xfrm>
        </p:spPr>
        <p:txBody>
          <a:bodyPr/>
          <a:lstStyle/>
          <a:p>
            <a:r>
              <a:rPr lang="en-US" altLang="en-US" dirty="0"/>
              <a:t>A forcing/driving function </a:t>
            </a:r>
            <a:r>
              <a:rPr lang="en-US" altLang="en-US" i="1" dirty="0"/>
              <a:t>d</a:t>
            </a:r>
            <a:r>
              <a:rPr lang="en-US" altLang="en-US" i="1" baseline="-25000" dirty="0">
                <a:sym typeface="Symbol" panose="05050102010706020507" pitchFamily="18" charset="2"/>
              </a:rPr>
              <a:t></a:t>
            </a:r>
            <a:r>
              <a:rPr lang="en-US" altLang="en-US" dirty="0"/>
              <a:t>(</a:t>
            </a:r>
            <a:r>
              <a:rPr lang="en-US" altLang="en-US" i="1" dirty="0"/>
              <a:t>t</a:t>
            </a:r>
            <a:r>
              <a:rPr lang="en-US" altLang="en-US" dirty="0"/>
              <a:t>) as an impulse</a:t>
            </a:r>
          </a:p>
          <a:p>
            <a:endParaRPr lang="en-US" altLang="en-US" sz="900" dirty="0"/>
          </a:p>
          <a:p>
            <a:endParaRPr lang="en-US" altLang="en-US" sz="900" dirty="0"/>
          </a:p>
          <a:p>
            <a:endParaRPr lang="en-US" altLang="en-US" sz="900" dirty="0"/>
          </a:p>
          <a:p>
            <a:endParaRPr lang="en-US" altLang="en-US" sz="900" dirty="0"/>
          </a:p>
          <a:p>
            <a:endParaRPr lang="en-US" altLang="en-US" sz="900" dirty="0"/>
          </a:p>
          <a:p>
            <a:endParaRPr lang="en-US" altLang="en-US" sz="900" dirty="0"/>
          </a:p>
          <a:p>
            <a:endParaRPr lang="en-US" altLang="en-US" sz="900" dirty="0"/>
          </a:p>
          <a:p>
            <a:endParaRPr lang="en-US" altLang="en-US" sz="900" dirty="0"/>
          </a:p>
          <a:p>
            <a:endParaRPr lang="en-US" altLang="en-US" sz="900" dirty="0"/>
          </a:p>
          <a:p>
            <a:endParaRPr lang="en-US" altLang="en-US" sz="900" dirty="0"/>
          </a:p>
          <a:p>
            <a:endParaRPr lang="en-US" altLang="en-US" sz="900" dirty="0"/>
          </a:p>
          <a:p>
            <a:endParaRPr lang="en-US" altLang="en-US" sz="900" dirty="0"/>
          </a:p>
          <a:p>
            <a:endParaRPr lang="en-US" altLang="en-US" sz="900" dirty="0"/>
          </a:p>
          <a:p>
            <a:endParaRPr lang="en-US" altLang="en-US" sz="900" dirty="0"/>
          </a:p>
          <a:p>
            <a:endParaRPr lang="en-US" altLang="en-US" sz="900" dirty="0"/>
          </a:p>
          <a:p>
            <a:endParaRPr lang="en-US" altLang="en-US" sz="900" dirty="0"/>
          </a:p>
          <a:p>
            <a:endParaRPr lang="en-US" altLang="en-US" sz="900" dirty="0"/>
          </a:p>
          <a:p>
            <a:endParaRPr lang="en-US" altLang="en-US" sz="900" dirty="0"/>
          </a:p>
          <a:p>
            <a:endParaRPr lang="en-US" altLang="en-US" sz="900" dirty="0"/>
          </a:p>
          <a:p>
            <a:endParaRPr lang="en-US" altLang="en-US" i="1" dirty="0">
              <a:sym typeface="Symbol" panose="05050102010706020507" pitchFamily="18" charset="2"/>
            </a:endParaRPr>
          </a:p>
          <a:p>
            <a:r>
              <a:rPr lang="en-US" altLang="en-US" i="1" dirty="0">
                <a:sym typeface="Symbol" panose="05050102010706020507" pitchFamily="18" charset="2"/>
              </a:rPr>
              <a:t>d</a:t>
            </a:r>
            <a:r>
              <a:rPr lang="en-US" altLang="en-US" i="1" baseline="-25000" dirty="0">
                <a:sym typeface="Symbol" panose="05050102010706020507" pitchFamily="18" charset="2"/>
              </a:rPr>
              <a:t></a:t>
            </a:r>
            <a:r>
              <a:rPr lang="en-US" altLang="en-US" dirty="0">
                <a:sym typeface="Symbol" panose="05050102010706020507" pitchFamily="18" charset="2"/>
              </a:rPr>
              <a:t>(</a:t>
            </a:r>
            <a:r>
              <a:rPr lang="en-US" altLang="en-US" i="1" dirty="0">
                <a:sym typeface="Symbol" panose="05050102010706020507" pitchFamily="18" charset="2"/>
              </a:rPr>
              <a:t>t</a:t>
            </a:r>
            <a:r>
              <a:rPr lang="en-US" altLang="en-US" dirty="0">
                <a:sym typeface="Symbol" panose="05050102010706020507" pitchFamily="18" charset="2"/>
              </a:rPr>
              <a:t>) gets taller and narrower as </a:t>
            </a:r>
            <a:r>
              <a:rPr lang="en-US" altLang="en-US" i="1" dirty="0">
                <a:sym typeface="Symbol" panose="05050102010706020507" pitchFamily="18" charset="2"/>
              </a:rPr>
              <a:t></a:t>
            </a:r>
            <a:r>
              <a:rPr lang="en-US" altLang="en-US" dirty="0">
                <a:sym typeface="Symbol" panose="05050102010706020507" pitchFamily="18" charset="2"/>
              </a:rPr>
              <a:t> </a:t>
            </a:r>
            <a:r>
              <a:rPr lang="en-US" altLang="en-US" sz="3200" dirty="0">
                <a:sym typeface="Symbol" panose="05050102010706020507" pitchFamily="18" charset="2"/>
              </a:rPr>
              <a:t> </a:t>
            </a:r>
            <a:r>
              <a:rPr lang="en-US" altLang="en-US" dirty="0">
                <a:sym typeface="Symbol" panose="05050102010706020507" pitchFamily="18" charset="2"/>
              </a:rPr>
              <a:t>0 but the area under the curve remains the same</a:t>
            </a:r>
            <a:endParaRPr lang="en-US" dirty="0"/>
          </a:p>
        </p:txBody>
      </p:sp>
      <p:pic>
        <p:nvPicPr>
          <p:cNvPr id="1026" name="Picture 2" descr="http://lpsa.swarthmore.edu/BackGround/ImpulseFunc/img7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7938" y="1844779"/>
            <a:ext cx="5715000" cy="3543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2281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Relying on the Limiting Process</a:t>
            </a:r>
          </a:p>
        </p:txBody>
      </p:sp>
      <p:graphicFrame>
        <p:nvGraphicFramePr>
          <p:cNvPr id="5" name="Object 6"/>
          <p:cNvGraphicFramePr>
            <a:graphicFrameLocks noChangeAspect="1"/>
          </p:cNvGraphicFramePr>
          <p:nvPr/>
        </p:nvGraphicFramePr>
        <p:xfrm>
          <a:off x="2086899" y="1961943"/>
          <a:ext cx="5117869" cy="1303736"/>
        </p:xfrm>
        <a:graphic>
          <a:graphicData uri="http://schemas.openxmlformats.org/presentationml/2006/ole">
            <mc:AlternateContent xmlns:mc="http://schemas.openxmlformats.org/markup-compatibility/2006">
              <mc:Choice xmlns:v="urn:schemas-microsoft-com:vml" Requires="v">
                <p:oleObj name="Equation" r:id="rId3" imgW="2793960" imgH="711000" progId="Equation.DSMT4">
                  <p:embed/>
                </p:oleObj>
              </mc:Choice>
              <mc:Fallback>
                <p:oleObj name="Equation" r:id="rId3" imgW="2793960" imgH="711000" progId="Equation.DSMT4">
                  <p:embed/>
                  <p:pic>
                    <p:nvPicPr>
                      <p:cNvPr id="5" name="Object 6"/>
                      <p:cNvPicPr>
                        <a:picLocks noChangeAspect="1" noChangeArrowheads="1"/>
                      </p:cNvPicPr>
                      <p:nvPr/>
                    </p:nvPicPr>
                    <p:blipFill>
                      <a:blip r:embed="rId4"/>
                      <a:srcRect/>
                      <a:stretch>
                        <a:fillRect/>
                      </a:stretch>
                    </p:blipFill>
                    <p:spPr bwMode="auto">
                      <a:xfrm>
                        <a:off x="2086899" y="1961943"/>
                        <a:ext cx="5117869" cy="1303736"/>
                      </a:xfrm>
                      <a:prstGeom prst="rect">
                        <a:avLst/>
                      </a:prstGeom>
                      <a:noFill/>
                      <a:ln>
                        <a:noFill/>
                      </a:ln>
                      <a:effectLst/>
                    </p:spPr>
                  </p:pic>
                </p:oleObj>
              </mc:Fallback>
            </mc:AlternateContent>
          </a:graphicData>
        </a:graphic>
      </p:graphicFrame>
      <p:pic>
        <p:nvPicPr>
          <p:cNvPr id="6" name="Picture 9" descr="w09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49921" y="1961943"/>
            <a:ext cx="2514600" cy="139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0" descr="w09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789609" y="3952566"/>
            <a:ext cx="2474913" cy="210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Object 12"/>
          <p:cNvGraphicFramePr>
            <a:graphicFrameLocks noChangeAspect="1"/>
          </p:cNvGraphicFramePr>
          <p:nvPr/>
        </p:nvGraphicFramePr>
        <p:xfrm>
          <a:off x="2086898" y="4756352"/>
          <a:ext cx="5238360" cy="798874"/>
        </p:xfrm>
        <a:graphic>
          <a:graphicData uri="http://schemas.openxmlformats.org/presentationml/2006/ole">
            <mc:AlternateContent xmlns:mc="http://schemas.openxmlformats.org/markup-compatibility/2006">
              <mc:Choice xmlns:v="urn:schemas-microsoft-com:vml" Requires="v">
                <p:oleObj name="Equation" r:id="rId7" imgW="1828800" imgH="279360" progId="Equation.3">
                  <p:embed/>
                </p:oleObj>
              </mc:Choice>
              <mc:Fallback>
                <p:oleObj name="Equation" r:id="rId7" imgW="1828800" imgH="279360" progId="Equation.3">
                  <p:embed/>
                  <p:pic>
                    <p:nvPicPr>
                      <p:cNvPr id="8"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86898" y="4756352"/>
                        <a:ext cx="5238360" cy="79887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030843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http://www.wpclipart.com/blanks/buttons/round/button_round_green.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93639" y="5224111"/>
            <a:ext cx="1490954" cy="149095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Given the Effect of an Impulse</a:t>
            </a:r>
          </a:p>
        </p:txBody>
      </p:sp>
      <p:sp>
        <p:nvSpPr>
          <p:cNvPr id="3" name="Content Placeholder 2"/>
          <p:cNvSpPr>
            <a:spLocks noGrp="1"/>
          </p:cNvSpPr>
          <p:nvPr>
            <p:ph idx="1"/>
          </p:nvPr>
        </p:nvSpPr>
        <p:spPr>
          <a:xfrm>
            <a:off x="2053389" y="1121183"/>
            <a:ext cx="8462211" cy="5334000"/>
          </a:xfrm>
        </p:spPr>
        <p:txBody>
          <a:bodyPr/>
          <a:lstStyle/>
          <a:p>
            <a:r>
              <a:rPr lang="en-US" dirty="0"/>
              <a:t>Why Does It Need a Limiting Process?</a:t>
            </a:r>
          </a:p>
          <a:p>
            <a:r>
              <a:rPr lang="en-US" b="0" dirty="0"/>
              <a:t>Idealized to be thorough, and perfect</a:t>
            </a:r>
          </a:p>
          <a:p>
            <a:endParaRPr lang="en-US" dirty="0"/>
          </a:p>
          <a:p>
            <a:r>
              <a:rPr lang="en-US" dirty="0"/>
              <a:t>What is the shape of the delta function?</a:t>
            </a:r>
          </a:p>
          <a:p>
            <a:r>
              <a:rPr lang="en-US" b="0" dirty="0"/>
              <a:t>We don’t know, and who cares?</a:t>
            </a:r>
          </a:p>
          <a:p>
            <a:endParaRPr lang="en-US" dirty="0"/>
          </a:p>
          <a:p>
            <a:r>
              <a:rPr lang="en-US" dirty="0"/>
              <a:t>All shapes are possible, and equally possible?</a:t>
            </a:r>
          </a:p>
          <a:p>
            <a:r>
              <a:rPr lang="en-US" b="0" dirty="0"/>
              <a:t>Hence, we have a probabilistic description, and we know for sure only if we measure it!</a:t>
            </a:r>
            <a:endParaRPr lang="en-US" dirty="0"/>
          </a:p>
          <a:p>
            <a:r>
              <a:rPr lang="en-US" b="0" dirty="0">
                <a:solidFill>
                  <a:srgbClr val="00B050"/>
                </a:solidFill>
              </a:rPr>
              <a:t>Does it sound like quantum mechanics?</a:t>
            </a:r>
          </a:p>
        </p:txBody>
      </p:sp>
    </p:spTree>
    <p:extLst>
      <p:ext uri="{BB962C8B-B14F-4D97-AF65-F5344CB8AC3E}">
        <p14:creationId xmlns:p14="http://schemas.microsoft.com/office/powerpoint/2010/main" val="3152471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cs typeface="Times New Roman" panose="02020603050405020304" pitchFamily="18" charset="0"/>
              </a:rPr>
              <a:t>Dirac </a:t>
            </a:r>
            <a:r>
              <a:rPr lang="el-GR" altLang="en-US" dirty="0">
                <a:cs typeface="Times New Roman" panose="02020603050405020304" pitchFamily="18" charset="0"/>
              </a:rPr>
              <a:t>δ</a:t>
            </a:r>
            <a:r>
              <a:rPr lang="en-US" altLang="en-US" dirty="0">
                <a:cs typeface="Times New Roman" panose="02020603050405020304" pitchFamily="18" charset="0"/>
              </a:rPr>
              <a:t> Function</a:t>
            </a:r>
            <a:endParaRPr lang="en-US" dirty="0"/>
          </a:p>
        </p:txBody>
      </p:sp>
      <p:sp>
        <p:nvSpPr>
          <p:cNvPr id="5" name="Rectangle 3"/>
          <p:cNvSpPr txBox="1">
            <a:spLocks noChangeArrowheads="1"/>
          </p:cNvSpPr>
          <p:nvPr/>
        </p:nvSpPr>
        <p:spPr bwMode="auto">
          <a:xfrm>
            <a:off x="1932039" y="1226678"/>
            <a:ext cx="8229600" cy="283448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r>
              <a:rPr lang="en-US" altLang="en-US" sz="2400" kern="0" dirty="0"/>
              <a:t>The unit impulse function is an example of a generalized function and is usually called the Dirac delta function</a:t>
            </a:r>
          </a:p>
          <a:p>
            <a:r>
              <a:rPr lang="en-US" altLang="en-US" sz="2400" kern="0" dirty="0"/>
              <a:t>The effect matters but the shape does not</a:t>
            </a:r>
          </a:p>
          <a:p>
            <a:endParaRPr lang="en-US" altLang="en-US" sz="2400" kern="0" dirty="0"/>
          </a:p>
          <a:p>
            <a:endParaRPr lang="en-US" altLang="en-US" sz="2400" kern="0" dirty="0"/>
          </a:p>
          <a:p>
            <a:r>
              <a:rPr lang="en-US" altLang="en-US" sz="2400" kern="0" dirty="0"/>
              <a:t>And, we have the discrete version:</a:t>
            </a:r>
          </a:p>
        </p:txBody>
      </p:sp>
      <p:graphicFrame>
        <p:nvGraphicFramePr>
          <p:cNvPr id="10" name="Object 16"/>
          <p:cNvGraphicFramePr>
            <a:graphicFrameLocks noChangeAspect="1"/>
          </p:cNvGraphicFramePr>
          <p:nvPr/>
        </p:nvGraphicFramePr>
        <p:xfrm>
          <a:off x="2813300" y="2924238"/>
          <a:ext cx="5176838" cy="639763"/>
        </p:xfrm>
        <a:graphic>
          <a:graphicData uri="http://schemas.openxmlformats.org/presentationml/2006/ole">
            <mc:AlternateContent xmlns:mc="http://schemas.openxmlformats.org/markup-compatibility/2006">
              <mc:Choice xmlns:v="urn:schemas-microsoft-com:vml" Requires="v">
                <p:oleObj name="Equation" r:id="rId3" imgW="2666880" imgH="330120" progId="Equation.3">
                  <p:embed/>
                </p:oleObj>
              </mc:Choice>
              <mc:Fallback>
                <p:oleObj name="Equation" r:id="rId3" imgW="2666880" imgH="330120" progId="Equation.3">
                  <p:embed/>
                  <p:pic>
                    <p:nvPicPr>
                      <p:cNvPr id="1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3300" y="2924238"/>
                        <a:ext cx="5176838" cy="639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6"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54396" y="4100206"/>
            <a:ext cx="4413528" cy="2731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749617" y="4794433"/>
            <a:ext cx="2767436" cy="1012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1503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Mean Value Theorem </a:t>
            </a:r>
          </a:p>
        </p:txBody>
      </p:sp>
      <p:pic>
        <p:nvPicPr>
          <p:cNvPr id="57346" name="Picture 2" descr="Image result for integral intermediate value theor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7845" y="1203642"/>
            <a:ext cx="7116311" cy="5322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7600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0"/>
            <a:ext cx="9144000" cy="838200"/>
          </a:xfrm>
        </p:spPr>
        <p:txBody>
          <a:bodyPr/>
          <a:lstStyle/>
          <a:p>
            <a:r>
              <a:rPr lang="en-US" dirty="0"/>
              <a:t>Representing a Continuous Function</a:t>
            </a:r>
          </a:p>
        </p:txBody>
      </p:sp>
      <p:sp>
        <p:nvSpPr>
          <p:cNvPr id="5" name="Rectangle 3"/>
          <p:cNvSpPr txBox="1">
            <a:spLocks noChangeArrowheads="1"/>
          </p:cNvSpPr>
          <p:nvPr/>
        </p:nvSpPr>
        <p:spPr bwMode="auto">
          <a:xfrm>
            <a:off x="1981200" y="1102751"/>
            <a:ext cx="82296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r>
              <a:rPr lang="en-US" altLang="en-US" sz="2400" kern="0" dirty="0"/>
              <a:t>The product of the delta function and a continuous function </a:t>
            </a:r>
            <a:r>
              <a:rPr lang="en-US" altLang="en-US" sz="2400" i="1" kern="0" dirty="0"/>
              <a:t>f</a:t>
            </a:r>
            <a:r>
              <a:rPr lang="en-US" altLang="en-US" sz="2400" kern="0" dirty="0"/>
              <a:t> can be measured to give a unique result</a:t>
            </a:r>
          </a:p>
          <a:p>
            <a:endParaRPr lang="en-US" altLang="en-US" sz="2400" kern="0" dirty="0"/>
          </a:p>
          <a:p>
            <a:endParaRPr lang="en-US" altLang="en-US" sz="2400" kern="0" dirty="0"/>
          </a:p>
          <a:p>
            <a:endParaRPr lang="en-US" altLang="en-US" sz="2400" kern="0" dirty="0"/>
          </a:p>
          <a:p>
            <a:endParaRPr lang="en-US" altLang="en-US" sz="2400" kern="0" dirty="0"/>
          </a:p>
          <a:p>
            <a:endParaRPr lang="en-US" altLang="en-US" sz="2400" kern="0" dirty="0"/>
          </a:p>
          <a:p>
            <a:endParaRPr lang="en-US" altLang="en-US" sz="2400" kern="0" dirty="0"/>
          </a:p>
          <a:p>
            <a:pPr marL="0" indent="0">
              <a:buNone/>
            </a:pPr>
            <a:endParaRPr lang="en-US" altLang="en-US" sz="2400" kern="0" dirty="0"/>
          </a:p>
          <a:p>
            <a:r>
              <a:rPr lang="en-US" altLang="en-US" sz="2400" kern="0" dirty="0"/>
              <a:t>Therefore, a sample is recorded</a:t>
            </a:r>
            <a:endParaRPr lang="en-US" altLang="en-US" sz="2400" kern="0" dirty="0">
              <a:sym typeface="Symbol" panose="05050102010706020507" pitchFamily="18" charset="2"/>
            </a:endParaRPr>
          </a:p>
        </p:txBody>
      </p:sp>
      <p:graphicFrame>
        <p:nvGraphicFramePr>
          <p:cNvPr id="6" name="Object 10"/>
          <p:cNvGraphicFramePr>
            <a:graphicFrameLocks noChangeAspect="1"/>
          </p:cNvGraphicFramePr>
          <p:nvPr/>
        </p:nvGraphicFramePr>
        <p:xfrm>
          <a:off x="2571133" y="1904850"/>
          <a:ext cx="7315537" cy="3070275"/>
        </p:xfrm>
        <a:graphic>
          <a:graphicData uri="http://schemas.openxmlformats.org/presentationml/2006/ole">
            <mc:AlternateContent xmlns:mc="http://schemas.openxmlformats.org/markup-compatibility/2006">
              <mc:Choice xmlns:v="urn:schemas-microsoft-com:vml" Requires="v">
                <p:oleObj name="Equation" r:id="rId3" imgW="3987720" imgH="1676160" progId="Equation.3">
                  <p:embed/>
                </p:oleObj>
              </mc:Choice>
              <mc:Fallback>
                <p:oleObj name="Equation" r:id="rId3" imgW="3987720" imgH="1676160" progId="Equation.3">
                  <p:embed/>
                  <p:pic>
                    <p:nvPicPr>
                      <p:cNvPr id="6"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1133" y="1904850"/>
                        <a:ext cx="7315537" cy="3070275"/>
                      </a:xfrm>
                      <a:prstGeom prst="rect">
                        <a:avLst/>
                      </a:prstGeom>
                      <a:noFill/>
                      <a:ln>
                        <a:noFill/>
                      </a:ln>
                      <a:effectLst/>
                    </p:spPr>
                  </p:pic>
                </p:oleObj>
              </mc:Fallback>
            </mc:AlternateContent>
          </a:graphicData>
        </a:graphic>
      </p:graphicFrame>
      <p:graphicFrame>
        <p:nvGraphicFramePr>
          <p:cNvPr id="7" name="Object 11"/>
          <p:cNvGraphicFramePr>
            <a:graphicFrameLocks noChangeAspect="1"/>
          </p:cNvGraphicFramePr>
          <p:nvPr/>
        </p:nvGraphicFramePr>
        <p:xfrm>
          <a:off x="2571132" y="5373332"/>
          <a:ext cx="3081338" cy="639763"/>
        </p:xfrm>
        <a:graphic>
          <a:graphicData uri="http://schemas.openxmlformats.org/presentationml/2006/ole">
            <mc:AlternateContent xmlns:mc="http://schemas.openxmlformats.org/markup-compatibility/2006">
              <mc:Choice xmlns:v="urn:schemas-microsoft-com:vml" Requires="v">
                <p:oleObj name="Equation" r:id="rId5" imgW="1587240" imgH="330120" progId="Equation.3">
                  <p:embed/>
                </p:oleObj>
              </mc:Choice>
              <mc:Fallback>
                <p:oleObj name="Equation" r:id="rId5" imgW="1587240" imgH="330120" progId="Equation.3">
                  <p:embed/>
                  <p:pic>
                    <p:nvPicPr>
                      <p:cNvPr id="7"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1132" y="5373332"/>
                        <a:ext cx="3081338" cy="639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11"/>
          <p:cNvGraphicFramePr>
            <a:graphicFrameLocks noChangeAspect="1"/>
          </p:cNvGraphicFramePr>
          <p:nvPr/>
        </p:nvGraphicFramePr>
        <p:xfrm>
          <a:off x="6371301" y="5329420"/>
          <a:ext cx="3032125" cy="639762"/>
        </p:xfrm>
        <a:graphic>
          <a:graphicData uri="http://schemas.openxmlformats.org/presentationml/2006/ole">
            <mc:AlternateContent xmlns:mc="http://schemas.openxmlformats.org/markup-compatibility/2006">
              <mc:Choice xmlns:v="urn:schemas-microsoft-com:vml" Requires="v">
                <p:oleObj name="Equation" r:id="rId7" imgW="1562040" imgH="330120" progId="Equation.DSMT4">
                  <p:embed/>
                </p:oleObj>
              </mc:Choice>
              <mc:Fallback>
                <p:oleObj name="Equation" r:id="rId7" imgW="1562040" imgH="330120" progId="Equation.DSMT4">
                  <p:embed/>
                  <p:pic>
                    <p:nvPicPr>
                      <p:cNvPr id="8" name="Object 11"/>
                      <p:cNvPicPr>
                        <a:picLocks noChangeAspect="1" noChangeArrowheads="1"/>
                      </p:cNvPicPr>
                      <p:nvPr/>
                    </p:nvPicPr>
                    <p:blipFill>
                      <a:blip r:embed="rId8"/>
                      <a:srcRect/>
                      <a:stretch>
                        <a:fillRect/>
                      </a:stretch>
                    </p:blipFill>
                    <p:spPr bwMode="auto">
                      <a:xfrm>
                        <a:off x="6371301" y="5329420"/>
                        <a:ext cx="3032125" cy="639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Right Arrow 2"/>
          <p:cNvSpPr/>
          <p:nvPr/>
        </p:nvSpPr>
        <p:spPr bwMode="auto">
          <a:xfrm>
            <a:off x="5781368" y="5530980"/>
            <a:ext cx="461034" cy="324465"/>
          </a:xfrm>
          <a:prstGeom prs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err="1"/>
          </a:p>
        </p:txBody>
      </p:sp>
    </p:spTree>
    <p:extLst>
      <p:ext uri="{BB962C8B-B14F-4D97-AF65-F5344CB8AC3E}">
        <p14:creationId xmlns:p14="http://schemas.microsoft.com/office/powerpoint/2010/main" val="1643637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cs typeface="Times New Roman" panose="02020603050405020304" pitchFamily="18" charset="0"/>
              </a:rPr>
              <a:t>Discrete </a:t>
            </a:r>
            <a:r>
              <a:rPr lang="el-GR" altLang="en-US" dirty="0">
                <a:cs typeface="Times New Roman" panose="02020603050405020304" pitchFamily="18" charset="0"/>
              </a:rPr>
              <a:t>δ</a:t>
            </a:r>
            <a:r>
              <a:rPr lang="en-US" altLang="en-US" dirty="0">
                <a:cs typeface="Times New Roman" panose="02020603050405020304" pitchFamily="18" charset="0"/>
              </a:rPr>
              <a:t> Function</a:t>
            </a:r>
            <a:endParaRPr lang="en-US" dirty="0"/>
          </a:p>
        </p:txBody>
      </p:sp>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02009" y="4126014"/>
            <a:ext cx="4413528" cy="2731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97230" y="4820241"/>
            <a:ext cx="2767436" cy="1012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8" name="Object 6"/>
          <p:cNvGraphicFramePr>
            <a:graphicFrameLocks noChangeAspect="1"/>
          </p:cNvGraphicFramePr>
          <p:nvPr>
            <p:extLst>
              <p:ext uri="{D42A27DB-BD31-4B8C-83A1-F6EECF244321}">
                <p14:modId xmlns:p14="http://schemas.microsoft.com/office/powerpoint/2010/main" val="382494939"/>
              </p:ext>
            </p:extLst>
          </p:nvPr>
        </p:nvGraphicFramePr>
        <p:xfrm>
          <a:off x="2097739" y="1102748"/>
          <a:ext cx="6425744" cy="1138174"/>
        </p:xfrm>
        <a:graphic>
          <a:graphicData uri="http://schemas.openxmlformats.org/presentationml/2006/ole">
            <mc:AlternateContent xmlns:mc="http://schemas.openxmlformats.org/markup-compatibility/2006">
              <mc:Choice xmlns:v="urn:schemas-microsoft-com:vml" Requires="v">
                <p:oleObj name="Equation" r:id="rId5" imgW="3873240" imgH="685800" progId="Equation.DSMT4">
                  <p:embed/>
                </p:oleObj>
              </mc:Choice>
              <mc:Fallback>
                <p:oleObj name="Equation" r:id="rId5" imgW="3873240" imgH="685800" progId="Equation.DSMT4">
                  <p:embed/>
                  <p:pic>
                    <p:nvPicPr>
                      <p:cNvPr id="5" name="Object 6"/>
                      <p:cNvPicPr>
                        <a:picLocks noChangeAspect="1" noChangeArrowheads="1"/>
                      </p:cNvPicPr>
                      <p:nvPr/>
                    </p:nvPicPr>
                    <p:blipFill>
                      <a:blip r:embed="rId6"/>
                      <a:srcRect/>
                      <a:stretch>
                        <a:fillRect/>
                      </a:stretch>
                    </p:blipFill>
                    <p:spPr bwMode="auto">
                      <a:xfrm>
                        <a:off x="2097739" y="1102748"/>
                        <a:ext cx="6425744" cy="1138174"/>
                      </a:xfrm>
                      <a:prstGeom prst="rect">
                        <a:avLst/>
                      </a:prstGeom>
                      <a:noFill/>
                      <a:ln>
                        <a:noFill/>
                      </a:ln>
                      <a:effectLst/>
                    </p:spPr>
                  </p:pic>
                </p:oleObj>
              </mc:Fallback>
            </mc:AlternateContent>
          </a:graphicData>
        </a:graphic>
      </p:graphicFrame>
      <p:pic>
        <p:nvPicPr>
          <p:cNvPr id="9" name="Picture 7" descr="https://upload.wikimedia.org/wikipedia/commons/thumb/1/11/Rectangular_function.svg/300px-Rectangular_function.svg.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84111" y="2240922"/>
            <a:ext cx="2237210" cy="154367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a:picLocks noChangeAspect="1"/>
          </p:cNvPicPr>
          <p:nvPr/>
        </p:nvPicPr>
        <p:blipFill>
          <a:blip r:embed="rId8"/>
          <a:stretch>
            <a:fillRect/>
          </a:stretch>
        </p:blipFill>
        <p:spPr>
          <a:xfrm>
            <a:off x="2097739" y="2335594"/>
            <a:ext cx="3619500" cy="1333500"/>
          </a:xfrm>
          <a:prstGeom prst="rect">
            <a:avLst/>
          </a:prstGeom>
        </p:spPr>
      </p:pic>
    </p:spTree>
    <p:extLst>
      <p:ext uri="{BB962C8B-B14F-4D97-AF65-F5344CB8AC3E}">
        <p14:creationId xmlns:p14="http://schemas.microsoft.com/office/powerpoint/2010/main" val="2158915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 a Sum of </a:t>
            </a:r>
            <a:r>
              <a:rPr lang="en-US" dirty="0" err="1"/>
              <a:t>Rect</a:t>
            </a:r>
            <a:r>
              <a:rPr lang="en-US" dirty="0"/>
              <a:t>/Gate Functions</a:t>
            </a:r>
          </a:p>
        </p:txBody>
      </p:sp>
      <p:pic>
        <p:nvPicPr>
          <p:cNvPr id="4098" name="Picture 2" descr="http://upload.wikimedia.org/wikipedia/commons/thumb/9/9a/Digital.signal.svg/580px-Digital.signal.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5389" y="1319979"/>
            <a:ext cx="8229600" cy="4966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9177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 a Sum of Deltas</a:t>
            </a:r>
          </a:p>
        </p:txBody>
      </p:sp>
      <p:pic>
        <p:nvPicPr>
          <p:cNvPr id="7170" name="Picture 2" descr="http://upload.wikimedia.org/wikipedia/commons/thumb/8/88/Sampled.signal.svg/585px-Sampled.signal.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8068" y="1520210"/>
            <a:ext cx="8233636" cy="46446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978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2152650" y="1368744"/>
            <a:ext cx="7886700" cy="4486275"/>
          </a:xfrm>
          <a:prstGeom prst="rect">
            <a:avLst/>
          </a:prstGeom>
        </p:spPr>
      </p:pic>
      <p:sp>
        <p:nvSpPr>
          <p:cNvPr id="6" name="Title 1"/>
          <p:cNvSpPr>
            <a:spLocks noGrp="1"/>
          </p:cNvSpPr>
          <p:nvPr>
            <p:ph type="title"/>
          </p:nvPr>
        </p:nvSpPr>
        <p:spPr>
          <a:xfrm>
            <a:off x="1524000" y="152400"/>
            <a:ext cx="9144000" cy="838200"/>
          </a:xfrm>
        </p:spPr>
        <p:txBody>
          <a:bodyPr/>
          <a:lstStyle/>
          <a:p>
            <a:r>
              <a:rPr lang="en-US" dirty="0"/>
              <a:t>Representing a Discrete Function</a:t>
            </a:r>
          </a:p>
        </p:txBody>
      </p:sp>
    </p:spTree>
    <p:extLst>
      <p:ext uri="{BB962C8B-B14F-4D97-AF65-F5344CB8AC3E}">
        <p14:creationId xmlns:p14="http://schemas.microsoft.com/office/powerpoint/2010/main" val="1232639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0"/>
            <a:ext cx="9144000" cy="838200"/>
          </a:xfrm>
        </p:spPr>
        <p:txBody>
          <a:bodyPr/>
          <a:lstStyle/>
          <a:p>
            <a:r>
              <a:rPr lang="en-US" dirty="0"/>
              <a:t>Continuous Versus Discrete</a:t>
            </a:r>
          </a:p>
        </p:txBody>
      </p:sp>
      <p:pic>
        <p:nvPicPr>
          <p:cNvPr id="27650"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5425" y="4340771"/>
            <a:ext cx="8210659" cy="237928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4"/>
          <a:stretch>
            <a:fillRect/>
          </a:stretch>
        </p:blipFill>
        <p:spPr>
          <a:xfrm>
            <a:off x="2943225" y="1275035"/>
            <a:ext cx="6305550" cy="2781300"/>
          </a:xfrm>
          <a:prstGeom prst="rect">
            <a:avLst/>
          </a:prstGeom>
        </p:spPr>
      </p:pic>
    </p:spTree>
    <p:extLst>
      <p:ext uri="{BB962C8B-B14F-4D97-AF65-F5344CB8AC3E}">
        <p14:creationId xmlns:p14="http://schemas.microsoft.com/office/powerpoint/2010/main" val="3338471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192E6-A86B-CB6A-56CA-0FC1B0640198}"/>
            </a:ext>
          </a:extLst>
        </p:cNvPr>
        <p:cNvGrpSpPr/>
        <p:nvPr/>
      </p:nvGrpSpPr>
      <p:grpSpPr>
        <a:xfrm>
          <a:off x="0" y="0"/>
          <a:ext cx="0" cy="0"/>
          <a:chOff x="0" y="0"/>
          <a:chExt cx="0" cy="0"/>
        </a:xfrm>
      </p:grpSpPr>
      <p:pic>
        <p:nvPicPr>
          <p:cNvPr id="33797" name="Picture 5" descr="https://www.mathworks.com/help/examples/signal/ImpulseResponseOfAnEllipticLowpassFilterExample_01.png">
            <a:extLst>
              <a:ext uri="{FF2B5EF4-FFF2-40B4-BE49-F238E27FC236}">
                <a16:creationId xmlns:a16="http://schemas.microsoft.com/office/drawing/2014/main" id="{CB00B084-B1D1-E200-0064-DEFAB824C4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6566" y="1066800"/>
            <a:ext cx="7351436" cy="551357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DE76A21-F61A-2768-D04E-EA1B75DC9EA8}"/>
              </a:ext>
            </a:extLst>
          </p:cNvPr>
          <p:cNvSpPr>
            <a:spLocks noGrp="1"/>
          </p:cNvSpPr>
          <p:nvPr>
            <p:ph type="title"/>
          </p:nvPr>
        </p:nvSpPr>
        <p:spPr>
          <a:xfrm>
            <a:off x="1524000" y="152400"/>
            <a:ext cx="9144000" cy="838200"/>
          </a:xfrm>
        </p:spPr>
        <p:txBody>
          <a:bodyPr/>
          <a:lstStyle/>
          <a:p>
            <a:r>
              <a:rPr lang="en-US" dirty="0"/>
              <a:t>Impulse to Shift-Invariant System</a:t>
            </a:r>
          </a:p>
        </p:txBody>
      </p:sp>
      <p:sp>
        <p:nvSpPr>
          <p:cNvPr id="3" name="Rectangle 2">
            <a:extLst>
              <a:ext uri="{FF2B5EF4-FFF2-40B4-BE49-F238E27FC236}">
                <a16:creationId xmlns:a16="http://schemas.microsoft.com/office/drawing/2014/main" id="{A4911BF4-7884-5C0E-E8BA-7C974C4621BA}"/>
              </a:ext>
            </a:extLst>
          </p:cNvPr>
          <p:cNvSpPr/>
          <p:nvPr/>
        </p:nvSpPr>
        <p:spPr bwMode="auto">
          <a:xfrm>
            <a:off x="5202622" y="914401"/>
            <a:ext cx="3026979" cy="515007"/>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err="1"/>
          </a:p>
        </p:txBody>
      </p:sp>
      <p:sp>
        <p:nvSpPr>
          <p:cNvPr id="6" name="Content Placeholder 7">
            <a:extLst>
              <a:ext uri="{FF2B5EF4-FFF2-40B4-BE49-F238E27FC236}">
                <a16:creationId xmlns:a16="http://schemas.microsoft.com/office/drawing/2014/main" id="{CF7A712C-4699-E8C2-851C-A43B74B268C1}"/>
              </a:ext>
            </a:extLst>
          </p:cNvPr>
          <p:cNvSpPr txBox="1">
            <a:spLocks/>
          </p:cNvSpPr>
          <p:nvPr/>
        </p:nvSpPr>
        <p:spPr bwMode="auto">
          <a:xfrm rot="16200000">
            <a:off x="1943624" y="3516990"/>
            <a:ext cx="2144901" cy="428297"/>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lgn="ctr">
              <a:buNone/>
            </a:pPr>
            <a:r>
              <a:rPr lang="en-US" sz="2000" kern="0" dirty="0"/>
              <a:t>Amplitude h(n)</a:t>
            </a:r>
          </a:p>
        </p:txBody>
      </p:sp>
      <p:sp>
        <p:nvSpPr>
          <p:cNvPr id="7" name="Content Placeholder 7">
            <a:extLst>
              <a:ext uri="{FF2B5EF4-FFF2-40B4-BE49-F238E27FC236}">
                <a16:creationId xmlns:a16="http://schemas.microsoft.com/office/drawing/2014/main" id="{A04E788E-AD70-44C8-7614-70D6E6CD09AA}"/>
              </a:ext>
            </a:extLst>
          </p:cNvPr>
          <p:cNvSpPr txBox="1">
            <a:spLocks/>
          </p:cNvSpPr>
          <p:nvPr/>
        </p:nvSpPr>
        <p:spPr bwMode="auto">
          <a:xfrm>
            <a:off x="5412435" y="6303170"/>
            <a:ext cx="2144901" cy="428297"/>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lgn="ctr">
              <a:buNone/>
            </a:pPr>
            <a:r>
              <a:rPr lang="en-US" sz="2000" kern="0" dirty="0"/>
              <a:t>Time n</a:t>
            </a:r>
          </a:p>
        </p:txBody>
      </p:sp>
    </p:spTree>
    <p:extLst>
      <p:ext uri="{BB962C8B-B14F-4D97-AF65-F5344CB8AC3E}">
        <p14:creationId xmlns:p14="http://schemas.microsoft.com/office/powerpoint/2010/main" val="297215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Linear System Output (Discrete)</a:t>
            </a:r>
          </a:p>
        </p:txBody>
      </p:sp>
      <p:sp>
        <p:nvSpPr>
          <p:cNvPr id="7" name="Title 4"/>
          <p:cNvSpPr txBox="1">
            <a:spLocks/>
          </p:cNvSpPr>
          <p:nvPr/>
        </p:nvSpPr>
        <p:spPr bwMode="auto">
          <a:xfrm>
            <a:off x="5374341" y="1039503"/>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8" name="Title 4"/>
          <p:cNvSpPr txBox="1">
            <a:spLocks/>
          </p:cNvSpPr>
          <p:nvPr/>
        </p:nvSpPr>
        <p:spPr bwMode="auto">
          <a:xfrm>
            <a:off x="4075582" y="1039503"/>
            <a:ext cx="765361"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x(n)</a:t>
            </a:r>
          </a:p>
        </p:txBody>
      </p:sp>
      <p:sp>
        <p:nvSpPr>
          <p:cNvPr id="9" name="Title 4"/>
          <p:cNvSpPr txBox="1">
            <a:spLocks/>
          </p:cNvSpPr>
          <p:nvPr/>
        </p:nvSpPr>
        <p:spPr bwMode="auto">
          <a:xfrm>
            <a:off x="6809876" y="1039503"/>
            <a:ext cx="830239"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y(n)</a:t>
            </a:r>
          </a:p>
        </p:txBody>
      </p:sp>
      <p:cxnSp>
        <p:nvCxnSpPr>
          <p:cNvPr id="3" name="Straight Arrow Connector 2"/>
          <p:cNvCxnSpPr/>
          <p:nvPr/>
        </p:nvCxnSpPr>
        <p:spPr bwMode="auto">
          <a:xfrm>
            <a:off x="4831976" y="1346866"/>
            <a:ext cx="533400"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11" name="Straight Arrow Connector 10"/>
          <p:cNvCxnSpPr/>
          <p:nvPr/>
        </p:nvCxnSpPr>
        <p:spPr bwMode="auto">
          <a:xfrm>
            <a:off x="6311155" y="1346866"/>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12" name="Title 4"/>
          <p:cNvSpPr txBox="1">
            <a:spLocks/>
          </p:cNvSpPr>
          <p:nvPr/>
        </p:nvSpPr>
        <p:spPr bwMode="auto">
          <a:xfrm>
            <a:off x="5374341" y="1917252"/>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13" name="Title 4"/>
          <p:cNvSpPr txBox="1">
            <a:spLocks/>
          </p:cNvSpPr>
          <p:nvPr/>
        </p:nvSpPr>
        <p:spPr bwMode="auto">
          <a:xfrm>
            <a:off x="4075582" y="1917252"/>
            <a:ext cx="765361"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δ(n)</a:t>
            </a:r>
          </a:p>
        </p:txBody>
      </p:sp>
      <p:sp>
        <p:nvSpPr>
          <p:cNvPr id="14" name="Title 4"/>
          <p:cNvSpPr txBox="1">
            <a:spLocks/>
          </p:cNvSpPr>
          <p:nvPr/>
        </p:nvSpPr>
        <p:spPr bwMode="auto">
          <a:xfrm>
            <a:off x="6809876" y="1917252"/>
            <a:ext cx="830239"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h(n)</a:t>
            </a:r>
          </a:p>
        </p:txBody>
      </p:sp>
      <p:cxnSp>
        <p:nvCxnSpPr>
          <p:cNvPr id="15" name="Straight Arrow Connector 14"/>
          <p:cNvCxnSpPr/>
          <p:nvPr/>
        </p:nvCxnSpPr>
        <p:spPr bwMode="auto">
          <a:xfrm>
            <a:off x="4799538" y="2224615"/>
            <a:ext cx="565838"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16" name="Straight Arrow Connector 15"/>
          <p:cNvCxnSpPr/>
          <p:nvPr/>
        </p:nvCxnSpPr>
        <p:spPr bwMode="auto">
          <a:xfrm>
            <a:off x="6311155" y="2224615"/>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17" name="Title 4"/>
          <p:cNvSpPr txBox="1">
            <a:spLocks/>
          </p:cNvSpPr>
          <p:nvPr/>
        </p:nvSpPr>
        <p:spPr bwMode="auto">
          <a:xfrm>
            <a:off x="5374341" y="2794210"/>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18" name="Title 4"/>
          <p:cNvSpPr txBox="1">
            <a:spLocks/>
          </p:cNvSpPr>
          <p:nvPr/>
        </p:nvSpPr>
        <p:spPr bwMode="auto">
          <a:xfrm>
            <a:off x="3783108" y="2794210"/>
            <a:ext cx="1057835"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δ(n-k)</a:t>
            </a:r>
          </a:p>
        </p:txBody>
      </p:sp>
      <p:sp>
        <p:nvSpPr>
          <p:cNvPr id="19" name="Title 4"/>
          <p:cNvSpPr txBox="1">
            <a:spLocks/>
          </p:cNvSpPr>
          <p:nvPr/>
        </p:nvSpPr>
        <p:spPr bwMode="auto">
          <a:xfrm>
            <a:off x="6809876" y="2794210"/>
            <a:ext cx="1154205"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h(n-k)</a:t>
            </a:r>
          </a:p>
        </p:txBody>
      </p:sp>
      <p:cxnSp>
        <p:nvCxnSpPr>
          <p:cNvPr id="20" name="Straight Arrow Connector 19"/>
          <p:cNvCxnSpPr/>
          <p:nvPr/>
        </p:nvCxnSpPr>
        <p:spPr bwMode="auto">
          <a:xfrm>
            <a:off x="4831976" y="3101573"/>
            <a:ext cx="533400"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21" name="Straight Arrow Connector 20"/>
          <p:cNvCxnSpPr/>
          <p:nvPr/>
        </p:nvCxnSpPr>
        <p:spPr bwMode="auto">
          <a:xfrm>
            <a:off x="6311155" y="3101573"/>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23" name="Title 4"/>
          <p:cNvSpPr txBox="1">
            <a:spLocks/>
          </p:cNvSpPr>
          <p:nvPr/>
        </p:nvSpPr>
        <p:spPr bwMode="auto">
          <a:xfrm>
            <a:off x="5374341" y="3671653"/>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24" name="Title 4"/>
          <p:cNvSpPr txBox="1">
            <a:spLocks/>
          </p:cNvSpPr>
          <p:nvPr/>
        </p:nvSpPr>
        <p:spPr bwMode="auto">
          <a:xfrm>
            <a:off x="3146612" y="3671653"/>
            <a:ext cx="1694330"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x(k)δ(n-k)</a:t>
            </a:r>
          </a:p>
        </p:txBody>
      </p:sp>
      <p:sp>
        <p:nvSpPr>
          <p:cNvPr id="25" name="Title 4"/>
          <p:cNvSpPr txBox="1">
            <a:spLocks/>
          </p:cNvSpPr>
          <p:nvPr/>
        </p:nvSpPr>
        <p:spPr bwMode="auto">
          <a:xfrm>
            <a:off x="6809876" y="3671653"/>
            <a:ext cx="1936375"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x(k)h(n-k)</a:t>
            </a:r>
          </a:p>
        </p:txBody>
      </p:sp>
      <p:cxnSp>
        <p:nvCxnSpPr>
          <p:cNvPr id="26" name="Straight Arrow Connector 25"/>
          <p:cNvCxnSpPr/>
          <p:nvPr/>
        </p:nvCxnSpPr>
        <p:spPr bwMode="auto">
          <a:xfrm>
            <a:off x="4787154" y="3979016"/>
            <a:ext cx="57822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27" name="Straight Arrow Connector 26"/>
          <p:cNvCxnSpPr/>
          <p:nvPr/>
        </p:nvCxnSpPr>
        <p:spPr bwMode="auto">
          <a:xfrm>
            <a:off x="6311155" y="3979016"/>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29" name="Title 4"/>
          <p:cNvSpPr txBox="1">
            <a:spLocks/>
          </p:cNvSpPr>
          <p:nvPr/>
        </p:nvSpPr>
        <p:spPr bwMode="auto">
          <a:xfrm>
            <a:off x="5374341" y="4585195"/>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30" name="Title 4"/>
          <p:cNvSpPr txBox="1">
            <a:spLocks/>
          </p:cNvSpPr>
          <p:nvPr/>
        </p:nvSpPr>
        <p:spPr bwMode="auto">
          <a:xfrm>
            <a:off x="3146612" y="4585195"/>
            <a:ext cx="1694330"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x(k)δ(n-k)</a:t>
            </a:r>
          </a:p>
        </p:txBody>
      </p:sp>
      <p:sp>
        <p:nvSpPr>
          <p:cNvPr id="31" name="Title 4"/>
          <p:cNvSpPr txBox="1">
            <a:spLocks/>
          </p:cNvSpPr>
          <p:nvPr/>
        </p:nvSpPr>
        <p:spPr bwMode="auto">
          <a:xfrm>
            <a:off x="7459728" y="4585195"/>
            <a:ext cx="1782884"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x(k)h(n-k)</a:t>
            </a:r>
          </a:p>
        </p:txBody>
      </p:sp>
      <p:cxnSp>
        <p:nvCxnSpPr>
          <p:cNvPr id="32" name="Straight Arrow Connector 31"/>
          <p:cNvCxnSpPr/>
          <p:nvPr/>
        </p:nvCxnSpPr>
        <p:spPr bwMode="auto">
          <a:xfrm>
            <a:off x="4809566" y="4892558"/>
            <a:ext cx="555811"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33" name="Straight Arrow Connector 32"/>
          <p:cNvCxnSpPr/>
          <p:nvPr/>
        </p:nvCxnSpPr>
        <p:spPr bwMode="auto">
          <a:xfrm>
            <a:off x="6311155" y="4892558"/>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36" name="Title 4"/>
          <p:cNvSpPr txBox="1">
            <a:spLocks/>
          </p:cNvSpPr>
          <p:nvPr/>
        </p:nvSpPr>
        <p:spPr bwMode="auto">
          <a:xfrm>
            <a:off x="5374341" y="5884529"/>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37" name="Title 4"/>
          <p:cNvSpPr txBox="1">
            <a:spLocks/>
          </p:cNvSpPr>
          <p:nvPr/>
        </p:nvSpPr>
        <p:spPr bwMode="auto">
          <a:xfrm>
            <a:off x="4075580" y="5884529"/>
            <a:ext cx="765362"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x(n)</a:t>
            </a:r>
          </a:p>
        </p:txBody>
      </p:sp>
      <p:sp>
        <p:nvSpPr>
          <p:cNvPr id="38" name="Title 4"/>
          <p:cNvSpPr txBox="1">
            <a:spLocks/>
          </p:cNvSpPr>
          <p:nvPr/>
        </p:nvSpPr>
        <p:spPr bwMode="auto">
          <a:xfrm>
            <a:off x="7459728" y="5884529"/>
            <a:ext cx="1782884"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x(k)h(n-k)</a:t>
            </a:r>
          </a:p>
        </p:txBody>
      </p:sp>
      <p:cxnSp>
        <p:nvCxnSpPr>
          <p:cNvPr id="39" name="Straight Arrow Connector 38"/>
          <p:cNvCxnSpPr/>
          <p:nvPr/>
        </p:nvCxnSpPr>
        <p:spPr bwMode="auto">
          <a:xfrm>
            <a:off x="4831978" y="6191892"/>
            <a:ext cx="533399"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40" name="Straight Arrow Connector 39"/>
          <p:cNvCxnSpPr/>
          <p:nvPr/>
        </p:nvCxnSpPr>
        <p:spPr bwMode="auto">
          <a:xfrm>
            <a:off x="6311155" y="6191892"/>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graphicFrame>
        <p:nvGraphicFramePr>
          <p:cNvPr id="44" name="Object 11"/>
          <p:cNvGraphicFramePr>
            <a:graphicFrameLocks noChangeAspect="1"/>
          </p:cNvGraphicFramePr>
          <p:nvPr/>
        </p:nvGraphicFramePr>
        <p:xfrm>
          <a:off x="2585227" y="4201089"/>
          <a:ext cx="1102657" cy="1382941"/>
        </p:xfrm>
        <a:graphic>
          <a:graphicData uri="http://schemas.openxmlformats.org/presentationml/2006/ole">
            <mc:AlternateContent xmlns:mc="http://schemas.openxmlformats.org/markup-compatibility/2006">
              <mc:Choice xmlns:v="urn:schemas-microsoft-com:vml" Requires="v">
                <p:oleObj name="Equation" r:id="rId3" imgW="545760" imgH="685800" progId="Equation.DSMT4">
                  <p:embed/>
                </p:oleObj>
              </mc:Choice>
              <mc:Fallback>
                <p:oleObj name="Equation" r:id="rId3" imgW="545760" imgH="685800" progId="Equation.DSMT4">
                  <p:embed/>
                  <p:pic>
                    <p:nvPicPr>
                      <p:cNvPr id="44" name="Object 11"/>
                      <p:cNvPicPr>
                        <a:picLocks noChangeAspect="1" noChangeArrowheads="1"/>
                      </p:cNvPicPr>
                      <p:nvPr/>
                    </p:nvPicPr>
                    <p:blipFill>
                      <a:blip r:embed="rId4"/>
                      <a:srcRect/>
                      <a:stretch>
                        <a:fillRect/>
                      </a:stretch>
                    </p:blipFill>
                    <p:spPr bwMode="auto">
                      <a:xfrm>
                        <a:off x="2585227" y="4201089"/>
                        <a:ext cx="1102657" cy="1382941"/>
                      </a:xfrm>
                      <a:prstGeom prst="rect">
                        <a:avLst/>
                      </a:prstGeom>
                      <a:noFill/>
                      <a:ln>
                        <a:noFill/>
                      </a:ln>
                      <a:effectLst/>
                    </p:spPr>
                  </p:pic>
                </p:oleObj>
              </mc:Fallback>
            </mc:AlternateContent>
          </a:graphicData>
        </a:graphic>
      </p:graphicFrame>
      <p:graphicFrame>
        <p:nvGraphicFramePr>
          <p:cNvPr id="45" name="Object 11"/>
          <p:cNvGraphicFramePr>
            <a:graphicFrameLocks noChangeAspect="1"/>
          </p:cNvGraphicFramePr>
          <p:nvPr/>
        </p:nvGraphicFramePr>
        <p:xfrm>
          <a:off x="6840158" y="4201089"/>
          <a:ext cx="1102657" cy="1382941"/>
        </p:xfrm>
        <a:graphic>
          <a:graphicData uri="http://schemas.openxmlformats.org/presentationml/2006/ole">
            <mc:AlternateContent xmlns:mc="http://schemas.openxmlformats.org/markup-compatibility/2006">
              <mc:Choice xmlns:v="urn:schemas-microsoft-com:vml" Requires="v">
                <p:oleObj name="Equation" r:id="rId3" imgW="545760" imgH="685800" progId="Equation.DSMT4">
                  <p:embed/>
                </p:oleObj>
              </mc:Choice>
              <mc:Fallback>
                <p:oleObj name="Equation" r:id="rId3" imgW="545760" imgH="685800" progId="Equation.DSMT4">
                  <p:embed/>
                  <p:pic>
                    <p:nvPicPr>
                      <p:cNvPr id="45" name="Object 11"/>
                      <p:cNvPicPr>
                        <a:picLocks noChangeAspect="1" noChangeArrowheads="1"/>
                      </p:cNvPicPr>
                      <p:nvPr/>
                    </p:nvPicPr>
                    <p:blipFill>
                      <a:blip r:embed="rId4"/>
                      <a:srcRect/>
                      <a:stretch>
                        <a:fillRect/>
                      </a:stretch>
                    </p:blipFill>
                    <p:spPr bwMode="auto">
                      <a:xfrm>
                        <a:off x="6840158" y="4201089"/>
                        <a:ext cx="1102657" cy="1382941"/>
                      </a:xfrm>
                      <a:prstGeom prst="rect">
                        <a:avLst/>
                      </a:prstGeom>
                      <a:noFill/>
                      <a:ln>
                        <a:noFill/>
                      </a:ln>
                      <a:effectLst/>
                    </p:spPr>
                  </p:pic>
                </p:oleObj>
              </mc:Fallback>
            </mc:AlternateContent>
          </a:graphicData>
        </a:graphic>
      </p:graphicFrame>
      <p:graphicFrame>
        <p:nvGraphicFramePr>
          <p:cNvPr id="46" name="Object 11"/>
          <p:cNvGraphicFramePr>
            <a:graphicFrameLocks noChangeAspect="1"/>
          </p:cNvGraphicFramePr>
          <p:nvPr/>
        </p:nvGraphicFramePr>
        <p:xfrm>
          <a:off x="6840158" y="5500423"/>
          <a:ext cx="1102657" cy="1382941"/>
        </p:xfrm>
        <a:graphic>
          <a:graphicData uri="http://schemas.openxmlformats.org/presentationml/2006/ole">
            <mc:AlternateContent xmlns:mc="http://schemas.openxmlformats.org/markup-compatibility/2006">
              <mc:Choice xmlns:v="urn:schemas-microsoft-com:vml" Requires="v">
                <p:oleObj name="Equation" r:id="rId3" imgW="545760" imgH="685800" progId="Equation.DSMT4">
                  <p:embed/>
                </p:oleObj>
              </mc:Choice>
              <mc:Fallback>
                <p:oleObj name="Equation" r:id="rId3" imgW="545760" imgH="685800" progId="Equation.DSMT4">
                  <p:embed/>
                  <p:pic>
                    <p:nvPicPr>
                      <p:cNvPr id="46" name="Object 11"/>
                      <p:cNvPicPr>
                        <a:picLocks noChangeAspect="1" noChangeArrowheads="1"/>
                      </p:cNvPicPr>
                      <p:nvPr/>
                    </p:nvPicPr>
                    <p:blipFill>
                      <a:blip r:embed="rId4"/>
                      <a:srcRect/>
                      <a:stretch>
                        <a:fillRect/>
                      </a:stretch>
                    </p:blipFill>
                    <p:spPr bwMode="auto">
                      <a:xfrm>
                        <a:off x="6840158" y="5500423"/>
                        <a:ext cx="1102657" cy="1382941"/>
                      </a:xfrm>
                      <a:prstGeom prst="rect">
                        <a:avLst/>
                      </a:prstGeom>
                      <a:noFill/>
                      <a:ln>
                        <a:noFill/>
                      </a:ln>
                      <a:effectLst/>
                    </p:spPr>
                  </p:pic>
                </p:oleObj>
              </mc:Fallback>
            </mc:AlternateContent>
          </a:graphicData>
        </a:graphic>
      </p:graphicFrame>
      <p:pic>
        <p:nvPicPr>
          <p:cNvPr id="47" name="Picture 12" descr="http://www.magic-emoji.com/emoji/images/83_emoji_iphone_black_diamond_sui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247" y="914401"/>
            <a:ext cx="2476500" cy="2476501"/>
          </a:xfrm>
          <a:prstGeom prst="rect">
            <a:avLst/>
          </a:prstGeom>
          <a:noFill/>
          <a:extLst>
            <a:ext uri="{909E8E84-426E-40DD-AFC4-6F175D3DCCD1}">
              <a14:hiddenFill xmlns:a14="http://schemas.microsoft.com/office/drawing/2010/main">
                <a:solidFill>
                  <a:srgbClr val="FFFFFF"/>
                </a:solidFill>
              </a14:hiddenFill>
            </a:ext>
          </a:extLst>
        </p:spPr>
      </p:pic>
      <p:sp>
        <p:nvSpPr>
          <p:cNvPr id="48" name="Rectangle 47"/>
          <p:cNvSpPr/>
          <p:nvPr/>
        </p:nvSpPr>
        <p:spPr bwMode="auto">
          <a:xfrm>
            <a:off x="3971365" y="914400"/>
            <a:ext cx="3749428" cy="842682"/>
          </a:xfrm>
          <a:prstGeom prst="rect">
            <a:avLst/>
          </a:prstGeom>
          <a:solidFill>
            <a:srgbClr val="FFC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err="1"/>
          </a:p>
        </p:txBody>
      </p:sp>
      <p:sp>
        <p:nvSpPr>
          <p:cNvPr id="49" name="Rectangle 48"/>
          <p:cNvSpPr/>
          <p:nvPr/>
        </p:nvSpPr>
        <p:spPr bwMode="auto">
          <a:xfrm>
            <a:off x="3971365" y="5527662"/>
            <a:ext cx="5118845" cy="1330338"/>
          </a:xfrm>
          <a:prstGeom prst="rect">
            <a:avLst/>
          </a:prstGeom>
          <a:solidFill>
            <a:srgbClr val="FFC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err="1"/>
          </a:p>
        </p:txBody>
      </p:sp>
      <p:cxnSp>
        <p:nvCxnSpPr>
          <p:cNvPr id="50" name="Elbow Connector 9"/>
          <p:cNvCxnSpPr>
            <a:endCxn id="49" idx="3"/>
          </p:cNvCxnSpPr>
          <p:nvPr/>
        </p:nvCxnSpPr>
        <p:spPr bwMode="auto">
          <a:xfrm>
            <a:off x="7720793" y="1346867"/>
            <a:ext cx="1369416" cy="4845965"/>
          </a:xfrm>
          <a:prstGeom prst="curvedConnector3">
            <a:avLst>
              <a:gd name="adj1" fmla="val 116693"/>
            </a:avLst>
          </a:prstGeom>
          <a:solidFill>
            <a:schemeClr val="accent1"/>
          </a:solidFill>
          <a:ln w="63500" cap="flat" cmpd="sng" algn="ctr">
            <a:solidFill>
              <a:srgbClr val="FFC000"/>
            </a:solidFill>
            <a:prstDash val="solid"/>
            <a:round/>
            <a:headEnd type="none" w="med" len="med"/>
            <a:tailEnd type="triangle"/>
          </a:ln>
          <a:effectLst/>
        </p:spPr>
      </p:cxnSp>
      <p:pic>
        <p:nvPicPr>
          <p:cNvPr id="4" name="Picture 3"/>
          <p:cNvPicPr>
            <a:picLocks noChangeAspect="1"/>
          </p:cNvPicPr>
          <p:nvPr/>
        </p:nvPicPr>
        <p:blipFill>
          <a:blip r:embed="rId6"/>
          <a:stretch>
            <a:fillRect/>
          </a:stretch>
        </p:blipFill>
        <p:spPr>
          <a:xfrm>
            <a:off x="7568390" y="1955920"/>
            <a:ext cx="567950" cy="573573"/>
          </a:xfrm>
          <a:prstGeom prst="rect">
            <a:avLst/>
          </a:prstGeom>
        </p:spPr>
      </p:pic>
    </p:spTree>
    <p:extLst>
      <p:ext uri="{BB962C8B-B14F-4D97-AF65-F5344CB8AC3E}">
        <p14:creationId xmlns:p14="http://schemas.microsoft.com/office/powerpoint/2010/main" val="12308865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2CA20-F0E2-35AA-31D9-E9132E224AD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35BCE0D-B5C5-58AC-C8C2-D54ADFABEDE1}"/>
              </a:ext>
            </a:extLst>
          </p:cNvPr>
          <p:cNvSpPr>
            <a:spLocks noGrp="1"/>
          </p:cNvSpPr>
          <p:nvPr>
            <p:ph type="title"/>
          </p:nvPr>
        </p:nvSpPr>
        <p:spPr/>
        <p:txBody>
          <a:bodyPr/>
          <a:lstStyle/>
          <a:p>
            <a:r>
              <a:rPr lang="en-US" dirty="0"/>
              <a:t>Linear System Output (Discrete)</a:t>
            </a:r>
          </a:p>
        </p:txBody>
      </p:sp>
      <p:sp>
        <p:nvSpPr>
          <p:cNvPr id="7" name="Title 4">
            <a:extLst>
              <a:ext uri="{FF2B5EF4-FFF2-40B4-BE49-F238E27FC236}">
                <a16:creationId xmlns:a16="http://schemas.microsoft.com/office/drawing/2014/main" id="{7CF9C57F-8509-8FEF-1F29-4D0A0094D1C3}"/>
              </a:ext>
            </a:extLst>
          </p:cNvPr>
          <p:cNvSpPr txBox="1">
            <a:spLocks/>
          </p:cNvSpPr>
          <p:nvPr/>
        </p:nvSpPr>
        <p:spPr bwMode="auto">
          <a:xfrm>
            <a:off x="5374341" y="1039503"/>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8" name="Title 4">
            <a:extLst>
              <a:ext uri="{FF2B5EF4-FFF2-40B4-BE49-F238E27FC236}">
                <a16:creationId xmlns:a16="http://schemas.microsoft.com/office/drawing/2014/main" id="{613CE274-9671-DD3F-8659-4C82CC9BF487}"/>
              </a:ext>
            </a:extLst>
          </p:cNvPr>
          <p:cNvSpPr txBox="1">
            <a:spLocks/>
          </p:cNvSpPr>
          <p:nvPr/>
        </p:nvSpPr>
        <p:spPr bwMode="auto">
          <a:xfrm>
            <a:off x="4075582" y="1039503"/>
            <a:ext cx="765361"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x(n)</a:t>
            </a:r>
          </a:p>
        </p:txBody>
      </p:sp>
      <p:sp>
        <p:nvSpPr>
          <p:cNvPr id="9" name="Title 4">
            <a:extLst>
              <a:ext uri="{FF2B5EF4-FFF2-40B4-BE49-F238E27FC236}">
                <a16:creationId xmlns:a16="http://schemas.microsoft.com/office/drawing/2014/main" id="{292D9D1E-64A8-047A-AB14-04D01077C67F}"/>
              </a:ext>
            </a:extLst>
          </p:cNvPr>
          <p:cNvSpPr txBox="1">
            <a:spLocks/>
          </p:cNvSpPr>
          <p:nvPr/>
        </p:nvSpPr>
        <p:spPr bwMode="auto">
          <a:xfrm>
            <a:off x="6809876" y="1039503"/>
            <a:ext cx="830239"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y(n)</a:t>
            </a:r>
          </a:p>
        </p:txBody>
      </p:sp>
      <p:cxnSp>
        <p:nvCxnSpPr>
          <p:cNvPr id="3" name="Straight Arrow Connector 2">
            <a:extLst>
              <a:ext uri="{FF2B5EF4-FFF2-40B4-BE49-F238E27FC236}">
                <a16:creationId xmlns:a16="http://schemas.microsoft.com/office/drawing/2014/main" id="{F2358A10-92CD-CB20-78B9-8333AAE906B9}"/>
              </a:ext>
            </a:extLst>
          </p:cNvPr>
          <p:cNvCxnSpPr/>
          <p:nvPr/>
        </p:nvCxnSpPr>
        <p:spPr bwMode="auto">
          <a:xfrm>
            <a:off x="4831976" y="1346866"/>
            <a:ext cx="533400"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682208B8-3A87-0488-9863-7AB1F039D0DB}"/>
              </a:ext>
            </a:extLst>
          </p:cNvPr>
          <p:cNvCxnSpPr/>
          <p:nvPr/>
        </p:nvCxnSpPr>
        <p:spPr bwMode="auto">
          <a:xfrm>
            <a:off x="6311155" y="1346866"/>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12" name="Title 4">
            <a:extLst>
              <a:ext uri="{FF2B5EF4-FFF2-40B4-BE49-F238E27FC236}">
                <a16:creationId xmlns:a16="http://schemas.microsoft.com/office/drawing/2014/main" id="{4F962290-9EE7-9236-0394-D36A73B7C07B}"/>
              </a:ext>
            </a:extLst>
          </p:cNvPr>
          <p:cNvSpPr txBox="1">
            <a:spLocks/>
          </p:cNvSpPr>
          <p:nvPr/>
        </p:nvSpPr>
        <p:spPr bwMode="auto">
          <a:xfrm>
            <a:off x="5374341" y="1917252"/>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13" name="Title 4">
            <a:extLst>
              <a:ext uri="{FF2B5EF4-FFF2-40B4-BE49-F238E27FC236}">
                <a16:creationId xmlns:a16="http://schemas.microsoft.com/office/drawing/2014/main" id="{EA41D899-4776-C09F-D81B-C818A4D361F6}"/>
              </a:ext>
            </a:extLst>
          </p:cNvPr>
          <p:cNvSpPr txBox="1">
            <a:spLocks/>
          </p:cNvSpPr>
          <p:nvPr/>
        </p:nvSpPr>
        <p:spPr bwMode="auto">
          <a:xfrm>
            <a:off x="4075582" y="1917252"/>
            <a:ext cx="765361"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δ(n)</a:t>
            </a:r>
          </a:p>
        </p:txBody>
      </p:sp>
      <p:sp>
        <p:nvSpPr>
          <p:cNvPr id="14" name="Title 4">
            <a:extLst>
              <a:ext uri="{FF2B5EF4-FFF2-40B4-BE49-F238E27FC236}">
                <a16:creationId xmlns:a16="http://schemas.microsoft.com/office/drawing/2014/main" id="{4DF3A718-BB21-1C80-555B-782E0A87456A}"/>
              </a:ext>
            </a:extLst>
          </p:cNvPr>
          <p:cNvSpPr txBox="1">
            <a:spLocks/>
          </p:cNvSpPr>
          <p:nvPr/>
        </p:nvSpPr>
        <p:spPr bwMode="auto">
          <a:xfrm>
            <a:off x="6809876" y="1917252"/>
            <a:ext cx="830239"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h(n)</a:t>
            </a:r>
          </a:p>
        </p:txBody>
      </p:sp>
      <p:cxnSp>
        <p:nvCxnSpPr>
          <p:cNvPr id="15" name="Straight Arrow Connector 14">
            <a:extLst>
              <a:ext uri="{FF2B5EF4-FFF2-40B4-BE49-F238E27FC236}">
                <a16:creationId xmlns:a16="http://schemas.microsoft.com/office/drawing/2014/main" id="{0E40A785-2058-46CA-DE0C-B5846838E2D2}"/>
              </a:ext>
            </a:extLst>
          </p:cNvPr>
          <p:cNvCxnSpPr/>
          <p:nvPr/>
        </p:nvCxnSpPr>
        <p:spPr bwMode="auto">
          <a:xfrm>
            <a:off x="4799538" y="2224615"/>
            <a:ext cx="565838"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16" name="Straight Arrow Connector 15">
            <a:extLst>
              <a:ext uri="{FF2B5EF4-FFF2-40B4-BE49-F238E27FC236}">
                <a16:creationId xmlns:a16="http://schemas.microsoft.com/office/drawing/2014/main" id="{FC137198-3406-96DE-3B76-30C4FCBDCC3D}"/>
              </a:ext>
            </a:extLst>
          </p:cNvPr>
          <p:cNvCxnSpPr/>
          <p:nvPr/>
        </p:nvCxnSpPr>
        <p:spPr bwMode="auto">
          <a:xfrm>
            <a:off x="6311155" y="2224615"/>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17" name="Title 4">
            <a:extLst>
              <a:ext uri="{FF2B5EF4-FFF2-40B4-BE49-F238E27FC236}">
                <a16:creationId xmlns:a16="http://schemas.microsoft.com/office/drawing/2014/main" id="{BFA4C197-4986-4197-3F33-E50E30DFEA23}"/>
              </a:ext>
            </a:extLst>
          </p:cNvPr>
          <p:cNvSpPr txBox="1">
            <a:spLocks/>
          </p:cNvSpPr>
          <p:nvPr/>
        </p:nvSpPr>
        <p:spPr bwMode="auto">
          <a:xfrm>
            <a:off x="5374341" y="2794210"/>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18" name="Title 4">
            <a:extLst>
              <a:ext uri="{FF2B5EF4-FFF2-40B4-BE49-F238E27FC236}">
                <a16:creationId xmlns:a16="http://schemas.microsoft.com/office/drawing/2014/main" id="{8CEAF81A-8C7F-8068-345E-05FA4FE32D50}"/>
              </a:ext>
            </a:extLst>
          </p:cNvPr>
          <p:cNvSpPr txBox="1">
            <a:spLocks/>
          </p:cNvSpPr>
          <p:nvPr/>
        </p:nvSpPr>
        <p:spPr bwMode="auto">
          <a:xfrm>
            <a:off x="3783108" y="2794210"/>
            <a:ext cx="1057835"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δ(n-k)</a:t>
            </a:r>
          </a:p>
        </p:txBody>
      </p:sp>
      <p:sp>
        <p:nvSpPr>
          <p:cNvPr id="19" name="Title 4">
            <a:extLst>
              <a:ext uri="{FF2B5EF4-FFF2-40B4-BE49-F238E27FC236}">
                <a16:creationId xmlns:a16="http://schemas.microsoft.com/office/drawing/2014/main" id="{70EAE99C-0702-466E-69D1-943624D154EE}"/>
              </a:ext>
            </a:extLst>
          </p:cNvPr>
          <p:cNvSpPr txBox="1">
            <a:spLocks/>
          </p:cNvSpPr>
          <p:nvPr/>
        </p:nvSpPr>
        <p:spPr bwMode="auto">
          <a:xfrm>
            <a:off x="6809876" y="2794210"/>
            <a:ext cx="1154205"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h(n-k)</a:t>
            </a:r>
          </a:p>
        </p:txBody>
      </p:sp>
      <p:cxnSp>
        <p:nvCxnSpPr>
          <p:cNvPr id="20" name="Straight Arrow Connector 19">
            <a:extLst>
              <a:ext uri="{FF2B5EF4-FFF2-40B4-BE49-F238E27FC236}">
                <a16:creationId xmlns:a16="http://schemas.microsoft.com/office/drawing/2014/main" id="{43F73F06-281F-A229-C135-9FB0F6662358}"/>
              </a:ext>
            </a:extLst>
          </p:cNvPr>
          <p:cNvCxnSpPr/>
          <p:nvPr/>
        </p:nvCxnSpPr>
        <p:spPr bwMode="auto">
          <a:xfrm>
            <a:off x="4831976" y="3101573"/>
            <a:ext cx="533400"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3B9B99AF-C699-FA67-DAC8-893E63548FC7}"/>
              </a:ext>
            </a:extLst>
          </p:cNvPr>
          <p:cNvCxnSpPr/>
          <p:nvPr/>
        </p:nvCxnSpPr>
        <p:spPr bwMode="auto">
          <a:xfrm>
            <a:off x="6311155" y="3101573"/>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23" name="Title 4">
            <a:extLst>
              <a:ext uri="{FF2B5EF4-FFF2-40B4-BE49-F238E27FC236}">
                <a16:creationId xmlns:a16="http://schemas.microsoft.com/office/drawing/2014/main" id="{580EEF22-86A5-9C4A-8B22-BBF52BD78198}"/>
              </a:ext>
            </a:extLst>
          </p:cNvPr>
          <p:cNvSpPr txBox="1">
            <a:spLocks/>
          </p:cNvSpPr>
          <p:nvPr/>
        </p:nvSpPr>
        <p:spPr bwMode="auto">
          <a:xfrm>
            <a:off x="5374341" y="3671653"/>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24" name="Title 4">
            <a:extLst>
              <a:ext uri="{FF2B5EF4-FFF2-40B4-BE49-F238E27FC236}">
                <a16:creationId xmlns:a16="http://schemas.microsoft.com/office/drawing/2014/main" id="{D185F4F0-1AA7-24C8-7140-8A99A68D7FA4}"/>
              </a:ext>
            </a:extLst>
          </p:cNvPr>
          <p:cNvSpPr txBox="1">
            <a:spLocks/>
          </p:cNvSpPr>
          <p:nvPr/>
        </p:nvSpPr>
        <p:spPr bwMode="auto">
          <a:xfrm>
            <a:off x="3146612" y="3671653"/>
            <a:ext cx="1694330"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x(k)δ(n-k)</a:t>
            </a:r>
          </a:p>
        </p:txBody>
      </p:sp>
      <p:sp>
        <p:nvSpPr>
          <p:cNvPr id="25" name="Title 4">
            <a:extLst>
              <a:ext uri="{FF2B5EF4-FFF2-40B4-BE49-F238E27FC236}">
                <a16:creationId xmlns:a16="http://schemas.microsoft.com/office/drawing/2014/main" id="{82EAF91A-35AF-78C6-8A3A-F420209F3001}"/>
              </a:ext>
            </a:extLst>
          </p:cNvPr>
          <p:cNvSpPr txBox="1">
            <a:spLocks/>
          </p:cNvSpPr>
          <p:nvPr/>
        </p:nvSpPr>
        <p:spPr bwMode="auto">
          <a:xfrm>
            <a:off x="6809876" y="3671653"/>
            <a:ext cx="1936375"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x(k)h(n-k)</a:t>
            </a:r>
          </a:p>
        </p:txBody>
      </p:sp>
      <p:cxnSp>
        <p:nvCxnSpPr>
          <p:cNvPr id="26" name="Straight Arrow Connector 25">
            <a:extLst>
              <a:ext uri="{FF2B5EF4-FFF2-40B4-BE49-F238E27FC236}">
                <a16:creationId xmlns:a16="http://schemas.microsoft.com/office/drawing/2014/main" id="{E8C2F5DA-EBD0-17D5-EEE9-9303C44EF4BF}"/>
              </a:ext>
            </a:extLst>
          </p:cNvPr>
          <p:cNvCxnSpPr/>
          <p:nvPr/>
        </p:nvCxnSpPr>
        <p:spPr bwMode="auto">
          <a:xfrm>
            <a:off x="4787154" y="3979016"/>
            <a:ext cx="57822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27" name="Straight Arrow Connector 26">
            <a:extLst>
              <a:ext uri="{FF2B5EF4-FFF2-40B4-BE49-F238E27FC236}">
                <a16:creationId xmlns:a16="http://schemas.microsoft.com/office/drawing/2014/main" id="{88FBEA6E-B74B-2593-F171-51ED1A65A48E}"/>
              </a:ext>
            </a:extLst>
          </p:cNvPr>
          <p:cNvCxnSpPr/>
          <p:nvPr/>
        </p:nvCxnSpPr>
        <p:spPr bwMode="auto">
          <a:xfrm>
            <a:off x="6311155" y="3979016"/>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29" name="Title 4">
            <a:extLst>
              <a:ext uri="{FF2B5EF4-FFF2-40B4-BE49-F238E27FC236}">
                <a16:creationId xmlns:a16="http://schemas.microsoft.com/office/drawing/2014/main" id="{1C15D93C-D680-21A8-DE2B-C5C3D91929BB}"/>
              </a:ext>
            </a:extLst>
          </p:cNvPr>
          <p:cNvSpPr txBox="1">
            <a:spLocks/>
          </p:cNvSpPr>
          <p:nvPr/>
        </p:nvSpPr>
        <p:spPr bwMode="auto">
          <a:xfrm>
            <a:off x="5374341" y="4585195"/>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30" name="Title 4">
            <a:extLst>
              <a:ext uri="{FF2B5EF4-FFF2-40B4-BE49-F238E27FC236}">
                <a16:creationId xmlns:a16="http://schemas.microsoft.com/office/drawing/2014/main" id="{F2B8DE51-2A32-3F93-4E2C-7612885A2512}"/>
              </a:ext>
            </a:extLst>
          </p:cNvPr>
          <p:cNvSpPr txBox="1">
            <a:spLocks/>
          </p:cNvSpPr>
          <p:nvPr/>
        </p:nvSpPr>
        <p:spPr bwMode="auto">
          <a:xfrm>
            <a:off x="3146612" y="4585195"/>
            <a:ext cx="1694330"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x(k)δ(n-k)</a:t>
            </a:r>
          </a:p>
        </p:txBody>
      </p:sp>
      <p:sp>
        <p:nvSpPr>
          <p:cNvPr id="31" name="Title 4">
            <a:extLst>
              <a:ext uri="{FF2B5EF4-FFF2-40B4-BE49-F238E27FC236}">
                <a16:creationId xmlns:a16="http://schemas.microsoft.com/office/drawing/2014/main" id="{3181A49E-2FE0-60C0-938B-602E84B09EC0}"/>
              </a:ext>
            </a:extLst>
          </p:cNvPr>
          <p:cNvSpPr txBox="1">
            <a:spLocks/>
          </p:cNvSpPr>
          <p:nvPr/>
        </p:nvSpPr>
        <p:spPr bwMode="auto">
          <a:xfrm>
            <a:off x="7459728" y="4585195"/>
            <a:ext cx="1782884"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x(k)h(n-k)</a:t>
            </a:r>
          </a:p>
        </p:txBody>
      </p:sp>
      <p:cxnSp>
        <p:nvCxnSpPr>
          <p:cNvPr id="32" name="Straight Arrow Connector 31">
            <a:extLst>
              <a:ext uri="{FF2B5EF4-FFF2-40B4-BE49-F238E27FC236}">
                <a16:creationId xmlns:a16="http://schemas.microsoft.com/office/drawing/2014/main" id="{A0287B84-C684-7BB4-AE0F-821205F692D1}"/>
              </a:ext>
            </a:extLst>
          </p:cNvPr>
          <p:cNvCxnSpPr/>
          <p:nvPr/>
        </p:nvCxnSpPr>
        <p:spPr bwMode="auto">
          <a:xfrm>
            <a:off x="4809566" y="4892558"/>
            <a:ext cx="555811"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5015E2B1-1065-20EC-1BC7-C7DF515935C3}"/>
              </a:ext>
            </a:extLst>
          </p:cNvPr>
          <p:cNvCxnSpPr/>
          <p:nvPr/>
        </p:nvCxnSpPr>
        <p:spPr bwMode="auto">
          <a:xfrm>
            <a:off x="6311155" y="4892558"/>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36" name="Title 4">
            <a:extLst>
              <a:ext uri="{FF2B5EF4-FFF2-40B4-BE49-F238E27FC236}">
                <a16:creationId xmlns:a16="http://schemas.microsoft.com/office/drawing/2014/main" id="{F03BACD9-6B02-AC89-0D2D-30B0BF91E17E}"/>
              </a:ext>
            </a:extLst>
          </p:cNvPr>
          <p:cNvSpPr txBox="1">
            <a:spLocks/>
          </p:cNvSpPr>
          <p:nvPr/>
        </p:nvSpPr>
        <p:spPr bwMode="auto">
          <a:xfrm>
            <a:off x="5374341" y="5884529"/>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37" name="Title 4">
            <a:extLst>
              <a:ext uri="{FF2B5EF4-FFF2-40B4-BE49-F238E27FC236}">
                <a16:creationId xmlns:a16="http://schemas.microsoft.com/office/drawing/2014/main" id="{FED2C036-3505-C988-0C79-CF39E3419E15}"/>
              </a:ext>
            </a:extLst>
          </p:cNvPr>
          <p:cNvSpPr txBox="1">
            <a:spLocks/>
          </p:cNvSpPr>
          <p:nvPr/>
        </p:nvSpPr>
        <p:spPr bwMode="auto">
          <a:xfrm>
            <a:off x="4075580" y="5884529"/>
            <a:ext cx="765362"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x(n)</a:t>
            </a:r>
          </a:p>
        </p:txBody>
      </p:sp>
      <p:sp>
        <p:nvSpPr>
          <p:cNvPr id="38" name="Title 4">
            <a:extLst>
              <a:ext uri="{FF2B5EF4-FFF2-40B4-BE49-F238E27FC236}">
                <a16:creationId xmlns:a16="http://schemas.microsoft.com/office/drawing/2014/main" id="{8F9874E4-FF68-1534-D2E6-BC1E2C425A66}"/>
              </a:ext>
            </a:extLst>
          </p:cNvPr>
          <p:cNvSpPr txBox="1">
            <a:spLocks/>
          </p:cNvSpPr>
          <p:nvPr/>
        </p:nvSpPr>
        <p:spPr bwMode="auto">
          <a:xfrm>
            <a:off x="7459728" y="5884529"/>
            <a:ext cx="1782884"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x(k)h(n-k)</a:t>
            </a:r>
          </a:p>
        </p:txBody>
      </p:sp>
      <p:cxnSp>
        <p:nvCxnSpPr>
          <p:cNvPr id="39" name="Straight Arrow Connector 38">
            <a:extLst>
              <a:ext uri="{FF2B5EF4-FFF2-40B4-BE49-F238E27FC236}">
                <a16:creationId xmlns:a16="http://schemas.microsoft.com/office/drawing/2014/main" id="{B7F74141-788A-679C-A68C-AE178DD424C5}"/>
              </a:ext>
            </a:extLst>
          </p:cNvPr>
          <p:cNvCxnSpPr/>
          <p:nvPr/>
        </p:nvCxnSpPr>
        <p:spPr bwMode="auto">
          <a:xfrm>
            <a:off x="4831978" y="6191892"/>
            <a:ext cx="533399"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8F1F5C93-5345-D1F7-9522-9F7097011C00}"/>
              </a:ext>
            </a:extLst>
          </p:cNvPr>
          <p:cNvCxnSpPr/>
          <p:nvPr/>
        </p:nvCxnSpPr>
        <p:spPr bwMode="auto">
          <a:xfrm>
            <a:off x="6311155" y="6191892"/>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graphicFrame>
        <p:nvGraphicFramePr>
          <p:cNvPr id="44" name="Object 11">
            <a:extLst>
              <a:ext uri="{FF2B5EF4-FFF2-40B4-BE49-F238E27FC236}">
                <a16:creationId xmlns:a16="http://schemas.microsoft.com/office/drawing/2014/main" id="{BF554063-8BAD-BFA5-0BF6-7E6C2B371DC4}"/>
              </a:ext>
            </a:extLst>
          </p:cNvPr>
          <p:cNvGraphicFramePr>
            <a:graphicFrameLocks noChangeAspect="1"/>
          </p:cNvGraphicFramePr>
          <p:nvPr/>
        </p:nvGraphicFramePr>
        <p:xfrm>
          <a:off x="2585227" y="4201089"/>
          <a:ext cx="1102657" cy="1382941"/>
        </p:xfrm>
        <a:graphic>
          <a:graphicData uri="http://schemas.openxmlformats.org/presentationml/2006/ole">
            <mc:AlternateContent xmlns:mc="http://schemas.openxmlformats.org/markup-compatibility/2006">
              <mc:Choice xmlns:v="urn:schemas-microsoft-com:vml" Requires="v">
                <p:oleObj name="Equation" r:id="rId3" imgW="545760" imgH="685800" progId="Equation.DSMT4">
                  <p:embed/>
                </p:oleObj>
              </mc:Choice>
              <mc:Fallback>
                <p:oleObj name="Equation" r:id="rId3" imgW="545760" imgH="685800" progId="Equation.DSMT4">
                  <p:embed/>
                  <p:pic>
                    <p:nvPicPr>
                      <p:cNvPr id="44" name="Object 11"/>
                      <p:cNvPicPr>
                        <a:picLocks noChangeAspect="1" noChangeArrowheads="1"/>
                      </p:cNvPicPr>
                      <p:nvPr/>
                    </p:nvPicPr>
                    <p:blipFill>
                      <a:blip r:embed="rId4"/>
                      <a:srcRect/>
                      <a:stretch>
                        <a:fillRect/>
                      </a:stretch>
                    </p:blipFill>
                    <p:spPr bwMode="auto">
                      <a:xfrm>
                        <a:off x="2585227" y="4201089"/>
                        <a:ext cx="1102657" cy="1382941"/>
                      </a:xfrm>
                      <a:prstGeom prst="rect">
                        <a:avLst/>
                      </a:prstGeom>
                      <a:noFill/>
                      <a:ln>
                        <a:noFill/>
                      </a:ln>
                      <a:effectLst/>
                    </p:spPr>
                  </p:pic>
                </p:oleObj>
              </mc:Fallback>
            </mc:AlternateContent>
          </a:graphicData>
        </a:graphic>
      </p:graphicFrame>
      <p:graphicFrame>
        <p:nvGraphicFramePr>
          <p:cNvPr id="45" name="Object 11">
            <a:extLst>
              <a:ext uri="{FF2B5EF4-FFF2-40B4-BE49-F238E27FC236}">
                <a16:creationId xmlns:a16="http://schemas.microsoft.com/office/drawing/2014/main" id="{363BB365-F0BE-F41A-0BB2-D114CA9D8897}"/>
              </a:ext>
            </a:extLst>
          </p:cNvPr>
          <p:cNvGraphicFramePr>
            <a:graphicFrameLocks noChangeAspect="1"/>
          </p:cNvGraphicFramePr>
          <p:nvPr/>
        </p:nvGraphicFramePr>
        <p:xfrm>
          <a:off x="6840158" y="4201089"/>
          <a:ext cx="1102657" cy="1382941"/>
        </p:xfrm>
        <a:graphic>
          <a:graphicData uri="http://schemas.openxmlformats.org/presentationml/2006/ole">
            <mc:AlternateContent xmlns:mc="http://schemas.openxmlformats.org/markup-compatibility/2006">
              <mc:Choice xmlns:v="urn:schemas-microsoft-com:vml" Requires="v">
                <p:oleObj name="Equation" r:id="rId3" imgW="545760" imgH="685800" progId="Equation.DSMT4">
                  <p:embed/>
                </p:oleObj>
              </mc:Choice>
              <mc:Fallback>
                <p:oleObj name="Equation" r:id="rId3" imgW="545760" imgH="685800" progId="Equation.DSMT4">
                  <p:embed/>
                  <p:pic>
                    <p:nvPicPr>
                      <p:cNvPr id="45" name="Object 11"/>
                      <p:cNvPicPr>
                        <a:picLocks noChangeAspect="1" noChangeArrowheads="1"/>
                      </p:cNvPicPr>
                      <p:nvPr/>
                    </p:nvPicPr>
                    <p:blipFill>
                      <a:blip r:embed="rId4"/>
                      <a:srcRect/>
                      <a:stretch>
                        <a:fillRect/>
                      </a:stretch>
                    </p:blipFill>
                    <p:spPr bwMode="auto">
                      <a:xfrm>
                        <a:off x="6840158" y="4201089"/>
                        <a:ext cx="1102657" cy="1382941"/>
                      </a:xfrm>
                      <a:prstGeom prst="rect">
                        <a:avLst/>
                      </a:prstGeom>
                      <a:noFill/>
                      <a:ln>
                        <a:noFill/>
                      </a:ln>
                      <a:effectLst/>
                    </p:spPr>
                  </p:pic>
                </p:oleObj>
              </mc:Fallback>
            </mc:AlternateContent>
          </a:graphicData>
        </a:graphic>
      </p:graphicFrame>
      <p:graphicFrame>
        <p:nvGraphicFramePr>
          <p:cNvPr id="46" name="Object 11">
            <a:extLst>
              <a:ext uri="{FF2B5EF4-FFF2-40B4-BE49-F238E27FC236}">
                <a16:creationId xmlns:a16="http://schemas.microsoft.com/office/drawing/2014/main" id="{2805B9F2-4546-D08B-AA4E-542E14ADD091}"/>
              </a:ext>
            </a:extLst>
          </p:cNvPr>
          <p:cNvGraphicFramePr>
            <a:graphicFrameLocks noChangeAspect="1"/>
          </p:cNvGraphicFramePr>
          <p:nvPr/>
        </p:nvGraphicFramePr>
        <p:xfrm>
          <a:off x="6840158" y="5500423"/>
          <a:ext cx="1102657" cy="1382941"/>
        </p:xfrm>
        <a:graphic>
          <a:graphicData uri="http://schemas.openxmlformats.org/presentationml/2006/ole">
            <mc:AlternateContent xmlns:mc="http://schemas.openxmlformats.org/markup-compatibility/2006">
              <mc:Choice xmlns:v="urn:schemas-microsoft-com:vml" Requires="v">
                <p:oleObj name="Equation" r:id="rId3" imgW="545760" imgH="685800" progId="Equation.DSMT4">
                  <p:embed/>
                </p:oleObj>
              </mc:Choice>
              <mc:Fallback>
                <p:oleObj name="Equation" r:id="rId3" imgW="545760" imgH="685800" progId="Equation.DSMT4">
                  <p:embed/>
                  <p:pic>
                    <p:nvPicPr>
                      <p:cNvPr id="46" name="Object 11"/>
                      <p:cNvPicPr>
                        <a:picLocks noChangeAspect="1" noChangeArrowheads="1"/>
                      </p:cNvPicPr>
                      <p:nvPr/>
                    </p:nvPicPr>
                    <p:blipFill>
                      <a:blip r:embed="rId4"/>
                      <a:srcRect/>
                      <a:stretch>
                        <a:fillRect/>
                      </a:stretch>
                    </p:blipFill>
                    <p:spPr bwMode="auto">
                      <a:xfrm>
                        <a:off x="6840158" y="5500423"/>
                        <a:ext cx="1102657" cy="1382941"/>
                      </a:xfrm>
                      <a:prstGeom prst="rect">
                        <a:avLst/>
                      </a:prstGeom>
                      <a:noFill/>
                      <a:ln>
                        <a:noFill/>
                      </a:ln>
                      <a:effectLst/>
                    </p:spPr>
                  </p:pic>
                </p:oleObj>
              </mc:Fallback>
            </mc:AlternateContent>
          </a:graphicData>
        </a:graphic>
      </p:graphicFrame>
      <p:pic>
        <p:nvPicPr>
          <p:cNvPr id="47" name="Picture 12" descr="http://www.magic-emoji.com/emoji/images/83_emoji_iphone_black_diamond_suit.png">
            <a:extLst>
              <a:ext uri="{FF2B5EF4-FFF2-40B4-BE49-F238E27FC236}">
                <a16:creationId xmlns:a16="http://schemas.microsoft.com/office/drawing/2014/main" id="{08405859-D303-8BBA-6A27-4EE5E3C9F22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247" y="914401"/>
            <a:ext cx="2476500" cy="2476501"/>
          </a:xfrm>
          <a:prstGeom prst="rect">
            <a:avLst/>
          </a:prstGeom>
          <a:noFill/>
          <a:extLst>
            <a:ext uri="{909E8E84-426E-40DD-AFC4-6F175D3DCCD1}">
              <a14:hiddenFill xmlns:a14="http://schemas.microsoft.com/office/drawing/2010/main">
                <a:solidFill>
                  <a:srgbClr val="FFFFFF"/>
                </a:solidFill>
              </a14:hiddenFill>
            </a:ext>
          </a:extLst>
        </p:spPr>
      </p:pic>
      <p:sp>
        <p:nvSpPr>
          <p:cNvPr id="48" name="Rectangle 47">
            <a:extLst>
              <a:ext uri="{FF2B5EF4-FFF2-40B4-BE49-F238E27FC236}">
                <a16:creationId xmlns:a16="http://schemas.microsoft.com/office/drawing/2014/main" id="{D753C1FA-CA00-80EA-D7D7-E97F0C22D87D}"/>
              </a:ext>
            </a:extLst>
          </p:cNvPr>
          <p:cNvSpPr/>
          <p:nvPr/>
        </p:nvSpPr>
        <p:spPr bwMode="auto">
          <a:xfrm>
            <a:off x="3971365" y="914400"/>
            <a:ext cx="3749428" cy="842682"/>
          </a:xfrm>
          <a:prstGeom prst="rect">
            <a:avLst/>
          </a:prstGeom>
          <a:solidFill>
            <a:srgbClr val="FFC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err="1"/>
          </a:p>
        </p:txBody>
      </p:sp>
      <p:sp>
        <p:nvSpPr>
          <p:cNvPr id="49" name="Rectangle 48">
            <a:extLst>
              <a:ext uri="{FF2B5EF4-FFF2-40B4-BE49-F238E27FC236}">
                <a16:creationId xmlns:a16="http://schemas.microsoft.com/office/drawing/2014/main" id="{05C164D9-D474-2312-8371-D9C1C46F398D}"/>
              </a:ext>
            </a:extLst>
          </p:cNvPr>
          <p:cNvSpPr/>
          <p:nvPr/>
        </p:nvSpPr>
        <p:spPr bwMode="auto">
          <a:xfrm>
            <a:off x="3971365" y="5527662"/>
            <a:ext cx="5118845" cy="1330338"/>
          </a:xfrm>
          <a:prstGeom prst="rect">
            <a:avLst/>
          </a:prstGeom>
          <a:solidFill>
            <a:srgbClr val="FFC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err="1"/>
          </a:p>
        </p:txBody>
      </p:sp>
      <p:cxnSp>
        <p:nvCxnSpPr>
          <p:cNvPr id="50" name="Elbow Connector 9">
            <a:extLst>
              <a:ext uri="{FF2B5EF4-FFF2-40B4-BE49-F238E27FC236}">
                <a16:creationId xmlns:a16="http://schemas.microsoft.com/office/drawing/2014/main" id="{70B8EE46-B307-B531-C36A-F8F476D7E6CB}"/>
              </a:ext>
            </a:extLst>
          </p:cNvPr>
          <p:cNvCxnSpPr>
            <a:endCxn id="49" idx="3"/>
          </p:cNvCxnSpPr>
          <p:nvPr/>
        </p:nvCxnSpPr>
        <p:spPr bwMode="auto">
          <a:xfrm>
            <a:off x="7720793" y="1346867"/>
            <a:ext cx="1369416" cy="4845965"/>
          </a:xfrm>
          <a:prstGeom prst="curvedConnector3">
            <a:avLst>
              <a:gd name="adj1" fmla="val 116693"/>
            </a:avLst>
          </a:prstGeom>
          <a:solidFill>
            <a:schemeClr val="accent1"/>
          </a:solidFill>
          <a:ln w="63500" cap="flat" cmpd="sng" algn="ctr">
            <a:solidFill>
              <a:srgbClr val="FFC000"/>
            </a:solidFill>
            <a:prstDash val="solid"/>
            <a:round/>
            <a:headEnd type="none" w="med" len="med"/>
            <a:tailEnd type="triangle"/>
          </a:ln>
          <a:effectLst/>
        </p:spPr>
      </p:cxnSp>
      <p:pic>
        <p:nvPicPr>
          <p:cNvPr id="4" name="Picture 3">
            <a:extLst>
              <a:ext uri="{FF2B5EF4-FFF2-40B4-BE49-F238E27FC236}">
                <a16:creationId xmlns:a16="http://schemas.microsoft.com/office/drawing/2014/main" id="{0C71EE78-0844-167A-E092-A5877786B1D2}"/>
              </a:ext>
            </a:extLst>
          </p:cNvPr>
          <p:cNvPicPr>
            <a:picLocks noChangeAspect="1"/>
          </p:cNvPicPr>
          <p:nvPr/>
        </p:nvPicPr>
        <p:blipFill>
          <a:blip r:embed="rId6"/>
          <a:stretch>
            <a:fillRect/>
          </a:stretch>
        </p:blipFill>
        <p:spPr>
          <a:xfrm>
            <a:off x="7568390" y="1955920"/>
            <a:ext cx="567950" cy="573573"/>
          </a:xfrm>
          <a:prstGeom prst="rect">
            <a:avLst/>
          </a:prstGeom>
        </p:spPr>
      </p:pic>
    </p:spTree>
    <p:extLst>
      <p:ext uri="{BB962C8B-B14F-4D97-AF65-F5344CB8AC3E}">
        <p14:creationId xmlns:p14="http://schemas.microsoft.com/office/powerpoint/2010/main" val="14561334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000" dirty="0"/>
              <a:t>System Output (Continuous)</a:t>
            </a:r>
          </a:p>
        </p:txBody>
      </p:sp>
      <p:pic>
        <p:nvPicPr>
          <p:cNvPr id="6" name="Picture 12" descr="http://www.magic-emoji.com/emoji/images/83_emoji_iphone_black_diamond_sui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47" y="914401"/>
            <a:ext cx="2476500" cy="2476501"/>
          </a:xfrm>
          <a:prstGeom prst="rect">
            <a:avLst/>
          </a:prstGeom>
          <a:noFill/>
          <a:extLst>
            <a:ext uri="{909E8E84-426E-40DD-AFC4-6F175D3DCCD1}">
              <a14:hiddenFill xmlns:a14="http://schemas.microsoft.com/office/drawing/2010/main">
                <a:solidFill>
                  <a:srgbClr val="FFFFFF"/>
                </a:solidFill>
              </a14:hiddenFill>
            </a:ext>
          </a:extLst>
        </p:spPr>
      </p:pic>
      <p:sp>
        <p:nvSpPr>
          <p:cNvPr id="7" name="Title 4"/>
          <p:cNvSpPr txBox="1">
            <a:spLocks/>
          </p:cNvSpPr>
          <p:nvPr/>
        </p:nvSpPr>
        <p:spPr bwMode="auto">
          <a:xfrm>
            <a:off x="5374341" y="1039503"/>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8" name="Title 4"/>
          <p:cNvSpPr txBox="1">
            <a:spLocks/>
          </p:cNvSpPr>
          <p:nvPr/>
        </p:nvSpPr>
        <p:spPr bwMode="auto">
          <a:xfrm>
            <a:off x="4075582" y="1039503"/>
            <a:ext cx="765361"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x(t)</a:t>
            </a:r>
          </a:p>
        </p:txBody>
      </p:sp>
      <p:sp>
        <p:nvSpPr>
          <p:cNvPr id="9" name="Title 4"/>
          <p:cNvSpPr txBox="1">
            <a:spLocks/>
          </p:cNvSpPr>
          <p:nvPr/>
        </p:nvSpPr>
        <p:spPr bwMode="auto">
          <a:xfrm>
            <a:off x="6890555" y="1039503"/>
            <a:ext cx="830239"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l"/>
            <a:r>
              <a:rPr lang="en-US" sz="2400" i="1" kern="0" dirty="0"/>
              <a:t>y(t)</a:t>
            </a:r>
          </a:p>
        </p:txBody>
      </p:sp>
      <p:cxnSp>
        <p:nvCxnSpPr>
          <p:cNvPr id="3" name="Straight Arrow Connector 2"/>
          <p:cNvCxnSpPr/>
          <p:nvPr/>
        </p:nvCxnSpPr>
        <p:spPr bwMode="auto">
          <a:xfrm>
            <a:off x="4831976" y="1346866"/>
            <a:ext cx="533400"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11" name="Straight Arrow Connector 10"/>
          <p:cNvCxnSpPr/>
          <p:nvPr/>
        </p:nvCxnSpPr>
        <p:spPr bwMode="auto">
          <a:xfrm>
            <a:off x="6311155" y="1346866"/>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12" name="Title 4"/>
          <p:cNvSpPr txBox="1">
            <a:spLocks/>
          </p:cNvSpPr>
          <p:nvPr/>
        </p:nvSpPr>
        <p:spPr bwMode="auto">
          <a:xfrm>
            <a:off x="5374341" y="1917252"/>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13" name="Title 4"/>
          <p:cNvSpPr txBox="1">
            <a:spLocks/>
          </p:cNvSpPr>
          <p:nvPr/>
        </p:nvSpPr>
        <p:spPr bwMode="auto">
          <a:xfrm>
            <a:off x="4075582" y="1917252"/>
            <a:ext cx="765361"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δ(t)</a:t>
            </a:r>
          </a:p>
        </p:txBody>
      </p:sp>
      <p:sp>
        <p:nvSpPr>
          <p:cNvPr id="14" name="Title 4"/>
          <p:cNvSpPr txBox="1">
            <a:spLocks/>
          </p:cNvSpPr>
          <p:nvPr/>
        </p:nvSpPr>
        <p:spPr bwMode="auto">
          <a:xfrm>
            <a:off x="6890555" y="1917252"/>
            <a:ext cx="830239"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l"/>
            <a:r>
              <a:rPr lang="en-US" sz="2400" i="1" kern="0" dirty="0"/>
              <a:t>h(t)</a:t>
            </a:r>
          </a:p>
        </p:txBody>
      </p:sp>
      <p:cxnSp>
        <p:nvCxnSpPr>
          <p:cNvPr id="15" name="Straight Arrow Connector 14"/>
          <p:cNvCxnSpPr/>
          <p:nvPr/>
        </p:nvCxnSpPr>
        <p:spPr bwMode="auto">
          <a:xfrm>
            <a:off x="4799538" y="2224615"/>
            <a:ext cx="565838"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16" name="Straight Arrow Connector 15"/>
          <p:cNvCxnSpPr/>
          <p:nvPr/>
        </p:nvCxnSpPr>
        <p:spPr bwMode="auto">
          <a:xfrm>
            <a:off x="6311155" y="2224615"/>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17" name="Title 4"/>
          <p:cNvSpPr txBox="1">
            <a:spLocks/>
          </p:cNvSpPr>
          <p:nvPr/>
        </p:nvSpPr>
        <p:spPr bwMode="auto">
          <a:xfrm>
            <a:off x="5374341" y="2794210"/>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18" name="Title 4"/>
          <p:cNvSpPr txBox="1">
            <a:spLocks/>
          </p:cNvSpPr>
          <p:nvPr/>
        </p:nvSpPr>
        <p:spPr bwMode="auto">
          <a:xfrm>
            <a:off x="3783108" y="2794210"/>
            <a:ext cx="1057835"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δ(t-</a:t>
            </a:r>
            <a:r>
              <a:rPr lang="el-GR" sz="2400" i="1" kern="0" dirty="0"/>
              <a:t>τ</a:t>
            </a:r>
            <a:r>
              <a:rPr lang="en-US" sz="2400" i="1" kern="0" dirty="0"/>
              <a:t>)</a:t>
            </a:r>
          </a:p>
        </p:txBody>
      </p:sp>
      <p:sp>
        <p:nvSpPr>
          <p:cNvPr id="19" name="Title 4"/>
          <p:cNvSpPr txBox="1">
            <a:spLocks/>
          </p:cNvSpPr>
          <p:nvPr/>
        </p:nvSpPr>
        <p:spPr bwMode="auto">
          <a:xfrm>
            <a:off x="6890555" y="2794210"/>
            <a:ext cx="1154205"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l"/>
            <a:r>
              <a:rPr lang="en-US" sz="2400" i="1" kern="0" dirty="0"/>
              <a:t>h(t-</a:t>
            </a:r>
            <a:r>
              <a:rPr lang="el-GR" sz="2400" i="1" kern="0" dirty="0"/>
              <a:t>τ</a:t>
            </a:r>
            <a:r>
              <a:rPr lang="en-US" sz="2400" i="1" kern="0" dirty="0"/>
              <a:t>)</a:t>
            </a:r>
          </a:p>
        </p:txBody>
      </p:sp>
      <p:cxnSp>
        <p:nvCxnSpPr>
          <p:cNvPr id="20" name="Straight Arrow Connector 19"/>
          <p:cNvCxnSpPr/>
          <p:nvPr/>
        </p:nvCxnSpPr>
        <p:spPr bwMode="auto">
          <a:xfrm>
            <a:off x="4831976" y="3101573"/>
            <a:ext cx="533400"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21" name="Straight Arrow Connector 20"/>
          <p:cNvCxnSpPr/>
          <p:nvPr/>
        </p:nvCxnSpPr>
        <p:spPr bwMode="auto">
          <a:xfrm>
            <a:off x="6311155" y="3101573"/>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23" name="Title 4"/>
          <p:cNvSpPr txBox="1">
            <a:spLocks/>
          </p:cNvSpPr>
          <p:nvPr/>
        </p:nvSpPr>
        <p:spPr bwMode="auto">
          <a:xfrm>
            <a:off x="5374341" y="3671653"/>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24" name="Title 4"/>
          <p:cNvSpPr txBox="1">
            <a:spLocks/>
          </p:cNvSpPr>
          <p:nvPr/>
        </p:nvSpPr>
        <p:spPr bwMode="auto">
          <a:xfrm>
            <a:off x="3146612" y="3671653"/>
            <a:ext cx="1694330"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x(</a:t>
            </a:r>
            <a:r>
              <a:rPr lang="el-GR" sz="2400" i="1" kern="0" dirty="0"/>
              <a:t>τ</a:t>
            </a:r>
            <a:r>
              <a:rPr lang="en-US" sz="2400" i="1" kern="0" dirty="0"/>
              <a:t>)δ(t-</a:t>
            </a:r>
            <a:r>
              <a:rPr lang="el-GR" sz="2400" i="1" kern="0" dirty="0"/>
              <a:t>τ</a:t>
            </a:r>
            <a:r>
              <a:rPr lang="en-US" sz="2400" i="1" kern="0" dirty="0"/>
              <a:t>)</a:t>
            </a:r>
          </a:p>
        </p:txBody>
      </p:sp>
      <p:sp>
        <p:nvSpPr>
          <p:cNvPr id="25" name="Title 4"/>
          <p:cNvSpPr txBox="1">
            <a:spLocks/>
          </p:cNvSpPr>
          <p:nvPr/>
        </p:nvSpPr>
        <p:spPr bwMode="auto">
          <a:xfrm>
            <a:off x="6890555" y="3671653"/>
            <a:ext cx="1936375"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l"/>
            <a:r>
              <a:rPr lang="en-US" sz="2400" i="1" kern="0" dirty="0"/>
              <a:t>x(</a:t>
            </a:r>
            <a:r>
              <a:rPr lang="el-GR" sz="2400" i="1" kern="0" dirty="0"/>
              <a:t>τ</a:t>
            </a:r>
            <a:r>
              <a:rPr lang="en-US" sz="2400" i="1" kern="0" dirty="0"/>
              <a:t>)h(t-</a:t>
            </a:r>
            <a:r>
              <a:rPr lang="el-GR" sz="2400" i="1" kern="0" dirty="0"/>
              <a:t>τ</a:t>
            </a:r>
            <a:r>
              <a:rPr lang="en-US" sz="2400" i="1" kern="0" dirty="0"/>
              <a:t>)</a:t>
            </a:r>
          </a:p>
        </p:txBody>
      </p:sp>
      <p:cxnSp>
        <p:nvCxnSpPr>
          <p:cNvPr id="26" name="Straight Arrow Connector 25"/>
          <p:cNvCxnSpPr/>
          <p:nvPr/>
        </p:nvCxnSpPr>
        <p:spPr bwMode="auto">
          <a:xfrm>
            <a:off x="4787154" y="3979016"/>
            <a:ext cx="57822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27" name="Straight Arrow Connector 26"/>
          <p:cNvCxnSpPr/>
          <p:nvPr/>
        </p:nvCxnSpPr>
        <p:spPr bwMode="auto">
          <a:xfrm>
            <a:off x="6311155" y="3979016"/>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29" name="Title 4"/>
          <p:cNvSpPr txBox="1">
            <a:spLocks/>
          </p:cNvSpPr>
          <p:nvPr/>
        </p:nvSpPr>
        <p:spPr bwMode="auto">
          <a:xfrm>
            <a:off x="5374341" y="4577081"/>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30" name="Title 4"/>
          <p:cNvSpPr txBox="1">
            <a:spLocks/>
          </p:cNvSpPr>
          <p:nvPr/>
        </p:nvSpPr>
        <p:spPr bwMode="auto">
          <a:xfrm>
            <a:off x="3012142" y="4577081"/>
            <a:ext cx="1828801"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x(</a:t>
            </a:r>
            <a:r>
              <a:rPr lang="el-GR" sz="2400" i="1" kern="0" dirty="0"/>
              <a:t>τ</a:t>
            </a:r>
            <a:r>
              <a:rPr lang="en-US" sz="2400" i="1" kern="0" dirty="0"/>
              <a:t>)δ(t-</a:t>
            </a:r>
            <a:r>
              <a:rPr lang="el-GR" sz="2400" i="1" kern="0" dirty="0"/>
              <a:t>τ</a:t>
            </a:r>
            <a:r>
              <a:rPr lang="en-US" sz="2400" i="1" kern="0" dirty="0"/>
              <a:t>)d</a:t>
            </a:r>
            <a:r>
              <a:rPr lang="el-GR" sz="2400" i="1" kern="0" dirty="0"/>
              <a:t>τ</a:t>
            </a:r>
            <a:endParaRPr lang="en-US" sz="2400" i="1" kern="0" dirty="0"/>
          </a:p>
        </p:txBody>
      </p:sp>
      <p:sp>
        <p:nvSpPr>
          <p:cNvPr id="31" name="Title 4"/>
          <p:cNvSpPr txBox="1">
            <a:spLocks/>
          </p:cNvSpPr>
          <p:nvPr/>
        </p:nvSpPr>
        <p:spPr bwMode="auto">
          <a:xfrm>
            <a:off x="7172856" y="4577081"/>
            <a:ext cx="1917354"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l"/>
            <a:r>
              <a:rPr lang="en-US" sz="2400" i="1" kern="0" dirty="0"/>
              <a:t>x(</a:t>
            </a:r>
            <a:r>
              <a:rPr lang="el-GR" sz="2400" i="1" kern="0" dirty="0"/>
              <a:t>τ</a:t>
            </a:r>
            <a:r>
              <a:rPr lang="en-US" sz="2400" i="1" kern="0" dirty="0"/>
              <a:t>)h(t-</a:t>
            </a:r>
            <a:r>
              <a:rPr lang="el-GR" sz="2400" i="1" kern="0" dirty="0"/>
              <a:t>τ</a:t>
            </a:r>
            <a:r>
              <a:rPr lang="en-US" sz="2400" i="1" kern="0" dirty="0"/>
              <a:t>)d</a:t>
            </a:r>
            <a:r>
              <a:rPr lang="el-GR" sz="2400" i="1" kern="0" dirty="0"/>
              <a:t>τ</a:t>
            </a:r>
            <a:endParaRPr lang="en-US" sz="2400" i="1" kern="0" dirty="0"/>
          </a:p>
        </p:txBody>
      </p:sp>
      <p:cxnSp>
        <p:nvCxnSpPr>
          <p:cNvPr id="32" name="Straight Arrow Connector 31"/>
          <p:cNvCxnSpPr/>
          <p:nvPr/>
        </p:nvCxnSpPr>
        <p:spPr bwMode="auto">
          <a:xfrm>
            <a:off x="4809566" y="4884444"/>
            <a:ext cx="555811"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33" name="Straight Arrow Connector 32"/>
          <p:cNvCxnSpPr/>
          <p:nvPr/>
        </p:nvCxnSpPr>
        <p:spPr bwMode="auto">
          <a:xfrm>
            <a:off x="6311155" y="4884444"/>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36" name="Title 4"/>
          <p:cNvSpPr txBox="1">
            <a:spLocks/>
          </p:cNvSpPr>
          <p:nvPr/>
        </p:nvSpPr>
        <p:spPr bwMode="auto">
          <a:xfrm>
            <a:off x="5374341" y="5872905"/>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37" name="Title 4"/>
          <p:cNvSpPr txBox="1">
            <a:spLocks/>
          </p:cNvSpPr>
          <p:nvPr/>
        </p:nvSpPr>
        <p:spPr bwMode="auto">
          <a:xfrm>
            <a:off x="4075580" y="5872905"/>
            <a:ext cx="765362"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x(t)</a:t>
            </a:r>
          </a:p>
        </p:txBody>
      </p:sp>
      <p:sp>
        <p:nvSpPr>
          <p:cNvPr id="38" name="Title 4"/>
          <p:cNvSpPr txBox="1">
            <a:spLocks/>
          </p:cNvSpPr>
          <p:nvPr/>
        </p:nvSpPr>
        <p:spPr bwMode="auto">
          <a:xfrm>
            <a:off x="7172856" y="5872905"/>
            <a:ext cx="1782884"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l"/>
            <a:r>
              <a:rPr lang="en-US" sz="2400" i="1" kern="0" dirty="0"/>
              <a:t>x(</a:t>
            </a:r>
            <a:r>
              <a:rPr lang="el-GR" sz="2400" i="1" kern="0" dirty="0"/>
              <a:t>τ</a:t>
            </a:r>
            <a:r>
              <a:rPr lang="en-US" sz="2400" i="1" kern="0" dirty="0"/>
              <a:t>)h(t-</a:t>
            </a:r>
            <a:r>
              <a:rPr lang="el-GR" sz="2400" i="1" kern="0" dirty="0"/>
              <a:t>τ</a:t>
            </a:r>
            <a:r>
              <a:rPr lang="en-US" sz="2400" i="1" kern="0" dirty="0"/>
              <a:t>)d</a:t>
            </a:r>
            <a:r>
              <a:rPr lang="el-GR" sz="2400" i="1" kern="0" dirty="0"/>
              <a:t>τ</a:t>
            </a:r>
            <a:endParaRPr lang="en-US" sz="2400" i="1" kern="0" dirty="0"/>
          </a:p>
        </p:txBody>
      </p:sp>
      <p:cxnSp>
        <p:nvCxnSpPr>
          <p:cNvPr id="39" name="Straight Arrow Connector 38"/>
          <p:cNvCxnSpPr/>
          <p:nvPr/>
        </p:nvCxnSpPr>
        <p:spPr bwMode="auto">
          <a:xfrm>
            <a:off x="4831978" y="6180268"/>
            <a:ext cx="533399"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40" name="Straight Arrow Connector 39"/>
          <p:cNvCxnSpPr/>
          <p:nvPr/>
        </p:nvCxnSpPr>
        <p:spPr bwMode="auto">
          <a:xfrm>
            <a:off x="6311155" y="6180268"/>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graphicFrame>
        <p:nvGraphicFramePr>
          <p:cNvPr id="41" name="Object 11"/>
          <p:cNvGraphicFramePr>
            <a:graphicFrameLocks noChangeAspect="1"/>
          </p:cNvGraphicFramePr>
          <p:nvPr>
            <p:extLst>
              <p:ext uri="{D42A27DB-BD31-4B8C-83A1-F6EECF244321}">
                <p14:modId xmlns:p14="http://schemas.microsoft.com/office/powerpoint/2010/main" val="2283137414"/>
              </p:ext>
            </p:extLst>
          </p:nvPr>
        </p:nvGraphicFramePr>
        <p:xfrm>
          <a:off x="2823184" y="4141494"/>
          <a:ext cx="769937" cy="1485900"/>
        </p:xfrm>
        <a:graphic>
          <a:graphicData uri="http://schemas.openxmlformats.org/presentationml/2006/ole">
            <mc:AlternateContent xmlns:mc="http://schemas.openxmlformats.org/markup-compatibility/2006">
              <mc:Choice xmlns:v="urn:schemas-microsoft-com:vml" Requires="v">
                <p:oleObj name="Equation" r:id="rId4" imgW="380880" imgH="736560" progId="Equation.DSMT4">
                  <p:embed/>
                </p:oleObj>
              </mc:Choice>
              <mc:Fallback>
                <p:oleObj name="Equation" r:id="rId4" imgW="380880" imgH="736560" progId="Equation.DSMT4">
                  <p:embed/>
                  <p:pic>
                    <p:nvPicPr>
                      <p:cNvPr id="0" name=""/>
                      <p:cNvPicPr>
                        <a:picLocks noChangeAspect="1" noChangeArrowheads="1"/>
                      </p:cNvPicPr>
                      <p:nvPr/>
                    </p:nvPicPr>
                    <p:blipFill>
                      <a:blip r:embed="rId5"/>
                      <a:srcRect/>
                      <a:stretch>
                        <a:fillRect/>
                      </a:stretch>
                    </p:blipFill>
                    <p:spPr bwMode="auto">
                      <a:xfrm>
                        <a:off x="2823184" y="4141494"/>
                        <a:ext cx="769937" cy="1485900"/>
                      </a:xfrm>
                      <a:prstGeom prst="rect">
                        <a:avLst/>
                      </a:prstGeom>
                      <a:noFill/>
                      <a:ln>
                        <a:noFill/>
                      </a:ln>
                      <a:effectLst/>
                    </p:spPr>
                  </p:pic>
                </p:oleObj>
              </mc:Fallback>
            </mc:AlternateContent>
          </a:graphicData>
        </a:graphic>
      </p:graphicFrame>
      <p:graphicFrame>
        <p:nvGraphicFramePr>
          <p:cNvPr id="43" name="Object 11"/>
          <p:cNvGraphicFramePr>
            <a:graphicFrameLocks noChangeAspect="1"/>
          </p:cNvGraphicFramePr>
          <p:nvPr>
            <p:extLst>
              <p:ext uri="{D42A27DB-BD31-4B8C-83A1-F6EECF244321}">
                <p14:modId xmlns:p14="http://schemas.microsoft.com/office/powerpoint/2010/main" val="3834360937"/>
              </p:ext>
            </p:extLst>
          </p:nvPr>
        </p:nvGraphicFramePr>
        <p:xfrm>
          <a:off x="6841676" y="4141494"/>
          <a:ext cx="769937" cy="1485900"/>
        </p:xfrm>
        <a:graphic>
          <a:graphicData uri="http://schemas.openxmlformats.org/presentationml/2006/ole">
            <mc:AlternateContent xmlns:mc="http://schemas.openxmlformats.org/markup-compatibility/2006">
              <mc:Choice xmlns:v="urn:schemas-microsoft-com:vml" Requires="v">
                <p:oleObj name="Equation" r:id="rId6" imgW="380880" imgH="736560" progId="Equation.DSMT4">
                  <p:embed/>
                </p:oleObj>
              </mc:Choice>
              <mc:Fallback>
                <p:oleObj name="Equation" r:id="rId6" imgW="380880" imgH="736560" progId="Equation.DSMT4">
                  <p:embed/>
                  <p:pic>
                    <p:nvPicPr>
                      <p:cNvPr id="0" name=""/>
                      <p:cNvPicPr>
                        <a:picLocks noChangeAspect="1" noChangeArrowheads="1"/>
                      </p:cNvPicPr>
                      <p:nvPr/>
                    </p:nvPicPr>
                    <p:blipFill>
                      <a:blip r:embed="rId7"/>
                      <a:srcRect/>
                      <a:stretch>
                        <a:fillRect/>
                      </a:stretch>
                    </p:blipFill>
                    <p:spPr bwMode="auto">
                      <a:xfrm>
                        <a:off x="6841676" y="4141494"/>
                        <a:ext cx="769937" cy="1485900"/>
                      </a:xfrm>
                      <a:prstGeom prst="rect">
                        <a:avLst/>
                      </a:prstGeom>
                      <a:noFill/>
                      <a:ln>
                        <a:noFill/>
                      </a:ln>
                      <a:effectLst/>
                    </p:spPr>
                  </p:pic>
                </p:oleObj>
              </mc:Fallback>
            </mc:AlternateContent>
          </a:graphicData>
        </a:graphic>
      </p:graphicFrame>
      <p:graphicFrame>
        <p:nvGraphicFramePr>
          <p:cNvPr id="44" name="Object 11"/>
          <p:cNvGraphicFramePr>
            <a:graphicFrameLocks noChangeAspect="1"/>
          </p:cNvGraphicFramePr>
          <p:nvPr>
            <p:extLst>
              <p:ext uri="{D42A27DB-BD31-4B8C-83A1-F6EECF244321}">
                <p14:modId xmlns:p14="http://schemas.microsoft.com/office/powerpoint/2010/main" val="1812383572"/>
              </p:ext>
            </p:extLst>
          </p:nvPr>
        </p:nvGraphicFramePr>
        <p:xfrm>
          <a:off x="6841676" y="5437318"/>
          <a:ext cx="769937" cy="1485900"/>
        </p:xfrm>
        <a:graphic>
          <a:graphicData uri="http://schemas.openxmlformats.org/presentationml/2006/ole">
            <mc:AlternateContent xmlns:mc="http://schemas.openxmlformats.org/markup-compatibility/2006">
              <mc:Choice xmlns:v="urn:schemas-microsoft-com:vml" Requires="v">
                <p:oleObj name="Equation" r:id="rId6" imgW="380880" imgH="736560" progId="Equation.DSMT4">
                  <p:embed/>
                </p:oleObj>
              </mc:Choice>
              <mc:Fallback>
                <p:oleObj name="Equation" r:id="rId6" imgW="380880" imgH="736560" progId="Equation.DSMT4">
                  <p:embed/>
                  <p:pic>
                    <p:nvPicPr>
                      <p:cNvPr id="0" name=""/>
                      <p:cNvPicPr>
                        <a:picLocks noChangeAspect="1" noChangeArrowheads="1"/>
                      </p:cNvPicPr>
                      <p:nvPr/>
                    </p:nvPicPr>
                    <p:blipFill>
                      <a:blip r:embed="rId7"/>
                      <a:srcRect/>
                      <a:stretch>
                        <a:fillRect/>
                      </a:stretch>
                    </p:blipFill>
                    <p:spPr bwMode="auto">
                      <a:xfrm>
                        <a:off x="6841676" y="5437318"/>
                        <a:ext cx="769937" cy="1485900"/>
                      </a:xfrm>
                      <a:prstGeom prst="rect">
                        <a:avLst/>
                      </a:prstGeom>
                      <a:noFill/>
                      <a:ln>
                        <a:noFill/>
                      </a:ln>
                      <a:effectLst/>
                    </p:spPr>
                  </p:pic>
                </p:oleObj>
              </mc:Fallback>
            </mc:AlternateContent>
          </a:graphicData>
        </a:graphic>
      </p:graphicFrame>
      <p:sp>
        <p:nvSpPr>
          <p:cNvPr id="2" name="Rectangle 1"/>
          <p:cNvSpPr/>
          <p:nvPr/>
        </p:nvSpPr>
        <p:spPr bwMode="auto">
          <a:xfrm>
            <a:off x="3971365" y="914400"/>
            <a:ext cx="3749428" cy="842682"/>
          </a:xfrm>
          <a:prstGeom prst="rect">
            <a:avLst/>
          </a:prstGeom>
          <a:solidFill>
            <a:srgbClr val="FFC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err="1"/>
          </a:p>
        </p:txBody>
      </p:sp>
      <p:sp>
        <p:nvSpPr>
          <p:cNvPr id="45" name="Rectangle 44"/>
          <p:cNvSpPr/>
          <p:nvPr/>
        </p:nvSpPr>
        <p:spPr bwMode="auto">
          <a:xfrm>
            <a:off x="3971365" y="5527662"/>
            <a:ext cx="5118845" cy="1330338"/>
          </a:xfrm>
          <a:prstGeom prst="rect">
            <a:avLst/>
          </a:prstGeom>
          <a:solidFill>
            <a:srgbClr val="FFC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err="1"/>
          </a:p>
        </p:txBody>
      </p:sp>
      <p:cxnSp>
        <p:nvCxnSpPr>
          <p:cNvPr id="10" name="Elbow Connector 9"/>
          <p:cNvCxnSpPr>
            <a:stCxn id="9" idx="3"/>
            <a:endCxn id="45" idx="3"/>
          </p:cNvCxnSpPr>
          <p:nvPr/>
        </p:nvCxnSpPr>
        <p:spPr bwMode="auto">
          <a:xfrm>
            <a:off x="7720793" y="1346867"/>
            <a:ext cx="1369416" cy="4845965"/>
          </a:xfrm>
          <a:prstGeom prst="curvedConnector3">
            <a:avLst>
              <a:gd name="adj1" fmla="val 116693"/>
            </a:avLst>
          </a:prstGeom>
          <a:solidFill>
            <a:schemeClr val="accent1"/>
          </a:solidFill>
          <a:ln w="63500" cap="flat" cmpd="sng" algn="ctr">
            <a:solidFill>
              <a:srgbClr val="FFC000"/>
            </a:solidFill>
            <a:prstDash val="solid"/>
            <a:round/>
            <a:headEnd type="none" w="med" len="med"/>
            <a:tailEnd type="triangle"/>
          </a:ln>
          <a:effectLst/>
        </p:spPr>
      </p:cxnSp>
    </p:spTree>
    <p:extLst>
      <p:ext uri="{BB962C8B-B14F-4D97-AF65-F5344CB8AC3E}">
        <p14:creationId xmlns:p14="http://schemas.microsoft.com/office/powerpoint/2010/main" val="27552347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 as Convolution</a:t>
            </a:r>
          </a:p>
        </p:txBody>
      </p:sp>
      <p:sp>
        <p:nvSpPr>
          <p:cNvPr id="3" name="Content Placeholder 2"/>
          <p:cNvSpPr>
            <a:spLocks noGrp="1"/>
          </p:cNvSpPr>
          <p:nvPr>
            <p:ph idx="1"/>
          </p:nvPr>
        </p:nvSpPr>
        <p:spPr>
          <a:xfrm>
            <a:off x="2283709" y="1260649"/>
            <a:ext cx="7851059" cy="1674806"/>
          </a:xfrm>
        </p:spPr>
        <p:txBody>
          <a:bodyPr/>
          <a:lstStyle/>
          <a:p>
            <a:r>
              <a:rPr lang="en-US" dirty="0"/>
              <a:t>Express Input as Many Impulses</a:t>
            </a:r>
          </a:p>
          <a:p>
            <a:r>
              <a:rPr lang="en-US" dirty="0"/>
              <a:t>Have the Response to Each Impulse</a:t>
            </a:r>
          </a:p>
          <a:p>
            <a:r>
              <a:rPr lang="en-US" dirty="0"/>
              <a:t>Sum All the Responses to Form the Output</a:t>
            </a:r>
          </a:p>
        </p:txBody>
      </p:sp>
      <p:graphicFrame>
        <p:nvGraphicFramePr>
          <p:cNvPr id="5" name="Object 11"/>
          <p:cNvGraphicFramePr>
            <a:graphicFrameLocks noChangeAspect="1"/>
          </p:cNvGraphicFramePr>
          <p:nvPr/>
        </p:nvGraphicFramePr>
        <p:xfrm>
          <a:off x="4060817" y="3078448"/>
          <a:ext cx="5666151" cy="1203626"/>
        </p:xfrm>
        <a:graphic>
          <a:graphicData uri="http://schemas.openxmlformats.org/presentationml/2006/ole">
            <mc:AlternateContent xmlns:mc="http://schemas.openxmlformats.org/markup-compatibility/2006">
              <mc:Choice xmlns:v="urn:schemas-microsoft-com:vml" Requires="v">
                <p:oleObj name="Equation" r:id="rId3" imgW="3225600" imgH="685800" progId="Equation.DSMT4">
                  <p:embed/>
                </p:oleObj>
              </mc:Choice>
              <mc:Fallback>
                <p:oleObj name="Equation" r:id="rId3" imgW="3225600" imgH="685800" progId="Equation.DSMT4">
                  <p:embed/>
                  <p:pic>
                    <p:nvPicPr>
                      <p:cNvPr id="5" name="Object 11"/>
                      <p:cNvPicPr>
                        <a:picLocks noChangeAspect="1" noChangeArrowheads="1"/>
                      </p:cNvPicPr>
                      <p:nvPr/>
                    </p:nvPicPr>
                    <p:blipFill>
                      <a:blip r:embed="rId4"/>
                      <a:srcRect/>
                      <a:stretch>
                        <a:fillRect/>
                      </a:stretch>
                    </p:blipFill>
                    <p:spPr bwMode="auto">
                      <a:xfrm>
                        <a:off x="4060817" y="3078448"/>
                        <a:ext cx="5666151" cy="1203626"/>
                      </a:xfrm>
                      <a:prstGeom prst="rect">
                        <a:avLst/>
                      </a:prstGeom>
                      <a:noFill/>
                      <a:ln>
                        <a:noFill/>
                      </a:ln>
                      <a:effectLst/>
                    </p:spPr>
                  </p:pic>
                </p:oleObj>
              </mc:Fallback>
            </mc:AlternateContent>
          </a:graphicData>
        </a:graphic>
      </p:graphicFrame>
      <p:graphicFrame>
        <p:nvGraphicFramePr>
          <p:cNvPr id="6" name="Object 11"/>
          <p:cNvGraphicFramePr>
            <a:graphicFrameLocks noChangeAspect="1"/>
          </p:cNvGraphicFramePr>
          <p:nvPr/>
        </p:nvGraphicFramePr>
        <p:xfrm>
          <a:off x="4060816" y="4923585"/>
          <a:ext cx="5220312" cy="869592"/>
        </p:xfrm>
        <a:graphic>
          <a:graphicData uri="http://schemas.openxmlformats.org/presentationml/2006/ole">
            <mc:AlternateContent xmlns:mc="http://schemas.openxmlformats.org/markup-compatibility/2006">
              <mc:Choice xmlns:v="urn:schemas-microsoft-com:vml" Requires="v">
                <p:oleObj name="Equation" r:id="rId5" imgW="2971800" imgH="495000" progId="Equation.DSMT4">
                  <p:embed/>
                </p:oleObj>
              </mc:Choice>
              <mc:Fallback>
                <p:oleObj name="Equation" r:id="rId5" imgW="2971800" imgH="495000" progId="Equation.DSMT4">
                  <p:embed/>
                  <p:pic>
                    <p:nvPicPr>
                      <p:cNvPr id="6" name="Object 11"/>
                      <p:cNvPicPr>
                        <a:picLocks noChangeAspect="1" noChangeArrowheads="1"/>
                      </p:cNvPicPr>
                      <p:nvPr/>
                    </p:nvPicPr>
                    <p:blipFill>
                      <a:blip r:embed="rId6"/>
                      <a:srcRect/>
                      <a:stretch>
                        <a:fillRect/>
                      </a:stretch>
                    </p:blipFill>
                    <p:spPr bwMode="auto">
                      <a:xfrm>
                        <a:off x="4060816" y="4923585"/>
                        <a:ext cx="5220312" cy="869592"/>
                      </a:xfrm>
                      <a:prstGeom prst="rect">
                        <a:avLst/>
                      </a:prstGeom>
                      <a:noFill/>
                      <a:ln>
                        <a:noFill/>
                      </a:ln>
                      <a:effectLst/>
                    </p:spPr>
                  </p:pic>
                </p:oleObj>
              </mc:Fallback>
            </mc:AlternateContent>
          </a:graphicData>
        </a:graphic>
      </p:graphicFrame>
      <p:pic>
        <p:nvPicPr>
          <p:cNvPr id="8" name="Picture 7" descr="http://www.magic-emoji.com/emoji/images/83_emoji_iphone_black_diamond_suit.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0800000">
            <a:off x="1905740" y="3364436"/>
            <a:ext cx="2476500" cy="2476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44193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Hands-on Example</a:t>
            </a:r>
          </a:p>
        </p:txBody>
      </p:sp>
      <p:pic>
        <p:nvPicPr>
          <p:cNvPr id="4" name="Picture 3"/>
          <p:cNvPicPr>
            <a:picLocks noChangeAspect="1"/>
          </p:cNvPicPr>
          <p:nvPr/>
        </p:nvPicPr>
        <p:blipFill>
          <a:blip r:embed="rId3"/>
          <a:stretch>
            <a:fillRect/>
          </a:stretch>
        </p:blipFill>
        <p:spPr>
          <a:xfrm>
            <a:off x="2156408" y="1067600"/>
            <a:ext cx="5419725" cy="5543550"/>
          </a:xfrm>
          <a:prstGeom prst="rect">
            <a:avLst/>
          </a:prstGeom>
        </p:spPr>
      </p:pic>
      <p:pic>
        <p:nvPicPr>
          <p:cNvPr id="5" name="Picture 4"/>
          <p:cNvPicPr>
            <a:picLocks noChangeAspect="1"/>
          </p:cNvPicPr>
          <p:nvPr/>
        </p:nvPicPr>
        <p:blipFill>
          <a:blip r:embed="rId4"/>
          <a:stretch>
            <a:fillRect/>
          </a:stretch>
        </p:blipFill>
        <p:spPr>
          <a:xfrm>
            <a:off x="6725750" y="1945105"/>
            <a:ext cx="2183130" cy="363855"/>
          </a:xfrm>
          <a:prstGeom prst="rect">
            <a:avLst/>
          </a:prstGeom>
        </p:spPr>
      </p:pic>
      <p:graphicFrame>
        <p:nvGraphicFramePr>
          <p:cNvPr id="6" name="Object 11">
            <a:extLst>
              <a:ext uri="{FF2B5EF4-FFF2-40B4-BE49-F238E27FC236}">
                <a16:creationId xmlns:a16="http://schemas.microsoft.com/office/drawing/2014/main" id="{516301E2-D920-60EA-3469-B3E00E9115CB}"/>
              </a:ext>
            </a:extLst>
          </p:cNvPr>
          <p:cNvGraphicFramePr>
            <a:graphicFrameLocks noChangeAspect="1"/>
          </p:cNvGraphicFramePr>
          <p:nvPr>
            <p:extLst>
              <p:ext uri="{D42A27DB-BD31-4B8C-83A1-F6EECF244321}">
                <p14:modId xmlns:p14="http://schemas.microsoft.com/office/powerpoint/2010/main" val="3405141463"/>
              </p:ext>
            </p:extLst>
          </p:nvPr>
        </p:nvGraphicFramePr>
        <p:xfrm>
          <a:off x="7420303" y="5056605"/>
          <a:ext cx="3095297" cy="515610"/>
        </p:xfrm>
        <a:graphic>
          <a:graphicData uri="http://schemas.openxmlformats.org/presentationml/2006/ole">
            <mc:AlternateContent xmlns:mc="http://schemas.openxmlformats.org/markup-compatibility/2006">
              <mc:Choice xmlns:v="urn:schemas-microsoft-com:vml" Requires="v">
                <p:oleObj name="Equation" r:id="rId5" imgW="2971800" imgH="495000" progId="Equation.DSMT4">
                  <p:embed/>
                </p:oleObj>
              </mc:Choice>
              <mc:Fallback>
                <p:oleObj name="Equation" r:id="rId5" imgW="2971800" imgH="495000" progId="Equation.DSMT4">
                  <p:embed/>
                  <p:pic>
                    <p:nvPicPr>
                      <p:cNvPr id="6" name="Object 11">
                        <a:extLst>
                          <a:ext uri="{FF2B5EF4-FFF2-40B4-BE49-F238E27FC236}">
                            <a16:creationId xmlns:a16="http://schemas.microsoft.com/office/drawing/2014/main" id="{E7D9A028-3B27-CAB5-92B7-234C90B988D9}"/>
                          </a:ext>
                        </a:extLst>
                      </p:cNvPr>
                      <p:cNvPicPr>
                        <a:picLocks noChangeAspect="1" noChangeArrowheads="1"/>
                      </p:cNvPicPr>
                      <p:nvPr/>
                    </p:nvPicPr>
                    <p:blipFill>
                      <a:blip r:embed="rId6"/>
                      <a:srcRect/>
                      <a:stretch>
                        <a:fillRect/>
                      </a:stretch>
                    </p:blipFill>
                    <p:spPr bwMode="auto">
                      <a:xfrm>
                        <a:off x="7420303" y="5056605"/>
                        <a:ext cx="3095297" cy="51561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511127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Hands-on Result</a:t>
            </a:r>
          </a:p>
        </p:txBody>
      </p:sp>
      <p:sp>
        <p:nvSpPr>
          <p:cNvPr id="5" name="Rectangle 4"/>
          <p:cNvSpPr/>
          <p:nvPr/>
        </p:nvSpPr>
        <p:spPr>
          <a:xfrm>
            <a:off x="1938670" y="2718598"/>
            <a:ext cx="2700670" cy="1754326"/>
          </a:xfrm>
          <a:prstGeom prst="rect">
            <a:avLst/>
          </a:prstGeom>
        </p:spPr>
        <p:txBody>
          <a:bodyPr wrap="square">
            <a:spAutoFit/>
          </a:bodyPr>
          <a:lstStyle/>
          <a:p>
            <a:r>
              <a:rPr lang="en-US" sz="1800" b="1" dirty="0">
                <a:latin typeface="+mn-lt"/>
              </a:rPr>
              <a:t>&gt;&gt; </a:t>
            </a:r>
          </a:p>
          <a:p>
            <a:r>
              <a:rPr lang="en-US" sz="1800" b="1" dirty="0">
                <a:solidFill>
                  <a:srgbClr val="0000FF"/>
                </a:solidFill>
                <a:latin typeface="+mn-lt"/>
              </a:rPr>
              <a:t>x=[5 4 3 2 1];</a:t>
            </a:r>
          </a:p>
          <a:p>
            <a:r>
              <a:rPr lang="en-US" sz="1800" b="1" dirty="0">
                <a:solidFill>
                  <a:srgbClr val="0000FF"/>
                </a:solidFill>
                <a:latin typeface="+mn-lt"/>
              </a:rPr>
              <a:t>h=[1 2 3 4 5];</a:t>
            </a:r>
          </a:p>
          <a:p>
            <a:r>
              <a:rPr lang="en-US" sz="1800" b="1" dirty="0">
                <a:solidFill>
                  <a:srgbClr val="0000FF"/>
                </a:solidFill>
                <a:latin typeface="+mn-lt"/>
              </a:rPr>
              <a:t>y=</a:t>
            </a:r>
            <a:r>
              <a:rPr lang="en-US" sz="1800" b="1" dirty="0" err="1">
                <a:solidFill>
                  <a:srgbClr val="0000FF"/>
                </a:solidFill>
                <a:latin typeface="+mn-lt"/>
              </a:rPr>
              <a:t>conv</a:t>
            </a:r>
            <a:r>
              <a:rPr lang="en-US" sz="1800" b="1" dirty="0">
                <a:solidFill>
                  <a:srgbClr val="0000FF"/>
                </a:solidFill>
                <a:latin typeface="+mn-lt"/>
              </a:rPr>
              <a:t>(</a:t>
            </a:r>
            <a:r>
              <a:rPr lang="en-US" sz="1800" b="1" dirty="0" err="1">
                <a:solidFill>
                  <a:srgbClr val="0000FF"/>
                </a:solidFill>
                <a:latin typeface="+mn-lt"/>
              </a:rPr>
              <a:t>x,h</a:t>
            </a:r>
            <a:r>
              <a:rPr lang="en-US" sz="1800" b="1" dirty="0">
                <a:solidFill>
                  <a:srgbClr val="0000FF"/>
                </a:solidFill>
                <a:latin typeface="+mn-lt"/>
              </a:rPr>
              <a:t>);</a:t>
            </a:r>
          </a:p>
          <a:p>
            <a:r>
              <a:rPr lang="en-US" sz="1800" b="1" dirty="0">
                <a:solidFill>
                  <a:srgbClr val="0000FF"/>
                </a:solidFill>
                <a:latin typeface="+mn-lt"/>
              </a:rPr>
              <a:t>plot(y); </a:t>
            </a:r>
            <a:r>
              <a:rPr lang="en-US" sz="1800" b="1" dirty="0" err="1">
                <a:solidFill>
                  <a:srgbClr val="0000FF"/>
                </a:solidFill>
                <a:latin typeface="+mn-lt"/>
              </a:rPr>
              <a:t>ylim</a:t>
            </a:r>
            <a:r>
              <a:rPr lang="en-US" sz="1800" b="1" dirty="0">
                <a:solidFill>
                  <a:srgbClr val="0000FF"/>
                </a:solidFill>
                <a:latin typeface="+mn-lt"/>
              </a:rPr>
              <a:t>([0 100]);</a:t>
            </a:r>
          </a:p>
          <a:p>
            <a:r>
              <a:rPr lang="en-US" sz="1800" b="1" dirty="0">
                <a:latin typeface="+mn-lt"/>
              </a:rPr>
              <a:t>&gt;&gt;</a:t>
            </a:r>
          </a:p>
        </p:txBody>
      </p:sp>
      <p:pic>
        <p:nvPicPr>
          <p:cNvPr id="6" name="Picture 5"/>
          <p:cNvPicPr>
            <a:picLocks noChangeAspect="1"/>
          </p:cNvPicPr>
          <p:nvPr/>
        </p:nvPicPr>
        <p:blipFill>
          <a:blip r:embed="rId3"/>
          <a:stretch>
            <a:fillRect/>
          </a:stretch>
        </p:blipFill>
        <p:spPr>
          <a:xfrm>
            <a:off x="4798310" y="1473926"/>
            <a:ext cx="5338580" cy="4243670"/>
          </a:xfrm>
          <a:prstGeom prst="rect">
            <a:avLst/>
          </a:prstGeom>
        </p:spPr>
      </p:pic>
    </p:spTree>
    <p:extLst>
      <p:ext uri="{BB962C8B-B14F-4D97-AF65-F5344CB8AC3E}">
        <p14:creationId xmlns:p14="http://schemas.microsoft.com/office/powerpoint/2010/main" val="2073834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977051" y="557980"/>
            <a:ext cx="8381522" cy="5862485"/>
          </a:xfrm>
          <a:prstGeom prst="rect">
            <a:avLst/>
          </a:prstGeom>
        </p:spPr>
      </p:pic>
      <p:pic>
        <p:nvPicPr>
          <p:cNvPr id="4" name="Picture 3"/>
          <p:cNvPicPr>
            <a:picLocks noChangeAspect="1"/>
          </p:cNvPicPr>
          <p:nvPr/>
        </p:nvPicPr>
        <p:blipFill>
          <a:blip r:embed="rId4"/>
          <a:stretch>
            <a:fillRect/>
          </a:stretch>
        </p:blipFill>
        <p:spPr>
          <a:xfrm>
            <a:off x="9172576" y="1"/>
            <a:ext cx="1495425" cy="1400175"/>
          </a:xfrm>
          <a:prstGeom prst="rect">
            <a:avLst/>
          </a:prstGeom>
        </p:spPr>
      </p:pic>
    </p:spTree>
    <p:extLst>
      <p:ext uri="{BB962C8B-B14F-4D97-AF65-F5344CB8AC3E}">
        <p14:creationId xmlns:p14="http://schemas.microsoft.com/office/powerpoint/2010/main" val="18442420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4504096" y="1211195"/>
            <a:ext cx="5760321" cy="5595404"/>
          </a:xfrm>
          <a:prstGeom prst="rect">
            <a:avLst/>
          </a:prstGeom>
        </p:spPr>
      </p:pic>
      <p:pic>
        <p:nvPicPr>
          <p:cNvPr id="5" name="Picture 4"/>
          <p:cNvPicPr>
            <a:picLocks noChangeAspect="1"/>
          </p:cNvPicPr>
          <p:nvPr/>
        </p:nvPicPr>
        <p:blipFill>
          <a:blip r:embed="rId4"/>
          <a:stretch>
            <a:fillRect/>
          </a:stretch>
        </p:blipFill>
        <p:spPr>
          <a:xfrm>
            <a:off x="9172576" y="1"/>
            <a:ext cx="1495425" cy="1400175"/>
          </a:xfrm>
          <a:prstGeom prst="rect">
            <a:avLst/>
          </a:prstGeom>
        </p:spPr>
      </p:pic>
      <p:pic>
        <p:nvPicPr>
          <p:cNvPr id="2" name="Picture 1"/>
          <p:cNvPicPr>
            <a:picLocks noChangeAspect="1"/>
          </p:cNvPicPr>
          <p:nvPr/>
        </p:nvPicPr>
        <p:blipFill>
          <a:blip r:embed="rId5"/>
          <a:stretch>
            <a:fillRect/>
          </a:stretch>
        </p:blipFill>
        <p:spPr>
          <a:xfrm>
            <a:off x="2017456" y="225221"/>
            <a:ext cx="1512324" cy="1971951"/>
          </a:xfrm>
          <a:prstGeom prst="rect">
            <a:avLst/>
          </a:prstGeom>
        </p:spPr>
      </p:pic>
      <p:cxnSp>
        <p:nvCxnSpPr>
          <p:cNvPr id="6" name="Curved Connector 5"/>
          <p:cNvCxnSpPr>
            <a:stCxn id="2" idx="2"/>
            <a:endCxn id="3" idx="1"/>
          </p:cNvCxnSpPr>
          <p:nvPr/>
        </p:nvCxnSpPr>
        <p:spPr bwMode="auto">
          <a:xfrm rot="16200000" flipH="1">
            <a:off x="2732993" y="2237796"/>
            <a:ext cx="1811726" cy="1730477"/>
          </a:xfrm>
          <a:prstGeom prst="curvedConnector2">
            <a:avLst/>
          </a:prstGeom>
          <a:solidFill>
            <a:schemeClr val="accent1"/>
          </a:solidFill>
          <a:ln w="63500" cap="flat" cmpd="sng" algn="ctr">
            <a:solidFill>
              <a:srgbClr val="7030A0"/>
            </a:solidFill>
            <a:prstDash val="solid"/>
            <a:round/>
            <a:headEnd type="none" w="med" len="med"/>
            <a:tailEnd type="triangle"/>
          </a:ln>
          <a:effectLst/>
        </p:spPr>
      </p:cxnSp>
    </p:spTree>
    <p:extLst>
      <p:ext uri="{BB962C8B-B14F-4D97-AF65-F5344CB8AC3E}">
        <p14:creationId xmlns:p14="http://schemas.microsoft.com/office/powerpoint/2010/main" val="36555961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Minds-on Example</a:t>
            </a:r>
          </a:p>
        </p:txBody>
      </p:sp>
      <p:sp>
        <p:nvSpPr>
          <p:cNvPr id="4" name="Rectangle 56"/>
          <p:cNvSpPr txBox="1">
            <a:spLocks noChangeArrowheads="1"/>
          </p:cNvSpPr>
          <p:nvPr/>
        </p:nvSpPr>
        <p:spPr>
          <a:xfrm>
            <a:off x="1638300" y="1066800"/>
            <a:ext cx="8839200" cy="4419600"/>
          </a:xfrm>
          <a:prstGeom prst="rect">
            <a:avLst/>
          </a:prstGeom>
        </p:spPr>
        <p:txBody>
          <a:bodyPr/>
          <a:lstStyle>
            <a:lvl1pPr marL="0" indent="0" algn="l" rtl="0" fontAlgn="base">
              <a:spcBef>
                <a:spcPct val="20000"/>
              </a:spcBef>
              <a:spcAft>
                <a:spcPct val="0"/>
              </a:spcAft>
              <a:buClr>
                <a:srgbClr val="691638"/>
              </a:buClr>
              <a:buNone/>
              <a:defRPr sz="2800">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a:lnSpc>
                <a:spcPct val="90000"/>
              </a:lnSpc>
            </a:pPr>
            <a:r>
              <a:rPr lang="en-US" altLang="en-US" kern="0"/>
              <a:t>Convolve the following two functions:</a:t>
            </a:r>
          </a:p>
          <a:p>
            <a:pPr>
              <a:lnSpc>
                <a:spcPct val="90000"/>
              </a:lnSpc>
            </a:pPr>
            <a:endParaRPr lang="en-US" altLang="en-US" kern="0"/>
          </a:p>
          <a:p>
            <a:pPr>
              <a:lnSpc>
                <a:spcPct val="90000"/>
              </a:lnSpc>
            </a:pPr>
            <a:endParaRPr lang="en-US" altLang="en-US" kern="0"/>
          </a:p>
          <a:p>
            <a:pPr>
              <a:lnSpc>
                <a:spcPct val="90000"/>
              </a:lnSpc>
            </a:pPr>
            <a:endParaRPr lang="en-US" altLang="en-US" kern="0"/>
          </a:p>
          <a:p>
            <a:pPr>
              <a:lnSpc>
                <a:spcPct val="90000"/>
              </a:lnSpc>
            </a:pPr>
            <a:endParaRPr lang="en-US" altLang="en-US" kern="0"/>
          </a:p>
          <a:p>
            <a:pPr>
              <a:lnSpc>
                <a:spcPct val="90000"/>
              </a:lnSpc>
            </a:pPr>
            <a:r>
              <a:rPr lang="en-US" altLang="en-US" kern="0"/>
              <a:t>Replace </a:t>
            </a:r>
            <a:r>
              <a:rPr lang="en-US" altLang="en-US" i="1" kern="0">
                <a:solidFill>
                  <a:schemeClr val="tx1"/>
                </a:solidFill>
              </a:rPr>
              <a:t>t</a:t>
            </a:r>
            <a:r>
              <a:rPr lang="en-US" altLang="en-US" kern="0"/>
              <a:t> with </a:t>
            </a:r>
            <a:r>
              <a:rPr lang="en-US" altLang="en-US" i="1" kern="0">
                <a:solidFill>
                  <a:schemeClr val="tx1"/>
                </a:solidFill>
                <a:latin typeface="Symbol" panose="05050102010706020507" pitchFamily="18" charset="2"/>
              </a:rPr>
              <a:t>t  </a:t>
            </a:r>
            <a:r>
              <a:rPr lang="en-US" altLang="en-US" kern="0"/>
              <a:t>in </a:t>
            </a:r>
            <a:r>
              <a:rPr lang="en-US" altLang="en-US" i="1" kern="0">
                <a:solidFill>
                  <a:schemeClr val="tx1"/>
                </a:solidFill>
              </a:rPr>
              <a:t>f</a:t>
            </a:r>
            <a:r>
              <a:rPr lang="en-US" altLang="en-US" kern="0">
                <a:solidFill>
                  <a:schemeClr val="tx1"/>
                </a:solidFill>
              </a:rPr>
              <a:t>(</a:t>
            </a:r>
            <a:r>
              <a:rPr lang="en-US" altLang="en-US" i="1" kern="0">
                <a:solidFill>
                  <a:schemeClr val="tx1"/>
                </a:solidFill>
              </a:rPr>
              <a:t>t</a:t>
            </a:r>
            <a:r>
              <a:rPr lang="en-US" altLang="en-US" kern="0">
                <a:solidFill>
                  <a:schemeClr val="tx1"/>
                </a:solidFill>
              </a:rPr>
              <a:t>)</a:t>
            </a:r>
            <a:r>
              <a:rPr lang="en-US" altLang="en-US" kern="0"/>
              <a:t> and </a:t>
            </a:r>
            <a:r>
              <a:rPr lang="en-US" altLang="en-US" i="1" kern="0">
                <a:solidFill>
                  <a:schemeClr val="tx1"/>
                </a:solidFill>
              </a:rPr>
              <a:t>g</a:t>
            </a:r>
            <a:r>
              <a:rPr lang="en-US" altLang="en-US" kern="0">
                <a:solidFill>
                  <a:schemeClr val="tx1"/>
                </a:solidFill>
              </a:rPr>
              <a:t>(</a:t>
            </a:r>
            <a:r>
              <a:rPr lang="en-US" altLang="en-US" i="1" kern="0">
                <a:solidFill>
                  <a:schemeClr val="tx1"/>
                </a:solidFill>
              </a:rPr>
              <a:t>t</a:t>
            </a:r>
            <a:r>
              <a:rPr lang="en-US" altLang="en-US" kern="0">
                <a:solidFill>
                  <a:schemeClr val="tx1"/>
                </a:solidFill>
              </a:rPr>
              <a:t>)</a:t>
            </a:r>
            <a:r>
              <a:rPr lang="en-US" altLang="en-US" kern="0"/>
              <a:t> </a:t>
            </a:r>
          </a:p>
          <a:p>
            <a:pPr>
              <a:lnSpc>
                <a:spcPct val="90000"/>
              </a:lnSpc>
            </a:pPr>
            <a:r>
              <a:rPr lang="en-US" altLang="en-US" kern="0"/>
              <a:t>Choose to flip and slide </a:t>
            </a:r>
            <a:r>
              <a:rPr lang="en-US" altLang="en-US" i="1" kern="0">
                <a:solidFill>
                  <a:schemeClr val="tx1"/>
                </a:solidFill>
              </a:rPr>
              <a:t>g</a:t>
            </a:r>
            <a:r>
              <a:rPr lang="en-US" altLang="en-US" kern="0">
                <a:solidFill>
                  <a:schemeClr val="tx1"/>
                </a:solidFill>
              </a:rPr>
              <a:t>(</a:t>
            </a:r>
            <a:r>
              <a:rPr lang="en-US" altLang="en-US" i="1" kern="0">
                <a:solidFill>
                  <a:schemeClr val="tx1"/>
                </a:solidFill>
                <a:latin typeface="Symbol" panose="05050102010706020507" pitchFamily="18" charset="2"/>
              </a:rPr>
              <a:t>t</a:t>
            </a:r>
            <a:r>
              <a:rPr lang="en-US" altLang="en-US" kern="0">
                <a:solidFill>
                  <a:schemeClr val="tx1"/>
                </a:solidFill>
              </a:rPr>
              <a:t>)</a:t>
            </a:r>
            <a:r>
              <a:rPr lang="en-US" altLang="en-US" kern="0"/>
              <a:t> since it is simpler and symmetric</a:t>
            </a:r>
          </a:p>
          <a:p>
            <a:pPr>
              <a:lnSpc>
                <a:spcPct val="90000"/>
              </a:lnSpc>
            </a:pPr>
            <a:r>
              <a:rPr lang="en-US" altLang="en-US" kern="0"/>
              <a:t>Functions may overlap:</a:t>
            </a:r>
            <a:endParaRPr lang="en-US" altLang="en-US" kern="0" dirty="0"/>
          </a:p>
        </p:txBody>
      </p:sp>
      <p:grpSp>
        <p:nvGrpSpPr>
          <p:cNvPr id="5" name="Group 57"/>
          <p:cNvGrpSpPr>
            <a:grpSpLocks/>
          </p:cNvGrpSpPr>
          <p:nvPr/>
        </p:nvGrpSpPr>
        <p:grpSpPr bwMode="auto">
          <a:xfrm>
            <a:off x="7010400" y="5029200"/>
            <a:ext cx="2438400" cy="1676400"/>
            <a:chOff x="3456" y="3168"/>
            <a:chExt cx="1536" cy="1056"/>
          </a:xfrm>
        </p:grpSpPr>
        <p:sp>
          <p:nvSpPr>
            <p:cNvPr id="6" name="Line 6"/>
            <p:cNvSpPr>
              <a:spLocks noChangeShapeType="1"/>
            </p:cNvSpPr>
            <p:nvPr/>
          </p:nvSpPr>
          <p:spPr bwMode="auto">
            <a:xfrm>
              <a:off x="3456" y="3936"/>
              <a:ext cx="1296"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7"/>
            <p:cNvSpPr>
              <a:spLocks noChangeShapeType="1"/>
            </p:cNvSpPr>
            <p:nvPr/>
          </p:nvSpPr>
          <p:spPr bwMode="auto">
            <a:xfrm>
              <a:off x="4128" y="3168"/>
              <a:ext cx="0" cy="864"/>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Text Box 8"/>
            <p:cNvSpPr txBox="1">
              <a:spLocks noChangeArrowheads="1"/>
            </p:cNvSpPr>
            <p:nvPr/>
          </p:nvSpPr>
          <p:spPr bwMode="auto">
            <a:xfrm>
              <a:off x="4128" y="3216"/>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a:t>3</a:t>
              </a:r>
              <a:endParaRPr lang="en-US" altLang="en-US"/>
            </a:p>
          </p:txBody>
        </p:sp>
        <p:sp>
          <p:nvSpPr>
            <p:cNvPr id="9" name="Text Box 9"/>
            <p:cNvSpPr txBox="1">
              <a:spLocks noChangeArrowheads="1"/>
            </p:cNvSpPr>
            <p:nvPr/>
          </p:nvSpPr>
          <p:spPr bwMode="auto">
            <a:xfrm>
              <a:off x="4752" y="3840"/>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i="1">
                  <a:latin typeface="Symbol" panose="05050102010706020507" pitchFamily="18" charset="2"/>
                </a:rPr>
                <a:t>t</a:t>
              </a:r>
              <a:endParaRPr lang="en-US" altLang="en-US"/>
            </a:p>
          </p:txBody>
        </p:sp>
        <p:sp>
          <p:nvSpPr>
            <p:cNvPr id="10" name="Text Box 10"/>
            <p:cNvSpPr txBox="1">
              <a:spLocks noChangeArrowheads="1"/>
            </p:cNvSpPr>
            <p:nvPr/>
          </p:nvSpPr>
          <p:spPr bwMode="auto">
            <a:xfrm>
              <a:off x="4368" y="3936"/>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1400"/>
                <a:t>2</a:t>
              </a:r>
            </a:p>
          </p:txBody>
        </p:sp>
        <p:sp>
          <p:nvSpPr>
            <p:cNvPr id="11" name="Line 12"/>
            <p:cNvSpPr>
              <a:spLocks noChangeShapeType="1"/>
            </p:cNvSpPr>
            <p:nvPr/>
          </p:nvSpPr>
          <p:spPr bwMode="auto">
            <a:xfrm>
              <a:off x="4128" y="3600"/>
              <a:ext cx="288" cy="336"/>
            </a:xfrm>
            <a:prstGeom prst="line">
              <a:avLst/>
            </a:prstGeom>
            <a:noFill/>
            <a:ln w="28575">
              <a:solidFill>
                <a:srgbClr val="FF010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Line 13"/>
            <p:cNvSpPr>
              <a:spLocks noChangeShapeType="1"/>
            </p:cNvSpPr>
            <p:nvPr/>
          </p:nvSpPr>
          <p:spPr bwMode="auto">
            <a:xfrm flipH="1">
              <a:off x="4320" y="3696"/>
              <a:ext cx="432" cy="96"/>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Text Box 14"/>
            <p:cNvSpPr txBox="1">
              <a:spLocks noChangeArrowheads="1"/>
            </p:cNvSpPr>
            <p:nvPr/>
          </p:nvSpPr>
          <p:spPr bwMode="auto">
            <a:xfrm>
              <a:off x="4704" y="360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i="1"/>
                <a:t>f</a:t>
              </a:r>
              <a:r>
                <a:rPr lang="en-US" altLang="en-US" sz="1400"/>
                <a:t>(</a:t>
              </a:r>
              <a:r>
                <a:rPr lang="en-US" altLang="en-US" sz="1400" i="1">
                  <a:latin typeface="Symbol" panose="05050102010706020507" pitchFamily="18" charset="2"/>
                </a:rPr>
                <a:t>t</a:t>
              </a:r>
              <a:r>
                <a:rPr lang="en-US" altLang="en-US" sz="1400"/>
                <a:t>)</a:t>
              </a:r>
              <a:endParaRPr lang="en-US" altLang="en-US"/>
            </a:p>
          </p:txBody>
        </p:sp>
        <p:sp>
          <p:nvSpPr>
            <p:cNvPr id="14" name="Line 15"/>
            <p:cNvSpPr>
              <a:spLocks noChangeShapeType="1"/>
            </p:cNvSpPr>
            <p:nvPr/>
          </p:nvSpPr>
          <p:spPr bwMode="auto">
            <a:xfrm>
              <a:off x="4416" y="3888"/>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Line 16"/>
            <p:cNvSpPr>
              <a:spLocks noChangeShapeType="1"/>
            </p:cNvSpPr>
            <p:nvPr/>
          </p:nvSpPr>
          <p:spPr bwMode="auto">
            <a:xfrm>
              <a:off x="4080" y="3600"/>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Text Box 17"/>
            <p:cNvSpPr txBox="1">
              <a:spLocks noChangeArrowheads="1"/>
            </p:cNvSpPr>
            <p:nvPr/>
          </p:nvSpPr>
          <p:spPr bwMode="auto">
            <a:xfrm>
              <a:off x="3936" y="3504"/>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1400"/>
                <a:t>2</a:t>
              </a:r>
            </a:p>
          </p:txBody>
        </p:sp>
        <p:sp>
          <p:nvSpPr>
            <p:cNvPr id="17" name="Text Box 19"/>
            <p:cNvSpPr txBox="1">
              <a:spLocks noChangeArrowheads="1"/>
            </p:cNvSpPr>
            <p:nvPr/>
          </p:nvSpPr>
          <p:spPr bwMode="auto">
            <a:xfrm>
              <a:off x="3456" y="4032"/>
              <a:ext cx="3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a:t>-2 + t</a:t>
              </a:r>
              <a:endParaRPr lang="en-US" altLang="en-US"/>
            </a:p>
          </p:txBody>
        </p:sp>
        <p:sp>
          <p:nvSpPr>
            <p:cNvPr id="18" name="Text Box 20"/>
            <p:cNvSpPr txBox="1">
              <a:spLocks noChangeArrowheads="1"/>
            </p:cNvSpPr>
            <p:nvPr/>
          </p:nvSpPr>
          <p:spPr bwMode="auto">
            <a:xfrm>
              <a:off x="4032" y="4032"/>
              <a:ext cx="3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a:t>2 + t</a:t>
              </a:r>
              <a:endParaRPr lang="en-US" altLang="en-US"/>
            </a:p>
          </p:txBody>
        </p:sp>
        <p:sp>
          <p:nvSpPr>
            <p:cNvPr id="19" name="Line 21"/>
            <p:cNvSpPr>
              <a:spLocks noChangeShapeType="1"/>
            </p:cNvSpPr>
            <p:nvPr/>
          </p:nvSpPr>
          <p:spPr bwMode="auto">
            <a:xfrm flipV="1">
              <a:off x="3648" y="3888"/>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22"/>
            <p:cNvSpPr>
              <a:spLocks noChangeShapeType="1"/>
            </p:cNvSpPr>
            <p:nvPr/>
          </p:nvSpPr>
          <p:spPr bwMode="auto">
            <a:xfrm flipV="1">
              <a:off x="4224" y="3888"/>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23"/>
            <p:cNvSpPr>
              <a:spLocks noChangeShapeType="1"/>
            </p:cNvSpPr>
            <p:nvPr/>
          </p:nvSpPr>
          <p:spPr bwMode="auto">
            <a:xfrm flipH="1">
              <a:off x="4224" y="3360"/>
              <a:ext cx="384" cy="144"/>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Text Box 24"/>
            <p:cNvSpPr txBox="1">
              <a:spLocks noChangeArrowheads="1"/>
            </p:cNvSpPr>
            <p:nvPr/>
          </p:nvSpPr>
          <p:spPr bwMode="auto">
            <a:xfrm>
              <a:off x="4560" y="3264"/>
              <a:ext cx="3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i="1"/>
                <a:t>g</a:t>
              </a:r>
              <a:r>
                <a:rPr lang="en-US" altLang="en-US" sz="1400"/>
                <a:t>(</a:t>
              </a:r>
              <a:r>
                <a:rPr lang="en-US" altLang="en-US" sz="1400" i="1"/>
                <a:t>t-</a:t>
              </a:r>
              <a:r>
                <a:rPr lang="en-US" altLang="en-US" sz="1400" i="1">
                  <a:latin typeface="Symbol" panose="05050102010706020507" pitchFamily="18" charset="2"/>
                </a:rPr>
                <a:t>t</a:t>
              </a:r>
              <a:r>
                <a:rPr lang="en-US" altLang="en-US" sz="1400"/>
                <a:t>)</a:t>
              </a:r>
              <a:endParaRPr lang="en-US" altLang="en-US"/>
            </a:p>
          </p:txBody>
        </p:sp>
        <p:grpSp>
          <p:nvGrpSpPr>
            <p:cNvPr id="23" name="Group 25"/>
            <p:cNvGrpSpPr>
              <a:grpSpLocks/>
            </p:cNvGrpSpPr>
            <p:nvPr/>
          </p:nvGrpSpPr>
          <p:grpSpPr bwMode="auto">
            <a:xfrm>
              <a:off x="3648" y="3408"/>
              <a:ext cx="576" cy="528"/>
              <a:chOff x="3888" y="1920"/>
              <a:chExt cx="576" cy="528"/>
            </a:xfrm>
          </p:grpSpPr>
          <p:sp>
            <p:nvSpPr>
              <p:cNvPr id="24" name="Line 26"/>
              <p:cNvSpPr>
                <a:spLocks noChangeShapeType="1"/>
              </p:cNvSpPr>
              <p:nvPr/>
            </p:nvSpPr>
            <p:spPr bwMode="auto">
              <a:xfrm flipV="1">
                <a:off x="3888" y="1920"/>
                <a:ext cx="0" cy="528"/>
              </a:xfrm>
              <a:prstGeom prst="line">
                <a:avLst/>
              </a:prstGeom>
              <a:noFill/>
              <a:ln w="28575">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Line 27"/>
              <p:cNvSpPr>
                <a:spLocks noChangeShapeType="1"/>
              </p:cNvSpPr>
              <p:nvPr/>
            </p:nvSpPr>
            <p:spPr bwMode="auto">
              <a:xfrm>
                <a:off x="3888" y="1920"/>
                <a:ext cx="576" cy="0"/>
              </a:xfrm>
              <a:prstGeom prst="line">
                <a:avLst/>
              </a:prstGeom>
              <a:noFill/>
              <a:ln w="28575">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Line 28"/>
              <p:cNvSpPr>
                <a:spLocks noChangeShapeType="1"/>
              </p:cNvSpPr>
              <p:nvPr/>
            </p:nvSpPr>
            <p:spPr bwMode="auto">
              <a:xfrm>
                <a:off x="4464" y="1920"/>
                <a:ext cx="0" cy="528"/>
              </a:xfrm>
              <a:prstGeom prst="line">
                <a:avLst/>
              </a:prstGeom>
              <a:noFill/>
              <a:ln w="28575">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27" name="Group 60"/>
          <p:cNvGrpSpPr>
            <a:grpSpLocks/>
          </p:cNvGrpSpPr>
          <p:nvPr/>
        </p:nvGrpSpPr>
        <p:grpSpPr bwMode="auto">
          <a:xfrm>
            <a:off x="2667000" y="1676400"/>
            <a:ext cx="6553200" cy="1752600"/>
            <a:chOff x="912" y="1440"/>
            <a:chExt cx="4128" cy="1104"/>
          </a:xfrm>
        </p:grpSpPr>
        <p:sp>
          <p:nvSpPr>
            <p:cNvPr id="28" name="Text Box 30"/>
            <p:cNvSpPr txBox="1">
              <a:spLocks noChangeArrowheads="1"/>
            </p:cNvSpPr>
            <p:nvPr/>
          </p:nvSpPr>
          <p:spPr bwMode="auto">
            <a:xfrm>
              <a:off x="2808" y="1776"/>
              <a:ext cx="24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600"/>
                <a:t>*</a:t>
              </a:r>
              <a:endParaRPr lang="en-US" altLang="en-US"/>
            </a:p>
          </p:txBody>
        </p:sp>
        <p:grpSp>
          <p:nvGrpSpPr>
            <p:cNvPr id="29" name="Group 58"/>
            <p:cNvGrpSpPr>
              <a:grpSpLocks/>
            </p:cNvGrpSpPr>
            <p:nvPr/>
          </p:nvGrpSpPr>
          <p:grpSpPr bwMode="auto">
            <a:xfrm>
              <a:off x="912" y="1440"/>
              <a:ext cx="1488" cy="1104"/>
              <a:chOff x="912" y="1440"/>
              <a:chExt cx="1488" cy="1104"/>
            </a:xfrm>
          </p:grpSpPr>
          <p:sp>
            <p:nvSpPr>
              <p:cNvPr id="44" name="Line 32"/>
              <p:cNvSpPr>
                <a:spLocks noChangeShapeType="1"/>
              </p:cNvSpPr>
              <p:nvPr/>
            </p:nvSpPr>
            <p:spPr bwMode="auto">
              <a:xfrm>
                <a:off x="1152" y="1536"/>
                <a:ext cx="0" cy="864"/>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 name="Line 33"/>
              <p:cNvSpPr>
                <a:spLocks noChangeShapeType="1"/>
              </p:cNvSpPr>
              <p:nvPr/>
            </p:nvSpPr>
            <p:spPr bwMode="auto">
              <a:xfrm>
                <a:off x="1008" y="2304"/>
                <a:ext cx="1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 name="Line 34"/>
              <p:cNvSpPr>
                <a:spLocks noChangeShapeType="1"/>
              </p:cNvSpPr>
              <p:nvPr/>
            </p:nvSpPr>
            <p:spPr bwMode="auto">
              <a:xfrm>
                <a:off x="1152" y="1728"/>
                <a:ext cx="576" cy="576"/>
              </a:xfrm>
              <a:prstGeom prst="line">
                <a:avLst/>
              </a:prstGeom>
              <a:noFill/>
              <a:ln w="28575">
                <a:solidFill>
                  <a:srgbClr val="FF010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 name="Line 35"/>
              <p:cNvSpPr>
                <a:spLocks noChangeShapeType="1"/>
              </p:cNvSpPr>
              <p:nvPr/>
            </p:nvSpPr>
            <p:spPr bwMode="auto">
              <a:xfrm>
                <a:off x="1104" y="172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 name="Line 36"/>
              <p:cNvSpPr>
                <a:spLocks noChangeShapeType="1"/>
              </p:cNvSpPr>
              <p:nvPr/>
            </p:nvSpPr>
            <p:spPr bwMode="auto">
              <a:xfrm>
                <a:off x="1728" y="2256"/>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 name="Text Box 37"/>
              <p:cNvSpPr txBox="1">
                <a:spLocks noChangeArrowheads="1"/>
              </p:cNvSpPr>
              <p:nvPr/>
            </p:nvSpPr>
            <p:spPr bwMode="auto">
              <a:xfrm>
                <a:off x="1632" y="2352"/>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a:t>2</a:t>
                </a:r>
                <a:endParaRPr lang="en-US" altLang="en-US"/>
              </a:p>
            </p:txBody>
          </p:sp>
          <p:sp>
            <p:nvSpPr>
              <p:cNvPr id="50" name="Text Box 38"/>
              <p:cNvSpPr txBox="1">
                <a:spLocks noChangeArrowheads="1"/>
              </p:cNvSpPr>
              <p:nvPr/>
            </p:nvSpPr>
            <p:spPr bwMode="auto">
              <a:xfrm>
                <a:off x="912" y="1632"/>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a:t>2</a:t>
                </a:r>
                <a:endParaRPr lang="en-US" altLang="en-US"/>
              </a:p>
            </p:txBody>
          </p:sp>
          <p:sp>
            <p:nvSpPr>
              <p:cNvPr id="51" name="Text Box 39"/>
              <p:cNvSpPr txBox="1">
                <a:spLocks noChangeArrowheads="1"/>
              </p:cNvSpPr>
              <p:nvPr/>
            </p:nvSpPr>
            <p:spPr bwMode="auto">
              <a:xfrm>
                <a:off x="2208" y="2208"/>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i="1"/>
                  <a:t>t</a:t>
                </a:r>
                <a:endParaRPr lang="en-US" altLang="en-US"/>
              </a:p>
            </p:txBody>
          </p:sp>
          <p:sp>
            <p:nvSpPr>
              <p:cNvPr id="52" name="Text Box 40"/>
              <p:cNvSpPr txBox="1">
                <a:spLocks noChangeArrowheads="1"/>
              </p:cNvSpPr>
              <p:nvPr/>
            </p:nvSpPr>
            <p:spPr bwMode="auto">
              <a:xfrm>
                <a:off x="1200" y="144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i="1"/>
                  <a:t>f</a:t>
                </a:r>
                <a:r>
                  <a:rPr lang="en-US" altLang="en-US" sz="1400"/>
                  <a:t>(</a:t>
                </a:r>
                <a:r>
                  <a:rPr lang="en-US" altLang="en-US" sz="1400" i="1"/>
                  <a:t>t</a:t>
                </a:r>
                <a:r>
                  <a:rPr lang="en-US" altLang="en-US" sz="1400"/>
                  <a:t>)</a:t>
                </a:r>
                <a:endParaRPr lang="en-US" altLang="en-US"/>
              </a:p>
            </p:txBody>
          </p:sp>
        </p:grpSp>
        <p:grpSp>
          <p:nvGrpSpPr>
            <p:cNvPr id="30" name="Group 59"/>
            <p:cNvGrpSpPr>
              <a:grpSpLocks/>
            </p:cNvGrpSpPr>
            <p:nvPr/>
          </p:nvGrpSpPr>
          <p:grpSpPr bwMode="auto">
            <a:xfrm>
              <a:off x="3648" y="1440"/>
              <a:ext cx="1392" cy="1104"/>
              <a:chOff x="3648" y="1440"/>
              <a:chExt cx="1392" cy="1104"/>
            </a:xfrm>
          </p:grpSpPr>
          <p:sp>
            <p:nvSpPr>
              <p:cNvPr id="31" name="Text Box 42"/>
              <p:cNvSpPr txBox="1">
                <a:spLocks noChangeArrowheads="1"/>
              </p:cNvSpPr>
              <p:nvPr/>
            </p:nvSpPr>
            <p:spPr bwMode="auto">
              <a:xfrm>
                <a:off x="3840" y="2352"/>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a:t>-2</a:t>
                </a:r>
                <a:endParaRPr lang="en-US" altLang="en-US"/>
              </a:p>
            </p:txBody>
          </p:sp>
          <p:sp>
            <p:nvSpPr>
              <p:cNvPr id="32" name="Text Box 43"/>
              <p:cNvSpPr txBox="1">
                <a:spLocks noChangeArrowheads="1"/>
              </p:cNvSpPr>
              <p:nvPr/>
            </p:nvSpPr>
            <p:spPr bwMode="auto">
              <a:xfrm>
                <a:off x="4416" y="2352"/>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a:t>2</a:t>
                </a:r>
                <a:endParaRPr lang="en-US" altLang="en-US"/>
              </a:p>
            </p:txBody>
          </p:sp>
          <p:sp>
            <p:nvSpPr>
              <p:cNvPr id="33" name="Line 44"/>
              <p:cNvSpPr>
                <a:spLocks noChangeShapeType="1"/>
              </p:cNvSpPr>
              <p:nvPr/>
            </p:nvSpPr>
            <p:spPr bwMode="auto">
              <a:xfrm>
                <a:off x="3648" y="2304"/>
                <a:ext cx="120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Line 45"/>
              <p:cNvSpPr>
                <a:spLocks noChangeShapeType="1"/>
              </p:cNvSpPr>
              <p:nvPr/>
            </p:nvSpPr>
            <p:spPr bwMode="auto">
              <a:xfrm>
                <a:off x="4224" y="1536"/>
                <a:ext cx="0" cy="864"/>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Line 46"/>
              <p:cNvSpPr>
                <a:spLocks noChangeShapeType="1"/>
              </p:cNvSpPr>
              <p:nvPr/>
            </p:nvSpPr>
            <p:spPr bwMode="auto">
              <a:xfrm flipV="1">
                <a:off x="3936" y="2256"/>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 name="Line 47"/>
              <p:cNvSpPr>
                <a:spLocks noChangeShapeType="1"/>
              </p:cNvSpPr>
              <p:nvPr/>
            </p:nvSpPr>
            <p:spPr bwMode="auto">
              <a:xfrm flipV="1">
                <a:off x="4512" y="2256"/>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Text Box 48"/>
              <p:cNvSpPr txBox="1">
                <a:spLocks noChangeArrowheads="1"/>
              </p:cNvSpPr>
              <p:nvPr/>
            </p:nvSpPr>
            <p:spPr bwMode="auto">
              <a:xfrm>
                <a:off x="4032" y="1584"/>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a:t>3</a:t>
                </a:r>
                <a:endParaRPr lang="en-US" altLang="en-US"/>
              </a:p>
            </p:txBody>
          </p:sp>
          <p:sp>
            <p:nvSpPr>
              <p:cNvPr id="38" name="Text Box 49"/>
              <p:cNvSpPr txBox="1">
                <a:spLocks noChangeArrowheads="1"/>
              </p:cNvSpPr>
              <p:nvPr/>
            </p:nvSpPr>
            <p:spPr bwMode="auto">
              <a:xfrm>
                <a:off x="4848" y="2208"/>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i="1"/>
                  <a:t>t</a:t>
                </a:r>
                <a:endParaRPr lang="en-US" altLang="en-US"/>
              </a:p>
            </p:txBody>
          </p:sp>
          <p:sp>
            <p:nvSpPr>
              <p:cNvPr id="39" name="Text Box 50"/>
              <p:cNvSpPr txBox="1">
                <a:spLocks noChangeArrowheads="1"/>
              </p:cNvSpPr>
              <p:nvPr/>
            </p:nvSpPr>
            <p:spPr bwMode="auto">
              <a:xfrm>
                <a:off x="4272" y="144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i="1"/>
                  <a:t>g</a:t>
                </a:r>
                <a:r>
                  <a:rPr lang="en-US" altLang="en-US" sz="1400"/>
                  <a:t>(</a:t>
                </a:r>
                <a:r>
                  <a:rPr lang="en-US" altLang="en-US" sz="1400" i="1"/>
                  <a:t>t</a:t>
                </a:r>
                <a:r>
                  <a:rPr lang="en-US" altLang="en-US" sz="1400"/>
                  <a:t>)</a:t>
                </a:r>
                <a:endParaRPr lang="en-US" altLang="en-US"/>
              </a:p>
            </p:txBody>
          </p:sp>
          <p:grpSp>
            <p:nvGrpSpPr>
              <p:cNvPr id="40" name="Group 51"/>
              <p:cNvGrpSpPr>
                <a:grpSpLocks/>
              </p:cNvGrpSpPr>
              <p:nvPr/>
            </p:nvGrpSpPr>
            <p:grpSpPr bwMode="auto">
              <a:xfrm>
                <a:off x="3936" y="1776"/>
                <a:ext cx="576" cy="528"/>
                <a:chOff x="3888" y="1920"/>
                <a:chExt cx="576" cy="528"/>
              </a:xfrm>
            </p:grpSpPr>
            <p:sp>
              <p:nvSpPr>
                <p:cNvPr id="41" name="Line 52"/>
                <p:cNvSpPr>
                  <a:spLocks noChangeShapeType="1"/>
                </p:cNvSpPr>
                <p:nvPr/>
              </p:nvSpPr>
              <p:spPr bwMode="auto">
                <a:xfrm flipV="1">
                  <a:off x="3888" y="1920"/>
                  <a:ext cx="0" cy="528"/>
                </a:xfrm>
                <a:prstGeom prst="line">
                  <a:avLst/>
                </a:prstGeom>
                <a:noFill/>
                <a:ln w="28575">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 name="Line 53"/>
                <p:cNvSpPr>
                  <a:spLocks noChangeShapeType="1"/>
                </p:cNvSpPr>
                <p:nvPr/>
              </p:nvSpPr>
              <p:spPr bwMode="auto">
                <a:xfrm>
                  <a:off x="3888" y="1920"/>
                  <a:ext cx="576" cy="0"/>
                </a:xfrm>
                <a:prstGeom prst="line">
                  <a:avLst/>
                </a:prstGeom>
                <a:noFill/>
                <a:ln w="28575">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 name="Line 54"/>
                <p:cNvSpPr>
                  <a:spLocks noChangeShapeType="1"/>
                </p:cNvSpPr>
                <p:nvPr/>
              </p:nvSpPr>
              <p:spPr bwMode="auto">
                <a:xfrm>
                  <a:off x="4464" y="1920"/>
                  <a:ext cx="0" cy="528"/>
                </a:xfrm>
                <a:prstGeom prst="line">
                  <a:avLst/>
                </a:prstGeom>
                <a:noFill/>
                <a:ln w="28575">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cxnSp>
        <p:nvCxnSpPr>
          <p:cNvPr id="53" name="Straight Connector 52"/>
          <p:cNvCxnSpPr/>
          <p:nvPr/>
        </p:nvCxnSpPr>
        <p:spPr bwMode="auto">
          <a:xfrm>
            <a:off x="7781365" y="5068036"/>
            <a:ext cx="0" cy="1219200"/>
          </a:xfrm>
          <a:prstGeom prst="line">
            <a:avLst/>
          </a:prstGeom>
          <a:solidFill>
            <a:schemeClr val="accent1"/>
          </a:solidFill>
          <a:ln w="25400" cap="flat" cmpd="sng" algn="ctr">
            <a:solidFill>
              <a:srgbClr val="FF0000"/>
            </a:solidFill>
            <a:prstDash val="dash"/>
            <a:round/>
            <a:headEnd type="none" w="med" len="med"/>
            <a:tailEnd type="none" w="med" len="med"/>
          </a:ln>
          <a:effectLst/>
        </p:spPr>
      </p:cxnSp>
      <p:sp>
        <p:nvSpPr>
          <p:cNvPr id="54" name="Text Box 9"/>
          <p:cNvSpPr txBox="1">
            <a:spLocks noChangeArrowheads="1"/>
          </p:cNvSpPr>
          <p:nvPr/>
        </p:nvSpPr>
        <p:spPr bwMode="auto">
          <a:xfrm>
            <a:off x="7749906" y="5977971"/>
            <a:ext cx="132641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1400" b="1" i="1" dirty="0">
                <a:solidFill>
                  <a:srgbClr val="FF0000"/>
                </a:solidFill>
                <a:latin typeface="Symbol" panose="05050102010706020507" pitchFamily="18" charset="2"/>
              </a:rPr>
              <a:t>t=</a:t>
            </a:r>
            <a:r>
              <a:rPr lang="en-US" altLang="en-US" sz="1400" b="1" dirty="0">
                <a:solidFill>
                  <a:srgbClr val="FF0000"/>
                </a:solidFill>
              </a:rPr>
              <a:t> t</a:t>
            </a:r>
            <a:endParaRPr lang="en-US" altLang="en-US" b="1" dirty="0">
              <a:solidFill>
                <a:srgbClr val="FF0000"/>
              </a:solidFill>
              <a:latin typeface="+mn-lt"/>
            </a:endParaRPr>
          </a:p>
        </p:txBody>
      </p:sp>
    </p:spTree>
    <p:extLst>
      <p:ext uri="{BB962C8B-B14F-4D97-AF65-F5344CB8AC3E}">
        <p14:creationId xmlns:p14="http://schemas.microsoft.com/office/powerpoint/2010/main" val="20656008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1</a:t>
            </a:r>
            <a:r>
              <a:rPr lang="en-US" sz="4000" baseline="30000" dirty="0"/>
              <a:t>st</a:t>
            </a:r>
            <a:r>
              <a:rPr lang="en-US" sz="4000" dirty="0"/>
              <a:t> &amp; 2</a:t>
            </a:r>
            <a:r>
              <a:rPr lang="en-US" sz="4000" baseline="30000" dirty="0"/>
              <a:t>nd</a:t>
            </a:r>
            <a:r>
              <a:rPr lang="en-US" sz="4000" dirty="0"/>
              <a:t> of 5 Steps</a:t>
            </a:r>
          </a:p>
        </p:txBody>
      </p:sp>
      <p:graphicFrame>
        <p:nvGraphicFramePr>
          <p:cNvPr id="4" name="Object 4"/>
          <p:cNvGraphicFramePr>
            <a:graphicFrameLocks noChangeAspect="1"/>
          </p:cNvGraphicFramePr>
          <p:nvPr/>
        </p:nvGraphicFramePr>
        <p:xfrm>
          <a:off x="2673309" y="4999085"/>
          <a:ext cx="7186612" cy="960438"/>
        </p:xfrm>
        <a:graphic>
          <a:graphicData uri="http://schemas.openxmlformats.org/presentationml/2006/ole">
            <mc:AlternateContent xmlns:mc="http://schemas.openxmlformats.org/markup-compatibility/2006">
              <mc:Choice xmlns:v="urn:schemas-microsoft-com:vml" Requires="v">
                <p:oleObj name="Equation" r:id="rId3" imgW="3987720" imgH="533160" progId="Equation.3">
                  <p:embed/>
                </p:oleObj>
              </mc:Choice>
              <mc:Fallback>
                <p:oleObj name="Equation" r:id="rId3" imgW="3987720" imgH="533160" progId="Equation.3">
                  <p:embed/>
                  <p:pic>
                    <p:nvPicPr>
                      <p:cNvPr id="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3309" y="4999085"/>
                        <a:ext cx="7186612" cy="960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Line 6"/>
          <p:cNvSpPr>
            <a:spLocks noChangeShapeType="1"/>
          </p:cNvSpPr>
          <p:nvPr/>
        </p:nvSpPr>
        <p:spPr bwMode="auto">
          <a:xfrm>
            <a:off x="7680251" y="2514600"/>
            <a:ext cx="228600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7"/>
          <p:cNvSpPr>
            <a:spLocks noChangeShapeType="1"/>
          </p:cNvSpPr>
          <p:nvPr/>
        </p:nvSpPr>
        <p:spPr bwMode="auto">
          <a:xfrm>
            <a:off x="8975651" y="1295400"/>
            <a:ext cx="0" cy="13716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Text Box 8"/>
          <p:cNvSpPr txBox="1">
            <a:spLocks noChangeArrowheads="1"/>
          </p:cNvSpPr>
          <p:nvPr/>
        </p:nvSpPr>
        <p:spPr bwMode="auto">
          <a:xfrm>
            <a:off x="8975651" y="13716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a:t>3</a:t>
            </a:r>
            <a:endParaRPr lang="en-US" altLang="en-US"/>
          </a:p>
        </p:txBody>
      </p:sp>
      <p:sp>
        <p:nvSpPr>
          <p:cNvPr id="9" name="Text Box 9"/>
          <p:cNvSpPr txBox="1">
            <a:spLocks noChangeArrowheads="1"/>
          </p:cNvSpPr>
          <p:nvPr/>
        </p:nvSpPr>
        <p:spPr bwMode="auto">
          <a:xfrm>
            <a:off x="9966251" y="23622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i="1" dirty="0">
                <a:latin typeface="Symbol" panose="05050102010706020507" pitchFamily="18" charset="2"/>
              </a:rPr>
              <a:t>t</a:t>
            </a:r>
            <a:endParaRPr lang="en-US" altLang="en-US" dirty="0"/>
          </a:p>
        </p:txBody>
      </p:sp>
      <p:sp>
        <p:nvSpPr>
          <p:cNvPr id="10" name="Text Box 10"/>
          <p:cNvSpPr txBox="1">
            <a:spLocks noChangeArrowheads="1"/>
          </p:cNvSpPr>
          <p:nvPr/>
        </p:nvSpPr>
        <p:spPr bwMode="auto">
          <a:xfrm>
            <a:off x="9356651" y="25146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1400"/>
              <a:t>2</a:t>
            </a:r>
          </a:p>
        </p:txBody>
      </p:sp>
      <p:sp>
        <p:nvSpPr>
          <p:cNvPr id="11" name="Line 12"/>
          <p:cNvSpPr>
            <a:spLocks noChangeShapeType="1"/>
          </p:cNvSpPr>
          <p:nvPr/>
        </p:nvSpPr>
        <p:spPr bwMode="auto">
          <a:xfrm>
            <a:off x="8975651" y="1981200"/>
            <a:ext cx="457200" cy="533400"/>
          </a:xfrm>
          <a:prstGeom prst="line">
            <a:avLst/>
          </a:prstGeom>
          <a:noFill/>
          <a:ln w="28575">
            <a:solidFill>
              <a:srgbClr val="FF010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Line 13"/>
          <p:cNvSpPr>
            <a:spLocks noChangeShapeType="1"/>
          </p:cNvSpPr>
          <p:nvPr/>
        </p:nvSpPr>
        <p:spPr bwMode="auto">
          <a:xfrm flipH="1">
            <a:off x="9280451" y="2133600"/>
            <a:ext cx="685800" cy="15240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Text Box 14"/>
          <p:cNvSpPr txBox="1">
            <a:spLocks noChangeArrowheads="1"/>
          </p:cNvSpPr>
          <p:nvPr/>
        </p:nvSpPr>
        <p:spPr bwMode="auto">
          <a:xfrm>
            <a:off x="9890051" y="1981200"/>
            <a:ext cx="457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i="1"/>
              <a:t>f</a:t>
            </a:r>
            <a:r>
              <a:rPr lang="en-US" altLang="en-US" sz="1400"/>
              <a:t>(</a:t>
            </a:r>
            <a:r>
              <a:rPr lang="en-US" altLang="en-US" sz="1400" i="1">
                <a:latin typeface="Symbol" panose="05050102010706020507" pitchFamily="18" charset="2"/>
              </a:rPr>
              <a:t>t</a:t>
            </a:r>
            <a:r>
              <a:rPr lang="en-US" altLang="en-US" sz="1400"/>
              <a:t>)</a:t>
            </a:r>
            <a:endParaRPr lang="en-US" altLang="en-US"/>
          </a:p>
        </p:txBody>
      </p:sp>
      <p:sp>
        <p:nvSpPr>
          <p:cNvPr id="14" name="Line 15"/>
          <p:cNvSpPr>
            <a:spLocks noChangeShapeType="1"/>
          </p:cNvSpPr>
          <p:nvPr/>
        </p:nvSpPr>
        <p:spPr bwMode="auto">
          <a:xfrm>
            <a:off x="9432851" y="2438400"/>
            <a:ext cx="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Line 16"/>
          <p:cNvSpPr>
            <a:spLocks noChangeShapeType="1"/>
          </p:cNvSpPr>
          <p:nvPr/>
        </p:nvSpPr>
        <p:spPr bwMode="auto">
          <a:xfrm>
            <a:off x="8899451" y="1981200"/>
            <a:ext cx="15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Text Box 17"/>
          <p:cNvSpPr txBox="1">
            <a:spLocks noChangeArrowheads="1"/>
          </p:cNvSpPr>
          <p:nvPr/>
        </p:nvSpPr>
        <p:spPr bwMode="auto">
          <a:xfrm>
            <a:off x="9051851" y="18288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1400"/>
              <a:t>2</a:t>
            </a:r>
          </a:p>
        </p:txBody>
      </p:sp>
      <p:sp>
        <p:nvSpPr>
          <p:cNvPr id="17" name="Text Box 19"/>
          <p:cNvSpPr txBox="1">
            <a:spLocks noChangeArrowheads="1"/>
          </p:cNvSpPr>
          <p:nvPr/>
        </p:nvSpPr>
        <p:spPr bwMode="auto">
          <a:xfrm>
            <a:off x="7604051" y="2667001"/>
            <a:ext cx="6096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dirty="0"/>
              <a:t>-2 +t</a:t>
            </a:r>
            <a:endParaRPr lang="en-US" altLang="en-US" dirty="0"/>
          </a:p>
        </p:txBody>
      </p:sp>
      <p:sp>
        <p:nvSpPr>
          <p:cNvPr id="18" name="Text Box 20"/>
          <p:cNvSpPr txBox="1">
            <a:spLocks noChangeArrowheads="1"/>
          </p:cNvSpPr>
          <p:nvPr/>
        </p:nvSpPr>
        <p:spPr bwMode="auto">
          <a:xfrm>
            <a:off x="8518451" y="2667000"/>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dirty="0"/>
              <a:t>2 + t</a:t>
            </a:r>
            <a:endParaRPr lang="en-US" altLang="en-US" dirty="0"/>
          </a:p>
        </p:txBody>
      </p:sp>
      <p:sp>
        <p:nvSpPr>
          <p:cNvPr id="19" name="Line 21"/>
          <p:cNvSpPr>
            <a:spLocks noChangeShapeType="1"/>
          </p:cNvSpPr>
          <p:nvPr/>
        </p:nvSpPr>
        <p:spPr bwMode="auto">
          <a:xfrm flipV="1">
            <a:off x="7908851" y="2438400"/>
            <a:ext cx="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22"/>
          <p:cNvSpPr>
            <a:spLocks noChangeShapeType="1"/>
          </p:cNvSpPr>
          <p:nvPr/>
        </p:nvSpPr>
        <p:spPr bwMode="auto">
          <a:xfrm flipV="1">
            <a:off x="8823251" y="2438400"/>
            <a:ext cx="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23"/>
          <p:cNvSpPr>
            <a:spLocks noChangeShapeType="1"/>
          </p:cNvSpPr>
          <p:nvPr/>
        </p:nvSpPr>
        <p:spPr bwMode="auto">
          <a:xfrm flipH="1">
            <a:off x="8823251" y="1600200"/>
            <a:ext cx="609600" cy="22860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Text Box 24"/>
          <p:cNvSpPr txBox="1">
            <a:spLocks noChangeArrowheads="1"/>
          </p:cNvSpPr>
          <p:nvPr/>
        </p:nvSpPr>
        <p:spPr bwMode="auto">
          <a:xfrm>
            <a:off x="9356651" y="1447800"/>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i="1" dirty="0"/>
              <a:t>g</a:t>
            </a:r>
            <a:r>
              <a:rPr lang="en-US" altLang="en-US" sz="1400" dirty="0"/>
              <a:t>(</a:t>
            </a:r>
            <a:r>
              <a:rPr lang="en-US" altLang="en-US" sz="1400" i="1" dirty="0"/>
              <a:t>t-</a:t>
            </a:r>
            <a:r>
              <a:rPr lang="en-US" altLang="en-US" sz="1400" i="1" dirty="0">
                <a:latin typeface="Symbol" panose="05050102010706020507" pitchFamily="18" charset="2"/>
              </a:rPr>
              <a:t>t</a:t>
            </a:r>
            <a:r>
              <a:rPr lang="en-US" altLang="en-US" sz="1400" dirty="0"/>
              <a:t>)</a:t>
            </a:r>
            <a:endParaRPr lang="en-US" altLang="en-US" dirty="0"/>
          </a:p>
        </p:txBody>
      </p:sp>
      <p:grpSp>
        <p:nvGrpSpPr>
          <p:cNvPr id="23" name="Group 25"/>
          <p:cNvGrpSpPr>
            <a:grpSpLocks/>
          </p:cNvGrpSpPr>
          <p:nvPr/>
        </p:nvGrpSpPr>
        <p:grpSpPr bwMode="auto">
          <a:xfrm>
            <a:off x="7908851" y="1676400"/>
            <a:ext cx="914400" cy="838200"/>
            <a:chOff x="3888" y="1920"/>
            <a:chExt cx="576" cy="528"/>
          </a:xfrm>
        </p:grpSpPr>
        <p:sp>
          <p:nvSpPr>
            <p:cNvPr id="24" name="Line 26"/>
            <p:cNvSpPr>
              <a:spLocks noChangeShapeType="1"/>
            </p:cNvSpPr>
            <p:nvPr/>
          </p:nvSpPr>
          <p:spPr bwMode="auto">
            <a:xfrm flipV="1">
              <a:off x="3888" y="1920"/>
              <a:ext cx="0" cy="528"/>
            </a:xfrm>
            <a:prstGeom prst="line">
              <a:avLst/>
            </a:prstGeom>
            <a:noFill/>
            <a:ln w="28575">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Line 27"/>
            <p:cNvSpPr>
              <a:spLocks noChangeShapeType="1"/>
            </p:cNvSpPr>
            <p:nvPr/>
          </p:nvSpPr>
          <p:spPr bwMode="auto">
            <a:xfrm>
              <a:off x="3888" y="1920"/>
              <a:ext cx="576" cy="0"/>
            </a:xfrm>
            <a:prstGeom prst="line">
              <a:avLst/>
            </a:prstGeom>
            <a:noFill/>
            <a:ln w="28575">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Line 28"/>
            <p:cNvSpPr>
              <a:spLocks noChangeShapeType="1"/>
            </p:cNvSpPr>
            <p:nvPr/>
          </p:nvSpPr>
          <p:spPr bwMode="auto">
            <a:xfrm>
              <a:off x="4464" y="1920"/>
              <a:ext cx="0" cy="528"/>
            </a:xfrm>
            <a:prstGeom prst="line">
              <a:avLst/>
            </a:prstGeom>
            <a:noFill/>
            <a:ln w="28575">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7" name="Group 55"/>
          <p:cNvGrpSpPr>
            <a:grpSpLocks/>
          </p:cNvGrpSpPr>
          <p:nvPr/>
        </p:nvGrpSpPr>
        <p:grpSpPr bwMode="auto">
          <a:xfrm>
            <a:off x="7642151" y="3135312"/>
            <a:ext cx="2667000" cy="1676400"/>
            <a:chOff x="3840" y="2448"/>
            <a:chExt cx="1680" cy="1056"/>
          </a:xfrm>
        </p:grpSpPr>
        <p:sp>
          <p:nvSpPr>
            <p:cNvPr id="28" name="Line 30"/>
            <p:cNvSpPr>
              <a:spLocks noChangeShapeType="1"/>
            </p:cNvSpPr>
            <p:nvPr/>
          </p:nvSpPr>
          <p:spPr bwMode="auto">
            <a:xfrm>
              <a:off x="3840" y="3216"/>
              <a:ext cx="144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Line 31"/>
            <p:cNvSpPr>
              <a:spLocks noChangeShapeType="1"/>
            </p:cNvSpPr>
            <p:nvPr/>
          </p:nvSpPr>
          <p:spPr bwMode="auto">
            <a:xfrm>
              <a:off x="4656" y="2448"/>
              <a:ext cx="0" cy="864"/>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Text Box 32"/>
            <p:cNvSpPr txBox="1">
              <a:spLocks noChangeArrowheads="1"/>
            </p:cNvSpPr>
            <p:nvPr/>
          </p:nvSpPr>
          <p:spPr bwMode="auto">
            <a:xfrm>
              <a:off x="4656" y="2496"/>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a:t>3</a:t>
              </a:r>
              <a:endParaRPr lang="en-US" altLang="en-US"/>
            </a:p>
          </p:txBody>
        </p:sp>
        <p:sp>
          <p:nvSpPr>
            <p:cNvPr id="31" name="Text Box 33"/>
            <p:cNvSpPr txBox="1">
              <a:spLocks noChangeArrowheads="1"/>
            </p:cNvSpPr>
            <p:nvPr/>
          </p:nvSpPr>
          <p:spPr bwMode="auto">
            <a:xfrm>
              <a:off x="5280" y="3120"/>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i="1">
                  <a:latin typeface="Symbol" panose="05050102010706020507" pitchFamily="18" charset="2"/>
                </a:rPr>
                <a:t>t</a:t>
              </a:r>
              <a:endParaRPr lang="en-US" altLang="en-US"/>
            </a:p>
          </p:txBody>
        </p:sp>
        <p:sp>
          <p:nvSpPr>
            <p:cNvPr id="32" name="Text Box 34"/>
            <p:cNvSpPr txBox="1">
              <a:spLocks noChangeArrowheads="1"/>
            </p:cNvSpPr>
            <p:nvPr/>
          </p:nvSpPr>
          <p:spPr bwMode="auto">
            <a:xfrm>
              <a:off x="4896" y="3216"/>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1400"/>
                <a:t>2</a:t>
              </a:r>
            </a:p>
          </p:txBody>
        </p:sp>
        <p:sp>
          <p:nvSpPr>
            <p:cNvPr id="33" name="Line 36"/>
            <p:cNvSpPr>
              <a:spLocks noChangeShapeType="1"/>
            </p:cNvSpPr>
            <p:nvPr/>
          </p:nvSpPr>
          <p:spPr bwMode="auto">
            <a:xfrm>
              <a:off x="4656" y="2880"/>
              <a:ext cx="288" cy="336"/>
            </a:xfrm>
            <a:prstGeom prst="line">
              <a:avLst/>
            </a:prstGeom>
            <a:noFill/>
            <a:ln w="28575">
              <a:solidFill>
                <a:srgbClr val="FF010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Line 37"/>
            <p:cNvSpPr>
              <a:spLocks noChangeShapeType="1"/>
            </p:cNvSpPr>
            <p:nvPr/>
          </p:nvSpPr>
          <p:spPr bwMode="auto">
            <a:xfrm flipH="1">
              <a:off x="4848" y="2976"/>
              <a:ext cx="432" cy="96"/>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Text Box 38"/>
            <p:cNvSpPr txBox="1">
              <a:spLocks noChangeArrowheads="1"/>
            </p:cNvSpPr>
            <p:nvPr/>
          </p:nvSpPr>
          <p:spPr bwMode="auto">
            <a:xfrm>
              <a:off x="5232" y="28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i="1"/>
                <a:t>f</a:t>
              </a:r>
              <a:r>
                <a:rPr lang="en-US" altLang="en-US" sz="1400"/>
                <a:t>(</a:t>
              </a:r>
              <a:r>
                <a:rPr lang="en-US" altLang="en-US" sz="1400" i="1">
                  <a:latin typeface="Symbol" panose="05050102010706020507" pitchFamily="18" charset="2"/>
                </a:rPr>
                <a:t>t</a:t>
              </a:r>
              <a:r>
                <a:rPr lang="en-US" altLang="en-US" sz="1400"/>
                <a:t>)</a:t>
              </a:r>
              <a:endParaRPr lang="en-US" altLang="en-US"/>
            </a:p>
          </p:txBody>
        </p:sp>
        <p:sp>
          <p:nvSpPr>
            <p:cNvPr id="36" name="Line 39"/>
            <p:cNvSpPr>
              <a:spLocks noChangeShapeType="1"/>
            </p:cNvSpPr>
            <p:nvPr/>
          </p:nvSpPr>
          <p:spPr bwMode="auto">
            <a:xfrm>
              <a:off x="4944" y="3168"/>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Line 40"/>
            <p:cNvSpPr>
              <a:spLocks noChangeShapeType="1"/>
            </p:cNvSpPr>
            <p:nvPr/>
          </p:nvSpPr>
          <p:spPr bwMode="auto">
            <a:xfrm>
              <a:off x="4608" y="2880"/>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 name="Text Box 41"/>
            <p:cNvSpPr txBox="1">
              <a:spLocks noChangeArrowheads="1"/>
            </p:cNvSpPr>
            <p:nvPr/>
          </p:nvSpPr>
          <p:spPr bwMode="auto">
            <a:xfrm>
              <a:off x="4464" y="2784"/>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1400"/>
                <a:t>2</a:t>
              </a:r>
            </a:p>
          </p:txBody>
        </p:sp>
        <p:sp>
          <p:nvSpPr>
            <p:cNvPr id="39" name="Text Box 43"/>
            <p:cNvSpPr txBox="1">
              <a:spLocks noChangeArrowheads="1"/>
            </p:cNvSpPr>
            <p:nvPr/>
          </p:nvSpPr>
          <p:spPr bwMode="auto">
            <a:xfrm>
              <a:off x="3984" y="3312"/>
              <a:ext cx="3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a:t>-2 + t</a:t>
              </a:r>
              <a:endParaRPr lang="en-US" altLang="en-US"/>
            </a:p>
          </p:txBody>
        </p:sp>
        <p:sp>
          <p:nvSpPr>
            <p:cNvPr id="40" name="Text Box 44"/>
            <p:cNvSpPr txBox="1">
              <a:spLocks noChangeArrowheads="1"/>
            </p:cNvSpPr>
            <p:nvPr/>
          </p:nvSpPr>
          <p:spPr bwMode="auto">
            <a:xfrm>
              <a:off x="4560" y="3312"/>
              <a:ext cx="3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dirty="0"/>
                <a:t>2 + t</a:t>
              </a:r>
              <a:endParaRPr lang="en-US" altLang="en-US" dirty="0"/>
            </a:p>
          </p:txBody>
        </p:sp>
        <p:sp>
          <p:nvSpPr>
            <p:cNvPr id="41" name="Line 45"/>
            <p:cNvSpPr>
              <a:spLocks noChangeShapeType="1"/>
            </p:cNvSpPr>
            <p:nvPr/>
          </p:nvSpPr>
          <p:spPr bwMode="auto">
            <a:xfrm flipV="1">
              <a:off x="4176" y="3168"/>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 name="Line 46"/>
            <p:cNvSpPr>
              <a:spLocks noChangeShapeType="1"/>
            </p:cNvSpPr>
            <p:nvPr/>
          </p:nvSpPr>
          <p:spPr bwMode="auto">
            <a:xfrm flipV="1">
              <a:off x="4752" y="3168"/>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 name="Line 47"/>
            <p:cNvSpPr>
              <a:spLocks noChangeShapeType="1"/>
            </p:cNvSpPr>
            <p:nvPr/>
          </p:nvSpPr>
          <p:spPr bwMode="auto">
            <a:xfrm flipH="1">
              <a:off x="4752" y="2640"/>
              <a:ext cx="384" cy="144"/>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 name="Text Box 48"/>
            <p:cNvSpPr txBox="1">
              <a:spLocks noChangeArrowheads="1"/>
            </p:cNvSpPr>
            <p:nvPr/>
          </p:nvSpPr>
          <p:spPr bwMode="auto">
            <a:xfrm>
              <a:off x="5088" y="2544"/>
              <a:ext cx="3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i="1"/>
                <a:t>g</a:t>
              </a:r>
              <a:r>
                <a:rPr lang="en-US" altLang="en-US" sz="1400"/>
                <a:t>(</a:t>
              </a:r>
              <a:r>
                <a:rPr lang="en-US" altLang="en-US" sz="1400" i="1"/>
                <a:t>t-</a:t>
              </a:r>
              <a:r>
                <a:rPr lang="en-US" altLang="en-US" sz="1400" i="1">
                  <a:latin typeface="Symbol" panose="05050102010706020507" pitchFamily="18" charset="2"/>
                </a:rPr>
                <a:t>t</a:t>
              </a:r>
              <a:r>
                <a:rPr lang="en-US" altLang="en-US" sz="1400"/>
                <a:t>)</a:t>
              </a:r>
              <a:endParaRPr lang="en-US" altLang="en-US"/>
            </a:p>
          </p:txBody>
        </p:sp>
        <p:grpSp>
          <p:nvGrpSpPr>
            <p:cNvPr id="45" name="Group 49"/>
            <p:cNvGrpSpPr>
              <a:grpSpLocks/>
            </p:cNvGrpSpPr>
            <p:nvPr/>
          </p:nvGrpSpPr>
          <p:grpSpPr bwMode="auto">
            <a:xfrm>
              <a:off x="4176" y="2688"/>
              <a:ext cx="576" cy="528"/>
              <a:chOff x="3888" y="1920"/>
              <a:chExt cx="576" cy="528"/>
            </a:xfrm>
          </p:grpSpPr>
          <p:sp>
            <p:nvSpPr>
              <p:cNvPr id="46" name="Line 50"/>
              <p:cNvSpPr>
                <a:spLocks noChangeShapeType="1"/>
              </p:cNvSpPr>
              <p:nvPr/>
            </p:nvSpPr>
            <p:spPr bwMode="auto">
              <a:xfrm flipV="1">
                <a:off x="3888" y="1920"/>
                <a:ext cx="0" cy="528"/>
              </a:xfrm>
              <a:prstGeom prst="line">
                <a:avLst/>
              </a:prstGeom>
              <a:noFill/>
              <a:ln w="28575">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 name="Line 51"/>
              <p:cNvSpPr>
                <a:spLocks noChangeShapeType="1"/>
              </p:cNvSpPr>
              <p:nvPr/>
            </p:nvSpPr>
            <p:spPr bwMode="auto">
              <a:xfrm>
                <a:off x="3888" y="1920"/>
                <a:ext cx="576" cy="0"/>
              </a:xfrm>
              <a:prstGeom prst="line">
                <a:avLst/>
              </a:prstGeom>
              <a:noFill/>
              <a:ln w="28575">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 name="Line 52"/>
              <p:cNvSpPr>
                <a:spLocks noChangeShapeType="1"/>
              </p:cNvSpPr>
              <p:nvPr/>
            </p:nvSpPr>
            <p:spPr bwMode="auto">
              <a:xfrm>
                <a:off x="4464" y="1920"/>
                <a:ext cx="0" cy="528"/>
              </a:xfrm>
              <a:prstGeom prst="line">
                <a:avLst/>
              </a:prstGeom>
              <a:noFill/>
              <a:ln w="28575">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49" name="Rectangle 54"/>
          <p:cNvSpPr txBox="1">
            <a:spLocks noChangeArrowheads="1"/>
          </p:cNvSpPr>
          <p:nvPr/>
        </p:nvSpPr>
        <p:spPr>
          <a:xfrm>
            <a:off x="1676400" y="1066800"/>
            <a:ext cx="8839200" cy="4419600"/>
          </a:xfrm>
          <a:prstGeom prst="rect">
            <a:avLst/>
          </a:prstGeom>
        </p:spPr>
        <p:txBody>
          <a:bodyPr/>
          <a:lstStyle>
            <a:lvl1pPr marL="0" indent="0" algn="l" rtl="0" fontAlgn="base">
              <a:spcBef>
                <a:spcPct val="20000"/>
              </a:spcBef>
              <a:spcAft>
                <a:spcPct val="0"/>
              </a:spcAft>
              <a:buClr>
                <a:srgbClr val="691638"/>
              </a:buClr>
              <a:buNone/>
              <a:defRPr sz="2800">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914400" lvl="2" indent="0">
              <a:spcBef>
                <a:spcPts val="0"/>
              </a:spcBef>
              <a:buNone/>
            </a:pPr>
            <a:endParaRPr lang="en-US" altLang="en-US" sz="2400" kern="0" dirty="0"/>
          </a:p>
          <a:p>
            <a:pPr marL="914400" lvl="2" indent="0">
              <a:spcBef>
                <a:spcPts val="0"/>
              </a:spcBef>
              <a:buNone/>
            </a:pPr>
            <a:r>
              <a:rPr lang="en-US" altLang="en-US" sz="2400" b="1" kern="0" dirty="0">
                <a:solidFill>
                  <a:srgbClr val="0000FF"/>
                </a:solidFill>
              </a:rPr>
              <a:t>Case I: t &lt; -2</a:t>
            </a:r>
          </a:p>
          <a:p>
            <a:pPr marL="914400" lvl="2" indent="0">
              <a:spcBef>
                <a:spcPts val="0"/>
              </a:spcBef>
              <a:buNone/>
            </a:pPr>
            <a:r>
              <a:rPr lang="en-US" altLang="en-US" sz="2400" kern="0" dirty="0"/>
              <a:t>No overlap</a:t>
            </a:r>
          </a:p>
          <a:p>
            <a:pPr marL="914400" lvl="2" indent="0">
              <a:spcBef>
                <a:spcPts val="0"/>
              </a:spcBef>
              <a:buNone/>
            </a:pPr>
            <a:r>
              <a:rPr lang="en-US" altLang="en-US" sz="2400" kern="0" dirty="0"/>
              <a:t>Area under the product being zero</a:t>
            </a:r>
          </a:p>
          <a:p>
            <a:pPr marL="914400" lvl="2" indent="0">
              <a:spcBef>
                <a:spcPts val="0"/>
              </a:spcBef>
              <a:buNone/>
            </a:pPr>
            <a:endParaRPr lang="en-US" altLang="en-US" sz="2400" kern="0" dirty="0"/>
          </a:p>
          <a:p>
            <a:pPr marL="914400" lvl="2" indent="0">
              <a:spcBef>
                <a:spcPts val="0"/>
              </a:spcBef>
              <a:buNone/>
            </a:pPr>
            <a:endParaRPr lang="en-US" altLang="en-US" sz="2400" kern="0" dirty="0"/>
          </a:p>
          <a:p>
            <a:pPr marL="914400" lvl="2" indent="0">
              <a:spcBef>
                <a:spcPts val="0"/>
              </a:spcBef>
              <a:buNone/>
            </a:pPr>
            <a:r>
              <a:rPr lang="en-US" altLang="en-US" sz="2400" b="1" kern="0" dirty="0">
                <a:solidFill>
                  <a:srgbClr val="0000FF"/>
                </a:solidFill>
              </a:rPr>
              <a:t>Case II: -2 </a:t>
            </a:r>
            <a:r>
              <a:rPr lang="en-US" altLang="en-US" sz="2400" b="1" kern="0" dirty="0">
                <a:solidFill>
                  <a:srgbClr val="0000FF"/>
                </a:solidFill>
                <a:sym typeface="Symbol" panose="05050102010706020507" pitchFamily="18" charset="2"/>
              </a:rPr>
              <a:t></a:t>
            </a:r>
            <a:r>
              <a:rPr lang="en-US" altLang="en-US" sz="2400" b="1" kern="0" dirty="0">
                <a:solidFill>
                  <a:srgbClr val="0000FF"/>
                </a:solidFill>
              </a:rPr>
              <a:t> t &lt; 0</a:t>
            </a:r>
          </a:p>
          <a:p>
            <a:pPr marL="914400" lvl="2" indent="0">
              <a:spcBef>
                <a:spcPts val="0"/>
              </a:spcBef>
              <a:buNone/>
            </a:pPr>
            <a:r>
              <a:rPr lang="en-US" altLang="en-US" sz="2400" kern="0" dirty="0">
                <a:solidFill>
                  <a:schemeClr val="tx1"/>
                </a:solidFill>
              </a:rPr>
              <a:t>g(t)</a:t>
            </a:r>
            <a:r>
              <a:rPr lang="en-US" altLang="en-US" sz="2400" kern="0" dirty="0"/>
              <a:t> partially overlaps </a:t>
            </a:r>
            <a:r>
              <a:rPr lang="en-US" altLang="en-US" sz="2400" kern="0" dirty="0">
                <a:solidFill>
                  <a:schemeClr val="tx1"/>
                </a:solidFill>
              </a:rPr>
              <a:t>f(t)</a:t>
            </a:r>
            <a:endParaRPr lang="en-US" altLang="en-US" sz="2400" kern="0" dirty="0"/>
          </a:p>
          <a:p>
            <a:pPr marL="914400" lvl="2" indent="0">
              <a:spcBef>
                <a:spcPts val="0"/>
              </a:spcBef>
              <a:buNone/>
            </a:pPr>
            <a:r>
              <a:rPr lang="en-US" altLang="en-US" sz="2400" kern="0" dirty="0"/>
              <a:t>Area under the product is</a:t>
            </a:r>
          </a:p>
        </p:txBody>
      </p:sp>
      <p:cxnSp>
        <p:nvCxnSpPr>
          <p:cNvPr id="51" name="Straight Connector 50"/>
          <p:cNvCxnSpPr/>
          <p:nvPr/>
        </p:nvCxnSpPr>
        <p:spPr bwMode="auto">
          <a:xfrm>
            <a:off x="8382004" y="1295400"/>
            <a:ext cx="0" cy="1219200"/>
          </a:xfrm>
          <a:prstGeom prst="line">
            <a:avLst/>
          </a:prstGeom>
          <a:solidFill>
            <a:schemeClr val="accent1"/>
          </a:solidFill>
          <a:ln w="25400" cap="flat" cmpd="sng" algn="ctr">
            <a:solidFill>
              <a:srgbClr val="FF0000"/>
            </a:solidFill>
            <a:prstDash val="dash"/>
            <a:round/>
            <a:headEnd type="none" w="med" len="med"/>
            <a:tailEnd type="none" w="med" len="med"/>
          </a:ln>
          <a:effectLst/>
        </p:spPr>
      </p:cxnSp>
      <p:sp>
        <p:nvSpPr>
          <p:cNvPr id="52" name="Text Box 9"/>
          <p:cNvSpPr txBox="1">
            <a:spLocks noChangeArrowheads="1"/>
          </p:cNvSpPr>
          <p:nvPr/>
        </p:nvSpPr>
        <p:spPr bwMode="auto">
          <a:xfrm>
            <a:off x="8350545" y="2205335"/>
            <a:ext cx="132641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1400" b="1" i="1" dirty="0">
                <a:solidFill>
                  <a:srgbClr val="FF0000"/>
                </a:solidFill>
                <a:latin typeface="Symbol" panose="05050102010706020507" pitchFamily="18" charset="2"/>
              </a:rPr>
              <a:t>t=</a:t>
            </a:r>
            <a:r>
              <a:rPr lang="en-US" altLang="en-US" sz="1400" b="1" dirty="0">
                <a:solidFill>
                  <a:srgbClr val="FF0000"/>
                </a:solidFill>
              </a:rPr>
              <a:t> t</a:t>
            </a:r>
            <a:endParaRPr lang="en-US" altLang="en-US" b="1" dirty="0">
              <a:solidFill>
                <a:srgbClr val="FF0000"/>
              </a:solidFill>
              <a:latin typeface="+mn-lt"/>
            </a:endParaRPr>
          </a:p>
        </p:txBody>
      </p:sp>
    </p:spTree>
    <p:extLst>
      <p:ext uri="{BB962C8B-B14F-4D97-AF65-F5344CB8AC3E}">
        <p14:creationId xmlns:p14="http://schemas.microsoft.com/office/powerpoint/2010/main" val="26617637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Rest 3 of 5 Steps</a:t>
            </a:r>
          </a:p>
        </p:txBody>
      </p:sp>
      <p:sp>
        <p:nvSpPr>
          <p:cNvPr id="4" name="Rectangle 3"/>
          <p:cNvSpPr txBox="1">
            <a:spLocks noChangeArrowheads="1"/>
          </p:cNvSpPr>
          <p:nvPr/>
        </p:nvSpPr>
        <p:spPr>
          <a:xfrm>
            <a:off x="1525775" y="1066007"/>
            <a:ext cx="6189919" cy="5664403"/>
          </a:xfrm>
          <a:prstGeom prst="rect">
            <a:avLst/>
          </a:prstGeom>
        </p:spPr>
        <p:txBody>
          <a:bodyPr/>
          <a:lstStyle>
            <a:lvl1pPr marL="0" indent="0" algn="l" rtl="0" fontAlgn="base">
              <a:spcBef>
                <a:spcPct val="20000"/>
              </a:spcBef>
              <a:spcAft>
                <a:spcPct val="0"/>
              </a:spcAft>
              <a:buClr>
                <a:srgbClr val="691638"/>
              </a:buClr>
              <a:buNone/>
              <a:defRPr sz="2800">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457200" lvl="1" indent="0">
              <a:spcBef>
                <a:spcPts val="600"/>
              </a:spcBef>
              <a:buNone/>
            </a:pPr>
            <a:r>
              <a:rPr lang="en-US" altLang="en-US" b="1" kern="0" dirty="0">
                <a:solidFill>
                  <a:srgbClr val="0000FF"/>
                </a:solidFill>
              </a:rPr>
              <a:t>Case III: 0 </a:t>
            </a:r>
            <a:r>
              <a:rPr lang="en-US" altLang="en-US" b="1" kern="0" dirty="0">
                <a:solidFill>
                  <a:srgbClr val="0000FF"/>
                </a:solidFill>
                <a:sym typeface="Symbol" panose="05050102010706020507" pitchFamily="18" charset="2"/>
              </a:rPr>
              <a:t></a:t>
            </a:r>
            <a:r>
              <a:rPr lang="en-US" altLang="en-US" b="1" kern="0" dirty="0">
                <a:solidFill>
                  <a:srgbClr val="0000FF"/>
                </a:solidFill>
              </a:rPr>
              <a:t> t &lt; 2</a:t>
            </a:r>
          </a:p>
          <a:p>
            <a:pPr marL="457200" lvl="1" indent="0">
              <a:spcBef>
                <a:spcPts val="600"/>
              </a:spcBef>
              <a:buNone/>
            </a:pPr>
            <a:r>
              <a:rPr lang="en-US" altLang="en-US" kern="0" dirty="0">
                <a:solidFill>
                  <a:schemeClr val="tx1"/>
                </a:solidFill>
              </a:rPr>
              <a:t>g(t)</a:t>
            </a:r>
            <a:r>
              <a:rPr lang="en-US" altLang="en-US" kern="0" dirty="0"/>
              <a:t> contains </a:t>
            </a:r>
            <a:r>
              <a:rPr lang="en-US" altLang="en-US" kern="0" dirty="0">
                <a:solidFill>
                  <a:schemeClr val="tx1"/>
                </a:solidFill>
              </a:rPr>
              <a:t>f(t)</a:t>
            </a:r>
          </a:p>
          <a:p>
            <a:pPr marL="457200" lvl="1" indent="0">
              <a:spcBef>
                <a:spcPts val="600"/>
              </a:spcBef>
              <a:buNone/>
            </a:pPr>
            <a:endParaRPr lang="en-US" altLang="en-US" kern="0" dirty="0"/>
          </a:p>
          <a:p>
            <a:pPr marL="457200" lvl="1" indent="0">
              <a:spcBef>
                <a:spcPts val="600"/>
              </a:spcBef>
              <a:buNone/>
            </a:pPr>
            <a:endParaRPr lang="en-US" altLang="en-US" kern="0" dirty="0"/>
          </a:p>
          <a:p>
            <a:pPr marL="457200" lvl="1" indent="0">
              <a:spcBef>
                <a:spcPts val="600"/>
              </a:spcBef>
              <a:buNone/>
            </a:pPr>
            <a:endParaRPr lang="en-US" altLang="en-US" kern="0" dirty="0"/>
          </a:p>
          <a:p>
            <a:pPr marL="457200" lvl="1" indent="0">
              <a:spcBef>
                <a:spcPts val="600"/>
              </a:spcBef>
              <a:buNone/>
            </a:pPr>
            <a:r>
              <a:rPr lang="en-US" altLang="en-US" b="1" kern="0" dirty="0">
                <a:solidFill>
                  <a:srgbClr val="0000FF"/>
                </a:solidFill>
              </a:rPr>
              <a:t>Case IV: 2 </a:t>
            </a:r>
            <a:r>
              <a:rPr lang="en-US" altLang="en-US" b="1" kern="0" dirty="0">
                <a:solidFill>
                  <a:srgbClr val="0000FF"/>
                </a:solidFill>
                <a:sym typeface="Symbol" panose="05050102010706020507" pitchFamily="18" charset="2"/>
              </a:rPr>
              <a:t></a:t>
            </a:r>
            <a:r>
              <a:rPr lang="en-US" altLang="en-US" b="1" kern="0" dirty="0">
                <a:solidFill>
                  <a:srgbClr val="0000FF"/>
                </a:solidFill>
              </a:rPr>
              <a:t> t &lt; 4</a:t>
            </a:r>
          </a:p>
          <a:p>
            <a:pPr marL="457200" lvl="1" indent="0">
              <a:spcBef>
                <a:spcPts val="600"/>
              </a:spcBef>
              <a:buNone/>
            </a:pPr>
            <a:r>
              <a:rPr lang="en-US" altLang="en-US" kern="0" dirty="0"/>
              <a:t>Partial overlap again</a:t>
            </a:r>
          </a:p>
          <a:p>
            <a:pPr marL="457200" lvl="1" indent="0">
              <a:spcBef>
                <a:spcPts val="600"/>
              </a:spcBef>
              <a:buNone/>
            </a:pPr>
            <a:endParaRPr lang="en-US" altLang="en-US" kern="0" dirty="0"/>
          </a:p>
          <a:p>
            <a:pPr marL="457200" lvl="1" indent="0">
              <a:spcBef>
                <a:spcPts val="600"/>
              </a:spcBef>
              <a:buNone/>
            </a:pPr>
            <a:endParaRPr lang="en-US" altLang="en-US" kern="0" dirty="0"/>
          </a:p>
          <a:p>
            <a:pPr marL="457200" lvl="1" indent="0">
              <a:spcBef>
                <a:spcPts val="600"/>
              </a:spcBef>
              <a:buNone/>
            </a:pPr>
            <a:endParaRPr lang="en-US" altLang="en-US" kern="0" dirty="0"/>
          </a:p>
          <a:p>
            <a:pPr marL="457200" lvl="1" indent="0">
              <a:spcBef>
                <a:spcPts val="600"/>
              </a:spcBef>
              <a:buNone/>
            </a:pPr>
            <a:r>
              <a:rPr lang="en-US" altLang="en-US" b="1" kern="0" dirty="0">
                <a:solidFill>
                  <a:srgbClr val="0000FF"/>
                </a:solidFill>
              </a:rPr>
              <a:t>Case V: t </a:t>
            </a:r>
            <a:r>
              <a:rPr lang="en-US" altLang="en-US" b="1" kern="0" dirty="0">
                <a:solidFill>
                  <a:srgbClr val="0000FF"/>
                </a:solidFill>
                <a:sym typeface="Symbol" panose="05050102010706020507" pitchFamily="18" charset="2"/>
              </a:rPr>
              <a:t></a:t>
            </a:r>
            <a:r>
              <a:rPr lang="en-US" altLang="en-US" b="1" kern="0" dirty="0">
                <a:solidFill>
                  <a:srgbClr val="0000FF"/>
                </a:solidFill>
              </a:rPr>
              <a:t> 4</a:t>
            </a:r>
          </a:p>
          <a:p>
            <a:pPr marL="457200" lvl="1" indent="0">
              <a:spcBef>
                <a:spcPts val="600"/>
              </a:spcBef>
              <a:buNone/>
            </a:pPr>
            <a:r>
              <a:rPr lang="en-US" altLang="en-US" kern="0" dirty="0"/>
              <a:t>Area under their product is zero</a:t>
            </a:r>
          </a:p>
        </p:txBody>
      </p:sp>
      <p:graphicFrame>
        <p:nvGraphicFramePr>
          <p:cNvPr id="5" name="Object 4"/>
          <p:cNvGraphicFramePr>
            <a:graphicFrameLocks noChangeAspect="1"/>
          </p:cNvGraphicFramePr>
          <p:nvPr/>
        </p:nvGraphicFramePr>
        <p:xfrm>
          <a:off x="2070287" y="2093914"/>
          <a:ext cx="3954462" cy="954087"/>
        </p:xfrm>
        <a:graphic>
          <a:graphicData uri="http://schemas.openxmlformats.org/presentationml/2006/ole">
            <mc:AlternateContent xmlns:mc="http://schemas.openxmlformats.org/markup-compatibility/2006">
              <mc:Choice xmlns:v="urn:schemas-microsoft-com:vml" Requires="v">
                <p:oleObj name="Equation" r:id="rId3" imgW="2197080" imgH="533160" progId="Equation.3">
                  <p:embed/>
                </p:oleObj>
              </mc:Choice>
              <mc:Fallback>
                <p:oleObj name="Equation" r:id="rId3" imgW="2197080" imgH="533160" progId="Equation.3">
                  <p:embed/>
                  <p:pic>
                    <p:nvPicPr>
                      <p:cNvPr id="4" name="Object 4"/>
                      <p:cNvPicPr>
                        <a:picLocks noChangeAspect="1" noChangeArrowheads="1"/>
                      </p:cNvPicPr>
                      <p:nvPr/>
                    </p:nvPicPr>
                    <p:blipFill>
                      <a:blip r:embed="rId4"/>
                      <a:srcRect/>
                      <a:stretch>
                        <a:fillRect/>
                      </a:stretch>
                    </p:blipFill>
                    <p:spPr bwMode="auto">
                      <a:xfrm>
                        <a:off x="2070287" y="2093914"/>
                        <a:ext cx="3954462" cy="954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53"/>
          <p:cNvGrpSpPr>
            <a:grpSpLocks/>
          </p:cNvGrpSpPr>
          <p:nvPr/>
        </p:nvGrpSpPr>
        <p:grpSpPr bwMode="auto">
          <a:xfrm>
            <a:off x="7639493" y="1745720"/>
            <a:ext cx="2514600" cy="1676400"/>
            <a:chOff x="3840" y="1200"/>
            <a:chExt cx="1584" cy="1056"/>
          </a:xfrm>
        </p:grpSpPr>
        <p:sp>
          <p:nvSpPr>
            <p:cNvPr id="7" name="Line 6"/>
            <p:cNvSpPr>
              <a:spLocks noChangeShapeType="1"/>
            </p:cNvSpPr>
            <p:nvPr/>
          </p:nvSpPr>
          <p:spPr bwMode="auto">
            <a:xfrm>
              <a:off x="3840" y="1968"/>
              <a:ext cx="110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Line 7"/>
            <p:cNvSpPr>
              <a:spLocks noChangeShapeType="1"/>
            </p:cNvSpPr>
            <p:nvPr/>
          </p:nvSpPr>
          <p:spPr bwMode="auto">
            <a:xfrm>
              <a:off x="4320" y="1200"/>
              <a:ext cx="0" cy="864"/>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Text Box 8"/>
            <p:cNvSpPr txBox="1">
              <a:spLocks noChangeArrowheads="1"/>
            </p:cNvSpPr>
            <p:nvPr/>
          </p:nvSpPr>
          <p:spPr bwMode="auto">
            <a:xfrm>
              <a:off x="4320" y="1248"/>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a:t>3</a:t>
              </a:r>
              <a:endParaRPr lang="en-US" altLang="en-US"/>
            </a:p>
          </p:txBody>
        </p:sp>
        <p:sp>
          <p:nvSpPr>
            <p:cNvPr id="10" name="Text Box 9"/>
            <p:cNvSpPr txBox="1">
              <a:spLocks noChangeArrowheads="1"/>
            </p:cNvSpPr>
            <p:nvPr/>
          </p:nvSpPr>
          <p:spPr bwMode="auto">
            <a:xfrm>
              <a:off x="4944" y="1872"/>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i="1">
                  <a:latin typeface="Symbol" panose="05050102010706020507" pitchFamily="18" charset="2"/>
                </a:rPr>
                <a:t>t</a:t>
              </a:r>
              <a:endParaRPr lang="en-US" altLang="en-US"/>
            </a:p>
          </p:txBody>
        </p:sp>
        <p:sp>
          <p:nvSpPr>
            <p:cNvPr id="11" name="Text Box 10"/>
            <p:cNvSpPr txBox="1">
              <a:spLocks noChangeArrowheads="1"/>
            </p:cNvSpPr>
            <p:nvPr/>
          </p:nvSpPr>
          <p:spPr bwMode="auto">
            <a:xfrm>
              <a:off x="4560" y="1968"/>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1400"/>
                <a:t>2</a:t>
              </a:r>
            </a:p>
          </p:txBody>
        </p:sp>
        <p:sp>
          <p:nvSpPr>
            <p:cNvPr id="12" name="Line 12"/>
            <p:cNvSpPr>
              <a:spLocks noChangeShapeType="1"/>
            </p:cNvSpPr>
            <p:nvPr/>
          </p:nvSpPr>
          <p:spPr bwMode="auto">
            <a:xfrm>
              <a:off x="4320" y="1632"/>
              <a:ext cx="288" cy="336"/>
            </a:xfrm>
            <a:prstGeom prst="line">
              <a:avLst/>
            </a:prstGeom>
            <a:noFill/>
            <a:ln w="28575">
              <a:solidFill>
                <a:srgbClr val="FF010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Line 13"/>
            <p:cNvSpPr>
              <a:spLocks noChangeShapeType="1"/>
            </p:cNvSpPr>
            <p:nvPr/>
          </p:nvSpPr>
          <p:spPr bwMode="auto">
            <a:xfrm flipH="1">
              <a:off x="4512" y="1728"/>
              <a:ext cx="432" cy="96"/>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Text Box 14"/>
            <p:cNvSpPr txBox="1">
              <a:spLocks noChangeArrowheads="1"/>
            </p:cNvSpPr>
            <p:nvPr/>
          </p:nvSpPr>
          <p:spPr bwMode="auto">
            <a:xfrm>
              <a:off x="4896" y="1632"/>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i="1"/>
                <a:t>f</a:t>
              </a:r>
              <a:r>
                <a:rPr lang="en-US" altLang="en-US" sz="1400"/>
                <a:t>(</a:t>
              </a:r>
              <a:r>
                <a:rPr lang="en-US" altLang="en-US" sz="1400" i="1">
                  <a:latin typeface="Symbol" panose="05050102010706020507" pitchFamily="18" charset="2"/>
                </a:rPr>
                <a:t>t</a:t>
              </a:r>
              <a:r>
                <a:rPr lang="en-US" altLang="en-US" sz="1400"/>
                <a:t>)</a:t>
              </a:r>
              <a:endParaRPr lang="en-US" altLang="en-US"/>
            </a:p>
          </p:txBody>
        </p:sp>
        <p:sp>
          <p:nvSpPr>
            <p:cNvPr id="15" name="Line 15"/>
            <p:cNvSpPr>
              <a:spLocks noChangeShapeType="1"/>
            </p:cNvSpPr>
            <p:nvPr/>
          </p:nvSpPr>
          <p:spPr bwMode="auto">
            <a:xfrm>
              <a:off x="4608" y="1920"/>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Line 16"/>
            <p:cNvSpPr>
              <a:spLocks noChangeShapeType="1"/>
            </p:cNvSpPr>
            <p:nvPr/>
          </p:nvSpPr>
          <p:spPr bwMode="auto">
            <a:xfrm>
              <a:off x="4272" y="1632"/>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Text Box 17"/>
            <p:cNvSpPr txBox="1">
              <a:spLocks noChangeArrowheads="1"/>
            </p:cNvSpPr>
            <p:nvPr/>
          </p:nvSpPr>
          <p:spPr bwMode="auto">
            <a:xfrm>
              <a:off x="4128" y="1536"/>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1400"/>
                <a:t>2</a:t>
              </a:r>
            </a:p>
          </p:txBody>
        </p:sp>
        <p:sp>
          <p:nvSpPr>
            <p:cNvPr id="18" name="Text Box 19"/>
            <p:cNvSpPr txBox="1">
              <a:spLocks noChangeArrowheads="1"/>
            </p:cNvSpPr>
            <p:nvPr/>
          </p:nvSpPr>
          <p:spPr bwMode="auto">
            <a:xfrm>
              <a:off x="3936" y="2064"/>
              <a:ext cx="3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a:t>-2 + t</a:t>
              </a:r>
              <a:endParaRPr lang="en-US" altLang="en-US"/>
            </a:p>
          </p:txBody>
        </p:sp>
        <p:sp>
          <p:nvSpPr>
            <p:cNvPr id="19" name="Text Box 20"/>
            <p:cNvSpPr txBox="1">
              <a:spLocks noChangeArrowheads="1"/>
            </p:cNvSpPr>
            <p:nvPr/>
          </p:nvSpPr>
          <p:spPr bwMode="auto">
            <a:xfrm>
              <a:off x="4512" y="2064"/>
              <a:ext cx="3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a:t>2 + t</a:t>
              </a:r>
              <a:endParaRPr lang="en-US" altLang="en-US"/>
            </a:p>
          </p:txBody>
        </p:sp>
        <p:sp>
          <p:nvSpPr>
            <p:cNvPr id="20" name="Line 21"/>
            <p:cNvSpPr>
              <a:spLocks noChangeShapeType="1"/>
            </p:cNvSpPr>
            <p:nvPr/>
          </p:nvSpPr>
          <p:spPr bwMode="auto">
            <a:xfrm flipV="1">
              <a:off x="4128" y="1920"/>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22"/>
            <p:cNvSpPr>
              <a:spLocks noChangeShapeType="1"/>
            </p:cNvSpPr>
            <p:nvPr/>
          </p:nvSpPr>
          <p:spPr bwMode="auto">
            <a:xfrm flipV="1">
              <a:off x="4704" y="1920"/>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Line 23"/>
            <p:cNvSpPr>
              <a:spLocks noChangeShapeType="1"/>
            </p:cNvSpPr>
            <p:nvPr/>
          </p:nvSpPr>
          <p:spPr bwMode="auto">
            <a:xfrm flipH="1">
              <a:off x="4704" y="1392"/>
              <a:ext cx="384" cy="144"/>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Text Box 24"/>
            <p:cNvSpPr txBox="1">
              <a:spLocks noChangeArrowheads="1"/>
            </p:cNvSpPr>
            <p:nvPr/>
          </p:nvSpPr>
          <p:spPr bwMode="auto">
            <a:xfrm>
              <a:off x="5040" y="1296"/>
              <a:ext cx="3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i="1"/>
                <a:t>g</a:t>
              </a:r>
              <a:r>
                <a:rPr lang="en-US" altLang="en-US" sz="1400"/>
                <a:t>(</a:t>
              </a:r>
              <a:r>
                <a:rPr lang="en-US" altLang="en-US" sz="1400" i="1"/>
                <a:t>t-</a:t>
              </a:r>
              <a:r>
                <a:rPr lang="en-US" altLang="en-US" sz="1400" i="1">
                  <a:latin typeface="Symbol" panose="05050102010706020507" pitchFamily="18" charset="2"/>
                </a:rPr>
                <a:t>t</a:t>
              </a:r>
              <a:r>
                <a:rPr lang="en-US" altLang="en-US" sz="1400"/>
                <a:t>)</a:t>
              </a:r>
              <a:endParaRPr lang="en-US" altLang="en-US"/>
            </a:p>
          </p:txBody>
        </p:sp>
        <p:grpSp>
          <p:nvGrpSpPr>
            <p:cNvPr id="24" name="Group 25"/>
            <p:cNvGrpSpPr>
              <a:grpSpLocks/>
            </p:cNvGrpSpPr>
            <p:nvPr/>
          </p:nvGrpSpPr>
          <p:grpSpPr bwMode="auto">
            <a:xfrm>
              <a:off x="4128" y="1440"/>
              <a:ext cx="576" cy="528"/>
              <a:chOff x="3888" y="1920"/>
              <a:chExt cx="576" cy="528"/>
            </a:xfrm>
          </p:grpSpPr>
          <p:sp>
            <p:nvSpPr>
              <p:cNvPr id="25" name="Line 26"/>
              <p:cNvSpPr>
                <a:spLocks noChangeShapeType="1"/>
              </p:cNvSpPr>
              <p:nvPr/>
            </p:nvSpPr>
            <p:spPr bwMode="auto">
              <a:xfrm flipV="1">
                <a:off x="3888" y="1920"/>
                <a:ext cx="0" cy="528"/>
              </a:xfrm>
              <a:prstGeom prst="line">
                <a:avLst/>
              </a:prstGeom>
              <a:noFill/>
              <a:ln w="28575">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Line 27"/>
              <p:cNvSpPr>
                <a:spLocks noChangeShapeType="1"/>
              </p:cNvSpPr>
              <p:nvPr/>
            </p:nvSpPr>
            <p:spPr bwMode="auto">
              <a:xfrm>
                <a:off x="3888" y="1920"/>
                <a:ext cx="576" cy="0"/>
              </a:xfrm>
              <a:prstGeom prst="line">
                <a:avLst/>
              </a:prstGeom>
              <a:noFill/>
              <a:ln w="28575">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Line 28"/>
              <p:cNvSpPr>
                <a:spLocks noChangeShapeType="1"/>
              </p:cNvSpPr>
              <p:nvPr/>
            </p:nvSpPr>
            <p:spPr bwMode="auto">
              <a:xfrm>
                <a:off x="4464" y="1920"/>
                <a:ext cx="0" cy="528"/>
              </a:xfrm>
              <a:prstGeom prst="line">
                <a:avLst/>
              </a:prstGeom>
              <a:noFill/>
              <a:ln w="28575">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28" name="Group 54"/>
          <p:cNvGrpSpPr>
            <a:grpSpLocks/>
          </p:cNvGrpSpPr>
          <p:nvPr/>
        </p:nvGrpSpPr>
        <p:grpSpPr bwMode="auto">
          <a:xfrm>
            <a:off x="7677593" y="3544093"/>
            <a:ext cx="2971800" cy="1676400"/>
            <a:chOff x="3840" y="2448"/>
            <a:chExt cx="1872" cy="1056"/>
          </a:xfrm>
        </p:grpSpPr>
        <p:sp>
          <p:nvSpPr>
            <p:cNvPr id="29" name="Line 30"/>
            <p:cNvSpPr>
              <a:spLocks noChangeShapeType="1"/>
            </p:cNvSpPr>
            <p:nvPr/>
          </p:nvSpPr>
          <p:spPr bwMode="auto">
            <a:xfrm>
              <a:off x="3840" y="3216"/>
              <a:ext cx="139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Line 31"/>
            <p:cNvSpPr>
              <a:spLocks noChangeShapeType="1"/>
            </p:cNvSpPr>
            <p:nvPr/>
          </p:nvSpPr>
          <p:spPr bwMode="auto">
            <a:xfrm>
              <a:off x="4320" y="2448"/>
              <a:ext cx="0" cy="864"/>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Text Box 32"/>
            <p:cNvSpPr txBox="1">
              <a:spLocks noChangeArrowheads="1"/>
            </p:cNvSpPr>
            <p:nvPr/>
          </p:nvSpPr>
          <p:spPr bwMode="auto">
            <a:xfrm>
              <a:off x="4320" y="2496"/>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a:t>3</a:t>
              </a:r>
              <a:endParaRPr lang="en-US" altLang="en-US"/>
            </a:p>
          </p:txBody>
        </p:sp>
        <p:sp>
          <p:nvSpPr>
            <p:cNvPr id="32" name="Text Box 33"/>
            <p:cNvSpPr txBox="1">
              <a:spLocks noChangeArrowheads="1"/>
            </p:cNvSpPr>
            <p:nvPr/>
          </p:nvSpPr>
          <p:spPr bwMode="auto">
            <a:xfrm>
              <a:off x="5328" y="3120"/>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i="1">
                  <a:latin typeface="Symbol" panose="05050102010706020507" pitchFamily="18" charset="2"/>
                </a:rPr>
                <a:t>t</a:t>
              </a:r>
              <a:endParaRPr lang="en-US" altLang="en-US"/>
            </a:p>
          </p:txBody>
        </p:sp>
        <p:sp>
          <p:nvSpPr>
            <p:cNvPr id="33" name="Text Box 34"/>
            <p:cNvSpPr txBox="1">
              <a:spLocks noChangeArrowheads="1"/>
            </p:cNvSpPr>
            <p:nvPr/>
          </p:nvSpPr>
          <p:spPr bwMode="auto">
            <a:xfrm>
              <a:off x="4560" y="3216"/>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1400"/>
                <a:t>2</a:t>
              </a:r>
            </a:p>
          </p:txBody>
        </p:sp>
        <p:sp>
          <p:nvSpPr>
            <p:cNvPr id="34" name="Line 36"/>
            <p:cNvSpPr>
              <a:spLocks noChangeShapeType="1"/>
            </p:cNvSpPr>
            <p:nvPr/>
          </p:nvSpPr>
          <p:spPr bwMode="auto">
            <a:xfrm>
              <a:off x="4320" y="2880"/>
              <a:ext cx="288" cy="336"/>
            </a:xfrm>
            <a:prstGeom prst="line">
              <a:avLst/>
            </a:prstGeom>
            <a:noFill/>
            <a:ln w="28575">
              <a:solidFill>
                <a:srgbClr val="FF010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Line 37"/>
            <p:cNvSpPr>
              <a:spLocks noChangeShapeType="1"/>
            </p:cNvSpPr>
            <p:nvPr/>
          </p:nvSpPr>
          <p:spPr bwMode="auto">
            <a:xfrm flipH="1">
              <a:off x="4512" y="2976"/>
              <a:ext cx="624" cy="96"/>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 name="Text Box 38"/>
            <p:cNvSpPr txBox="1">
              <a:spLocks noChangeArrowheads="1"/>
            </p:cNvSpPr>
            <p:nvPr/>
          </p:nvSpPr>
          <p:spPr bwMode="auto">
            <a:xfrm>
              <a:off x="5088" y="2880"/>
              <a:ext cx="2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i="1"/>
                <a:t>f</a:t>
              </a:r>
              <a:r>
                <a:rPr lang="en-US" altLang="en-US" sz="1400"/>
                <a:t>(</a:t>
              </a:r>
              <a:r>
                <a:rPr lang="en-US" altLang="en-US" sz="1400" i="1">
                  <a:latin typeface="Symbol" panose="05050102010706020507" pitchFamily="18" charset="2"/>
                </a:rPr>
                <a:t>t</a:t>
              </a:r>
              <a:r>
                <a:rPr lang="en-US" altLang="en-US" sz="1400"/>
                <a:t>)</a:t>
              </a:r>
              <a:endParaRPr lang="en-US" altLang="en-US"/>
            </a:p>
          </p:txBody>
        </p:sp>
        <p:sp>
          <p:nvSpPr>
            <p:cNvPr id="37" name="Line 39"/>
            <p:cNvSpPr>
              <a:spLocks noChangeShapeType="1"/>
            </p:cNvSpPr>
            <p:nvPr/>
          </p:nvSpPr>
          <p:spPr bwMode="auto">
            <a:xfrm>
              <a:off x="4608" y="3168"/>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 name="Line 40"/>
            <p:cNvSpPr>
              <a:spLocks noChangeShapeType="1"/>
            </p:cNvSpPr>
            <p:nvPr/>
          </p:nvSpPr>
          <p:spPr bwMode="auto">
            <a:xfrm>
              <a:off x="4272" y="2880"/>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 name="Text Box 41"/>
            <p:cNvSpPr txBox="1">
              <a:spLocks noChangeArrowheads="1"/>
            </p:cNvSpPr>
            <p:nvPr/>
          </p:nvSpPr>
          <p:spPr bwMode="auto">
            <a:xfrm>
              <a:off x="4128" y="2784"/>
              <a:ext cx="1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1400"/>
                <a:t>2</a:t>
              </a:r>
            </a:p>
          </p:txBody>
        </p:sp>
        <p:sp>
          <p:nvSpPr>
            <p:cNvPr id="40" name="Text Box 43"/>
            <p:cNvSpPr txBox="1">
              <a:spLocks noChangeArrowheads="1"/>
            </p:cNvSpPr>
            <p:nvPr/>
          </p:nvSpPr>
          <p:spPr bwMode="auto">
            <a:xfrm>
              <a:off x="4224" y="3312"/>
              <a:ext cx="3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a:t>-2 + t</a:t>
              </a:r>
              <a:endParaRPr lang="en-US" altLang="en-US"/>
            </a:p>
          </p:txBody>
        </p:sp>
        <p:sp>
          <p:nvSpPr>
            <p:cNvPr id="41" name="Text Box 44"/>
            <p:cNvSpPr txBox="1">
              <a:spLocks noChangeArrowheads="1"/>
            </p:cNvSpPr>
            <p:nvPr/>
          </p:nvSpPr>
          <p:spPr bwMode="auto">
            <a:xfrm>
              <a:off x="4800" y="3312"/>
              <a:ext cx="3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a:t>2 + t</a:t>
              </a:r>
              <a:endParaRPr lang="en-US" altLang="en-US"/>
            </a:p>
          </p:txBody>
        </p:sp>
        <p:sp>
          <p:nvSpPr>
            <p:cNvPr id="42" name="Line 45"/>
            <p:cNvSpPr>
              <a:spLocks noChangeShapeType="1"/>
            </p:cNvSpPr>
            <p:nvPr/>
          </p:nvSpPr>
          <p:spPr bwMode="auto">
            <a:xfrm flipV="1">
              <a:off x="4416" y="3168"/>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 name="Line 46"/>
            <p:cNvSpPr>
              <a:spLocks noChangeShapeType="1"/>
            </p:cNvSpPr>
            <p:nvPr/>
          </p:nvSpPr>
          <p:spPr bwMode="auto">
            <a:xfrm flipV="1">
              <a:off x="4992" y="3168"/>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 name="Line 47"/>
            <p:cNvSpPr>
              <a:spLocks noChangeShapeType="1"/>
            </p:cNvSpPr>
            <p:nvPr/>
          </p:nvSpPr>
          <p:spPr bwMode="auto">
            <a:xfrm flipH="1">
              <a:off x="4992" y="2640"/>
              <a:ext cx="384" cy="144"/>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 name="Text Box 48"/>
            <p:cNvSpPr txBox="1">
              <a:spLocks noChangeArrowheads="1"/>
            </p:cNvSpPr>
            <p:nvPr/>
          </p:nvSpPr>
          <p:spPr bwMode="auto">
            <a:xfrm>
              <a:off x="5328" y="2544"/>
              <a:ext cx="3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400" i="1"/>
                <a:t>g</a:t>
              </a:r>
              <a:r>
                <a:rPr lang="en-US" altLang="en-US" sz="1400"/>
                <a:t>(</a:t>
              </a:r>
              <a:r>
                <a:rPr lang="en-US" altLang="en-US" sz="1400" i="1"/>
                <a:t>t-</a:t>
              </a:r>
              <a:r>
                <a:rPr lang="en-US" altLang="en-US" sz="1400" i="1">
                  <a:latin typeface="Symbol" panose="05050102010706020507" pitchFamily="18" charset="2"/>
                </a:rPr>
                <a:t>t</a:t>
              </a:r>
              <a:r>
                <a:rPr lang="en-US" altLang="en-US" sz="1400"/>
                <a:t>)</a:t>
              </a:r>
              <a:endParaRPr lang="en-US" altLang="en-US"/>
            </a:p>
          </p:txBody>
        </p:sp>
        <p:grpSp>
          <p:nvGrpSpPr>
            <p:cNvPr id="46" name="Group 49"/>
            <p:cNvGrpSpPr>
              <a:grpSpLocks/>
            </p:cNvGrpSpPr>
            <p:nvPr/>
          </p:nvGrpSpPr>
          <p:grpSpPr bwMode="auto">
            <a:xfrm>
              <a:off x="4416" y="2688"/>
              <a:ext cx="576" cy="528"/>
              <a:chOff x="3888" y="1920"/>
              <a:chExt cx="576" cy="528"/>
            </a:xfrm>
          </p:grpSpPr>
          <p:sp>
            <p:nvSpPr>
              <p:cNvPr id="47" name="Line 50"/>
              <p:cNvSpPr>
                <a:spLocks noChangeShapeType="1"/>
              </p:cNvSpPr>
              <p:nvPr/>
            </p:nvSpPr>
            <p:spPr bwMode="auto">
              <a:xfrm flipV="1">
                <a:off x="3888" y="1920"/>
                <a:ext cx="0" cy="528"/>
              </a:xfrm>
              <a:prstGeom prst="line">
                <a:avLst/>
              </a:prstGeom>
              <a:noFill/>
              <a:ln w="28575">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 name="Line 51"/>
              <p:cNvSpPr>
                <a:spLocks noChangeShapeType="1"/>
              </p:cNvSpPr>
              <p:nvPr/>
            </p:nvSpPr>
            <p:spPr bwMode="auto">
              <a:xfrm>
                <a:off x="3888" y="1920"/>
                <a:ext cx="576" cy="0"/>
              </a:xfrm>
              <a:prstGeom prst="line">
                <a:avLst/>
              </a:prstGeom>
              <a:noFill/>
              <a:ln w="28575">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 name="Line 52"/>
              <p:cNvSpPr>
                <a:spLocks noChangeShapeType="1"/>
              </p:cNvSpPr>
              <p:nvPr/>
            </p:nvSpPr>
            <p:spPr bwMode="auto">
              <a:xfrm>
                <a:off x="4464" y="1920"/>
                <a:ext cx="0" cy="528"/>
              </a:xfrm>
              <a:prstGeom prst="line">
                <a:avLst/>
              </a:prstGeom>
              <a:noFill/>
              <a:ln w="28575">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aphicFrame>
        <p:nvGraphicFramePr>
          <p:cNvPr id="50" name="Object 1028"/>
          <p:cNvGraphicFramePr>
            <a:graphicFrameLocks noChangeAspect="1"/>
          </p:cNvGraphicFramePr>
          <p:nvPr/>
        </p:nvGraphicFramePr>
        <p:xfrm>
          <a:off x="1906588" y="4248150"/>
          <a:ext cx="5732462" cy="954088"/>
        </p:xfrm>
        <a:graphic>
          <a:graphicData uri="http://schemas.openxmlformats.org/presentationml/2006/ole">
            <mc:AlternateContent xmlns:mc="http://schemas.openxmlformats.org/markup-compatibility/2006">
              <mc:Choice xmlns:v="urn:schemas-microsoft-com:vml" Requires="v">
                <p:oleObj name="Equation" r:id="rId5" imgW="3187440" imgH="533160" progId="Equation.3">
                  <p:embed/>
                </p:oleObj>
              </mc:Choice>
              <mc:Fallback>
                <p:oleObj name="Equation" r:id="rId5" imgW="3187440" imgH="533160" progId="Equation.3">
                  <p:embed/>
                  <p:pic>
                    <p:nvPicPr>
                      <p:cNvPr id="49" name="Object 1028"/>
                      <p:cNvPicPr>
                        <a:picLocks noChangeAspect="1" noChangeArrowheads="1"/>
                      </p:cNvPicPr>
                      <p:nvPr/>
                    </p:nvPicPr>
                    <p:blipFill>
                      <a:blip r:embed="rId6"/>
                      <a:srcRect/>
                      <a:stretch>
                        <a:fillRect/>
                      </a:stretch>
                    </p:blipFill>
                    <p:spPr bwMode="auto">
                      <a:xfrm>
                        <a:off x="1906588" y="4248150"/>
                        <a:ext cx="5732462" cy="954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662439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Whole Solution</a:t>
            </a:r>
          </a:p>
        </p:txBody>
      </p:sp>
      <p:graphicFrame>
        <p:nvGraphicFramePr>
          <p:cNvPr id="4" name="Object 1028"/>
          <p:cNvGraphicFramePr>
            <a:graphicFrameLocks noChangeAspect="1"/>
          </p:cNvGraphicFramePr>
          <p:nvPr>
            <p:extLst>
              <p:ext uri="{D42A27DB-BD31-4B8C-83A1-F6EECF244321}">
                <p14:modId xmlns:p14="http://schemas.microsoft.com/office/powerpoint/2010/main" val="3204708753"/>
              </p:ext>
            </p:extLst>
          </p:nvPr>
        </p:nvGraphicFramePr>
        <p:xfrm>
          <a:off x="2967001" y="1779215"/>
          <a:ext cx="5619750" cy="2225675"/>
        </p:xfrm>
        <a:graphic>
          <a:graphicData uri="http://schemas.openxmlformats.org/presentationml/2006/ole">
            <mc:AlternateContent xmlns:mc="http://schemas.openxmlformats.org/markup-compatibility/2006">
              <mc:Choice xmlns:v="urn:schemas-microsoft-com:vml" Requires="v">
                <p:oleObj name="Equation" r:id="rId3" imgW="3124080" imgH="1244520" progId="Equation.3">
                  <p:embed/>
                </p:oleObj>
              </mc:Choice>
              <mc:Fallback>
                <p:oleObj name="Equation" r:id="rId3" imgW="3124080" imgH="1244520" progId="Equation.3">
                  <p:embed/>
                  <p:pic>
                    <p:nvPicPr>
                      <p:cNvPr id="3" name="Object 1028"/>
                      <p:cNvPicPr>
                        <a:picLocks noChangeAspect="1" noChangeArrowheads="1"/>
                      </p:cNvPicPr>
                      <p:nvPr/>
                    </p:nvPicPr>
                    <p:blipFill>
                      <a:blip r:embed="rId4"/>
                      <a:srcRect/>
                      <a:stretch>
                        <a:fillRect/>
                      </a:stretch>
                    </p:blipFill>
                    <p:spPr bwMode="auto">
                      <a:xfrm>
                        <a:off x="2967001" y="1779215"/>
                        <a:ext cx="5619750" cy="2225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Line 1085"/>
          <p:cNvSpPr>
            <a:spLocks noChangeShapeType="1"/>
          </p:cNvSpPr>
          <p:nvPr/>
        </p:nvSpPr>
        <p:spPr bwMode="auto">
          <a:xfrm>
            <a:off x="3992526" y="5451101"/>
            <a:ext cx="525780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Line 1086"/>
          <p:cNvSpPr>
            <a:spLocks noChangeShapeType="1"/>
          </p:cNvSpPr>
          <p:nvPr/>
        </p:nvSpPr>
        <p:spPr bwMode="auto">
          <a:xfrm flipV="1">
            <a:off x="6049926" y="4460501"/>
            <a:ext cx="0" cy="990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1087"/>
          <p:cNvSpPr>
            <a:spLocks noChangeShapeType="1"/>
          </p:cNvSpPr>
          <p:nvPr/>
        </p:nvSpPr>
        <p:spPr bwMode="auto">
          <a:xfrm>
            <a:off x="4983126" y="5374901"/>
            <a:ext cx="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Line 1088"/>
          <p:cNvSpPr>
            <a:spLocks noChangeShapeType="1"/>
          </p:cNvSpPr>
          <p:nvPr/>
        </p:nvSpPr>
        <p:spPr bwMode="auto">
          <a:xfrm>
            <a:off x="6049926" y="5374901"/>
            <a:ext cx="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Line 1091"/>
          <p:cNvSpPr>
            <a:spLocks noChangeShapeType="1"/>
          </p:cNvSpPr>
          <p:nvPr/>
        </p:nvSpPr>
        <p:spPr bwMode="auto">
          <a:xfrm>
            <a:off x="7116726" y="5374901"/>
            <a:ext cx="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Line 1092"/>
          <p:cNvSpPr>
            <a:spLocks noChangeShapeType="1"/>
          </p:cNvSpPr>
          <p:nvPr/>
        </p:nvSpPr>
        <p:spPr bwMode="auto">
          <a:xfrm>
            <a:off x="8183526" y="5374901"/>
            <a:ext cx="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Text Box 1093"/>
          <p:cNvSpPr txBox="1">
            <a:spLocks noChangeArrowheads="1"/>
          </p:cNvSpPr>
          <p:nvPr/>
        </p:nvSpPr>
        <p:spPr bwMode="auto">
          <a:xfrm>
            <a:off x="9250326" y="5266951"/>
            <a:ext cx="304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i="1"/>
              <a:t>t</a:t>
            </a:r>
          </a:p>
        </p:txBody>
      </p:sp>
      <p:sp>
        <p:nvSpPr>
          <p:cNvPr id="12" name="Line 1094"/>
          <p:cNvSpPr>
            <a:spLocks noChangeShapeType="1"/>
          </p:cNvSpPr>
          <p:nvPr/>
        </p:nvSpPr>
        <p:spPr bwMode="auto">
          <a:xfrm>
            <a:off x="4297326" y="5451101"/>
            <a:ext cx="685800" cy="0"/>
          </a:xfrm>
          <a:prstGeom prst="line">
            <a:avLst/>
          </a:prstGeom>
          <a:noFill/>
          <a:ln w="38100">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Line 1095"/>
          <p:cNvSpPr>
            <a:spLocks noChangeShapeType="1"/>
          </p:cNvSpPr>
          <p:nvPr/>
        </p:nvSpPr>
        <p:spPr bwMode="auto">
          <a:xfrm>
            <a:off x="6049926" y="4841501"/>
            <a:ext cx="1066800" cy="0"/>
          </a:xfrm>
          <a:prstGeom prst="line">
            <a:avLst/>
          </a:prstGeom>
          <a:noFill/>
          <a:ln w="38100">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Line 1096"/>
          <p:cNvSpPr>
            <a:spLocks noChangeShapeType="1"/>
          </p:cNvSpPr>
          <p:nvPr/>
        </p:nvSpPr>
        <p:spPr bwMode="auto">
          <a:xfrm>
            <a:off x="8183526" y="5451101"/>
            <a:ext cx="685800" cy="0"/>
          </a:xfrm>
          <a:prstGeom prst="line">
            <a:avLst/>
          </a:prstGeom>
          <a:noFill/>
          <a:ln w="38100">
            <a:solidFill>
              <a:srgbClr val="66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Arc 1100"/>
          <p:cNvSpPr>
            <a:spLocks/>
          </p:cNvSpPr>
          <p:nvPr/>
        </p:nvSpPr>
        <p:spPr bwMode="auto">
          <a:xfrm flipH="1">
            <a:off x="4983126" y="4841501"/>
            <a:ext cx="1066800" cy="6096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66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solidFill>
                <a:srgbClr val="6600FF"/>
              </a:solidFill>
            </a:endParaRPr>
          </a:p>
        </p:txBody>
      </p:sp>
      <p:sp>
        <p:nvSpPr>
          <p:cNvPr id="16" name="Arc 1101"/>
          <p:cNvSpPr>
            <a:spLocks/>
          </p:cNvSpPr>
          <p:nvPr/>
        </p:nvSpPr>
        <p:spPr bwMode="auto">
          <a:xfrm flipH="1" flipV="1">
            <a:off x="7116726" y="4841501"/>
            <a:ext cx="1066800" cy="6096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66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en-US" altLang="en-US">
              <a:solidFill>
                <a:srgbClr val="6600FF"/>
              </a:solidFill>
            </a:endParaRPr>
          </a:p>
        </p:txBody>
      </p:sp>
      <p:sp>
        <p:nvSpPr>
          <p:cNvPr id="17" name="Text Box 1102"/>
          <p:cNvSpPr txBox="1">
            <a:spLocks noChangeArrowheads="1"/>
          </p:cNvSpPr>
          <p:nvPr/>
        </p:nvSpPr>
        <p:spPr bwMode="auto">
          <a:xfrm>
            <a:off x="6058790" y="4155701"/>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i="1"/>
              <a:t>y</a:t>
            </a:r>
            <a:r>
              <a:rPr lang="en-US" altLang="en-US"/>
              <a:t>(</a:t>
            </a:r>
            <a:r>
              <a:rPr lang="en-US" altLang="en-US" i="1"/>
              <a:t>t</a:t>
            </a:r>
            <a:r>
              <a:rPr lang="en-US" altLang="en-US"/>
              <a:t>)</a:t>
            </a:r>
          </a:p>
        </p:txBody>
      </p:sp>
      <p:sp>
        <p:nvSpPr>
          <p:cNvPr id="18" name="Text Box 1103"/>
          <p:cNvSpPr txBox="1">
            <a:spLocks noChangeArrowheads="1"/>
          </p:cNvSpPr>
          <p:nvPr/>
        </p:nvSpPr>
        <p:spPr bwMode="auto">
          <a:xfrm>
            <a:off x="5668926" y="5603501"/>
            <a:ext cx="762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a:t>0</a:t>
            </a:r>
          </a:p>
        </p:txBody>
      </p:sp>
      <p:sp>
        <p:nvSpPr>
          <p:cNvPr id="19" name="Text Box 1104"/>
          <p:cNvSpPr txBox="1">
            <a:spLocks noChangeArrowheads="1"/>
          </p:cNvSpPr>
          <p:nvPr/>
        </p:nvSpPr>
        <p:spPr bwMode="auto">
          <a:xfrm>
            <a:off x="6735726" y="5603501"/>
            <a:ext cx="762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a:t>2</a:t>
            </a:r>
          </a:p>
        </p:txBody>
      </p:sp>
      <p:sp>
        <p:nvSpPr>
          <p:cNvPr id="20" name="Text Box 1105"/>
          <p:cNvSpPr txBox="1">
            <a:spLocks noChangeArrowheads="1"/>
          </p:cNvSpPr>
          <p:nvPr/>
        </p:nvSpPr>
        <p:spPr bwMode="auto">
          <a:xfrm>
            <a:off x="7802526" y="5603501"/>
            <a:ext cx="762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a:t>4</a:t>
            </a:r>
          </a:p>
        </p:txBody>
      </p:sp>
      <p:sp>
        <p:nvSpPr>
          <p:cNvPr id="21" name="Text Box 1106"/>
          <p:cNvSpPr txBox="1">
            <a:spLocks noChangeArrowheads="1"/>
          </p:cNvSpPr>
          <p:nvPr/>
        </p:nvSpPr>
        <p:spPr bwMode="auto">
          <a:xfrm>
            <a:off x="4602126" y="5603501"/>
            <a:ext cx="762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a:t>-2</a:t>
            </a:r>
          </a:p>
        </p:txBody>
      </p:sp>
      <p:sp>
        <p:nvSpPr>
          <p:cNvPr id="22" name="Text Box 1107"/>
          <p:cNvSpPr txBox="1">
            <a:spLocks noChangeArrowheads="1"/>
          </p:cNvSpPr>
          <p:nvPr/>
        </p:nvSpPr>
        <p:spPr bwMode="auto">
          <a:xfrm>
            <a:off x="5516526" y="4568451"/>
            <a:ext cx="762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a:t>6</a:t>
            </a:r>
          </a:p>
        </p:txBody>
      </p:sp>
    </p:spTree>
    <p:extLst>
      <p:ext uri="{BB962C8B-B14F-4D97-AF65-F5344CB8AC3E}">
        <p14:creationId xmlns:p14="http://schemas.microsoft.com/office/powerpoint/2010/main" val="1053111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Example: RC Circuit Analysis</a:t>
            </a:r>
          </a:p>
        </p:txBody>
      </p:sp>
      <p:pic>
        <p:nvPicPr>
          <p:cNvPr id="4" name="Picture 3"/>
          <p:cNvPicPr>
            <a:picLocks noChangeAspect="1"/>
          </p:cNvPicPr>
          <p:nvPr/>
        </p:nvPicPr>
        <p:blipFill>
          <a:blip r:embed="rId3"/>
          <a:stretch>
            <a:fillRect/>
          </a:stretch>
        </p:blipFill>
        <p:spPr>
          <a:xfrm>
            <a:off x="1524001" y="2216798"/>
            <a:ext cx="4005483" cy="2973767"/>
          </a:xfrm>
          <a:prstGeom prst="rect">
            <a:avLst/>
          </a:prstGeom>
        </p:spPr>
      </p:pic>
      <p:pic>
        <p:nvPicPr>
          <p:cNvPr id="5" name="Picture 4"/>
          <p:cNvPicPr>
            <a:picLocks noChangeAspect="1"/>
          </p:cNvPicPr>
          <p:nvPr/>
        </p:nvPicPr>
        <p:blipFill>
          <a:blip r:embed="rId4"/>
          <a:stretch>
            <a:fillRect/>
          </a:stretch>
        </p:blipFill>
        <p:spPr>
          <a:xfrm>
            <a:off x="5325362" y="1902820"/>
            <a:ext cx="5342639" cy="3601721"/>
          </a:xfrm>
          <a:prstGeom prst="rect">
            <a:avLst/>
          </a:prstGeom>
        </p:spPr>
      </p:pic>
    </p:spTree>
    <p:extLst>
      <p:ext uri="{BB962C8B-B14F-4D97-AF65-F5344CB8AC3E}">
        <p14:creationId xmlns:p14="http://schemas.microsoft.com/office/powerpoint/2010/main" val="5455809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Discrete Convolution in 2D</a:t>
            </a:r>
          </a:p>
        </p:txBody>
      </p:sp>
      <p:pic>
        <p:nvPicPr>
          <p:cNvPr id="38914" name="Picture 2" descr="Image result for 2d discrete convolu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4063" y="1433745"/>
            <a:ext cx="8143875" cy="952500"/>
          </a:xfrm>
          <a:prstGeom prst="rect">
            <a:avLst/>
          </a:prstGeom>
          <a:noFill/>
          <a:extLst>
            <a:ext uri="{909E8E84-426E-40DD-AFC4-6F175D3DCCD1}">
              <a14:hiddenFill xmlns:a14="http://schemas.microsoft.com/office/drawing/2010/main">
                <a:solidFill>
                  <a:srgbClr val="FFFFFF"/>
                </a:solidFill>
              </a14:hiddenFill>
            </a:ext>
          </a:extLst>
        </p:spPr>
      </p:pic>
      <p:pic>
        <p:nvPicPr>
          <p:cNvPr id="38916" name="Picture 4" descr="https://graphics.stanford.edu/courses/cs178/applets/convolution-equation3-c.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4063" y="2942948"/>
            <a:ext cx="8078993" cy="83894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Object 11"/>
          <p:cNvGraphicFramePr>
            <a:graphicFrameLocks noChangeAspect="1"/>
          </p:cNvGraphicFramePr>
          <p:nvPr/>
        </p:nvGraphicFramePr>
        <p:xfrm>
          <a:off x="4149966" y="4396683"/>
          <a:ext cx="1102657" cy="1382941"/>
        </p:xfrm>
        <a:graphic>
          <a:graphicData uri="http://schemas.openxmlformats.org/presentationml/2006/ole">
            <mc:AlternateContent xmlns:mc="http://schemas.openxmlformats.org/markup-compatibility/2006">
              <mc:Choice xmlns:v="urn:schemas-microsoft-com:vml" Requires="v">
                <p:oleObj name="Equation" r:id="rId5" imgW="545760" imgH="685800" progId="Equation.DSMT4">
                  <p:embed/>
                </p:oleObj>
              </mc:Choice>
              <mc:Fallback>
                <p:oleObj name="Equation" r:id="rId5" imgW="545760" imgH="685800" progId="Equation.DSMT4">
                  <p:embed/>
                  <p:pic>
                    <p:nvPicPr>
                      <p:cNvPr id="6" name="Object 11"/>
                      <p:cNvPicPr>
                        <a:picLocks noChangeAspect="1" noChangeArrowheads="1"/>
                      </p:cNvPicPr>
                      <p:nvPr/>
                    </p:nvPicPr>
                    <p:blipFill>
                      <a:blip r:embed="rId6"/>
                      <a:srcRect/>
                      <a:stretch>
                        <a:fillRect/>
                      </a:stretch>
                    </p:blipFill>
                    <p:spPr bwMode="auto">
                      <a:xfrm>
                        <a:off x="4149966" y="4396683"/>
                        <a:ext cx="1102657" cy="1382941"/>
                      </a:xfrm>
                      <a:prstGeom prst="rect">
                        <a:avLst/>
                      </a:prstGeom>
                      <a:noFill/>
                      <a:ln>
                        <a:noFill/>
                      </a:ln>
                      <a:effectLst/>
                    </p:spPr>
                  </p:pic>
                </p:oleObj>
              </mc:Fallback>
            </mc:AlternateContent>
          </a:graphicData>
        </a:graphic>
      </p:graphicFrame>
      <p:graphicFrame>
        <p:nvGraphicFramePr>
          <p:cNvPr id="7" name="Object 11"/>
          <p:cNvGraphicFramePr>
            <a:graphicFrameLocks noChangeAspect="1"/>
          </p:cNvGraphicFramePr>
          <p:nvPr/>
        </p:nvGraphicFramePr>
        <p:xfrm>
          <a:off x="7378130" y="4345202"/>
          <a:ext cx="769937" cy="1485900"/>
        </p:xfrm>
        <a:graphic>
          <a:graphicData uri="http://schemas.openxmlformats.org/presentationml/2006/ole">
            <mc:AlternateContent xmlns:mc="http://schemas.openxmlformats.org/markup-compatibility/2006">
              <mc:Choice xmlns:v="urn:schemas-microsoft-com:vml" Requires="v">
                <p:oleObj name="Equation" r:id="rId7" imgW="380880" imgH="736560" progId="Equation.DSMT4">
                  <p:embed/>
                </p:oleObj>
              </mc:Choice>
              <mc:Fallback>
                <p:oleObj name="Equation" r:id="rId7" imgW="380880" imgH="736560" progId="Equation.DSMT4">
                  <p:embed/>
                  <p:pic>
                    <p:nvPicPr>
                      <p:cNvPr id="7" name="Object 11"/>
                      <p:cNvPicPr>
                        <a:picLocks noChangeAspect="1" noChangeArrowheads="1"/>
                      </p:cNvPicPr>
                      <p:nvPr/>
                    </p:nvPicPr>
                    <p:blipFill>
                      <a:blip r:embed="rId8"/>
                      <a:srcRect/>
                      <a:stretch>
                        <a:fillRect/>
                      </a:stretch>
                    </p:blipFill>
                    <p:spPr bwMode="auto">
                      <a:xfrm>
                        <a:off x="7378130" y="4345202"/>
                        <a:ext cx="769937" cy="1485900"/>
                      </a:xfrm>
                      <a:prstGeom prst="rect">
                        <a:avLst/>
                      </a:prstGeom>
                      <a:noFill/>
                      <a:ln>
                        <a:noFill/>
                      </a:ln>
                      <a:effectLst/>
                    </p:spPr>
                  </p:pic>
                </p:oleObj>
              </mc:Fallback>
            </mc:AlternateContent>
          </a:graphicData>
        </a:graphic>
      </p:graphicFrame>
      <p:sp>
        <p:nvSpPr>
          <p:cNvPr id="4" name="Left-Right Arrow 3"/>
          <p:cNvSpPr/>
          <p:nvPr/>
        </p:nvSpPr>
        <p:spPr bwMode="auto">
          <a:xfrm>
            <a:off x="5252622" y="4746363"/>
            <a:ext cx="1819922" cy="683581"/>
          </a:xfrm>
          <a:prstGeom prst="leftRightArrow">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err="1"/>
          </a:p>
        </p:txBody>
      </p:sp>
      <p:pic>
        <p:nvPicPr>
          <p:cNvPr id="8" name="Picture 7" descr="http://www.magic-emoji.com/emoji/images/83_emoji_iphone_black_diamond_suit.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5400000">
            <a:off x="1848961" y="3849903"/>
            <a:ext cx="2476500" cy="2476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96951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Example: Image Blurring</a:t>
            </a:r>
          </a:p>
        </p:txBody>
      </p:sp>
      <p:pic>
        <p:nvPicPr>
          <p:cNvPr id="44034"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4400" y="990600"/>
            <a:ext cx="7823200" cy="586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78221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rot="5400000">
            <a:off x="3588139" y="29097"/>
            <a:ext cx="4521894" cy="7457157"/>
          </a:xfrm>
          <a:prstGeom prst="rect">
            <a:avLst/>
          </a:prstGeom>
        </p:spPr>
      </p:pic>
      <p:sp>
        <p:nvSpPr>
          <p:cNvPr id="2" name="Title 1"/>
          <p:cNvSpPr>
            <a:spLocks noGrp="1"/>
          </p:cNvSpPr>
          <p:nvPr>
            <p:ph type="title"/>
          </p:nvPr>
        </p:nvSpPr>
        <p:spPr/>
        <p:txBody>
          <a:bodyPr/>
          <a:lstStyle/>
          <a:p>
            <a:r>
              <a:rPr lang="en-US" sz="4000" dirty="0"/>
              <a:t>Example: PSF for Imaging</a:t>
            </a:r>
          </a:p>
        </p:txBody>
      </p:sp>
      <p:sp>
        <p:nvSpPr>
          <p:cNvPr id="4" name="Rectangle 3"/>
          <p:cNvSpPr/>
          <p:nvPr/>
        </p:nvSpPr>
        <p:spPr bwMode="auto">
          <a:xfrm>
            <a:off x="9696621" y="1317200"/>
            <a:ext cx="455846" cy="4374822"/>
          </a:xfrm>
          <a:prstGeom prst="rect">
            <a:avLst/>
          </a:prstGeom>
          <a:solidFill>
            <a:schemeClr val="accent6">
              <a:lumMod val="40000"/>
              <a:lumOff val="60000"/>
            </a:schemeClr>
          </a:solidFill>
          <a:ln w="25400" cap="flat" cmpd="sng" algn="ctr">
            <a:solidFill>
              <a:srgbClr val="0033C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err="1"/>
          </a:p>
        </p:txBody>
      </p:sp>
      <p:sp>
        <p:nvSpPr>
          <p:cNvPr id="14" name="Title 1"/>
          <p:cNvSpPr txBox="1">
            <a:spLocks/>
          </p:cNvSpPr>
          <p:nvPr/>
        </p:nvSpPr>
        <p:spPr bwMode="auto">
          <a:xfrm>
            <a:off x="9302588" y="6018622"/>
            <a:ext cx="1276204" cy="280757"/>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000" kern="0" dirty="0"/>
              <a:t>Ideal</a:t>
            </a:r>
          </a:p>
          <a:p>
            <a:r>
              <a:rPr lang="en-US" sz="2000" kern="0" dirty="0"/>
              <a:t>Detector</a:t>
            </a:r>
          </a:p>
        </p:txBody>
      </p:sp>
      <p:sp>
        <p:nvSpPr>
          <p:cNvPr id="15" name="Title 1"/>
          <p:cNvSpPr txBox="1">
            <a:spLocks/>
          </p:cNvSpPr>
          <p:nvPr/>
        </p:nvSpPr>
        <p:spPr bwMode="auto">
          <a:xfrm>
            <a:off x="1976256" y="5692023"/>
            <a:ext cx="7326333" cy="715153"/>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l"/>
            <a:r>
              <a:rPr lang="en-US" sz="2000" kern="0" dirty="0"/>
              <a:t>Physical Reason: </a:t>
            </a:r>
            <a:r>
              <a:rPr lang="en-US" sz="2000" b="0" kern="0" dirty="0"/>
              <a:t>Each small bright spot can only be focused into an Airy disk.</a:t>
            </a:r>
          </a:p>
        </p:txBody>
      </p:sp>
      <p:sp>
        <p:nvSpPr>
          <p:cNvPr id="6" name="Rectangle 5"/>
          <p:cNvSpPr/>
          <p:nvPr/>
        </p:nvSpPr>
        <p:spPr bwMode="auto">
          <a:xfrm>
            <a:off x="2761785" y="4226312"/>
            <a:ext cx="635620" cy="1059366"/>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err="1"/>
          </a:p>
        </p:txBody>
      </p:sp>
    </p:spTree>
    <p:extLst>
      <p:ext uri="{BB962C8B-B14F-4D97-AF65-F5344CB8AC3E}">
        <p14:creationId xmlns:p14="http://schemas.microsoft.com/office/powerpoint/2010/main" val="6781132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a:t>Image Deconvolution</a:t>
            </a:r>
            <a:endParaRPr lang="en-US" sz="4000" dirty="0"/>
          </a:p>
        </p:txBody>
      </p:sp>
      <p:pic>
        <p:nvPicPr>
          <p:cNvPr id="10242" name="Picture 2" descr="https://lh4.ggpht.com/3Jjq8Z4K_zL3krmc7tBCPQfrqT04NwFjS4Rb2QVbsPqHwN5jSOpNOKyBKxjXyCCyAXY=w30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5142" y="2709337"/>
            <a:ext cx="1898650" cy="18986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4"/>
          <a:stretch>
            <a:fillRect/>
          </a:stretch>
        </p:blipFill>
        <p:spPr>
          <a:xfrm>
            <a:off x="2578445" y="4444077"/>
            <a:ext cx="1667814" cy="1828800"/>
          </a:xfrm>
          <a:prstGeom prst="rect">
            <a:avLst/>
          </a:prstGeom>
        </p:spPr>
      </p:pic>
      <p:pic>
        <p:nvPicPr>
          <p:cNvPr id="5" name="Picture 4"/>
          <p:cNvPicPr>
            <a:picLocks noChangeAspect="1"/>
          </p:cNvPicPr>
          <p:nvPr/>
        </p:nvPicPr>
        <p:blipFill>
          <a:blip r:embed="rId5"/>
          <a:stretch>
            <a:fillRect/>
          </a:stretch>
        </p:blipFill>
        <p:spPr>
          <a:xfrm>
            <a:off x="7945742" y="4437869"/>
            <a:ext cx="1656151" cy="1828800"/>
          </a:xfrm>
          <a:prstGeom prst="rect">
            <a:avLst/>
          </a:prstGeom>
        </p:spPr>
      </p:pic>
      <p:pic>
        <p:nvPicPr>
          <p:cNvPr id="6" name="Picture 5"/>
          <p:cNvPicPr preferRelativeResize="0">
            <a:picLocks/>
          </p:cNvPicPr>
          <p:nvPr/>
        </p:nvPicPr>
        <p:blipFill>
          <a:blip r:embed="rId6"/>
          <a:stretch>
            <a:fillRect/>
          </a:stretch>
        </p:blipFill>
        <p:spPr>
          <a:xfrm>
            <a:off x="2578445" y="1024394"/>
            <a:ext cx="1828800" cy="1607555"/>
          </a:xfrm>
          <a:prstGeom prst="rect">
            <a:avLst/>
          </a:prstGeom>
        </p:spPr>
      </p:pic>
      <p:sp>
        <p:nvSpPr>
          <p:cNvPr id="8" name="Right Arrow 7"/>
          <p:cNvSpPr/>
          <p:nvPr/>
        </p:nvSpPr>
        <p:spPr bwMode="auto">
          <a:xfrm rot="13500000">
            <a:off x="4342892" y="2191812"/>
            <a:ext cx="829010" cy="410631"/>
          </a:xfrm>
          <a:prstGeom prst="rightArrow">
            <a:avLst/>
          </a:prstGeom>
          <a:noFill/>
          <a:ln w="63500" cap="flat" cmpd="sng" algn="ctr">
            <a:solidFill>
              <a:srgbClr val="6699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err="1"/>
          </a:p>
        </p:txBody>
      </p:sp>
      <p:sp>
        <p:nvSpPr>
          <p:cNvPr id="11" name="Right Arrow 10"/>
          <p:cNvSpPr/>
          <p:nvPr/>
        </p:nvSpPr>
        <p:spPr bwMode="auto">
          <a:xfrm rot="18900000">
            <a:off x="7020099" y="2191812"/>
            <a:ext cx="829010" cy="410631"/>
          </a:xfrm>
          <a:prstGeom prst="rightArrow">
            <a:avLst/>
          </a:prstGeom>
          <a:noFill/>
          <a:ln w="63500" cap="flat" cmpd="sng" algn="ctr">
            <a:solidFill>
              <a:srgbClr val="6699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err="1"/>
          </a:p>
        </p:txBody>
      </p:sp>
      <p:sp>
        <p:nvSpPr>
          <p:cNvPr id="12" name="Right Arrow 11"/>
          <p:cNvSpPr/>
          <p:nvPr/>
        </p:nvSpPr>
        <p:spPr bwMode="auto">
          <a:xfrm rot="8100000">
            <a:off x="4342892" y="4714883"/>
            <a:ext cx="829010" cy="410631"/>
          </a:xfrm>
          <a:prstGeom prst="rightArrow">
            <a:avLst/>
          </a:prstGeom>
          <a:noFill/>
          <a:ln w="63500" cap="flat" cmpd="sng" algn="ctr">
            <a:solidFill>
              <a:srgbClr val="6699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a:p>
        </p:txBody>
      </p:sp>
      <p:sp>
        <p:nvSpPr>
          <p:cNvPr id="13" name="Right Arrow 12"/>
          <p:cNvSpPr/>
          <p:nvPr/>
        </p:nvSpPr>
        <p:spPr bwMode="auto">
          <a:xfrm rot="2700000">
            <a:off x="7020099" y="4714883"/>
            <a:ext cx="829010" cy="410631"/>
          </a:xfrm>
          <a:prstGeom prst="rightArrow">
            <a:avLst/>
          </a:prstGeom>
          <a:noFill/>
          <a:ln w="63500" cap="flat" cmpd="sng" algn="ctr">
            <a:solidFill>
              <a:srgbClr val="6699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a:p>
        </p:txBody>
      </p:sp>
      <p:pic>
        <p:nvPicPr>
          <p:cNvPr id="4098" name="Picture 2" descr="https://upload.wikimedia.org/wikipedia/commons/thumb/0/0f/Tangent_to_a_curve.svg/2000px-Tangent_to_a_curve.svg.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907476" y="1144838"/>
            <a:ext cx="1966981" cy="1376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24338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dirty="0"/>
              <a:t>Example: Inverse Filtering</a:t>
            </a:r>
          </a:p>
        </p:txBody>
      </p:sp>
      <p:pic>
        <p:nvPicPr>
          <p:cNvPr id="4" name="Picture 3"/>
          <p:cNvPicPr>
            <a:picLocks noChangeAspect="1"/>
          </p:cNvPicPr>
          <p:nvPr/>
        </p:nvPicPr>
        <p:blipFill>
          <a:blip r:embed="rId3"/>
          <a:stretch>
            <a:fillRect/>
          </a:stretch>
        </p:blipFill>
        <p:spPr>
          <a:xfrm>
            <a:off x="2183765" y="883024"/>
            <a:ext cx="7824470" cy="5577840"/>
          </a:xfrm>
          <a:prstGeom prst="rect">
            <a:avLst/>
          </a:prstGeom>
        </p:spPr>
      </p:pic>
      <p:sp>
        <p:nvSpPr>
          <p:cNvPr id="5" name="Content Placeholder 2"/>
          <p:cNvSpPr txBox="1">
            <a:spLocks/>
          </p:cNvSpPr>
          <p:nvPr/>
        </p:nvSpPr>
        <p:spPr bwMode="auto">
          <a:xfrm>
            <a:off x="2396068" y="2898508"/>
            <a:ext cx="1879600" cy="571500"/>
          </a:xfrm>
          <a:prstGeom prst="rect">
            <a:avLst/>
          </a:prstGeom>
          <a:noFill/>
          <a:ln w="63500">
            <a:noFill/>
            <a:miter lim="800000"/>
            <a:headEnd/>
            <a:tailEnd/>
          </a:ln>
        </p:spPr>
        <p:txBody>
          <a:bodyPr vert="horz" wrap="square" lIns="91440" tIns="45720" rIns="91440" bIns="45720" numCol="1" anchor="ctr" anchorCtr="0" compatLnSpc="1">
            <a:prstTxWarp prst="textNoShape">
              <a:avLst/>
            </a:prstTxWarp>
          </a:bodyPr>
          <a:lstStyle>
            <a:lvl1pPr marL="0" indent="0" algn="l" rtl="0" fontAlgn="base">
              <a:spcBef>
                <a:spcPct val="20000"/>
              </a:spcBef>
              <a:spcAft>
                <a:spcPct val="0"/>
              </a:spcAft>
              <a:buClr>
                <a:srgbClr val="691638"/>
              </a:buClr>
              <a:buNone/>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algn="ctr">
              <a:spcBef>
                <a:spcPts val="600"/>
              </a:spcBef>
              <a:spcAft>
                <a:spcPts val="600"/>
              </a:spcAft>
            </a:pPr>
            <a:r>
              <a:rPr lang="en-US" sz="2000" kern="0" dirty="0"/>
              <a:t>Image</a:t>
            </a:r>
          </a:p>
        </p:txBody>
      </p:sp>
      <p:sp>
        <p:nvSpPr>
          <p:cNvPr id="6" name="Content Placeholder 2"/>
          <p:cNvSpPr txBox="1">
            <a:spLocks/>
          </p:cNvSpPr>
          <p:nvPr/>
        </p:nvSpPr>
        <p:spPr bwMode="auto">
          <a:xfrm>
            <a:off x="5393796" y="2898508"/>
            <a:ext cx="1217613" cy="571500"/>
          </a:xfrm>
          <a:prstGeom prst="rect">
            <a:avLst/>
          </a:prstGeom>
          <a:noFill/>
          <a:ln w="63500">
            <a:noFill/>
            <a:miter lim="800000"/>
            <a:headEnd/>
            <a:tailEnd/>
          </a:ln>
        </p:spPr>
        <p:txBody>
          <a:bodyPr vert="horz" wrap="square" lIns="91440" tIns="45720" rIns="91440" bIns="45720" numCol="1" anchor="ctr" anchorCtr="0" compatLnSpc="1">
            <a:prstTxWarp prst="textNoShape">
              <a:avLst/>
            </a:prstTxWarp>
          </a:bodyPr>
          <a:lstStyle>
            <a:lvl1pPr marL="0" indent="0" algn="l" rtl="0" fontAlgn="base">
              <a:spcBef>
                <a:spcPct val="20000"/>
              </a:spcBef>
              <a:spcAft>
                <a:spcPct val="0"/>
              </a:spcAft>
              <a:buClr>
                <a:srgbClr val="691638"/>
              </a:buClr>
              <a:buNone/>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algn="ctr">
              <a:spcBef>
                <a:spcPts val="600"/>
              </a:spcBef>
              <a:spcAft>
                <a:spcPts val="600"/>
              </a:spcAft>
            </a:pPr>
            <a:r>
              <a:rPr lang="en-US" sz="2000" kern="0" dirty="0"/>
              <a:t>PSF</a:t>
            </a:r>
          </a:p>
        </p:txBody>
      </p:sp>
      <p:sp>
        <p:nvSpPr>
          <p:cNvPr id="7" name="Content Placeholder 2"/>
          <p:cNvSpPr txBox="1">
            <a:spLocks/>
          </p:cNvSpPr>
          <p:nvPr/>
        </p:nvSpPr>
        <p:spPr bwMode="auto">
          <a:xfrm>
            <a:off x="7916334" y="2898508"/>
            <a:ext cx="1888067" cy="571500"/>
          </a:xfrm>
          <a:prstGeom prst="rect">
            <a:avLst/>
          </a:prstGeom>
          <a:noFill/>
          <a:ln w="63500">
            <a:noFill/>
            <a:miter lim="800000"/>
            <a:headEnd/>
            <a:tailEnd/>
          </a:ln>
        </p:spPr>
        <p:txBody>
          <a:bodyPr vert="horz" wrap="square" lIns="91440" tIns="45720" rIns="91440" bIns="45720" numCol="1" anchor="ctr" anchorCtr="0" compatLnSpc="1">
            <a:prstTxWarp prst="textNoShape">
              <a:avLst/>
            </a:prstTxWarp>
          </a:bodyPr>
          <a:lstStyle>
            <a:lvl1pPr marL="0" indent="0" algn="l" rtl="0" fontAlgn="base">
              <a:spcBef>
                <a:spcPct val="20000"/>
              </a:spcBef>
              <a:spcAft>
                <a:spcPct val="0"/>
              </a:spcAft>
              <a:buClr>
                <a:srgbClr val="691638"/>
              </a:buClr>
              <a:buNone/>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algn="ctr">
              <a:spcBef>
                <a:spcPts val="600"/>
              </a:spcBef>
              <a:spcAft>
                <a:spcPts val="600"/>
              </a:spcAft>
            </a:pPr>
            <a:r>
              <a:rPr lang="en-US" sz="2000" kern="0" dirty="0"/>
              <a:t>Blurred</a:t>
            </a:r>
          </a:p>
        </p:txBody>
      </p:sp>
      <p:sp>
        <p:nvSpPr>
          <p:cNvPr id="8" name="Content Placeholder 2"/>
          <p:cNvSpPr txBox="1">
            <a:spLocks/>
          </p:cNvSpPr>
          <p:nvPr/>
        </p:nvSpPr>
        <p:spPr bwMode="auto">
          <a:xfrm>
            <a:off x="3479800" y="3588542"/>
            <a:ext cx="1211793" cy="571500"/>
          </a:xfrm>
          <a:prstGeom prst="rect">
            <a:avLst/>
          </a:prstGeom>
          <a:solidFill>
            <a:schemeClr val="bg1"/>
          </a:solidFill>
          <a:ln w="63500">
            <a:noFill/>
            <a:miter lim="800000"/>
            <a:headEnd/>
            <a:tailEnd/>
          </a:ln>
        </p:spPr>
        <p:txBody>
          <a:bodyPr vert="horz" wrap="square" lIns="91440" tIns="45720" rIns="91440" bIns="45720" numCol="1" anchor="ctr" anchorCtr="0" compatLnSpc="1">
            <a:prstTxWarp prst="textNoShape">
              <a:avLst/>
            </a:prstTxWarp>
          </a:bodyPr>
          <a:lstStyle>
            <a:lvl1pPr marL="0" indent="0" algn="l" rtl="0" fontAlgn="base">
              <a:spcBef>
                <a:spcPct val="20000"/>
              </a:spcBef>
              <a:spcAft>
                <a:spcPct val="0"/>
              </a:spcAft>
              <a:buClr>
                <a:srgbClr val="691638"/>
              </a:buClr>
              <a:buNone/>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a:spcBef>
                <a:spcPts val="600"/>
              </a:spcBef>
              <a:spcAft>
                <a:spcPts val="600"/>
              </a:spcAft>
            </a:pPr>
            <a:r>
              <a:rPr lang="en-US" sz="2000" kern="0" dirty="0"/>
              <a:t>FFT</a:t>
            </a:r>
            <a:r>
              <a:rPr lang="en-US" sz="2000" kern="0" baseline="30000" dirty="0"/>
              <a:t>-1</a:t>
            </a:r>
          </a:p>
        </p:txBody>
      </p:sp>
      <p:sp>
        <p:nvSpPr>
          <p:cNvPr id="9" name="Content Placeholder 2"/>
          <p:cNvSpPr txBox="1">
            <a:spLocks/>
          </p:cNvSpPr>
          <p:nvPr/>
        </p:nvSpPr>
        <p:spPr bwMode="auto">
          <a:xfrm>
            <a:off x="6064888" y="3588542"/>
            <a:ext cx="1211793" cy="571500"/>
          </a:xfrm>
          <a:prstGeom prst="rect">
            <a:avLst/>
          </a:prstGeom>
          <a:solidFill>
            <a:schemeClr val="bg1"/>
          </a:solidFill>
          <a:ln w="63500">
            <a:noFill/>
            <a:miter lim="800000"/>
            <a:headEnd/>
            <a:tailEnd/>
          </a:ln>
        </p:spPr>
        <p:txBody>
          <a:bodyPr vert="horz" wrap="square" lIns="91440" tIns="45720" rIns="91440" bIns="45720" numCol="1" anchor="ctr" anchorCtr="0" compatLnSpc="1">
            <a:prstTxWarp prst="textNoShape">
              <a:avLst/>
            </a:prstTxWarp>
          </a:bodyPr>
          <a:lstStyle>
            <a:lvl1pPr marL="0" indent="0" algn="l" rtl="0" fontAlgn="base">
              <a:spcBef>
                <a:spcPct val="20000"/>
              </a:spcBef>
              <a:spcAft>
                <a:spcPct val="0"/>
              </a:spcAft>
              <a:buClr>
                <a:srgbClr val="691638"/>
              </a:buClr>
              <a:buNone/>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a:spcBef>
                <a:spcPts val="600"/>
              </a:spcBef>
              <a:spcAft>
                <a:spcPts val="600"/>
              </a:spcAft>
            </a:pPr>
            <a:r>
              <a:rPr lang="en-US" sz="2000" kern="0" dirty="0"/>
              <a:t>FFT</a:t>
            </a:r>
            <a:endParaRPr lang="en-US" sz="2000" kern="0" baseline="30000" dirty="0"/>
          </a:p>
        </p:txBody>
      </p:sp>
      <p:sp>
        <p:nvSpPr>
          <p:cNvPr id="10" name="Content Placeholder 2"/>
          <p:cNvSpPr txBox="1">
            <a:spLocks/>
          </p:cNvSpPr>
          <p:nvPr/>
        </p:nvSpPr>
        <p:spPr bwMode="auto">
          <a:xfrm>
            <a:off x="8982389" y="3696118"/>
            <a:ext cx="1211793" cy="571500"/>
          </a:xfrm>
          <a:prstGeom prst="rect">
            <a:avLst/>
          </a:prstGeom>
          <a:solidFill>
            <a:schemeClr val="bg1"/>
          </a:solidFill>
          <a:ln w="63500">
            <a:noFill/>
            <a:miter lim="800000"/>
            <a:headEnd/>
            <a:tailEnd/>
          </a:ln>
        </p:spPr>
        <p:txBody>
          <a:bodyPr vert="horz" wrap="square" lIns="91440" tIns="45720" rIns="91440" bIns="45720" numCol="1" anchor="ctr" anchorCtr="0" compatLnSpc="1">
            <a:prstTxWarp prst="textNoShape">
              <a:avLst/>
            </a:prstTxWarp>
          </a:bodyPr>
          <a:lstStyle>
            <a:lvl1pPr marL="0" indent="0" algn="l" rtl="0" fontAlgn="base">
              <a:spcBef>
                <a:spcPct val="20000"/>
              </a:spcBef>
              <a:spcAft>
                <a:spcPct val="0"/>
              </a:spcAft>
              <a:buClr>
                <a:srgbClr val="691638"/>
              </a:buClr>
              <a:buNone/>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a:spcBef>
                <a:spcPts val="600"/>
              </a:spcBef>
              <a:spcAft>
                <a:spcPts val="600"/>
              </a:spcAft>
            </a:pPr>
            <a:r>
              <a:rPr lang="en-US" sz="2000" kern="0" dirty="0"/>
              <a:t>FFT</a:t>
            </a:r>
            <a:endParaRPr lang="en-US" sz="2000" kern="0" baseline="30000" dirty="0"/>
          </a:p>
        </p:txBody>
      </p:sp>
      <p:sp>
        <p:nvSpPr>
          <p:cNvPr id="3" name="Rectangle 2"/>
          <p:cNvSpPr/>
          <p:nvPr/>
        </p:nvSpPr>
        <p:spPr bwMode="auto">
          <a:xfrm>
            <a:off x="1966763" y="3378468"/>
            <a:ext cx="8227419" cy="88915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err="1"/>
          </a:p>
        </p:txBody>
      </p:sp>
      <p:cxnSp>
        <p:nvCxnSpPr>
          <p:cNvPr id="12" name="Straight Arrow Connector 11"/>
          <p:cNvCxnSpPr/>
          <p:nvPr/>
        </p:nvCxnSpPr>
        <p:spPr bwMode="auto">
          <a:xfrm flipH="1">
            <a:off x="6096002" y="3470008"/>
            <a:ext cx="2764365" cy="797610"/>
          </a:xfrm>
          <a:prstGeom prst="straightConnector1">
            <a:avLst/>
          </a:prstGeom>
          <a:solidFill>
            <a:schemeClr val="accent1"/>
          </a:solidFill>
          <a:ln w="76200" cap="flat" cmpd="sng" algn="ctr">
            <a:solidFill>
              <a:srgbClr val="00B050"/>
            </a:solidFill>
            <a:prstDash val="solid"/>
            <a:round/>
            <a:headEnd type="none" w="med" len="med"/>
            <a:tailEnd type="triangle"/>
          </a:ln>
          <a:effectLst/>
        </p:spPr>
      </p:cxnSp>
      <p:cxnSp>
        <p:nvCxnSpPr>
          <p:cNvPr id="13" name="Straight Arrow Connector 12"/>
          <p:cNvCxnSpPr/>
          <p:nvPr/>
        </p:nvCxnSpPr>
        <p:spPr bwMode="auto">
          <a:xfrm>
            <a:off x="5996517" y="3470008"/>
            <a:ext cx="2840896" cy="890236"/>
          </a:xfrm>
          <a:prstGeom prst="straightConnector1">
            <a:avLst/>
          </a:prstGeom>
          <a:solidFill>
            <a:schemeClr val="accent1"/>
          </a:solidFill>
          <a:ln w="76200" cap="flat" cmpd="sng" algn="ctr">
            <a:solidFill>
              <a:srgbClr val="00B050"/>
            </a:solidFill>
            <a:prstDash val="solid"/>
            <a:round/>
            <a:headEnd type="none" w="med" len="med"/>
            <a:tailEnd type="triangle"/>
          </a:ln>
          <a:effectLst/>
        </p:spPr>
      </p:cxnSp>
      <p:cxnSp>
        <p:nvCxnSpPr>
          <p:cNvPr id="18" name="Straight Arrow Connector 17"/>
          <p:cNvCxnSpPr/>
          <p:nvPr/>
        </p:nvCxnSpPr>
        <p:spPr bwMode="auto">
          <a:xfrm flipV="1">
            <a:off x="3334825" y="3398746"/>
            <a:ext cx="1045" cy="961499"/>
          </a:xfrm>
          <a:prstGeom prst="straightConnector1">
            <a:avLst/>
          </a:prstGeom>
          <a:solidFill>
            <a:schemeClr val="accent1"/>
          </a:solidFill>
          <a:ln w="76200" cap="flat" cmpd="sng" algn="ctr">
            <a:solidFill>
              <a:srgbClr val="00B050"/>
            </a:solidFill>
            <a:prstDash val="solid"/>
            <a:round/>
            <a:headEnd type="none" w="med" len="med"/>
            <a:tailEnd type="triangle"/>
          </a:ln>
          <a:effectLst/>
        </p:spPr>
      </p:cxnSp>
      <p:sp>
        <p:nvSpPr>
          <p:cNvPr id="22" name="Content Placeholder 2"/>
          <p:cNvSpPr txBox="1">
            <a:spLocks/>
          </p:cNvSpPr>
          <p:nvPr/>
        </p:nvSpPr>
        <p:spPr bwMode="auto">
          <a:xfrm>
            <a:off x="2396069" y="6288169"/>
            <a:ext cx="7408331" cy="382770"/>
          </a:xfrm>
          <a:prstGeom prst="rect">
            <a:avLst/>
          </a:prstGeom>
          <a:noFill/>
          <a:ln w="63500">
            <a:noFill/>
            <a:miter lim="800000"/>
            <a:headEnd/>
            <a:tailEnd/>
          </a:ln>
        </p:spPr>
        <p:txBody>
          <a:bodyPr vert="horz" wrap="square" lIns="91440" tIns="45720" rIns="91440" bIns="45720" numCol="1" anchor="ctr" anchorCtr="0" compatLnSpc="1">
            <a:prstTxWarp prst="textNoShape">
              <a:avLst/>
            </a:prstTxWarp>
          </a:bodyPr>
          <a:lstStyle>
            <a:lvl1pPr marL="0" indent="0" algn="l" rtl="0" fontAlgn="base">
              <a:spcBef>
                <a:spcPct val="20000"/>
              </a:spcBef>
              <a:spcAft>
                <a:spcPct val="0"/>
              </a:spcAft>
              <a:buClr>
                <a:srgbClr val="691638"/>
              </a:buClr>
              <a:buNone/>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algn="ctr">
              <a:spcBef>
                <a:spcPts val="600"/>
              </a:spcBef>
              <a:spcAft>
                <a:spcPts val="600"/>
              </a:spcAft>
            </a:pPr>
            <a:r>
              <a:rPr lang="en-US" sz="2400" kern="0" dirty="0">
                <a:solidFill>
                  <a:srgbClr val="FF0000"/>
                </a:solidFill>
              </a:rPr>
              <a:t>In the Fourier Domain</a:t>
            </a:r>
          </a:p>
        </p:txBody>
      </p:sp>
      <p:sp>
        <p:nvSpPr>
          <p:cNvPr id="24" name="Rectangle 23"/>
          <p:cNvSpPr/>
          <p:nvPr/>
        </p:nvSpPr>
        <p:spPr bwMode="auto">
          <a:xfrm>
            <a:off x="1976387" y="4032985"/>
            <a:ext cx="8217794" cy="2653989"/>
          </a:xfrm>
          <a:prstGeom prst="rect">
            <a:avLst/>
          </a:prstGeom>
          <a:noFill/>
          <a:ln w="762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err="1"/>
          </a:p>
        </p:txBody>
      </p:sp>
    </p:spTree>
    <p:extLst>
      <p:ext uri="{BB962C8B-B14F-4D97-AF65-F5344CB8AC3E}">
        <p14:creationId xmlns:p14="http://schemas.microsoft.com/office/powerpoint/2010/main" val="30287532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29B9A-56EC-1355-3518-B941C5BCFD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BCBF3F-CA80-B7F1-50A8-36B4462C2759}"/>
              </a:ext>
            </a:extLst>
          </p:cNvPr>
          <p:cNvSpPr>
            <a:spLocks noGrp="1"/>
          </p:cNvSpPr>
          <p:nvPr>
            <p:ph type="title"/>
          </p:nvPr>
        </p:nvSpPr>
        <p:spPr/>
        <p:txBody>
          <a:bodyPr/>
          <a:lstStyle/>
          <a:p>
            <a:pPr algn="ctr"/>
            <a:r>
              <a:rPr lang="en-US" sz="4000"/>
              <a:t>Image Deconvolution</a:t>
            </a:r>
            <a:endParaRPr lang="en-US" sz="4000" dirty="0"/>
          </a:p>
        </p:txBody>
      </p:sp>
      <p:pic>
        <p:nvPicPr>
          <p:cNvPr id="10242" name="Picture 2" descr="https://lh4.ggpht.com/3Jjq8Z4K_zL3krmc7tBCPQfrqT04NwFjS4Rb2QVbsPqHwN5jSOpNOKyBKxjXyCCyAXY=w300">
            <a:extLst>
              <a:ext uri="{FF2B5EF4-FFF2-40B4-BE49-F238E27FC236}">
                <a16:creationId xmlns:a16="http://schemas.microsoft.com/office/drawing/2014/main" id="{9090341B-8D72-7EF0-0ABE-8B35CA76E7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5142" y="2709337"/>
            <a:ext cx="1898650" cy="18986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B10068D-2DBB-EBD5-5497-1C1B0DABCE3E}"/>
              </a:ext>
            </a:extLst>
          </p:cNvPr>
          <p:cNvPicPr>
            <a:picLocks noChangeAspect="1"/>
          </p:cNvPicPr>
          <p:nvPr/>
        </p:nvPicPr>
        <p:blipFill>
          <a:blip r:embed="rId4"/>
          <a:stretch>
            <a:fillRect/>
          </a:stretch>
        </p:blipFill>
        <p:spPr>
          <a:xfrm>
            <a:off x="2578445" y="4444077"/>
            <a:ext cx="1667814" cy="1828800"/>
          </a:xfrm>
          <a:prstGeom prst="rect">
            <a:avLst/>
          </a:prstGeom>
        </p:spPr>
      </p:pic>
      <p:pic>
        <p:nvPicPr>
          <p:cNvPr id="5" name="Picture 4">
            <a:extLst>
              <a:ext uri="{FF2B5EF4-FFF2-40B4-BE49-F238E27FC236}">
                <a16:creationId xmlns:a16="http://schemas.microsoft.com/office/drawing/2014/main" id="{E48120D1-A1ED-33F8-8C5B-FD7D3406EB6C}"/>
              </a:ext>
            </a:extLst>
          </p:cNvPr>
          <p:cNvPicPr>
            <a:picLocks noChangeAspect="1"/>
          </p:cNvPicPr>
          <p:nvPr/>
        </p:nvPicPr>
        <p:blipFill>
          <a:blip r:embed="rId5"/>
          <a:stretch>
            <a:fillRect/>
          </a:stretch>
        </p:blipFill>
        <p:spPr>
          <a:xfrm>
            <a:off x="7945742" y="4437869"/>
            <a:ext cx="1656151" cy="1828800"/>
          </a:xfrm>
          <a:prstGeom prst="rect">
            <a:avLst/>
          </a:prstGeom>
        </p:spPr>
      </p:pic>
      <p:pic>
        <p:nvPicPr>
          <p:cNvPr id="6" name="Picture 5">
            <a:extLst>
              <a:ext uri="{FF2B5EF4-FFF2-40B4-BE49-F238E27FC236}">
                <a16:creationId xmlns:a16="http://schemas.microsoft.com/office/drawing/2014/main" id="{5A10D83C-9AFC-C8C4-6731-46195E0EFC92}"/>
              </a:ext>
            </a:extLst>
          </p:cNvPr>
          <p:cNvPicPr preferRelativeResize="0">
            <a:picLocks/>
          </p:cNvPicPr>
          <p:nvPr/>
        </p:nvPicPr>
        <p:blipFill>
          <a:blip r:embed="rId6"/>
          <a:stretch>
            <a:fillRect/>
          </a:stretch>
        </p:blipFill>
        <p:spPr>
          <a:xfrm>
            <a:off x="2578445" y="1024394"/>
            <a:ext cx="1828800" cy="1607555"/>
          </a:xfrm>
          <a:prstGeom prst="rect">
            <a:avLst/>
          </a:prstGeom>
        </p:spPr>
      </p:pic>
      <p:sp>
        <p:nvSpPr>
          <p:cNvPr id="8" name="Right Arrow 7">
            <a:extLst>
              <a:ext uri="{FF2B5EF4-FFF2-40B4-BE49-F238E27FC236}">
                <a16:creationId xmlns:a16="http://schemas.microsoft.com/office/drawing/2014/main" id="{04CF691D-6DEE-CFDD-9C1E-9FFB92107297}"/>
              </a:ext>
            </a:extLst>
          </p:cNvPr>
          <p:cNvSpPr/>
          <p:nvPr/>
        </p:nvSpPr>
        <p:spPr bwMode="auto">
          <a:xfrm rot="13500000">
            <a:off x="4342892" y="2191812"/>
            <a:ext cx="829010" cy="410631"/>
          </a:xfrm>
          <a:prstGeom prst="rightArrow">
            <a:avLst/>
          </a:prstGeom>
          <a:noFill/>
          <a:ln w="63500" cap="flat" cmpd="sng" algn="ctr">
            <a:solidFill>
              <a:srgbClr val="6699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err="1"/>
          </a:p>
        </p:txBody>
      </p:sp>
      <p:sp>
        <p:nvSpPr>
          <p:cNvPr id="11" name="Right Arrow 10">
            <a:extLst>
              <a:ext uri="{FF2B5EF4-FFF2-40B4-BE49-F238E27FC236}">
                <a16:creationId xmlns:a16="http://schemas.microsoft.com/office/drawing/2014/main" id="{AF935CB6-4ADB-FC5D-3FD8-2220DCDA6805}"/>
              </a:ext>
            </a:extLst>
          </p:cNvPr>
          <p:cNvSpPr/>
          <p:nvPr/>
        </p:nvSpPr>
        <p:spPr bwMode="auto">
          <a:xfrm rot="18900000">
            <a:off x="7020099" y="2191812"/>
            <a:ext cx="829010" cy="410631"/>
          </a:xfrm>
          <a:prstGeom prst="rightArrow">
            <a:avLst/>
          </a:prstGeom>
          <a:noFill/>
          <a:ln w="63500" cap="flat" cmpd="sng" algn="ctr">
            <a:solidFill>
              <a:srgbClr val="6699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err="1"/>
          </a:p>
        </p:txBody>
      </p:sp>
      <p:sp>
        <p:nvSpPr>
          <p:cNvPr id="12" name="Right Arrow 11">
            <a:extLst>
              <a:ext uri="{FF2B5EF4-FFF2-40B4-BE49-F238E27FC236}">
                <a16:creationId xmlns:a16="http://schemas.microsoft.com/office/drawing/2014/main" id="{DB71B211-2EF0-3DE0-7A88-8ABAF2CBF876}"/>
              </a:ext>
            </a:extLst>
          </p:cNvPr>
          <p:cNvSpPr/>
          <p:nvPr/>
        </p:nvSpPr>
        <p:spPr bwMode="auto">
          <a:xfrm rot="8100000">
            <a:off x="4342892" y="4714883"/>
            <a:ext cx="829010" cy="410631"/>
          </a:xfrm>
          <a:prstGeom prst="rightArrow">
            <a:avLst/>
          </a:prstGeom>
          <a:noFill/>
          <a:ln w="63500" cap="flat" cmpd="sng" algn="ctr">
            <a:solidFill>
              <a:srgbClr val="6699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a:p>
        </p:txBody>
      </p:sp>
      <p:sp>
        <p:nvSpPr>
          <p:cNvPr id="13" name="Right Arrow 12">
            <a:extLst>
              <a:ext uri="{FF2B5EF4-FFF2-40B4-BE49-F238E27FC236}">
                <a16:creationId xmlns:a16="http://schemas.microsoft.com/office/drawing/2014/main" id="{0651ABE9-261B-0A8F-3EA6-820AC9E19357}"/>
              </a:ext>
            </a:extLst>
          </p:cNvPr>
          <p:cNvSpPr/>
          <p:nvPr/>
        </p:nvSpPr>
        <p:spPr bwMode="auto">
          <a:xfrm rot="2700000">
            <a:off x="7020099" y="4714883"/>
            <a:ext cx="829010" cy="410631"/>
          </a:xfrm>
          <a:prstGeom prst="rightArrow">
            <a:avLst/>
          </a:prstGeom>
          <a:noFill/>
          <a:ln w="63500" cap="flat" cmpd="sng" algn="ctr">
            <a:solidFill>
              <a:srgbClr val="6699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a:p>
        </p:txBody>
      </p:sp>
      <p:pic>
        <p:nvPicPr>
          <p:cNvPr id="4098" name="Picture 2" descr="https://upload.wikimedia.org/wikipedia/commons/thumb/0/0f/Tangent_to_a_curve.svg/2000px-Tangent_to_a_curve.svg.png">
            <a:extLst>
              <a:ext uri="{FF2B5EF4-FFF2-40B4-BE49-F238E27FC236}">
                <a16:creationId xmlns:a16="http://schemas.microsoft.com/office/drawing/2014/main" id="{3F5C0AD8-D362-A3A3-2961-086EC1A56BF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907476" y="1144838"/>
            <a:ext cx="1966981" cy="1376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00198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40927" y="152400"/>
            <a:ext cx="7374673" cy="838200"/>
          </a:xfrm>
        </p:spPr>
        <p:txBody>
          <a:bodyPr/>
          <a:lstStyle/>
          <a:p>
            <a:r>
              <a:rPr lang="en-US" dirty="0"/>
              <a:t>Convolution Properties</a:t>
            </a:r>
          </a:p>
        </p:txBody>
      </p:sp>
      <p:sp>
        <p:nvSpPr>
          <p:cNvPr id="3" name="Content Placeholder 2"/>
          <p:cNvSpPr>
            <a:spLocks noGrp="1"/>
          </p:cNvSpPr>
          <p:nvPr>
            <p:ph idx="1"/>
          </p:nvPr>
        </p:nvSpPr>
        <p:spPr>
          <a:xfrm>
            <a:off x="1676399" y="2107582"/>
            <a:ext cx="8839200" cy="4538545"/>
          </a:xfrm>
        </p:spPr>
        <p:txBody>
          <a:bodyPr/>
          <a:lstStyle/>
          <a:p>
            <a:r>
              <a:rPr lang="en-US" dirty="0"/>
              <a:t>Commutative: </a:t>
            </a:r>
            <a:r>
              <a:rPr lang="en-US" b="0" i="1" dirty="0"/>
              <a:t>h(n)*f(n)=f(n)*h(n)</a:t>
            </a:r>
          </a:p>
          <a:p>
            <a:r>
              <a:rPr lang="en-US" dirty="0"/>
              <a:t>Associative: </a:t>
            </a:r>
            <a:r>
              <a:rPr lang="en-US" b="0" i="1" dirty="0"/>
              <a:t>h(n)*[f(n)*g(n)]=[h(n)*f(n)]*g(n)</a:t>
            </a:r>
          </a:p>
          <a:p>
            <a:r>
              <a:rPr lang="en-US" dirty="0"/>
              <a:t>Distributive: </a:t>
            </a:r>
            <a:r>
              <a:rPr lang="en-US" b="0" i="1" dirty="0"/>
              <a:t>h(n)*[f(n)+g(n)]=h(n)*f(n)+h(n)*g(n)</a:t>
            </a:r>
          </a:p>
          <a:p>
            <a:pPr marL="0" indent="0" algn="just">
              <a:buNone/>
            </a:pPr>
            <a:r>
              <a:rPr lang="en-US" b="0" dirty="0">
                <a:solidFill>
                  <a:srgbClr val="00B050"/>
                </a:solidFill>
              </a:rPr>
              <a:t>The same as the multiplication, and is indeed the multiplication in disguise, as you will see in Fourier Analysis!</a:t>
            </a:r>
          </a:p>
          <a:p>
            <a:pPr marL="0" indent="0" algn="just">
              <a:buNone/>
            </a:pPr>
            <a:r>
              <a:rPr lang="en-US" b="0" dirty="0">
                <a:solidFill>
                  <a:srgbClr val="0000FF"/>
                </a:solidFill>
              </a:rPr>
              <a:t>Quiz: If y(n)=h(n)*x(n), prove y(n-k)=h(n)*x(n-k).</a:t>
            </a:r>
          </a:p>
          <a:p>
            <a:pPr marL="0" indent="0" algn="just">
              <a:buNone/>
            </a:pPr>
            <a:r>
              <a:rPr lang="en-US" b="0" dirty="0">
                <a:solidFill>
                  <a:srgbClr val="00B050"/>
                </a:solidFill>
              </a:rPr>
              <a:t>This can be immediately justified based on the meaning of convolution!</a:t>
            </a:r>
          </a:p>
        </p:txBody>
      </p:sp>
      <p:pic>
        <p:nvPicPr>
          <p:cNvPr id="5" name="Picture 2" descr="http://www.magic-emoji.com/emoji/images/83_emoji_iphone_black_diamond_sui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1676400" y="-171452"/>
            <a:ext cx="2476500" cy="2476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68570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Proof of Commutative Property</a:t>
            </a:r>
          </a:p>
        </p:txBody>
      </p:sp>
      <p:pic>
        <p:nvPicPr>
          <p:cNvPr id="4" name="Picture 3"/>
          <p:cNvPicPr>
            <a:picLocks noChangeAspect="1"/>
          </p:cNvPicPr>
          <p:nvPr/>
        </p:nvPicPr>
        <p:blipFill>
          <a:blip r:embed="rId3"/>
          <a:stretch>
            <a:fillRect/>
          </a:stretch>
        </p:blipFill>
        <p:spPr>
          <a:xfrm>
            <a:off x="1663958" y="1102113"/>
            <a:ext cx="8851642" cy="5164873"/>
          </a:xfrm>
          <a:prstGeom prst="rect">
            <a:avLst/>
          </a:prstGeom>
        </p:spPr>
      </p:pic>
    </p:spTree>
    <p:extLst>
      <p:ext uri="{BB962C8B-B14F-4D97-AF65-F5344CB8AC3E}">
        <p14:creationId xmlns:p14="http://schemas.microsoft.com/office/powerpoint/2010/main" val="37546521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Convolution vs Cross-correlation</a:t>
            </a:r>
          </a:p>
        </p:txBody>
      </p:sp>
      <p:pic>
        <p:nvPicPr>
          <p:cNvPr id="4" name="Picture 3"/>
          <p:cNvPicPr>
            <a:picLocks noChangeAspect="1"/>
          </p:cNvPicPr>
          <p:nvPr/>
        </p:nvPicPr>
        <p:blipFill>
          <a:blip r:embed="rId3"/>
          <a:stretch>
            <a:fillRect/>
          </a:stretch>
        </p:blipFill>
        <p:spPr>
          <a:xfrm>
            <a:off x="3697324" y="2598928"/>
            <a:ext cx="5734050" cy="3600450"/>
          </a:xfrm>
          <a:prstGeom prst="rect">
            <a:avLst/>
          </a:prstGeom>
        </p:spPr>
      </p:pic>
      <p:sp>
        <p:nvSpPr>
          <p:cNvPr id="5" name="Rectangle 4"/>
          <p:cNvSpPr/>
          <p:nvPr/>
        </p:nvSpPr>
        <p:spPr bwMode="auto">
          <a:xfrm>
            <a:off x="9162583" y="2520173"/>
            <a:ext cx="947854" cy="147196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err="1"/>
          </a:p>
        </p:txBody>
      </p:sp>
      <p:sp>
        <p:nvSpPr>
          <p:cNvPr id="6" name="TextBox 5"/>
          <p:cNvSpPr txBox="1"/>
          <p:nvPr/>
        </p:nvSpPr>
        <p:spPr>
          <a:xfrm>
            <a:off x="3977268" y="2943018"/>
            <a:ext cx="561372" cy="1015663"/>
          </a:xfrm>
          <a:prstGeom prst="rect">
            <a:avLst/>
          </a:prstGeom>
          <a:solidFill>
            <a:schemeClr val="bg1"/>
          </a:solidFill>
          <a:ln>
            <a:noFill/>
          </a:ln>
        </p:spPr>
        <p:txBody>
          <a:bodyPr wrap="none" rtlCol="0">
            <a:spAutoFit/>
          </a:bodyPr>
          <a:lstStyle/>
          <a:p>
            <a:r>
              <a:rPr lang="en-US" sz="6000" b="1" dirty="0"/>
              <a:t>*</a:t>
            </a:r>
          </a:p>
        </p:txBody>
      </p:sp>
      <p:sp>
        <p:nvSpPr>
          <p:cNvPr id="7" name="Rectangle 6"/>
          <p:cNvSpPr/>
          <p:nvPr/>
        </p:nvSpPr>
        <p:spPr bwMode="auto">
          <a:xfrm>
            <a:off x="8523247" y="4828476"/>
            <a:ext cx="226742" cy="44233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err="1"/>
          </a:p>
        </p:txBody>
      </p:sp>
      <p:sp>
        <p:nvSpPr>
          <p:cNvPr id="8" name="Up-Down Arrow 7"/>
          <p:cNvSpPr/>
          <p:nvPr/>
        </p:nvSpPr>
        <p:spPr bwMode="auto">
          <a:xfrm>
            <a:off x="4114849" y="3736585"/>
            <a:ext cx="367990" cy="1059366"/>
          </a:xfrm>
          <a:prstGeom prst="upDown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err="1"/>
          </a:p>
        </p:txBody>
      </p:sp>
      <p:sp>
        <p:nvSpPr>
          <p:cNvPr id="9" name="Up-Down Arrow 8"/>
          <p:cNvSpPr/>
          <p:nvPr/>
        </p:nvSpPr>
        <p:spPr bwMode="auto">
          <a:xfrm>
            <a:off x="6794810" y="3736585"/>
            <a:ext cx="367990" cy="1059366"/>
          </a:xfrm>
          <a:prstGeom prst="upDown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err="1"/>
          </a:p>
        </p:txBody>
      </p:sp>
      <p:pic>
        <p:nvPicPr>
          <p:cNvPr id="10" name="Picture 2" descr="http://www.magic-emoji.com/emoji/images/83_emoji_iphone_black_diamond_sui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1676400" y="734615"/>
            <a:ext cx="2476500" cy="2476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7339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Convolution vs Cross-correlation</a:t>
            </a:r>
          </a:p>
        </p:txBody>
      </p:sp>
      <p:pic>
        <p:nvPicPr>
          <p:cNvPr id="46082" name="Picture 2" descr="https://i.stack.imgur.com/nGZQ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572321"/>
            <a:ext cx="8764860" cy="43824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16242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Cauchy–Schwarz Inequality</a:t>
            </a:r>
          </a:p>
        </p:txBody>
      </p:sp>
      <p:pic>
        <p:nvPicPr>
          <p:cNvPr id="8" name="Picture 7"/>
          <p:cNvPicPr>
            <a:picLocks noChangeAspect="1"/>
          </p:cNvPicPr>
          <p:nvPr/>
        </p:nvPicPr>
        <p:blipFill>
          <a:blip r:embed="rId3"/>
          <a:stretch>
            <a:fillRect/>
          </a:stretch>
        </p:blipFill>
        <p:spPr>
          <a:xfrm>
            <a:off x="1758542" y="990600"/>
            <a:ext cx="8909459" cy="5666678"/>
          </a:xfrm>
          <a:prstGeom prst="rect">
            <a:avLst/>
          </a:prstGeom>
        </p:spPr>
      </p:pic>
      <p:pic>
        <p:nvPicPr>
          <p:cNvPr id="9" name="Picture 8"/>
          <p:cNvPicPr>
            <a:picLocks noChangeAspect="1"/>
          </p:cNvPicPr>
          <p:nvPr/>
        </p:nvPicPr>
        <p:blipFill>
          <a:blip r:embed="rId4"/>
          <a:stretch>
            <a:fillRect/>
          </a:stretch>
        </p:blipFill>
        <p:spPr>
          <a:xfrm>
            <a:off x="6096001" y="5989831"/>
            <a:ext cx="4295775" cy="476250"/>
          </a:xfrm>
          <a:prstGeom prst="rect">
            <a:avLst/>
          </a:prstGeom>
        </p:spPr>
      </p:pic>
      <p:pic>
        <p:nvPicPr>
          <p:cNvPr id="5" name="Picture 12" descr="http://www.magic-emoji.com/emoji/images/83_emoji_iphone_black_diamond_sui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5136779" y="690841"/>
            <a:ext cx="1343587" cy="134358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bwMode="auto">
          <a:xfrm>
            <a:off x="2490736" y="941294"/>
            <a:ext cx="2646040" cy="842682"/>
          </a:xfrm>
          <a:prstGeom prst="rect">
            <a:avLst/>
          </a:prstGeom>
          <a:solidFill>
            <a:srgbClr val="FFC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en-US" sz="1800" dirty="0" err="1"/>
          </a:p>
        </p:txBody>
      </p:sp>
    </p:spTree>
    <p:extLst>
      <p:ext uri="{BB962C8B-B14F-4D97-AF65-F5344CB8AC3E}">
        <p14:creationId xmlns:p14="http://schemas.microsoft.com/office/powerpoint/2010/main" val="14873840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Signal Detection</a:t>
            </a:r>
          </a:p>
        </p:txBody>
      </p:sp>
      <p:sp>
        <p:nvSpPr>
          <p:cNvPr id="3" name="Content Placeholder 2"/>
          <p:cNvSpPr>
            <a:spLocks noGrp="1"/>
          </p:cNvSpPr>
          <p:nvPr>
            <p:ph idx="1"/>
          </p:nvPr>
        </p:nvSpPr>
        <p:spPr>
          <a:xfrm>
            <a:off x="1676400" y="6285570"/>
            <a:ext cx="8839200" cy="472068"/>
          </a:xfrm>
        </p:spPr>
        <p:txBody>
          <a:bodyPr/>
          <a:lstStyle/>
          <a:p>
            <a:pPr marL="0" indent="0" algn="r">
              <a:buNone/>
            </a:pPr>
            <a:r>
              <a:rPr lang="en-US" b="0" dirty="0"/>
              <a:t>http://www.michw.com/tag/matlab/</a:t>
            </a:r>
          </a:p>
        </p:txBody>
      </p:sp>
      <p:pic>
        <p:nvPicPr>
          <p:cNvPr id="4" name="Picture 3">
            <a:hlinkClick r:id="rId3"/>
          </p:cNvPr>
          <p:cNvPicPr>
            <a:picLocks noChangeAspect="1"/>
          </p:cNvPicPr>
          <p:nvPr/>
        </p:nvPicPr>
        <p:blipFill>
          <a:blip r:embed="rId4"/>
          <a:stretch>
            <a:fillRect/>
          </a:stretch>
        </p:blipFill>
        <p:spPr>
          <a:xfrm>
            <a:off x="3647839" y="990600"/>
            <a:ext cx="4896323" cy="5258430"/>
          </a:xfrm>
          <a:prstGeom prst="rect">
            <a:avLst/>
          </a:prstGeom>
        </p:spPr>
      </p:pic>
    </p:spTree>
    <p:extLst>
      <p:ext uri="{BB962C8B-B14F-4D97-AF65-F5344CB8AC3E}">
        <p14:creationId xmlns:p14="http://schemas.microsoft.com/office/powerpoint/2010/main" val="40907617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r>
              <a:rPr lang="en-US" sz="4000" dirty="0"/>
              <a:t>Feature</a:t>
            </a:r>
            <a:r>
              <a:rPr lang="en-US" dirty="0"/>
              <a:t> Extraction</a:t>
            </a:r>
          </a:p>
        </p:txBody>
      </p:sp>
      <p:pic>
        <p:nvPicPr>
          <p:cNvPr id="45058"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4736" y="1046355"/>
            <a:ext cx="8322528" cy="5700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24799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Example: Edge Detection</a:t>
            </a:r>
          </a:p>
        </p:txBody>
      </p:sp>
      <p:pic>
        <p:nvPicPr>
          <p:cNvPr id="43010" name="Picture 2" descr="http://solrive.com/wp-content/uploads/2015/05/edge-solrive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1" y="1081918"/>
            <a:ext cx="8863163" cy="477247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676401" y="5854391"/>
            <a:ext cx="8863163" cy="830997"/>
          </a:xfrm>
          <a:prstGeom prst="rect">
            <a:avLst/>
          </a:prstGeom>
        </p:spPr>
        <p:txBody>
          <a:bodyPr wrap="square">
            <a:spAutoFit/>
          </a:bodyPr>
          <a:lstStyle/>
          <a:p>
            <a:r>
              <a:rPr lang="en-US" b="1" dirty="0">
                <a:latin typeface="+mn-lt"/>
              </a:rPr>
              <a:t>The Canny edge detector uses a multi-stage algorithm to detect a wide range of edges in images.</a:t>
            </a:r>
          </a:p>
        </p:txBody>
      </p:sp>
    </p:spTree>
    <p:extLst>
      <p:ext uri="{BB962C8B-B14F-4D97-AF65-F5344CB8AC3E}">
        <p14:creationId xmlns:p14="http://schemas.microsoft.com/office/powerpoint/2010/main" val="28543741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Summary</a:t>
            </a:r>
          </a:p>
        </p:txBody>
      </p:sp>
      <p:pic>
        <p:nvPicPr>
          <p:cNvPr id="4" name="Picture 3"/>
          <p:cNvPicPr>
            <a:picLocks noChangeAspect="1"/>
          </p:cNvPicPr>
          <p:nvPr/>
        </p:nvPicPr>
        <p:blipFill>
          <a:blip r:embed="rId3"/>
          <a:stretch>
            <a:fillRect/>
          </a:stretch>
        </p:blipFill>
        <p:spPr>
          <a:xfrm>
            <a:off x="1676400" y="1686130"/>
            <a:ext cx="8839200" cy="1139652"/>
          </a:xfrm>
          <a:prstGeom prst="rect">
            <a:avLst/>
          </a:prstGeom>
          <a:ln w="38100">
            <a:solidFill>
              <a:srgbClr val="FF0000"/>
            </a:solidFill>
          </a:ln>
        </p:spPr>
      </p:pic>
      <p:pic>
        <p:nvPicPr>
          <p:cNvPr id="12" name="Picture 2" descr="http://www.magic-emoji.com/emoji/images/83_emoji_iphone_black_diamond_sui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1706336" y="4179894"/>
            <a:ext cx="2476500" cy="24765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1" y="3018168"/>
            <a:ext cx="4343400" cy="1061010"/>
          </a:xfrm>
          <a:prstGeom prst="rect">
            <a:avLst/>
          </a:prstGeom>
          <a:noFill/>
          <a:ln w="381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pic>
      <p:pic>
        <p:nvPicPr>
          <p:cNvPr id="14" name="Picture 13"/>
          <p:cNvPicPr>
            <a:picLocks noChangeAspect="1"/>
          </p:cNvPicPr>
          <p:nvPr/>
        </p:nvPicPr>
        <p:blipFill>
          <a:blip r:embed="rId6"/>
          <a:stretch>
            <a:fillRect/>
          </a:stretch>
        </p:blipFill>
        <p:spPr>
          <a:xfrm>
            <a:off x="4437293" y="4392408"/>
            <a:ext cx="1457277" cy="2263985"/>
          </a:xfrm>
          <a:prstGeom prst="rect">
            <a:avLst/>
          </a:prstGeom>
        </p:spPr>
      </p:pic>
      <p:sp>
        <p:nvSpPr>
          <p:cNvPr id="9" name="Rectangle 1"/>
          <p:cNvSpPr>
            <a:spLocks noGrp="1" noChangeArrowheads="1"/>
          </p:cNvSpPr>
          <p:nvPr>
            <p:ph idx="1"/>
          </p:nvPr>
        </p:nvSpPr>
        <p:spPr bwMode="auto">
          <a:xfrm>
            <a:off x="1676400" y="990600"/>
            <a:ext cx="8686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lgn="just">
              <a:spcBef>
                <a:spcPct val="0"/>
              </a:spcBef>
              <a:buNone/>
            </a:pPr>
            <a:r>
              <a:rPr kumimoji="0" lang="en-US" altLang="en-US" i="0" u="none" strike="noStrike" cap="none" normalizeH="0" baseline="0" dirty="0">
                <a:ln>
                  <a:noFill/>
                </a:ln>
                <a:effectLst/>
                <a:latin typeface="+mn-lt"/>
              </a:rPr>
              <a:t>Linear System </a:t>
            </a:r>
            <a:r>
              <a:rPr kumimoji="0" lang="en-US" altLang="en-US" i="0" u="none" strike="noStrike" cap="none" normalizeH="0" baseline="0" dirty="0">
                <a:ln>
                  <a:noFill/>
                </a:ln>
                <a:effectLst/>
                <a:cs typeface="Arial" panose="020B0604020202020204" pitchFamily="34" charset="0"/>
              </a:rPr>
              <a:t>→ Shift-invariant</a:t>
            </a:r>
            <a:r>
              <a:rPr kumimoji="0" lang="en-US" altLang="en-US" i="0" u="none" strike="noStrike" cap="none" normalizeH="0" dirty="0">
                <a:ln>
                  <a:noFill/>
                </a:ln>
                <a:effectLst/>
                <a:cs typeface="Arial" panose="020B0604020202020204" pitchFamily="34" charset="0"/>
              </a:rPr>
              <a:t> </a:t>
            </a:r>
            <a:r>
              <a:rPr lang="en-US" altLang="en-US" dirty="0">
                <a:cs typeface="Arial" panose="020B0604020202020204" pitchFamily="34" charset="0"/>
              </a:rPr>
              <a:t>→ Convolution</a:t>
            </a:r>
            <a:r>
              <a:rPr kumimoji="0" lang="en-US" altLang="en-US" i="0" u="none" strike="noStrike" cap="none" normalizeH="0" dirty="0">
                <a:ln>
                  <a:noFill/>
                </a:ln>
                <a:effectLst/>
                <a:latin typeface="+mn-lt"/>
              </a:rPr>
              <a:t> </a:t>
            </a:r>
            <a:endParaRPr kumimoji="0" lang="en-US" altLang="en-US" i="0" u="none" strike="noStrike" cap="none" normalizeH="0" baseline="0" dirty="0">
              <a:ln>
                <a:noFill/>
              </a:ln>
              <a:effectLst/>
              <a:latin typeface="+mn-lt"/>
            </a:endParaRPr>
          </a:p>
        </p:txBody>
      </p:sp>
      <p:pic>
        <p:nvPicPr>
          <p:cNvPr id="57346" name="Picture 2" descr="Image result for medical imaging scanne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74256" y="3195589"/>
            <a:ext cx="4239398" cy="323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8498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Homework 04</a:t>
            </a:r>
          </a:p>
        </p:txBody>
      </p:sp>
      <p:sp>
        <p:nvSpPr>
          <p:cNvPr id="3" name="Content Placeholder 2"/>
          <p:cNvSpPr>
            <a:spLocks noGrp="1"/>
          </p:cNvSpPr>
          <p:nvPr>
            <p:ph idx="1"/>
          </p:nvPr>
        </p:nvSpPr>
        <p:spPr>
          <a:xfrm>
            <a:off x="1676400" y="1066800"/>
            <a:ext cx="8839200" cy="5450541"/>
          </a:xfrm>
        </p:spPr>
        <p:txBody>
          <a:bodyPr/>
          <a:lstStyle/>
          <a:p>
            <a:pPr marL="0" indent="0">
              <a:buNone/>
            </a:pPr>
            <a:r>
              <a:rPr lang="en-US" sz="2400" b="0" dirty="0"/>
              <a:t>Suppose RC=1s, please use MatLab to plot the first row.</a:t>
            </a:r>
          </a:p>
          <a:p>
            <a:pPr marL="0" indent="0">
              <a:buNone/>
            </a:pPr>
            <a:endParaRPr lang="en-US" sz="2400" b="0" dirty="0"/>
          </a:p>
          <a:p>
            <a:pPr marL="0" indent="0">
              <a:buNone/>
            </a:pPr>
            <a:endParaRPr lang="en-US" sz="2400" b="0" dirty="0"/>
          </a:p>
          <a:p>
            <a:pPr marL="0" indent="0">
              <a:buNone/>
            </a:pPr>
            <a:endParaRPr lang="en-US" sz="2400" b="0" dirty="0"/>
          </a:p>
          <a:p>
            <a:pPr marL="0" indent="0">
              <a:buNone/>
            </a:pPr>
            <a:endParaRPr lang="en-US" sz="2400" b="0" dirty="0"/>
          </a:p>
          <a:p>
            <a:pPr marL="0" indent="0">
              <a:buNone/>
            </a:pPr>
            <a:endParaRPr lang="en-US" sz="2400" b="0" dirty="0"/>
          </a:p>
          <a:p>
            <a:pPr marL="0" indent="0">
              <a:buNone/>
            </a:pPr>
            <a:endParaRPr lang="en-US" sz="2400" b="0" dirty="0"/>
          </a:p>
          <a:p>
            <a:pPr marL="0" indent="0">
              <a:buNone/>
            </a:pPr>
            <a:endParaRPr lang="en-US" sz="2400" b="0" dirty="0"/>
          </a:p>
          <a:p>
            <a:pPr marL="0" indent="0">
              <a:buNone/>
            </a:pPr>
            <a:endParaRPr lang="en-US" sz="2400" b="0" dirty="0"/>
          </a:p>
          <a:p>
            <a:pPr marL="0" indent="0">
              <a:buNone/>
            </a:pPr>
            <a:endParaRPr lang="en-US" sz="2400" b="0" dirty="0"/>
          </a:p>
          <a:p>
            <a:pPr marL="0" indent="0">
              <a:buNone/>
            </a:pPr>
            <a:r>
              <a:rPr lang="en-US" sz="2400" b="0" dirty="0">
                <a:solidFill>
                  <a:srgbClr val="FF0000"/>
                </a:solidFill>
              </a:rPr>
              <a:t>Due date: One week from now (by midnight next Friday).  Please upload your report to MLS, including both the script and the figures in a word file.</a:t>
            </a:r>
          </a:p>
        </p:txBody>
      </p:sp>
      <p:pic>
        <p:nvPicPr>
          <p:cNvPr id="4" name="Picture 3"/>
          <p:cNvPicPr>
            <a:picLocks noChangeAspect="1"/>
          </p:cNvPicPr>
          <p:nvPr/>
        </p:nvPicPr>
        <p:blipFill>
          <a:blip r:embed="rId3"/>
          <a:stretch>
            <a:fillRect/>
          </a:stretch>
        </p:blipFill>
        <p:spPr>
          <a:xfrm>
            <a:off x="1524001" y="1965787"/>
            <a:ext cx="4005483" cy="2973767"/>
          </a:xfrm>
          <a:prstGeom prst="rect">
            <a:avLst/>
          </a:prstGeom>
        </p:spPr>
      </p:pic>
      <p:pic>
        <p:nvPicPr>
          <p:cNvPr id="5" name="Picture 4"/>
          <p:cNvPicPr>
            <a:picLocks noChangeAspect="1"/>
          </p:cNvPicPr>
          <p:nvPr/>
        </p:nvPicPr>
        <p:blipFill>
          <a:blip r:embed="rId4"/>
          <a:stretch>
            <a:fillRect/>
          </a:stretch>
        </p:blipFill>
        <p:spPr>
          <a:xfrm>
            <a:off x="5325362" y="1651809"/>
            <a:ext cx="5342639" cy="3601721"/>
          </a:xfrm>
          <a:prstGeom prst="rect">
            <a:avLst/>
          </a:prstGeom>
        </p:spPr>
      </p:pic>
    </p:spTree>
    <p:extLst>
      <p:ext uri="{BB962C8B-B14F-4D97-AF65-F5344CB8AC3E}">
        <p14:creationId xmlns:p14="http://schemas.microsoft.com/office/powerpoint/2010/main" val="3573635701"/>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sz="1800" dirty="0" err="1" smtClean="0"/>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16"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sz="1800" dirty="0" err="1" smtClean="0"/>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16"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Designs\Azure.pot</Template>
  <TotalTime>6973</TotalTime>
  <Words>11663</Words>
  <Application>Microsoft Office PowerPoint</Application>
  <PresentationFormat>Widescreen</PresentationFormat>
  <Paragraphs>841</Paragraphs>
  <Slides>49</Slides>
  <Notes>49</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49</vt:i4>
      </vt:variant>
    </vt:vector>
  </HeadingPairs>
  <TitlesOfParts>
    <vt:vector size="58" baseType="lpstr">
      <vt:lpstr>Arial</vt:lpstr>
      <vt:lpstr>Calibri</vt:lpstr>
      <vt:lpstr>Garamond</vt:lpstr>
      <vt:lpstr>Symbol</vt:lpstr>
      <vt:lpstr>Times</vt:lpstr>
      <vt:lpstr>Times New Roman</vt:lpstr>
      <vt:lpstr>Blank Presentation</vt:lpstr>
      <vt:lpstr>1_Blank Presentation</vt:lpstr>
      <vt:lpstr>Equation</vt:lpstr>
      <vt:lpstr>PowerPoint Presentation</vt:lpstr>
      <vt:lpstr>PowerPoint Presentation</vt:lpstr>
      <vt:lpstr>Outline</vt:lpstr>
      <vt:lpstr>PowerPoint Presentation</vt:lpstr>
      <vt:lpstr>First Push Must Be an Impulse</vt:lpstr>
      <vt:lpstr>Impulse to Momentum Change</vt:lpstr>
      <vt:lpstr>Impulse to Momentum Change</vt:lpstr>
      <vt:lpstr>Impulse as an Overall Effect</vt:lpstr>
      <vt:lpstr>Regardless of Functional Shapes</vt:lpstr>
      <vt:lpstr>Relying on the Limiting Process</vt:lpstr>
      <vt:lpstr>Given the Effect of an Impulse</vt:lpstr>
      <vt:lpstr>Dirac δ Function</vt:lpstr>
      <vt:lpstr>Mean Value Theorem </vt:lpstr>
      <vt:lpstr>Representing a Continuous Function</vt:lpstr>
      <vt:lpstr>Discrete δ Function</vt:lpstr>
      <vt:lpstr>As a Sum of Rect/Gate Functions</vt:lpstr>
      <vt:lpstr>As a Sum of Deltas</vt:lpstr>
      <vt:lpstr>Representing a Discrete Function</vt:lpstr>
      <vt:lpstr>Continuous Versus Discrete</vt:lpstr>
      <vt:lpstr>Impulse to Shift-Invariant System</vt:lpstr>
      <vt:lpstr>Linear System Output (Discrete)</vt:lpstr>
      <vt:lpstr>Linear System Output (Discrete)</vt:lpstr>
      <vt:lpstr>System Output (Continuous)</vt:lpstr>
      <vt:lpstr>Output as Convolution</vt:lpstr>
      <vt:lpstr>Hands-on Example</vt:lpstr>
      <vt:lpstr>Hands-on Result</vt:lpstr>
      <vt:lpstr>PowerPoint Presentation</vt:lpstr>
      <vt:lpstr>PowerPoint Presentation</vt:lpstr>
      <vt:lpstr>Minds-on Example</vt:lpstr>
      <vt:lpstr>1st &amp; 2nd of 5 Steps</vt:lpstr>
      <vt:lpstr>Rest 3 of 5 Steps</vt:lpstr>
      <vt:lpstr>Whole Solution</vt:lpstr>
      <vt:lpstr>Example: RC Circuit Analysis</vt:lpstr>
      <vt:lpstr>Discrete Convolution in 2D</vt:lpstr>
      <vt:lpstr>Example: Image Blurring</vt:lpstr>
      <vt:lpstr>Example: PSF for Imaging</vt:lpstr>
      <vt:lpstr>Image Deconvolution</vt:lpstr>
      <vt:lpstr>Example: Inverse Filtering</vt:lpstr>
      <vt:lpstr>Image Deconvolution</vt:lpstr>
      <vt:lpstr>Convolution Properties</vt:lpstr>
      <vt:lpstr>Proof of Commutative Property</vt:lpstr>
      <vt:lpstr>Convolution vs Cross-correlation</vt:lpstr>
      <vt:lpstr>Convolution vs Cross-correlation</vt:lpstr>
      <vt:lpstr>Cauchy–Schwarz Inequality</vt:lpstr>
      <vt:lpstr>Example: Signal Detection</vt:lpstr>
      <vt:lpstr>Example: Feature Extraction</vt:lpstr>
      <vt:lpstr>Example: Edge Detection</vt:lpstr>
      <vt:lpstr>Summary</vt:lpstr>
      <vt:lpstr>Homework 04</vt:lpstr>
    </vt:vector>
  </TitlesOfParts>
  <Company>ART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xintes</dc:creator>
  <cp:lastModifiedBy>Manik, Md Motaleb Hossen</cp:lastModifiedBy>
  <cp:revision>373</cp:revision>
  <cp:lastPrinted>2012-08-27T14:05:30Z</cp:lastPrinted>
  <dcterms:created xsi:type="dcterms:W3CDTF">2006-11-16T21:02:09Z</dcterms:created>
  <dcterms:modified xsi:type="dcterms:W3CDTF">2025-08-09T01:11:09Z</dcterms:modified>
</cp:coreProperties>
</file>