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3696" r:id="rId2"/>
  </p:sldMasterIdLst>
  <p:notesMasterIdLst>
    <p:notesMasterId r:id="rId53"/>
  </p:notesMasterIdLst>
  <p:sldIdLst>
    <p:sldId id="603" r:id="rId3"/>
    <p:sldId id="1749" r:id="rId4"/>
    <p:sldId id="1747" r:id="rId5"/>
    <p:sldId id="1638" r:id="rId6"/>
    <p:sldId id="1699" r:id="rId7"/>
    <p:sldId id="1697" r:id="rId8"/>
    <p:sldId id="1698" r:id="rId9"/>
    <p:sldId id="1740" r:id="rId10"/>
    <p:sldId id="1635" r:id="rId11"/>
    <p:sldId id="1700" r:id="rId12"/>
    <p:sldId id="1706" r:id="rId13"/>
    <p:sldId id="1704" r:id="rId14"/>
    <p:sldId id="1705" r:id="rId15"/>
    <p:sldId id="1707" r:id="rId16"/>
    <p:sldId id="1708" r:id="rId17"/>
    <p:sldId id="1742" r:id="rId18"/>
    <p:sldId id="1739" r:id="rId19"/>
    <p:sldId id="1712" r:id="rId20"/>
    <p:sldId id="1664" r:id="rId21"/>
    <p:sldId id="1668" r:id="rId22"/>
    <p:sldId id="1669" r:id="rId23"/>
    <p:sldId id="1670" r:id="rId24"/>
    <p:sldId id="1671" r:id="rId25"/>
    <p:sldId id="1672" r:id="rId26"/>
    <p:sldId id="1673" r:id="rId27"/>
    <p:sldId id="1717" r:id="rId28"/>
    <p:sldId id="1674" r:id="rId29"/>
    <p:sldId id="1675" r:id="rId30"/>
    <p:sldId id="1676" r:id="rId31"/>
    <p:sldId id="1678" r:id="rId32"/>
    <p:sldId id="1679" r:id="rId33"/>
    <p:sldId id="1680" r:id="rId34"/>
    <p:sldId id="1711" r:id="rId35"/>
    <p:sldId id="1743" r:id="rId36"/>
    <p:sldId id="1741" r:id="rId37"/>
    <p:sldId id="1681" r:id="rId38"/>
    <p:sldId id="1718" r:id="rId39"/>
    <p:sldId id="1682" r:id="rId40"/>
    <p:sldId id="1719" r:id="rId41"/>
    <p:sldId id="1683" r:id="rId42"/>
    <p:sldId id="1684" r:id="rId43"/>
    <p:sldId id="1727" r:id="rId44"/>
    <p:sldId id="1728" r:id="rId45"/>
    <p:sldId id="1734" r:id="rId46"/>
    <p:sldId id="1731" r:id="rId47"/>
    <p:sldId id="1730" r:id="rId48"/>
    <p:sldId id="1729" r:id="rId49"/>
    <p:sldId id="1732" r:id="rId50"/>
    <p:sldId id="1733" r:id="rId51"/>
    <p:sldId id="1477" r:id="rId52"/>
  </p:sldIdLst>
  <p:sldSz cx="12192000" cy="6858000"/>
  <p:notesSz cx="6858000" cy="9144000"/>
  <p:defaultTextStyle>
    <a:defPPr>
      <a:defRPr lang="en-US"/>
    </a:defPPr>
    <a:lvl1pPr algn="l" rtl="0" eaLnBrk="0" fontAlgn="base" hangingPunct="0">
      <a:spcBef>
        <a:spcPct val="0"/>
      </a:spcBef>
      <a:spcAft>
        <a:spcPct val="0"/>
      </a:spcAft>
      <a:defRPr sz="2400" kern="1200">
        <a:solidFill>
          <a:schemeClr val="tx1"/>
        </a:solidFill>
        <a:latin typeface="Arial" charset="0"/>
        <a:ea typeface="ＭＳ Ｐゴシック" pitchFamily="116" charset="-128"/>
        <a:cs typeface="+mn-cs"/>
      </a:defRPr>
    </a:lvl1pPr>
    <a:lvl2pPr marL="457200" algn="l" rtl="0" eaLnBrk="0" fontAlgn="base" hangingPunct="0">
      <a:spcBef>
        <a:spcPct val="0"/>
      </a:spcBef>
      <a:spcAft>
        <a:spcPct val="0"/>
      </a:spcAft>
      <a:defRPr sz="2400" kern="1200">
        <a:solidFill>
          <a:schemeClr val="tx1"/>
        </a:solidFill>
        <a:latin typeface="Arial" charset="0"/>
        <a:ea typeface="ＭＳ Ｐゴシック" pitchFamily="116" charset="-128"/>
        <a:cs typeface="+mn-cs"/>
      </a:defRPr>
    </a:lvl2pPr>
    <a:lvl3pPr marL="914400" algn="l" rtl="0" eaLnBrk="0" fontAlgn="base" hangingPunct="0">
      <a:spcBef>
        <a:spcPct val="0"/>
      </a:spcBef>
      <a:spcAft>
        <a:spcPct val="0"/>
      </a:spcAft>
      <a:defRPr sz="2400" kern="1200">
        <a:solidFill>
          <a:schemeClr val="tx1"/>
        </a:solidFill>
        <a:latin typeface="Arial" charset="0"/>
        <a:ea typeface="ＭＳ Ｐゴシック" pitchFamily="116" charset="-128"/>
        <a:cs typeface="+mn-cs"/>
      </a:defRPr>
    </a:lvl3pPr>
    <a:lvl4pPr marL="1371600" algn="l" rtl="0" eaLnBrk="0" fontAlgn="base" hangingPunct="0">
      <a:spcBef>
        <a:spcPct val="0"/>
      </a:spcBef>
      <a:spcAft>
        <a:spcPct val="0"/>
      </a:spcAft>
      <a:defRPr sz="2400" kern="1200">
        <a:solidFill>
          <a:schemeClr val="tx1"/>
        </a:solidFill>
        <a:latin typeface="Arial" charset="0"/>
        <a:ea typeface="ＭＳ Ｐゴシック" pitchFamily="116" charset="-128"/>
        <a:cs typeface="+mn-cs"/>
      </a:defRPr>
    </a:lvl4pPr>
    <a:lvl5pPr marL="1828800" algn="l" rtl="0" eaLnBrk="0" fontAlgn="base" hangingPunct="0">
      <a:spcBef>
        <a:spcPct val="0"/>
      </a:spcBef>
      <a:spcAft>
        <a:spcPct val="0"/>
      </a:spcAft>
      <a:defRPr sz="2400" kern="1200">
        <a:solidFill>
          <a:schemeClr val="tx1"/>
        </a:solidFill>
        <a:latin typeface="Arial" charset="0"/>
        <a:ea typeface="ＭＳ Ｐゴシック" pitchFamily="116" charset="-128"/>
        <a:cs typeface="+mn-cs"/>
      </a:defRPr>
    </a:lvl5pPr>
    <a:lvl6pPr marL="2286000" algn="l" defTabSz="914400" rtl="0" eaLnBrk="1" latinLnBrk="0" hangingPunct="1">
      <a:defRPr sz="2400" kern="1200">
        <a:solidFill>
          <a:schemeClr val="tx1"/>
        </a:solidFill>
        <a:latin typeface="Arial" charset="0"/>
        <a:ea typeface="ＭＳ Ｐゴシック" pitchFamily="116" charset="-128"/>
        <a:cs typeface="+mn-cs"/>
      </a:defRPr>
    </a:lvl6pPr>
    <a:lvl7pPr marL="2743200" algn="l" defTabSz="914400" rtl="0" eaLnBrk="1" latinLnBrk="0" hangingPunct="1">
      <a:defRPr sz="2400" kern="1200">
        <a:solidFill>
          <a:schemeClr val="tx1"/>
        </a:solidFill>
        <a:latin typeface="Arial" charset="0"/>
        <a:ea typeface="ＭＳ Ｐゴシック" pitchFamily="116" charset="-128"/>
        <a:cs typeface="+mn-cs"/>
      </a:defRPr>
    </a:lvl7pPr>
    <a:lvl8pPr marL="3200400" algn="l" defTabSz="914400" rtl="0" eaLnBrk="1" latinLnBrk="0" hangingPunct="1">
      <a:defRPr sz="2400" kern="1200">
        <a:solidFill>
          <a:schemeClr val="tx1"/>
        </a:solidFill>
        <a:latin typeface="Arial" charset="0"/>
        <a:ea typeface="ＭＳ Ｐゴシック" pitchFamily="116" charset="-128"/>
        <a:cs typeface="+mn-cs"/>
      </a:defRPr>
    </a:lvl8pPr>
    <a:lvl9pPr marL="3657600" algn="l" defTabSz="914400" rtl="0" eaLnBrk="1" latinLnBrk="0" hangingPunct="1">
      <a:defRPr sz="2400" kern="1200">
        <a:solidFill>
          <a:schemeClr val="tx1"/>
        </a:solidFill>
        <a:latin typeface="Arial" charset="0"/>
        <a:ea typeface="ＭＳ Ｐゴシック" pitchFamily="116"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33CC33"/>
    <a:srgbClr val="3399FF"/>
    <a:srgbClr val="FF7C80"/>
    <a:srgbClr val="009900"/>
    <a:srgbClr val="9900FF"/>
    <a:srgbClr val="0066FF"/>
    <a:srgbClr val="FF99FF"/>
    <a:srgbClr val="993366"/>
    <a:srgbClr val="00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123" autoAdjust="0"/>
    <p:restoredTop sz="76728" autoAdjust="0"/>
  </p:normalViewPr>
  <p:slideViewPr>
    <p:cSldViewPr snapToGrid="0">
      <p:cViewPr varScale="1">
        <p:scale>
          <a:sx n="122" d="100"/>
          <a:sy n="122" d="100"/>
        </p:scale>
        <p:origin x="2232" y="96"/>
      </p:cViewPr>
      <p:guideLst>
        <p:guide orient="horz" pos="2160"/>
        <p:guide pos="3840"/>
      </p:guideLst>
    </p:cSldViewPr>
  </p:slideViewPr>
  <p:outlineViewPr>
    <p:cViewPr>
      <p:scale>
        <a:sx n="33" d="100"/>
        <a:sy n="33" d="100"/>
      </p:scale>
      <p:origin x="0" y="-6850"/>
    </p:cViewPr>
  </p:outlineViewPr>
  <p:notesTextViewPr>
    <p:cViewPr>
      <p:scale>
        <a:sx n="3" d="2"/>
        <a:sy n="3" d="2"/>
      </p:scale>
      <p:origin x="0" y="0"/>
    </p:cViewPr>
  </p:notesTextViewPr>
  <p:sorterViewPr>
    <p:cViewPr>
      <p:scale>
        <a:sx n="150" d="100"/>
        <a:sy n="150" d="100"/>
      </p:scale>
      <p:origin x="0" y="-30884"/>
    </p:cViewPr>
  </p:sorterViewPr>
  <p:notesViewPr>
    <p:cSldViewPr snapToGrid="0">
      <p:cViewPr varScale="1">
        <p:scale>
          <a:sx n="52" d="100"/>
          <a:sy n="52" d="100"/>
        </p:scale>
        <p:origin x="2608" y="5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notesMaster" Target="notesMasters/notesMaster1.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tableStyles" Target="tableStyle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5123" name="Rectangle 3"/>
          <p:cNvSpPr>
            <a:spLocks noGrp="1" noChangeArrowheads="1"/>
          </p:cNvSpPr>
          <p:nvPr>
            <p:ph type="dt" idx="1"/>
          </p:nvPr>
        </p:nvSpPr>
        <p:spPr bwMode="auto">
          <a:xfrm>
            <a:off x="388620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5124"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p:spPr>
      </p:sp>
      <p:sp>
        <p:nvSpPr>
          <p:cNvPr id="5125"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126"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5127"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a:defRPr sz="1200"/>
            </a:lvl1pPr>
          </a:lstStyle>
          <a:p>
            <a:fld id="{9F30534E-9FB8-46AE-8E3B-5675B268AE6A}" type="slidenum">
              <a:rPr lang="en-US"/>
              <a:pPr/>
              <a:t>‹#›</a:t>
            </a:fld>
            <a:endParaRPr lang="en-US"/>
          </a:p>
        </p:txBody>
      </p:sp>
    </p:spTree>
    <p:extLst>
      <p:ext uri="{BB962C8B-B14F-4D97-AF65-F5344CB8AC3E}">
        <p14:creationId xmlns:p14="http://schemas.microsoft.com/office/powerpoint/2010/main" val="3913618814"/>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ＭＳ Ｐゴシック" pitchFamily="116" charset="-128"/>
        <a:cs typeface="+mn-cs"/>
      </a:defRPr>
    </a:lvl1pPr>
    <a:lvl2pPr marL="457200" algn="l" rtl="0" fontAlgn="base">
      <a:spcBef>
        <a:spcPct val="30000"/>
      </a:spcBef>
      <a:spcAft>
        <a:spcPct val="0"/>
      </a:spcAft>
      <a:defRPr sz="1200" kern="1200">
        <a:solidFill>
          <a:schemeClr val="tx1"/>
        </a:solidFill>
        <a:latin typeface="Arial" charset="0"/>
        <a:ea typeface="ＭＳ Ｐゴシック" pitchFamily="116" charset="-128"/>
        <a:cs typeface="+mn-cs"/>
      </a:defRPr>
    </a:lvl2pPr>
    <a:lvl3pPr marL="914400" algn="l" rtl="0" fontAlgn="base">
      <a:spcBef>
        <a:spcPct val="30000"/>
      </a:spcBef>
      <a:spcAft>
        <a:spcPct val="0"/>
      </a:spcAft>
      <a:defRPr sz="1200" kern="1200">
        <a:solidFill>
          <a:schemeClr val="tx1"/>
        </a:solidFill>
        <a:latin typeface="Arial" charset="0"/>
        <a:ea typeface="ＭＳ Ｐゴシック" pitchFamily="116" charset="-128"/>
        <a:cs typeface="+mn-cs"/>
      </a:defRPr>
    </a:lvl3pPr>
    <a:lvl4pPr marL="1371600" algn="l" rtl="0" fontAlgn="base">
      <a:spcBef>
        <a:spcPct val="30000"/>
      </a:spcBef>
      <a:spcAft>
        <a:spcPct val="0"/>
      </a:spcAft>
      <a:defRPr sz="1200" kern="1200">
        <a:solidFill>
          <a:schemeClr val="tx1"/>
        </a:solidFill>
        <a:latin typeface="Arial" charset="0"/>
        <a:ea typeface="ＭＳ Ｐゴシック" pitchFamily="116" charset="-128"/>
        <a:cs typeface="+mn-cs"/>
      </a:defRPr>
    </a:lvl4pPr>
    <a:lvl5pPr marL="1828800" algn="l" rtl="0" fontAlgn="base">
      <a:spcBef>
        <a:spcPct val="30000"/>
      </a:spcBef>
      <a:spcAft>
        <a:spcPct val="0"/>
      </a:spcAft>
      <a:defRPr sz="1200" kern="1200">
        <a:solidFill>
          <a:schemeClr val="tx1"/>
        </a:solidFill>
        <a:latin typeface="Arial" charset="0"/>
        <a:ea typeface="ＭＳ Ｐゴシック" pitchFamily="116"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F42E5D3-627C-4511-B3F4-264A77E3CF6D}" type="slidenum">
              <a:rPr lang="en-US"/>
              <a:pPr/>
              <a:t>1</a:t>
            </a:fld>
            <a:endParaRPr lang="en-US"/>
          </a:p>
        </p:txBody>
      </p:sp>
      <p:sp>
        <p:nvSpPr>
          <p:cNvPr id="6146" name="Rectangle 2"/>
          <p:cNvSpPr>
            <a:spLocks noGrp="1" noRot="1" noChangeAspect="1" noChangeArrowheads="1" noTextEdit="1"/>
          </p:cNvSpPr>
          <p:nvPr>
            <p:ph type="sldImg"/>
          </p:nvPr>
        </p:nvSpPr>
        <p:spPr>
          <a:xfrm>
            <a:off x="381000" y="685800"/>
            <a:ext cx="6096000" cy="3429000"/>
          </a:xfrm>
          <a:ln/>
        </p:spPr>
      </p:sp>
      <p:sp>
        <p:nvSpPr>
          <p:cNvPr id="6147" name="Rectangle 3"/>
          <p:cNvSpPr>
            <a:spLocks noGrp="1" noChangeArrowheads="1"/>
          </p:cNvSpPr>
          <p:nvPr>
            <p:ph type="body" idx="1"/>
          </p:nvPr>
        </p:nvSpPr>
        <p:spPr/>
        <p:txBody>
          <a:bodyPr/>
          <a:lstStyle/>
          <a:p>
            <a:r>
              <a:rPr lang="en-US" dirty="0"/>
              <a:t>Welcome back. We can see today’s topic is </a:t>
            </a:r>
            <a:r>
              <a:rPr lang="en-US" b="1" dirty="0"/>
              <a:t>CT Reconstruction</a:t>
            </a:r>
            <a:r>
              <a:rPr lang="en-US" dirty="0"/>
              <a:t>. </a:t>
            </a:r>
          </a:p>
          <a:p>
            <a:endParaRPr lang="en-US" dirty="0"/>
          </a:p>
          <a:p>
            <a:r>
              <a:rPr lang="en-US" dirty="0"/>
              <a:t>In this session, we’ll build on that foundation and map raw X-ray measurements into cross-sectional images. By the end, you’ll have a clear roadmap of the reconstruction pipeline and where classic methods, such as filtered back-projection and modern iterative ideas, fit into an online, real-world CT workflow.</a:t>
            </a:r>
          </a:p>
        </p:txBody>
      </p:sp>
    </p:spTree>
    <p:extLst>
      <p:ext uri="{BB962C8B-B14F-4D97-AF65-F5344CB8AC3E}">
        <p14:creationId xmlns:p14="http://schemas.microsoft.com/office/powerpoint/2010/main" val="37455965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Let’s take a look at the roadmap: we’re at the </a:t>
            </a:r>
            <a:r>
              <a:rPr lang="en-US" b="1" dirty="0"/>
              <a:t>CT Reconstruction</a:t>
            </a:r>
            <a:r>
              <a:rPr lang="en-US" dirty="0"/>
              <a:t> milestone. Keep one core idea in mind from the physics background—the roles of the X-ray </a:t>
            </a:r>
            <a:r>
              <a:rPr lang="en-US" b="1" dirty="0"/>
              <a:t>source</a:t>
            </a:r>
            <a:r>
              <a:rPr lang="en-US" dirty="0"/>
              <a:t>, the </a:t>
            </a:r>
            <a:r>
              <a:rPr lang="en-US" b="1" dirty="0"/>
              <a:t>detector</a:t>
            </a:r>
            <a:r>
              <a:rPr lang="en-US" dirty="0"/>
              <a:t>, and how a measurement is formed. Each reading can be interpreted as a </a:t>
            </a:r>
            <a:r>
              <a:rPr lang="en-US" b="1" dirty="0"/>
              <a:t>line integral</a:t>
            </a:r>
            <a:r>
              <a:rPr lang="en-US" dirty="0"/>
              <a:t> of the attenuation coefficient along a straight ray. </a:t>
            </a:r>
          </a:p>
          <a:p>
            <a:br>
              <a:rPr lang="en-US" dirty="0"/>
            </a:br>
            <a:r>
              <a:rPr lang="en-US" dirty="0"/>
              <a:t>With that model in place, we now focus on algorithms that invert those line integrals to recover cross-sectional images. If you’d like more depth on the geometry or notation, the companion reading for this module provides it</a:t>
            </a:r>
          </a:p>
        </p:txBody>
      </p:sp>
      <p:sp>
        <p:nvSpPr>
          <p:cNvPr id="4" name="Slide Number Placeholder 3"/>
          <p:cNvSpPr>
            <a:spLocks noGrp="1"/>
          </p:cNvSpPr>
          <p:nvPr>
            <p:ph type="sldNum" sz="quarter" idx="5"/>
          </p:nvPr>
        </p:nvSpPr>
        <p:spPr/>
        <p:txBody>
          <a:bodyPr/>
          <a:lstStyle/>
          <a:p>
            <a:fld id="{9F30534E-9FB8-46AE-8E3B-5675B268AE6A}" type="slidenum">
              <a:rPr lang="en-US" smtClean="0"/>
              <a:pPr/>
              <a:t>2</a:t>
            </a:fld>
            <a:endParaRPr lang="en-US"/>
          </a:p>
        </p:txBody>
      </p:sp>
    </p:spTree>
    <p:extLst>
      <p:ext uri="{BB962C8B-B14F-4D97-AF65-F5344CB8AC3E}">
        <p14:creationId xmlns:p14="http://schemas.microsoft.com/office/powerpoint/2010/main" val="15332284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Let’s take a look at a few habits that make this module easier.</a:t>
            </a:r>
            <a:br>
              <a:rPr lang="en-US" dirty="0"/>
            </a:br>
            <a:endParaRPr lang="en-US" dirty="0"/>
          </a:p>
          <a:p>
            <a:r>
              <a:rPr lang="en-US" dirty="0"/>
              <a:t>First, recommended reading: </a:t>
            </a:r>
            <a:r>
              <a:rPr lang="en-US" b="1" dirty="0"/>
              <a:t>Ge’s book</a:t>
            </a:r>
            <a:r>
              <a:rPr lang="en-US" dirty="0"/>
              <a:t> and the widely used </a:t>
            </a:r>
            <a:r>
              <a:rPr lang="en-US" b="1" dirty="0"/>
              <a:t>“Green Book.”</a:t>
            </a:r>
            <a:r>
              <a:rPr lang="en-US" dirty="0"/>
              <a:t> Together, they give both intuition and practical formulas. Next, focus on the </a:t>
            </a:r>
            <a:r>
              <a:rPr lang="en-US" b="1" dirty="0"/>
              <a:t>logic flow</a:t>
            </a:r>
            <a:r>
              <a:rPr lang="en-US" dirty="0"/>
              <a:t> in the video lessons and slides—how each idea leads to the next. Aim to capture the key concepts rather than memorize isolated facts.</a:t>
            </a:r>
            <a:br>
              <a:rPr lang="en-US" dirty="0"/>
            </a:br>
            <a:endParaRPr lang="en-US" dirty="0"/>
          </a:p>
          <a:p>
            <a:r>
              <a:rPr lang="en-US" dirty="0"/>
              <a:t>Build skills by </a:t>
            </a:r>
            <a:r>
              <a:rPr lang="en-US" b="1" dirty="0"/>
              <a:t>working on problems</a:t>
            </a:r>
            <a:r>
              <a:rPr lang="en-US" dirty="0"/>
              <a:t> from homework and textbook questions; problem-solving is where concepts become durable.</a:t>
            </a:r>
            <a:br>
              <a:rPr lang="en-US" dirty="0"/>
            </a:br>
            <a:r>
              <a:rPr lang="en-US" dirty="0"/>
              <a:t>Adopt a simple routine: </a:t>
            </a:r>
            <a:r>
              <a:rPr lang="en-US" b="1" dirty="0"/>
              <a:t>preview → learn → review → repeat.</a:t>
            </a:r>
            <a:r>
              <a:rPr lang="en-US" dirty="0"/>
              <a:t> Preview the slide headlines, watch the lesson, then review by summarizing in your own words and redoing one or two problems.</a:t>
            </a:r>
            <a:br>
              <a:rPr lang="en-US" dirty="0"/>
            </a:br>
            <a:endParaRPr lang="en-US" dirty="0"/>
          </a:p>
          <a:p>
            <a:r>
              <a:rPr lang="en-US" dirty="0"/>
              <a:t>For foundations, give extra attention to </a:t>
            </a:r>
            <a:r>
              <a:rPr lang="en-US" b="1" dirty="0"/>
              <a:t>Fourier analysis</a:t>
            </a:r>
            <a:r>
              <a:rPr lang="en-US" dirty="0"/>
              <a:t> and the </a:t>
            </a:r>
            <a:r>
              <a:rPr lang="en-US" b="1" dirty="0"/>
              <a:t>sampling theorem</a:t>
            </a:r>
            <a:r>
              <a:rPr lang="en-US" dirty="0"/>
              <a:t>—these are the grammar of modern imaging. They will pay off when we study CT filtered back-projection and, later, MRI pulse sequences and other modalities. If questions come up, post them in the course Q&amp;A so others can benefit too.</a:t>
            </a:r>
          </a:p>
        </p:txBody>
      </p:sp>
      <p:sp>
        <p:nvSpPr>
          <p:cNvPr id="4" name="Slide Number Placeholder 3"/>
          <p:cNvSpPr>
            <a:spLocks noGrp="1"/>
          </p:cNvSpPr>
          <p:nvPr>
            <p:ph type="sldNum" sz="quarter" idx="5"/>
          </p:nvPr>
        </p:nvSpPr>
        <p:spPr/>
        <p:txBody>
          <a:bodyPr/>
          <a:lstStyle/>
          <a:p>
            <a:fld id="{9F30534E-9FB8-46AE-8E3B-5675B268AE6A}" type="slidenum">
              <a:rPr lang="en-US" smtClean="0"/>
              <a:pPr/>
              <a:t>3</a:t>
            </a:fld>
            <a:endParaRPr lang="en-US"/>
          </a:p>
        </p:txBody>
      </p:sp>
    </p:spTree>
    <p:extLst>
      <p:ext uri="{BB962C8B-B14F-4D97-AF65-F5344CB8AC3E}">
        <p14:creationId xmlns:p14="http://schemas.microsoft.com/office/powerpoint/2010/main" val="18717268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Here we observe the plan for CT reconstruction. We will connect </a:t>
            </a:r>
            <a:r>
              <a:rPr lang="en-US" b="1" dirty="0"/>
              <a:t>data space</a:t>
            </a:r>
            <a:r>
              <a:rPr lang="en-US" dirty="0"/>
              <a:t>—the set of X-ray line integrals—to </a:t>
            </a:r>
            <a:r>
              <a:rPr lang="en-US" b="1" dirty="0"/>
              <a:t>image space</a:t>
            </a:r>
            <a:r>
              <a:rPr lang="en-US" dirty="0"/>
              <a:t>—the distribution of attenuation, usually written as mu of x, y. Think of this as a </a:t>
            </a:r>
            <a:r>
              <a:rPr lang="en-US" b="1" dirty="0"/>
              <a:t>duality of information</a:t>
            </a:r>
            <a:r>
              <a:rPr lang="en-US" dirty="0"/>
              <a:t>: each view in the sinogram encodes a different slice of information about the same object.</a:t>
            </a:r>
          </a:p>
          <a:p>
            <a:endParaRPr lang="en-US" dirty="0"/>
          </a:p>
          <a:p>
            <a:r>
              <a:rPr lang="en-US" dirty="0"/>
              <a:t>We’ll compare two families of methods:</a:t>
            </a:r>
          </a:p>
          <a:p>
            <a:r>
              <a:rPr lang="en-US" b="1" dirty="0"/>
              <a:t>Algebraic approach.</a:t>
            </a:r>
            <a:br>
              <a:rPr lang="en-US" dirty="0"/>
            </a:br>
            <a:r>
              <a:rPr lang="en-US" dirty="0"/>
              <a:t>We model the scanner with linear equations: </a:t>
            </a:r>
            <a:r>
              <a:rPr lang="en-US" b="1" dirty="0"/>
              <a:t>A times x equals b.</a:t>
            </a:r>
            <a:br>
              <a:rPr lang="en-US" dirty="0"/>
            </a:br>
            <a:r>
              <a:rPr lang="en-US" dirty="0"/>
              <a:t>This viewpoint helps us reason about </a:t>
            </a:r>
            <a:r>
              <a:rPr lang="en-US" b="1" dirty="0"/>
              <a:t>solution uniqueness</a:t>
            </a:r>
            <a:r>
              <a:rPr lang="en-US" dirty="0"/>
              <a:t>—for example, when A has full column rank—and about </a:t>
            </a:r>
            <a:r>
              <a:rPr lang="en-US" b="1" dirty="0"/>
              <a:t>data independence and sufficiency</a:t>
            </a:r>
            <a:r>
              <a:rPr lang="en-US" dirty="0"/>
              <a:t>, meaning we need enough non-redundant views and detector samples to determine x stably. Regularization can be added to handle noise or limited angles.</a:t>
            </a:r>
          </a:p>
          <a:p>
            <a:endParaRPr lang="en-US" b="1" dirty="0"/>
          </a:p>
          <a:p>
            <a:r>
              <a:rPr lang="en-US" b="1" dirty="0"/>
              <a:t>Analytic approach.</a:t>
            </a:r>
            <a:endParaRPr lang="en-US" dirty="0"/>
          </a:p>
          <a:p>
            <a:r>
              <a:rPr lang="en-US" dirty="0"/>
              <a:t>This relies on Fourier analysis. By the </a:t>
            </a:r>
            <a:r>
              <a:rPr lang="en-US" b="1" dirty="0"/>
              <a:t>Fourier Slice Theorem</a:t>
            </a:r>
            <a:r>
              <a:rPr lang="en-US" dirty="0"/>
              <a:t>, the one-dimensional Fourier transform of a projection at angle theta equals a </a:t>
            </a:r>
            <a:r>
              <a:rPr lang="en-US" b="1" dirty="0"/>
              <a:t>radial slice</a:t>
            </a:r>
            <a:r>
              <a:rPr lang="en-US" dirty="0"/>
              <a:t> through the two-dimensional Fourier transform of the object at the same angle. </a:t>
            </a:r>
            <a:br>
              <a:rPr lang="en-US" dirty="0"/>
            </a:br>
            <a:endParaRPr lang="en-US" dirty="0"/>
          </a:p>
          <a:p>
            <a:r>
              <a:rPr lang="en-US" dirty="0"/>
              <a:t>From this principle, we derive </a:t>
            </a:r>
            <a:r>
              <a:rPr lang="en-US" b="1" dirty="0"/>
              <a:t>filtered back-projection (FBP)</a:t>
            </a:r>
            <a:r>
              <a:rPr lang="en-US" dirty="0"/>
              <a:t>: first apply a frequency-domain </a:t>
            </a:r>
            <a:r>
              <a:rPr lang="en-US" b="1" dirty="0"/>
              <a:t>ramp filter</a:t>
            </a:r>
            <a:r>
              <a:rPr lang="en-US" dirty="0"/>
              <a:t>—magnitude of omega—to each projection, then smear, or back-project, the filtered data across the image grid. FBP is fast and remains the standard for many clinical workflows.</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4</a:t>
            </a:fld>
            <a:endParaRPr lang="en-US"/>
          </a:p>
        </p:txBody>
      </p:sp>
    </p:spTree>
    <p:extLst>
      <p:ext uri="{BB962C8B-B14F-4D97-AF65-F5344CB8AC3E}">
        <p14:creationId xmlns:p14="http://schemas.microsoft.com/office/powerpoint/2010/main" val="29409666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Let’s take a moment to underline the information. Like in physics, we have a </a:t>
            </a:r>
            <a:r>
              <a:rPr lang="en-US" b="1" dirty="0"/>
              <a:t>particle</a:t>
            </a:r>
            <a:r>
              <a:rPr lang="en-US" dirty="0"/>
              <a:t> property and a </a:t>
            </a:r>
            <a:r>
              <a:rPr lang="en-US" b="1" dirty="0"/>
              <a:t>wave</a:t>
            </a:r>
            <a:r>
              <a:rPr lang="en-US" dirty="0"/>
              <a:t> property. For image reconstruction, we can make an analogy. We can view the underlying image in </a:t>
            </a:r>
            <a:r>
              <a:rPr lang="en-US" b="1" dirty="0"/>
              <a:t>two ways</a:t>
            </a:r>
            <a:r>
              <a:rPr lang="en-US" dirty="0"/>
              <a:t>.</a:t>
            </a:r>
            <a:br>
              <a:rPr lang="en-US" dirty="0"/>
            </a:br>
            <a:endParaRPr lang="en-US" dirty="0"/>
          </a:p>
          <a:p>
            <a:r>
              <a:rPr lang="en-US" dirty="0"/>
              <a:t>First, we view the image as a </a:t>
            </a:r>
            <a:r>
              <a:rPr lang="en-US" b="1" dirty="0"/>
              <a:t>collection of pixels</a:t>
            </a:r>
            <a:r>
              <a:rPr lang="en-US" dirty="0"/>
              <a:t> if the image is two-dimensional, or as pixels for three-dimensional images—a collection of particles—here meaning picture elements; </a:t>
            </a:r>
            <a:r>
              <a:rPr lang="en-US" b="1" dirty="0"/>
              <a:t>the pixels, the pixels</a:t>
            </a:r>
            <a:r>
              <a:rPr lang="en-US" dirty="0"/>
              <a:t> (for 3-D, these are often called voxels).</a:t>
            </a:r>
            <a:br>
              <a:rPr lang="en-US" dirty="0"/>
            </a:br>
            <a:endParaRPr lang="en-US" dirty="0"/>
          </a:p>
          <a:p>
            <a:r>
              <a:rPr lang="en-US" dirty="0"/>
              <a:t>The other way is complementary: we view the image as a </a:t>
            </a:r>
            <a:r>
              <a:rPr lang="en-US" b="1" dirty="0"/>
              <a:t>superposition of waves</a:t>
            </a:r>
            <a:r>
              <a:rPr lang="en-US" dirty="0"/>
              <a:t>. For a two-dimensional image, for example, think of the image as a summation of many waves propagating along different orientations. For a given orientation, the wave can be at different frequencies, and you have </a:t>
            </a:r>
            <a:r>
              <a:rPr lang="en-US" b="1" dirty="0"/>
              <a:t>amplitude, frequency, and phase</a:t>
            </a:r>
            <a:r>
              <a:rPr lang="en-US" dirty="0"/>
              <a:t>. If all these parameters are set correctly and you add all these waves together, you obtain the image. This is the basic, high-level idea—the </a:t>
            </a:r>
            <a:r>
              <a:rPr lang="en-US" b="1" dirty="0"/>
              <a:t>particle and wave perspectives</a:t>
            </a:r>
            <a:r>
              <a:rPr lang="en-US" dirty="0"/>
              <a:t> of the image and of image reconstruction.</a:t>
            </a:r>
          </a:p>
        </p:txBody>
      </p:sp>
      <p:sp>
        <p:nvSpPr>
          <p:cNvPr id="4" name="Slide Number Placeholder 3"/>
          <p:cNvSpPr>
            <a:spLocks noGrp="1"/>
          </p:cNvSpPr>
          <p:nvPr>
            <p:ph type="sldNum" sz="quarter" idx="5"/>
          </p:nvPr>
        </p:nvSpPr>
        <p:spPr/>
        <p:txBody>
          <a:bodyPr/>
          <a:lstStyle/>
          <a:p>
            <a:fld id="{9F30534E-9FB8-46AE-8E3B-5675B268AE6A}" type="slidenum">
              <a:rPr lang="en-US" smtClean="0"/>
              <a:pPr/>
              <a:t>5</a:t>
            </a:fld>
            <a:endParaRPr lang="en-US"/>
          </a:p>
        </p:txBody>
      </p:sp>
    </p:spTree>
    <p:extLst>
      <p:ext uri="{BB962C8B-B14F-4D97-AF65-F5344CB8AC3E}">
        <p14:creationId xmlns:p14="http://schemas.microsoft.com/office/powerpoint/2010/main" val="31831001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Let me explain a little further. Take an arbitrary picture—say, a portrait of </a:t>
            </a:r>
            <a:r>
              <a:rPr lang="en-US" b="1" dirty="0"/>
              <a:t>our former president</a:t>
            </a:r>
            <a:r>
              <a:rPr lang="en-US" dirty="0"/>
              <a:t>. You can decompose the picture into many, many small elements. For each element, it’s very simple: just a homogeneous pixel, a small square. Add these together. </a:t>
            </a:r>
          </a:p>
          <a:p>
            <a:endParaRPr lang="en-US" dirty="0"/>
          </a:p>
          <a:p>
            <a:r>
              <a:rPr lang="en-US" dirty="0"/>
              <a:t>The trick is really the </a:t>
            </a:r>
            <a:r>
              <a:rPr lang="en-US" b="1" dirty="0"/>
              <a:t>amplitude</a:t>
            </a:r>
            <a:r>
              <a:rPr lang="en-US" dirty="0"/>
              <a:t>: you need to make sure all these amplitudes are modulated nicely. Then, when you put them together, you have the perception of a picture or a natural scene, whatever. This is one way to </a:t>
            </a:r>
            <a:r>
              <a:rPr lang="en-US" b="1" dirty="0"/>
              <a:t>represent a picture</a:t>
            </a:r>
            <a:r>
              <a:rPr lang="en-US" dirty="0"/>
              <a:t>.</a:t>
            </a:r>
          </a:p>
        </p:txBody>
      </p:sp>
      <p:sp>
        <p:nvSpPr>
          <p:cNvPr id="4" name="Slide Number Placeholder 3"/>
          <p:cNvSpPr>
            <a:spLocks noGrp="1"/>
          </p:cNvSpPr>
          <p:nvPr>
            <p:ph type="sldNum" sz="quarter" idx="5"/>
          </p:nvPr>
        </p:nvSpPr>
        <p:spPr/>
        <p:txBody>
          <a:bodyPr/>
          <a:lstStyle/>
          <a:p>
            <a:fld id="{9F30534E-9FB8-46AE-8E3B-5675B268AE6A}" type="slidenum">
              <a:rPr lang="en-US" smtClean="0"/>
              <a:pPr/>
              <a:t>6</a:t>
            </a:fld>
            <a:endParaRPr lang="en-US"/>
          </a:p>
        </p:txBody>
      </p:sp>
    </p:spTree>
    <p:extLst>
      <p:ext uri="{BB962C8B-B14F-4D97-AF65-F5344CB8AC3E}">
        <p14:creationId xmlns:p14="http://schemas.microsoft.com/office/powerpoint/2010/main" val="24538250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Another way, as mentioned, is </a:t>
            </a:r>
            <a:r>
              <a:rPr lang="en-US" b="1" dirty="0"/>
              <a:t>Fourier analysis</a:t>
            </a:r>
            <a:r>
              <a:rPr lang="en-US" dirty="0"/>
              <a:t>. In a two-dimensional picture, you perform a Fourier analysis and obtain a </a:t>
            </a:r>
            <a:r>
              <a:rPr lang="en-US" b="1" dirty="0"/>
              <a:t>Fourier spectrum</a:t>
            </a:r>
            <a:r>
              <a:rPr lang="en-US" dirty="0"/>
              <a:t>.</a:t>
            </a:r>
          </a:p>
          <a:p>
            <a:endParaRPr lang="en-US" dirty="0"/>
          </a:p>
          <a:p>
            <a:r>
              <a:rPr lang="en-US" dirty="0"/>
              <a:t>Pick any point: the </a:t>
            </a:r>
            <a:r>
              <a:rPr lang="en-US" b="1" dirty="0"/>
              <a:t>frequency</a:t>
            </a:r>
            <a:r>
              <a:rPr lang="en-US" dirty="0"/>
              <a:t> is proportional to the </a:t>
            </a:r>
            <a:r>
              <a:rPr lang="en-US" b="1" dirty="0"/>
              <a:t>distance from the origin</a:t>
            </a:r>
            <a:r>
              <a:rPr lang="en-US" dirty="0"/>
              <a:t> to that point in the Fourier domain. In this example, you see the frequency, and you also have an </a:t>
            </a:r>
            <a:r>
              <a:rPr lang="en-US" b="1" dirty="0"/>
              <a:t>amplitude</a:t>
            </a:r>
            <a:r>
              <a:rPr lang="en-US" dirty="0"/>
              <a:t> proportional to the value at this particular point. That gives a particular wave propagating along that direction.</a:t>
            </a:r>
          </a:p>
          <a:p>
            <a:endParaRPr lang="en-US" dirty="0"/>
          </a:p>
          <a:p>
            <a:r>
              <a:rPr lang="en-US" dirty="0"/>
              <a:t>Fourier analysis uses all kinds of wave components: the </a:t>
            </a:r>
            <a:r>
              <a:rPr lang="en-US" b="1" dirty="0"/>
              <a:t>DC component</a:t>
            </a:r>
            <a:r>
              <a:rPr lang="en-US" dirty="0"/>
              <a:t>, </a:t>
            </a:r>
            <a:r>
              <a:rPr lang="en-US" b="1" dirty="0"/>
              <a:t>horizontal waves</a:t>
            </a:r>
            <a:r>
              <a:rPr lang="en-US" dirty="0"/>
              <a:t>, </a:t>
            </a:r>
            <a:r>
              <a:rPr lang="en-US" b="1" dirty="0"/>
              <a:t>vertical waves</a:t>
            </a:r>
            <a:r>
              <a:rPr lang="en-US" dirty="0"/>
              <a:t>, </a:t>
            </a:r>
            <a:r>
              <a:rPr lang="en-US" b="1" dirty="0"/>
              <a:t>low frequency</a:t>
            </a:r>
            <a:r>
              <a:rPr lang="en-US" dirty="0"/>
              <a:t>, </a:t>
            </a:r>
            <a:r>
              <a:rPr lang="en-US" b="1" dirty="0"/>
              <a:t>high frequency</a:t>
            </a:r>
            <a:r>
              <a:rPr lang="en-US" dirty="0"/>
              <a:t>, and waves that propagate in </a:t>
            </a:r>
            <a:r>
              <a:rPr lang="en-US" b="1" dirty="0"/>
              <a:t>arbitrary directions</a:t>
            </a:r>
            <a:r>
              <a:rPr lang="en-US" dirty="0"/>
              <a:t>—all these kinds of waves. The trick is the </a:t>
            </a:r>
            <a:r>
              <a:rPr lang="en-US" b="1" dirty="0"/>
              <a:t>setting of the parameters</a:t>
            </a:r>
            <a:r>
              <a:rPr lang="en-US" dirty="0"/>
              <a:t>. Once you find the </a:t>
            </a:r>
            <a:r>
              <a:rPr lang="en-US" b="1" dirty="0"/>
              <a:t>coefficients</a:t>
            </a:r>
            <a:r>
              <a:rPr lang="en-US" dirty="0"/>
              <a:t>, you add the Fourier components together, and then you can </a:t>
            </a:r>
            <a:r>
              <a:rPr lang="en-US" b="1" dirty="0"/>
              <a:t>recover the image</a:t>
            </a:r>
            <a:r>
              <a:rPr lang="en-US" dirty="0"/>
              <a:t>—in this case, </a:t>
            </a:r>
            <a:r>
              <a:rPr lang="en-US" b="1" dirty="0"/>
              <a:t>Albert Einstein</a:t>
            </a:r>
            <a:r>
              <a:rPr lang="en-US" dirty="0"/>
              <a:t>. </a:t>
            </a:r>
          </a:p>
          <a:p>
            <a:endParaRPr lang="en-US" dirty="0"/>
          </a:p>
          <a:p>
            <a:r>
              <a:rPr lang="en-US" dirty="0"/>
              <a:t>So there are </a:t>
            </a:r>
            <a:r>
              <a:rPr lang="en-US" b="1" dirty="0"/>
              <a:t>two ways</a:t>
            </a:r>
            <a:r>
              <a:rPr lang="en-US" dirty="0"/>
              <a:t>, and based on these two perspectives, we can have </a:t>
            </a:r>
            <a:r>
              <a:rPr lang="en-US" b="1" dirty="0"/>
              <a:t>two approaches</a:t>
            </a:r>
            <a:r>
              <a:rPr lang="en-US" dirty="0"/>
              <a:t>.</a:t>
            </a:r>
          </a:p>
        </p:txBody>
      </p:sp>
      <p:sp>
        <p:nvSpPr>
          <p:cNvPr id="4" name="Slide Number Placeholder 3"/>
          <p:cNvSpPr>
            <a:spLocks noGrp="1"/>
          </p:cNvSpPr>
          <p:nvPr>
            <p:ph type="sldNum" sz="quarter" idx="5"/>
          </p:nvPr>
        </p:nvSpPr>
        <p:spPr/>
        <p:txBody>
          <a:bodyPr/>
          <a:lstStyle/>
          <a:p>
            <a:fld id="{9F30534E-9FB8-46AE-8E3B-5675B268AE6A}" type="slidenum">
              <a:rPr lang="en-US" smtClean="0"/>
              <a:pPr/>
              <a:t>7</a:t>
            </a:fld>
            <a:endParaRPr lang="en-US"/>
          </a:p>
        </p:txBody>
      </p:sp>
    </p:spTree>
    <p:extLst>
      <p:ext uri="{BB962C8B-B14F-4D97-AF65-F5344CB8AC3E}">
        <p14:creationId xmlns:p14="http://schemas.microsoft.com/office/powerpoint/2010/main" val="39475078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We introduced two families of methods—</a:t>
            </a:r>
            <a:r>
              <a:rPr lang="en-US" b="1" dirty="0"/>
              <a:t>algebraic</a:t>
            </a:r>
            <a:r>
              <a:rPr lang="en-US" dirty="0"/>
              <a:t> and </a:t>
            </a:r>
            <a:r>
              <a:rPr lang="en-US" b="1" dirty="0"/>
              <a:t>analytic</a:t>
            </a:r>
            <a:r>
              <a:rPr lang="en-US" dirty="0"/>
              <a:t>. Let’s begin with the </a:t>
            </a:r>
            <a:r>
              <a:rPr lang="en-US" b="1" dirty="0"/>
              <a:t>algebraic approach</a:t>
            </a:r>
            <a:r>
              <a:rPr lang="en-US" dirty="0"/>
              <a:t> and set up the measurement model it relies on.</a:t>
            </a:r>
          </a:p>
        </p:txBody>
      </p:sp>
      <p:sp>
        <p:nvSpPr>
          <p:cNvPr id="4" name="Slide Number Placeholder 3"/>
          <p:cNvSpPr>
            <a:spLocks noGrp="1"/>
          </p:cNvSpPr>
          <p:nvPr>
            <p:ph type="sldNum" sz="quarter" idx="5"/>
          </p:nvPr>
        </p:nvSpPr>
        <p:spPr/>
        <p:txBody>
          <a:bodyPr/>
          <a:lstStyle/>
          <a:p>
            <a:fld id="{9F30534E-9FB8-46AE-8E3B-5675B268AE6A}" type="slidenum">
              <a:rPr lang="en-US" smtClean="0"/>
              <a:pPr/>
              <a:t>8</a:t>
            </a:fld>
            <a:endParaRPr lang="en-US"/>
          </a:p>
        </p:txBody>
      </p:sp>
    </p:spTree>
    <p:extLst>
      <p:ext uri="{BB962C8B-B14F-4D97-AF65-F5344CB8AC3E}">
        <p14:creationId xmlns:p14="http://schemas.microsoft.com/office/powerpoint/2010/main" val="11973804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The measurement can be written in </a:t>
            </a:r>
            <a:r>
              <a:rPr lang="en-US" b="1" dirty="0"/>
              <a:t>line-integral</a:t>
            </a:r>
            <a:r>
              <a:rPr lang="en-US" dirty="0"/>
              <a:t> form or in </a:t>
            </a:r>
            <a:r>
              <a:rPr lang="en-US" b="1" dirty="0"/>
              <a:t>ray-sum</a:t>
            </a:r>
            <a:r>
              <a:rPr lang="en-US" dirty="0"/>
              <a:t> form. Let me explain.</a:t>
            </a:r>
          </a:p>
          <a:p>
            <a:endParaRPr lang="en-US" dirty="0"/>
          </a:p>
          <a:p>
            <a:r>
              <a:rPr lang="en-US" dirty="0"/>
              <a:t>First, we have an </a:t>
            </a:r>
            <a:r>
              <a:rPr lang="en-US" b="1" dirty="0"/>
              <a:t>incoming intensity</a:t>
            </a:r>
            <a:r>
              <a:rPr lang="en-US" dirty="0"/>
              <a:t>, </a:t>
            </a:r>
            <a:r>
              <a:rPr lang="en-US" b="1" dirty="0"/>
              <a:t>N </a:t>
            </a:r>
            <a:r>
              <a:rPr lang="en-US" b="1" dirty="0" err="1"/>
              <a:t>i</a:t>
            </a:r>
            <a:r>
              <a:rPr lang="en-US" dirty="0"/>
              <a:t>, and an </a:t>
            </a:r>
            <a:r>
              <a:rPr lang="en-US" b="1" dirty="0"/>
              <a:t>output intensity</a:t>
            </a:r>
            <a:r>
              <a:rPr lang="en-US" dirty="0"/>
              <a:t>, </a:t>
            </a:r>
            <a:r>
              <a:rPr lang="en-US" b="1" dirty="0"/>
              <a:t>N o</a:t>
            </a:r>
            <a:r>
              <a:rPr lang="en-US" dirty="0"/>
              <a:t>. The output is related to the input through </a:t>
            </a:r>
            <a:r>
              <a:rPr lang="en-US" b="1" dirty="0"/>
              <a:t>linear attenuation</a:t>
            </a:r>
            <a:r>
              <a:rPr lang="en-US" dirty="0"/>
              <a:t>. For a single element along the ray, the attenuation is </a:t>
            </a:r>
            <a:r>
              <a:rPr lang="en-US" b="1" dirty="0"/>
              <a:t>mu times delta x</a:t>
            </a:r>
            <a:r>
              <a:rPr lang="en-US" dirty="0"/>
              <a:t>, where </a:t>
            </a:r>
            <a:r>
              <a:rPr lang="en-US" b="1" dirty="0"/>
              <a:t>delta x</a:t>
            </a:r>
            <a:r>
              <a:rPr lang="en-US" dirty="0"/>
              <a:t> is the pixel size.</a:t>
            </a:r>
          </a:p>
          <a:p>
            <a:r>
              <a:rPr lang="en-US" dirty="0"/>
              <a:t>With multiple material components along the path, the incoming intensity is attenuated by the first pixel; the output of the first pixel becomes the input to the second pixel, and so on. Adding these effects together gives the standard relationship. This is a quick review of the earlier module.</a:t>
            </a:r>
          </a:p>
          <a:p>
            <a:endParaRPr lang="en-US" dirty="0"/>
          </a:p>
          <a:p>
            <a:r>
              <a:rPr lang="en-US" dirty="0"/>
              <a:t>The </a:t>
            </a:r>
            <a:r>
              <a:rPr lang="en-US" b="1" dirty="0"/>
              <a:t>attenuated output</a:t>
            </a:r>
            <a:r>
              <a:rPr lang="en-US" dirty="0"/>
              <a:t> equals the </a:t>
            </a:r>
            <a:r>
              <a:rPr lang="en-US" b="1" dirty="0"/>
              <a:t>input multiplied by an exponential factor</a:t>
            </a:r>
            <a:r>
              <a:rPr lang="en-US" dirty="0"/>
              <a:t> whose exponent is the </a:t>
            </a:r>
            <a:r>
              <a:rPr lang="en-US" b="1" dirty="0"/>
              <a:t>negative sum</a:t>
            </a:r>
            <a:r>
              <a:rPr lang="en-US" dirty="0"/>
              <a:t> of the little </a:t>
            </a:r>
            <a:r>
              <a:rPr lang="en-US" b="1" dirty="0"/>
              <a:t>mu k</a:t>
            </a:r>
            <a:r>
              <a:rPr lang="en-US" dirty="0"/>
              <a:t> values, each weighted by </a:t>
            </a:r>
            <a:r>
              <a:rPr lang="en-US" b="1" dirty="0"/>
              <a:t>delta x</a:t>
            </a:r>
            <a:r>
              <a:rPr lang="en-US" dirty="0"/>
              <a:t>. This is our </a:t>
            </a:r>
            <a:r>
              <a:rPr lang="en-US" b="1" dirty="0"/>
              <a:t>imaging model</a:t>
            </a:r>
            <a:r>
              <a:rPr lang="en-US" dirty="0"/>
              <a:t> or </a:t>
            </a:r>
            <a:r>
              <a:rPr lang="en-US" b="1" dirty="0"/>
              <a:t>data model</a:t>
            </a:r>
            <a:r>
              <a:rPr lang="en-US" dirty="0"/>
              <a:t>.</a:t>
            </a:r>
          </a:p>
          <a:p>
            <a:r>
              <a:rPr lang="en-US" dirty="0"/>
              <a:t>What is </a:t>
            </a:r>
            <a:r>
              <a:rPr lang="en-US" b="1" dirty="0"/>
              <a:t>known</a:t>
            </a:r>
            <a:r>
              <a:rPr lang="en-US" dirty="0"/>
              <a:t> and what is </a:t>
            </a:r>
            <a:r>
              <a:rPr lang="en-US" b="1" dirty="0"/>
              <a:t>unknown</a:t>
            </a:r>
            <a:r>
              <a:rPr lang="en-US" dirty="0"/>
              <a:t>?</a:t>
            </a:r>
            <a:br>
              <a:rPr lang="en-US" dirty="0"/>
            </a:br>
            <a:r>
              <a:rPr lang="en-US" dirty="0"/>
              <a:t>Known: </a:t>
            </a:r>
            <a:r>
              <a:rPr lang="en-US" b="1" dirty="0"/>
              <a:t>N </a:t>
            </a:r>
            <a:r>
              <a:rPr lang="en-US" b="1" dirty="0" err="1"/>
              <a:t>i</a:t>
            </a:r>
            <a:r>
              <a:rPr lang="en-US" dirty="0"/>
              <a:t>, </a:t>
            </a:r>
            <a:r>
              <a:rPr lang="en-US" b="1" dirty="0"/>
              <a:t>N o</a:t>
            </a:r>
            <a:r>
              <a:rPr lang="en-US" dirty="0"/>
              <a:t>, and the step size </a:t>
            </a:r>
            <a:r>
              <a:rPr lang="en-US" b="1" dirty="0"/>
              <a:t>delta x</a:t>
            </a:r>
            <a:r>
              <a:rPr lang="en-US" dirty="0"/>
              <a:t> that we choose.</a:t>
            </a:r>
            <a:br>
              <a:rPr lang="en-US" dirty="0"/>
            </a:br>
            <a:r>
              <a:rPr lang="en-US" dirty="0"/>
              <a:t>Unknown: the set </a:t>
            </a:r>
            <a:r>
              <a:rPr lang="en-US" b="1" dirty="0"/>
              <a:t>mu k</a:t>
            </a:r>
            <a:r>
              <a:rPr lang="en-US" dirty="0"/>
              <a:t>, for </a:t>
            </a:r>
            <a:r>
              <a:rPr lang="en-US" b="1" dirty="0"/>
              <a:t>k equals 1, 2, 3, …, n</a:t>
            </a:r>
            <a:r>
              <a:rPr lang="en-US" dirty="0"/>
              <a:t>.</a:t>
            </a:r>
          </a:p>
          <a:p>
            <a:endParaRPr lang="en-US" dirty="0"/>
          </a:p>
          <a:p>
            <a:r>
              <a:rPr lang="en-US" dirty="0"/>
              <a:t>Normalize by taking a ratio and then a natural logarithm:</a:t>
            </a:r>
          </a:p>
          <a:p>
            <a:r>
              <a:rPr lang="en-US" b="1" dirty="0"/>
              <a:t>“Natural log of N </a:t>
            </a:r>
            <a:r>
              <a:rPr lang="en-US" b="1" dirty="0" err="1"/>
              <a:t>i</a:t>
            </a:r>
            <a:r>
              <a:rPr lang="en-US" b="1" dirty="0"/>
              <a:t> divided by N o equals the sum over k of mu k times delta x.”</a:t>
            </a:r>
            <a:endParaRPr lang="en-US" dirty="0"/>
          </a:p>
          <a:p>
            <a:r>
              <a:rPr lang="en-US" dirty="0"/>
              <a:t>This is a </a:t>
            </a:r>
            <a:r>
              <a:rPr lang="en-US" b="1" dirty="0"/>
              <a:t>linear equation</a:t>
            </a:r>
            <a:r>
              <a:rPr lang="en-US" dirty="0"/>
              <a:t> in the unknowns </a:t>
            </a:r>
            <a:r>
              <a:rPr lang="en-US" b="1" dirty="0"/>
              <a:t>mu k</a:t>
            </a:r>
            <a:r>
              <a:rPr lang="en-US" dirty="0"/>
              <a:t>, with </a:t>
            </a:r>
            <a:r>
              <a:rPr lang="en-US" b="1" dirty="0"/>
              <a:t>delta x</a:t>
            </a:r>
            <a:r>
              <a:rPr lang="en-US" dirty="0"/>
              <a:t> acting as a weight. Because </a:t>
            </a:r>
            <a:r>
              <a:rPr lang="en-US" b="1" dirty="0"/>
              <a:t>N </a:t>
            </a:r>
            <a:r>
              <a:rPr lang="en-US" b="1" dirty="0" err="1"/>
              <a:t>i</a:t>
            </a:r>
            <a:r>
              <a:rPr lang="en-US" dirty="0"/>
              <a:t> and </a:t>
            </a:r>
            <a:r>
              <a:rPr lang="en-US" b="1" dirty="0"/>
              <a:t>N o</a:t>
            </a:r>
            <a:r>
              <a:rPr lang="en-US" dirty="0"/>
              <a:t> are measured, the right-hand side is known after the log. For </a:t>
            </a:r>
            <a:r>
              <a:rPr lang="en-US" b="1" dirty="0"/>
              <a:t>each X-ray path</a:t>
            </a:r>
            <a:r>
              <a:rPr lang="en-US" dirty="0"/>
              <a:t>, we obtain </a:t>
            </a:r>
            <a:r>
              <a:rPr lang="en-US" b="1" dirty="0"/>
              <a:t>one linear equation</a:t>
            </a:r>
            <a:r>
              <a:rPr lang="en-US" dirty="0"/>
              <a:t>. With many paths, we obtain </a:t>
            </a:r>
            <a:r>
              <a:rPr lang="en-US" b="1" dirty="0"/>
              <a:t>a system of linear equations</a:t>
            </a:r>
            <a:r>
              <a:rPr lang="en-US" dirty="0"/>
              <a:t>, often written compactly as </a:t>
            </a:r>
            <a:r>
              <a:rPr lang="en-US" b="1" dirty="0"/>
              <a:t>A times x equals b</a:t>
            </a:r>
            <a:r>
              <a:rPr lang="en-US" dirty="0"/>
              <a:t>. In this </a:t>
            </a:r>
            <a:r>
              <a:rPr lang="en-US" b="1" dirty="0"/>
              <a:t>algebraic</a:t>
            </a:r>
            <a:r>
              <a:rPr lang="en-US" dirty="0"/>
              <a:t> view, the image is treated as pixels, and each measurement provides a linear constraint on those pixel values.</a:t>
            </a:r>
          </a:p>
          <a:p>
            <a:r>
              <a:rPr lang="en-US" dirty="0"/>
              <a:t>If we take the </a:t>
            </a:r>
            <a:r>
              <a:rPr lang="en-US" b="1" dirty="0"/>
              <a:t>limit</a:t>
            </a:r>
            <a:r>
              <a:rPr lang="en-US" dirty="0"/>
              <a:t> as </a:t>
            </a:r>
            <a:r>
              <a:rPr lang="en-US" b="1" dirty="0"/>
              <a:t>delta x</a:t>
            </a:r>
            <a:r>
              <a:rPr lang="en-US" dirty="0"/>
              <a:t> becomes very small, the sum becomes an </a:t>
            </a:r>
            <a:r>
              <a:rPr lang="en-US" b="1" dirty="0"/>
              <a:t>integral</a:t>
            </a:r>
            <a:r>
              <a:rPr lang="en-US" dirty="0"/>
              <a:t>:</a:t>
            </a:r>
          </a:p>
          <a:p>
            <a:r>
              <a:rPr lang="en-US" b="1" dirty="0"/>
              <a:t>“The integral along the ray of mu of x, d x, equals the natural log of N </a:t>
            </a:r>
            <a:r>
              <a:rPr lang="en-US" b="1" dirty="0" err="1"/>
              <a:t>i</a:t>
            </a:r>
            <a:r>
              <a:rPr lang="en-US" b="1" dirty="0"/>
              <a:t> over N o.”</a:t>
            </a:r>
            <a:endParaRPr lang="en-US" dirty="0"/>
          </a:p>
          <a:p>
            <a:endParaRPr lang="en-US" dirty="0"/>
          </a:p>
          <a:p>
            <a:r>
              <a:rPr lang="en-US" dirty="0"/>
              <a:t>So, in the </a:t>
            </a:r>
            <a:r>
              <a:rPr lang="en-US" b="1" dirty="0"/>
              <a:t>discrete</a:t>
            </a:r>
            <a:r>
              <a:rPr lang="en-US" dirty="0"/>
              <a:t> domain we speak of a </a:t>
            </a:r>
            <a:r>
              <a:rPr lang="en-US" b="1" dirty="0"/>
              <a:t>ray-sum</a:t>
            </a:r>
            <a:r>
              <a:rPr lang="en-US" dirty="0"/>
              <a:t>—a summation—and in the </a:t>
            </a:r>
            <a:r>
              <a:rPr lang="en-US" b="1" dirty="0"/>
              <a:t>continuous</a:t>
            </a:r>
            <a:r>
              <a:rPr lang="en-US" dirty="0"/>
              <a:t> domain we speak of a </a:t>
            </a:r>
            <a:r>
              <a:rPr lang="en-US" b="1" dirty="0"/>
              <a:t>line integral</a:t>
            </a:r>
            <a:r>
              <a:rPr lang="en-US" dirty="0"/>
              <a:t>—an integral along the X-ray path. Either way, X-ray measurements provide </a:t>
            </a:r>
            <a:r>
              <a:rPr lang="en-US" b="1" dirty="0"/>
              <a:t>ray-sums</a:t>
            </a:r>
            <a:r>
              <a:rPr lang="en-US" dirty="0"/>
              <a:t> or </a:t>
            </a:r>
            <a:r>
              <a:rPr lang="en-US" b="1" dirty="0"/>
              <a:t>line integrals</a:t>
            </a:r>
            <a:r>
              <a:rPr lang="en-US" dirty="0"/>
              <a:t> of the attenuation field. With this model in mind, we can now discuss why the resulting linear system can have a </a:t>
            </a:r>
            <a:r>
              <a:rPr lang="en-US" b="1" dirty="0"/>
              <a:t>unique solution</a:t>
            </a:r>
            <a:r>
              <a:rPr lang="en-US" dirty="0"/>
              <a:t>, at least heuristically.</a:t>
            </a:r>
          </a:p>
        </p:txBody>
      </p:sp>
      <p:sp>
        <p:nvSpPr>
          <p:cNvPr id="4" name="Slide Number Placeholder 3"/>
          <p:cNvSpPr>
            <a:spLocks noGrp="1"/>
          </p:cNvSpPr>
          <p:nvPr>
            <p:ph type="sldNum" sz="quarter" idx="5"/>
          </p:nvPr>
        </p:nvSpPr>
        <p:spPr/>
        <p:txBody>
          <a:bodyPr/>
          <a:lstStyle/>
          <a:p>
            <a:fld id="{9F30534E-9FB8-46AE-8E3B-5675B268AE6A}" type="slidenum">
              <a:rPr lang="en-US" smtClean="0"/>
              <a:pPr/>
              <a:t>9</a:t>
            </a:fld>
            <a:endParaRPr lang="en-US"/>
          </a:p>
        </p:txBody>
      </p:sp>
    </p:spTree>
    <p:extLst>
      <p:ext uri="{BB962C8B-B14F-4D97-AF65-F5344CB8AC3E}">
        <p14:creationId xmlns:p14="http://schemas.microsoft.com/office/powerpoint/2010/main" val="20101264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This is what I call the </a:t>
            </a:r>
            <a:r>
              <a:rPr lang="en-US" b="1" dirty="0"/>
              <a:t>onion-peeling idea</a:t>
            </a:r>
            <a:r>
              <a:rPr lang="en-US" dirty="0"/>
              <a:t>.</a:t>
            </a:r>
            <a:br>
              <a:rPr lang="en-US" dirty="0"/>
            </a:br>
            <a:endParaRPr lang="en-US" dirty="0"/>
          </a:p>
          <a:p>
            <a:r>
              <a:rPr lang="en-US" dirty="0"/>
              <a:t>Think of a picture and decompose it into a collection of pixels. The pixel does not have to be rectangular; here, I use </a:t>
            </a:r>
            <a:r>
              <a:rPr lang="en-US" b="1" dirty="0"/>
              <a:t>triangular pixels</a:t>
            </a:r>
            <a:r>
              <a:rPr lang="en-US" dirty="0"/>
              <a:t>. I perform the decomposition into many, many triangular pixels and then resolve the unknowns </a:t>
            </a:r>
            <a:r>
              <a:rPr lang="en-US" b="1" dirty="0"/>
              <a:t>layer by layer</a:t>
            </a:r>
            <a:r>
              <a:rPr lang="en-US" dirty="0"/>
              <a:t>. Start with the </a:t>
            </a:r>
            <a:r>
              <a:rPr lang="en-US" b="1" dirty="0"/>
              <a:t>outermost unknowns</a:t>
            </a:r>
            <a:r>
              <a:rPr lang="en-US" dirty="0"/>
              <a:t>, represented as a </a:t>
            </a:r>
            <a:r>
              <a:rPr lang="en-US" b="1" dirty="0"/>
              <a:t>right triangle</a:t>
            </a:r>
            <a:r>
              <a:rPr lang="en-US" dirty="0"/>
              <a:t>. This is a heuristic idea, so follow the logic.</a:t>
            </a:r>
          </a:p>
          <a:p>
            <a:endParaRPr lang="en-US" dirty="0"/>
          </a:p>
          <a:p>
            <a:r>
              <a:rPr lang="en-US" dirty="0"/>
              <a:t>In the </a:t>
            </a:r>
            <a:r>
              <a:rPr lang="en-US" b="1" dirty="0"/>
              <a:t>limiting case</a:t>
            </a:r>
            <a:r>
              <a:rPr lang="en-US" dirty="0"/>
              <a:t>, imagine the object support where an X-ray touches </a:t>
            </a:r>
            <a:r>
              <a:rPr lang="en-US" b="1" dirty="0"/>
              <a:t>one molecule, an</a:t>
            </a:r>
            <a:r>
              <a:rPr lang="en-US" dirty="0"/>
              <a:t> extremely small element. Take this as an example: you have a small material element. You know the </a:t>
            </a:r>
            <a:r>
              <a:rPr lang="en-US" b="1" dirty="0"/>
              <a:t>incoming intensity</a:t>
            </a:r>
            <a:r>
              <a:rPr lang="en-US" dirty="0"/>
              <a:t>, you know the </a:t>
            </a:r>
            <a:r>
              <a:rPr lang="en-US" b="1" dirty="0"/>
              <a:t>attenuated intensity</a:t>
            </a:r>
            <a:r>
              <a:rPr lang="en-US" dirty="0"/>
              <a:t>, and because the data are partitioned, you know the </a:t>
            </a:r>
            <a:r>
              <a:rPr lang="en-US" b="1" dirty="0"/>
              <a:t>total path length</a:t>
            </a:r>
            <a:r>
              <a:rPr lang="en-US" dirty="0"/>
              <a:t>. From these three knowns, you can resolve the </a:t>
            </a:r>
            <a:r>
              <a:rPr lang="en-US" b="1" dirty="0"/>
              <a:t>only unknown</a:t>
            </a:r>
            <a:r>
              <a:rPr lang="en-US" dirty="0"/>
              <a:t>, the attenuation coefficient </a:t>
            </a:r>
            <a:r>
              <a:rPr lang="en-US" b="1" dirty="0"/>
              <a:t>mu</a:t>
            </a:r>
            <a:r>
              <a:rPr lang="en-US" dirty="0"/>
              <a:t>—call it </a:t>
            </a:r>
            <a:r>
              <a:rPr lang="en-US" b="1" dirty="0"/>
              <a:t>mu-zero</a:t>
            </a:r>
            <a:r>
              <a:rPr lang="en-US" dirty="0"/>
              <a:t> or </a:t>
            </a:r>
            <a:r>
              <a:rPr lang="en-US" b="1" dirty="0"/>
              <a:t>mu-one</a:t>
            </a:r>
            <a:r>
              <a:rPr lang="en-US" dirty="0"/>
              <a:t>—for that pixel. By assumption, this pixel is </a:t>
            </a:r>
            <a:r>
              <a:rPr lang="en-US" b="1" dirty="0"/>
              <a:t>homogeneous</a:t>
            </a:r>
            <a:r>
              <a:rPr lang="en-US" dirty="0"/>
              <a:t>. With this simple argument, you now know </a:t>
            </a:r>
            <a:r>
              <a:rPr lang="en-US" b="1" dirty="0"/>
              <a:t>mu</a:t>
            </a:r>
            <a:r>
              <a:rPr lang="en-US" dirty="0"/>
              <a:t> for this right triangle. By the same argument, </a:t>
            </a:r>
            <a:r>
              <a:rPr lang="en-US" b="1" dirty="0"/>
              <a:t>all the right-layer pixels</a:t>
            </a:r>
            <a:r>
              <a:rPr lang="en-US" dirty="0"/>
              <a:t> can be directly measured with a prior flow of X-rays.</a:t>
            </a:r>
          </a:p>
          <a:p>
            <a:endParaRPr lang="en-US" dirty="0"/>
          </a:p>
          <a:p>
            <a:r>
              <a:rPr lang="en-US" dirty="0"/>
              <a:t>Once that is done, move to the </a:t>
            </a:r>
            <a:r>
              <a:rPr lang="en-US" b="1" dirty="0"/>
              <a:t>next layer</a:t>
            </a:r>
            <a:r>
              <a:rPr lang="en-US" dirty="0"/>
              <a:t>, colored </a:t>
            </a:r>
            <a:r>
              <a:rPr lang="en-US" b="1" dirty="0"/>
              <a:t>green</a:t>
            </a:r>
            <a:r>
              <a:rPr lang="en-US" dirty="0"/>
              <a:t>. Use a </a:t>
            </a:r>
            <a:r>
              <a:rPr lang="en-US" b="1" dirty="0"/>
              <a:t>green X-ray</a:t>
            </a:r>
            <a:r>
              <a:rPr lang="en-US" dirty="0"/>
              <a:t>. You know the </a:t>
            </a:r>
            <a:r>
              <a:rPr lang="en-US" b="1" dirty="0"/>
              <a:t>incoming intensity</a:t>
            </a:r>
            <a:r>
              <a:rPr lang="en-US" dirty="0"/>
              <a:t> and the </a:t>
            </a:r>
            <a:r>
              <a:rPr lang="en-US" b="1" dirty="0"/>
              <a:t>attenuated intensity</a:t>
            </a:r>
            <a:r>
              <a:rPr lang="en-US" dirty="0"/>
              <a:t>. You already know </a:t>
            </a:r>
            <a:r>
              <a:rPr lang="en-US" b="1" dirty="0"/>
              <a:t>mu</a:t>
            </a:r>
            <a:r>
              <a:rPr lang="en-US" dirty="0"/>
              <a:t> for the right element, and you also know </a:t>
            </a:r>
            <a:r>
              <a:rPr lang="en-US" b="1" dirty="0"/>
              <a:t>mu</a:t>
            </a:r>
            <a:r>
              <a:rPr lang="en-US" dirty="0"/>
              <a:t> for the current neighbor. Because you know these </a:t>
            </a:r>
            <a:r>
              <a:rPr lang="en-US" b="1" dirty="0"/>
              <a:t>mu</a:t>
            </a:r>
            <a:r>
              <a:rPr lang="en-US" dirty="0"/>
              <a:t> values, you can compute how the incoming intensity is attenuated and thus determine the </a:t>
            </a:r>
            <a:r>
              <a:rPr lang="en-US" b="1" dirty="0"/>
              <a:t>incoming flux into the green pixel</a:t>
            </a:r>
            <a:r>
              <a:rPr lang="en-US" dirty="0"/>
              <a:t>. You also know the attenuated intensity leaving this location. That attenuated intensity is the quantity </a:t>
            </a:r>
            <a:r>
              <a:rPr lang="en-US" b="1" dirty="0"/>
              <a:t>just out of the green pixel</a:t>
            </a:r>
            <a:r>
              <a:rPr lang="en-US" dirty="0"/>
              <a:t> but further </a:t>
            </a:r>
            <a:r>
              <a:rPr lang="en-US" b="1" dirty="0"/>
              <a:t>attenuated by the right pixel</a:t>
            </a:r>
            <a:r>
              <a:rPr lang="en-US" dirty="0"/>
              <a:t>. Using </a:t>
            </a:r>
            <a:r>
              <a:rPr lang="en-US" b="1" dirty="0"/>
              <a:t>Beer’s law in reverse</a:t>
            </a:r>
            <a:r>
              <a:rPr lang="en-US" dirty="0"/>
              <a:t>, you back out the intensity </a:t>
            </a:r>
            <a:r>
              <a:rPr lang="en-US" b="1" dirty="0"/>
              <a:t>before</a:t>
            </a:r>
            <a:r>
              <a:rPr lang="en-US" dirty="0"/>
              <a:t> that extra attenuation. Now you know the value here, you know the value there, and you know the </a:t>
            </a:r>
            <a:r>
              <a:rPr lang="en-US" b="1" dirty="0"/>
              <a:t>total length</a:t>
            </a:r>
            <a:r>
              <a:rPr lang="en-US" dirty="0"/>
              <a:t>, so you can resolve </a:t>
            </a:r>
            <a:r>
              <a:rPr lang="en-US" b="1" dirty="0"/>
              <a:t>mu</a:t>
            </a:r>
            <a:r>
              <a:rPr lang="en-US" dirty="0"/>
              <a:t> for this particular </a:t>
            </a:r>
            <a:r>
              <a:rPr lang="en-US" b="1" dirty="0"/>
              <a:t>green triangular pixel</a:t>
            </a:r>
            <a:r>
              <a:rPr lang="en-US" dirty="0"/>
              <a:t>. Likewise, each of the </a:t>
            </a:r>
            <a:r>
              <a:rPr lang="en-US" b="1" dirty="0"/>
              <a:t>green elements</a:t>
            </a:r>
            <a:r>
              <a:rPr lang="en-US" dirty="0"/>
              <a:t> is resolved.</a:t>
            </a:r>
          </a:p>
          <a:p>
            <a:endParaRPr lang="en-US" dirty="0"/>
          </a:p>
          <a:p>
            <a:r>
              <a:rPr lang="en-US" dirty="0"/>
              <a:t>Next, move to the </a:t>
            </a:r>
            <a:r>
              <a:rPr lang="en-US" b="1" dirty="0"/>
              <a:t>light-blue ray</a:t>
            </a:r>
            <a:r>
              <a:rPr lang="en-US" dirty="0"/>
              <a:t>. At this point, the </a:t>
            </a:r>
            <a:r>
              <a:rPr lang="en-US" b="1" dirty="0"/>
              <a:t>green</a:t>
            </a:r>
            <a:r>
              <a:rPr lang="en-US" dirty="0"/>
              <a:t> and the </a:t>
            </a:r>
            <a:r>
              <a:rPr lang="en-US" b="1" dirty="0"/>
              <a:t>right</a:t>
            </a:r>
            <a:r>
              <a:rPr lang="en-US" dirty="0"/>
              <a:t> layers are known; </a:t>
            </a:r>
            <a:r>
              <a:rPr lang="en-US" b="1" dirty="0"/>
              <a:t>only this one remaining element is unknown</a:t>
            </a:r>
            <a:r>
              <a:rPr lang="en-US" dirty="0"/>
              <a:t>. The same heuristic applies.</a:t>
            </a:r>
          </a:p>
          <a:p>
            <a:r>
              <a:rPr lang="en-US" dirty="0"/>
              <a:t>This argument ties the relations without complicated mathematics. Heuristically, you can </a:t>
            </a:r>
            <a:r>
              <a:rPr lang="en-US" b="1" dirty="0"/>
              <a:t>peel the image layer by layer</a:t>
            </a:r>
            <a:r>
              <a:rPr lang="en-US" dirty="0"/>
              <a:t> and resolve the underlying image </a:t>
            </a:r>
            <a:r>
              <a:rPr lang="en-US" b="1" dirty="0"/>
              <a:t>algebraically</a:t>
            </a:r>
            <a:r>
              <a:rPr lang="en-US" dirty="0"/>
              <a:t>. When you solve the </a:t>
            </a:r>
            <a:r>
              <a:rPr lang="en-US" b="1" dirty="0"/>
              <a:t>linear system equation</a:t>
            </a:r>
            <a:r>
              <a:rPr lang="en-US" dirty="0"/>
              <a:t> pixel-wise, you are essentially doing exactly this: </a:t>
            </a:r>
            <a:r>
              <a:rPr lang="en-US" b="1" dirty="0"/>
              <a:t>layer by layer</a:t>
            </a:r>
            <a:r>
              <a:rPr lang="en-US" dirty="0"/>
              <a:t>. In </a:t>
            </a:r>
            <a:r>
              <a:rPr lang="en-US" b="1" dirty="0"/>
              <a:t>parallel-beam geometry</a:t>
            </a:r>
            <a:r>
              <a:rPr lang="en-US" dirty="0"/>
              <a:t>, you can send all possible rays and reorder them so you effectively view the object from the </a:t>
            </a:r>
            <a:r>
              <a:rPr lang="en-US" b="1" dirty="0"/>
              <a:t>outermost layer inward</a:t>
            </a:r>
            <a:r>
              <a:rPr lang="en-US" dirty="0"/>
              <a:t>, resolving all unknowns layer by layer. This is the </a:t>
            </a:r>
            <a:r>
              <a:rPr lang="en-US" b="1" dirty="0"/>
              <a:t>key argument</a:t>
            </a:r>
            <a:r>
              <a:rPr lang="en-US" dirty="0"/>
              <a:t>. </a:t>
            </a:r>
          </a:p>
        </p:txBody>
      </p:sp>
      <p:sp>
        <p:nvSpPr>
          <p:cNvPr id="4" name="Slide Number Placeholder 3"/>
          <p:cNvSpPr>
            <a:spLocks noGrp="1"/>
          </p:cNvSpPr>
          <p:nvPr>
            <p:ph type="sldNum" sz="quarter" idx="5"/>
          </p:nvPr>
        </p:nvSpPr>
        <p:spPr/>
        <p:txBody>
          <a:bodyPr/>
          <a:lstStyle/>
          <a:p>
            <a:fld id="{9F30534E-9FB8-46AE-8E3B-5675B268AE6A}" type="slidenum">
              <a:rPr lang="en-US" smtClean="0"/>
              <a:pPr/>
              <a:t>10</a:t>
            </a:fld>
            <a:endParaRPr lang="en-US"/>
          </a:p>
        </p:txBody>
      </p:sp>
    </p:spTree>
    <p:extLst>
      <p:ext uri="{BB962C8B-B14F-4D97-AF65-F5344CB8AC3E}">
        <p14:creationId xmlns:p14="http://schemas.microsoft.com/office/powerpoint/2010/main" val="35475808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So, mathematically, we can state a </a:t>
            </a:r>
            <a:r>
              <a:rPr lang="en-US" b="1" dirty="0"/>
              <a:t>data sufficiency</a:t>
            </a:r>
            <a:r>
              <a:rPr lang="en-US" dirty="0"/>
              <a:t> condition for two-dimensional image reconstruction. You have a cross-section, and you </a:t>
            </a:r>
            <a:r>
              <a:rPr lang="en-US" b="1" dirty="0"/>
              <a:t>arbitrarily draw lines</a:t>
            </a:r>
            <a:r>
              <a:rPr lang="en-US" dirty="0"/>
              <a:t>—these are the X-ray paths. For any such line, we say you can </a:t>
            </a:r>
            <a:r>
              <a:rPr lang="en-US" b="1" dirty="0"/>
              <a:t>find at least one source position</a:t>
            </a:r>
            <a:r>
              <a:rPr lang="en-US" dirty="0"/>
              <a:t>. </a:t>
            </a:r>
          </a:p>
          <a:p>
            <a:endParaRPr lang="en-US" dirty="0"/>
          </a:p>
          <a:p>
            <a:r>
              <a:rPr lang="en-US" dirty="0"/>
              <a:t>What does that mean? It means that along this line, an X-ray source sends rays in this direction, so the </a:t>
            </a:r>
            <a:r>
              <a:rPr lang="en-US" b="1" dirty="0"/>
              <a:t>line integral</a:t>
            </a:r>
            <a:r>
              <a:rPr lang="en-US" dirty="0"/>
              <a:t>, or </a:t>
            </a:r>
            <a:r>
              <a:rPr lang="en-US" b="1" dirty="0"/>
              <a:t>ray-sum</a:t>
            </a:r>
            <a:r>
              <a:rPr lang="en-US" dirty="0"/>
              <a:t>, is measured. It doesn’t mean you have every piece of information you might want. It means: if a line </a:t>
            </a:r>
            <a:r>
              <a:rPr lang="en-US" b="1" dirty="0"/>
              <a:t>intersects the cross-section</a:t>
            </a:r>
            <a:r>
              <a:rPr lang="en-US" dirty="0"/>
              <a:t>, then we have data on that line. That is the </a:t>
            </a:r>
            <a:r>
              <a:rPr lang="en-US" b="1" dirty="0"/>
              <a:t>maximum amount of data</a:t>
            </a:r>
            <a:r>
              <a:rPr lang="en-US" dirty="0"/>
              <a:t> you could have, and, under this simple understanding, that amount is </a:t>
            </a:r>
            <a:r>
              <a:rPr lang="en-US" b="1" dirty="0"/>
              <a:t>sufficient</a:t>
            </a:r>
            <a:r>
              <a:rPr lang="en-US" dirty="0"/>
              <a:t>.</a:t>
            </a:r>
          </a:p>
          <a:p>
            <a:endParaRPr lang="en-US" dirty="0"/>
          </a:p>
          <a:p>
            <a:r>
              <a:rPr lang="en-US" dirty="0"/>
              <a:t>This is the way I understand the subject and how I try to explain it to students. I like to give you a </a:t>
            </a:r>
            <a:r>
              <a:rPr lang="en-US" b="1" dirty="0"/>
              <a:t>picture</a:t>
            </a:r>
            <a:r>
              <a:rPr lang="en-US" dirty="0"/>
              <a:t> and some </a:t>
            </a:r>
            <a:r>
              <a:rPr lang="en-US" b="1" dirty="0"/>
              <a:t>visual, geometrical ideas</a:t>
            </a:r>
            <a:r>
              <a:rPr lang="en-US" dirty="0"/>
              <a:t>. If you feel confused, you can watch my lesson. Right now, I think there are about </a:t>
            </a:r>
            <a:r>
              <a:rPr lang="en-US" b="1" dirty="0"/>
              <a:t>half a million viewers</a:t>
            </a:r>
            <a:r>
              <a:rPr lang="en-US" dirty="0"/>
              <a:t>, a lot of </a:t>
            </a:r>
            <a:r>
              <a:rPr lang="en-US" b="1" dirty="0"/>
              <a:t>likes</a:t>
            </a:r>
            <a:r>
              <a:rPr lang="en-US" dirty="0"/>
              <a:t>, so I really hope your watch gives me a like—that’s good.</a:t>
            </a:r>
          </a:p>
          <a:p>
            <a:endParaRPr lang="en-US" dirty="0"/>
          </a:p>
          <a:p>
            <a:r>
              <a:rPr lang="en-US" dirty="0"/>
              <a:t>Some other </a:t>
            </a:r>
            <a:r>
              <a:rPr lang="en-US" b="1" dirty="0"/>
              <a:t>heuristics</a:t>
            </a:r>
            <a:r>
              <a:rPr lang="en-US" dirty="0"/>
              <a:t> are very important but not easy. For example, when you compute the </a:t>
            </a:r>
            <a:r>
              <a:rPr lang="en-US" b="1" dirty="0"/>
              <a:t>coefficient</a:t>
            </a:r>
            <a:r>
              <a:rPr lang="en-US" dirty="0"/>
              <a:t>, think of it as an </a:t>
            </a:r>
            <a:r>
              <a:rPr lang="en-US" b="1" dirty="0"/>
              <a:t>inner product</a:t>
            </a:r>
            <a:r>
              <a:rPr lang="en-US" dirty="0"/>
              <a:t>—a </a:t>
            </a:r>
            <a:r>
              <a:rPr lang="en-US" b="1" dirty="0"/>
              <a:t>high-dimensional vector</a:t>
            </a:r>
            <a:r>
              <a:rPr lang="en-US" dirty="0"/>
              <a:t> projected onto a </a:t>
            </a:r>
            <a:r>
              <a:rPr lang="en-US" b="1" dirty="0"/>
              <a:t>basis function</a:t>
            </a:r>
            <a:r>
              <a:rPr lang="en-US" dirty="0"/>
              <a:t>. That is a very important heuristic, but I doubt all of you fully understand it. If you don’t, please </a:t>
            </a:r>
            <a:r>
              <a:rPr lang="en-US" b="1" dirty="0"/>
              <a:t>review</a:t>
            </a:r>
            <a:r>
              <a:rPr lang="en-US" dirty="0"/>
              <a:t>. I hope, by the end of this month, to </a:t>
            </a:r>
            <a:r>
              <a:rPr lang="en-US" b="1" dirty="0"/>
              <a:t>upload a newer version</a:t>
            </a:r>
            <a:r>
              <a:rPr lang="en-US" dirty="0"/>
              <a:t> that will be much better than the rough draft, so please read it. Even if I wouldn’t test it again, you need to </a:t>
            </a:r>
            <a:r>
              <a:rPr lang="en-US" b="1" dirty="0"/>
              <a:t>understand Fourier analysis</a:t>
            </a:r>
            <a:r>
              <a:rPr lang="en-US" dirty="0"/>
              <a:t> so that you understand </a:t>
            </a:r>
            <a:r>
              <a:rPr lang="en-US" b="1" dirty="0"/>
              <a:t>CT</a:t>
            </a:r>
            <a:r>
              <a:rPr lang="en-US" dirty="0"/>
              <a:t> and </a:t>
            </a:r>
            <a:r>
              <a:rPr lang="en-US" b="1" dirty="0"/>
              <a:t>MRI</a:t>
            </a:r>
            <a:r>
              <a:rPr lang="en-US" dirty="0"/>
              <a:t> much better. Anyway, this is the idea of the </a:t>
            </a:r>
            <a:r>
              <a:rPr lang="en-US" b="1" dirty="0"/>
              <a:t>data sufficiency</a:t>
            </a:r>
            <a:r>
              <a:rPr lang="en-US" dirty="0"/>
              <a:t> condition.</a:t>
            </a:r>
          </a:p>
        </p:txBody>
      </p:sp>
      <p:sp>
        <p:nvSpPr>
          <p:cNvPr id="4" name="Slide Number Placeholder 3"/>
          <p:cNvSpPr>
            <a:spLocks noGrp="1"/>
          </p:cNvSpPr>
          <p:nvPr>
            <p:ph type="sldNum" sz="quarter" idx="5"/>
          </p:nvPr>
        </p:nvSpPr>
        <p:spPr/>
        <p:txBody>
          <a:bodyPr/>
          <a:lstStyle/>
          <a:p>
            <a:fld id="{9F30534E-9FB8-46AE-8E3B-5675B268AE6A}" type="slidenum">
              <a:rPr lang="en-US" smtClean="0"/>
              <a:pPr/>
              <a:t>11</a:t>
            </a:fld>
            <a:endParaRPr lang="en-US"/>
          </a:p>
        </p:txBody>
      </p:sp>
    </p:spTree>
    <p:extLst>
      <p:ext uri="{BB962C8B-B14F-4D97-AF65-F5344CB8AC3E}">
        <p14:creationId xmlns:p14="http://schemas.microsoft.com/office/powerpoint/2010/main" val="6988678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Okay. With X-rays, we can measure </a:t>
            </a:r>
            <a:r>
              <a:rPr lang="en-US" b="1" dirty="0"/>
              <a:t>parallel-beam projections</a:t>
            </a:r>
            <a:r>
              <a:rPr lang="en-US" dirty="0"/>
              <a:t> as shown here. Along each X-ray, each datum gives you </a:t>
            </a:r>
            <a:r>
              <a:rPr lang="en-US" b="1" dirty="0"/>
              <a:t>one linear system equation</a:t>
            </a:r>
            <a:r>
              <a:rPr lang="en-US" dirty="0"/>
              <a:t>. If you have a parallel beam at projection angle </a:t>
            </a:r>
            <a:r>
              <a:rPr lang="en-US" b="1" dirty="0"/>
              <a:t>theta</a:t>
            </a:r>
            <a:r>
              <a:rPr lang="en-US" dirty="0"/>
              <a:t>, and you have, say, one hundred rays or five hundred rays, then you have one hundred or five hundred linear system equations.</a:t>
            </a:r>
          </a:p>
          <a:p>
            <a:endParaRPr lang="en-US" dirty="0"/>
          </a:p>
          <a:p>
            <a:r>
              <a:rPr lang="en-US" dirty="0"/>
              <a:t>One view is not enough, because you cannot resolve superimposed structures—you see two things on top of each other, and you do not know which one is on top and which one is beneath. So you need to keep changing </a:t>
            </a:r>
            <a:r>
              <a:rPr lang="en-US" b="1" dirty="0"/>
              <a:t>theta</a:t>
            </a:r>
            <a:r>
              <a:rPr lang="en-US" dirty="0"/>
              <a:t>.</a:t>
            </a:r>
          </a:p>
          <a:p>
            <a:r>
              <a:rPr lang="en-US" dirty="0"/>
              <a:t>The original function </a:t>
            </a:r>
            <a:r>
              <a:rPr lang="en-US" b="1" dirty="0"/>
              <a:t>f of x, y</a:t>
            </a:r>
            <a:r>
              <a:rPr lang="en-US" dirty="0"/>
              <a:t> is converted to a new two-dimensional function </a:t>
            </a:r>
            <a:r>
              <a:rPr lang="en-US" b="1" dirty="0"/>
              <a:t>p of theta, t</a:t>
            </a:r>
            <a:r>
              <a:rPr lang="en-US" dirty="0"/>
              <a:t>. Theta is the angle; </a:t>
            </a:r>
            <a:r>
              <a:rPr lang="en-US" b="1" dirty="0"/>
              <a:t>t</a:t>
            </a:r>
            <a:r>
              <a:rPr lang="en-US" dirty="0"/>
              <a:t> is the coordinate. Using X-ray measurements, you perform a physical or mathematical transform from </a:t>
            </a:r>
            <a:r>
              <a:rPr lang="en-US" b="1" dirty="0"/>
              <a:t>f of x, y</a:t>
            </a:r>
            <a:r>
              <a:rPr lang="en-US" dirty="0"/>
              <a:t> to </a:t>
            </a:r>
            <a:r>
              <a:rPr lang="en-US" b="1" dirty="0"/>
              <a:t>p of theta, t</a:t>
            </a:r>
            <a:r>
              <a:rPr lang="en-US" dirty="0"/>
              <a:t>.</a:t>
            </a:r>
          </a:p>
          <a:p>
            <a:endParaRPr lang="en-US" dirty="0"/>
          </a:p>
          <a:p>
            <a:r>
              <a:rPr lang="en-US" dirty="0"/>
              <a:t>For example, if you have a bright, small disk, it will trace a </a:t>
            </a:r>
            <a:r>
              <a:rPr lang="en-US" b="1" dirty="0"/>
              <a:t>sinusoidal curve</a:t>
            </a:r>
            <a:r>
              <a:rPr lang="en-US" dirty="0"/>
              <a:t>. That is why we call the data-domain representation a </a:t>
            </a:r>
            <a:r>
              <a:rPr lang="en-US" b="1" dirty="0"/>
              <a:t>sinogram</a:t>
            </a:r>
            <a:r>
              <a:rPr lang="en-US" dirty="0"/>
              <a:t>. We also call it a </a:t>
            </a:r>
            <a:r>
              <a:rPr lang="en-US" b="1" dirty="0"/>
              <a:t>Radon transform</a:t>
            </a:r>
            <a:r>
              <a:rPr lang="en-US" dirty="0"/>
              <a:t>—Radon was a mathematician many years ago. So this is a </a:t>
            </a:r>
            <a:r>
              <a:rPr lang="en-US" b="1" dirty="0"/>
              <a:t>projection</a:t>
            </a:r>
            <a:r>
              <a:rPr lang="en-US" dirty="0"/>
              <a:t>, one view; the </a:t>
            </a:r>
            <a:r>
              <a:rPr lang="en-US" b="1" dirty="0"/>
              <a:t>sinogram</a:t>
            </a:r>
            <a:r>
              <a:rPr lang="en-US" dirty="0"/>
              <a:t> puts </a:t>
            </a:r>
            <a:r>
              <a:rPr lang="en-US" b="1" dirty="0"/>
              <a:t>all the views together</a:t>
            </a:r>
            <a:r>
              <a:rPr lang="en-US" dirty="0"/>
              <a:t>.</a:t>
            </a:r>
          </a:p>
        </p:txBody>
      </p:sp>
      <p:sp>
        <p:nvSpPr>
          <p:cNvPr id="4" name="Slide Number Placeholder 3"/>
          <p:cNvSpPr>
            <a:spLocks noGrp="1"/>
          </p:cNvSpPr>
          <p:nvPr>
            <p:ph type="sldNum" sz="quarter" idx="5"/>
          </p:nvPr>
        </p:nvSpPr>
        <p:spPr/>
        <p:txBody>
          <a:bodyPr/>
          <a:lstStyle/>
          <a:p>
            <a:fld id="{9F30534E-9FB8-46AE-8E3B-5675B268AE6A}" type="slidenum">
              <a:rPr lang="en-US" smtClean="0"/>
              <a:pPr/>
              <a:t>12</a:t>
            </a:fld>
            <a:endParaRPr lang="en-US"/>
          </a:p>
        </p:txBody>
      </p:sp>
    </p:spTree>
    <p:extLst>
      <p:ext uri="{BB962C8B-B14F-4D97-AF65-F5344CB8AC3E}">
        <p14:creationId xmlns:p14="http://schemas.microsoft.com/office/powerpoint/2010/main" val="9844434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0" dirty="0"/>
              <a:t>Computed tomography was previously called computer-aided tomography, C-A-T—so we usually put a cute cat here. C-T is nothing but the inverse process. Once you have sinogram data, p of theta, t, the question is: given the measurements, how do you invert the process?</a:t>
            </a:r>
          </a:p>
          <a:p>
            <a:endParaRPr lang="en-US" b="0" dirty="0"/>
          </a:p>
          <a:p>
            <a:r>
              <a:rPr lang="en-US" b="0" dirty="0"/>
              <a:t>What is the underlying image that explains this data? Once you have the data, you reconstruct the image. The inverse process goes from data to image. X-ray measurement goes from image to data. The tomographic algorithm goes the other way, from data to image, the underlying image.</a:t>
            </a:r>
          </a:p>
          <a:p>
            <a:endParaRPr lang="en-US" b="0" dirty="0"/>
          </a:p>
          <a:p>
            <a:r>
              <a:rPr lang="en-US" b="0" dirty="0"/>
              <a:t>And how do you do it? The picture I gave you shows you can use an impending method, so you have a heuristic feeling.</a:t>
            </a:r>
          </a:p>
        </p:txBody>
      </p:sp>
      <p:sp>
        <p:nvSpPr>
          <p:cNvPr id="4" name="Slide Number Placeholder 3"/>
          <p:cNvSpPr>
            <a:spLocks noGrp="1"/>
          </p:cNvSpPr>
          <p:nvPr>
            <p:ph type="sldNum" sz="quarter" idx="5"/>
          </p:nvPr>
        </p:nvSpPr>
        <p:spPr/>
        <p:txBody>
          <a:bodyPr/>
          <a:lstStyle/>
          <a:p>
            <a:fld id="{9F30534E-9FB8-46AE-8E3B-5675B268AE6A}" type="slidenum">
              <a:rPr lang="en-US" smtClean="0"/>
              <a:pPr/>
              <a:t>13</a:t>
            </a:fld>
            <a:endParaRPr lang="en-US"/>
          </a:p>
        </p:txBody>
      </p:sp>
    </p:spTree>
    <p:extLst>
      <p:ext uri="{BB962C8B-B14F-4D97-AF65-F5344CB8AC3E}">
        <p14:creationId xmlns:p14="http://schemas.microsoft.com/office/powerpoint/2010/main" val="31203091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0" dirty="0"/>
              <a:t>Now, let me give you a numerical example.</a:t>
            </a:r>
            <a:br>
              <a:rPr lang="en-US" b="0" dirty="0"/>
            </a:br>
            <a:endParaRPr lang="en-US" b="0" dirty="0"/>
          </a:p>
          <a:p>
            <a:r>
              <a:rPr lang="en-US" b="0" dirty="0"/>
              <a:t>In practice, the image can be five hundred twelve by five hundred twelve, but for teaching purposes, I’ll use a two by two image. This is a simple case, but the essential idea is already there.</a:t>
            </a:r>
          </a:p>
          <a:p>
            <a:endParaRPr lang="en-US" b="0" dirty="0"/>
          </a:p>
          <a:p>
            <a:r>
              <a:rPr lang="en-US" b="0" dirty="0"/>
              <a:t>You have pixel values one, two, three, four—very simple—but you don’t know these; this is just something I set up. What you are allowed to probe is with X-rays. I told you X-rays cannot pinpoint a single pixel. If you had a magic pen that could read out a point one pixel like a photograph, you would not need tomographic reconstruction—that would be too simple.</a:t>
            </a:r>
          </a:p>
          <a:p>
            <a:endParaRPr lang="en-US" b="0" dirty="0"/>
          </a:p>
          <a:p>
            <a:r>
              <a:rPr lang="en-US" b="0" dirty="0"/>
              <a:t>With X-ray measurements, we can get some information. Suppose you shoot X-rays this way. As I explained, an X-ray measurement gives you a ray-sum. From the earlier slide: if you do not send X-rays through these two pixels, you will not be able to say what mu one and mu two are. But you do know the sum of these two pixels: mu one plus mu two equals seven. From this, you still do not know mu one and mu two, but you know the sum is seven. Likewise, take a vertical ray: you get mu two plus mu four equals four.</a:t>
            </a:r>
          </a:p>
          <a:p>
            <a:r>
              <a:rPr lang="en-US" b="0" dirty="0"/>
              <a:t>With X-ray measurements, you can write a number of equations. Solve the equations and you get the unknowns—that’s the idea. Normally, for an n by n image, you have n by n unknowns. Here, for two by two, you have four unknowns, so you need to shoot four rays and get four measurements: four linear equations, four unknowns. It looks perfect, right? Not that simple.</a:t>
            </a:r>
          </a:p>
          <a:p>
            <a:endParaRPr lang="en-US" b="0" dirty="0"/>
          </a:p>
          <a:p>
            <a:r>
              <a:rPr lang="en-US" b="0" dirty="0"/>
              <a:t>Look at this: if you shoot these two rays, the first two equations added together give a right-hand side of ten, and the last two equations added together are also ten. So if you subtract one equation from the sum, you get the remaining one. It’s a little tricky, but the point is that these four equations are not totally independent. From three of them you can derive the last one.</a:t>
            </a:r>
          </a:p>
          <a:p>
            <a:r>
              <a:rPr lang="en-US" b="0" dirty="0"/>
              <a:t>The trick is that “number of equations equals number of unknowns” only works under the condition that each equation provides new information—they must be independent. If they are not independent, you do not have enough equations to solve the problem.</a:t>
            </a:r>
          </a:p>
          <a:p>
            <a:endParaRPr lang="en-US" b="0" dirty="0"/>
          </a:p>
          <a:p>
            <a:r>
              <a:rPr lang="en-US" b="0" dirty="0"/>
              <a:t>So you should shoot a ray along the diagonal direction. Then you may get “this one plus this one plus this one plus this one,” and you will have enough independent equations to solve uniquely.</a:t>
            </a:r>
          </a:p>
          <a:p>
            <a:r>
              <a:rPr lang="en-US" b="0" dirty="0"/>
              <a:t>Anyway, remember: “number of equations equals number of unknowns” is under the assumption that all equations are independent. Otherwise, you do not have enough equations.</a:t>
            </a:r>
          </a:p>
        </p:txBody>
      </p:sp>
      <p:sp>
        <p:nvSpPr>
          <p:cNvPr id="4" name="Slide Number Placeholder 3"/>
          <p:cNvSpPr>
            <a:spLocks noGrp="1"/>
          </p:cNvSpPr>
          <p:nvPr>
            <p:ph type="sldNum" sz="quarter" idx="5"/>
          </p:nvPr>
        </p:nvSpPr>
        <p:spPr/>
        <p:txBody>
          <a:bodyPr/>
          <a:lstStyle/>
          <a:p>
            <a:fld id="{9F30534E-9FB8-46AE-8E3B-5675B268AE6A}" type="slidenum">
              <a:rPr lang="en-US" smtClean="0"/>
              <a:pPr/>
              <a:t>14</a:t>
            </a:fld>
            <a:endParaRPr lang="en-US"/>
          </a:p>
        </p:txBody>
      </p:sp>
    </p:spTree>
    <p:extLst>
      <p:ext uri="{BB962C8B-B14F-4D97-AF65-F5344CB8AC3E}">
        <p14:creationId xmlns:p14="http://schemas.microsoft.com/office/powerpoint/2010/main" val="37182979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Here, I’ll still use </a:t>
            </a:r>
            <a:r>
              <a:rPr lang="en-US" b="1" dirty="0"/>
              <a:t>two horizontal rays</a:t>
            </a:r>
            <a:r>
              <a:rPr lang="en-US" dirty="0"/>
              <a:t> and </a:t>
            </a:r>
            <a:r>
              <a:rPr lang="en-US" b="1" dirty="0"/>
              <a:t>two vertical rays</a:t>
            </a:r>
            <a:r>
              <a:rPr lang="en-US" dirty="0"/>
              <a:t> to show how we solve linear system equations using </a:t>
            </a:r>
            <a:r>
              <a:rPr lang="en-US" b="1" dirty="0"/>
              <a:t>iterative algorithms</a:t>
            </a:r>
            <a:r>
              <a:rPr lang="en-US" dirty="0"/>
              <a:t> through </a:t>
            </a:r>
            <a:r>
              <a:rPr lang="en-US" b="1" dirty="0"/>
              <a:t>trial and error</a:t>
            </a:r>
            <a:r>
              <a:rPr lang="en-US" dirty="0"/>
              <a:t>. </a:t>
            </a:r>
          </a:p>
          <a:p>
            <a:endParaRPr lang="en-US" dirty="0"/>
          </a:p>
          <a:p>
            <a:r>
              <a:rPr lang="en-US" dirty="0"/>
              <a:t>Why explain an iterative algorithm? For a simple case like this, you can solve it directly using an </a:t>
            </a:r>
            <a:r>
              <a:rPr lang="en-US" b="1" dirty="0"/>
              <a:t>analytic method</a:t>
            </a:r>
            <a:r>
              <a:rPr lang="en-US" dirty="0"/>
              <a:t>. But when the number of unknowns is huge—like millions or billions of equations—the direct method will not work efficiently. You may not have enough computer memory, and other issues may arise. So you use an iterative algorithm to solve the situation. Also, the iterative algorithm I’m about to explain lets you impose prior knowledge, like </a:t>
            </a:r>
            <a:r>
              <a:rPr lang="en-US" b="1" dirty="0"/>
              <a:t>non-negativity</a:t>
            </a:r>
            <a:r>
              <a:rPr lang="en-US" dirty="0"/>
              <a:t> or </a:t>
            </a:r>
            <a:r>
              <a:rPr lang="en-US" b="1" dirty="0"/>
              <a:t>smoothness</a:t>
            </a:r>
            <a:r>
              <a:rPr lang="en-US" dirty="0"/>
              <a:t>. These topics are beyond the scope of this lecture.</a:t>
            </a:r>
          </a:p>
          <a:p>
            <a:endParaRPr lang="en-US" dirty="0"/>
          </a:p>
          <a:p>
            <a:r>
              <a:rPr lang="en-US" dirty="0"/>
              <a:t>Let me give you the basic idea—how you can do trial and error to solve a system of linear equations. As I told you, this is your underlying image. You have </a:t>
            </a:r>
            <a:r>
              <a:rPr lang="en-US" b="1" dirty="0"/>
              <a:t>four measurements</a:t>
            </a:r>
            <a:r>
              <a:rPr lang="en-US" dirty="0"/>
              <a:t>—two horizontal and two vertical—and you try to solve this system. The starting point: whenever you use an iterative algorithm, you need a starting point. Here, because I know nothing about the image, I choose a neutral guess and assume nothing in the field of view, so </a:t>
            </a:r>
            <a:r>
              <a:rPr lang="en-US" b="1" dirty="0"/>
              <a:t>every pixel is zero</a:t>
            </a:r>
            <a:r>
              <a:rPr lang="en-US" dirty="0"/>
              <a:t>. This is my starting point, or </a:t>
            </a:r>
            <a:r>
              <a:rPr lang="en-US" b="1" dirty="0"/>
              <a:t>guess zero</a:t>
            </a:r>
            <a:r>
              <a:rPr lang="en-US" dirty="0"/>
              <a:t>. It is a natural and unbiased starting point.</a:t>
            </a:r>
          </a:p>
          <a:p>
            <a:endParaRPr lang="en-US" dirty="0"/>
          </a:p>
          <a:p>
            <a:r>
              <a:rPr lang="en-US" dirty="0"/>
              <a:t>First, if this guess were correct, then the </a:t>
            </a:r>
            <a:r>
              <a:rPr lang="en-US" b="1" dirty="0"/>
              <a:t>vertical integrals</a:t>
            </a:r>
            <a:r>
              <a:rPr lang="en-US" dirty="0"/>
              <a:t> must be </a:t>
            </a:r>
            <a:r>
              <a:rPr lang="en-US" b="1" dirty="0"/>
              <a:t>zero and zero</a:t>
            </a:r>
            <a:r>
              <a:rPr lang="en-US" dirty="0"/>
              <a:t>. Based on the assumption, I get these two estimated values: zero, zero. We call this a </a:t>
            </a:r>
            <a:r>
              <a:rPr lang="en-US" b="1" dirty="0"/>
              <a:t>predicted</a:t>
            </a:r>
            <a:r>
              <a:rPr lang="en-US" dirty="0"/>
              <a:t> or </a:t>
            </a:r>
            <a:r>
              <a:rPr lang="en-US" b="1" dirty="0"/>
              <a:t>synthetic projection</a:t>
            </a:r>
            <a:r>
              <a:rPr lang="en-US" dirty="0"/>
              <a:t>. It’s not that you must accept zero, zero just because I say so—you can challenge it. You can say, “If everything is zero, the vertical integrals must be zero, zero.” But the </a:t>
            </a:r>
            <a:r>
              <a:rPr lang="en-US" b="1" dirty="0"/>
              <a:t>physical measurement</a:t>
            </a:r>
            <a:r>
              <a:rPr lang="en-US" dirty="0"/>
              <a:t> says </a:t>
            </a:r>
            <a:r>
              <a:rPr lang="en-US" b="1" dirty="0"/>
              <a:t>six</a:t>
            </a:r>
            <a:r>
              <a:rPr lang="en-US" dirty="0"/>
              <a:t> and </a:t>
            </a:r>
            <a:r>
              <a:rPr lang="en-US" b="1" dirty="0"/>
              <a:t>four</a:t>
            </a:r>
            <a:r>
              <a:rPr lang="en-US" dirty="0"/>
              <a:t>. It is not zero, zero. How do we explain the contradiction?</a:t>
            </a:r>
          </a:p>
          <a:p>
            <a:r>
              <a:rPr lang="en-US" dirty="0"/>
              <a:t>We compare the </a:t>
            </a:r>
            <a:r>
              <a:rPr lang="en-US" b="1" dirty="0"/>
              <a:t>measurement</a:t>
            </a:r>
            <a:r>
              <a:rPr lang="en-US" dirty="0"/>
              <a:t> with the </a:t>
            </a:r>
            <a:r>
              <a:rPr lang="en-US" b="1" dirty="0"/>
              <a:t>prediction</a:t>
            </a:r>
            <a:r>
              <a:rPr lang="en-US" dirty="0"/>
              <a:t>. We see </a:t>
            </a:r>
            <a:r>
              <a:rPr lang="en-US" b="1" dirty="0"/>
              <a:t>errors six and four</a:t>
            </a:r>
            <a:r>
              <a:rPr lang="en-US" dirty="0"/>
              <a:t>—here you measured six but predicted zero, so the error is six; there you measured four but predicted zero, so the error is four. This positive error indicates my initial guess </a:t>
            </a:r>
            <a:r>
              <a:rPr lang="en-US" b="1" dirty="0"/>
              <a:t>underestimates</a:t>
            </a:r>
            <a:r>
              <a:rPr lang="en-US" dirty="0"/>
              <a:t> the pixel values.</a:t>
            </a:r>
          </a:p>
          <a:p>
            <a:endParaRPr lang="en-US" dirty="0"/>
          </a:p>
          <a:p>
            <a:r>
              <a:rPr lang="en-US" dirty="0"/>
              <a:t>Along this ray, the real measurement is four, but I predicted zero. Clearly, there must be something in these two pixels. Their values should </a:t>
            </a:r>
            <a:r>
              <a:rPr lang="en-US" b="1" dirty="0"/>
              <a:t>add to six</a:t>
            </a:r>
            <a:r>
              <a:rPr lang="en-US" dirty="0"/>
              <a:t> along the first vertical ray. I do not know whether to give more to the first pixel or the second pixel, so to be fair, I </a:t>
            </a:r>
            <a:r>
              <a:rPr lang="en-US" b="1" dirty="0"/>
              <a:t>evenly divide the error</a:t>
            </a:r>
            <a:r>
              <a:rPr lang="en-US" dirty="0"/>
              <a:t>: six becomes </a:t>
            </a:r>
            <a:r>
              <a:rPr lang="en-US" b="1" dirty="0"/>
              <a:t>three and three</a:t>
            </a:r>
            <a:r>
              <a:rPr lang="en-US" dirty="0"/>
              <a:t>. I put the error back. After this redistribution, the two values </a:t>
            </a:r>
            <a:r>
              <a:rPr lang="en-US" b="1" dirty="0"/>
              <a:t>add to six</a:t>
            </a:r>
            <a:r>
              <a:rPr lang="en-US" dirty="0"/>
              <a:t>, so that vertical error is removed. Likewise, for the second vertical ray, </a:t>
            </a:r>
            <a:r>
              <a:rPr lang="en-US" b="1" dirty="0"/>
              <a:t>four</a:t>
            </a:r>
            <a:r>
              <a:rPr lang="en-US" dirty="0"/>
              <a:t> becomes </a:t>
            </a:r>
            <a:r>
              <a:rPr lang="en-US" b="1" dirty="0"/>
              <a:t>two and two</a:t>
            </a:r>
            <a:r>
              <a:rPr lang="en-US" dirty="0"/>
              <a:t>. After this, I am </a:t>
            </a:r>
            <a:r>
              <a:rPr lang="en-US" b="1" dirty="0"/>
              <a:t>vertically consistent</a:t>
            </a:r>
            <a:r>
              <a:rPr lang="en-US" dirty="0"/>
              <a:t>: along the first column, three plus three equals six, and along the second column, two plus two equals four, matching the measurements.</a:t>
            </a:r>
          </a:p>
          <a:p>
            <a:endParaRPr lang="en-US" dirty="0"/>
          </a:p>
          <a:p>
            <a:r>
              <a:rPr lang="en-US" dirty="0"/>
              <a:t>Next, let’s </a:t>
            </a:r>
            <a:r>
              <a:rPr lang="en-US" b="1" dirty="0"/>
              <a:t>double-check the horizontal integrals</a:t>
            </a:r>
            <a:r>
              <a:rPr lang="en-US" dirty="0"/>
              <a:t>. Now the row sums are </a:t>
            </a:r>
            <a:r>
              <a:rPr lang="en-US" b="1" dirty="0"/>
              <a:t>five and five</a:t>
            </a:r>
            <a:r>
              <a:rPr lang="en-US" dirty="0"/>
              <a:t>. The measured horizontal sums are </a:t>
            </a:r>
            <a:r>
              <a:rPr lang="en-US" b="1" dirty="0"/>
              <a:t>seven</a:t>
            </a:r>
            <a:r>
              <a:rPr lang="en-US" dirty="0"/>
              <a:t> and </a:t>
            </a:r>
            <a:r>
              <a:rPr lang="en-US" b="1" dirty="0"/>
              <a:t>three</a:t>
            </a:r>
            <a:r>
              <a:rPr lang="en-US" dirty="0"/>
              <a:t>. Comparing again, the errors are </a:t>
            </a:r>
            <a:r>
              <a:rPr lang="en-US" b="1" dirty="0"/>
              <a:t>plus two</a:t>
            </a:r>
            <a:r>
              <a:rPr lang="en-US" dirty="0"/>
              <a:t> and </a:t>
            </a:r>
            <a:r>
              <a:rPr lang="en-US" b="1" dirty="0"/>
              <a:t>minus two</a:t>
            </a:r>
            <a:r>
              <a:rPr lang="en-US" dirty="0"/>
              <a:t>. A </a:t>
            </a:r>
            <a:r>
              <a:rPr lang="en-US" b="1" dirty="0"/>
              <a:t>positive</a:t>
            </a:r>
            <a:r>
              <a:rPr lang="en-US" dirty="0"/>
              <a:t> error means I still </a:t>
            </a:r>
            <a:r>
              <a:rPr lang="en-US" b="1" dirty="0"/>
              <a:t>underestimate</a:t>
            </a:r>
            <a:r>
              <a:rPr lang="en-US" dirty="0"/>
              <a:t> that row; a </a:t>
            </a:r>
            <a:r>
              <a:rPr lang="en-US" b="1" dirty="0"/>
              <a:t>negative</a:t>
            </a:r>
            <a:r>
              <a:rPr lang="en-US" dirty="0"/>
              <a:t> error means the true sum is </a:t>
            </a:r>
            <a:r>
              <a:rPr lang="en-US" b="1" dirty="0"/>
              <a:t>less</a:t>
            </a:r>
            <a:r>
              <a:rPr lang="en-US" dirty="0"/>
              <a:t> than my current estimate.</a:t>
            </a:r>
          </a:p>
          <a:p>
            <a:r>
              <a:rPr lang="en-US" dirty="0"/>
              <a:t>I </a:t>
            </a:r>
            <a:r>
              <a:rPr lang="en-US" b="1" dirty="0"/>
              <a:t>redistribute the errors</a:t>
            </a:r>
            <a:r>
              <a:rPr lang="en-US" dirty="0"/>
              <a:t>: the </a:t>
            </a:r>
            <a:r>
              <a:rPr lang="en-US" b="1" dirty="0"/>
              <a:t>plus two</a:t>
            </a:r>
            <a:r>
              <a:rPr lang="en-US" dirty="0"/>
              <a:t> is decomposed into </a:t>
            </a:r>
            <a:r>
              <a:rPr lang="en-US" b="1" dirty="0"/>
              <a:t>one and one</a:t>
            </a:r>
            <a:r>
              <a:rPr lang="en-US" dirty="0"/>
              <a:t> and added back to the two pixels in the first row; the </a:t>
            </a:r>
            <a:r>
              <a:rPr lang="en-US" b="1" dirty="0"/>
              <a:t>minus two</a:t>
            </a:r>
            <a:r>
              <a:rPr lang="en-US" dirty="0"/>
              <a:t> is decomposed into </a:t>
            </a:r>
            <a:r>
              <a:rPr lang="en-US" b="1" dirty="0"/>
              <a:t>minus one and minus one</a:t>
            </a:r>
            <a:r>
              <a:rPr lang="en-US" dirty="0"/>
              <a:t> and subtracted from the two pixels in the second row. In this case, we are lucky—after this </a:t>
            </a:r>
            <a:r>
              <a:rPr lang="en-US" b="1" dirty="0"/>
              <a:t>second iteration,</a:t>
            </a:r>
            <a:r>
              <a:rPr lang="en-US" dirty="0"/>
              <a:t> we obtain the correct result. Once we reach this state, the </a:t>
            </a:r>
            <a:r>
              <a:rPr lang="en-US" b="1" dirty="0"/>
              <a:t>vertical</a:t>
            </a:r>
            <a:r>
              <a:rPr lang="en-US" dirty="0"/>
              <a:t> and </a:t>
            </a:r>
            <a:r>
              <a:rPr lang="en-US" b="1" dirty="0"/>
              <a:t>horizontal</a:t>
            </a:r>
            <a:r>
              <a:rPr lang="en-US" dirty="0"/>
              <a:t> data are both perfectly explained. We are done—this illustrates the idea.</a:t>
            </a:r>
          </a:p>
          <a:p>
            <a:endParaRPr lang="en-US" dirty="0"/>
          </a:p>
          <a:p>
            <a:r>
              <a:rPr lang="en-US" dirty="0"/>
              <a:t>In real situations, it is never this simple. You need </a:t>
            </a:r>
            <a:r>
              <a:rPr lang="en-US" b="1" dirty="0"/>
              <a:t>many iterations</a:t>
            </a:r>
            <a:r>
              <a:rPr lang="en-US" dirty="0"/>
              <a:t> and </a:t>
            </a:r>
            <a:r>
              <a:rPr lang="en-US" b="1" dirty="0"/>
              <a:t>many unknowns</a:t>
            </a:r>
            <a:r>
              <a:rPr lang="en-US" dirty="0"/>
              <a:t> go back and forth, and a well-designed iterative algorithm will ensure that after many iterations the solution </a:t>
            </a:r>
            <a:r>
              <a:rPr lang="en-US" b="1" dirty="0"/>
              <a:t>converges</a:t>
            </a:r>
            <a:r>
              <a:rPr lang="en-US" dirty="0"/>
              <a:t>. Sometimes the iterative process gives an </a:t>
            </a:r>
            <a:r>
              <a:rPr lang="en-US" b="1" dirty="0"/>
              <a:t>oscillating</a:t>
            </a:r>
            <a:r>
              <a:rPr lang="en-US" dirty="0"/>
              <a:t> solution, and you need </a:t>
            </a:r>
            <a:r>
              <a:rPr lang="en-US" b="1" dirty="0"/>
              <a:t>regularization</a:t>
            </a:r>
            <a:r>
              <a:rPr lang="en-US" dirty="0"/>
              <a:t>. But again, for this undergraduate-level course, notice the </a:t>
            </a:r>
            <a:r>
              <a:rPr lang="en-US" b="1" dirty="0"/>
              <a:t>basic idea</a:t>
            </a:r>
            <a:r>
              <a:rPr lang="en-US" dirty="0"/>
              <a:t>.</a:t>
            </a:r>
          </a:p>
        </p:txBody>
      </p:sp>
      <p:sp>
        <p:nvSpPr>
          <p:cNvPr id="4" name="Slide Number Placeholder 3"/>
          <p:cNvSpPr>
            <a:spLocks noGrp="1"/>
          </p:cNvSpPr>
          <p:nvPr>
            <p:ph type="sldNum" sz="quarter" idx="5"/>
          </p:nvPr>
        </p:nvSpPr>
        <p:spPr/>
        <p:txBody>
          <a:bodyPr/>
          <a:lstStyle/>
          <a:p>
            <a:fld id="{9F30534E-9FB8-46AE-8E3B-5675B268AE6A}" type="slidenum">
              <a:rPr lang="en-US" smtClean="0"/>
              <a:pPr/>
              <a:t>15</a:t>
            </a:fld>
            <a:endParaRPr lang="en-US"/>
          </a:p>
        </p:txBody>
      </p:sp>
    </p:spTree>
    <p:extLst>
      <p:ext uri="{BB962C8B-B14F-4D97-AF65-F5344CB8AC3E}">
        <p14:creationId xmlns:p14="http://schemas.microsoft.com/office/powerpoint/2010/main" val="15703146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So, in summary, the algebraic approach goes in the following steps.</a:t>
            </a:r>
          </a:p>
          <a:p>
            <a:r>
              <a:rPr lang="en-US" dirty="0"/>
              <a:t>First, convert the data into </a:t>
            </a:r>
            <a:r>
              <a:rPr lang="en-US" b="1" dirty="0"/>
              <a:t>line integrals</a:t>
            </a:r>
            <a:r>
              <a:rPr lang="en-US" dirty="0"/>
              <a:t> to form a </a:t>
            </a:r>
            <a:r>
              <a:rPr lang="en-US" b="1" dirty="0"/>
              <a:t>system of linear equations</a:t>
            </a:r>
            <a:r>
              <a:rPr lang="en-US" dirty="0"/>
              <a:t>.</a:t>
            </a:r>
            <a:br>
              <a:rPr lang="en-US" dirty="0"/>
            </a:br>
            <a:r>
              <a:rPr lang="en-US" dirty="0"/>
              <a:t>This is the first step.</a:t>
            </a:r>
          </a:p>
          <a:p>
            <a:endParaRPr lang="en-US" dirty="0"/>
          </a:p>
          <a:p>
            <a:r>
              <a:rPr lang="en-US" dirty="0"/>
              <a:t>Second, </a:t>
            </a:r>
            <a:r>
              <a:rPr lang="en-US" b="1" dirty="0"/>
              <a:t>solve the system of linear equations</a:t>
            </a:r>
            <a:r>
              <a:rPr lang="en-US" dirty="0"/>
              <a:t> to reconstruct the underlying image, like the iterative process I showed you.</a:t>
            </a:r>
          </a:p>
          <a:p>
            <a:r>
              <a:rPr lang="en-US" dirty="0"/>
              <a:t>If needed—although I didn’t explain the details—you </a:t>
            </a:r>
            <a:r>
              <a:rPr lang="en-US" b="1" dirty="0"/>
              <a:t>regularize</a:t>
            </a:r>
            <a:r>
              <a:rPr lang="en-US" dirty="0"/>
              <a:t> the reconstruction with </a:t>
            </a:r>
            <a:r>
              <a:rPr lang="en-US" b="1" dirty="0"/>
              <a:t>prior knowledge</a:t>
            </a:r>
            <a:r>
              <a:rPr lang="en-US" dirty="0"/>
              <a:t>. For example, you know the </a:t>
            </a:r>
            <a:r>
              <a:rPr lang="en-US" b="1" dirty="0"/>
              <a:t>CT attenuation coefficient, mu</a:t>
            </a:r>
            <a:r>
              <a:rPr lang="en-US" dirty="0"/>
              <a:t>, determines attenuated X-ray intensity and </a:t>
            </a:r>
            <a:r>
              <a:rPr lang="en-US" b="1" dirty="0"/>
              <a:t>cannot be negative</a:t>
            </a:r>
            <a:r>
              <a:rPr lang="en-US" dirty="0"/>
              <a:t>. So, during the iterative process, if the current solution gives a negative value, you know it cannot be negative; you </a:t>
            </a:r>
            <a:r>
              <a:rPr lang="en-US" b="1" dirty="0"/>
              <a:t>force the negative to zero</a:t>
            </a:r>
            <a:r>
              <a:rPr lang="en-US" dirty="0"/>
              <a:t>. That is how prior knowledge regularizes the image reconstruction.</a:t>
            </a:r>
          </a:p>
          <a:p>
            <a:endParaRPr lang="en-US" dirty="0"/>
          </a:p>
          <a:p>
            <a:r>
              <a:rPr lang="en-US" dirty="0"/>
              <a:t>Then you </a:t>
            </a:r>
            <a:r>
              <a:rPr lang="en-US" b="1" dirty="0"/>
              <a:t>iteratively refine</a:t>
            </a:r>
            <a:r>
              <a:rPr lang="en-US" dirty="0"/>
              <a:t> the intermediate image, or current guess, </a:t>
            </a:r>
            <a:r>
              <a:rPr lang="en-US" b="1" dirty="0"/>
              <a:t>one cycle at a time</a:t>
            </a:r>
            <a:r>
              <a:rPr lang="en-US" dirty="0"/>
              <a:t> until the outcome is satisfactory.</a:t>
            </a:r>
          </a:p>
          <a:p>
            <a:r>
              <a:rPr lang="en-US" dirty="0"/>
              <a:t>How do you know the outcome is satisfactory? One way is </a:t>
            </a:r>
            <a:r>
              <a:rPr lang="en-US" b="1" dirty="0"/>
              <a:t>visual</a:t>
            </a:r>
            <a:r>
              <a:rPr lang="en-US" dirty="0"/>
              <a:t>—the image makes sense given your prior knowledge. Another way is </a:t>
            </a:r>
            <a:r>
              <a:rPr lang="en-US" b="1" dirty="0"/>
              <a:t>data consistency</a:t>
            </a:r>
            <a:r>
              <a:rPr lang="en-US" dirty="0"/>
              <a:t>—based on your current image, you </a:t>
            </a:r>
            <a:r>
              <a:rPr lang="en-US" b="1" dirty="0"/>
              <a:t>predict the projection data</a:t>
            </a:r>
            <a:r>
              <a:rPr lang="en-US" dirty="0"/>
              <a:t>; if your prediction compares well with the measurement—very close—you say, </a:t>
            </a:r>
            <a:r>
              <a:rPr lang="en-US" b="1" dirty="0"/>
              <a:t>okay, it is good enough</a:t>
            </a:r>
            <a:r>
              <a:rPr lang="en-US" dirty="0"/>
              <a:t>. As far as data fitness is concerned, we are doing a good job.</a:t>
            </a:r>
          </a:p>
          <a:p>
            <a:endParaRPr lang="en-US" dirty="0"/>
          </a:p>
          <a:p>
            <a:r>
              <a:rPr lang="en-US" dirty="0"/>
              <a:t>So, that is the idea of the </a:t>
            </a:r>
            <a:r>
              <a:rPr lang="en-US" b="1" dirty="0"/>
              <a:t>first algebraic approach</a:t>
            </a:r>
            <a:r>
              <a:rPr lang="en-US" dirty="0"/>
              <a:t>. The first one is not very hard, but at least you are sure that </a:t>
            </a:r>
            <a:r>
              <a:rPr lang="en-US" b="1" dirty="0"/>
              <a:t>we can do it</a:t>
            </a:r>
            <a:r>
              <a:rPr lang="en-US" dirty="0"/>
              <a:t>.</a:t>
            </a:r>
          </a:p>
        </p:txBody>
      </p:sp>
      <p:sp>
        <p:nvSpPr>
          <p:cNvPr id="4" name="Slide Number Placeholder 3"/>
          <p:cNvSpPr>
            <a:spLocks noGrp="1"/>
          </p:cNvSpPr>
          <p:nvPr>
            <p:ph type="sldNum" sz="quarter" idx="5"/>
          </p:nvPr>
        </p:nvSpPr>
        <p:spPr/>
        <p:txBody>
          <a:bodyPr/>
          <a:lstStyle/>
          <a:p>
            <a:fld id="{9F30534E-9FB8-46AE-8E3B-5675B268AE6A}" type="slidenum">
              <a:rPr lang="en-US" smtClean="0"/>
              <a:pPr/>
              <a:t>16</a:t>
            </a:fld>
            <a:endParaRPr lang="en-US"/>
          </a:p>
        </p:txBody>
      </p:sp>
    </p:spTree>
    <p:extLst>
      <p:ext uri="{BB962C8B-B14F-4D97-AF65-F5344CB8AC3E}">
        <p14:creationId xmlns:p14="http://schemas.microsoft.com/office/powerpoint/2010/main" val="1283677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Next, the </a:t>
            </a:r>
            <a:r>
              <a:rPr lang="en-US" b="1" dirty="0"/>
              <a:t>analytic approach</a:t>
            </a:r>
            <a:r>
              <a:rPr lang="en-US" dirty="0"/>
              <a:t> involves the </a:t>
            </a:r>
            <a:r>
              <a:rPr lang="en-US" b="1" dirty="0"/>
              <a:t>Fourier slice theorem</a:t>
            </a:r>
            <a:r>
              <a:rPr lang="en-US" dirty="0"/>
              <a:t>—that’s the key point—so we need </a:t>
            </a:r>
            <a:r>
              <a:rPr lang="en-US" b="1" dirty="0"/>
              <a:t>Fourier analysis</a:t>
            </a:r>
            <a:r>
              <a:rPr lang="en-US" dirty="0"/>
              <a:t>.</a:t>
            </a:r>
          </a:p>
          <a:p>
            <a:endParaRPr lang="en-US" dirty="0"/>
          </a:p>
          <a:p>
            <a:r>
              <a:rPr lang="en-US" dirty="0"/>
              <a:t>If you already understand Fourier analysis very well, you will have a good time here. If you are still confused about Fourier analysis, you may struggle a little, and I recommend a review. This is not an easy topic, but it is very cool. For the Fourier analysis, analytic approach, let me give you a </a:t>
            </a:r>
            <a:r>
              <a:rPr lang="en-US" b="1" dirty="0"/>
              <a:t>heuristic explanation</a:t>
            </a:r>
            <a:r>
              <a:rPr lang="en-US" dirty="0"/>
              <a:t>.</a:t>
            </a:r>
          </a:p>
        </p:txBody>
      </p:sp>
      <p:sp>
        <p:nvSpPr>
          <p:cNvPr id="4" name="Slide Number Placeholder 3"/>
          <p:cNvSpPr>
            <a:spLocks noGrp="1"/>
          </p:cNvSpPr>
          <p:nvPr>
            <p:ph type="sldNum" sz="quarter" idx="5"/>
          </p:nvPr>
        </p:nvSpPr>
        <p:spPr/>
        <p:txBody>
          <a:bodyPr/>
          <a:lstStyle/>
          <a:p>
            <a:fld id="{9F30534E-9FB8-46AE-8E3B-5675B268AE6A}" type="slidenum">
              <a:rPr lang="en-US" smtClean="0"/>
              <a:pPr/>
              <a:t>17</a:t>
            </a:fld>
            <a:endParaRPr lang="en-US"/>
          </a:p>
        </p:txBody>
      </p:sp>
    </p:spTree>
    <p:extLst>
      <p:ext uri="{BB962C8B-B14F-4D97-AF65-F5344CB8AC3E}">
        <p14:creationId xmlns:p14="http://schemas.microsoft.com/office/powerpoint/2010/main" val="496448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From this point of view, you </a:t>
            </a:r>
            <a:r>
              <a:rPr lang="en-US" b="1" dirty="0"/>
              <a:t>shoot X-rays</a:t>
            </a:r>
            <a:r>
              <a:rPr lang="en-US" dirty="0"/>
              <a:t>, and you are not trying to get a result directly. This is a different perspective. You shoot </a:t>
            </a:r>
            <a:r>
              <a:rPr lang="en-US" b="1" dirty="0"/>
              <a:t>parallel-beam X-rays</a:t>
            </a:r>
            <a:r>
              <a:rPr lang="en-US" dirty="0"/>
              <a:t>, going this way and that way, and then you get </a:t>
            </a:r>
            <a:r>
              <a:rPr lang="en-US" b="1" dirty="0"/>
              <a:t>line-integral measurements</a:t>
            </a:r>
            <a:r>
              <a:rPr lang="en-US" dirty="0"/>
              <a:t>. What do such measurements do? They act like a </a:t>
            </a:r>
            <a:r>
              <a:rPr lang="en-US" b="1" dirty="0"/>
              <a:t>probing wave</a:t>
            </a:r>
            <a:r>
              <a:rPr lang="en-US" dirty="0"/>
              <a:t>.</a:t>
            </a:r>
          </a:p>
          <a:p>
            <a:endParaRPr lang="en-US" dirty="0"/>
          </a:p>
          <a:p>
            <a:r>
              <a:rPr lang="en-US" dirty="0"/>
              <a:t>In this case, think of the underlying image not as Albert Einstein or a cross-section of your chest. Think of the image as a </a:t>
            </a:r>
            <a:r>
              <a:rPr lang="en-US" b="1" dirty="0"/>
              <a:t>summation of many waves</a:t>
            </a:r>
            <a:r>
              <a:rPr lang="en-US" dirty="0"/>
              <a:t>. Because of </a:t>
            </a:r>
            <a:r>
              <a:rPr lang="en-US" b="1" dirty="0"/>
              <a:t>Fourier analysis</a:t>
            </a:r>
            <a:r>
              <a:rPr lang="en-US" dirty="0"/>
              <a:t>, you can always do this—you reconstruct a bunch of waves.</a:t>
            </a:r>
          </a:p>
          <a:p>
            <a:r>
              <a:rPr lang="en-US" dirty="0"/>
              <a:t>For example, consider </a:t>
            </a:r>
            <a:r>
              <a:rPr lang="en-US" b="1" dirty="0"/>
              <a:t>waves propagating horizontally</a:t>
            </a:r>
            <a:r>
              <a:rPr lang="en-US" dirty="0"/>
              <a:t>, like the green wave. For any horizontal wave, let me make some comments so you understand why Fourier analysis works nicely. For such a horizontal wave, for all X-ray projections along </a:t>
            </a:r>
            <a:r>
              <a:rPr lang="en-US" b="1" dirty="0"/>
              <a:t>oblique directions</a:t>
            </a:r>
            <a:r>
              <a:rPr lang="en-US" dirty="0"/>
              <a:t>—that is, any orientation that is </a:t>
            </a:r>
            <a:r>
              <a:rPr lang="en-US" b="1" dirty="0"/>
              <a:t>not vertical</a:t>
            </a:r>
            <a:r>
              <a:rPr lang="en-US" dirty="0"/>
              <a:t>—we can say one thing: if you do the </a:t>
            </a:r>
            <a:r>
              <a:rPr lang="en-US" b="1" dirty="0"/>
              <a:t>vertical line integral</a:t>
            </a:r>
            <a:r>
              <a:rPr lang="en-US" dirty="0"/>
              <a:t>, the wave has a </a:t>
            </a:r>
            <a:r>
              <a:rPr lang="en-US" b="1" dirty="0"/>
              <a:t>positive cycle</a:t>
            </a:r>
            <a:r>
              <a:rPr lang="en-US" dirty="0"/>
              <a:t> and a </a:t>
            </a:r>
            <a:r>
              <a:rPr lang="en-US" b="1" dirty="0"/>
              <a:t>negative cycle</a:t>
            </a:r>
            <a:r>
              <a:rPr lang="en-US" dirty="0"/>
              <a:t> that </a:t>
            </a:r>
            <a:r>
              <a:rPr lang="en-US" b="1" dirty="0"/>
              <a:t>cancel out</a:t>
            </a:r>
            <a:r>
              <a:rPr lang="en-US" dirty="0"/>
              <a:t>. The wave just keeps oscillating. So if the projection orientation is </a:t>
            </a:r>
            <a:r>
              <a:rPr lang="en-US" b="1" dirty="0"/>
              <a:t>horizontal</a:t>
            </a:r>
            <a:r>
              <a:rPr lang="en-US" dirty="0"/>
              <a:t> or makes an </a:t>
            </a:r>
            <a:r>
              <a:rPr lang="en-US" b="1" dirty="0"/>
              <a:t>oblique angle</a:t>
            </a:r>
            <a:r>
              <a:rPr lang="en-US" dirty="0"/>
              <a:t>—any degree except </a:t>
            </a:r>
            <a:r>
              <a:rPr lang="en-US" b="1" dirty="0"/>
              <a:t>vertical</a:t>
            </a:r>
            <a:r>
              <a:rPr lang="en-US" dirty="0"/>
              <a:t>—all these </a:t>
            </a:r>
            <a:r>
              <a:rPr lang="en-US" b="1" dirty="0"/>
              <a:t>ray-sums</a:t>
            </a:r>
            <a:r>
              <a:rPr lang="en-US" dirty="0"/>
              <a:t> give you </a:t>
            </a:r>
            <a:r>
              <a:rPr lang="en-US" b="1" dirty="0"/>
              <a:t>zero</a:t>
            </a:r>
            <a:r>
              <a:rPr lang="en-US" dirty="0"/>
              <a:t>.</a:t>
            </a:r>
          </a:p>
          <a:p>
            <a:endParaRPr lang="en-US" dirty="0"/>
          </a:p>
          <a:p>
            <a:r>
              <a:rPr lang="en-US" dirty="0"/>
              <a:t>Getting </a:t>
            </a:r>
            <a:r>
              <a:rPr lang="en-US" b="1" dirty="0"/>
              <a:t>zero</a:t>
            </a:r>
            <a:r>
              <a:rPr lang="en-US" dirty="0"/>
              <a:t> means you get </a:t>
            </a:r>
            <a:r>
              <a:rPr lang="en-US" b="1" dirty="0"/>
              <a:t>no information</a:t>
            </a:r>
            <a:r>
              <a:rPr lang="en-US" dirty="0"/>
              <a:t> about the underlying horizontal wave—</a:t>
            </a:r>
            <a:r>
              <a:rPr lang="en-US" b="1" dirty="0"/>
              <a:t>except</a:t>
            </a:r>
            <a:r>
              <a:rPr lang="en-US" dirty="0"/>
              <a:t> in one direction: the </a:t>
            </a:r>
            <a:r>
              <a:rPr lang="en-US" b="1" dirty="0"/>
              <a:t>vertical</a:t>
            </a:r>
            <a:r>
              <a:rPr lang="en-US" dirty="0"/>
              <a:t> direction. Along the vertical projection, the positive and negative cycles </a:t>
            </a:r>
            <a:r>
              <a:rPr lang="en-US" b="1" dirty="0"/>
              <a:t>do not cancel</a:t>
            </a:r>
            <a:r>
              <a:rPr lang="en-US" dirty="0"/>
              <a:t>, so only the </a:t>
            </a:r>
            <a:r>
              <a:rPr lang="en-US" b="1" dirty="0"/>
              <a:t>vertical projection</a:t>
            </a:r>
            <a:r>
              <a:rPr lang="en-US" dirty="0"/>
              <a:t> gives you </a:t>
            </a:r>
            <a:r>
              <a:rPr lang="en-US" b="1" dirty="0"/>
              <a:t>critical information</a:t>
            </a:r>
            <a:r>
              <a:rPr lang="en-US" dirty="0"/>
              <a:t> about a </a:t>
            </a:r>
            <a:r>
              <a:rPr lang="en-US" b="1" dirty="0"/>
              <a:t>horizontal wave</a:t>
            </a:r>
            <a:r>
              <a:rPr lang="en-US" dirty="0"/>
              <a:t>. Other directions cancel out.</a:t>
            </a:r>
          </a:p>
          <a:p>
            <a:endParaRPr lang="en-US" dirty="0"/>
          </a:p>
          <a:p>
            <a:r>
              <a:rPr lang="en-US" dirty="0"/>
              <a:t>From the </a:t>
            </a:r>
            <a:r>
              <a:rPr lang="en-US" b="1" dirty="0"/>
              <a:t>vertical projection</a:t>
            </a:r>
            <a:r>
              <a:rPr lang="en-US" dirty="0"/>
              <a:t>, you obtain information about waves propagating </a:t>
            </a:r>
            <a:r>
              <a:rPr lang="en-US" b="1" dirty="0"/>
              <a:t>horizontally</a:t>
            </a:r>
            <a:r>
              <a:rPr lang="en-US" dirty="0"/>
              <a:t>. And Fourier analysis says the image </a:t>
            </a:r>
            <a:r>
              <a:rPr lang="en-US" b="1" dirty="0"/>
              <a:t>decomposes into many waves</a:t>
            </a:r>
            <a:r>
              <a:rPr lang="en-US" dirty="0"/>
              <a:t> along different orientations. So, to get </a:t>
            </a:r>
            <a:r>
              <a:rPr lang="en-US" b="1" dirty="0"/>
              <a:t>horizontal waves</a:t>
            </a:r>
            <a:r>
              <a:rPr lang="en-US" dirty="0"/>
              <a:t>, you use </a:t>
            </a:r>
            <a:r>
              <a:rPr lang="en-US" b="1" dirty="0"/>
              <a:t>vertical projections</a:t>
            </a:r>
            <a:r>
              <a:rPr lang="en-US" dirty="0"/>
              <a:t>. For waves at </a:t>
            </a:r>
            <a:r>
              <a:rPr lang="en-US" b="1" dirty="0"/>
              <a:t>one-degree orientation</a:t>
            </a:r>
            <a:r>
              <a:rPr lang="en-US" dirty="0"/>
              <a:t>, you need projections at </a:t>
            </a:r>
            <a:r>
              <a:rPr lang="en-US" b="1" dirty="0"/>
              <a:t>ninety degrees plus one degree</a:t>
            </a:r>
            <a:r>
              <a:rPr lang="en-US" dirty="0"/>
              <a:t>—the orthogonal direction.</a:t>
            </a:r>
          </a:p>
          <a:p>
            <a:endParaRPr lang="en-US" dirty="0"/>
          </a:p>
          <a:p>
            <a:r>
              <a:rPr lang="en-US" dirty="0"/>
              <a:t>If you want to </a:t>
            </a:r>
            <a:r>
              <a:rPr lang="en-US" b="1" dirty="0"/>
              <a:t>resolve all the waves</a:t>
            </a:r>
            <a:r>
              <a:rPr lang="en-US" dirty="0"/>
              <a:t>, you need </a:t>
            </a:r>
            <a:r>
              <a:rPr lang="en-US" b="1" dirty="0"/>
              <a:t>projection angles</a:t>
            </a:r>
            <a:r>
              <a:rPr lang="en-US" dirty="0"/>
              <a:t> spanning </a:t>
            </a:r>
            <a:r>
              <a:rPr lang="en-US" b="1" dirty="0"/>
              <a:t>zero to one-hundred-eighty degrees</a:t>
            </a:r>
            <a:r>
              <a:rPr lang="en-US" dirty="0"/>
              <a:t>. This is the heuristic: you need orientations that probe each wave family. With the horizontal wave superimposed this way, you take the </a:t>
            </a:r>
            <a:r>
              <a:rPr lang="en-US" b="1" dirty="0"/>
              <a:t>vertical projection</a:t>
            </a:r>
            <a:r>
              <a:rPr lang="en-US" dirty="0"/>
              <a:t>; then, if you do </a:t>
            </a:r>
            <a:r>
              <a:rPr lang="en-US" b="1" dirty="0"/>
              <a:t>Fourier analysis along the horizontal direction</a:t>
            </a:r>
            <a:r>
              <a:rPr lang="en-US" dirty="0"/>
              <a:t>, you should recover </a:t>
            </a:r>
            <a:r>
              <a:rPr lang="en-US" b="1" dirty="0"/>
              <a:t>all the wave information</a:t>
            </a:r>
            <a:r>
              <a:rPr lang="en-US" dirty="0"/>
              <a:t> along that horizontal direction. Let me explain this a little better.</a:t>
            </a:r>
          </a:p>
        </p:txBody>
      </p:sp>
      <p:sp>
        <p:nvSpPr>
          <p:cNvPr id="4" name="Slide Number Placeholder 3"/>
          <p:cNvSpPr>
            <a:spLocks noGrp="1"/>
          </p:cNvSpPr>
          <p:nvPr>
            <p:ph type="sldNum" sz="quarter" idx="5"/>
          </p:nvPr>
        </p:nvSpPr>
        <p:spPr/>
        <p:txBody>
          <a:bodyPr/>
          <a:lstStyle/>
          <a:p>
            <a:fld id="{9F30534E-9FB8-46AE-8E3B-5675B268AE6A}" type="slidenum">
              <a:rPr lang="en-US" smtClean="0"/>
              <a:pPr/>
              <a:t>18</a:t>
            </a:fld>
            <a:endParaRPr lang="en-US"/>
          </a:p>
        </p:txBody>
      </p:sp>
    </p:spTree>
    <p:extLst>
      <p:ext uri="{BB962C8B-B14F-4D97-AF65-F5344CB8AC3E}">
        <p14:creationId xmlns:p14="http://schemas.microsoft.com/office/powerpoint/2010/main" val="18176768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In the so-called </a:t>
            </a:r>
            <a:r>
              <a:rPr lang="en-US" b="1" dirty="0"/>
              <a:t>Fourier slice theorem</a:t>
            </a:r>
            <a:r>
              <a:rPr lang="en-US" dirty="0"/>
              <a:t>, it basically says this: you have the </a:t>
            </a:r>
            <a:r>
              <a:rPr lang="en-US" b="1" dirty="0"/>
              <a:t>parallel-beam projection</a:t>
            </a:r>
            <a:r>
              <a:rPr lang="en-US" dirty="0"/>
              <a:t>. So </a:t>
            </a:r>
            <a:r>
              <a:rPr lang="en-US" b="1" dirty="0"/>
              <a:t>p of theta</a:t>
            </a:r>
            <a:r>
              <a:rPr lang="en-US" dirty="0"/>
              <a:t>—this angle is </a:t>
            </a:r>
            <a:r>
              <a:rPr lang="en-US" b="1" dirty="0"/>
              <a:t>theta</a:t>
            </a:r>
            <a:r>
              <a:rPr lang="en-US" dirty="0"/>
              <a:t>. You get all these projections, and each projection carries </a:t>
            </a:r>
            <a:r>
              <a:rPr lang="en-US" b="1" dirty="0"/>
              <a:t>wave information along its direction</a:t>
            </a:r>
            <a:r>
              <a:rPr lang="en-US" dirty="0"/>
              <a:t>, the X-ray direction.</a:t>
            </a:r>
          </a:p>
          <a:p>
            <a:r>
              <a:rPr lang="en-US" dirty="0"/>
              <a:t>The information carried by this </a:t>
            </a:r>
            <a:r>
              <a:rPr lang="en-US" b="1" dirty="0"/>
              <a:t>projection profile</a:t>
            </a:r>
            <a:r>
              <a:rPr lang="en-US" dirty="0"/>
              <a:t> is waves along the </a:t>
            </a:r>
            <a:r>
              <a:rPr lang="en-US" b="1" dirty="0"/>
              <a:t>p-axis</a:t>
            </a:r>
            <a:r>
              <a:rPr lang="en-US" dirty="0"/>
              <a:t>. This p-axis makes an angle </a:t>
            </a:r>
            <a:r>
              <a:rPr lang="en-US" b="1" dirty="0"/>
              <a:t>theta</a:t>
            </a:r>
            <a:r>
              <a:rPr lang="en-US" dirty="0"/>
              <a:t>. It’s the same idea as before: a </a:t>
            </a:r>
            <a:r>
              <a:rPr lang="en-US" b="1" dirty="0"/>
              <a:t>vertical</a:t>
            </a:r>
            <a:r>
              <a:rPr lang="en-US" dirty="0"/>
              <a:t> projection carries wave information along the </a:t>
            </a:r>
            <a:r>
              <a:rPr lang="en-US" b="1" dirty="0"/>
              <a:t>horizontal</a:t>
            </a:r>
            <a:r>
              <a:rPr lang="en-US" dirty="0"/>
              <a:t> direction. So a projection at angle </a:t>
            </a:r>
            <a:r>
              <a:rPr lang="en-US" b="1" dirty="0"/>
              <a:t>theta</a:t>
            </a:r>
            <a:r>
              <a:rPr lang="en-US" dirty="0"/>
              <a:t> carries wave information along the p-axis, making angle </a:t>
            </a:r>
            <a:r>
              <a:rPr lang="en-US" b="1" dirty="0"/>
              <a:t>theta</a:t>
            </a:r>
            <a:r>
              <a:rPr lang="en-US" dirty="0"/>
              <a:t>.</a:t>
            </a:r>
          </a:p>
          <a:p>
            <a:endParaRPr lang="en-US" dirty="0"/>
          </a:p>
          <a:p>
            <a:r>
              <a:rPr lang="en-US" dirty="0"/>
              <a:t>If you perform a </a:t>
            </a:r>
            <a:r>
              <a:rPr lang="en-US" b="1" dirty="0"/>
              <a:t>one-dimensional Fourier analysis</a:t>
            </a:r>
            <a:r>
              <a:rPr lang="en-US" dirty="0"/>
              <a:t>, you get the </a:t>
            </a:r>
            <a:r>
              <a:rPr lang="en-US" b="1" dirty="0"/>
              <a:t>Fourier spectrum</a:t>
            </a:r>
            <a:r>
              <a:rPr lang="en-US" dirty="0"/>
              <a:t>. This green profile is the Fourier spectrum of the projection profile. The Fourier spectrum lies along the </a:t>
            </a:r>
            <a:r>
              <a:rPr lang="en-US" b="1" dirty="0"/>
              <a:t>rho-axis</a:t>
            </a:r>
            <a:r>
              <a:rPr lang="en-US" dirty="0"/>
              <a:t>, making the </a:t>
            </a:r>
            <a:r>
              <a:rPr lang="en-US" b="1" dirty="0"/>
              <a:t>same angle theta</a:t>
            </a:r>
            <a:r>
              <a:rPr lang="en-US" dirty="0"/>
              <a:t>. A point on this rho-axis gives a wave whose </a:t>
            </a:r>
            <a:r>
              <a:rPr lang="en-US" b="1" dirty="0"/>
              <a:t>frequency</a:t>
            </a:r>
            <a:r>
              <a:rPr lang="en-US" dirty="0"/>
              <a:t> is proportional to the </a:t>
            </a:r>
            <a:r>
              <a:rPr lang="en-US" b="1" dirty="0"/>
              <a:t>distance from that point to the system origin</a:t>
            </a:r>
            <a:r>
              <a:rPr lang="en-US" dirty="0"/>
              <a:t>. It is a wave propagating along the </a:t>
            </a:r>
            <a:r>
              <a:rPr lang="en-US" b="1" dirty="0"/>
              <a:t>theta direction</a:t>
            </a:r>
            <a:r>
              <a:rPr lang="en-US" dirty="0"/>
              <a:t>, orthogonal to the X-ray beam direction. Along this rho-axis, you have many points; these points represent </a:t>
            </a:r>
            <a:r>
              <a:rPr lang="en-US" b="1" dirty="0"/>
              <a:t>unique two-dimensional waves</a:t>
            </a:r>
            <a:r>
              <a:rPr lang="en-US" dirty="0"/>
              <a:t> propagating along this direction, making an angle </a:t>
            </a:r>
            <a:r>
              <a:rPr lang="en-US" b="1" dirty="0"/>
              <a:t>theta</a:t>
            </a:r>
            <a:r>
              <a:rPr lang="en-US" dirty="0"/>
              <a:t>.</a:t>
            </a:r>
          </a:p>
          <a:p>
            <a:endParaRPr lang="en-US" dirty="0"/>
          </a:p>
          <a:p>
            <a:r>
              <a:rPr lang="en-US" dirty="0"/>
              <a:t>This is </a:t>
            </a:r>
            <a:r>
              <a:rPr lang="en-US" b="1" dirty="0"/>
              <a:t>heuristic.</a:t>
            </a:r>
            <a:r>
              <a:rPr lang="en-US" dirty="0"/>
              <a:t> You need a </a:t>
            </a:r>
            <a:r>
              <a:rPr lang="en-US" b="1" dirty="0"/>
              <a:t>one-dimensional Fourier transform</a:t>
            </a:r>
            <a:r>
              <a:rPr lang="en-US" dirty="0"/>
              <a:t> to recover a </a:t>
            </a:r>
            <a:r>
              <a:rPr lang="en-US" b="1" dirty="0"/>
              <a:t>radial line profile</a:t>
            </a:r>
            <a:r>
              <a:rPr lang="en-US" dirty="0"/>
              <a:t> in Fourier space. To reconstruct a </a:t>
            </a:r>
            <a:r>
              <a:rPr lang="en-US" b="1" dirty="0"/>
              <a:t>two-dimensional image</a:t>
            </a:r>
            <a:r>
              <a:rPr lang="en-US" dirty="0"/>
              <a:t>, </a:t>
            </a:r>
            <a:r>
              <a:rPr lang="en-US" b="1" dirty="0"/>
              <a:t>f of x, y</a:t>
            </a:r>
            <a:r>
              <a:rPr lang="en-US" dirty="0"/>
              <a:t>, you need </a:t>
            </a:r>
            <a:r>
              <a:rPr lang="en-US" b="1" dirty="0"/>
              <a:t>all</a:t>
            </a:r>
            <a:r>
              <a:rPr lang="en-US" dirty="0"/>
              <a:t> the Fourier information, so the angle </a:t>
            </a:r>
            <a:r>
              <a:rPr lang="en-US" b="1" dirty="0"/>
              <a:t>theta</a:t>
            </a:r>
            <a:r>
              <a:rPr lang="en-US" dirty="0"/>
              <a:t> needs to go from </a:t>
            </a:r>
            <a:r>
              <a:rPr lang="en-US" b="1" dirty="0"/>
              <a:t>zero to one hundred eighty degrees</a:t>
            </a:r>
            <a:r>
              <a:rPr lang="en-US" dirty="0"/>
              <a:t>. When the rho-axis orientation changes from </a:t>
            </a:r>
            <a:r>
              <a:rPr lang="en-US" b="1" dirty="0"/>
              <a:t>theta equals zero</a:t>
            </a:r>
            <a:r>
              <a:rPr lang="en-US" dirty="0"/>
              <a:t>, then one, two, three, up to </a:t>
            </a:r>
            <a:r>
              <a:rPr lang="en-US" b="1" dirty="0"/>
              <a:t>one hundred eighty degrees</a:t>
            </a:r>
            <a:r>
              <a:rPr lang="en-US" dirty="0"/>
              <a:t>, the whole Fourier space is </a:t>
            </a:r>
            <a:r>
              <a:rPr lang="en-US" b="1" dirty="0"/>
              <a:t>swept</a:t>
            </a:r>
            <a:r>
              <a:rPr lang="en-US" dirty="0"/>
              <a:t> by the rho-axis. That means with </a:t>
            </a:r>
            <a:r>
              <a:rPr lang="en-US" b="1" dirty="0"/>
              <a:t>one projection,</a:t>
            </a:r>
            <a:r>
              <a:rPr lang="en-US" dirty="0"/>
              <a:t> you only measure information along </a:t>
            </a:r>
            <a:r>
              <a:rPr lang="en-US" b="1" dirty="0"/>
              <a:t>one line</a:t>
            </a:r>
            <a:r>
              <a:rPr lang="en-US" dirty="0"/>
              <a:t>. But if you change theta from zero to one hundred eighty degrees, </a:t>
            </a:r>
            <a:r>
              <a:rPr lang="en-US" b="1" dirty="0"/>
              <a:t>all the data points</a:t>
            </a:r>
            <a:r>
              <a:rPr lang="en-US" dirty="0"/>
              <a:t> in the Fourier space have been measured—you have all the information. Then you can perform a </a:t>
            </a:r>
            <a:r>
              <a:rPr lang="en-US" b="1" dirty="0"/>
              <a:t>two-dimensional inverse Fourier transform</a:t>
            </a:r>
            <a:r>
              <a:rPr lang="en-US" dirty="0"/>
              <a:t>.</a:t>
            </a:r>
          </a:p>
          <a:p>
            <a:endParaRPr lang="en-US" dirty="0"/>
          </a:p>
          <a:p>
            <a:r>
              <a:rPr lang="en-US" dirty="0"/>
              <a:t>This is a </a:t>
            </a:r>
            <a:r>
              <a:rPr lang="en-US" b="1" dirty="0"/>
              <a:t>geometrical perspective</a:t>
            </a:r>
            <a:r>
              <a:rPr lang="en-US" dirty="0"/>
              <a:t> on how to reconstruct the image using </a:t>
            </a:r>
            <a:r>
              <a:rPr lang="en-US" b="1" dirty="0"/>
              <a:t>Fourier analysis</a:t>
            </a:r>
            <a:r>
              <a:rPr lang="en-US" dirty="0"/>
              <a:t>, or from a </a:t>
            </a:r>
            <a:r>
              <a:rPr lang="en-US" b="1" dirty="0"/>
              <a:t>wave-analysis</a:t>
            </a:r>
            <a:r>
              <a:rPr lang="en-US" dirty="0"/>
              <a:t> perspective. Just these few things—two slides. I hope you understand these two slides. Then we will take </a:t>
            </a:r>
            <a:r>
              <a:rPr lang="en-US" b="1" dirty="0"/>
              <a:t>a minute's rest</a:t>
            </a:r>
            <a:r>
              <a:rPr lang="en-US" dirty="0"/>
              <a:t>. I will show you my </a:t>
            </a:r>
            <a:r>
              <a:rPr lang="en-US" b="1" dirty="0"/>
              <a:t>mathematics</a:t>
            </a:r>
            <a:r>
              <a:rPr lang="en-US" dirty="0"/>
              <a:t>.</a:t>
            </a:r>
          </a:p>
          <a:p>
            <a:r>
              <a:rPr lang="en-US" dirty="0"/>
              <a:t>Step by step, you will understand this geometrical wave argument a little better. </a:t>
            </a:r>
            <a:r>
              <a:rPr lang="en-US" b="1" dirty="0"/>
              <a:t>OK.</a:t>
            </a:r>
            <a:r>
              <a:rPr lang="en-US" dirty="0"/>
              <a:t> I think the </a:t>
            </a:r>
            <a:r>
              <a:rPr lang="en-US" b="1" dirty="0"/>
              <a:t>algebraic perspective</a:t>
            </a:r>
            <a:r>
              <a:rPr lang="en-US" dirty="0"/>
              <a:t> may be easier for you. The </a:t>
            </a:r>
            <a:r>
              <a:rPr lang="en-US" b="1" dirty="0"/>
              <a:t>wave analysis</a:t>
            </a:r>
            <a:r>
              <a:rPr lang="en-US" dirty="0"/>
              <a:t>—if you feel confused, feel free to ask me. Think about it. This is a very </a:t>
            </a:r>
            <a:r>
              <a:rPr lang="en-US" b="1" dirty="0"/>
              <a:t>elegant</a:t>
            </a:r>
            <a:r>
              <a:rPr lang="en-US" dirty="0"/>
              <a:t> way to solve the problem. The </a:t>
            </a:r>
            <a:r>
              <a:rPr lang="en-US" b="1" dirty="0"/>
              <a:t>Fourier slice theorem</a:t>
            </a:r>
            <a:r>
              <a:rPr lang="en-US" dirty="0"/>
              <a:t> is an important theorem for </a:t>
            </a:r>
            <a:r>
              <a:rPr lang="en-US" b="1" dirty="0"/>
              <a:t>tomographic reconstruction</a:t>
            </a:r>
            <a:r>
              <a:rPr lang="en-US" dirty="0"/>
              <a:t>.</a:t>
            </a:r>
          </a:p>
        </p:txBody>
      </p:sp>
      <p:sp>
        <p:nvSpPr>
          <p:cNvPr id="4" name="Slide Number Placeholder 3"/>
          <p:cNvSpPr>
            <a:spLocks noGrp="1"/>
          </p:cNvSpPr>
          <p:nvPr>
            <p:ph type="sldNum" sz="quarter" idx="5"/>
          </p:nvPr>
        </p:nvSpPr>
        <p:spPr/>
        <p:txBody>
          <a:bodyPr/>
          <a:lstStyle/>
          <a:p>
            <a:fld id="{9F30534E-9FB8-46AE-8E3B-5675B268AE6A}" type="slidenum">
              <a:rPr lang="en-US" smtClean="0"/>
              <a:pPr/>
              <a:t>19</a:t>
            </a:fld>
            <a:endParaRPr lang="en-US"/>
          </a:p>
        </p:txBody>
      </p:sp>
    </p:spTree>
    <p:extLst>
      <p:ext uri="{BB962C8B-B14F-4D97-AF65-F5344CB8AC3E}">
        <p14:creationId xmlns:p14="http://schemas.microsoft.com/office/powerpoint/2010/main" val="20360848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I uploaded a chapter by </a:t>
            </a:r>
            <a:r>
              <a:rPr lang="en-US" b="1" dirty="0"/>
              <a:t>Clark</a:t>
            </a:r>
            <a:r>
              <a:rPr lang="en-US" dirty="0"/>
              <a:t> in a </a:t>
            </a:r>
            <a:r>
              <a:rPr lang="en-US" b="1" dirty="0"/>
              <a:t>CT</a:t>
            </a:r>
            <a:r>
              <a:rPr lang="en-US" dirty="0"/>
              <a:t> book. It’s a very good one. When I was a fourth-year graduate student, I did a summer job with my supervisor. That summer, I read through his book and implemented the </a:t>
            </a:r>
            <a:r>
              <a:rPr lang="en-US" b="1" dirty="0"/>
              <a:t>cone-beam reconstruction</a:t>
            </a:r>
            <a:r>
              <a:rPr lang="en-US" dirty="0"/>
              <a:t> algorithm. In my view, this is still the best engineering book to explain </a:t>
            </a:r>
            <a:r>
              <a:rPr lang="en-US" b="1" dirty="0"/>
              <a:t>CT principles</a:t>
            </a:r>
            <a:r>
              <a:rPr lang="en-US" dirty="0"/>
              <a:t>. The </a:t>
            </a:r>
            <a:r>
              <a:rPr lang="en-US" b="1" dirty="0"/>
              <a:t>green textbook</a:t>
            </a:r>
            <a:r>
              <a:rPr lang="en-US" dirty="0"/>
              <a:t> explains </a:t>
            </a:r>
            <a:r>
              <a:rPr lang="en-US" b="1" dirty="0"/>
              <a:t>back-projection</a:t>
            </a:r>
            <a:r>
              <a:rPr lang="en-US" dirty="0"/>
              <a:t>, but not as clearly as Clark’s book. To give a better, deeper explanation, we will use </a:t>
            </a:r>
            <a:r>
              <a:rPr lang="en-US" b="1" dirty="0"/>
              <a:t>Clark’s Chapter 3</a:t>
            </a:r>
            <a:r>
              <a:rPr lang="en-US" dirty="0"/>
              <a:t>.</a:t>
            </a:r>
          </a:p>
          <a:p>
            <a:endParaRPr lang="en-US" dirty="0"/>
          </a:p>
          <a:p>
            <a:r>
              <a:rPr lang="en-US" dirty="0"/>
              <a:t>Now the coordinate system is </a:t>
            </a:r>
            <a:r>
              <a:rPr lang="en-US" b="1" dirty="0"/>
              <a:t>x, y</a:t>
            </a:r>
            <a:r>
              <a:rPr lang="en-US" dirty="0"/>
              <a:t>. Draw a line making an angle </a:t>
            </a:r>
            <a:r>
              <a:rPr lang="en-US" b="1" dirty="0"/>
              <a:t>theta</a:t>
            </a:r>
            <a:r>
              <a:rPr lang="en-US" dirty="0"/>
              <a:t>; call this line the </a:t>
            </a:r>
            <a:r>
              <a:rPr lang="en-US" b="1" dirty="0"/>
              <a:t>t-axis</a:t>
            </a:r>
            <a:r>
              <a:rPr lang="en-US" dirty="0"/>
              <a:t>. The projection is defined by the </a:t>
            </a:r>
            <a:r>
              <a:rPr lang="en-US" b="1" dirty="0"/>
              <a:t>perpendicular distance</a:t>
            </a:r>
            <a:r>
              <a:rPr lang="en-US" dirty="0"/>
              <a:t> from a point to the t-axis. The line through the origin at that distance is </a:t>
            </a:r>
            <a:r>
              <a:rPr lang="en-US" b="1" dirty="0"/>
              <a:t>t</a:t>
            </a:r>
            <a:r>
              <a:rPr lang="en-US" dirty="0"/>
              <a:t>. It can be </a:t>
            </a:r>
            <a:r>
              <a:rPr lang="en-US" b="1" dirty="0"/>
              <a:t>expressed</a:t>
            </a:r>
            <a:r>
              <a:rPr lang="en-US" dirty="0"/>
              <a:t> as</a:t>
            </a:r>
            <a:br>
              <a:rPr lang="en-US" dirty="0"/>
            </a:br>
            <a:r>
              <a:rPr lang="en-US" b="1" dirty="0"/>
              <a:t>x cosine theta plus y sine theta equals t</a:t>
            </a:r>
            <a:r>
              <a:rPr lang="en-US" dirty="0"/>
              <a:t>.</a:t>
            </a:r>
          </a:p>
          <a:p>
            <a:r>
              <a:rPr lang="en-US" dirty="0"/>
              <a:t>The </a:t>
            </a:r>
            <a:r>
              <a:rPr lang="en-US" b="1" dirty="0"/>
              <a:t>unit directional vector</a:t>
            </a:r>
            <a:r>
              <a:rPr lang="en-US" dirty="0"/>
              <a:t> along the t-axis has components </a:t>
            </a:r>
            <a:r>
              <a:rPr lang="en-US" b="1" dirty="0"/>
              <a:t>cosine theta, sine theta</a:t>
            </a:r>
            <a:r>
              <a:rPr lang="en-US" dirty="0"/>
              <a:t>. They didn’t draw it, but you can think of </a:t>
            </a:r>
            <a:r>
              <a:rPr lang="en-US" b="1" dirty="0"/>
              <a:t>cosine theta</a:t>
            </a:r>
            <a:r>
              <a:rPr lang="en-US" dirty="0"/>
              <a:t> and </a:t>
            </a:r>
            <a:r>
              <a:rPr lang="en-US" b="1" dirty="0"/>
              <a:t>sine theta</a:t>
            </a:r>
            <a:r>
              <a:rPr lang="en-US" dirty="0"/>
              <a:t> as the two components of the unit vector along the t-direction.</a:t>
            </a:r>
          </a:p>
          <a:p>
            <a:r>
              <a:rPr lang="en-US" dirty="0"/>
              <a:t>Take an </a:t>
            </a:r>
            <a:r>
              <a:rPr lang="en-US" b="1" dirty="0"/>
              <a:t>arbitrary point x, y</a:t>
            </a:r>
            <a:r>
              <a:rPr lang="en-US" dirty="0"/>
              <a:t>. Regarding the point as a vector from the origin. Project this vector onto the t-axis. The resulting </a:t>
            </a:r>
            <a:r>
              <a:rPr lang="en-US" b="1" dirty="0"/>
              <a:t>distance is t</a:t>
            </a:r>
            <a:r>
              <a:rPr lang="en-US" dirty="0"/>
              <a:t>. This is really an </a:t>
            </a:r>
            <a:r>
              <a:rPr lang="en-US" b="1" dirty="0"/>
              <a:t>inner product</a:t>
            </a:r>
            <a:r>
              <a:rPr lang="en-US" dirty="0"/>
              <a:t>: one vector with components </a:t>
            </a:r>
            <a:r>
              <a:rPr lang="en-US" b="1" dirty="0"/>
              <a:t>x, y</a:t>
            </a:r>
            <a:r>
              <a:rPr lang="en-US" dirty="0"/>
              <a:t>, and the unit vector with components </a:t>
            </a:r>
            <a:r>
              <a:rPr lang="en-US" b="1" dirty="0"/>
              <a:t>cosine theta, sine theta</a:t>
            </a:r>
            <a:r>
              <a:rPr lang="en-US" dirty="0"/>
              <a:t>. The inner product equals </a:t>
            </a:r>
            <a:r>
              <a:rPr lang="en-US" b="1" dirty="0"/>
              <a:t>t</a:t>
            </a:r>
            <a:r>
              <a:rPr lang="en-US" dirty="0"/>
              <a:t>. As long as </a:t>
            </a:r>
            <a:r>
              <a:rPr lang="en-US" b="1" dirty="0"/>
              <a:t>t</a:t>
            </a:r>
            <a:r>
              <a:rPr lang="en-US" dirty="0"/>
              <a:t> is the same, all points that satisfy this equation lie along the </a:t>
            </a:r>
            <a:r>
              <a:rPr lang="en-US" b="1" dirty="0"/>
              <a:t>same straight line</a:t>
            </a:r>
            <a:r>
              <a:rPr lang="en-US" dirty="0"/>
              <a:t> at a distance </a:t>
            </a:r>
            <a:r>
              <a:rPr lang="en-US" b="1" dirty="0"/>
              <a:t>t</a:t>
            </a:r>
            <a:r>
              <a:rPr lang="en-US" dirty="0"/>
              <a:t>.</a:t>
            </a:r>
          </a:p>
          <a:p>
            <a:endParaRPr lang="en-US" dirty="0"/>
          </a:p>
          <a:p>
            <a:r>
              <a:rPr lang="en-US" dirty="0"/>
              <a:t>You then do a </a:t>
            </a:r>
            <a:r>
              <a:rPr lang="en-US" b="1" dirty="0"/>
              <a:t>line integral</a:t>
            </a:r>
            <a:r>
              <a:rPr lang="en-US" dirty="0"/>
              <a:t> along that line at an angle </a:t>
            </a:r>
            <a:r>
              <a:rPr lang="en-US" b="1" dirty="0"/>
              <a:t>theta</a:t>
            </a:r>
            <a:r>
              <a:rPr lang="en-US" dirty="0"/>
              <a:t> and distance </a:t>
            </a:r>
            <a:r>
              <a:rPr lang="en-US" b="1" dirty="0"/>
              <a:t>t</a:t>
            </a:r>
            <a:r>
              <a:rPr lang="en-US" dirty="0"/>
              <a:t>. The projection </a:t>
            </a:r>
            <a:r>
              <a:rPr lang="en-US" b="1" dirty="0"/>
              <a:t>p of theta, t,</a:t>
            </a:r>
            <a:r>
              <a:rPr lang="en-US" dirty="0"/>
              <a:t> has two variables, but for a given </a:t>
            </a:r>
            <a:r>
              <a:rPr lang="en-US" b="1" dirty="0"/>
              <a:t>theta,</a:t>
            </a:r>
            <a:r>
              <a:rPr lang="en-US" dirty="0"/>
              <a:t> it is a </a:t>
            </a:r>
            <a:r>
              <a:rPr lang="en-US" b="1" dirty="0"/>
              <a:t>one-dimensional function of t</a:t>
            </a:r>
            <a:r>
              <a:rPr lang="en-US" dirty="0"/>
              <a:t>.</a:t>
            </a:r>
          </a:p>
          <a:p>
            <a:r>
              <a:rPr lang="en-US" dirty="0"/>
              <a:t>This line integral can also be written as a </a:t>
            </a:r>
            <a:r>
              <a:rPr lang="en-US" b="1" dirty="0"/>
              <a:t>double integral</a:t>
            </a:r>
            <a:r>
              <a:rPr lang="en-US" dirty="0"/>
              <a:t>. You integrate the underlying image over the whole plane, and you place a </a:t>
            </a:r>
            <a:r>
              <a:rPr lang="en-US" b="1" dirty="0"/>
              <a:t>delta function</a:t>
            </a:r>
            <a:r>
              <a:rPr lang="en-US" dirty="0"/>
              <a:t> along that line so that only the values </a:t>
            </a:r>
            <a:r>
              <a:rPr lang="en-US" b="1" dirty="0"/>
              <a:t>on the line</a:t>
            </a:r>
            <a:r>
              <a:rPr lang="en-US" dirty="0"/>
              <a:t> contribute. In other words, the double integral with the </a:t>
            </a:r>
            <a:r>
              <a:rPr lang="en-US" b="1" dirty="0"/>
              <a:t>delta function</a:t>
            </a:r>
            <a:r>
              <a:rPr lang="en-US" dirty="0"/>
              <a:t> is nothing but the </a:t>
            </a:r>
            <a:r>
              <a:rPr lang="en-US" b="1" dirty="0"/>
              <a:t>line integral</a:t>
            </a:r>
            <a:r>
              <a:rPr lang="en-US" dirty="0"/>
              <a:t> along that direction. This gives a convenient </a:t>
            </a:r>
            <a:r>
              <a:rPr lang="en-US" b="1" dirty="0"/>
              <a:t>two-dimensional notation</a:t>
            </a:r>
            <a:r>
              <a:rPr lang="en-US" dirty="0"/>
              <a:t> for the projection.</a:t>
            </a:r>
          </a:p>
        </p:txBody>
      </p:sp>
      <p:sp>
        <p:nvSpPr>
          <p:cNvPr id="4" name="Slide Number Placeholder 3"/>
          <p:cNvSpPr>
            <a:spLocks noGrp="1"/>
          </p:cNvSpPr>
          <p:nvPr>
            <p:ph type="sldNum" sz="quarter" idx="5"/>
          </p:nvPr>
        </p:nvSpPr>
        <p:spPr/>
        <p:txBody>
          <a:bodyPr/>
          <a:lstStyle/>
          <a:p>
            <a:fld id="{9F30534E-9FB8-46AE-8E3B-5675B268AE6A}" type="slidenum">
              <a:rPr lang="en-US" smtClean="0"/>
              <a:pPr/>
              <a:t>20</a:t>
            </a:fld>
            <a:endParaRPr lang="en-US"/>
          </a:p>
        </p:txBody>
      </p:sp>
    </p:spTree>
    <p:extLst>
      <p:ext uri="{BB962C8B-B14F-4D97-AF65-F5344CB8AC3E}">
        <p14:creationId xmlns:p14="http://schemas.microsoft.com/office/powerpoint/2010/main" val="39385499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Then we can write the standard Fourier transform for the underlying function </a:t>
            </a:r>
            <a:r>
              <a:rPr lang="en-US" b="1" dirty="0"/>
              <a:t>f of x, y</a:t>
            </a:r>
            <a:r>
              <a:rPr lang="en-US" dirty="0"/>
              <a:t>. </a:t>
            </a:r>
            <a:r>
              <a:rPr lang="en-US" b="1" dirty="0"/>
              <a:t>Equation seven</a:t>
            </a:r>
            <a:r>
              <a:rPr lang="en-US" dirty="0"/>
              <a:t> is the two-dimensional Fourier transform—straightforward. Let me write the one-dimensional Fourier transform—just the definition—</a:t>
            </a:r>
            <a:r>
              <a:rPr lang="en-US" b="1" dirty="0"/>
              <a:t>equation eight</a:t>
            </a:r>
            <a:r>
              <a:rPr lang="en-US" dirty="0"/>
              <a:t>. </a:t>
            </a:r>
          </a:p>
          <a:p>
            <a:endParaRPr lang="en-US" dirty="0"/>
          </a:p>
          <a:p>
            <a:r>
              <a:rPr lang="en-US" dirty="0"/>
              <a:t>I have the one-dimensional function, which is the projection profile </a:t>
            </a:r>
            <a:r>
              <a:rPr lang="en-US" b="1" dirty="0"/>
              <a:t>p of theta, t</a:t>
            </a:r>
            <a:r>
              <a:rPr lang="en-US" dirty="0"/>
              <a:t>. It has one variable. Then you perform the Fourier transform, and you get the one-dimensional Fourier transform with frequency variable </a:t>
            </a:r>
            <a:r>
              <a:rPr lang="en-US" b="1" dirty="0"/>
              <a:t>w</a:t>
            </a:r>
            <a:r>
              <a:rPr lang="en-US" dirty="0"/>
              <a:t>. Here, the two-dimensional frequency variables are </a:t>
            </a:r>
            <a:r>
              <a:rPr lang="en-US" b="1" dirty="0"/>
              <a:t>u</a:t>
            </a:r>
            <a:r>
              <a:rPr lang="en-US" dirty="0"/>
              <a:t> and </a:t>
            </a:r>
            <a:r>
              <a:rPr lang="en-US" b="1" dirty="0"/>
              <a:t>v</a:t>
            </a:r>
            <a:r>
              <a:rPr lang="en-US" dirty="0"/>
              <a:t>. These two are just definitions of the two-dimensional and one-dimensional Fourier transforms.</a:t>
            </a:r>
          </a:p>
          <a:p>
            <a:endParaRPr lang="en-US" dirty="0"/>
          </a:p>
          <a:p>
            <a:r>
              <a:rPr lang="en-US" dirty="0"/>
              <a:t>Now let’s go a little further. Consider the </a:t>
            </a:r>
            <a:r>
              <a:rPr lang="en-US" b="1" dirty="0"/>
              <a:t>simplest example</a:t>
            </a:r>
            <a:r>
              <a:rPr lang="en-US" dirty="0"/>
              <a:t>, the simplest case, and we try to compute </a:t>
            </a:r>
            <a:r>
              <a:rPr lang="en-US" b="1" dirty="0"/>
              <a:t>the Fourier analysis</a:t>
            </a:r>
            <a:r>
              <a:rPr lang="en-US" dirty="0"/>
              <a:t>. Fourier analysis is a two-dimensional function of </a:t>
            </a:r>
            <a:r>
              <a:rPr lang="en-US" b="1" dirty="0"/>
              <a:t>u, v</a:t>
            </a:r>
            <a:r>
              <a:rPr lang="en-US" dirty="0"/>
              <a:t>, but we set </a:t>
            </a:r>
            <a:r>
              <a:rPr lang="en-US" b="1" dirty="0"/>
              <a:t>v</a:t>
            </a:r>
            <a:r>
              <a:rPr lang="en-US" dirty="0"/>
              <a:t> equal to </a:t>
            </a:r>
            <a:r>
              <a:rPr lang="en-US" b="1" dirty="0"/>
              <a:t>zero</a:t>
            </a:r>
            <a:r>
              <a:rPr lang="en-US" dirty="0"/>
              <a:t>. That means we only consider Fourier coefficients along the </a:t>
            </a:r>
            <a:r>
              <a:rPr lang="en-US" b="1" dirty="0"/>
              <a:t>u-axis</a:t>
            </a:r>
            <a:r>
              <a:rPr lang="en-US" dirty="0"/>
              <a:t>—that’s just one line through the two-dimensional Fourier spectrum. Given </a:t>
            </a:r>
            <a:r>
              <a:rPr lang="en-US" b="1" dirty="0"/>
              <a:t>v equals zero</a:t>
            </a:r>
            <a:r>
              <a:rPr lang="en-US" dirty="0"/>
              <a:t>, this becomes a one-dimensional function. So </a:t>
            </a:r>
            <a:r>
              <a:rPr lang="en-US" b="1" dirty="0"/>
              <a:t>equation seven</a:t>
            </a:r>
            <a:r>
              <a:rPr lang="en-US" dirty="0"/>
              <a:t> becomes </a:t>
            </a:r>
            <a:r>
              <a:rPr lang="en-US" b="1" dirty="0"/>
              <a:t>equation nine</a:t>
            </a:r>
            <a:r>
              <a:rPr lang="en-US" dirty="0"/>
              <a:t>. With </a:t>
            </a:r>
            <a:r>
              <a:rPr lang="en-US" b="1" dirty="0"/>
              <a:t>v equal to zero</a:t>
            </a:r>
            <a:r>
              <a:rPr lang="en-US" dirty="0"/>
              <a:t>, you get this part.</a:t>
            </a:r>
          </a:p>
          <a:p>
            <a:endParaRPr lang="en-US" dirty="0"/>
          </a:p>
          <a:p>
            <a:r>
              <a:rPr lang="en-US" dirty="0"/>
              <a:t>Rearrange this a little bit, because now the </a:t>
            </a:r>
            <a:r>
              <a:rPr lang="en-US" b="1" dirty="0"/>
              <a:t>kernel</a:t>
            </a:r>
            <a:r>
              <a:rPr lang="en-US" dirty="0"/>
              <a:t>, the exponential function, does not depend on </a:t>
            </a:r>
            <a:r>
              <a:rPr lang="en-US" b="1" dirty="0"/>
              <a:t>y</a:t>
            </a:r>
            <a:r>
              <a:rPr lang="en-US" dirty="0"/>
              <a:t>. So the integral with respect to </a:t>
            </a:r>
            <a:r>
              <a:rPr lang="en-US" b="1" dirty="0"/>
              <a:t>y</a:t>
            </a:r>
            <a:r>
              <a:rPr lang="en-US" dirty="0"/>
              <a:t> can be grouped into the </a:t>
            </a:r>
            <a:r>
              <a:rPr lang="en-US" b="1" dirty="0"/>
              <a:t>inner integral</a:t>
            </a:r>
            <a:r>
              <a:rPr lang="en-US" dirty="0"/>
              <a:t>. You get this part. And you see that the expression in the bracket is nothing but a </a:t>
            </a:r>
            <a:r>
              <a:rPr lang="en-US" b="1" dirty="0"/>
              <a:t>vertical integral</a:t>
            </a:r>
            <a:r>
              <a:rPr lang="en-US" dirty="0"/>
              <a:t>. Because you have a two-dimensional function, you just do the line integral along the </a:t>
            </a:r>
            <a:r>
              <a:rPr lang="en-US" b="1" dirty="0"/>
              <a:t>y-axis</a:t>
            </a:r>
            <a:r>
              <a:rPr lang="en-US" dirty="0"/>
              <a:t>. So this part in the bracket is nothing but a vertical integral.</a:t>
            </a:r>
          </a:p>
        </p:txBody>
      </p:sp>
      <p:sp>
        <p:nvSpPr>
          <p:cNvPr id="4" name="Slide Number Placeholder 3"/>
          <p:cNvSpPr>
            <a:spLocks noGrp="1"/>
          </p:cNvSpPr>
          <p:nvPr>
            <p:ph type="sldNum" sz="quarter" idx="5"/>
          </p:nvPr>
        </p:nvSpPr>
        <p:spPr/>
        <p:txBody>
          <a:bodyPr/>
          <a:lstStyle/>
          <a:p>
            <a:fld id="{9F30534E-9FB8-46AE-8E3B-5675B268AE6A}" type="slidenum">
              <a:rPr lang="en-US" smtClean="0"/>
              <a:pPr/>
              <a:t>21</a:t>
            </a:fld>
            <a:endParaRPr lang="en-US"/>
          </a:p>
        </p:txBody>
      </p:sp>
    </p:spTree>
    <p:extLst>
      <p:ext uri="{BB962C8B-B14F-4D97-AF65-F5344CB8AC3E}">
        <p14:creationId xmlns:p14="http://schemas.microsoft.com/office/powerpoint/2010/main" val="351374735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So this is nothing but a </a:t>
            </a:r>
            <a:r>
              <a:rPr lang="en-US" b="1" dirty="0"/>
              <a:t>vertical integral</a:t>
            </a:r>
            <a:r>
              <a:rPr lang="en-US" dirty="0"/>
              <a:t>. A vertical integral is the </a:t>
            </a:r>
            <a:r>
              <a:rPr lang="en-US" b="1" dirty="0"/>
              <a:t>projection profile</a:t>
            </a:r>
            <a:r>
              <a:rPr lang="en-US" dirty="0"/>
              <a:t> when </a:t>
            </a:r>
            <a:r>
              <a:rPr lang="en-US" b="1" dirty="0"/>
              <a:t>theta equals zero</a:t>
            </a:r>
            <a:r>
              <a:rPr lang="en-US" dirty="0"/>
              <a:t>. So that is a vertical integral—you get this.</a:t>
            </a:r>
          </a:p>
          <a:p>
            <a:endParaRPr lang="en-US" dirty="0"/>
          </a:p>
          <a:p>
            <a:r>
              <a:rPr lang="en-US" dirty="0"/>
              <a:t>Now, in </a:t>
            </a:r>
            <a:r>
              <a:rPr lang="en-US" b="1" dirty="0"/>
              <a:t>two-dimensional Fourier analysis</a:t>
            </a:r>
            <a:r>
              <a:rPr lang="en-US" dirty="0"/>
              <a:t>, </a:t>
            </a:r>
            <a:r>
              <a:rPr lang="en-US" b="1" dirty="0"/>
              <a:t>F of u, zero</a:t>
            </a:r>
            <a:r>
              <a:rPr lang="en-US" dirty="0"/>
              <a:t>—</a:t>
            </a:r>
            <a:r>
              <a:rPr lang="en-US" b="1" dirty="0"/>
              <a:t>F of u, zero</a:t>
            </a:r>
            <a:r>
              <a:rPr lang="en-US" dirty="0"/>
              <a:t>—the vertical integral is </a:t>
            </a:r>
            <a:r>
              <a:rPr lang="en-US" b="1" dirty="0"/>
              <a:t>p at theta equals zero of x</a:t>
            </a:r>
            <a:r>
              <a:rPr lang="en-US" dirty="0"/>
              <a:t>. Put this part into the bracket, and then you have this expression.</a:t>
            </a:r>
          </a:p>
          <a:p>
            <a:r>
              <a:rPr lang="en-US" dirty="0"/>
              <a:t>So this is </a:t>
            </a:r>
            <a:r>
              <a:rPr lang="en-US" b="1" dirty="0"/>
              <a:t>two-dimensional Fourier analysis along the u-axis</a:t>
            </a:r>
            <a:r>
              <a:rPr lang="en-US" dirty="0"/>
              <a:t> when </a:t>
            </a:r>
            <a:r>
              <a:rPr lang="en-US" b="1" dirty="0"/>
              <a:t>v equals zero</a:t>
            </a:r>
            <a:r>
              <a:rPr lang="en-US" dirty="0"/>
              <a:t>—this is the </a:t>
            </a:r>
            <a:r>
              <a:rPr lang="en-US" b="1" dirty="0"/>
              <a:t>u-axis</a:t>
            </a:r>
            <a:r>
              <a:rPr lang="en-US" dirty="0"/>
              <a:t>. And here is the </a:t>
            </a:r>
            <a:r>
              <a:rPr lang="en-US" b="1" dirty="0"/>
              <a:t>vertical integral</a:t>
            </a:r>
            <a:r>
              <a:rPr lang="en-US" dirty="0"/>
              <a:t>. The vertical integral is a </a:t>
            </a:r>
            <a:r>
              <a:rPr lang="en-US" b="1" dirty="0"/>
              <a:t>function of x</a:t>
            </a:r>
            <a:r>
              <a:rPr lang="en-US" dirty="0"/>
              <a:t> in the </a:t>
            </a:r>
            <a:r>
              <a:rPr lang="en-US" b="1" dirty="0"/>
              <a:t>x–y plane</a:t>
            </a:r>
            <a:r>
              <a:rPr lang="en-US" dirty="0"/>
              <a:t>. And this part is </a:t>
            </a:r>
            <a:r>
              <a:rPr lang="en-US" b="1" dirty="0"/>
              <a:t>one-dimensional Fourier analysis</a:t>
            </a:r>
            <a:r>
              <a:rPr lang="en-US" dirty="0"/>
              <a:t> with respect to the variable </a:t>
            </a:r>
            <a:r>
              <a:rPr lang="en-US" b="1" dirty="0"/>
              <a:t>x</a:t>
            </a:r>
            <a:r>
              <a:rPr lang="en-US" dirty="0"/>
              <a:t>. So this is the </a:t>
            </a:r>
            <a:r>
              <a:rPr lang="en-US" b="1" dirty="0"/>
              <a:t>one-dimensional Fourier transform</a:t>
            </a:r>
            <a:r>
              <a:rPr lang="en-US" dirty="0"/>
              <a:t>. You can write it as the </a:t>
            </a:r>
            <a:r>
              <a:rPr lang="en-US" b="1" dirty="0"/>
              <a:t>one-dimensional Fourier transform</a:t>
            </a:r>
            <a:r>
              <a:rPr lang="en-US" dirty="0"/>
              <a:t> when </a:t>
            </a:r>
            <a:r>
              <a:rPr lang="en-US" b="1" dirty="0"/>
              <a:t>theta equals zero</a:t>
            </a:r>
            <a:r>
              <a:rPr lang="en-US" dirty="0"/>
              <a:t>, and the variable is </a:t>
            </a:r>
            <a:r>
              <a:rPr lang="en-US" b="1" dirty="0"/>
              <a:t>u</a:t>
            </a:r>
            <a:r>
              <a:rPr lang="en-US" dirty="0"/>
              <a:t>.</a:t>
            </a:r>
          </a:p>
          <a:p>
            <a:endParaRPr lang="en-US" dirty="0"/>
          </a:p>
          <a:p>
            <a:r>
              <a:rPr lang="en-US" dirty="0"/>
              <a:t>This is the </a:t>
            </a:r>
            <a:r>
              <a:rPr lang="en-US" b="1" dirty="0"/>
              <a:t>one-dimensional Fourier transform</a:t>
            </a:r>
            <a:r>
              <a:rPr lang="en-US" dirty="0"/>
              <a:t> in the general case for </a:t>
            </a:r>
            <a:r>
              <a:rPr lang="en-US" b="1" dirty="0"/>
              <a:t>an arbitrary angle theta</a:t>
            </a:r>
            <a:r>
              <a:rPr lang="en-US" dirty="0"/>
              <a:t>. So this is a </a:t>
            </a:r>
            <a:r>
              <a:rPr lang="en-US" b="1" dirty="0"/>
              <a:t>special case</a:t>
            </a:r>
            <a:r>
              <a:rPr lang="en-US" dirty="0"/>
              <a:t> of what I called the </a:t>
            </a:r>
            <a:r>
              <a:rPr lang="en-US" b="1" dirty="0"/>
              <a:t>Fourier slice theorem</a:t>
            </a:r>
            <a:r>
              <a:rPr lang="en-US" dirty="0"/>
              <a:t>. If you have a </a:t>
            </a:r>
            <a:r>
              <a:rPr lang="en-US" b="1" dirty="0"/>
              <a:t>vertical projection profile</a:t>
            </a:r>
            <a:r>
              <a:rPr lang="en-US" dirty="0"/>
              <a:t>, and you perform </a:t>
            </a:r>
            <a:r>
              <a:rPr lang="en-US" b="1" dirty="0"/>
              <a:t>one-dimensional Fourier analysis</a:t>
            </a:r>
            <a:r>
              <a:rPr lang="en-US" dirty="0"/>
              <a:t>, you get a </a:t>
            </a:r>
            <a:r>
              <a:rPr lang="en-US" b="1" dirty="0"/>
              <a:t>one-dimensional Fourier spectrum</a:t>
            </a:r>
            <a:r>
              <a:rPr lang="en-US" dirty="0"/>
              <a:t>—you got a </a:t>
            </a:r>
            <a:r>
              <a:rPr lang="en-US" b="1" dirty="0"/>
              <a:t>one-dimensional Fourier spectrum</a:t>
            </a:r>
            <a:r>
              <a:rPr lang="en-US" dirty="0"/>
              <a:t>. It is nothing but the </a:t>
            </a:r>
            <a:r>
              <a:rPr lang="en-US" b="1" dirty="0"/>
              <a:t>projection profile</a:t>
            </a:r>
            <a:r>
              <a:rPr lang="en-US" dirty="0"/>
              <a:t> in the </a:t>
            </a:r>
            <a:r>
              <a:rPr lang="en-US" b="1" dirty="0"/>
              <a:t>two-dimensional Fourier-transform space</a:t>
            </a:r>
            <a:r>
              <a:rPr lang="en-US" dirty="0"/>
              <a:t> along the </a:t>
            </a:r>
            <a:r>
              <a:rPr lang="en-US" b="1" dirty="0"/>
              <a:t>u-axis</a:t>
            </a:r>
            <a:r>
              <a:rPr lang="en-US" dirty="0"/>
              <a:t>. So this is a </a:t>
            </a:r>
            <a:r>
              <a:rPr lang="en-US" b="1" dirty="0"/>
              <a:t>special case</a:t>
            </a:r>
            <a:r>
              <a:rPr lang="en-US" dirty="0"/>
              <a:t> of the </a:t>
            </a:r>
            <a:r>
              <a:rPr lang="en-US" b="1" dirty="0"/>
              <a:t>Fourier slice theorem</a:t>
            </a:r>
            <a:r>
              <a:rPr lang="en-US" dirty="0"/>
              <a:t>.</a:t>
            </a:r>
          </a:p>
        </p:txBody>
      </p:sp>
      <p:sp>
        <p:nvSpPr>
          <p:cNvPr id="4" name="Slide Number Placeholder 3"/>
          <p:cNvSpPr>
            <a:spLocks noGrp="1"/>
          </p:cNvSpPr>
          <p:nvPr>
            <p:ph type="sldNum" sz="quarter" idx="5"/>
          </p:nvPr>
        </p:nvSpPr>
        <p:spPr/>
        <p:txBody>
          <a:bodyPr/>
          <a:lstStyle/>
          <a:p>
            <a:fld id="{9F30534E-9FB8-46AE-8E3B-5675B268AE6A}" type="slidenum">
              <a:rPr lang="en-US" smtClean="0"/>
              <a:pPr/>
              <a:t>22</a:t>
            </a:fld>
            <a:endParaRPr lang="en-US"/>
          </a:p>
        </p:txBody>
      </p:sp>
    </p:spTree>
    <p:extLst>
      <p:ext uri="{BB962C8B-B14F-4D97-AF65-F5344CB8AC3E}">
        <p14:creationId xmlns:p14="http://schemas.microsoft.com/office/powerpoint/2010/main" val="3481386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When </a:t>
            </a:r>
            <a:r>
              <a:rPr lang="en-US" b="1" dirty="0"/>
              <a:t>theta equals zero</a:t>
            </a:r>
            <a:r>
              <a:rPr lang="en-US" dirty="0"/>
              <a:t>, you get the two-dimensional Fourier spectrum profile as a one-dimensional profile along the </a:t>
            </a:r>
            <a:r>
              <a:rPr lang="en-US" b="1" dirty="0"/>
              <a:t>u-axis</a:t>
            </a:r>
            <a:r>
              <a:rPr lang="en-US" dirty="0"/>
              <a:t>. How do you get this special-case profile along the single line </a:t>
            </a:r>
            <a:r>
              <a:rPr lang="en-US" b="1" dirty="0"/>
              <a:t>u</a:t>
            </a:r>
            <a:r>
              <a:rPr lang="en-US" dirty="0"/>
              <a:t>? Set </a:t>
            </a:r>
            <a:r>
              <a:rPr lang="en-US" b="1" dirty="0"/>
              <a:t>theta</a:t>
            </a:r>
            <a:r>
              <a:rPr lang="en-US" dirty="0"/>
              <a:t> to </a:t>
            </a:r>
            <a:r>
              <a:rPr lang="en-US" b="1" dirty="0"/>
              <a:t>zero</a:t>
            </a:r>
            <a:r>
              <a:rPr lang="en-US" dirty="0"/>
              <a:t>. You obtain </a:t>
            </a:r>
            <a:r>
              <a:rPr lang="en-US" b="1" dirty="0"/>
              <a:t>vertical integrals</a:t>
            </a:r>
            <a:r>
              <a:rPr lang="en-US" dirty="0"/>
              <a:t>. Vertical integrals give you a </a:t>
            </a:r>
            <a:r>
              <a:rPr lang="en-US" b="1" dirty="0"/>
              <a:t>one-dimensional signal</a:t>
            </a:r>
            <a:r>
              <a:rPr lang="en-US" dirty="0"/>
              <a:t>. You perform a </a:t>
            </a:r>
            <a:r>
              <a:rPr lang="en-US" b="1" dirty="0"/>
              <a:t>one-dimensional Fourier transform</a:t>
            </a:r>
            <a:r>
              <a:rPr lang="en-US" dirty="0"/>
              <a:t>, and you get the spectrum. So you do the physical measurement to get this profile; you perform the one-dimensional Fourier transform; you get the projection profile along this line. In the case I just showed, this line corresponds to </a:t>
            </a:r>
            <a:r>
              <a:rPr lang="en-US" b="1" dirty="0"/>
              <a:t>theta equals zero</a:t>
            </a:r>
            <a:r>
              <a:rPr lang="en-US" dirty="0"/>
              <a:t>, along the </a:t>
            </a:r>
            <a:r>
              <a:rPr lang="en-US" b="1" dirty="0"/>
              <a:t>u-axis</a:t>
            </a:r>
            <a:r>
              <a:rPr lang="en-US" dirty="0"/>
              <a:t>.</a:t>
            </a:r>
          </a:p>
          <a:p>
            <a:endParaRPr lang="en-US" dirty="0"/>
          </a:p>
          <a:p>
            <a:r>
              <a:rPr lang="en-US" dirty="0"/>
              <a:t>In this way, you recover </a:t>
            </a:r>
            <a:r>
              <a:rPr lang="en-US" b="1" dirty="0"/>
              <a:t>Fourier-space information</a:t>
            </a:r>
            <a:r>
              <a:rPr lang="en-US" dirty="0"/>
              <a:t> along only </a:t>
            </a:r>
            <a:r>
              <a:rPr lang="en-US" b="1" dirty="0"/>
              <a:t>one line</a:t>
            </a:r>
            <a:r>
              <a:rPr lang="en-US" dirty="0"/>
              <a:t>. With an X-ray measurement, you recover Fourier-domain information. Ideally, you want </a:t>
            </a:r>
            <a:r>
              <a:rPr lang="en-US" b="1" dirty="0"/>
              <a:t>all</a:t>
            </a:r>
            <a:r>
              <a:rPr lang="en-US" dirty="0"/>
              <a:t> the Fourier information recovered. Then you perform the </a:t>
            </a:r>
            <a:r>
              <a:rPr lang="en-US" b="1" dirty="0"/>
              <a:t>two-dimensional inverse Fourier transform</a:t>
            </a:r>
            <a:r>
              <a:rPr lang="en-US" dirty="0"/>
              <a:t> and reconstruct the underlying image </a:t>
            </a:r>
            <a:r>
              <a:rPr lang="en-US" b="1" dirty="0"/>
              <a:t>f of x, y</a:t>
            </a:r>
            <a:r>
              <a:rPr lang="en-US" dirty="0"/>
              <a:t>. The </a:t>
            </a:r>
            <a:r>
              <a:rPr lang="en-US" b="1" dirty="0"/>
              <a:t>Fourier slice theorem</a:t>
            </a:r>
            <a:r>
              <a:rPr lang="en-US" dirty="0"/>
              <a:t> is not limited to </a:t>
            </a:r>
            <a:r>
              <a:rPr lang="en-US" b="1" dirty="0"/>
              <a:t>theta equals zero</a:t>
            </a:r>
            <a:r>
              <a:rPr lang="en-US" dirty="0"/>
              <a:t>. The theorem claims that for </a:t>
            </a:r>
            <a:r>
              <a:rPr lang="en-US" b="1" dirty="0"/>
              <a:t>arbitrary theta</a:t>
            </a:r>
            <a:r>
              <a:rPr lang="en-US" dirty="0"/>
              <a:t>, this holds true. For an arbitrary </a:t>
            </a:r>
            <a:r>
              <a:rPr lang="en-US" b="1" dirty="0"/>
              <a:t>theta</a:t>
            </a:r>
            <a:r>
              <a:rPr lang="en-US" dirty="0"/>
              <a:t>, you have an arbitrary </a:t>
            </a:r>
            <a:r>
              <a:rPr lang="en-US" b="1" dirty="0"/>
              <a:t>one-dimensional projection profile</a:t>
            </a:r>
            <a:r>
              <a:rPr lang="en-US" dirty="0"/>
              <a:t>. You perform the one-dimensional Fourier transform and recover the profile along the corresponding line. As explained earlier, if you keep </a:t>
            </a:r>
            <a:r>
              <a:rPr lang="en-US" b="1" dirty="0"/>
              <a:t>theta</a:t>
            </a:r>
            <a:r>
              <a:rPr lang="en-US" dirty="0"/>
              <a:t> changing from </a:t>
            </a:r>
            <a:r>
              <a:rPr lang="en-US" b="1" dirty="0"/>
              <a:t>zero to one hundred eighty degrees</a:t>
            </a:r>
            <a:r>
              <a:rPr lang="en-US" dirty="0"/>
              <a:t>, the line sweeps the whole Fourier space, and you recover all the information. That is the idea.</a:t>
            </a:r>
          </a:p>
          <a:p>
            <a:endParaRPr lang="en-US" dirty="0"/>
          </a:p>
          <a:p>
            <a:r>
              <a:rPr lang="en-US" dirty="0"/>
              <a:t>Now the heuristic: if you have the </a:t>
            </a:r>
            <a:r>
              <a:rPr lang="en-US" b="1" dirty="0"/>
              <a:t>vertical projection</a:t>
            </a:r>
            <a:r>
              <a:rPr lang="en-US" dirty="0"/>
              <a:t> property proved as such, you can immediately understand that the general case must be true. Why? Because the </a:t>
            </a:r>
            <a:r>
              <a:rPr lang="en-US" b="1" dirty="0"/>
              <a:t>two-dimensional Fourier transform</a:t>
            </a:r>
            <a:r>
              <a:rPr lang="en-US" dirty="0"/>
              <a:t> has a </a:t>
            </a:r>
            <a:r>
              <a:rPr lang="en-US" b="1" dirty="0"/>
              <a:t>rotation property</a:t>
            </a:r>
            <a:r>
              <a:rPr lang="en-US" dirty="0"/>
              <a:t>. If you rotate the object by </a:t>
            </a:r>
            <a:r>
              <a:rPr lang="en-US" b="1" dirty="0"/>
              <a:t>thirty degrees</a:t>
            </a:r>
            <a:r>
              <a:rPr lang="en-US" dirty="0"/>
              <a:t>, the two-dimensional Fourier spectrum is also rotated by </a:t>
            </a:r>
            <a:r>
              <a:rPr lang="en-US" b="1" dirty="0"/>
              <a:t>thirty degrees</a:t>
            </a:r>
            <a:r>
              <a:rPr lang="en-US" dirty="0"/>
              <a:t>. Since the angle </a:t>
            </a:r>
            <a:r>
              <a:rPr lang="en-US" b="1" dirty="0"/>
              <a:t>theta</a:t>
            </a:r>
            <a:r>
              <a:rPr lang="en-US" dirty="0"/>
              <a:t> is arbitrary due to the rotation property, you can select the angle as you set up the system. So if you ask, “I have this projection profile; I perform a one-dimensional Fourier transform; will I get the same type of profile along the corresponding line?” The answer is </a:t>
            </a:r>
            <a:r>
              <a:rPr lang="en-US" b="1" dirty="0"/>
              <a:t>yes</a:t>
            </a:r>
            <a:r>
              <a:rPr lang="en-US" dirty="0"/>
              <a:t>. I can select my </a:t>
            </a:r>
            <a:r>
              <a:rPr lang="en-US" b="1" dirty="0"/>
              <a:t>x-axis</a:t>
            </a:r>
            <a:r>
              <a:rPr lang="en-US" dirty="0"/>
              <a:t> along that direction and my </a:t>
            </a:r>
            <a:r>
              <a:rPr lang="en-US" b="1" dirty="0"/>
              <a:t>y-axis</a:t>
            </a:r>
            <a:r>
              <a:rPr lang="en-US" dirty="0"/>
              <a:t> perpendicular to it. In this </a:t>
            </a:r>
            <a:r>
              <a:rPr lang="en-US" b="1" dirty="0"/>
              <a:t>rotated x–y coordinate</a:t>
            </a:r>
            <a:r>
              <a:rPr lang="en-US" dirty="0"/>
              <a:t>, I can use exactly what I explained. Therefore, the </a:t>
            </a:r>
            <a:r>
              <a:rPr lang="en-US" b="1" dirty="0"/>
              <a:t>Fourier slice theorem</a:t>
            </a:r>
            <a:r>
              <a:rPr lang="en-US" dirty="0"/>
              <a:t> must be true. You can understand this immediately from the </a:t>
            </a:r>
            <a:r>
              <a:rPr lang="en-US" b="1" dirty="0"/>
              <a:t>rotation property</a:t>
            </a:r>
            <a:r>
              <a:rPr lang="en-US" dirty="0"/>
              <a:t> of the two-dimensional Fourier transform.</a:t>
            </a:r>
          </a:p>
          <a:p>
            <a:endParaRPr lang="en-US" dirty="0"/>
          </a:p>
          <a:p>
            <a:r>
              <a:rPr lang="en-US" dirty="0"/>
              <a:t>We can also do it mathematically. We introduce a </a:t>
            </a:r>
            <a:r>
              <a:rPr lang="en-US" b="1" dirty="0"/>
              <a:t>rotated coordinate system</a:t>
            </a:r>
            <a:r>
              <a:rPr lang="en-US" dirty="0"/>
              <a:t> </a:t>
            </a:r>
            <a:r>
              <a:rPr lang="en-US" b="1" dirty="0"/>
              <a:t>t, s</a:t>
            </a:r>
            <a:r>
              <a:rPr lang="en-US" dirty="0"/>
              <a:t>. For </a:t>
            </a:r>
            <a:r>
              <a:rPr lang="en-US" b="1" dirty="0"/>
              <a:t>u, v</a:t>
            </a:r>
            <a:r>
              <a:rPr lang="en-US" dirty="0"/>
              <a:t>, we introduce </a:t>
            </a:r>
            <a:r>
              <a:rPr lang="en-US" b="1" dirty="0"/>
              <a:t>t, s</a:t>
            </a:r>
            <a:r>
              <a:rPr lang="en-US" dirty="0"/>
              <a:t>; and actually this </a:t>
            </a:r>
            <a:r>
              <a:rPr lang="en-US" b="1" dirty="0"/>
              <a:t>t, s</a:t>
            </a:r>
            <a:r>
              <a:rPr lang="en-US" dirty="0"/>
              <a:t> is better placed in the </a:t>
            </a:r>
            <a:r>
              <a:rPr lang="en-US" b="1" dirty="0"/>
              <a:t>x–y</a:t>
            </a:r>
            <a:r>
              <a:rPr lang="en-US" dirty="0"/>
              <a:t> space. So we move this to the </a:t>
            </a:r>
            <a:r>
              <a:rPr lang="en-US" b="1" dirty="0"/>
              <a:t>x–y</a:t>
            </a:r>
            <a:r>
              <a:rPr lang="en-US" dirty="0"/>
              <a:t> plane.</a:t>
            </a:r>
          </a:p>
        </p:txBody>
      </p:sp>
      <p:sp>
        <p:nvSpPr>
          <p:cNvPr id="4" name="Slide Number Placeholder 3"/>
          <p:cNvSpPr>
            <a:spLocks noGrp="1"/>
          </p:cNvSpPr>
          <p:nvPr>
            <p:ph type="sldNum" sz="quarter" idx="5"/>
          </p:nvPr>
        </p:nvSpPr>
        <p:spPr/>
        <p:txBody>
          <a:bodyPr/>
          <a:lstStyle/>
          <a:p>
            <a:fld id="{9F30534E-9FB8-46AE-8E3B-5675B268AE6A}" type="slidenum">
              <a:rPr lang="en-US" smtClean="0"/>
              <a:pPr/>
              <a:t>23</a:t>
            </a:fld>
            <a:endParaRPr lang="en-US"/>
          </a:p>
        </p:txBody>
      </p:sp>
    </p:spTree>
    <p:extLst>
      <p:ext uri="{BB962C8B-B14F-4D97-AF65-F5344CB8AC3E}">
        <p14:creationId xmlns:p14="http://schemas.microsoft.com/office/powerpoint/2010/main" val="120503386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You can link the </a:t>
            </a:r>
            <a:r>
              <a:rPr lang="en-US" b="1" dirty="0"/>
              <a:t>t, s</a:t>
            </a:r>
            <a:r>
              <a:rPr lang="en-US" dirty="0"/>
              <a:t> coordinates to </a:t>
            </a:r>
            <a:r>
              <a:rPr lang="en-US" b="1" dirty="0"/>
              <a:t>x, y</a:t>
            </a:r>
            <a:r>
              <a:rPr lang="en-US" dirty="0"/>
              <a:t> through a straightforward </a:t>
            </a:r>
            <a:r>
              <a:rPr lang="en-US" b="1" dirty="0"/>
              <a:t>coordinate transformation</a:t>
            </a:r>
            <a:r>
              <a:rPr lang="en-US" dirty="0"/>
              <a:t>. Then you can go through the mathematical derivations to show the </a:t>
            </a:r>
            <a:r>
              <a:rPr lang="en-US" b="1" dirty="0"/>
              <a:t>Fourier slice theorem</a:t>
            </a:r>
            <a:r>
              <a:rPr lang="en-US" dirty="0"/>
              <a:t> in the general case. The </a:t>
            </a:r>
            <a:r>
              <a:rPr lang="en-US" b="1" dirty="0"/>
              <a:t>theta</a:t>
            </a:r>
            <a:r>
              <a:rPr lang="en-US" dirty="0"/>
              <a:t> angle is the same in the </a:t>
            </a:r>
            <a:r>
              <a:rPr lang="en-US" b="1" dirty="0"/>
              <a:t>u, v</a:t>
            </a:r>
            <a:r>
              <a:rPr lang="en-US" dirty="0"/>
              <a:t> domain and in the </a:t>
            </a:r>
            <a:r>
              <a:rPr lang="en-US" b="1" dirty="0"/>
              <a:t>x, y</a:t>
            </a:r>
            <a:r>
              <a:rPr lang="en-US" dirty="0"/>
              <a:t> domain.</a:t>
            </a:r>
          </a:p>
          <a:p>
            <a:endParaRPr lang="en-US" dirty="0"/>
          </a:p>
          <a:p>
            <a:r>
              <a:rPr lang="en-US" dirty="0"/>
              <a:t>With this coordinate transform, </a:t>
            </a:r>
            <a:r>
              <a:rPr lang="en-US" b="1" dirty="0"/>
              <a:t>p of theta, t</a:t>
            </a:r>
            <a:r>
              <a:rPr lang="en-US" dirty="0"/>
              <a:t>, for angle </a:t>
            </a:r>
            <a:r>
              <a:rPr lang="en-US" b="1" dirty="0"/>
              <a:t>theta</a:t>
            </a:r>
            <a:r>
              <a:rPr lang="en-US" dirty="0"/>
              <a:t> as a function of </a:t>
            </a:r>
            <a:r>
              <a:rPr lang="en-US" b="1" dirty="0"/>
              <a:t>t</a:t>
            </a:r>
            <a:r>
              <a:rPr lang="en-US" dirty="0"/>
              <a:t>, can be expressed as a </a:t>
            </a:r>
            <a:r>
              <a:rPr lang="en-US" b="1" dirty="0"/>
              <a:t>vertical projection</a:t>
            </a:r>
            <a:r>
              <a:rPr lang="en-US" dirty="0"/>
              <a:t> in the </a:t>
            </a:r>
            <a:r>
              <a:rPr lang="en-US" b="1" dirty="0"/>
              <a:t>t, s</a:t>
            </a:r>
            <a:r>
              <a:rPr lang="en-US" dirty="0"/>
              <a:t> coordinate system. Here </a:t>
            </a:r>
            <a:r>
              <a:rPr lang="en-US" b="1" dirty="0"/>
              <a:t>s</a:t>
            </a:r>
            <a:r>
              <a:rPr lang="en-US" dirty="0"/>
              <a:t> is the vertical direction in the </a:t>
            </a:r>
            <a:r>
              <a:rPr lang="en-US" b="1" dirty="0"/>
              <a:t>t, s</a:t>
            </a:r>
            <a:r>
              <a:rPr lang="en-US" dirty="0"/>
              <a:t> system.</a:t>
            </a:r>
          </a:p>
          <a:p>
            <a:endParaRPr lang="en-US" dirty="0"/>
          </a:p>
          <a:p>
            <a:r>
              <a:rPr lang="en-US" dirty="0"/>
              <a:t>Next, perform the </a:t>
            </a:r>
            <a:r>
              <a:rPr lang="en-US" b="1" dirty="0"/>
              <a:t>one-dimensional Fourier transform</a:t>
            </a:r>
            <a:r>
              <a:rPr lang="en-US" dirty="0"/>
              <a:t>. The exponential factor is </a:t>
            </a:r>
            <a:r>
              <a:rPr lang="en-US" b="1" dirty="0"/>
              <a:t>e to the power minus j two pi w t</a:t>
            </a:r>
            <a:r>
              <a:rPr lang="en-US" dirty="0"/>
              <a:t>. Then do the same trick as before: insert the </a:t>
            </a:r>
            <a:r>
              <a:rPr lang="en-US" b="1" dirty="0"/>
              <a:t>definition of the projection profile</a:t>
            </a:r>
            <a:r>
              <a:rPr lang="en-US" dirty="0"/>
              <a:t> for angle </a:t>
            </a:r>
            <a:r>
              <a:rPr lang="en-US" b="1" dirty="0"/>
              <a:t>theta</a:t>
            </a:r>
            <a:r>
              <a:rPr lang="en-US" dirty="0"/>
              <a:t> into the bracket. You get the resulting expression, pretty much like the </a:t>
            </a:r>
            <a:r>
              <a:rPr lang="en-US" b="1" dirty="0"/>
              <a:t>simplest case</a:t>
            </a:r>
            <a:r>
              <a:rPr lang="en-US" dirty="0"/>
              <a:t> we did.</a:t>
            </a:r>
          </a:p>
        </p:txBody>
      </p:sp>
      <p:sp>
        <p:nvSpPr>
          <p:cNvPr id="4" name="Slide Number Placeholder 3"/>
          <p:cNvSpPr>
            <a:spLocks noGrp="1"/>
          </p:cNvSpPr>
          <p:nvPr>
            <p:ph type="sldNum" sz="quarter" idx="5"/>
          </p:nvPr>
        </p:nvSpPr>
        <p:spPr/>
        <p:txBody>
          <a:bodyPr/>
          <a:lstStyle/>
          <a:p>
            <a:fld id="{9F30534E-9FB8-46AE-8E3B-5675B268AE6A}" type="slidenum">
              <a:rPr lang="en-US" smtClean="0"/>
              <a:pPr/>
              <a:t>24</a:t>
            </a:fld>
            <a:endParaRPr lang="en-US"/>
          </a:p>
        </p:txBody>
      </p:sp>
    </p:spTree>
    <p:extLst>
      <p:ext uri="{BB962C8B-B14F-4D97-AF65-F5344CB8AC3E}">
        <p14:creationId xmlns:p14="http://schemas.microsoft.com/office/powerpoint/2010/main" val="242605794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Then you change the transform back from the </a:t>
            </a:r>
            <a:r>
              <a:rPr lang="en-US" b="1" dirty="0"/>
              <a:t>t, s</a:t>
            </a:r>
            <a:r>
              <a:rPr lang="en-US" dirty="0"/>
              <a:t> system to the </a:t>
            </a:r>
            <a:r>
              <a:rPr lang="en-US" b="1" dirty="0"/>
              <a:t>x, y</a:t>
            </a:r>
            <a:r>
              <a:rPr lang="en-US" dirty="0"/>
              <a:t> coordinate system.</a:t>
            </a:r>
            <a:br>
              <a:rPr lang="en-US" dirty="0"/>
            </a:br>
            <a:endParaRPr lang="en-US" dirty="0"/>
          </a:p>
          <a:p>
            <a:r>
              <a:rPr lang="en-US" dirty="0"/>
              <a:t>You can </a:t>
            </a:r>
            <a:r>
              <a:rPr lang="en-US" b="1" dirty="0"/>
              <a:t>express</a:t>
            </a:r>
            <a:r>
              <a:rPr lang="en-US" dirty="0"/>
              <a:t> it this way. Rearranging a little, it can be </a:t>
            </a:r>
            <a:r>
              <a:rPr lang="en-US" b="1" dirty="0"/>
              <a:t>expressed</a:t>
            </a:r>
            <a:r>
              <a:rPr lang="en-US" dirty="0"/>
              <a:t> as a </a:t>
            </a:r>
            <a:r>
              <a:rPr lang="en-US" b="1" dirty="0"/>
              <a:t>two-dimensional Fourier transform</a:t>
            </a:r>
            <a:r>
              <a:rPr lang="en-US" dirty="0"/>
              <a:t>, capital </a:t>
            </a:r>
            <a:r>
              <a:rPr lang="en-US" b="1" dirty="0"/>
              <a:t>F</a:t>
            </a:r>
            <a:r>
              <a:rPr lang="en-US" dirty="0"/>
              <a:t>. The </a:t>
            </a:r>
            <a:r>
              <a:rPr lang="en-US" b="1" dirty="0"/>
              <a:t>u</a:t>
            </a:r>
            <a:r>
              <a:rPr lang="en-US" dirty="0"/>
              <a:t> component is </a:t>
            </a:r>
            <a:r>
              <a:rPr lang="en-US" b="1" dirty="0"/>
              <a:t>w cosine theta</a:t>
            </a:r>
            <a:r>
              <a:rPr lang="en-US" dirty="0"/>
              <a:t>, and the </a:t>
            </a:r>
            <a:r>
              <a:rPr lang="en-US" b="1" dirty="0"/>
              <a:t>v</a:t>
            </a:r>
            <a:r>
              <a:rPr lang="en-US" dirty="0"/>
              <a:t> component is </a:t>
            </a:r>
            <a:r>
              <a:rPr lang="en-US" b="1" dirty="0"/>
              <a:t>w sine theta</a:t>
            </a:r>
            <a:r>
              <a:rPr lang="en-US" dirty="0"/>
              <a:t>. Because in the two-dimensional Fourier transform you have </a:t>
            </a:r>
            <a:r>
              <a:rPr lang="en-US" b="1" dirty="0"/>
              <a:t>x u plus y v</a:t>
            </a:r>
            <a:r>
              <a:rPr lang="en-US" dirty="0"/>
              <a:t>, the factor </a:t>
            </a:r>
            <a:r>
              <a:rPr lang="en-US" b="1" dirty="0"/>
              <a:t>w</a:t>
            </a:r>
            <a:r>
              <a:rPr lang="en-US" dirty="0"/>
              <a:t> is redistributed back, giving this relationship.</a:t>
            </a:r>
          </a:p>
          <a:p>
            <a:endParaRPr lang="en-US" dirty="0"/>
          </a:p>
          <a:p>
            <a:r>
              <a:rPr lang="en-US" b="1" dirty="0"/>
              <a:t>S theta of w equals F of open parenthesis w cosine theta, w sine theta close parenthesis.</a:t>
            </a:r>
            <a:endParaRPr lang="en-US" dirty="0"/>
          </a:p>
          <a:p>
            <a:r>
              <a:rPr lang="en-US" dirty="0"/>
              <a:t>This is nothing but the </a:t>
            </a:r>
            <a:r>
              <a:rPr lang="en-US" b="1" dirty="0"/>
              <a:t>general form of the Fourier slice theorem</a:t>
            </a:r>
            <a:r>
              <a:rPr lang="en-US" dirty="0"/>
              <a:t>. This is the mathematical derivation. You can review it yourself and check </a:t>
            </a:r>
            <a:r>
              <a:rPr lang="en-US" b="1" dirty="0"/>
              <a:t>Chapter 3</a:t>
            </a:r>
            <a:r>
              <a:rPr lang="en-US" dirty="0"/>
              <a:t> if needed.</a:t>
            </a:r>
          </a:p>
        </p:txBody>
      </p:sp>
      <p:sp>
        <p:nvSpPr>
          <p:cNvPr id="4" name="Slide Number Placeholder 3"/>
          <p:cNvSpPr>
            <a:spLocks noGrp="1"/>
          </p:cNvSpPr>
          <p:nvPr>
            <p:ph type="sldNum" sz="quarter" idx="5"/>
          </p:nvPr>
        </p:nvSpPr>
        <p:spPr/>
        <p:txBody>
          <a:bodyPr/>
          <a:lstStyle/>
          <a:p>
            <a:fld id="{9F30534E-9FB8-46AE-8E3B-5675B268AE6A}" type="slidenum">
              <a:rPr lang="en-US" smtClean="0"/>
              <a:pPr/>
              <a:t>25</a:t>
            </a:fld>
            <a:endParaRPr lang="en-US"/>
          </a:p>
        </p:txBody>
      </p:sp>
    </p:spTree>
    <p:extLst>
      <p:ext uri="{BB962C8B-B14F-4D97-AF65-F5344CB8AC3E}">
        <p14:creationId xmlns:p14="http://schemas.microsoft.com/office/powerpoint/2010/main" val="20034996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Let me visualize what we mentioned.</a:t>
            </a:r>
            <a:br>
              <a:rPr lang="en-US" dirty="0"/>
            </a:br>
            <a:endParaRPr lang="en-US" dirty="0"/>
          </a:p>
          <a:p>
            <a:r>
              <a:rPr lang="en-US" dirty="0"/>
              <a:t>You have the underlying image </a:t>
            </a:r>
            <a:r>
              <a:rPr lang="en-US" b="1" dirty="0"/>
              <a:t>f of x and y, and using X-ray measurements, you get the projection profile p of theta and t</a:t>
            </a:r>
            <a:r>
              <a:rPr lang="en-US" dirty="0"/>
              <a:t>. For a given </a:t>
            </a:r>
            <a:r>
              <a:rPr lang="en-US" b="1" dirty="0"/>
              <a:t>theta</a:t>
            </a:r>
            <a:r>
              <a:rPr lang="en-US" dirty="0"/>
              <a:t>, you perform a </a:t>
            </a:r>
            <a:r>
              <a:rPr lang="en-US" b="1" dirty="0"/>
              <a:t>one-dimensional Fourier transform</a:t>
            </a:r>
            <a:r>
              <a:rPr lang="en-US" dirty="0"/>
              <a:t> with respect to </a:t>
            </a:r>
            <a:r>
              <a:rPr lang="en-US" b="1" dirty="0"/>
              <a:t>t</a:t>
            </a:r>
            <a:r>
              <a:rPr lang="en-US" dirty="0"/>
              <a:t>. You get </a:t>
            </a:r>
            <a:r>
              <a:rPr lang="en-US" b="1" dirty="0"/>
              <a:t>a line profile,</a:t>
            </a:r>
            <a:r>
              <a:rPr lang="en-US" dirty="0"/>
              <a:t> making the angle </a:t>
            </a:r>
            <a:r>
              <a:rPr lang="en-US" b="1" dirty="0"/>
              <a:t>theta</a:t>
            </a:r>
            <a:r>
              <a:rPr lang="en-US" dirty="0"/>
              <a:t> in the two-dimensional Fourier space.</a:t>
            </a:r>
          </a:p>
          <a:p>
            <a:endParaRPr lang="en-US" dirty="0"/>
          </a:p>
          <a:p>
            <a:r>
              <a:rPr lang="en-US" dirty="0"/>
              <a:t>But </a:t>
            </a:r>
            <a:r>
              <a:rPr lang="en-US" b="1" dirty="0"/>
              <a:t>theta</a:t>
            </a:r>
            <a:r>
              <a:rPr lang="en-US" dirty="0"/>
              <a:t> can be changed as you wish from </a:t>
            </a:r>
            <a:r>
              <a:rPr lang="en-US" b="1" dirty="0"/>
              <a:t>zero to pi</a:t>
            </a:r>
            <a:r>
              <a:rPr lang="en-US" dirty="0"/>
              <a:t>, that is, </a:t>
            </a:r>
            <a:r>
              <a:rPr lang="en-US" b="1" dirty="0"/>
              <a:t>zero to one hundred eighty degrees</a:t>
            </a:r>
            <a:r>
              <a:rPr lang="en-US" dirty="0"/>
              <a:t>. So you get a line for </a:t>
            </a:r>
            <a:r>
              <a:rPr lang="en-US" b="1" dirty="0"/>
              <a:t>theta equals zero</a:t>
            </a:r>
            <a:r>
              <a:rPr lang="en-US" dirty="0"/>
              <a:t>, a line for </a:t>
            </a:r>
            <a:r>
              <a:rPr lang="en-US" b="1" dirty="0"/>
              <a:t>theta equals fifteen degrees</a:t>
            </a:r>
            <a:r>
              <a:rPr lang="en-US" dirty="0"/>
              <a:t>, a line for </a:t>
            </a:r>
            <a:r>
              <a:rPr lang="en-US" b="1" dirty="0"/>
              <a:t>theta equals eighty degrees</a:t>
            </a:r>
            <a:r>
              <a:rPr lang="en-US" dirty="0"/>
              <a:t>, and a line for </a:t>
            </a:r>
            <a:r>
              <a:rPr lang="en-US" b="1" dirty="0"/>
              <a:t>theta equals one hundred seventy degrees</a:t>
            </a:r>
            <a:r>
              <a:rPr lang="en-US" dirty="0"/>
              <a:t>, for example. When </a:t>
            </a:r>
            <a:r>
              <a:rPr lang="en-US" b="1" dirty="0"/>
              <a:t>theta</a:t>
            </a:r>
            <a:r>
              <a:rPr lang="en-US" dirty="0"/>
              <a:t> changes from </a:t>
            </a:r>
            <a:r>
              <a:rPr lang="en-US" b="1" dirty="0"/>
              <a:t>zero to one hundred eighty degrees</a:t>
            </a:r>
            <a:r>
              <a:rPr lang="en-US" dirty="0"/>
              <a:t>, all these </a:t>
            </a:r>
            <a:r>
              <a:rPr lang="en-US" b="1" dirty="0"/>
              <a:t>radial lines</a:t>
            </a:r>
            <a:r>
              <a:rPr lang="en-US" dirty="0"/>
              <a:t> will fully cover the Fourier space </a:t>
            </a:r>
            <a:r>
              <a:rPr lang="en-US" b="1" dirty="0"/>
              <a:t>u, v</a:t>
            </a:r>
            <a:r>
              <a:rPr lang="en-US" dirty="0"/>
              <a:t>. All the values are measured this way.</a:t>
            </a:r>
          </a:p>
          <a:p>
            <a:endParaRPr lang="en-US" dirty="0"/>
          </a:p>
          <a:p>
            <a:r>
              <a:rPr lang="en-US" dirty="0"/>
              <a:t>When you know </a:t>
            </a:r>
            <a:r>
              <a:rPr lang="en-US" b="1" dirty="0"/>
              <a:t>f of u, v</a:t>
            </a:r>
            <a:r>
              <a:rPr lang="en-US" dirty="0"/>
              <a:t> completely, you perform the </a:t>
            </a:r>
            <a:r>
              <a:rPr lang="en-US" b="1" dirty="0"/>
              <a:t>inverse Fourier transform</a:t>
            </a:r>
            <a:r>
              <a:rPr lang="en-US" dirty="0"/>
              <a:t> and recover </a:t>
            </a:r>
            <a:r>
              <a:rPr lang="en-US" b="1" dirty="0"/>
              <a:t>f of x, y</a:t>
            </a:r>
            <a:r>
              <a:rPr lang="en-US" dirty="0"/>
              <a:t>. So the </a:t>
            </a:r>
            <a:r>
              <a:rPr lang="en-US" b="1" dirty="0"/>
              <a:t>analytic process</a:t>
            </a:r>
            <a:r>
              <a:rPr lang="en-US" dirty="0"/>
              <a:t> here is completed using the Fourier transform, particularly in the form of the </a:t>
            </a:r>
            <a:r>
              <a:rPr lang="en-US" b="1" dirty="0"/>
              <a:t>Fourier slice theorem</a:t>
            </a:r>
            <a:r>
              <a:rPr lang="en-US" dirty="0"/>
              <a:t>. This is a </a:t>
            </a:r>
            <a:r>
              <a:rPr lang="en-US" b="1" dirty="0"/>
              <a:t>Fourier imaging</a:t>
            </a:r>
            <a:r>
              <a:rPr lang="en-US" dirty="0"/>
              <a:t> example: we explain measured data </a:t>
            </a:r>
            <a:r>
              <a:rPr lang="en-US" b="1" dirty="0"/>
              <a:t>in the Fourier space</a:t>
            </a:r>
            <a:r>
              <a:rPr lang="en-US" dirty="0"/>
              <a:t>. We try to </a:t>
            </a:r>
            <a:r>
              <a:rPr lang="en-US" b="1" dirty="0"/>
              <a:t>fill the Fourier space completely</a:t>
            </a:r>
            <a:r>
              <a:rPr lang="en-US" dirty="0"/>
              <a:t>, and then we can perform image reconstruction.</a:t>
            </a:r>
          </a:p>
          <a:p>
            <a:r>
              <a:rPr lang="en-US" dirty="0"/>
              <a:t>This is just a little more specialized idea of how you use the Fourier transform to do </a:t>
            </a:r>
            <a:r>
              <a:rPr lang="en-US" b="1" dirty="0"/>
              <a:t>CT reconstruction</a:t>
            </a:r>
            <a:r>
              <a:rPr lang="en-US" dirty="0"/>
              <a:t>.</a:t>
            </a:r>
            <a:br>
              <a:rPr lang="en-US" dirty="0"/>
            </a:br>
            <a:endParaRPr lang="en-US" dirty="0"/>
          </a:p>
          <a:p>
            <a:r>
              <a:rPr lang="en-US" dirty="0"/>
              <a:t>Okay.</a:t>
            </a:r>
          </a:p>
          <a:p>
            <a:r>
              <a:rPr lang="en-US" dirty="0"/>
              <a:t>So let me go a step deeper. This is the general idea. First, I explained the general idea, then I explained the </a:t>
            </a:r>
            <a:r>
              <a:rPr lang="en-US" b="1" dirty="0"/>
              <a:t>Fourier slice theorem</a:t>
            </a:r>
            <a:r>
              <a:rPr lang="en-US" dirty="0"/>
              <a:t>, a little more specifically.</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26</a:t>
            </a:fld>
            <a:endParaRPr lang="en-US"/>
          </a:p>
        </p:txBody>
      </p:sp>
    </p:spTree>
    <p:extLst>
      <p:ext uri="{BB962C8B-B14F-4D97-AF65-F5344CB8AC3E}">
        <p14:creationId xmlns:p14="http://schemas.microsoft.com/office/powerpoint/2010/main" val="303197397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Now let’s go even deeper and give a specific algorithm called </a:t>
            </a:r>
            <a:r>
              <a:rPr lang="en-US" b="1" dirty="0"/>
              <a:t>filtered </a:t>
            </a:r>
            <a:r>
              <a:rPr lang="en-US" b="1" dirty="0" err="1"/>
              <a:t>backprojection</a:t>
            </a:r>
            <a:r>
              <a:rPr lang="en-US" dirty="0"/>
              <a:t>. This is nothing but the </a:t>
            </a:r>
            <a:r>
              <a:rPr lang="en-US" b="1" dirty="0"/>
              <a:t>inverse Fourier transform</a:t>
            </a:r>
            <a:r>
              <a:rPr lang="en-US" dirty="0"/>
              <a:t>, not in the rectangular coordinate system, but in the </a:t>
            </a:r>
            <a:r>
              <a:rPr lang="en-US" b="1" dirty="0"/>
              <a:t>polar</a:t>
            </a:r>
            <a:r>
              <a:rPr lang="en-US" dirty="0"/>
              <a:t> coordinate system, because we keep changing </a:t>
            </a:r>
            <a:r>
              <a:rPr lang="en-US" b="1" dirty="0"/>
              <a:t>theta</a:t>
            </a:r>
            <a:r>
              <a:rPr lang="en-US" dirty="0"/>
              <a:t>. So we should represent the inverse Fourier transform in polar coordinates, so that what you measure in polar coordinates fits directly into the formula.</a:t>
            </a:r>
          </a:p>
          <a:p>
            <a:endParaRPr lang="en-US" dirty="0"/>
          </a:p>
          <a:p>
            <a:r>
              <a:rPr lang="en-US" dirty="0"/>
              <a:t>Let me go through the mathematical steps. This is the </a:t>
            </a:r>
            <a:r>
              <a:rPr lang="en-US" b="1" dirty="0"/>
              <a:t>inverse two-dimensional Fourier transform</a:t>
            </a:r>
            <a:r>
              <a:rPr lang="en-US" dirty="0"/>
              <a:t>. If you know the two-dimensional Fourier spectrum, </a:t>
            </a:r>
            <a:r>
              <a:rPr lang="en-US" b="1" dirty="0"/>
              <a:t>capital F of u, v</a:t>
            </a:r>
            <a:r>
              <a:rPr lang="en-US" dirty="0"/>
              <a:t>, you perform the inverse transform, and you get </a:t>
            </a:r>
            <a:r>
              <a:rPr lang="en-US" b="1" dirty="0"/>
              <a:t>f of x, y</a:t>
            </a:r>
            <a:r>
              <a:rPr lang="en-US" dirty="0"/>
              <a:t>.</a:t>
            </a:r>
          </a:p>
          <a:p>
            <a:r>
              <a:rPr lang="en-US" dirty="0"/>
              <a:t>My motivation is to use </a:t>
            </a:r>
            <a:r>
              <a:rPr lang="en-US" b="1" dirty="0"/>
              <a:t>polar coordinates</a:t>
            </a:r>
            <a:r>
              <a:rPr lang="en-US" dirty="0"/>
              <a:t>. In polar coordinates, you have </a:t>
            </a:r>
            <a:r>
              <a:rPr lang="en-US" b="1" dirty="0"/>
              <a:t>radial lines</a:t>
            </a:r>
            <a:r>
              <a:rPr lang="en-US" dirty="0"/>
              <a:t> in the Fourier space. That radial variable is </a:t>
            </a:r>
            <a:r>
              <a:rPr lang="en-US" b="1" dirty="0"/>
              <a:t>W</a:t>
            </a:r>
            <a:r>
              <a:rPr lang="en-US" dirty="0"/>
              <a:t>—this is really the </a:t>
            </a:r>
            <a:r>
              <a:rPr lang="en-US" b="1" dirty="0"/>
              <a:t>rho</a:t>
            </a:r>
            <a:r>
              <a:rPr lang="en-US" dirty="0"/>
              <a:t> I showed you before—and the polar angle is </a:t>
            </a:r>
            <a:r>
              <a:rPr lang="en-US" b="1" dirty="0"/>
              <a:t>theta</a:t>
            </a:r>
            <a:r>
              <a:rPr lang="en-US" dirty="0"/>
              <a:t>. So</a:t>
            </a:r>
            <a:br>
              <a:rPr lang="en-US" dirty="0"/>
            </a:br>
            <a:r>
              <a:rPr lang="en-US" b="1" dirty="0"/>
              <a:t>u equals W times cosine theta</a:t>
            </a:r>
            <a:r>
              <a:rPr lang="en-US" dirty="0"/>
              <a:t>, and </a:t>
            </a:r>
            <a:r>
              <a:rPr lang="en-US" b="1" dirty="0"/>
              <a:t>v equals W times sine theta</a:t>
            </a:r>
            <a:r>
              <a:rPr lang="en-US" dirty="0"/>
              <a:t>. That is the polar-to-rectangular coordinate transformation.</a:t>
            </a:r>
          </a:p>
          <a:p>
            <a:endParaRPr lang="en-US" dirty="0"/>
          </a:p>
          <a:p>
            <a:r>
              <a:rPr lang="en-US" dirty="0"/>
              <a:t>For </a:t>
            </a:r>
            <a:r>
              <a:rPr lang="en-US" b="1" dirty="0"/>
              <a:t>d u d v</a:t>
            </a:r>
            <a:r>
              <a:rPr lang="en-US" dirty="0"/>
              <a:t>, the small differential area element, in polar coordinates, you need </a:t>
            </a:r>
            <a:r>
              <a:rPr lang="en-US" b="1" dirty="0"/>
              <a:t>W </a:t>
            </a:r>
            <a:r>
              <a:rPr lang="en-US" b="1" dirty="0" err="1"/>
              <a:t>dW</a:t>
            </a:r>
            <a:r>
              <a:rPr lang="en-US" b="1" dirty="0"/>
              <a:t> d theta</a:t>
            </a:r>
            <a:r>
              <a:rPr lang="en-US" dirty="0"/>
              <a:t>. The small area element </a:t>
            </a:r>
            <a:r>
              <a:rPr lang="en-US" b="1" dirty="0"/>
              <a:t>d u d v</a:t>
            </a:r>
            <a:r>
              <a:rPr lang="en-US" dirty="0"/>
              <a:t> becomes </a:t>
            </a:r>
            <a:r>
              <a:rPr lang="en-US" b="1" dirty="0"/>
              <a:t>W </a:t>
            </a:r>
            <a:r>
              <a:rPr lang="en-US" b="1" dirty="0" err="1"/>
              <a:t>dW</a:t>
            </a:r>
            <a:r>
              <a:rPr lang="en-US" b="1" dirty="0"/>
              <a:t> d theta</a:t>
            </a:r>
            <a:r>
              <a:rPr lang="en-US" dirty="0"/>
              <a:t> in polar form. Here, </a:t>
            </a:r>
            <a:r>
              <a:rPr lang="en-US" b="1" dirty="0"/>
              <a:t>W</a:t>
            </a:r>
            <a:r>
              <a:rPr lang="en-US" dirty="0"/>
              <a:t> is the radius. A small angle </a:t>
            </a:r>
            <a:r>
              <a:rPr lang="en-US" b="1" dirty="0"/>
              <a:t>d theta</a:t>
            </a:r>
            <a:r>
              <a:rPr lang="en-US" dirty="0"/>
              <a:t> gives an arc length </a:t>
            </a:r>
            <a:r>
              <a:rPr lang="en-US" b="1" dirty="0"/>
              <a:t>W d theta</a:t>
            </a:r>
            <a:r>
              <a:rPr lang="en-US" dirty="0"/>
              <a:t>. A small radial increment </a:t>
            </a:r>
            <a:r>
              <a:rPr lang="en-US" b="1" dirty="0" err="1"/>
              <a:t>dW</a:t>
            </a:r>
            <a:r>
              <a:rPr lang="en-US" dirty="0"/>
              <a:t> gives the thickness. Multiply them together and you get the small area element. This is just your calculus: </a:t>
            </a:r>
            <a:r>
              <a:rPr lang="en-US" b="1" dirty="0"/>
              <a:t>W </a:t>
            </a:r>
            <a:r>
              <a:rPr lang="en-US" b="1" dirty="0" err="1"/>
              <a:t>dW</a:t>
            </a:r>
            <a:r>
              <a:rPr lang="en-US" b="1" dirty="0"/>
              <a:t> d theta</a:t>
            </a:r>
            <a:r>
              <a:rPr lang="en-US" dirty="0"/>
              <a:t>.</a:t>
            </a:r>
          </a:p>
        </p:txBody>
      </p:sp>
      <p:sp>
        <p:nvSpPr>
          <p:cNvPr id="4" name="Slide Number Placeholder 3"/>
          <p:cNvSpPr>
            <a:spLocks noGrp="1"/>
          </p:cNvSpPr>
          <p:nvPr>
            <p:ph type="sldNum" sz="quarter" idx="5"/>
          </p:nvPr>
        </p:nvSpPr>
        <p:spPr/>
        <p:txBody>
          <a:bodyPr/>
          <a:lstStyle/>
          <a:p>
            <a:fld id="{9F30534E-9FB8-46AE-8E3B-5675B268AE6A}" type="slidenum">
              <a:rPr lang="en-US" smtClean="0"/>
              <a:pPr/>
              <a:t>27</a:t>
            </a:fld>
            <a:endParaRPr lang="en-US"/>
          </a:p>
        </p:txBody>
      </p:sp>
    </p:spTree>
    <p:extLst>
      <p:ext uri="{BB962C8B-B14F-4D97-AF65-F5344CB8AC3E}">
        <p14:creationId xmlns:p14="http://schemas.microsoft.com/office/powerpoint/2010/main" val="260791682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So you put the </a:t>
            </a:r>
            <a:r>
              <a:rPr lang="en-US" b="1" dirty="0"/>
              <a:t>inverse Fourier transform</a:t>
            </a:r>
            <a:r>
              <a:rPr lang="en-US" dirty="0"/>
              <a:t> in terms of the </a:t>
            </a:r>
            <a:r>
              <a:rPr lang="en-US" b="1" dirty="0"/>
              <a:t>polar coordinate system</a:t>
            </a:r>
            <a:r>
              <a:rPr lang="en-US" dirty="0"/>
              <a:t>. In polar coordinates, the </a:t>
            </a:r>
            <a:r>
              <a:rPr lang="en-US" b="1" dirty="0"/>
              <a:t>angle theta</a:t>
            </a:r>
            <a:r>
              <a:rPr lang="en-US" dirty="0"/>
              <a:t> goes a full circle, and the </a:t>
            </a:r>
            <a:r>
              <a:rPr lang="en-US" b="1" dirty="0"/>
              <a:t>radius W</a:t>
            </a:r>
            <a:r>
              <a:rPr lang="en-US" dirty="0"/>
              <a:t> goes from </a:t>
            </a:r>
            <a:r>
              <a:rPr lang="en-US" b="1" dirty="0"/>
              <a:t>zero at the origin</a:t>
            </a:r>
            <a:r>
              <a:rPr lang="en-US" dirty="0"/>
              <a:t> all the way to </a:t>
            </a:r>
            <a:r>
              <a:rPr lang="en-US" b="1" dirty="0"/>
              <a:t>infinity</a:t>
            </a:r>
            <a:r>
              <a:rPr lang="en-US" dirty="0"/>
              <a:t>. That covers the full space.</a:t>
            </a:r>
          </a:p>
          <a:p>
            <a:endParaRPr lang="en-US" dirty="0"/>
          </a:p>
          <a:p>
            <a:r>
              <a:rPr lang="en-US" dirty="0"/>
              <a:t>Then we do a little trick. We </a:t>
            </a:r>
            <a:r>
              <a:rPr lang="en-US" b="1" dirty="0"/>
              <a:t>decompose the full circle</a:t>
            </a:r>
            <a:r>
              <a:rPr lang="en-US" dirty="0"/>
              <a:t> into </a:t>
            </a:r>
            <a:r>
              <a:rPr lang="en-US" b="1" dirty="0"/>
              <a:t>two half-scans</a:t>
            </a:r>
            <a:r>
              <a:rPr lang="en-US" dirty="0"/>
              <a:t>: from </a:t>
            </a:r>
            <a:r>
              <a:rPr lang="en-US" b="1" dirty="0"/>
              <a:t>zero to pi</a:t>
            </a:r>
            <a:r>
              <a:rPr lang="en-US" dirty="0"/>
              <a:t>, and from </a:t>
            </a:r>
            <a:r>
              <a:rPr lang="en-US" b="1" dirty="0"/>
              <a:t>pi to two pi</a:t>
            </a:r>
            <a:r>
              <a:rPr lang="en-US" dirty="0"/>
              <a:t>. For the second part, I write </a:t>
            </a:r>
            <a:r>
              <a:rPr lang="en-US" b="1" dirty="0"/>
              <a:t>theta plus pi</a:t>
            </a:r>
            <a:r>
              <a:rPr lang="en-US" dirty="0"/>
              <a:t> instead of just </a:t>
            </a:r>
            <a:r>
              <a:rPr lang="en-US" b="1" dirty="0"/>
              <a:t>theta</a:t>
            </a:r>
            <a:r>
              <a:rPr lang="en-US" dirty="0"/>
              <a:t>. That is why the interval </a:t>
            </a:r>
            <a:r>
              <a:rPr lang="en-US" b="1" dirty="0"/>
              <a:t>from pi to two pi</a:t>
            </a:r>
            <a:r>
              <a:rPr lang="en-US" dirty="0"/>
              <a:t> becomes </a:t>
            </a:r>
            <a:r>
              <a:rPr lang="en-US" b="1" dirty="0"/>
              <a:t>zero to pi</a:t>
            </a:r>
            <a:r>
              <a:rPr lang="en-US" dirty="0"/>
              <a:t> after the change of variables. So you get this form.</a:t>
            </a:r>
          </a:p>
          <a:p>
            <a:endParaRPr lang="en-US" dirty="0"/>
          </a:p>
          <a:p>
            <a:r>
              <a:rPr lang="en-US" dirty="0"/>
              <a:t>For </a:t>
            </a:r>
            <a:r>
              <a:rPr lang="en-US" b="1" dirty="0"/>
              <a:t>parallel-beam geometry</a:t>
            </a:r>
            <a:r>
              <a:rPr lang="en-US" dirty="0"/>
              <a:t>, the angular range </a:t>
            </a:r>
            <a:r>
              <a:rPr lang="en-US" b="1" dirty="0"/>
              <a:t>of zero to one hundred eighty degrees</a:t>
            </a:r>
            <a:r>
              <a:rPr lang="en-US" dirty="0"/>
              <a:t> is </a:t>
            </a:r>
            <a:r>
              <a:rPr lang="en-US" b="1" dirty="0"/>
              <a:t>enough</a:t>
            </a:r>
            <a:r>
              <a:rPr lang="en-US" dirty="0"/>
              <a:t>. If you scan from </a:t>
            </a:r>
            <a:r>
              <a:rPr lang="en-US" b="1" dirty="0"/>
              <a:t>zero to three hundred sixty degrees</a:t>
            </a:r>
            <a:r>
              <a:rPr lang="en-US" dirty="0"/>
              <a:t>, you simply </a:t>
            </a:r>
            <a:r>
              <a:rPr lang="en-US" b="1" dirty="0"/>
              <a:t>double the information</a:t>
            </a:r>
            <a:r>
              <a:rPr lang="en-US" dirty="0"/>
              <a:t>; you really need only </a:t>
            </a:r>
            <a:r>
              <a:rPr lang="en-US" b="1" dirty="0"/>
              <a:t>half</a:t>
            </a:r>
            <a:r>
              <a:rPr lang="en-US" dirty="0"/>
              <a:t> of it.</a:t>
            </a:r>
          </a:p>
          <a:p>
            <a:r>
              <a:rPr lang="en-US" dirty="0"/>
              <a:t>Mathematically, we handle this by changing </a:t>
            </a:r>
            <a:r>
              <a:rPr lang="en-US" b="1" dirty="0"/>
              <a:t>the capital F of W, theta, plus one hundred eighty degrees</a:t>
            </a:r>
            <a:r>
              <a:rPr lang="en-US" dirty="0"/>
              <a:t> back to a function of </a:t>
            </a:r>
            <a:r>
              <a:rPr lang="en-US" b="1" dirty="0"/>
              <a:t>theta</a:t>
            </a:r>
            <a:r>
              <a:rPr lang="en-US" dirty="0"/>
              <a:t>. Use the identities </a:t>
            </a:r>
            <a:r>
              <a:rPr lang="en-US" b="1" dirty="0"/>
              <a:t>cosine of theta plus pi equals minus cosine theta</a:t>
            </a:r>
            <a:r>
              <a:rPr lang="en-US" dirty="0"/>
              <a:t>, and </a:t>
            </a:r>
            <a:r>
              <a:rPr lang="en-US" b="1" dirty="0"/>
              <a:t>sine of theta plus pi equals minus sine theta</a:t>
            </a:r>
            <a:r>
              <a:rPr lang="en-US" dirty="0"/>
              <a:t>.</a:t>
            </a:r>
          </a:p>
        </p:txBody>
      </p:sp>
      <p:sp>
        <p:nvSpPr>
          <p:cNvPr id="4" name="Slide Number Placeholder 3"/>
          <p:cNvSpPr>
            <a:spLocks noGrp="1"/>
          </p:cNvSpPr>
          <p:nvPr>
            <p:ph type="sldNum" sz="quarter" idx="5"/>
          </p:nvPr>
        </p:nvSpPr>
        <p:spPr/>
        <p:txBody>
          <a:bodyPr/>
          <a:lstStyle/>
          <a:p>
            <a:fld id="{9F30534E-9FB8-46AE-8E3B-5675B268AE6A}" type="slidenum">
              <a:rPr lang="en-US" smtClean="0"/>
              <a:pPr/>
              <a:t>28</a:t>
            </a:fld>
            <a:endParaRPr lang="en-US"/>
          </a:p>
        </p:txBody>
      </p:sp>
    </p:spTree>
    <p:extLst>
      <p:ext uri="{BB962C8B-B14F-4D97-AF65-F5344CB8AC3E}">
        <p14:creationId xmlns:p14="http://schemas.microsoft.com/office/powerpoint/2010/main" val="59993202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Taking all these trivial transformations, here is the property we use and can easily verify in Fourier analysis: when the angle shifts by one hundred eighty degrees, you keep the same angle but reverse the sign of w. With this, you only need the angular range from zero to pi.</a:t>
            </a:r>
          </a:p>
          <a:p>
            <a:endParaRPr lang="en-US" dirty="0"/>
          </a:p>
          <a:p>
            <a:r>
              <a:rPr lang="en-US" dirty="0"/>
              <a:t>Next, change W to minus W. Then the radial limit from zero to infinity becomes zero to minus infinity. Swap the limits, and the inner integral runs from minus infinity to plus infinity. Put everything together and you have:</a:t>
            </a:r>
          </a:p>
          <a:p>
            <a:br>
              <a:rPr lang="en-US" dirty="0"/>
            </a:br>
            <a:r>
              <a:rPr lang="en-US" dirty="0"/>
              <a:t>“</a:t>
            </a:r>
            <a:r>
              <a:rPr lang="en-US" b="1" dirty="0"/>
              <a:t>f at x, y equals the integral from theta equals zero to pi, integral from w equals minus infinity to infinity, S theta of w times absolute value of w times e to the j two pi w t d w, d theta; with t equals x cosine theta plus y sine theta.</a:t>
            </a:r>
            <a:r>
              <a:rPr lang="en-US" dirty="0"/>
              <a:t>”</a:t>
            </a:r>
          </a:p>
          <a:p>
            <a:r>
              <a:rPr lang="en-US" dirty="0"/>
              <a:t>Where </a:t>
            </a:r>
            <a:r>
              <a:rPr lang="en-US" b="1" dirty="0"/>
              <a:t>t equals x cosine theta plus y sine theta.</a:t>
            </a:r>
            <a:endParaRPr lang="en-US" dirty="0"/>
          </a:p>
          <a:p>
            <a:r>
              <a:rPr lang="en-US" dirty="0"/>
              <a:t>All these are just mathematical details—if you get lost, review and you will be able to follow. The key point is that we end up with this formula. This formula is what we call </a:t>
            </a:r>
            <a:r>
              <a:rPr lang="en-US" b="1" dirty="0"/>
              <a:t>filtered </a:t>
            </a:r>
            <a:r>
              <a:rPr lang="en-US" b="1" dirty="0" err="1"/>
              <a:t>backprojection</a:t>
            </a:r>
            <a:r>
              <a:rPr lang="en-US" dirty="0"/>
              <a:t>. If you got lost somewhere, it is not critical; you can review. But trust me for now—through these steps, you get this result. This is filtered </a:t>
            </a:r>
            <a:r>
              <a:rPr lang="en-US" dirty="0" err="1"/>
              <a:t>backprojection</a:t>
            </a:r>
            <a:r>
              <a:rPr lang="en-US" dirty="0"/>
              <a:t>.</a:t>
            </a:r>
          </a:p>
          <a:p>
            <a:endParaRPr lang="en-US" dirty="0"/>
          </a:p>
          <a:p>
            <a:r>
              <a:rPr lang="en-US" dirty="0"/>
              <a:t>Why “filtered”? Because here you see </a:t>
            </a:r>
            <a:r>
              <a:rPr lang="en-US" b="1" dirty="0"/>
              <a:t>S of w</a:t>
            </a:r>
            <a:r>
              <a:rPr lang="en-US" dirty="0"/>
              <a:t>—the one-dimensional Fourier spectrum along the radial line—and it is multiplied by </a:t>
            </a:r>
            <a:r>
              <a:rPr lang="en-US" b="1" dirty="0"/>
              <a:t>the absolute value of w</a:t>
            </a:r>
            <a:r>
              <a:rPr lang="en-US" dirty="0"/>
              <a:t>. If you performed the inverse Fourier transform </a:t>
            </a:r>
            <a:r>
              <a:rPr lang="en-US" b="1" dirty="0"/>
              <a:t>without</a:t>
            </a:r>
            <a:r>
              <a:rPr lang="en-US" dirty="0"/>
              <a:t> the absolute value of w, you would go back to the </a:t>
            </a:r>
            <a:r>
              <a:rPr lang="en-US" b="1" dirty="0"/>
              <a:t>original projection profile</a:t>
            </a:r>
            <a:r>
              <a:rPr lang="en-US" dirty="0"/>
              <a:t>, the one-dimensional signal you measured. But with the additional factor absolute value of w, the original Fourier spectrum is </a:t>
            </a:r>
            <a:r>
              <a:rPr lang="en-US" b="1" dirty="0"/>
              <a:t>modified</a:t>
            </a:r>
            <a:r>
              <a:rPr lang="en-US" dirty="0"/>
              <a:t>.</a:t>
            </a:r>
          </a:p>
          <a:p>
            <a:r>
              <a:rPr lang="en-US" dirty="0"/>
              <a:t>When </a:t>
            </a:r>
            <a:r>
              <a:rPr lang="en-US" b="1" dirty="0"/>
              <a:t>w</a:t>
            </a:r>
            <a:r>
              <a:rPr lang="en-US" dirty="0"/>
              <a:t> is small—near the origin—low-frequency components are weighted small. When </a:t>
            </a:r>
            <a:r>
              <a:rPr lang="en-US" b="1" dirty="0"/>
              <a:t>w</a:t>
            </a:r>
            <a:r>
              <a:rPr lang="en-US" dirty="0"/>
              <a:t> is large—at high frequency—the weighting is large. So </a:t>
            </a:r>
            <a:r>
              <a:rPr lang="en-US" b="1" dirty="0"/>
              <a:t>S of w times absolute value of w</a:t>
            </a:r>
            <a:r>
              <a:rPr lang="en-US" dirty="0"/>
              <a:t> is a </a:t>
            </a:r>
            <a:r>
              <a:rPr lang="en-US" b="1" dirty="0"/>
              <a:t>high-pass filtering</a:t>
            </a:r>
            <a:r>
              <a:rPr lang="en-US" dirty="0"/>
              <a:t>: the high-frequency components are elevated in proportion to absolute value of w. After this spectral modification, you perform the </a:t>
            </a:r>
            <a:r>
              <a:rPr lang="en-US" b="1" dirty="0"/>
              <a:t>inverse Fourier transform</a:t>
            </a:r>
            <a:r>
              <a:rPr lang="en-US" dirty="0"/>
              <a:t> and go back to the projection domain. Because of the high-frequency enhancement, this inverse transform is no longer the original projection profile. Instead, it is a </a:t>
            </a:r>
            <a:r>
              <a:rPr lang="en-US" b="1" dirty="0"/>
              <a:t>modified, high-pass-filtered projection profile</a:t>
            </a:r>
            <a:r>
              <a:rPr lang="en-US" dirty="0"/>
              <a:t>. It is </a:t>
            </a:r>
            <a:r>
              <a:rPr lang="en-US" b="1" dirty="0"/>
              <a:t>not p theta of t</a:t>
            </a:r>
            <a:r>
              <a:rPr lang="en-US" dirty="0"/>
              <a:t> anymore; it is </a:t>
            </a:r>
            <a:r>
              <a:rPr lang="en-US" b="1" dirty="0"/>
              <a:t>q theta of t</a:t>
            </a:r>
            <a:r>
              <a:rPr lang="en-US" dirty="0"/>
              <a:t>, the filtered projection profile. That is why we call it </a:t>
            </a:r>
            <a:r>
              <a:rPr lang="en-US" b="1" dirty="0"/>
              <a:t>filtered</a:t>
            </a:r>
            <a:r>
              <a:rPr lang="en-US" dirty="0"/>
              <a:t>.</a:t>
            </a:r>
          </a:p>
          <a:p>
            <a:endParaRPr lang="en-US" dirty="0"/>
          </a:p>
          <a:p>
            <a:r>
              <a:rPr lang="en-US" dirty="0"/>
              <a:t>What do I mean by </a:t>
            </a:r>
            <a:r>
              <a:rPr lang="en-US" b="1" dirty="0" err="1"/>
              <a:t>backprojection</a:t>
            </a:r>
            <a:r>
              <a:rPr lang="en-US" dirty="0"/>
              <a:t>? </a:t>
            </a:r>
          </a:p>
          <a:p>
            <a:r>
              <a:rPr lang="en-US" dirty="0"/>
              <a:t>You </a:t>
            </a:r>
            <a:r>
              <a:rPr lang="en-US" b="1" dirty="0"/>
              <a:t>filter first</a:t>
            </a:r>
            <a:r>
              <a:rPr lang="en-US" dirty="0"/>
              <a:t>—this one-dimensional filtration—and then you </a:t>
            </a:r>
            <a:r>
              <a:rPr lang="en-US" b="1" dirty="0"/>
              <a:t>put the filtered values back</a:t>
            </a:r>
            <a:r>
              <a:rPr lang="en-US" dirty="0"/>
              <a:t> into the field of view. According to the argument </a:t>
            </a:r>
            <a:r>
              <a:rPr lang="en-US" b="1" dirty="0"/>
              <a:t>t equals x cosine theta plus y sine theta</a:t>
            </a:r>
            <a:r>
              <a:rPr lang="en-US" dirty="0"/>
              <a:t>, for any </a:t>
            </a:r>
            <a:r>
              <a:rPr lang="en-US" b="1" dirty="0"/>
              <a:t>x, y</a:t>
            </a:r>
            <a:r>
              <a:rPr lang="en-US" dirty="0"/>
              <a:t> you retrieve the value </a:t>
            </a:r>
            <a:r>
              <a:rPr lang="en-US" b="1" dirty="0"/>
              <a:t>q theta of t</a:t>
            </a:r>
            <a:r>
              <a:rPr lang="en-US" dirty="0"/>
              <a:t> from your filtered projection profile and </a:t>
            </a:r>
            <a:r>
              <a:rPr lang="en-US" b="1" dirty="0"/>
              <a:t>accumulate it back over angles</a:t>
            </a:r>
            <a:r>
              <a:rPr lang="en-US" dirty="0"/>
              <a:t>. That step is the </a:t>
            </a:r>
            <a:r>
              <a:rPr lang="en-US" b="1" dirty="0" err="1"/>
              <a:t>backprojection</a:t>
            </a:r>
            <a:r>
              <a:rPr lang="en-US" dirty="0"/>
              <a:t> process. “Filtration” may be clear; “</a:t>
            </a:r>
            <a:r>
              <a:rPr lang="en-US" dirty="0" err="1"/>
              <a:t>backprojection</a:t>
            </a:r>
            <a:r>
              <a:rPr lang="en-US" dirty="0"/>
              <a:t>” can feel a little confusing, but it simply means </a:t>
            </a:r>
            <a:r>
              <a:rPr lang="en-US" b="1" dirty="0"/>
              <a:t>smearing the filtered profile back across the image along the corresponding rays</a:t>
            </a:r>
            <a:r>
              <a:rPr lang="en-US" dirty="0"/>
              <a:t>.</a:t>
            </a:r>
          </a:p>
        </p:txBody>
      </p:sp>
      <p:sp>
        <p:nvSpPr>
          <p:cNvPr id="4" name="Slide Number Placeholder 3"/>
          <p:cNvSpPr>
            <a:spLocks noGrp="1"/>
          </p:cNvSpPr>
          <p:nvPr>
            <p:ph type="sldNum" sz="quarter" idx="5"/>
          </p:nvPr>
        </p:nvSpPr>
        <p:spPr/>
        <p:txBody>
          <a:bodyPr/>
          <a:lstStyle/>
          <a:p>
            <a:fld id="{9F30534E-9FB8-46AE-8E3B-5675B268AE6A}" type="slidenum">
              <a:rPr lang="en-US" smtClean="0"/>
              <a:pPr/>
              <a:t>29</a:t>
            </a:fld>
            <a:endParaRPr lang="en-US"/>
          </a:p>
        </p:txBody>
      </p:sp>
    </p:spTree>
    <p:extLst>
      <p:ext uri="{BB962C8B-B14F-4D97-AF65-F5344CB8AC3E}">
        <p14:creationId xmlns:p14="http://schemas.microsoft.com/office/powerpoint/2010/main" val="60617696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So here we have this picture. The </a:t>
            </a:r>
            <a:r>
              <a:rPr lang="en-US" dirty="0" err="1"/>
              <a:t>backprojection</a:t>
            </a:r>
            <a:r>
              <a:rPr lang="en-US" dirty="0"/>
              <a:t> is visualized. This is the </a:t>
            </a:r>
            <a:r>
              <a:rPr lang="en-US" b="1" dirty="0"/>
              <a:t>projection profile after filtration</a:t>
            </a:r>
            <a:r>
              <a:rPr lang="en-US" dirty="0"/>
              <a:t>, so it is a </a:t>
            </a:r>
            <a:r>
              <a:rPr lang="en-US" b="1" dirty="0"/>
              <a:t>filtered projection profile</a:t>
            </a:r>
            <a:r>
              <a:rPr lang="en-US" dirty="0"/>
              <a:t>. This filtered projection profile, </a:t>
            </a:r>
            <a:r>
              <a:rPr lang="en-US" b="1" dirty="0"/>
              <a:t>Q theta </a:t>
            </a:r>
            <a:r>
              <a:rPr lang="en-US" b="1" dirty="0" err="1"/>
              <a:t>i</a:t>
            </a:r>
            <a:r>
              <a:rPr lang="en-US" b="1" dirty="0"/>
              <a:t> of t</a:t>
            </a:r>
            <a:r>
              <a:rPr lang="en-US" dirty="0"/>
              <a:t>, is really </a:t>
            </a:r>
            <a:r>
              <a:rPr lang="en-US" b="1" dirty="0"/>
              <a:t>smeared back over the field of view</a:t>
            </a:r>
            <a:r>
              <a:rPr lang="en-US" dirty="0"/>
              <a:t>. Think of this projection profile as being smeared back from this particular direction. You have many filtered projection profiles; you </a:t>
            </a:r>
            <a:r>
              <a:rPr lang="en-US" b="1" dirty="0"/>
              <a:t>sweep all of them</a:t>
            </a:r>
            <a:r>
              <a:rPr lang="en-US" dirty="0"/>
              <a:t> and </a:t>
            </a:r>
            <a:r>
              <a:rPr lang="en-US" b="1" dirty="0"/>
              <a:t>smear them back</a:t>
            </a:r>
            <a:r>
              <a:rPr lang="en-US" dirty="0"/>
              <a:t> over the field of view. </a:t>
            </a:r>
            <a:r>
              <a:rPr lang="en-US" b="1" dirty="0"/>
              <a:t>Add them together</a:t>
            </a:r>
            <a:r>
              <a:rPr lang="en-US" dirty="0"/>
              <a:t> to get the result.</a:t>
            </a:r>
          </a:p>
          <a:p>
            <a:endParaRPr lang="en-US" dirty="0"/>
          </a:p>
          <a:p>
            <a:r>
              <a:rPr lang="en-US" dirty="0"/>
              <a:t>For a given </a:t>
            </a:r>
            <a:r>
              <a:rPr lang="en-US" b="1" dirty="0"/>
              <a:t>x, y</a:t>
            </a:r>
            <a:r>
              <a:rPr lang="en-US" dirty="0"/>
              <a:t>, what is the contribution from a given </a:t>
            </a:r>
            <a:r>
              <a:rPr lang="en-US" b="1" dirty="0"/>
              <a:t>Q theta</a:t>
            </a:r>
            <a:r>
              <a:rPr lang="en-US" dirty="0"/>
              <a:t>? That is the question I want to explain. Suppose </a:t>
            </a:r>
            <a:r>
              <a:rPr lang="en-US" b="1" dirty="0"/>
              <a:t>x, y</a:t>
            </a:r>
            <a:r>
              <a:rPr lang="en-US" dirty="0"/>
              <a:t> is here. For this </a:t>
            </a:r>
            <a:r>
              <a:rPr lang="en-US" b="1" dirty="0"/>
              <a:t>x, y</a:t>
            </a:r>
            <a:r>
              <a:rPr lang="en-US" dirty="0"/>
              <a:t>—the point in image space—how much contribution do we get from a particular filtered projection profile, here </a:t>
            </a:r>
            <a:r>
              <a:rPr lang="en-US" b="1" dirty="0"/>
              <a:t>Q theta </a:t>
            </a:r>
            <a:r>
              <a:rPr lang="en-US" b="1" dirty="0" err="1"/>
              <a:t>i</a:t>
            </a:r>
            <a:r>
              <a:rPr lang="en-US" dirty="0"/>
              <a:t>? You do this </a:t>
            </a:r>
            <a:r>
              <a:rPr lang="en-US" b="1" dirty="0"/>
              <a:t>inner product</a:t>
            </a:r>
            <a:r>
              <a:rPr lang="en-US" dirty="0"/>
              <a:t>: you get </a:t>
            </a:r>
            <a:r>
              <a:rPr lang="en-US" b="1" dirty="0"/>
              <a:t>t</a:t>
            </a:r>
            <a:r>
              <a:rPr lang="en-US" dirty="0"/>
              <a:t>. Spoken clearly: </a:t>
            </a:r>
            <a:r>
              <a:rPr lang="en-US" b="1" dirty="0"/>
              <a:t>t equals x cosine theta </a:t>
            </a:r>
            <a:r>
              <a:rPr lang="en-US" b="1" dirty="0" err="1"/>
              <a:t>i</a:t>
            </a:r>
            <a:r>
              <a:rPr lang="en-US" b="1" dirty="0"/>
              <a:t> plus y sine theta </a:t>
            </a:r>
            <a:r>
              <a:rPr lang="en-US" b="1" dirty="0" err="1"/>
              <a:t>i</a:t>
            </a:r>
            <a:r>
              <a:rPr lang="en-US" dirty="0"/>
              <a:t>. That </a:t>
            </a:r>
            <a:r>
              <a:rPr lang="en-US" b="1" dirty="0"/>
              <a:t>t</a:t>
            </a:r>
            <a:r>
              <a:rPr lang="en-US" dirty="0"/>
              <a:t> is the </a:t>
            </a:r>
            <a:r>
              <a:rPr lang="en-US" b="1" dirty="0"/>
              <a:t>distance</a:t>
            </a:r>
            <a:r>
              <a:rPr lang="en-US" dirty="0"/>
              <a:t> between this line and the central line, both perpendicular to this direction, making an angle </a:t>
            </a:r>
            <a:r>
              <a:rPr lang="en-US" b="1" dirty="0"/>
              <a:t>theta </a:t>
            </a:r>
            <a:r>
              <a:rPr lang="en-US" b="1" dirty="0" err="1"/>
              <a:t>i</a:t>
            </a:r>
            <a:r>
              <a:rPr lang="en-US" dirty="0"/>
              <a:t>. For </a:t>
            </a:r>
            <a:r>
              <a:rPr lang="en-US" b="1" dirty="0"/>
              <a:t>any</a:t>
            </a:r>
            <a:r>
              <a:rPr lang="en-US" dirty="0"/>
              <a:t> point along this line, the inner product gives the </a:t>
            </a:r>
            <a:r>
              <a:rPr lang="en-US" b="1" dirty="0"/>
              <a:t>same t</a:t>
            </a:r>
            <a:r>
              <a:rPr lang="en-US" dirty="0"/>
              <a:t>. So, as long as the pixel is </a:t>
            </a:r>
            <a:r>
              <a:rPr lang="en-US" b="1" dirty="0"/>
              <a:t>on this line</a:t>
            </a:r>
            <a:r>
              <a:rPr lang="en-US" dirty="0"/>
              <a:t> at distance </a:t>
            </a:r>
            <a:r>
              <a:rPr lang="en-US" b="1" dirty="0"/>
              <a:t>t</a:t>
            </a:r>
            <a:r>
              <a:rPr lang="en-US" dirty="0"/>
              <a:t>, you </a:t>
            </a:r>
            <a:r>
              <a:rPr lang="en-US" b="1" dirty="0"/>
              <a:t>retrieve this value</a:t>
            </a:r>
            <a:r>
              <a:rPr lang="en-US" dirty="0"/>
              <a:t> from the filtered projection profile. For all points on this line, </a:t>
            </a:r>
            <a:r>
              <a:rPr lang="en-US" b="1" dirty="0"/>
              <a:t>t</a:t>
            </a:r>
            <a:r>
              <a:rPr lang="en-US" dirty="0"/>
              <a:t> is the same. You compute </a:t>
            </a:r>
            <a:r>
              <a:rPr lang="en-US" b="1" dirty="0"/>
              <a:t>t</a:t>
            </a:r>
            <a:r>
              <a:rPr lang="en-US" dirty="0"/>
              <a:t>, you get the value, and you </a:t>
            </a:r>
            <a:r>
              <a:rPr lang="en-US" b="1" dirty="0"/>
              <a:t>put that value back</a:t>
            </a:r>
            <a:r>
              <a:rPr lang="en-US" dirty="0"/>
              <a:t> for any </a:t>
            </a:r>
            <a:r>
              <a:rPr lang="en-US" b="1" dirty="0"/>
              <a:t>x, y</a:t>
            </a:r>
            <a:r>
              <a:rPr lang="en-US" dirty="0"/>
              <a:t> on this line. That value is the same here, here, and here—all along the line. If that value is </a:t>
            </a:r>
            <a:r>
              <a:rPr lang="en-US" b="1" dirty="0"/>
              <a:t>one</a:t>
            </a:r>
            <a:r>
              <a:rPr lang="en-US" dirty="0"/>
              <a:t>, then along that line </a:t>
            </a:r>
            <a:r>
              <a:rPr lang="en-US" b="1" dirty="0"/>
              <a:t>every point</a:t>
            </a:r>
            <a:r>
              <a:rPr lang="en-US" dirty="0"/>
              <a:t> gets </a:t>
            </a:r>
            <a:r>
              <a:rPr lang="en-US" b="1" dirty="0"/>
              <a:t>one</a:t>
            </a:r>
            <a:r>
              <a:rPr lang="en-US" dirty="0"/>
              <a:t>. This is what I call </a:t>
            </a:r>
            <a:r>
              <a:rPr lang="en-US" b="1" dirty="0"/>
              <a:t>smearing back</a:t>
            </a:r>
            <a:r>
              <a:rPr lang="en-US" dirty="0"/>
              <a:t>.</a:t>
            </a:r>
          </a:p>
          <a:p>
            <a:endParaRPr lang="en-US" dirty="0"/>
          </a:p>
          <a:p>
            <a:r>
              <a:rPr lang="en-US" dirty="0"/>
              <a:t>That was for this </a:t>
            </a:r>
            <a:r>
              <a:rPr lang="en-US" b="1" dirty="0"/>
              <a:t>theta</a:t>
            </a:r>
            <a:r>
              <a:rPr lang="en-US" dirty="0"/>
              <a:t>, </a:t>
            </a:r>
            <a:r>
              <a:rPr lang="en-US" b="1" dirty="0"/>
              <a:t>theta </a:t>
            </a:r>
            <a:r>
              <a:rPr lang="en-US" b="1" dirty="0" err="1"/>
              <a:t>i</a:t>
            </a:r>
            <a:r>
              <a:rPr lang="en-US" dirty="0"/>
              <a:t>. For another angle, you smear back in a different way. The process is </a:t>
            </a:r>
            <a:r>
              <a:rPr lang="en-US" b="1" dirty="0"/>
              <a:t>linear</a:t>
            </a:r>
            <a:r>
              <a:rPr lang="en-US" dirty="0"/>
              <a:t>—the integral means </a:t>
            </a:r>
            <a:r>
              <a:rPr lang="en-US" b="1" dirty="0"/>
              <a:t>summation</a:t>
            </a:r>
            <a:r>
              <a:rPr lang="en-US" dirty="0"/>
              <a:t>. For each </a:t>
            </a:r>
            <a:r>
              <a:rPr lang="en-US" b="1" dirty="0"/>
              <a:t>theta</a:t>
            </a:r>
            <a:r>
              <a:rPr lang="en-US" dirty="0"/>
              <a:t>, you </a:t>
            </a:r>
            <a:r>
              <a:rPr lang="en-US" b="1" dirty="0"/>
              <a:t>retrieve</a:t>
            </a:r>
            <a:r>
              <a:rPr lang="en-US" dirty="0"/>
              <a:t> the value from </a:t>
            </a:r>
            <a:r>
              <a:rPr lang="en-US" b="1" dirty="0"/>
              <a:t>Q theta</a:t>
            </a:r>
            <a:r>
              <a:rPr lang="en-US" dirty="0"/>
              <a:t>, then </a:t>
            </a:r>
            <a:r>
              <a:rPr lang="en-US" b="1" dirty="0"/>
              <a:t>add it back</a:t>
            </a:r>
            <a:r>
              <a:rPr lang="en-US" dirty="0"/>
              <a:t> to the particular point </a:t>
            </a:r>
            <a:r>
              <a:rPr lang="en-US" b="1" dirty="0"/>
              <a:t>x, y</a:t>
            </a:r>
            <a:r>
              <a:rPr lang="en-US" dirty="0"/>
              <a:t>. For another angle you do the same. You can view it like this: from this filtered projection profile, you get the value here; along a different direction, another projection profile gives you another value through that same point </a:t>
            </a:r>
            <a:r>
              <a:rPr lang="en-US" b="1" dirty="0"/>
              <a:t>x, y</a:t>
            </a:r>
            <a:r>
              <a:rPr lang="en-US" dirty="0"/>
              <a:t>. So, heuristically, from the </a:t>
            </a:r>
            <a:r>
              <a:rPr lang="en-US" b="1" dirty="0"/>
              <a:t>filtered projection domain</a:t>
            </a:r>
            <a:r>
              <a:rPr lang="en-US" dirty="0"/>
              <a:t>, </a:t>
            </a:r>
            <a:r>
              <a:rPr lang="en-US" b="1" dirty="0"/>
              <a:t>any profile</a:t>
            </a:r>
            <a:r>
              <a:rPr lang="en-US" dirty="0"/>
              <a:t> is smeared back </a:t>
            </a:r>
            <a:r>
              <a:rPr lang="en-US" b="1" dirty="0"/>
              <a:t>uniformly</a:t>
            </a:r>
            <a:r>
              <a:rPr lang="en-US" dirty="0"/>
              <a:t>, its value covering all points along its line. </a:t>
            </a:r>
            <a:r>
              <a:rPr lang="en-US" b="1" dirty="0"/>
              <a:t>All projection angles</a:t>
            </a:r>
            <a:r>
              <a:rPr lang="en-US" dirty="0"/>
              <a:t> are added in the same way, and then you have the </a:t>
            </a:r>
            <a:r>
              <a:rPr lang="en-US" b="1" dirty="0"/>
              <a:t>image value recovered</a:t>
            </a:r>
            <a:r>
              <a:rPr lang="en-US" dirty="0"/>
              <a:t>. Think about that. I will show reconstructing examples in a few minutes, so you can get a better idea. </a:t>
            </a:r>
            <a:r>
              <a:rPr lang="en-US" b="1" dirty="0" err="1"/>
              <a:t>OKay</a:t>
            </a:r>
            <a:r>
              <a:rPr lang="en-US" b="1" dirty="0"/>
              <a:t>.</a:t>
            </a:r>
          </a:p>
          <a:p>
            <a:endParaRPr lang="en-US" dirty="0"/>
          </a:p>
          <a:p>
            <a:r>
              <a:rPr lang="en-US" dirty="0"/>
              <a:t>Now, several slides with </a:t>
            </a:r>
            <a:r>
              <a:rPr lang="en-US" b="1" dirty="0"/>
              <a:t>green buttons</a:t>
            </a:r>
            <a:r>
              <a:rPr lang="en-US" dirty="0"/>
              <a:t> are about the </a:t>
            </a:r>
            <a:r>
              <a:rPr lang="en-US" b="1" dirty="0"/>
              <a:t>reconstruction filter</a:t>
            </a:r>
            <a:r>
              <a:rPr lang="en-US" dirty="0"/>
              <a:t>. Here, the </a:t>
            </a:r>
            <a:r>
              <a:rPr lang="en-US" b="1" dirty="0"/>
              <a:t>reconstruction filter</a:t>
            </a:r>
            <a:r>
              <a:rPr lang="en-US" dirty="0"/>
              <a:t>—a </a:t>
            </a:r>
            <a:r>
              <a:rPr lang="en-US" b="1" dirty="0"/>
              <a:t>high-pass filter</a:t>
            </a:r>
            <a:r>
              <a:rPr lang="en-US" dirty="0"/>
              <a:t>—is </a:t>
            </a:r>
            <a:r>
              <a:rPr lang="en-US" b="1" dirty="0"/>
              <a:t>the absolute value of w</a:t>
            </a:r>
            <a:r>
              <a:rPr lang="en-US" dirty="0"/>
              <a:t>. This filter </a:t>
            </a:r>
            <a:r>
              <a:rPr lang="en-US" b="1" dirty="0"/>
              <a:t>does not</a:t>
            </a:r>
            <a:r>
              <a:rPr lang="en-US" dirty="0"/>
              <a:t> have an inverse Fourier transform by itself, because </a:t>
            </a:r>
            <a:r>
              <a:rPr lang="en-US" b="1" dirty="0"/>
              <a:t>the absolute value of w is not integrable</a:t>
            </a:r>
            <a:r>
              <a:rPr lang="en-US" dirty="0"/>
              <a:t>. However, we can introduce a </a:t>
            </a:r>
            <a:r>
              <a:rPr lang="en-US" b="1" dirty="0"/>
              <a:t>band-limited</a:t>
            </a:r>
            <a:r>
              <a:rPr lang="en-US" dirty="0"/>
              <a:t> assumption: for a given projection profile, you have a </a:t>
            </a:r>
            <a:r>
              <a:rPr lang="en-US" b="1" dirty="0"/>
              <a:t>maximum frequency</a:t>
            </a:r>
            <a:r>
              <a:rPr lang="en-US" dirty="0"/>
              <a:t>, a </a:t>
            </a:r>
            <a:r>
              <a:rPr lang="en-US" b="1" dirty="0"/>
              <a:t>maximum bandwidth W</a:t>
            </a:r>
            <a:r>
              <a:rPr lang="en-US" dirty="0"/>
              <a:t>.</a:t>
            </a:r>
          </a:p>
          <a:p>
            <a:endParaRPr lang="en-US" dirty="0"/>
          </a:p>
          <a:p>
            <a:r>
              <a:rPr lang="en-US" dirty="0"/>
              <a:t>So the </a:t>
            </a:r>
            <a:r>
              <a:rPr lang="en-US" b="1" dirty="0"/>
              <a:t>filtration</a:t>
            </a:r>
            <a:r>
              <a:rPr lang="en-US" dirty="0"/>
              <a:t> really needs to be done with this </a:t>
            </a:r>
            <a:r>
              <a:rPr lang="en-US" b="1" dirty="0"/>
              <a:t>truncated filter</a:t>
            </a:r>
            <a:r>
              <a:rPr lang="en-US" dirty="0"/>
              <a:t>. In the original Fourier space, the ideal is </a:t>
            </a:r>
            <a:r>
              <a:rPr lang="en-US" b="1" dirty="0"/>
              <a:t>the absolute value of omega</a:t>
            </a:r>
            <a:r>
              <a:rPr lang="en-US" dirty="0"/>
              <a:t> extending to infinity. We assume a maximum bandwidth </a:t>
            </a:r>
            <a:r>
              <a:rPr lang="en-US" b="1" dirty="0"/>
              <a:t>capital W</a:t>
            </a:r>
            <a:r>
              <a:rPr lang="en-US" dirty="0"/>
              <a:t>; outside that, nothing is meaningful for the data. With this window, the spectrum becomes </a:t>
            </a:r>
            <a:r>
              <a:rPr lang="en-US" b="1" dirty="0"/>
              <a:t>integrable</a:t>
            </a:r>
            <a:r>
              <a:rPr lang="en-US" dirty="0"/>
              <a:t>. You </a:t>
            </a:r>
            <a:r>
              <a:rPr lang="en-US" b="1" dirty="0"/>
              <a:t>truncate</a:t>
            </a:r>
            <a:r>
              <a:rPr lang="en-US" dirty="0"/>
              <a:t> the otherwise divergent high-pass filter, then perform the </a:t>
            </a:r>
            <a:r>
              <a:rPr lang="en-US" b="1" dirty="0"/>
              <a:t>inverse transform</a:t>
            </a:r>
            <a:r>
              <a:rPr lang="en-US" dirty="0"/>
              <a:t> with respect to this truncated version, </a:t>
            </a:r>
            <a:r>
              <a:rPr lang="en-US" b="1" dirty="0"/>
              <a:t>H of omega</a:t>
            </a:r>
            <a:r>
              <a:rPr lang="en-US" dirty="0"/>
              <a:t>. You compute the inverse Fourier transform as the </a:t>
            </a:r>
            <a:r>
              <a:rPr lang="en-US" b="1" dirty="0"/>
              <a:t>spatial-domain counterpart</a:t>
            </a:r>
            <a:r>
              <a:rPr lang="en-US" dirty="0"/>
              <a:t> of the high-pass filter. You do the computation, and you get this part.</a:t>
            </a:r>
          </a:p>
        </p:txBody>
      </p:sp>
      <p:sp>
        <p:nvSpPr>
          <p:cNvPr id="4" name="Slide Number Placeholder 3"/>
          <p:cNvSpPr>
            <a:spLocks noGrp="1"/>
          </p:cNvSpPr>
          <p:nvPr>
            <p:ph type="sldNum" sz="quarter" idx="5"/>
          </p:nvPr>
        </p:nvSpPr>
        <p:spPr/>
        <p:txBody>
          <a:bodyPr/>
          <a:lstStyle/>
          <a:p>
            <a:fld id="{9F30534E-9FB8-46AE-8E3B-5675B268AE6A}" type="slidenum">
              <a:rPr lang="en-US" smtClean="0"/>
              <a:pPr/>
              <a:t>30</a:t>
            </a:fld>
            <a:endParaRPr lang="en-US"/>
          </a:p>
        </p:txBody>
      </p:sp>
    </p:spTree>
    <p:extLst>
      <p:ext uri="{BB962C8B-B14F-4D97-AF65-F5344CB8AC3E}">
        <p14:creationId xmlns:p14="http://schemas.microsoft.com/office/powerpoint/2010/main" val="257124335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Now we assume </a:t>
            </a:r>
            <a:r>
              <a:rPr lang="en-US" b="1" dirty="0"/>
              <a:t>capital W</a:t>
            </a:r>
            <a:r>
              <a:rPr lang="en-US" dirty="0"/>
              <a:t> is the </a:t>
            </a:r>
            <a:r>
              <a:rPr lang="en-US" b="1" dirty="0"/>
              <a:t>maximum bandwidth</a:t>
            </a:r>
            <a:r>
              <a:rPr lang="en-US" dirty="0"/>
              <a:t>. Because of that, we can use the </a:t>
            </a:r>
            <a:r>
              <a:rPr lang="en-US" b="1" dirty="0"/>
              <a:t>sampling theorem</a:t>
            </a:r>
            <a:r>
              <a:rPr lang="en-US" dirty="0"/>
              <a:t>. The projection profile can be expressed through the sampling kernel in terms of </a:t>
            </a:r>
            <a:r>
              <a:rPr lang="en-US" b="1" dirty="0"/>
              <a:t>discrete sampling points</a:t>
            </a:r>
            <a:r>
              <a:rPr lang="en-US" dirty="0"/>
              <a:t> </a:t>
            </a:r>
            <a:r>
              <a:rPr lang="en-US" b="1" dirty="0"/>
              <a:t>P theta at k tau</a:t>
            </a:r>
            <a:r>
              <a:rPr lang="en-US" dirty="0"/>
              <a:t>—where </a:t>
            </a:r>
            <a:r>
              <a:rPr lang="en-US" b="1" dirty="0"/>
              <a:t>tau</a:t>
            </a:r>
            <a:r>
              <a:rPr lang="en-US" dirty="0"/>
              <a:t> is the sampling step. </a:t>
            </a:r>
          </a:p>
          <a:p>
            <a:endParaRPr lang="en-US" dirty="0"/>
          </a:p>
          <a:p>
            <a:r>
              <a:rPr lang="en-US" dirty="0"/>
              <a:t>Likewise, the </a:t>
            </a:r>
            <a:r>
              <a:rPr lang="en-US" b="1" dirty="0"/>
              <a:t>filtering kernel</a:t>
            </a:r>
            <a:r>
              <a:rPr lang="en-US" dirty="0"/>
              <a:t>, under the assumption of limited bandwidth </a:t>
            </a:r>
            <a:r>
              <a:rPr lang="en-US" b="1" dirty="0"/>
              <a:t>capital W</a:t>
            </a:r>
            <a:r>
              <a:rPr lang="en-US" dirty="0"/>
              <a:t>, can be expressed in terms of </a:t>
            </a:r>
            <a:r>
              <a:rPr lang="en-US" b="1" dirty="0"/>
              <a:t>sampled values</a:t>
            </a:r>
            <a:r>
              <a:rPr lang="en-US" dirty="0"/>
              <a:t>. So you get these two equations.</a:t>
            </a:r>
          </a:p>
        </p:txBody>
      </p:sp>
      <p:sp>
        <p:nvSpPr>
          <p:cNvPr id="4" name="Slide Number Placeholder 3"/>
          <p:cNvSpPr>
            <a:spLocks noGrp="1"/>
          </p:cNvSpPr>
          <p:nvPr>
            <p:ph type="sldNum" sz="quarter" idx="5"/>
          </p:nvPr>
        </p:nvSpPr>
        <p:spPr/>
        <p:txBody>
          <a:bodyPr/>
          <a:lstStyle/>
          <a:p>
            <a:fld id="{9F30534E-9FB8-46AE-8E3B-5675B268AE6A}" type="slidenum">
              <a:rPr lang="en-US" smtClean="0"/>
              <a:pPr/>
              <a:t>31</a:t>
            </a:fld>
            <a:endParaRPr lang="en-US"/>
          </a:p>
        </p:txBody>
      </p:sp>
    </p:spTree>
    <p:extLst>
      <p:ext uri="{BB962C8B-B14F-4D97-AF65-F5344CB8AC3E}">
        <p14:creationId xmlns:p14="http://schemas.microsoft.com/office/powerpoint/2010/main" val="210543325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So the continuous-domain expression can be expressed in terms of </a:t>
            </a:r>
            <a:r>
              <a:rPr lang="en-US" b="1" dirty="0"/>
              <a:t>discrete data points</a:t>
            </a:r>
            <a:r>
              <a:rPr lang="en-US" dirty="0"/>
              <a:t>. You get the </a:t>
            </a:r>
            <a:r>
              <a:rPr lang="en-US" b="1" dirty="0"/>
              <a:t>filtered projection profile</a:t>
            </a:r>
            <a:r>
              <a:rPr lang="en-US" dirty="0"/>
              <a:t> in terms of sampled data points. This is the </a:t>
            </a:r>
            <a:r>
              <a:rPr lang="en-US" b="1" dirty="0"/>
              <a:t>band-limited high-pass filtering</a:t>
            </a:r>
            <a:r>
              <a:rPr lang="en-US" dirty="0"/>
              <a:t>. </a:t>
            </a:r>
          </a:p>
          <a:p>
            <a:endParaRPr lang="en-US" dirty="0"/>
          </a:p>
          <a:p>
            <a:r>
              <a:rPr lang="en-US" dirty="0"/>
              <a:t>You can read more if you are interested, but anyway, these are </a:t>
            </a:r>
            <a:r>
              <a:rPr lang="en-US" b="1" dirty="0"/>
              <a:t>practical implementation details</a:t>
            </a:r>
            <a:r>
              <a:rPr lang="en-US" dirty="0"/>
              <a:t> about high-pass filtering for </a:t>
            </a:r>
            <a:r>
              <a:rPr lang="en-US" b="1" dirty="0"/>
              <a:t>filtered </a:t>
            </a:r>
            <a:r>
              <a:rPr lang="en-US" b="1" dirty="0" err="1"/>
              <a:t>backprojection</a:t>
            </a:r>
            <a:r>
              <a:rPr lang="en-US" dirty="0"/>
              <a:t>. What I have explained here is only the </a:t>
            </a:r>
            <a:r>
              <a:rPr lang="en-US" b="1" dirty="0"/>
              <a:t>two-dimensional case</a:t>
            </a:r>
            <a:r>
              <a:rPr lang="en-US" dirty="0"/>
              <a:t>.</a:t>
            </a:r>
          </a:p>
        </p:txBody>
      </p:sp>
      <p:sp>
        <p:nvSpPr>
          <p:cNvPr id="4" name="Slide Number Placeholder 3"/>
          <p:cNvSpPr>
            <a:spLocks noGrp="1"/>
          </p:cNvSpPr>
          <p:nvPr>
            <p:ph type="sldNum" sz="quarter" idx="5"/>
          </p:nvPr>
        </p:nvSpPr>
        <p:spPr/>
        <p:txBody>
          <a:bodyPr/>
          <a:lstStyle/>
          <a:p>
            <a:fld id="{9F30534E-9FB8-46AE-8E3B-5675B268AE6A}" type="slidenum">
              <a:rPr lang="en-US" smtClean="0"/>
              <a:pPr/>
              <a:t>32</a:t>
            </a:fld>
            <a:endParaRPr lang="en-US"/>
          </a:p>
        </p:txBody>
      </p:sp>
    </p:spTree>
    <p:extLst>
      <p:ext uri="{BB962C8B-B14F-4D97-AF65-F5344CB8AC3E}">
        <p14:creationId xmlns:p14="http://schemas.microsoft.com/office/powerpoint/2010/main" val="276252608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a:xfrm>
            <a:off x="1280160" y="3474720"/>
            <a:ext cx="7040880" cy="3291840"/>
          </a:xfrm>
          <a:prstGeom prst="rect">
            <a:avLst/>
          </a:prstGeom>
        </p:spPr>
        <p:txBody>
          <a:bodyPr/>
          <a:lstStyle/>
          <a:p>
            <a:r>
              <a:rPr lang="en-US" dirty="0"/>
              <a:t>And in the </a:t>
            </a:r>
            <a:r>
              <a:rPr lang="en-US" b="1" dirty="0"/>
              <a:t>three-dimensional</a:t>
            </a:r>
            <a:r>
              <a:rPr lang="en-US" dirty="0"/>
              <a:t> case, you have an </a:t>
            </a:r>
            <a:r>
              <a:rPr lang="en-US" b="1" dirty="0"/>
              <a:t>extended, higher-dimensional</a:t>
            </a:r>
            <a:r>
              <a:rPr lang="en-US" dirty="0"/>
              <a:t> version of the Fourier slice theorem. The mathematics is a little more complicated, but the </a:t>
            </a:r>
            <a:r>
              <a:rPr lang="en-US" b="1" dirty="0"/>
              <a:t>essential idea is still the same</a:t>
            </a:r>
            <a:r>
              <a:rPr lang="en-US" dirty="0"/>
              <a:t>.</a:t>
            </a:r>
          </a:p>
          <a:p>
            <a:endParaRPr lang="en-US" dirty="0"/>
          </a:p>
          <a:p>
            <a:r>
              <a:rPr lang="en-US" dirty="0"/>
              <a:t>You have a </a:t>
            </a:r>
            <a:r>
              <a:rPr lang="en-US" b="1" dirty="0"/>
              <a:t>3-D object</a:t>
            </a:r>
            <a:r>
              <a:rPr lang="en-US" dirty="0"/>
              <a:t>. You view it as a </a:t>
            </a:r>
            <a:r>
              <a:rPr lang="en-US" b="1" dirty="0"/>
              <a:t>superposition of 3-D waves</a:t>
            </a:r>
            <a:r>
              <a:rPr lang="en-US" dirty="0"/>
              <a:t>—not 2-D waves—with all kinds of orientations and frequencies. When you form a projection from </a:t>
            </a:r>
            <a:r>
              <a:rPr lang="en-US" b="1" dirty="0"/>
              <a:t>one direction</a:t>
            </a:r>
            <a:r>
              <a:rPr lang="en-US" dirty="0"/>
              <a:t> and superimpose contributions along that direction, you only get information for the </a:t>
            </a:r>
            <a:r>
              <a:rPr lang="en-US" b="1" dirty="0"/>
              <a:t>wave components whose directional vector and frequency components lie in the plane orthogonal to the projection direction</a:t>
            </a:r>
            <a:r>
              <a:rPr lang="en-US" dirty="0"/>
              <a:t>. </a:t>
            </a:r>
          </a:p>
          <a:p>
            <a:r>
              <a:rPr lang="en-US" dirty="0"/>
              <a:t>In other words, the </a:t>
            </a:r>
            <a:r>
              <a:rPr lang="en-US" b="1" dirty="0"/>
              <a:t>2-D Fourier transform of a 2-D projection</a:t>
            </a:r>
            <a:r>
              <a:rPr lang="en-US" dirty="0"/>
              <a:t> gives you a </a:t>
            </a:r>
            <a:r>
              <a:rPr lang="en-US" b="1" dirty="0"/>
              <a:t>central plane</a:t>
            </a:r>
            <a:r>
              <a:rPr lang="en-US" dirty="0"/>
              <a:t> through the </a:t>
            </a:r>
            <a:r>
              <a:rPr lang="en-US" b="1" dirty="0"/>
              <a:t>3-D Fourier transform</a:t>
            </a:r>
            <a:r>
              <a:rPr lang="en-US" dirty="0"/>
              <a:t> of the object, oriented </a:t>
            </a:r>
            <a:r>
              <a:rPr lang="en-US" b="1" dirty="0"/>
              <a:t>perpendicular</a:t>
            </a:r>
            <a:r>
              <a:rPr lang="en-US" dirty="0"/>
              <a:t> to the projection rays. This is really just the </a:t>
            </a:r>
            <a:r>
              <a:rPr lang="en-US" b="1" dirty="0"/>
              <a:t>extension of the 2-D Fourier slice theorem</a:t>
            </a:r>
            <a:r>
              <a:rPr lang="en-US" dirty="0"/>
              <a:t>.</a:t>
            </a:r>
          </a:p>
          <a:p>
            <a:endParaRPr lang="en-US" dirty="0"/>
          </a:p>
          <a:p>
            <a:r>
              <a:rPr lang="en-US" dirty="0"/>
              <a:t>I don’t want to confuse you too much—again, you see this nice </a:t>
            </a:r>
            <a:r>
              <a:rPr lang="en-US" b="1" dirty="0"/>
              <a:t>green button</a:t>
            </a:r>
            <a:r>
              <a:rPr lang="en-US" dirty="0"/>
              <a:t>.</a:t>
            </a:r>
          </a:p>
        </p:txBody>
      </p:sp>
    </p:spTree>
    <p:extLst>
      <p:ext uri="{BB962C8B-B14F-4D97-AF65-F5344CB8AC3E}">
        <p14:creationId xmlns:p14="http://schemas.microsoft.com/office/powerpoint/2010/main" val="382311383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So, analytic approach: we convert X-ray data into </a:t>
            </a:r>
            <a:r>
              <a:rPr lang="en-US" b="1" dirty="0"/>
              <a:t>Fourier space</a:t>
            </a:r>
            <a:r>
              <a:rPr lang="en-US" dirty="0"/>
              <a:t>—equivalently, we could work in </a:t>
            </a:r>
            <a:r>
              <a:rPr lang="en-US" b="1" dirty="0"/>
              <a:t>Radon space</a:t>
            </a:r>
            <a:r>
              <a:rPr lang="en-US" dirty="0"/>
              <a:t>—but here I explain the Fourier-space processing. We </a:t>
            </a:r>
            <a:r>
              <a:rPr lang="en-US" b="1" dirty="0"/>
              <a:t>invert</a:t>
            </a:r>
            <a:r>
              <a:rPr lang="en-US" dirty="0"/>
              <a:t> the Fourier-space transform according to a </a:t>
            </a:r>
            <a:r>
              <a:rPr lang="en-US" b="1" dirty="0"/>
              <a:t>closed-form formula</a:t>
            </a:r>
            <a:r>
              <a:rPr lang="en-US" dirty="0"/>
              <a:t>, like the one I derived. </a:t>
            </a:r>
            <a:r>
              <a:rPr lang="en-US" b="1" dirty="0"/>
              <a:t>Filtered </a:t>
            </a:r>
            <a:r>
              <a:rPr lang="en-US" b="1" dirty="0" err="1"/>
              <a:t>backprojection</a:t>
            </a:r>
            <a:r>
              <a:rPr lang="en-US" dirty="0"/>
              <a:t> is an analytic formula; you do not need iterative reconstruction.</a:t>
            </a:r>
          </a:p>
          <a:p>
            <a:endParaRPr lang="en-US" dirty="0"/>
          </a:p>
          <a:p>
            <a:r>
              <a:rPr lang="en-US" dirty="0"/>
              <a:t>In the reconstruction process, some </a:t>
            </a:r>
            <a:r>
              <a:rPr lang="en-US" b="1" dirty="0"/>
              <a:t>filtering</a:t>
            </a:r>
            <a:r>
              <a:rPr lang="en-US" dirty="0"/>
              <a:t> or </a:t>
            </a:r>
            <a:r>
              <a:rPr lang="en-US" b="1" dirty="0"/>
              <a:t>prior processing</a:t>
            </a:r>
            <a:r>
              <a:rPr lang="en-US" dirty="0"/>
              <a:t> steps may be used. An </a:t>
            </a:r>
            <a:r>
              <a:rPr lang="en-US" b="1" dirty="0"/>
              <a:t>iterative algorithm</a:t>
            </a:r>
            <a:r>
              <a:rPr lang="en-US" dirty="0"/>
              <a:t> is very useful when the data are </a:t>
            </a:r>
            <a:r>
              <a:rPr lang="en-US" b="1" dirty="0"/>
              <a:t>not complete—say,</a:t>
            </a:r>
            <a:r>
              <a:rPr lang="en-US" dirty="0"/>
              <a:t> some views are missing, projections are </a:t>
            </a:r>
            <a:r>
              <a:rPr lang="en-US" b="1" dirty="0"/>
              <a:t>blocked by metal</a:t>
            </a:r>
            <a:r>
              <a:rPr lang="en-US" dirty="0"/>
              <a:t>, or there are other </a:t>
            </a:r>
            <a:r>
              <a:rPr lang="en-US" b="1" dirty="0"/>
              <a:t>imperfections</a:t>
            </a:r>
            <a:r>
              <a:rPr lang="en-US" dirty="0"/>
              <a:t> in data acquisition. Analytic pros: you don’t need an iterative process; you have a formula—that’s nice. But it </a:t>
            </a:r>
            <a:r>
              <a:rPr lang="en-US" b="1" dirty="0"/>
              <a:t>assumes low noise and complete data</a:t>
            </a:r>
            <a:r>
              <a:rPr lang="en-US" dirty="0"/>
              <a:t>.</a:t>
            </a:r>
          </a:p>
          <a:p>
            <a:endParaRPr lang="en-US" dirty="0"/>
          </a:p>
          <a:p>
            <a:r>
              <a:rPr lang="en-US" dirty="0"/>
              <a:t>So the two approaches—</a:t>
            </a:r>
            <a:r>
              <a:rPr lang="en-US" b="1" dirty="0"/>
              <a:t>iterative</a:t>
            </a:r>
            <a:r>
              <a:rPr lang="en-US" dirty="0"/>
              <a:t> and </a:t>
            </a:r>
            <a:r>
              <a:rPr lang="en-US" b="1" dirty="0"/>
              <a:t>analytic</a:t>
            </a:r>
            <a:r>
              <a:rPr lang="en-US" dirty="0"/>
              <a:t>—have their </a:t>
            </a:r>
            <a:r>
              <a:rPr lang="en-US" b="1" dirty="0"/>
              <a:t>strengths and weaknesses</a:t>
            </a:r>
            <a:r>
              <a:rPr lang="en-US" dirty="0"/>
              <a:t>. Nowadays, </a:t>
            </a:r>
            <a:r>
              <a:rPr lang="en-US" b="1" dirty="0"/>
              <a:t>iterative methods</a:t>
            </a:r>
            <a:r>
              <a:rPr lang="en-US" dirty="0"/>
              <a:t> are often more popular when we need </a:t>
            </a:r>
            <a:r>
              <a:rPr lang="en-US" b="1" dirty="0"/>
              <a:t>low-dose reconstruction</a:t>
            </a:r>
            <a:r>
              <a:rPr lang="en-US" dirty="0"/>
              <a:t> or </a:t>
            </a:r>
            <a:r>
              <a:rPr lang="en-US" b="1" dirty="0"/>
              <a:t>a very short acquisition time</a:t>
            </a:r>
            <a:r>
              <a:rPr lang="en-US" dirty="0"/>
              <a:t>. And </a:t>
            </a:r>
            <a:r>
              <a:rPr lang="en-US" b="1" dirty="0"/>
              <a:t>filtered </a:t>
            </a:r>
            <a:r>
              <a:rPr lang="en-US" b="1" dirty="0" err="1"/>
              <a:t>backprojection</a:t>
            </a:r>
            <a:r>
              <a:rPr lang="en-US" dirty="0"/>
              <a:t>, as I explained here, is just the mathematical formulas plus the geometrical pictures I mentioned.</a:t>
            </a:r>
          </a:p>
        </p:txBody>
      </p:sp>
      <p:sp>
        <p:nvSpPr>
          <p:cNvPr id="4" name="Slide Number Placeholder 3"/>
          <p:cNvSpPr>
            <a:spLocks noGrp="1"/>
          </p:cNvSpPr>
          <p:nvPr>
            <p:ph type="sldNum" sz="quarter" idx="5"/>
          </p:nvPr>
        </p:nvSpPr>
        <p:spPr/>
        <p:txBody>
          <a:bodyPr/>
          <a:lstStyle/>
          <a:p>
            <a:fld id="{9F30534E-9FB8-46AE-8E3B-5675B268AE6A}" type="slidenum">
              <a:rPr lang="en-US" smtClean="0"/>
              <a:pPr/>
              <a:t>34</a:t>
            </a:fld>
            <a:endParaRPr lang="en-US"/>
          </a:p>
        </p:txBody>
      </p:sp>
    </p:spTree>
    <p:extLst>
      <p:ext uri="{BB962C8B-B14F-4D97-AF65-F5344CB8AC3E}">
        <p14:creationId xmlns:p14="http://schemas.microsoft.com/office/powerpoint/2010/main" val="344165433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Now I’m going to show you some </a:t>
            </a:r>
            <a:r>
              <a:rPr lang="en-US" b="1" dirty="0"/>
              <a:t>numerical examples </a:t>
            </a:r>
            <a:r>
              <a:rPr lang="en-US" b="0" dirty="0"/>
              <a:t>at the end </a:t>
            </a:r>
            <a:r>
              <a:rPr lang="en-US" dirty="0"/>
              <a:t>so you have a better understanding. </a:t>
            </a:r>
          </a:p>
          <a:p>
            <a:r>
              <a:rPr lang="en-US" dirty="0"/>
              <a:t>These examples let you see how what we learned works on real cases. After that, we’ll take a quick look at a few </a:t>
            </a:r>
            <a:r>
              <a:rPr lang="en-US" b="1" dirty="0"/>
              <a:t>clinical images</a:t>
            </a:r>
            <a:r>
              <a:rPr lang="en-US" dirty="0"/>
              <a:t>.</a:t>
            </a:r>
          </a:p>
        </p:txBody>
      </p:sp>
      <p:sp>
        <p:nvSpPr>
          <p:cNvPr id="4" name="Slide Number Placeholder 3"/>
          <p:cNvSpPr>
            <a:spLocks noGrp="1"/>
          </p:cNvSpPr>
          <p:nvPr>
            <p:ph type="sldNum" sz="quarter" idx="5"/>
          </p:nvPr>
        </p:nvSpPr>
        <p:spPr/>
        <p:txBody>
          <a:bodyPr/>
          <a:lstStyle/>
          <a:p>
            <a:fld id="{9F30534E-9FB8-46AE-8E3B-5675B268AE6A}" type="slidenum">
              <a:rPr lang="en-US" smtClean="0"/>
              <a:pPr/>
              <a:t>35</a:t>
            </a:fld>
            <a:endParaRPr lang="en-US"/>
          </a:p>
        </p:txBody>
      </p:sp>
    </p:spTree>
    <p:extLst>
      <p:ext uri="{BB962C8B-B14F-4D97-AF65-F5344CB8AC3E}">
        <p14:creationId xmlns:p14="http://schemas.microsoft.com/office/powerpoint/2010/main" val="391287986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a:xfrm>
            <a:off x="1280160" y="3474720"/>
            <a:ext cx="7040880" cy="3291840"/>
          </a:xfrm>
          <a:prstGeom prst="rect">
            <a:avLst/>
          </a:prstGeom>
        </p:spPr>
        <p:txBody>
          <a:bodyPr/>
          <a:lstStyle/>
          <a:p>
            <a:r>
              <a:rPr lang="en-US" dirty="0"/>
              <a:t>So the real example is a simple cross-section with a small bright disk. </a:t>
            </a:r>
          </a:p>
          <a:p>
            <a:endParaRPr lang="en-US" dirty="0"/>
          </a:p>
          <a:p>
            <a:r>
              <a:rPr lang="en-US" dirty="0"/>
              <a:t>You do </a:t>
            </a:r>
            <a:r>
              <a:rPr lang="en-US" b="1" dirty="0"/>
              <a:t>one-dimensional projection</a:t>
            </a:r>
            <a:r>
              <a:rPr lang="en-US" dirty="0"/>
              <a:t> data acquisition at an angle </a:t>
            </a:r>
            <a:r>
              <a:rPr lang="en-US" b="1" dirty="0"/>
              <a:t>theta</a:t>
            </a:r>
            <a:r>
              <a:rPr lang="en-US" dirty="0"/>
              <a:t>. You get this profile, and you see a </a:t>
            </a:r>
            <a:r>
              <a:rPr lang="en-US" b="1" dirty="0"/>
              <a:t>peak</a:t>
            </a:r>
            <a:r>
              <a:rPr lang="en-US" dirty="0"/>
              <a:t> due to the bright disk. This is at an angle </a:t>
            </a:r>
            <a:r>
              <a:rPr lang="en-US" b="1" dirty="0"/>
              <a:t>theta</a:t>
            </a:r>
            <a:r>
              <a:rPr lang="en-US" dirty="0"/>
              <a:t>. Theta can be changed from </a:t>
            </a:r>
            <a:r>
              <a:rPr lang="en-US" b="1" dirty="0"/>
              <a:t>zero degrees to pi</a:t>
            </a:r>
            <a:r>
              <a:rPr lang="en-US" dirty="0"/>
              <a:t>. As theta changes, the peak traces </a:t>
            </a:r>
            <a:r>
              <a:rPr lang="en-US" b="1" dirty="0"/>
              <a:t>half of a sinusoidal curve</a:t>
            </a:r>
            <a:r>
              <a:rPr lang="en-US" dirty="0"/>
              <a:t> in the sinogram. For this given view, the projection profile is here.</a:t>
            </a:r>
          </a:p>
          <a:p>
            <a:endParaRPr lang="en-US" dirty="0"/>
          </a:p>
          <a:p>
            <a:r>
              <a:rPr lang="en-US" dirty="0"/>
              <a:t>We have this example, but at </a:t>
            </a:r>
            <a:r>
              <a:rPr lang="en-US" b="1" dirty="0"/>
              <a:t>different elevations—that</a:t>
            </a:r>
            <a:r>
              <a:rPr lang="en-US" dirty="0"/>
              <a:t> is, at different theta angles—you have different data. So, if you do </a:t>
            </a:r>
            <a:r>
              <a:rPr lang="en-US" b="1" dirty="0" err="1"/>
              <a:t>backprojection</a:t>
            </a:r>
            <a:r>
              <a:rPr lang="en-US" dirty="0"/>
              <a:t>, what will happen? I explained a lot about </a:t>
            </a:r>
            <a:r>
              <a:rPr lang="en-US" dirty="0" err="1"/>
              <a:t>backprojection</a:t>
            </a:r>
            <a:r>
              <a:rPr lang="en-US" dirty="0"/>
              <a:t>: </a:t>
            </a:r>
            <a:r>
              <a:rPr lang="en-US" dirty="0" err="1"/>
              <a:t>backprojection</a:t>
            </a:r>
            <a:r>
              <a:rPr lang="en-US" dirty="0"/>
              <a:t> is the </a:t>
            </a:r>
            <a:r>
              <a:rPr lang="en-US" b="1" dirty="0"/>
              <a:t>filtered projection profile</a:t>
            </a:r>
            <a:r>
              <a:rPr lang="en-US" dirty="0"/>
              <a:t> smeared back over the field of view. Let me show you what happens. First, let’s not bother with any filtration. This is the projection profile, and I </a:t>
            </a:r>
            <a:r>
              <a:rPr lang="en-US" b="1" dirty="0" err="1"/>
              <a:t>backproject</a:t>
            </a:r>
            <a:r>
              <a:rPr lang="en-US" dirty="0"/>
              <a:t> it.</a:t>
            </a:r>
          </a:p>
        </p:txBody>
      </p:sp>
    </p:spTree>
    <p:extLst>
      <p:ext uri="{BB962C8B-B14F-4D97-AF65-F5344CB8AC3E}">
        <p14:creationId xmlns:p14="http://schemas.microsoft.com/office/powerpoint/2010/main" val="203237675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So this is the projection profile, something like this. You do </a:t>
            </a:r>
            <a:r>
              <a:rPr lang="en-US" b="1" dirty="0" err="1"/>
              <a:t>backprojection</a:t>
            </a:r>
            <a:r>
              <a:rPr lang="en-US" dirty="0"/>
              <a:t>—you smear the profile back along the original X-ray path over the field of view. The higher value here is put back, so along this line, the value is placed at every pixel on the line. Here, the value is a little low, so along this line, every point is a little dark. You find the pixels on that line, take the value, and smear it back.</a:t>
            </a:r>
          </a:p>
          <a:p>
            <a:endParaRPr lang="en-US" dirty="0"/>
          </a:p>
          <a:p>
            <a:r>
              <a:rPr lang="en-US" dirty="0"/>
              <a:t>This is from </a:t>
            </a:r>
            <a:r>
              <a:rPr lang="en-US" b="1" dirty="0"/>
              <a:t>one direction</a:t>
            </a:r>
            <a:r>
              <a:rPr lang="en-US" dirty="0"/>
              <a:t>. You do the same from </a:t>
            </a:r>
            <a:r>
              <a:rPr lang="en-US" b="1" dirty="0"/>
              <a:t>every direction</a:t>
            </a:r>
            <a:r>
              <a:rPr lang="en-US" dirty="0"/>
              <a:t>. The smear-back results are </a:t>
            </a:r>
            <a:r>
              <a:rPr lang="en-US" b="1" dirty="0"/>
              <a:t>added together</a:t>
            </a:r>
            <a:r>
              <a:rPr lang="en-US" dirty="0"/>
              <a:t>, because the integral with respect to d-theta is just a </a:t>
            </a:r>
            <a:r>
              <a:rPr lang="en-US" b="1" dirty="0"/>
              <a:t>summation</a:t>
            </a:r>
            <a:r>
              <a:rPr lang="en-US" dirty="0"/>
              <a:t>. You smear back one projection—you get a picture like this. You take another projection—you smear back the other way. You </a:t>
            </a:r>
            <a:r>
              <a:rPr lang="en-US" b="1" dirty="0"/>
              <a:t>add the two</a:t>
            </a:r>
            <a:r>
              <a:rPr lang="en-US" dirty="0"/>
              <a:t> together. Many projections add many contributions together.</a:t>
            </a:r>
          </a:p>
        </p:txBody>
      </p:sp>
      <p:sp>
        <p:nvSpPr>
          <p:cNvPr id="4" name="Slide Number Placeholder 3"/>
          <p:cNvSpPr>
            <a:spLocks noGrp="1"/>
          </p:cNvSpPr>
          <p:nvPr>
            <p:ph type="sldNum" sz="quarter" idx="5"/>
          </p:nvPr>
        </p:nvSpPr>
        <p:spPr/>
        <p:txBody>
          <a:bodyPr/>
          <a:lstStyle/>
          <a:p>
            <a:fld id="{9F30534E-9FB8-46AE-8E3B-5675B268AE6A}" type="slidenum">
              <a:rPr lang="en-US" smtClean="0"/>
              <a:pPr/>
              <a:t>37</a:t>
            </a:fld>
            <a:endParaRPr lang="en-US"/>
          </a:p>
        </p:txBody>
      </p:sp>
    </p:spTree>
    <p:extLst>
      <p:ext uri="{BB962C8B-B14F-4D97-AF65-F5344CB8AC3E}">
        <p14:creationId xmlns:p14="http://schemas.microsoft.com/office/powerpoint/2010/main" val="214145844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From one hundred eighty degrees, you add everything together. You get something not too much different from the truth, but it looks very blurred. You still see a region that is a little high, because this part of the projection is high. When you </a:t>
            </a:r>
            <a:r>
              <a:rPr lang="en-US" dirty="0" err="1"/>
              <a:t>backproject</a:t>
            </a:r>
            <a:r>
              <a:rPr lang="en-US" dirty="0"/>
              <a:t> along the original X-ray paths, that high value is placed along those lines.</a:t>
            </a:r>
          </a:p>
          <a:p>
            <a:endParaRPr lang="en-US" dirty="0"/>
          </a:p>
          <a:p>
            <a:r>
              <a:rPr lang="en-US" dirty="0"/>
              <a:t>However, there are artifacts. In the smearing-back process, a high value here gets spread to places that are not actually high in the object. </a:t>
            </a:r>
            <a:r>
              <a:rPr lang="en-US" dirty="0" err="1"/>
              <a:t>Backprojection</a:t>
            </a:r>
            <a:r>
              <a:rPr lang="en-US" dirty="0"/>
              <a:t> alone smears the high values around. So, simply collecting projections and doing </a:t>
            </a:r>
            <a:r>
              <a:rPr lang="en-US" dirty="0" err="1"/>
              <a:t>backprojection</a:t>
            </a:r>
            <a:r>
              <a:rPr lang="en-US" dirty="0"/>
              <a:t> is not enough to recover an accurate image. That is why we really need to </a:t>
            </a:r>
            <a:r>
              <a:rPr lang="en-US" b="1" dirty="0"/>
              <a:t>filter</a:t>
            </a:r>
            <a:r>
              <a:rPr lang="en-US" dirty="0"/>
              <a:t> the projections.</a:t>
            </a:r>
          </a:p>
        </p:txBody>
      </p:sp>
      <p:sp>
        <p:nvSpPr>
          <p:cNvPr id="4" name="Slide Number Placeholder 3"/>
          <p:cNvSpPr>
            <a:spLocks noGrp="1"/>
          </p:cNvSpPr>
          <p:nvPr>
            <p:ph type="sldNum" sz="quarter" idx="5"/>
          </p:nvPr>
        </p:nvSpPr>
        <p:spPr/>
        <p:txBody>
          <a:bodyPr/>
          <a:lstStyle/>
          <a:p>
            <a:fld id="{9F30534E-9FB8-46AE-8E3B-5675B268AE6A}" type="slidenum">
              <a:rPr lang="en-US" smtClean="0"/>
              <a:pPr/>
              <a:t>38</a:t>
            </a:fld>
            <a:endParaRPr lang="en-US"/>
          </a:p>
        </p:txBody>
      </p:sp>
    </p:spTree>
    <p:extLst>
      <p:ext uri="{BB962C8B-B14F-4D97-AF65-F5344CB8AC3E}">
        <p14:creationId xmlns:p14="http://schemas.microsoft.com/office/powerpoint/2010/main" val="384786255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So you have a projection profile. You don’t just smear it back. First, apply a high-pass filter with kernel H. After filtering, you get a high-pass-filtered projection profile, called P-prime of theta, t. </a:t>
            </a:r>
          </a:p>
          <a:p>
            <a:endParaRPr lang="en-US" dirty="0"/>
          </a:p>
          <a:p>
            <a:r>
              <a:rPr lang="en-US" dirty="0"/>
              <a:t>Then you perform </a:t>
            </a:r>
            <a:r>
              <a:rPr lang="en-US" dirty="0" err="1"/>
              <a:t>backprojection</a:t>
            </a:r>
            <a:r>
              <a:rPr lang="en-US" dirty="0"/>
              <a:t>. That’s filtered </a:t>
            </a:r>
            <a:r>
              <a:rPr lang="en-US" dirty="0" err="1"/>
              <a:t>backprojection</a:t>
            </a:r>
            <a:r>
              <a:rPr lang="en-US" dirty="0"/>
              <a:t>: filter each projection with H, and </a:t>
            </a:r>
            <a:r>
              <a:rPr lang="en-US" dirty="0" err="1"/>
              <a:t>backproject</a:t>
            </a:r>
            <a:r>
              <a:rPr lang="en-US" dirty="0"/>
              <a:t> every filtered projection profile.</a:t>
            </a:r>
          </a:p>
        </p:txBody>
      </p:sp>
      <p:sp>
        <p:nvSpPr>
          <p:cNvPr id="4" name="Slide Number Placeholder 3"/>
          <p:cNvSpPr>
            <a:spLocks noGrp="1"/>
          </p:cNvSpPr>
          <p:nvPr>
            <p:ph type="sldNum" sz="quarter" idx="5"/>
          </p:nvPr>
        </p:nvSpPr>
        <p:spPr/>
        <p:txBody>
          <a:bodyPr/>
          <a:lstStyle/>
          <a:p>
            <a:fld id="{9F30534E-9FB8-46AE-8E3B-5675B268AE6A}" type="slidenum">
              <a:rPr lang="en-US" smtClean="0"/>
              <a:pPr/>
              <a:t>39</a:t>
            </a:fld>
            <a:endParaRPr lang="en-US"/>
          </a:p>
        </p:txBody>
      </p:sp>
    </p:spTree>
    <p:extLst>
      <p:ext uri="{BB962C8B-B14F-4D97-AF65-F5344CB8AC3E}">
        <p14:creationId xmlns:p14="http://schemas.microsoft.com/office/powerpoint/2010/main" val="376549021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This is the sinogram. The filtering is one-dimensional along the horizontal direction, so a high-pass filter emphasizes edges. </a:t>
            </a:r>
          </a:p>
          <a:p>
            <a:endParaRPr lang="en-US" dirty="0"/>
          </a:p>
          <a:p>
            <a:r>
              <a:rPr lang="en-US" dirty="0"/>
              <a:t>Here is the original sinogram; here is the filtered sinogram. Once it is filtered, we use these data for </a:t>
            </a:r>
            <a:r>
              <a:rPr lang="en-US" dirty="0" err="1"/>
              <a:t>backprojection</a:t>
            </a:r>
            <a:r>
              <a:rPr lang="en-US" dirty="0"/>
              <a:t>.</a:t>
            </a:r>
          </a:p>
        </p:txBody>
      </p:sp>
      <p:sp>
        <p:nvSpPr>
          <p:cNvPr id="4" name="Slide Number Placeholder 3"/>
          <p:cNvSpPr>
            <a:spLocks noGrp="1"/>
          </p:cNvSpPr>
          <p:nvPr>
            <p:ph type="sldNum" sz="quarter" idx="5"/>
          </p:nvPr>
        </p:nvSpPr>
        <p:spPr/>
        <p:txBody>
          <a:bodyPr/>
          <a:lstStyle/>
          <a:p>
            <a:fld id="{9F30534E-9FB8-46AE-8E3B-5675B268AE6A}" type="slidenum">
              <a:rPr lang="en-US" smtClean="0"/>
              <a:pPr/>
              <a:t>40</a:t>
            </a:fld>
            <a:endParaRPr lang="en-US"/>
          </a:p>
        </p:txBody>
      </p:sp>
    </p:spTree>
    <p:extLst>
      <p:ext uri="{BB962C8B-B14F-4D97-AF65-F5344CB8AC3E}">
        <p14:creationId xmlns:p14="http://schemas.microsoft.com/office/powerpoint/2010/main" val="219566722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Then you can recover the original image. This looks very close to the original. If you have many angles, with very small angular increments, and the detector spacing is very small, the result becomes closer and closer to the true image. </a:t>
            </a:r>
          </a:p>
          <a:p>
            <a:endParaRPr lang="en-US" dirty="0"/>
          </a:p>
          <a:p>
            <a:r>
              <a:rPr lang="en-US" dirty="0"/>
              <a:t>This is just a numerical example. The next few slides show a MATLAB implementation—also your homework—so you can read through and try it yourself.</a:t>
            </a:r>
          </a:p>
        </p:txBody>
      </p:sp>
      <p:sp>
        <p:nvSpPr>
          <p:cNvPr id="4" name="Slide Number Placeholder 3"/>
          <p:cNvSpPr>
            <a:spLocks noGrp="1"/>
          </p:cNvSpPr>
          <p:nvPr>
            <p:ph type="sldNum" sz="quarter" idx="5"/>
          </p:nvPr>
        </p:nvSpPr>
        <p:spPr/>
        <p:txBody>
          <a:bodyPr/>
          <a:lstStyle/>
          <a:p>
            <a:fld id="{9F30534E-9FB8-46AE-8E3B-5675B268AE6A}" type="slidenum">
              <a:rPr lang="en-US" smtClean="0"/>
              <a:pPr/>
              <a:t>41</a:t>
            </a:fld>
            <a:endParaRPr lang="en-US"/>
          </a:p>
        </p:txBody>
      </p:sp>
    </p:spTree>
    <p:extLst>
      <p:ext uri="{BB962C8B-B14F-4D97-AF65-F5344CB8AC3E}">
        <p14:creationId xmlns:p14="http://schemas.microsoft.com/office/powerpoint/2010/main" val="198606246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MATLAB has toolbox commands that implement projection, filtering, and filtered </a:t>
            </a:r>
            <a:r>
              <a:rPr lang="en-US" dirty="0" err="1"/>
              <a:t>backprojection</a:t>
            </a:r>
            <a:r>
              <a:rPr lang="en-US" dirty="0"/>
              <a:t>. </a:t>
            </a:r>
          </a:p>
          <a:p>
            <a:endParaRPr lang="en-US" dirty="0"/>
          </a:p>
          <a:p>
            <a:r>
              <a:rPr lang="en-US" dirty="0"/>
              <a:t>The keyword is </a:t>
            </a:r>
            <a:r>
              <a:rPr lang="en-US" b="1" dirty="0"/>
              <a:t>radon</a:t>
            </a:r>
            <a:r>
              <a:rPr lang="en-US" dirty="0"/>
              <a:t>. You supply an image and </a:t>
            </a:r>
            <a:r>
              <a:rPr lang="en-US" b="1" dirty="0"/>
              <a:t>theta</a:t>
            </a:r>
            <a:r>
              <a:rPr lang="en-US" dirty="0"/>
              <a:t>. Theta can be a single value, which gives one projection, or an array, which gives many projections.</a:t>
            </a:r>
          </a:p>
        </p:txBody>
      </p:sp>
      <p:sp>
        <p:nvSpPr>
          <p:cNvPr id="4" name="Slide Number Placeholder 3"/>
          <p:cNvSpPr>
            <a:spLocks noGrp="1"/>
          </p:cNvSpPr>
          <p:nvPr>
            <p:ph type="sldNum" sz="quarter" idx="5"/>
          </p:nvPr>
        </p:nvSpPr>
        <p:spPr/>
        <p:txBody>
          <a:bodyPr/>
          <a:lstStyle/>
          <a:p>
            <a:fld id="{9F30534E-9FB8-46AE-8E3B-5675B268AE6A}" type="slidenum">
              <a:rPr lang="en-US" smtClean="0"/>
              <a:pPr/>
              <a:t>42</a:t>
            </a:fld>
            <a:endParaRPr lang="en-US"/>
          </a:p>
        </p:txBody>
      </p:sp>
    </p:spTree>
    <p:extLst>
      <p:ext uri="{BB962C8B-B14F-4D97-AF65-F5344CB8AC3E}">
        <p14:creationId xmlns:p14="http://schemas.microsoft.com/office/powerpoint/2010/main" val="332276857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The inverse transformation is done with </a:t>
            </a:r>
            <a:r>
              <a:rPr lang="en-US" b="1" dirty="0" err="1"/>
              <a:t>iradon</a:t>
            </a:r>
            <a:r>
              <a:rPr lang="en-US" dirty="0"/>
              <a:t>. The projection beams are laid out line by line, and the default line spacing is one pixel—one unit apart.</a:t>
            </a:r>
          </a:p>
        </p:txBody>
      </p:sp>
      <p:sp>
        <p:nvSpPr>
          <p:cNvPr id="4" name="Slide Number Placeholder 3"/>
          <p:cNvSpPr>
            <a:spLocks noGrp="1"/>
          </p:cNvSpPr>
          <p:nvPr>
            <p:ph type="sldNum" sz="quarter" idx="5"/>
          </p:nvPr>
        </p:nvSpPr>
        <p:spPr/>
        <p:txBody>
          <a:bodyPr/>
          <a:lstStyle/>
          <a:p>
            <a:fld id="{9F30534E-9FB8-46AE-8E3B-5675B268AE6A}" type="slidenum">
              <a:rPr lang="en-US" smtClean="0"/>
              <a:pPr/>
              <a:t>43</a:t>
            </a:fld>
            <a:endParaRPr lang="en-US"/>
          </a:p>
        </p:txBody>
      </p:sp>
    </p:spTree>
    <p:extLst>
      <p:ext uri="{BB962C8B-B14F-4D97-AF65-F5344CB8AC3E}">
        <p14:creationId xmlns:p14="http://schemas.microsoft.com/office/powerpoint/2010/main" val="197863450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The setup looks like this: parallel-beam geometry with sensors on one side, a source on the other, and the system rotating by the angle theta to collect projections.</a:t>
            </a:r>
          </a:p>
        </p:txBody>
      </p:sp>
      <p:sp>
        <p:nvSpPr>
          <p:cNvPr id="4" name="Slide Number Placeholder 3"/>
          <p:cNvSpPr>
            <a:spLocks noGrp="1"/>
          </p:cNvSpPr>
          <p:nvPr>
            <p:ph type="sldNum" sz="quarter" idx="5"/>
          </p:nvPr>
        </p:nvSpPr>
        <p:spPr/>
        <p:txBody>
          <a:bodyPr/>
          <a:lstStyle/>
          <a:p>
            <a:fld id="{9F30534E-9FB8-46AE-8E3B-5675B268AE6A}" type="slidenum">
              <a:rPr lang="en-US" smtClean="0"/>
              <a:pPr/>
              <a:t>44</a:t>
            </a:fld>
            <a:endParaRPr lang="en-US"/>
          </a:p>
        </p:txBody>
      </p:sp>
    </p:spTree>
    <p:extLst>
      <p:ext uri="{BB962C8B-B14F-4D97-AF65-F5344CB8AC3E}">
        <p14:creationId xmlns:p14="http://schemas.microsoft.com/office/powerpoint/2010/main" val="44681659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When you do projection, they basically decompose a single pixel into a two-by-two matrix, then shoot rays through all these centers into the projection domain. </a:t>
            </a:r>
          </a:p>
          <a:p>
            <a:endParaRPr lang="en-US" dirty="0"/>
          </a:p>
          <a:p>
            <a:r>
              <a:rPr lang="en-US" dirty="0"/>
              <a:t>If a ray hits the center of a detector bin, that detector takes the full value. If it hits the boundary between two detector bins, the value is divided equally. If it hits at an arbitrary location, linear interpolation is used.</a:t>
            </a:r>
          </a:p>
        </p:txBody>
      </p:sp>
      <p:sp>
        <p:nvSpPr>
          <p:cNvPr id="4" name="Slide Number Placeholder 3"/>
          <p:cNvSpPr>
            <a:spLocks noGrp="1"/>
          </p:cNvSpPr>
          <p:nvPr>
            <p:ph type="sldNum" sz="quarter" idx="5"/>
          </p:nvPr>
        </p:nvSpPr>
        <p:spPr/>
        <p:txBody>
          <a:bodyPr/>
          <a:lstStyle/>
          <a:p>
            <a:fld id="{9F30534E-9FB8-46AE-8E3B-5675B268AE6A}" type="slidenum">
              <a:rPr lang="en-US" smtClean="0"/>
              <a:pPr/>
              <a:t>45</a:t>
            </a:fld>
            <a:endParaRPr lang="en-US"/>
          </a:p>
        </p:txBody>
      </p:sp>
    </p:spTree>
    <p:extLst>
      <p:ext uri="{BB962C8B-B14F-4D97-AF65-F5344CB8AC3E}">
        <p14:creationId xmlns:p14="http://schemas.microsoft.com/office/powerpoint/2010/main" val="11453930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Here’s a sample Radon code you can run yourself. It generates an image with a white block, then produces the projection data. </a:t>
            </a:r>
          </a:p>
          <a:p>
            <a:endParaRPr lang="en-US" dirty="0"/>
          </a:p>
          <a:p>
            <a:r>
              <a:rPr lang="en-US" dirty="0"/>
              <a:t>After that you apply the filtration. The red arrows simply point to figures that appear on the next slide.</a:t>
            </a:r>
          </a:p>
        </p:txBody>
      </p:sp>
      <p:sp>
        <p:nvSpPr>
          <p:cNvPr id="4" name="Slide Number Placeholder 3"/>
          <p:cNvSpPr>
            <a:spLocks noGrp="1"/>
          </p:cNvSpPr>
          <p:nvPr>
            <p:ph type="sldNum" sz="quarter" idx="5"/>
          </p:nvPr>
        </p:nvSpPr>
        <p:spPr/>
        <p:txBody>
          <a:bodyPr/>
          <a:lstStyle/>
          <a:p>
            <a:fld id="{9F30534E-9FB8-46AE-8E3B-5675B268AE6A}" type="slidenum">
              <a:rPr lang="en-US" smtClean="0"/>
              <a:pPr/>
              <a:t>46</a:t>
            </a:fld>
            <a:endParaRPr lang="en-US"/>
          </a:p>
        </p:txBody>
      </p:sp>
    </p:spTree>
    <p:extLst>
      <p:ext uri="{BB962C8B-B14F-4D97-AF65-F5344CB8AC3E}">
        <p14:creationId xmlns:p14="http://schemas.microsoft.com/office/powerpoint/2010/main" val="242236323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You get this projection profile—the sinogram.</a:t>
            </a:r>
          </a:p>
        </p:txBody>
      </p:sp>
      <p:sp>
        <p:nvSpPr>
          <p:cNvPr id="4" name="Slide Number Placeholder 3"/>
          <p:cNvSpPr>
            <a:spLocks noGrp="1"/>
          </p:cNvSpPr>
          <p:nvPr>
            <p:ph type="sldNum" sz="quarter" idx="5"/>
          </p:nvPr>
        </p:nvSpPr>
        <p:spPr/>
        <p:txBody>
          <a:bodyPr/>
          <a:lstStyle/>
          <a:p>
            <a:fld id="{9F30534E-9FB8-46AE-8E3B-5675B268AE6A}" type="slidenum">
              <a:rPr lang="en-US" smtClean="0"/>
              <a:pPr/>
              <a:t>47</a:t>
            </a:fld>
            <a:endParaRPr lang="en-US"/>
          </a:p>
        </p:txBody>
      </p:sp>
    </p:spTree>
    <p:extLst>
      <p:ext uri="{BB962C8B-B14F-4D97-AF65-F5344CB8AC3E}">
        <p14:creationId xmlns:p14="http://schemas.microsoft.com/office/powerpoint/2010/main" val="136533463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Next, use the inverse Radon code, which essentially performs filtered </a:t>
            </a:r>
            <a:r>
              <a:rPr lang="en-US" dirty="0" err="1"/>
              <a:t>backprojection</a:t>
            </a:r>
            <a:r>
              <a:rPr lang="en-US" dirty="0"/>
              <a:t>. You can also choose linear interpolation, and if you set the filter to “none,” that means no filtering—just simple </a:t>
            </a:r>
            <a:r>
              <a:rPr lang="en-US" dirty="0" err="1"/>
              <a:t>backprojection</a:t>
            </a:r>
            <a:r>
              <a:rPr lang="en-US" dirty="0"/>
              <a:t>.</a:t>
            </a:r>
          </a:p>
        </p:txBody>
      </p:sp>
      <p:sp>
        <p:nvSpPr>
          <p:cNvPr id="4" name="Slide Number Placeholder 3"/>
          <p:cNvSpPr>
            <a:spLocks noGrp="1"/>
          </p:cNvSpPr>
          <p:nvPr>
            <p:ph type="sldNum" sz="quarter" idx="5"/>
          </p:nvPr>
        </p:nvSpPr>
        <p:spPr/>
        <p:txBody>
          <a:bodyPr/>
          <a:lstStyle/>
          <a:p>
            <a:fld id="{9F30534E-9FB8-46AE-8E3B-5675B268AE6A}" type="slidenum">
              <a:rPr lang="en-US" smtClean="0"/>
              <a:pPr/>
              <a:t>48</a:t>
            </a:fld>
            <a:endParaRPr lang="en-US"/>
          </a:p>
        </p:txBody>
      </p:sp>
    </p:spTree>
    <p:extLst>
      <p:ext uri="{BB962C8B-B14F-4D97-AF65-F5344CB8AC3E}">
        <p14:creationId xmlns:p14="http://schemas.microsoft.com/office/powerpoint/2010/main" val="383554675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On the top row images, you can see the difference: the unfiltered backprojection is blurry, while the filtered backprojection looks much closer to the original image. This is the key to reconstructing CT images.</a:t>
            </a:r>
          </a:p>
          <a:p>
            <a:endParaRPr lang="en-US" dirty="0"/>
          </a:p>
          <a:p>
            <a:r>
              <a:rPr lang="en-US" dirty="0"/>
              <a:t>The bottom row </a:t>
            </a:r>
            <a:r>
              <a:rPr lang="en-US"/>
              <a:t>shows some </a:t>
            </a:r>
            <a:r>
              <a:rPr lang="en-US" dirty="0"/>
              <a:t>clinical examples. It feels like magic. Review the material; if you didn’t do the preview and you don’t review, you won’t catch all the tricks. But if you read carefully, you’ll understand the secret: the X-ray machine sends beams you never see, yet your internal structure is clearly revealed. </a:t>
            </a:r>
          </a:p>
          <a:p>
            <a:endParaRPr lang="en-US" dirty="0"/>
          </a:p>
          <a:p>
            <a:r>
              <a:rPr lang="en-US" dirty="0"/>
              <a:t>You can resolve features down to about one-third of a millimeter, with every detail laid out by the algorithms I just explained. It’s an amazing achievement—inner vision with X-rays.</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49</a:t>
            </a:fld>
            <a:endParaRPr lang="en-US"/>
          </a:p>
        </p:txBody>
      </p:sp>
    </p:spTree>
    <p:extLst>
      <p:ext uri="{BB962C8B-B14F-4D97-AF65-F5344CB8AC3E}">
        <p14:creationId xmlns:p14="http://schemas.microsoft.com/office/powerpoint/2010/main" val="342177426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For homework, review what we did with the block, and do the same steps using an ellipse. </a:t>
            </a:r>
          </a:p>
          <a:p>
            <a:endParaRPr lang="en-US" dirty="0"/>
          </a:p>
          <a:p>
            <a:r>
              <a:rPr lang="en-US" dirty="0"/>
              <a:t>Work through the MATLAB code. Some variable names may not be obvious from the slides, but if you open MATLAB Help or search online, everything is straightforward. Spend some time, get familiar, and see how filtered </a:t>
            </a:r>
            <a:r>
              <a:rPr lang="en-US" dirty="0" err="1"/>
              <a:t>backprojection</a:t>
            </a:r>
            <a:r>
              <a:rPr lang="en-US" dirty="0"/>
              <a:t> works for you. </a:t>
            </a:r>
          </a:p>
          <a:p>
            <a:endParaRPr lang="en-US" dirty="0"/>
          </a:p>
          <a:p>
            <a:r>
              <a:rPr lang="en-US" dirty="0"/>
              <a:t>That’s all for today—thank you.</a:t>
            </a:r>
          </a:p>
        </p:txBody>
      </p:sp>
      <p:sp>
        <p:nvSpPr>
          <p:cNvPr id="4" name="Slide Number Placeholder 3"/>
          <p:cNvSpPr>
            <a:spLocks noGrp="1"/>
          </p:cNvSpPr>
          <p:nvPr>
            <p:ph type="sldNum" sz="quarter" idx="5"/>
          </p:nvPr>
        </p:nvSpPr>
        <p:spPr/>
        <p:txBody>
          <a:bodyPr/>
          <a:lstStyle/>
          <a:p>
            <a:fld id="{9F30534E-9FB8-46AE-8E3B-5675B268AE6A}" type="slidenum">
              <a:rPr lang="en-US" smtClean="0"/>
              <a:pPr/>
              <a:t>50</a:t>
            </a:fld>
            <a:endParaRPr lang="en-US"/>
          </a:p>
        </p:txBody>
      </p:sp>
    </p:spTree>
    <p:extLst>
      <p:ext uri="{BB962C8B-B14F-4D97-AF65-F5344CB8AC3E}">
        <p14:creationId xmlns:p14="http://schemas.microsoft.com/office/powerpoint/2010/main" val="18816662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4125" name="Line 29"/>
          <p:cNvSpPr>
            <a:spLocks noChangeShapeType="1"/>
          </p:cNvSpPr>
          <p:nvPr userDrawn="1"/>
        </p:nvSpPr>
        <p:spPr bwMode="auto">
          <a:xfrm>
            <a:off x="1117600" y="457200"/>
            <a:ext cx="0" cy="6096000"/>
          </a:xfrm>
          <a:prstGeom prst="line">
            <a:avLst/>
          </a:prstGeom>
          <a:noFill/>
          <a:ln w="9525">
            <a:solidFill>
              <a:schemeClr val="bg1"/>
            </a:solidFill>
            <a:round/>
            <a:headEnd/>
            <a:tailEnd/>
          </a:ln>
        </p:spPr>
        <p:txBody>
          <a:bodyPr wrap="none" anchor="ctr"/>
          <a:lstStyle/>
          <a:p>
            <a:endParaRPr lang="en-US" sz="2400"/>
          </a:p>
        </p:txBody>
      </p:sp>
      <p:sp>
        <p:nvSpPr>
          <p:cNvPr id="4126" name="Line 30"/>
          <p:cNvSpPr>
            <a:spLocks noChangeShapeType="1"/>
          </p:cNvSpPr>
          <p:nvPr userDrawn="1"/>
        </p:nvSpPr>
        <p:spPr bwMode="auto">
          <a:xfrm>
            <a:off x="1117600" y="6553200"/>
            <a:ext cx="10566400" cy="0"/>
          </a:xfrm>
          <a:prstGeom prst="line">
            <a:avLst/>
          </a:prstGeom>
          <a:noFill/>
          <a:ln w="9525">
            <a:solidFill>
              <a:schemeClr val="bg1"/>
            </a:solidFill>
            <a:round/>
            <a:headEnd/>
            <a:tailEnd/>
          </a:ln>
        </p:spPr>
        <p:txBody>
          <a:bodyPr wrap="none" anchor="ctr"/>
          <a:lstStyle/>
          <a:p>
            <a:endParaRPr lang="en-US" sz="2400"/>
          </a:p>
        </p:txBody>
      </p:sp>
      <p:sp>
        <p:nvSpPr>
          <p:cNvPr id="4127" name="Line 31"/>
          <p:cNvSpPr>
            <a:spLocks noChangeShapeType="1"/>
          </p:cNvSpPr>
          <p:nvPr userDrawn="1"/>
        </p:nvSpPr>
        <p:spPr bwMode="auto">
          <a:xfrm flipV="1">
            <a:off x="11684000" y="5791200"/>
            <a:ext cx="0" cy="762000"/>
          </a:xfrm>
          <a:prstGeom prst="line">
            <a:avLst/>
          </a:prstGeom>
          <a:noFill/>
          <a:ln w="9525">
            <a:solidFill>
              <a:schemeClr val="bg1"/>
            </a:solidFill>
            <a:round/>
            <a:headEnd/>
            <a:tailEnd/>
          </a:ln>
        </p:spPr>
        <p:txBody>
          <a:bodyPr wrap="none" anchor="ctr"/>
          <a:lstStyle/>
          <a:p>
            <a:endParaRPr lang="en-US" sz="2400"/>
          </a:p>
        </p:txBody>
      </p:sp>
      <p:sp>
        <p:nvSpPr>
          <p:cNvPr id="4128" name="Line 32"/>
          <p:cNvSpPr>
            <a:spLocks noChangeShapeType="1"/>
          </p:cNvSpPr>
          <p:nvPr userDrawn="1"/>
        </p:nvSpPr>
        <p:spPr bwMode="auto">
          <a:xfrm flipH="1">
            <a:off x="8636000" y="5791200"/>
            <a:ext cx="3048000" cy="0"/>
          </a:xfrm>
          <a:prstGeom prst="line">
            <a:avLst/>
          </a:prstGeom>
          <a:noFill/>
          <a:ln w="9525">
            <a:solidFill>
              <a:schemeClr val="bg1"/>
            </a:solidFill>
            <a:round/>
            <a:headEnd/>
            <a:tailEnd/>
          </a:ln>
        </p:spPr>
        <p:txBody>
          <a:bodyPr wrap="none" anchor="ctr"/>
          <a:lstStyle/>
          <a:p>
            <a:endParaRPr lang="en-US" sz="2400"/>
          </a:p>
        </p:txBody>
      </p:sp>
      <p:sp>
        <p:nvSpPr>
          <p:cNvPr id="4131" name="Line 35"/>
          <p:cNvSpPr>
            <a:spLocks noChangeShapeType="1"/>
          </p:cNvSpPr>
          <p:nvPr userDrawn="1"/>
        </p:nvSpPr>
        <p:spPr bwMode="auto">
          <a:xfrm>
            <a:off x="1117600" y="457200"/>
            <a:ext cx="1727200" cy="0"/>
          </a:xfrm>
          <a:prstGeom prst="line">
            <a:avLst/>
          </a:prstGeom>
          <a:noFill/>
          <a:ln w="9525">
            <a:solidFill>
              <a:schemeClr val="bg1"/>
            </a:solidFill>
            <a:round/>
            <a:headEnd/>
            <a:tailEnd/>
          </a:ln>
        </p:spPr>
        <p:txBody>
          <a:bodyPr wrap="none" anchor="ctr"/>
          <a:lstStyle/>
          <a:p>
            <a:endParaRPr lang="en-US" sz="24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03200" y="152400"/>
            <a:ext cx="11785600" cy="838200"/>
          </a:xfrm>
        </p:spPr>
        <p:txBody>
          <a:bodyPr/>
          <a:lstStyle>
            <a:lvl1pPr>
              <a:defRPr sz="4000" b="1">
                <a:solidFill>
                  <a:schemeClr val="tx1"/>
                </a:solidFill>
              </a:defRPr>
            </a:lvl1pPr>
          </a:lstStyle>
          <a:p>
            <a:r>
              <a:rPr lang="en-US" dirty="0"/>
              <a:t>Click to edit Master title style</a:t>
            </a:r>
          </a:p>
        </p:txBody>
      </p:sp>
      <p:sp>
        <p:nvSpPr>
          <p:cNvPr id="3" name="Content Placeholder 2"/>
          <p:cNvSpPr>
            <a:spLocks noGrp="1"/>
          </p:cNvSpPr>
          <p:nvPr>
            <p:ph idx="1"/>
          </p:nvPr>
        </p:nvSpPr>
        <p:spPr>
          <a:xfrm>
            <a:off x="203200" y="1066800"/>
            <a:ext cx="11785600" cy="4419600"/>
          </a:xfrm>
        </p:spPr>
        <p:txBody>
          <a:bodyPr/>
          <a:lstStyle>
            <a:lvl1pPr>
              <a:defRPr sz="2800" b="1"/>
            </a:lvl1pPr>
          </a:lstStyle>
          <a:p>
            <a:pPr lvl="0"/>
            <a:r>
              <a:rPr lang="en-US" dirty="0"/>
              <a:t>Click to edit Master text styles</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Slide Number Placeholder 3"/>
          <p:cNvSpPr>
            <a:spLocks noGrp="1"/>
          </p:cNvSpPr>
          <p:nvPr>
            <p:ph type="sldNum" sz="quarter" idx="10"/>
          </p:nvPr>
        </p:nvSpPr>
        <p:spPr>
          <a:xfrm>
            <a:off x="146051" y="6288088"/>
            <a:ext cx="1219200" cy="457200"/>
          </a:xfrm>
          <a:prstGeom prst="rect">
            <a:avLst/>
          </a:prstGeom>
        </p:spPr>
        <p:txBody>
          <a:bodyPr/>
          <a:lstStyle>
            <a:lvl1pPr>
              <a:defRPr/>
            </a:lvl1pPr>
          </a:lstStyle>
          <a:p>
            <a:fld id="{42551609-7012-4524-8F91-CAEC89A8DA26}" type="slidenum">
              <a:rPr lang="en-US"/>
              <a:pPr/>
              <a:t>‹#›</a:t>
            </a:fld>
            <a:endParaRPr lang="en-US">
              <a:solidFill>
                <a:schemeClr val="tx1"/>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17600" y="16764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00800" y="16764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p:cNvSpPr>
            <a:spLocks noGrp="1"/>
          </p:cNvSpPr>
          <p:nvPr>
            <p:ph type="sldNum" sz="quarter" idx="10"/>
          </p:nvPr>
        </p:nvSpPr>
        <p:spPr>
          <a:xfrm>
            <a:off x="146051" y="6288088"/>
            <a:ext cx="1219200" cy="457200"/>
          </a:xfrm>
          <a:prstGeom prst="rect">
            <a:avLst/>
          </a:prstGeom>
        </p:spPr>
        <p:txBody>
          <a:bodyPr/>
          <a:lstStyle>
            <a:lvl1pPr>
              <a:defRPr/>
            </a:lvl1pPr>
          </a:lstStyle>
          <a:p>
            <a:fld id="{EC38EB37-9F67-488F-AFCB-318363D4DA79}" type="slidenum">
              <a:rPr lang="en-US"/>
              <a:pPr/>
              <a:t>‹#›</a:t>
            </a:fld>
            <a:endParaRPr lang="en-US">
              <a:solidFill>
                <a:schemeClr val="tx1"/>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0"/>
          </p:nvPr>
        </p:nvSpPr>
        <p:spPr>
          <a:xfrm>
            <a:off x="146051" y="6288088"/>
            <a:ext cx="1219200" cy="457200"/>
          </a:xfrm>
          <a:prstGeom prst="rect">
            <a:avLst/>
          </a:prstGeom>
        </p:spPr>
        <p:txBody>
          <a:bodyPr/>
          <a:lstStyle>
            <a:lvl1pPr>
              <a:defRPr/>
            </a:lvl1pPr>
          </a:lstStyle>
          <a:p>
            <a:fld id="{325EC937-4EEB-42FF-9745-F8ECC712C67B}" type="slidenum">
              <a:rPr lang="en-US"/>
              <a:pPr/>
              <a:t>‹#›</a:t>
            </a:fld>
            <a:endParaRPr lang="en-US">
              <a:solidFill>
                <a:schemeClr val="tx1"/>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a:xfrm>
            <a:off x="146051" y="6288088"/>
            <a:ext cx="1219200" cy="457200"/>
          </a:xfrm>
          <a:prstGeom prst="rect">
            <a:avLst/>
          </a:prstGeom>
        </p:spPr>
        <p:txBody>
          <a:bodyPr/>
          <a:lstStyle>
            <a:lvl1pPr>
              <a:defRPr/>
            </a:lvl1pPr>
          </a:lstStyle>
          <a:p>
            <a:fld id="{26E09F27-08E5-47E1-9081-CDEF6FA99715}" type="slidenum">
              <a:rPr lang="en-US"/>
              <a:pPr/>
              <a:t>‹#›</a:t>
            </a:fld>
            <a:endParaRPr lang="en-US">
              <a:solidFill>
                <a:schemeClr val="tx1"/>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a:xfrm>
            <a:off x="146051" y="6288088"/>
            <a:ext cx="1219200" cy="457200"/>
          </a:xfrm>
          <a:prstGeom prst="rect">
            <a:avLst/>
          </a:prstGeom>
        </p:spPr>
        <p:txBody>
          <a:bodyPr/>
          <a:lstStyle>
            <a:lvl1pPr>
              <a:defRPr/>
            </a:lvl1pPr>
          </a:lstStyle>
          <a:p>
            <a:fld id="{CC251E47-B223-48F4-A299-CE4A766087D6}" type="slidenum">
              <a:rPr lang="en-US"/>
              <a:pPr/>
              <a:t>‹#›</a:t>
            </a:fld>
            <a:endParaRPr lang="en-US">
              <a:solidFill>
                <a:schemeClr val="tx1"/>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p:cNvSpPr>
          <p:nvPr>
            <p:ph type="sldNum" sz="quarter" idx="10"/>
          </p:nvPr>
        </p:nvSpPr>
        <p:spPr>
          <a:xfrm>
            <a:off x="146051" y="6288088"/>
            <a:ext cx="1219200" cy="457200"/>
          </a:xfrm>
          <a:prstGeom prst="rect">
            <a:avLst/>
          </a:prstGeom>
        </p:spPr>
        <p:txBody>
          <a:bodyPr/>
          <a:lstStyle>
            <a:lvl1pPr>
              <a:defRPr/>
            </a:lvl1pPr>
          </a:lstStyle>
          <a:p>
            <a:fld id="{5BB27830-E813-4D5B-BECC-EB4E76333BEB}" type="slidenum">
              <a:rPr lang="en-US"/>
              <a:pPr/>
              <a:t>‹#›</a:t>
            </a:fld>
            <a:endParaRPr lang="en-US">
              <a:solidFill>
                <a:schemeClr val="tx1"/>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p:cNvSpPr>
          <p:nvPr>
            <p:ph type="sldNum" sz="quarter" idx="10"/>
          </p:nvPr>
        </p:nvSpPr>
        <p:spPr>
          <a:xfrm>
            <a:off x="146051" y="6288088"/>
            <a:ext cx="1219200" cy="457200"/>
          </a:xfrm>
          <a:prstGeom prst="rect">
            <a:avLst/>
          </a:prstGeom>
        </p:spPr>
        <p:txBody>
          <a:bodyPr/>
          <a:lstStyle>
            <a:lvl1pPr>
              <a:defRPr/>
            </a:lvl1pPr>
          </a:lstStyle>
          <a:p>
            <a:fld id="{8950E5CE-EF1E-495C-8D34-E9307ADFFB20}" type="slidenum">
              <a:rPr lang="en-US"/>
              <a:pPr/>
              <a:t>‹#›</a:t>
            </a:fld>
            <a:endParaRPr lang="en-US">
              <a:solidFill>
                <a:schemeClr val="tx1"/>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p:cNvSpPr>
          <p:nvPr>
            <p:ph type="sldNum" sz="quarter" idx="10"/>
          </p:nvPr>
        </p:nvSpPr>
        <p:spPr>
          <a:xfrm>
            <a:off x="146051" y="6288088"/>
            <a:ext cx="1219200" cy="457200"/>
          </a:xfrm>
          <a:prstGeom prst="rect">
            <a:avLst/>
          </a:prstGeom>
        </p:spPr>
        <p:txBody>
          <a:bodyPr/>
          <a:lstStyle>
            <a:lvl1pPr>
              <a:defRPr/>
            </a:lvl1pPr>
          </a:lstStyle>
          <a:p>
            <a:fld id="{EDA7D03F-0D9F-4D6E-A9DA-DA22B08C88FB}" type="slidenum">
              <a:rPr lang="en-US"/>
              <a:pPr/>
              <a:t>‹#›</a:t>
            </a:fld>
            <a:endParaRPr lang="en-US">
              <a:solidFill>
                <a:schemeClr val="tx1"/>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90000" y="304800"/>
            <a:ext cx="25908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17600" y="304800"/>
            <a:ext cx="75692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p:cNvSpPr>
          <p:nvPr>
            <p:ph type="sldNum" sz="quarter" idx="10"/>
          </p:nvPr>
        </p:nvSpPr>
        <p:spPr>
          <a:xfrm>
            <a:off x="146051" y="6288088"/>
            <a:ext cx="1219200" cy="457200"/>
          </a:xfrm>
          <a:prstGeom prst="rect">
            <a:avLst/>
          </a:prstGeom>
        </p:spPr>
        <p:txBody>
          <a:bodyPr/>
          <a:lstStyle>
            <a:lvl1pPr>
              <a:defRPr/>
            </a:lvl1pPr>
          </a:lstStyle>
          <a:p>
            <a:fld id="{5D488692-0FB6-433E-9CFB-08D03A34DD8A}" type="slidenum">
              <a:rPr lang="en-US"/>
              <a:pPr/>
              <a:t>‹#›</a:t>
            </a:fld>
            <a:endParaRPr lang="en-US">
              <a:solidFill>
                <a:schemeClr val="tx1"/>
              </a:solidFil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4125" name="Line 29"/>
          <p:cNvSpPr>
            <a:spLocks noChangeShapeType="1"/>
          </p:cNvSpPr>
          <p:nvPr userDrawn="1"/>
        </p:nvSpPr>
        <p:spPr bwMode="auto">
          <a:xfrm>
            <a:off x="1117600" y="457200"/>
            <a:ext cx="0" cy="6096000"/>
          </a:xfrm>
          <a:prstGeom prst="line">
            <a:avLst/>
          </a:prstGeom>
          <a:noFill/>
          <a:ln w="9525">
            <a:solidFill>
              <a:schemeClr val="bg1"/>
            </a:solidFill>
            <a:round/>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Arial" charset="0"/>
              <a:ea typeface="ＭＳ Ｐゴシック"/>
              <a:cs typeface="Times New Roman" pitchFamily="18" charset="0"/>
            </a:endParaRPr>
          </a:p>
        </p:txBody>
      </p:sp>
      <p:sp>
        <p:nvSpPr>
          <p:cNvPr id="4126" name="Line 30"/>
          <p:cNvSpPr>
            <a:spLocks noChangeShapeType="1"/>
          </p:cNvSpPr>
          <p:nvPr userDrawn="1"/>
        </p:nvSpPr>
        <p:spPr bwMode="auto">
          <a:xfrm>
            <a:off x="1117600" y="6553200"/>
            <a:ext cx="10566400" cy="0"/>
          </a:xfrm>
          <a:prstGeom prst="line">
            <a:avLst/>
          </a:prstGeom>
          <a:noFill/>
          <a:ln w="9525">
            <a:solidFill>
              <a:schemeClr val="bg1"/>
            </a:solidFill>
            <a:round/>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Arial" charset="0"/>
              <a:ea typeface="ＭＳ Ｐゴシック"/>
              <a:cs typeface="Times New Roman" pitchFamily="18" charset="0"/>
            </a:endParaRPr>
          </a:p>
        </p:txBody>
      </p:sp>
      <p:sp>
        <p:nvSpPr>
          <p:cNvPr id="4127" name="Line 31"/>
          <p:cNvSpPr>
            <a:spLocks noChangeShapeType="1"/>
          </p:cNvSpPr>
          <p:nvPr userDrawn="1"/>
        </p:nvSpPr>
        <p:spPr bwMode="auto">
          <a:xfrm flipV="1">
            <a:off x="11684000" y="5791200"/>
            <a:ext cx="0" cy="762000"/>
          </a:xfrm>
          <a:prstGeom prst="line">
            <a:avLst/>
          </a:prstGeom>
          <a:noFill/>
          <a:ln w="9525">
            <a:solidFill>
              <a:schemeClr val="bg1"/>
            </a:solidFill>
            <a:round/>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Arial" charset="0"/>
              <a:ea typeface="ＭＳ Ｐゴシック"/>
              <a:cs typeface="Times New Roman" pitchFamily="18" charset="0"/>
            </a:endParaRPr>
          </a:p>
        </p:txBody>
      </p:sp>
      <p:sp>
        <p:nvSpPr>
          <p:cNvPr id="4128" name="Line 32"/>
          <p:cNvSpPr>
            <a:spLocks noChangeShapeType="1"/>
          </p:cNvSpPr>
          <p:nvPr userDrawn="1"/>
        </p:nvSpPr>
        <p:spPr bwMode="auto">
          <a:xfrm flipH="1">
            <a:off x="8636000" y="5791200"/>
            <a:ext cx="3048000" cy="0"/>
          </a:xfrm>
          <a:prstGeom prst="line">
            <a:avLst/>
          </a:prstGeom>
          <a:noFill/>
          <a:ln w="9525">
            <a:solidFill>
              <a:schemeClr val="bg1"/>
            </a:solidFill>
            <a:round/>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Arial" charset="0"/>
              <a:ea typeface="ＭＳ Ｐゴシック"/>
              <a:cs typeface="Times New Roman" pitchFamily="18" charset="0"/>
            </a:endParaRPr>
          </a:p>
        </p:txBody>
      </p:sp>
      <p:sp>
        <p:nvSpPr>
          <p:cNvPr id="4131" name="Line 35"/>
          <p:cNvSpPr>
            <a:spLocks noChangeShapeType="1"/>
          </p:cNvSpPr>
          <p:nvPr userDrawn="1"/>
        </p:nvSpPr>
        <p:spPr bwMode="auto">
          <a:xfrm>
            <a:off x="1117600" y="457200"/>
            <a:ext cx="1727200" cy="0"/>
          </a:xfrm>
          <a:prstGeom prst="line">
            <a:avLst/>
          </a:prstGeom>
          <a:noFill/>
          <a:ln w="9525">
            <a:solidFill>
              <a:schemeClr val="bg1"/>
            </a:solidFill>
            <a:round/>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Arial" charset="0"/>
              <a:ea typeface="ＭＳ Ｐゴシック"/>
              <a:cs typeface="Times New Roman" pitchFamily="18" charset="0"/>
            </a:endParaRPr>
          </a:p>
        </p:txBody>
      </p:sp>
    </p:spTree>
    <p:extLst>
      <p:ext uri="{BB962C8B-B14F-4D97-AF65-F5344CB8AC3E}">
        <p14:creationId xmlns:p14="http://schemas.microsoft.com/office/powerpoint/2010/main" val="37485449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03200" y="152400"/>
            <a:ext cx="11785600" cy="838200"/>
          </a:xfrm>
        </p:spPr>
        <p:txBody>
          <a:bodyPr/>
          <a:lstStyle>
            <a:lvl1pPr algn="ctr">
              <a:defRPr sz="4000" b="1">
                <a:solidFill>
                  <a:schemeClr val="tx1"/>
                </a:solidFill>
              </a:defRPr>
            </a:lvl1pPr>
          </a:lstStyle>
          <a:p>
            <a:r>
              <a:rPr lang="en-US" dirty="0"/>
              <a:t>Click to edit Master title style</a:t>
            </a:r>
          </a:p>
        </p:txBody>
      </p:sp>
      <p:sp>
        <p:nvSpPr>
          <p:cNvPr id="3" name="Content Placeholder 2"/>
          <p:cNvSpPr>
            <a:spLocks noGrp="1"/>
          </p:cNvSpPr>
          <p:nvPr>
            <p:ph idx="1"/>
          </p:nvPr>
        </p:nvSpPr>
        <p:spPr>
          <a:xfrm>
            <a:off x="203200" y="1066800"/>
            <a:ext cx="11785600" cy="4419600"/>
          </a:xfrm>
        </p:spPr>
        <p:txBody>
          <a:bodyPr/>
          <a:lstStyle>
            <a:lvl1pPr>
              <a:defRPr b="1"/>
            </a:lvl1pPr>
          </a:lstStyle>
          <a:p>
            <a:pPr lvl="0"/>
            <a:r>
              <a:rPr lang="en-US" dirty="0"/>
              <a:t>Click to edit Master text styles</a:t>
            </a:r>
          </a:p>
        </p:txBody>
      </p:sp>
    </p:spTree>
    <p:extLst>
      <p:ext uri="{BB962C8B-B14F-4D97-AF65-F5344CB8AC3E}">
        <p14:creationId xmlns:p14="http://schemas.microsoft.com/office/powerpoint/2010/main" val="12639605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Slide Number Placeholder 3"/>
          <p:cNvSpPr>
            <a:spLocks noGrp="1"/>
          </p:cNvSpPr>
          <p:nvPr>
            <p:ph type="sldNum" sz="quarter" idx="10"/>
          </p:nvPr>
        </p:nvSpPr>
        <p:spPr>
          <a:xfrm>
            <a:off x="146051" y="6288088"/>
            <a:ext cx="1219200" cy="457200"/>
          </a:xfrm>
          <a:prstGeom prst="rect">
            <a:avLst/>
          </a:prstGeom>
        </p:spPr>
        <p:txBody>
          <a:bodyPr/>
          <a:lstStyle>
            <a:lvl1pPr>
              <a:defRPr/>
            </a:lvl1pPr>
          </a:lstStyle>
          <a:p>
            <a:pPr>
              <a:defRPr/>
            </a:pPr>
            <a:fld id="{42551609-7012-4524-8F91-CAEC89A8DA26}" type="slidenum">
              <a:rPr lang="en-US" smtClean="0">
                <a:solidFill>
                  <a:srgbClr val="000000"/>
                </a:solidFill>
                <a:ea typeface="ＭＳ Ｐゴシック"/>
                <a:cs typeface="Times New Roman" pitchFamily="18" charset="0"/>
              </a:rPr>
              <a:pPr>
                <a:defRPr/>
              </a:pPr>
              <a:t>‹#›</a:t>
            </a:fld>
            <a:endParaRPr lang="en-US">
              <a:solidFill>
                <a:srgbClr val="000000"/>
              </a:solidFill>
              <a:ea typeface="ＭＳ Ｐゴシック"/>
              <a:cs typeface="Times New Roman" pitchFamily="18" charset="0"/>
            </a:endParaRPr>
          </a:p>
        </p:txBody>
      </p:sp>
    </p:spTree>
    <p:extLst>
      <p:ext uri="{BB962C8B-B14F-4D97-AF65-F5344CB8AC3E}">
        <p14:creationId xmlns:p14="http://schemas.microsoft.com/office/powerpoint/2010/main" val="33768628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17600" y="16764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00800" y="16764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p:cNvSpPr>
            <a:spLocks noGrp="1"/>
          </p:cNvSpPr>
          <p:nvPr>
            <p:ph type="sldNum" sz="quarter" idx="10"/>
          </p:nvPr>
        </p:nvSpPr>
        <p:spPr>
          <a:xfrm>
            <a:off x="146051" y="6288088"/>
            <a:ext cx="1219200" cy="457200"/>
          </a:xfrm>
          <a:prstGeom prst="rect">
            <a:avLst/>
          </a:prstGeom>
        </p:spPr>
        <p:txBody>
          <a:bodyPr/>
          <a:lstStyle>
            <a:lvl1pPr>
              <a:defRPr/>
            </a:lvl1pPr>
          </a:lstStyle>
          <a:p>
            <a:pPr>
              <a:defRPr/>
            </a:pPr>
            <a:fld id="{EC38EB37-9F67-488F-AFCB-318363D4DA79}" type="slidenum">
              <a:rPr lang="en-US" smtClean="0">
                <a:solidFill>
                  <a:srgbClr val="000000"/>
                </a:solidFill>
                <a:ea typeface="ＭＳ Ｐゴシック"/>
                <a:cs typeface="Times New Roman" pitchFamily="18" charset="0"/>
              </a:rPr>
              <a:pPr>
                <a:defRPr/>
              </a:pPr>
              <a:t>‹#›</a:t>
            </a:fld>
            <a:endParaRPr lang="en-US">
              <a:solidFill>
                <a:srgbClr val="000000"/>
              </a:solidFill>
              <a:ea typeface="ＭＳ Ｐゴシック"/>
              <a:cs typeface="Times New Roman" pitchFamily="18" charset="0"/>
            </a:endParaRPr>
          </a:p>
        </p:txBody>
      </p:sp>
    </p:spTree>
    <p:extLst>
      <p:ext uri="{BB962C8B-B14F-4D97-AF65-F5344CB8AC3E}">
        <p14:creationId xmlns:p14="http://schemas.microsoft.com/office/powerpoint/2010/main" val="8779563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0"/>
          </p:nvPr>
        </p:nvSpPr>
        <p:spPr>
          <a:xfrm>
            <a:off x="146051" y="6288088"/>
            <a:ext cx="1219200" cy="457200"/>
          </a:xfrm>
          <a:prstGeom prst="rect">
            <a:avLst/>
          </a:prstGeom>
        </p:spPr>
        <p:txBody>
          <a:bodyPr/>
          <a:lstStyle>
            <a:lvl1pPr>
              <a:defRPr/>
            </a:lvl1pPr>
          </a:lstStyle>
          <a:p>
            <a:pPr>
              <a:defRPr/>
            </a:pPr>
            <a:fld id="{325EC937-4EEB-42FF-9745-F8ECC712C67B}" type="slidenum">
              <a:rPr lang="en-US" smtClean="0">
                <a:solidFill>
                  <a:srgbClr val="000000"/>
                </a:solidFill>
                <a:ea typeface="ＭＳ Ｐゴシック"/>
                <a:cs typeface="Times New Roman" pitchFamily="18" charset="0"/>
              </a:rPr>
              <a:pPr>
                <a:defRPr/>
              </a:pPr>
              <a:t>‹#›</a:t>
            </a:fld>
            <a:endParaRPr lang="en-US">
              <a:solidFill>
                <a:srgbClr val="000000"/>
              </a:solidFill>
              <a:ea typeface="ＭＳ Ｐゴシック"/>
              <a:cs typeface="Times New Roman" pitchFamily="18" charset="0"/>
            </a:endParaRPr>
          </a:p>
        </p:txBody>
      </p:sp>
    </p:spTree>
    <p:extLst>
      <p:ext uri="{BB962C8B-B14F-4D97-AF65-F5344CB8AC3E}">
        <p14:creationId xmlns:p14="http://schemas.microsoft.com/office/powerpoint/2010/main" val="27201144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a:xfrm>
            <a:off x="146051" y="6288088"/>
            <a:ext cx="1219200" cy="457200"/>
          </a:xfrm>
          <a:prstGeom prst="rect">
            <a:avLst/>
          </a:prstGeom>
        </p:spPr>
        <p:txBody>
          <a:bodyPr/>
          <a:lstStyle>
            <a:lvl1pPr>
              <a:defRPr/>
            </a:lvl1pPr>
          </a:lstStyle>
          <a:p>
            <a:pPr>
              <a:defRPr/>
            </a:pPr>
            <a:fld id="{26E09F27-08E5-47E1-9081-CDEF6FA99715}" type="slidenum">
              <a:rPr lang="en-US" smtClean="0">
                <a:solidFill>
                  <a:srgbClr val="000000"/>
                </a:solidFill>
                <a:ea typeface="ＭＳ Ｐゴシック"/>
                <a:cs typeface="Times New Roman" pitchFamily="18" charset="0"/>
              </a:rPr>
              <a:pPr>
                <a:defRPr/>
              </a:pPr>
              <a:t>‹#›</a:t>
            </a:fld>
            <a:endParaRPr lang="en-US">
              <a:solidFill>
                <a:srgbClr val="000000"/>
              </a:solidFill>
              <a:ea typeface="ＭＳ Ｐゴシック"/>
              <a:cs typeface="Times New Roman" pitchFamily="18" charset="0"/>
            </a:endParaRPr>
          </a:p>
        </p:txBody>
      </p:sp>
    </p:spTree>
    <p:extLst>
      <p:ext uri="{BB962C8B-B14F-4D97-AF65-F5344CB8AC3E}">
        <p14:creationId xmlns:p14="http://schemas.microsoft.com/office/powerpoint/2010/main" val="360325318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a:xfrm>
            <a:off x="146051" y="6288088"/>
            <a:ext cx="1219200" cy="457200"/>
          </a:xfrm>
          <a:prstGeom prst="rect">
            <a:avLst/>
          </a:prstGeom>
        </p:spPr>
        <p:txBody>
          <a:bodyPr/>
          <a:lstStyle>
            <a:lvl1pPr>
              <a:defRPr/>
            </a:lvl1pPr>
          </a:lstStyle>
          <a:p>
            <a:pPr>
              <a:defRPr/>
            </a:pPr>
            <a:fld id="{CC251E47-B223-48F4-A299-CE4A766087D6}" type="slidenum">
              <a:rPr lang="en-US" smtClean="0">
                <a:solidFill>
                  <a:srgbClr val="000000"/>
                </a:solidFill>
                <a:ea typeface="ＭＳ Ｐゴシック"/>
                <a:cs typeface="Times New Roman" pitchFamily="18" charset="0"/>
              </a:rPr>
              <a:pPr>
                <a:defRPr/>
              </a:pPr>
              <a:t>‹#›</a:t>
            </a:fld>
            <a:endParaRPr lang="en-US">
              <a:solidFill>
                <a:srgbClr val="000000"/>
              </a:solidFill>
              <a:ea typeface="ＭＳ Ｐゴシック"/>
              <a:cs typeface="Times New Roman" pitchFamily="18" charset="0"/>
            </a:endParaRPr>
          </a:p>
        </p:txBody>
      </p:sp>
    </p:spTree>
    <p:extLst>
      <p:ext uri="{BB962C8B-B14F-4D97-AF65-F5344CB8AC3E}">
        <p14:creationId xmlns:p14="http://schemas.microsoft.com/office/powerpoint/2010/main" val="46885939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p:cNvSpPr>
          <p:nvPr>
            <p:ph type="sldNum" sz="quarter" idx="10"/>
          </p:nvPr>
        </p:nvSpPr>
        <p:spPr>
          <a:xfrm>
            <a:off x="146051" y="6288088"/>
            <a:ext cx="1219200" cy="457200"/>
          </a:xfrm>
          <a:prstGeom prst="rect">
            <a:avLst/>
          </a:prstGeom>
        </p:spPr>
        <p:txBody>
          <a:bodyPr/>
          <a:lstStyle>
            <a:lvl1pPr>
              <a:defRPr/>
            </a:lvl1pPr>
          </a:lstStyle>
          <a:p>
            <a:pPr>
              <a:defRPr/>
            </a:pPr>
            <a:fld id="{5BB27830-E813-4D5B-BECC-EB4E76333BEB}" type="slidenum">
              <a:rPr lang="en-US" smtClean="0">
                <a:solidFill>
                  <a:srgbClr val="000000"/>
                </a:solidFill>
                <a:ea typeface="ＭＳ Ｐゴシック"/>
                <a:cs typeface="Times New Roman" pitchFamily="18" charset="0"/>
              </a:rPr>
              <a:pPr>
                <a:defRPr/>
              </a:pPr>
              <a:t>‹#›</a:t>
            </a:fld>
            <a:endParaRPr lang="en-US">
              <a:solidFill>
                <a:srgbClr val="000000"/>
              </a:solidFill>
              <a:ea typeface="ＭＳ Ｐゴシック"/>
              <a:cs typeface="Times New Roman" pitchFamily="18" charset="0"/>
            </a:endParaRPr>
          </a:p>
        </p:txBody>
      </p:sp>
    </p:spTree>
    <p:extLst>
      <p:ext uri="{BB962C8B-B14F-4D97-AF65-F5344CB8AC3E}">
        <p14:creationId xmlns:p14="http://schemas.microsoft.com/office/powerpoint/2010/main" val="13826331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p:cNvSpPr>
          <p:nvPr>
            <p:ph type="sldNum" sz="quarter" idx="10"/>
          </p:nvPr>
        </p:nvSpPr>
        <p:spPr>
          <a:xfrm>
            <a:off x="146051" y="6288088"/>
            <a:ext cx="1219200" cy="457200"/>
          </a:xfrm>
          <a:prstGeom prst="rect">
            <a:avLst/>
          </a:prstGeom>
        </p:spPr>
        <p:txBody>
          <a:bodyPr/>
          <a:lstStyle>
            <a:lvl1pPr>
              <a:defRPr/>
            </a:lvl1pPr>
          </a:lstStyle>
          <a:p>
            <a:pPr>
              <a:defRPr/>
            </a:pPr>
            <a:fld id="{8950E5CE-EF1E-495C-8D34-E9307ADFFB20}" type="slidenum">
              <a:rPr lang="en-US" smtClean="0">
                <a:solidFill>
                  <a:srgbClr val="000000"/>
                </a:solidFill>
                <a:ea typeface="ＭＳ Ｐゴシック"/>
                <a:cs typeface="Times New Roman" pitchFamily="18" charset="0"/>
              </a:rPr>
              <a:pPr>
                <a:defRPr/>
              </a:pPr>
              <a:t>‹#›</a:t>
            </a:fld>
            <a:endParaRPr lang="en-US">
              <a:solidFill>
                <a:srgbClr val="000000"/>
              </a:solidFill>
              <a:ea typeface="ＭＳ Ｐゴシック"/>
              <a:cs typeface="Times New Roman" pitchFamily="18" charset="0"/>
            </a:endParaRPr>
          </a:p>
        </p:txBody>
      </p:sp>
    </p:spTree>
    <p:extLst>
      <p:ext uri="{BB962C8B-B14F-4D97-AF65-F5344CB8AC3E}">
        <p14:creationId xmlns:p14="http://schemas.microsoft.com/office/powerpoint/2010/main" val="162632122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p:cNvSpPr>
          <p:nvPr>
            <p:ph type="sldNum" sz="quarter" idx="10"/>
          </p:nvPr>
        </p:nvSpPr>
        <p:spPr>
          <a:xfrm>
            <a:off x="146051" y="6288088"/>
            <a:ext cx="1219200" cy="457200"/>
          </a:xfrm>
          <a:prstGeom prst="rect">
            <a:avLst/>
          </a:prstGeom>
        </p:spPr>
        <p:txBody>
          <a:bodyPr/>
          <a:lstStyle>
            <a:lvl1pPr>
              <a:defRPr/>
            </a:lvl1pPr>
          </a:lstStyle>
          <a:p>
            <a:pPr>
              <a:defRPr/>
            </a:pPr>
            <a:fld id="{EDA7D03F-0D9F-4D6E-A9DA-DA22B08C88FB}" type="slidenum">
              <a:rPr lang="en-US" smtClean="0">
                <a:solidFill>
                  <a:srgbClr val="000000"/>
                </a:solidFill>
                <a:ea typeface="ＭＳ Ｐゴシック"/>
                <a:cs typeface="Times New Roman" pitchFamily="18" charset="0"/>
              </a:rPr>
              <a:pPr>
                <a:defRPr/>
              </a:pPr>
              <a:t>‹#›</a:t>
            </a:fld>
            <a:endParaRPr lang="en-US">
              <a:solidFill>
                <a:srgbClr val="000000"/>
              </a:solidFill>
              <a:ea typeface="ＭＳ Ｐゴシック"/>
              <a:cs typeface="Times New Roman" pitchFamily="18" charset="0"/>
            </a:endParaRPr>
          </a:p>
        </p:txBody>
      </p:sp>
    </p:spTree>
    <p:extLst>
      <p:ext uri="{BB962C8B-B14F-4D97-AF65-F5344CB8AC3E}">
        <p14:creationId xmlns:p14="http://schemas.microsoft.com/office/powerpoint/2010/main" val="94715928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90000" y="304800"/>
            <a:ext cx="25908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17600" y="304800"/>
            <a:ext cx="75692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p:cNvSpPr>
          <p:nvPr>
            <p:ph type="sldNum" sz="quarter" idx="10"/>
          </p:nvPr>
        </p:nvSpPr>
        <p:spPr>
          <a:xfrm>
            <a:off x="146051" y="6288088"/>
            <a:ext cx="1219200" cy="457200"/>
          </a:xfrm>
          <a:prstGeom prst="rect">
            <a:avLst/>
          </a:prstGeom>
        </p:spPr>
        <p:txBody>
          <a:bodyPr/>
          <a:lstStyle>
            <a:lvl1pPr>
              <a:defRPr/>
            </a:lvl1pPr>
          </a:lstStyle>
          <a:p>
            <a:pPr>
              <a:defRPr/>
            </a:pPr>
            <a:fld id="{5D488692-0FB6-433E-9CFB-08D03A34DD8A}" type="slidenum">
              <a:rPr lang="en-US" smtClean="0">
                <a:solidFill>
                  <a:srgbClr val="000000"/>
                </a:solidFill>
                <a:ea typeface="ＭＳ Ｐゴシック"/>
                <a:cs typeface="Times New Roman" pitchFamily="18" charset="0"/>
              </a:rPr>
              <a:pPr>
                <a:defRPr/>
              </a:pPr>
              <a:t>‹#›</a:t>
            </a:fld>
            <a:endParaRPr lang="en-US">
              <a:solidFill>
                <a:srgbClr val="000000"/>
              </a:solidFill>
              <a:ea typeface="ＭＳ Ｐゴシック"/>
              <a:cs typeface="Times New Roman" pitchFamily="18" charset="0"/>
            </a:endParaRPr>
          </a:p>
        </p:txBody>
      </p:sp>
    </p:spTree>
    <p:extLst>
      <p:ext uri="{BB962C8B-B14F-4D97-AF65-F5344CB8AC3E}">
        <p14:creationId xmlns:p14="http://schemas.microsoft.com/office/powerpoint/2010/main" val="34964778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117600" y="304800"/>
            <a:ext cx="10363200" cy="1143000"/>
          </a:xfrm>
          <a:prstGeom prst="rect">
            <a:avLst/>
          </a:prstGeom>
          <a:noFill/>
          <a:ln w="9525">
            <a:no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auto">
          <a:xfrm>
            <a:off x="1117600" y="1676400"/>
            <a:ext cx="103632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p:txBody>
      </p:sp>
      <p:sp>
        <p:nvSpPr>
          <p:cNvPr id="1042" name="Line 18"/>
          <p:cNvSpPr>
            <a:spLocks noChangeShapeType="1"/>
          </p:cNvSpPr>
          <p:nvPr userDrawn="1"/>
        </p:nvSpPr>
        <p:spPr bwMode="auto">
          <a:xfrm>
            <a:off x="203200" y="6629400"/>
            <a:ext cx="711200" cy="0"/>
          </a:xfrm>
          <a:prstGeom prst="line">
            <a:avLst/>
          </a:prstGeom>
          <a:noFill/>
          <a:ln w="9525">
            <a:solidFill>
              <a:schemeClr val="bg1"/>
            </a:solidFill>
            <a:round/>
            <a:headEnd/>
            <a:tailEnd/>
          </a:ln>
        </p:spPr>
        <p:txBody>
          <a:bodyPr/>
          <a:lstStyle/>
          <a:p>
            <a:endParaRPr lang="en-US" sz="2400"/>
          </a:p>
        </p:txBody>
      </p:sp>
      <p:sp>
        <p:nvSpPr>
          <p:cNvPr id="1043" name="Line 19"/>
          <p:cNvSpPr>
            <a:spLocks noChangeShapeType="1"/>
          </p:cNvSpPr>
          <p:nvPr userDrawn="1"/>
        </p:nvSpPr>
        <p:spPr bwMode="auto">
          <a:xfrm flipV="1">
            <a:off x="203200" y="6400800"/>
            <a:ext cx="0" cy="228600"/>
          </a:xfrm>
          <a:prstGeom prst="line">
            <a:avLst/>
          </a:prstGeom>
          <a:noFill/>
          <a:ln w="9525">
            <a:solidFill>
              <a:schemeClr val="bg1"/>
            </a:solidFill>
            <a:round/>
            <a:headEnd/>
            <a:tailEnd/>
          </a:ln>
        </p:spPr>
        <p:txBody>
          <a:bodyPr wrap="none" anchor="ctr"/>
          <a:lstStyle/>
          <a:p>
            <a:endParaRPr lang="en-US" sz="2400"/>
          </a:p>
        </p:txBody>
      </p:sp>
      <p:sp>
        <p:nvSpPr>
          <p:cNvPr id="1044" name="Line 20"/>
          <p:cNvSpPr>
            <a:spLocks noChangeShapeType="1"/>
          </p:cNvSpPr>
          <p:nvPr userDrawn="1"/>
        </p:nvSpPr>
        <p:spPr bwMode="auto">
          <a:xfrm>
            <a:off x="203200" y="6400800"/>
            <a:ext cx="304800" cy="0"/>
          </a:xfrm>
          <a:prstGeom prst="line">
            <a:avLst/>
          </a:prstGeom>
          <a:noFill/>
          <a:ln w="9525">
            <a:solidFill>
              <a:schemeClr val="bg1"/>
            </a:solidFill>
            <a:round/>
            <a:headEnd/>
            <a:tailEnd/>
          </a:ln>
        </p:spPr>
        <p:txBody>
          <a:bodyPr wrap="none" anchor="ctr"/>
          <a:lstStyle/>
          <a:p>
            <a:endParaRPr lang="en-US" sz="240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rtl="0" fontAlgn="base">
        <a:spcBef>
          <a:spcPct val="0"/>
        </a:spcBef>
        <a:spcAft>
          <a:spcPct val="0"/>
        </a:spcAft>
        <a:defRPr sz="4800" b="1">
          <a:solidFill>
            <a:schemeClr val="tx2"/>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p:titleStyle>
    <p:bodyStyle>
      <a:lvl1pPr marL="0" indent="0" algn="l" rtl="0" fontAlgn="base">
        <a:spcBef>
          <a:spcPct val="20000"/>
        </a:spcBef>
        <a:spcAft>
          <a:spcPct val="0"/>
        </a:spcAft>
        <a:buClr>
          <a:srgbClr val="691638"/>
        </a:buClr>
        <a:buNone/>
        <a:defRPr sz="2400" b="1">
          <a:solidFill>
            <a:schemeClr val="tx2"/>
          </a:solidFill>
          <a:latin typeface="+mn-lt"/>
          <a:ea typeface="+mn-ea"/>
          <a:cs typeface="+mn-cs"/>
        </a:defRPr>
      </a:lvl1pPr>
      <a:lvl2pPr marL="742950" indent="-285750" algn="l" rtl="0" fontAlgn="base">
        <a:spcBef>
          <a:spcPct val="20000"/>
        </a:spcBef>
        <a:spcAft>
          <a:spcPct val="0"/>
        </a:spcAft>
        <a:buClr>
          <a:srgbClr val="DC5A21"/>
        </a:buClr>
        <a:buFont typeface="Times" pitchFamily="18" charset="0"/>
        <a:buChar char="•"/>
        <a:defRPr sz="2400">
          <a:solidFill>
            <a:schemeClr val="tx2"/>
          </a:solidFill>
          <a:latin typeface="+mn-lt"/>
          <a:ea typeface="+mn-ea"/>
        </a:defRPr>
      </a:lvl2pPr>
      <a:lvl3pPr marL="1143000" indent="-228600" algn="l" rtl="0" fontAlgn="base">
        <a:spcBef>
          <a:spcPct val="20000"/>
        </a:spcBef>
        <a:spcAft>
          <a:spcPct val="0"/>
        </a:spcAft>
        <a:buClr>
          <a:srgbClr val="87ADB0"/>
        </a:buClr>
        <a:buChar char="•"/>
        <a:defRPr sz="2000">
          <a:solidFill>
            <a:schemeClr val="tx2"/>
          </a:solidFill>
          <a:latin typeface="+mn-lt"/>
          <a:ea typeface="+mn-ea"/>
        </a:defRPr>
      </a:lvl3pPr>
      <a:lvl4pPr marL="1600200" indent="-228600" algn="l" rtl="0" fontAlgn="base">
        <a:spcBef>
          <a:spcPct val="20000"/>
        </a:spcBef>
        <a:spcAft>
          <a:spcPct val="0"/>
        </a:spcAft>
        <a:buChar char="–"/>
        <a:defRPr>
          <a:solidFill>
            <a:schemeClr val="tx2"/>
          </a:solidFill>
          <a:latin typeface="+mn-lt"/>
          <a:ea typeface="+mn-ea"/>
        </a:defRPr>
      </a:lvl4pPr>
      <a:lvl5pPr marL="2057400" indent="-228600" algn="l" rtl="0" fontAlgn="base">
        <a:spcBef>
          <a:spcPct val="20000"/>
        </a:spcBef>
        <a:spcAft>
          <a:spcPct val="0"/>
        </a:spcAft>
        <a:buChar char="»"/>
        <a:defRPr sz="1600">
          <a:solidFill>
            <a:schemeClr val="tx2"/>
          </a:solidFill>
          <a:latin typeface="+mn-lt"/>
          <a:ea typeface="+mn-ea"/>
        </a:defRPr>
      </a:lvl5pPr>
      <a:lvl6pPr marL="2514600" indent="-228600" algn="l" rtl="0" fontAlgn="base">
        <a:spcBef>
          <a:spcPct val="20000"/>
        </a:spcBef>
        <a:spcAft>
          <a:spcPct val="0"/>
        </a:spcAft>
        <a:buChar char="»"/>
        <a:defRPr sz="1600">
          <a:solidFill>
            <a:schemeClr val="tx1"/>
          </a:solidFill>
          <a:latin typeface="+mn-lt"/>
          <a:ea typeface="+mn-ea"/>
        </a:defRPr>
      </a:lvl6pPr>
      <a:lvl7pPr marL="2971800" indent="-228600" algn="l" rtl="0" fontAlgn="base">
        <a:spcBef>
          <a:spcPct val="20000"/>
        </a:spcBef>
        <a:spcAft>
          <a:spcPct val="0"/>
        </a:spcAft>
        <a:buChar char="»"/>
        <a:defRPr sz="1600">
          <a:solidFill>
            <a:schemeClr val="tx1"/>
          </a:solidFill>
          <a:latin typeface="+mn-lt"/>
          <a:ea typeface="+mn-ea"/>
        </a:defRPr>
      </a:lvl7pPr>
      <a:lvl8pPr marL="3429000" indent="-228600" algn="l" rtl="0" fontAlgn="base">
        <a:spcBef>
          <a:spcPct val="20000"/>
        </a:spcBef>
        <a:spcAft>
          <a:spcPct val="0"/>
        </a:spcAft>
        <a:buChar char="»"/>
        <a:defRPr sz="1600">
          <a:solidFill>
            <a:schemeClr val="tx1"/>
          </a:solidFill>
          <a:latin typeface="+mn-lt"/>
          <a:ea typeface="+mn-ea"/>
        </a:defRPr>
      </a:lvl8pPr>
      <a:lvl9pPr marL="3886200" indent="-228600" algn="l" rtl="0" fontAlgn="base">
        <a:spcBef>
          <a:spcPct val="20000"/>
        </a:spcBef>
        <a:spcAft>
          <a:spcPct val="0"/>
        </a:spcAft>
        <a:buChar char="»"/>
        <a:defRPr sz="16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117600" y="304800"/>
            <a:ext cx="10363200" cy="1143000"/>
          </a:xfrm>
          <a:prstGeom prst="rect">
            <a:avLst/>
          </a:prstGeom>
          <a:noFill/>
          <a:ln w="9525">
            <a:no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auto">
          <a:xfrm>
            <a:off x="1117600" y="1676400"/>
            <a:ext cx="103632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p:txBody>
      </p:sp>
      <p:sp>
        <p:nvSpPr>
          <p:cNvPr id="1042" name="Line 18"/>
          <p:cNvSpPr>
            <a:spLocks noChangeShapeType="1"/>
          </p:cNvSpPr>
          <p:nvPr userDrawn="1"/>
        </p:nvSpPr>
        <p:spPr bwMode="auto">
          <a:xfrm>
            <a:off x="203200" y="6629400"/>
            <a:ext cx="711200" cy="0"/>
          </a:xfrm>
          <a:prstGeom prst="line">
            <a:avLst/>
          </a:prstGeom>
          <a:noFill/>
          <a:ln w="9525">
            <a:solidFill>
              <a:schemeClr val="bg1"/>
            </a:solidFill>
            <a:round/>
            <a:headEnd/>
            <a:tailEnd/>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Arial" charset="0"/>
              <a:ea typeface="ＭＳ Ｐゴシック"/>
              <a:cs typeface="Times New Roman" pitchFamily="18" charset="0"/>
            </a:endParaRPr>
          </a:p>
        </p:txBody>
      </p:sp>
      <p:sp>
        <p:nvSpPr>
          <p:cNvPr id="1043" name="Line 19"/>
          <p:cNvSpPr>
            <a:spLocks noChangeShapeType="1"/>
          </p:cNvSpPr>
          <p:nvPr userDrawn="1"/>
        </p:nvSpPr>
        <p:spPr bwMode="auto">
          <a:xfrm flipV="1">
            <a:off x="203200" y="6400800"/>
            <a:ext cx="0" cy="228600"/>
          </a:xfrm>
          <a:prstGeom prst="line">
            <a:avLst/>
          </a:prstGeom>
          <a:noFill/>
          <a:ln w="9525">
            <a:solidFill>
              <a:schemeClr val="bg1"/>
            </a:solidFill>
            <a:round/>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Arial" charset="0"/>
              <a:ea typeface="ＭＳ Ｐゴシック"/>
              <a:cs typeface="Times New Roman" pitchFamily="18" charset="0"/>
            </a:endParaRPr>
          </a:p>
        </p:txBody>
      </p:sp>
      <p:sp>
        <p:nvSpPr>
          <p:cNvPr id="1044" name="Line 20"/>
          <p:cNvSpPr>
            <a:spLocks noChangeShapeType="1"/>
          </p:cNvSpPr>
          <p:nvPr userDrawn="1"/>
        </p:nvSpPr>
        <p:spPr bwMode="auto">
          <a:xfrm>
            <a:off x="203200" y="6400800"/>
            <a:ext cx="304800" cy="0"/>
          </a:xfrm>
          <a:prstGeom prst="line">
            <a:avLst/>
          </a:prstGeom>
          <a:noFill/>
          <a:ln w="9525">
            <a:solidFill>
              <a:schemeClr val="bg1"/>
            </a:solidFill>
            <a:round/>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Arial" charset="0"/>
              <a:ea typeface="ＭＳ Ｐゴシック"/>
              <a:cs typeface="Times New Roman" pitchFamily="18" charset="0"/>
            </a:endParaRPr>
          </a:p>
        </p:txBody>
      </p:sp>
    </p:spTree>
    <p:extLst>
      <p:ext uri="{BB962C8B-B14F-4D97-AF65-F5344CB8AC3E}">
        <p14:creationId xmlns:p14="http://schemas.microsoft.com/office/powerpoint/2010/main" val="3965924330"/>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ftr="0" dt="0"/>
  <p:txStyles>
    <p:titleStyle>
      <a:lvl1pPr algn="l" rtl="0" fontAlgn="base">
        <a:spcBef>
          <a:spcPct val="0"/>
        </a:spcBef>
        <a:spcAft>
          <a:spcPct val="0"/>
        </a:spcAft>
        <a:defRPr sz="4400">
          <a:solidFill>
            <a:schemeClr val="tx2"/>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p:titleStyle>
    <p:bodyStyle>
      <a:lvl1pPr marL="0" indent="0" algn="l" rtl="0" fontAlgn="base">
        <a:spcBef>
          <a:spcPct val="20000"/>
        </a:spcBef>
        <a:spcAft>
          <a:spcPct val="0"/>
        </a:spcAft>
        <a:buClr>
          <a:srgbClr val="691638"/>
        </a:buClr>
        <a:buNone/>
        <a:defRPr sz="2800">
          <a:solidFill>
            <a:schemeClr val="tx2"/>
          </a:solidFill>
          <a:latin typeface="+mn-lt"/>
          <a:ea typeface="+mn-ea"/>
          <a:cs typeface="+mn-cs"/>
        </a:defRPr>
      </a:lvl1pPr>
      <a:lvl2pPr marL="742950" indent="-285750" algn="l" rtl="0" fontAlgn="base">
        <a:spcBef>
          <a:spcPct val="20000"/>
        </a:spcBef>
        <a:spcAft>
          <a:spcPct val="0"/>
        </a:spcAft>
        <a:buClr>
          <a:srgbClr val="DC5A21"/>
        </a:buClr>
        <a:buFont typeface="Times" pitchFamily="18" charset="0"/>
        <a:buChar char="•"/>
        <a:defRPr sz="2400">
          <a:solidFill>
            <a:schemeClr val="tx2"/>
          </a:solidFill>
          <a:latin typeface="+mn-lt"/>
          <a:ea typeface="+mn-ea"/>
        </a:defRPr>
      </a:lvl2pPr>
      <a:lvl3pPr marL="1143000" indent="-228600" algn="l" rtl="0" fontAlgn="base">
        <a:spcBef>
          <a:spcPct val="20000"/>
        </a:spcBef>
        <a:spcAft>
          <a:spcPct val="0"/>
        </a:spcAft>
        <a:buClr>
          <a:srgbClr val="87ADB0"/>
        </a:buClr>
        <a:buChar char="•"/>
        <a:defRPr sz="2000">
          <a:solidFill>
            <a:schemeClr val="tx2"/>
          </a:solidFill>
          <a:latin typeface="+mn-lt"/>
          <a:ea typeface="+mn-ea"/>
        </a:defRPr>
      </a:lvl3pPr>
      <a:lvl4pPr marL="1600200" indent="-228600" algn="l" rtl="0" fontAlgn="base">
        <a:spcBef>
          <a:spcPct val="20000"/>
        </a:spcBef>
        <a:spcAft>
          <a:spcPct val="0"/>
        </a:spcAft>
        <a:buChar char="–"/>
        <a:defRPr>
          <a:solidFill>
            <a:schemeClr val="tx2"/>
          </a:solidFill>
          <a:latin typeface="+mn-lt"/>
          <a:ea typeface="+mn-ea"/>
        </a:defRPr>
      </a:lvl4pPr>
      <a:lvl5pPr marL="2057400" indent="-228600" algn="l" rtl="0" fontAlgn="base">
        <a:spcBef>
          <a:spcPct val="20000"/>
        </a:spcBef>
        <a:spcAft>
          <a:spcPct val="0"/>
        </a:spcAft>
        <a:buChar char="»"/>
        <a:defRPr sz="1600">
          <a:solidFill>
            <a:schemeClr val="tx2"/>
          </a:solidFill>
          <a:latin typeface="+mn-lt"/>
          <a:ea typeface="+mn-ea"/>
        </a:defRPr>
      </a:lvl5pPr>
      <a:lvl6pPr marL="2514600" indent="-228600" algn="l" rtl="0" fontAlgn="base">
        <a:spcBef>
          <a:spcPct val="20000"/>
        </a:spcBef>
        <a:spcAft>
          <a:spcPct val="0"/>
        </a:spcAft>
        <a:buChar char="»"/>
        <a:defRPr sz="1600">
          <a:solidFill>
            <a:schemeClr val="tx1"/>
          </a:solidFill>
          <a:latin typeface="+mn-lt"/>
          <a:ea typeface="+mn-ea"/>
        </a:defRPr>
      </a:lvl6pPr>
      <a:lvl7pPr marL="2971800" indent="-228600" algn="l" rtl="0" fontAlgn="base">
        <a:spcBef>
          <a:spcPct val="20000"/>
        </a:spcBef>
        <a:spcAft>
          <a:spcPct val="0"/>
        </a:spcAft>
        <a:buChar char="»"/>
        <a:defRPr sz="1600">
          <a:solidFill>
            <a:schemeClr val="tx1"/>
          </a:solidFill>
          <a:latin typeface="+mn-lt"/>
          <a:ea typeface="+mn-ea"/>
        </a:defRPr>
      </a:lvl7pPr>
      <a:lvl8pPr marL="3429000" indent="-228600" algn="l" rtl="0" fontAlgn="base">
        <a:spcBef>
          <a:spcPct val="20000"/>
        </a:spcBef>
        <a:spcAft>
          <a:spcPct val="0"/>
        </a:spcAft>
        <a:buChar char="»"/>
        <a:defRPr sz="1600">
          <a:solidFill>
            <a:schemeClr val="tx1"/>
          </a:solidFill>
          <a:latin typeface="+mn-lt"/>
          <a:ea typeface="+mn-ea"/>
        </a:defRPr>
      </a:lvl8pPr>
      <a:lvl9pPr marL="3886200" indent="-228600" algn="l" rtl="0" fontAlgn="base">
        <a:spcBef>
          <a:spcPct val="20000"/>
        </a:spcBef>
        <a:spcAft>
          <a:spcPct val="0"/>
        </a:spcAft>
        <a:buChar char="»"/>
        <a:defRPr sz="16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4.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3.wmf"/><Relationship Id="rId5" Type="http://schemas.openxmlformats.org/officeDocument/2006/relationships/oleObject" Target="../embeddings/oleObject2.bin"/><Relationship Id="rId4" Type="http://schemas.openxmlformats.org/officeDocument/2006/relationships/image" Target="../media/image12.wmf"/></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8.wmf"/></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7.bin"/><Relationship Id="rId13" Type="http://schemas.openxmlformats.org/officeDocument/2006/relationships/image" Target="../media/image24.wmf"/><Relationship Id="rId18" Type="http://schemas.openxmlformats.org/officeDocument/2006/relationships/oleObject" Target="../embeddings/oleObject12.bin"/><Relationship Id="rId3" Type="http://schemas.openxmlformats.org/officeDocument/2006/relationships/image" Target="../media/image19.png"/><Relationship Id="rId21" Type="http://schemas.openxmlformats.org/officeDocument/2006/relationships/image" Target="../media/image28.wmf"/><Relationship Id="rId7" Type="http://schemas.openxmlformats.org/officeDocument/2006/relationships/image" Target="../media/image21.wmf"/><Relationship Id="rId12" Type="http://schemas.openxmlformats.org/officeDocument/2006/relationships/oleObject" Target="../embeddings/oleObject9.bin"/><Relationship Id="rId17" Type="http://schemas.openxmlformats.org/officeDocument/2006/relationships/image" Target="../media/image26.wmf"/><Relationship Id="rId25" Type="http://schemas.openxmlformats.org/officeDocument/2006/relationships/image" Target="../media/image30.wmf"/><Relationship Id="rId2" Type="http://schemas.openxmlformats.org/officeDocument/2006/relationships/notesSlide" Target="../notesSlides/notesSlide19.xml"/><Relationship Id="rId16" Type="http://schemas.openxmlformats.org/officeDocument/2006/relationships/oleObject" Target="../embeddings/oleObject11.bin"/><Relationship Id="rId20" Type="http://schemas.openxmlformats.org/officeDocument/2006/relationships/oleObject" Target="../embeddings/oleObject13.bin"/><Relationship Id="rId1" Type="http://schemas.openxmlformats.org/officeDocument/2006/relationships/slideLayout" Target="../slideLayouts/slideLayout2.xml"/><Relationship Id="rId6" Type="http://schemas.openxmlformats.org/officeDocument/2006/relationships/oleObject" Target="../embeddings/oleObject6.bin"/><Relationship Id="rId11" Type="http://schemas.openxmlformats.org/officeDocument/2006/relationships/image" Target="../media/image23.wmf"/><Relationship Id="rId24" Type="http://schemas.openxmlformats.org/officeDocument/2006/relationships/oleObject" Target="../embeddings/oleObject15.bin"/><Relationship Id="rId5" Type="http://schemas.openxmlformats.org/officeDocument/2006/relationships/image" Target="../media/image20.wmf"/><Relationship Id="rId15" Type="http://schemas.openxmlformats.org/officeDocument/2006/relationships/image" Target="../media/image25.wmf"/><Relationship Id="rId23" Type="http://schemas.openxmlformats.org/officeDocument/2006/relationships/image" Target="../media/image29.wmf"/><Relationship Id="rId10" Type="http://schemas.openxmlformats.org/officeDocument/2006/relationships/oleObject" Target="../embeddings/oleObject8.bin"/><Relationship Id="rId19" Type="http://schemas.openxmlformats.org/officeDocument/2006/relationships/image" Target="../media/image27.wmf"/><Relationship Id="rId4" Type="http://schemas.openxmlformats.org/officeDocument/2006/relationships/oleObject" Target="../embeddings/oleObject5.bin"/><Relationship Id="rId9" Type="http://schemas.openxmlformats.org/officeDocument/2006/relationships/image" Target="../media/image22.wmf"/><Relationship Id="rId14" Type="http://schemas.openxmlformats.org/officeDocument/2006/relationships/oleObject" Target="../embeddings/oleObject10.bin"/><Relationship Id="rId22" Type="http://schemas.openxmlformats.org/officeDocument/2006/relationships/oleObject" Target="../embeddings/oleObject14.bin"/></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2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43.png"/></Relationships>
</file>

<file path=ppt/slides/_rels/slide3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46.png"/><Relationship Id="rId4" Type="http://schemas.openxmlformats.org/officeDocument/2006/relationships/image" Target="../media/image45.png"/></Relationships>
</file>

<file path=ppt/slides/_rels/slide3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3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46.png"/><Relationship Id="rId4" Type="http://schemas.openxmlformats.org/officeDocument/2006/relationships/image" Target="../media/image49.png"/></Relationships>
</file>

<file path=ppt/slides/_rels/slide33.xml.rels><?xml version="1.0" encoding="UTF-8" standalone="yes"?>
<Relationships xmlns="http://schemas.openxmlformats.org/package/2006/relationships"><Relationship Id="rId13" Type="http://schemas.openxmlformats.org/officeDocument/2006/relationships/oleObject" Target="../embeddings/oleObject20.bin"/><Relationship Id="rId18" Type="http://schemas.openxmlformats.org/officeDocument/2006/relationships/image" Target="../media/image58.wmf"/><Relationship Id="rId26" Type="http://schemas.openxmlformats.org/officeDocument/2006/relationships/image" Target="../media/image62.wmf"/><Relationship Id="rId39" Type="http://schemas.openxmlformats.org/officeDocument/2006/relationships/oleObject" Target="../embeddings/oleObject33.bin"/><Relationship Id="rId21" Type="http://schemas.openxmlformats.org/officeDocument/2006/relationships/oleObject" Target="../embeddings/oleObject24.bin"/><Relationship Id="rId34" Type="http://schemas.openxmlformats.org/officeDocument/2006/relationships/image" Target="../media/image66.wmf"/><Relationship Id="rId7" Type="http://schemas.openxmlformats.org/officeDocument/2006/relationships/oleObject" Target="../embeddings/oleObject17.bin"/><Relationship Id="rId2" Type="http://schemas.openxmlformats.org/officeDocument/2006/relationships/notesSlide" Target="../notesSlides/notesSlide33.xml"/><Relationship Id="rId16" Type="http://schemas.openxmlformats.org/officeDocument/2006/relationships/image" Target="../media/image57.wmf"/><Relationship Id="rId20" Type="http://schemas.openxmlformats.org/officeDocument/2006/relationships/image" Target="../media/image59.wmf"/><Relationship Id="rId29" Type="http://schemas.openxmlformats.org/officeDocument/2006/relationships/oleObject" Target="../embeddings/oleObject28.bin"/><Relationship Id="rId41" Type="http://schemas.openxmlformats.org/officeDocument/2006/relationships/image" Target="../media/image46.png"/><Relationship Id="rId1" Type="http://schemas.openxmlformats.org/officeDocument/2006/relationships/slideLayout" Target="../slideLayouts/slideLayout2.xml"/><Relationship Id="rId6" Type="http://schemas.openxmlformats.org/officeDocument/2006/relationships/image" Target="../media/image52.wmf"/><Relationship Id="rId11" Type="http://schemas.openxmlformats.org/officeDocument/2006/relationships/oleObject" Target="../embeddings/oleObject19.bin"/><Relationship Id="rId24" Type="http://schemas.openxmlformats.org/officeDocument/2006/relationships/image" Target="../media/image61.wmf"/><Relationship Id="rId32" Type="http://schemas.openxmlformats.org/officeDocument/2006/relationships/image" Target="../media/image65.wmf"/><Relationship Id="rId37" Type="http://schemas.openxmlformats.org/officeDocument/2006/relationships/oleObject" Target="../embeddings/oleObject32.bin"/><Relationship Id="rId40" Type="http://schemas.openxmlformats.org/officeDocument/2006/relationships/image" Target="../media/image69.wmf"/><Relationship Id="rId5" Type="http://schemas.openxmlformats.org/officeDocument/2006/relationships/oleObject" Target="../embeddings/oleObject16.bin"/><Relationship Id="rId15" Type="http://schemas.openxmlformats.org/officeDocument/2006/relationships/oleObject" Target="../embeddings/oleObject21.bin"/><Relationship Id="rId23" Type="http://schemas.openxmlformats.org/officeDocument/2006/relationships/oleObject" Target="../embeddings/oleObject25.bin"/><Relationship Id="rId28" Type="http://schemas.openxmlformats.org/officeDocument/2006/relationships/image" Target="../media/image63.wmf"/><Relationship Id="rId36" Type="http://schemas.openxmlformats.org/officeDocument/2006/relationships/image" Target="../media/image67.wmf"/><Relationship Id="rId10" Type="http://schemas.openxmlformats.org/officeDocument/2006/relationships/image" Target="../media/image54.wmf"/><Relationship Id="rId19" Type="http://schemas.openxmlformats.org/officeDocument/2006/relationships/oleObject" Target="../embeddings/oleObject23.bin"/><Relationship Id="rId31" Type="http://schemas.openxmlformats.org/officeDocument/2006/relationships/oleObject" Target="../embeddings/oleObject29.bin"/><Relationship Id="rId4" Type="http://schemas.openxmlformats.org/officeDocument/2006/relationships/image" Target="../media/image51.png"/><Relationship Id="rId9" Type="http://schemas.openxmlformats.org/officeDocument/2006/relationships/oleObject" Target="../embeddings/oleObject18.bin"/><Relationship Id="rId14" Type="http://schemas.openxmlformats.org/officeDocument/2006/relationships/image" Target="../media/image56.wmf"/><Relationship Id="rId22" Type="http://schemas.openxmlformats.org/officeDocument/2006/relationships/image" Target="../media/image60.wmf"/><Relationship Id="rId27" Type="http://schemas.openxmlformats.org/officeDocument/2006/relationships/oleObject" Target="../embeddings/oleObject27.bin"/><Relationship Id="rId30" Type="http://schemas.openxmlformats.org/officeDocument/2006/relationships/image" Target="../media/image64.wmf"/><Relationship Id="rId35" Type="http://schemas.openxmlformats.org/officeDocument/2006/relationships/oleObject" Target="../embeddings/oleObject31.bin"/><Relationship Id="rId8" Type="http://schemas.openxmlformats.org/officeDocument/2006/relationships/image" Target="../media/image53.wmf"/><Relationship Id="rId3" Type="http://schemas.openxmlformats.org/officeDocument/2006/relationships/image" Target="../media/image50.png"/><Relationship Id="rId12" Type="http://schemas.openxmlformats.org/officeDocument/2006/relationships/image" Target="../media/image55.wmf"/><Relationship Id="rId17" Type="http://schemas.openxmlformats.org/officeDocument/2006/relationships/oleObject" Target="../embeddings/oleObject22.bin"/><Relationship Id="rId25" Type="http://schemas.openxmlformats.org/officeDocument/2006/relationships/oleObject" Target="../embeddings/oleObject26.bin"/><Relationship Id="rId33" Type="http://schemas.openxmlformats.org/officeDocument/2006/relationships/oleObject" Target="../embeddings/oleObject30.bin"/><Relationship Id="rId38" Type="http://schemas.openxmlformats.org/officeDocument/2006/relationships/image" Target="../media/image68.wmf"/></Relationships>
</file>

<file path=ppt/slides/_rels/slide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35.bin"/><Relationship Id="rId13" Type="http://schemas.openxmlformats.org/officeDocument/2006/relationships/oleObject" Target="../embeddings/oleObject37.bin"/><Relationship Id="rId18" Type="http://schemas.openxmlformats.org/officeDocument/2006/relationships/image" Target="../media/image24.wmf"/><Relationship Id="rId3" Type="http://schemas.openxmlformats.org/officeDocument/2006/relationships/image" Target="../media/image15.png"/><Relationship Id="rId21" Type="http://schemas.openxmlformats.org/officeDocument/2006/relationships/oleObject" Target="../embeddings/oleObject10.bin"/><Relationship Id="rId7" Type="http://schemas.openxmlformats.org/officeDocument/2006/relationships/image" Target="../media/image30.wmf"/><Relationship Id="rId12" Type="http://schemas.openxmlformats.org/officeDocument/2006/relationships/image" Target="../media/image19.png"/><Relationship Id="rId17" Type="http://schemas.openxmlformats.org/officeDocument/2006/relationships/oleObject" Target="../embeddings/oleObject9.bin"/><Relationship Id="rId2" Type="http://schemas.openxmlformats.org/officeDocument/2006/relationships/notesSlide" Target="../notesSlides/notesSlide36.xml"/><Relationship Id="rId16" Type="http://schemas.openxmlformats.org/officeDocument/2006/relationships/image" Target="../media/image20.wmf"/><Relationship Id="rId20" Type="http://schemas.openxmlformats.org/officeDocument/2006/relationships/image" Target="../media/image29.wmf"/><Relationship Id="rId1" Type="http://schemas.openxmlformats.org/officeDocument/2006/relationships/slideLayout" Target="../slideLayouts/slideLayout2.xml"/><Relationship Id="rId6" Type="http://schemas.openxmlformats.org/officeDocument/2006/relationships/oleObject" Target="../embeddings/oleObject15.bin"/><Relationship Id="rId11" Type="http://schemas.openxmlformats.org/officeDocument/2006/relationships/image" Target="../media/image72.wmf"/><Relationship Id="rId5" Type="http://schemas.openxmlformats.org/officeDocument/2006/relationships/image" Target="../media/image70.wmf"/><Relationship Id="rId15" Type="http://schemas.openxmlformats.org/officeDocument/2006/relationships/oleObject" Target="../embeddings/oleObject5.bin"/><Relationship Id="rId10" Type="http://schemas.openxmlformats.org/officeDocument/2006/relationships/oleObject" Target="../embeddings/oleObject36.bin"/><Relationship Id="rId19" Type="http://schemas.openxmlformats.org/officeDocument/2006/relationships/oleObject" Target="../embeddings/oleObject38.bin"/><Relationship Id="rId4" Type="http://schemas.openxmlformats.org/officeDocument/2006/relationships/oleObject" Target="../embeddings/oleObject34.bin"/><Relationship Id="rId9" Type="http://schemas.openxmlformats.org/officeDocument/2006/relationships/image" Target="../media/image71.wmf"/><Relationship Id="rId14" Type="http://schemas.openxmlformats.org/officeDocument/2006/relationships/image" Target="../media/image73.wmf"/><Relationship Id="rId22" Type="http://schemas.openxmlformats.org/officeDocument/2006/relationships/image" Target="../media/image25.wmf"/></Relationships>
</file>

<file path=ppt/slides/_rels/slide37.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75.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41.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77.png"/></Relationships>
</file>

<file path=ppt/slides/_rels/slide42.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85.png"/></Relationships>
</file>

<file path=ppt/slides/_rels/slide50.xml.rels><?xml version="1.0" encoding="UTF-8" standalone="yes"?>
<Relationships xmlns="http://schemas.openxmlformats.org/package/2006/relationships"><Relationship Id="rId3" Type="http://schemas.openxmlformats.org/officeDocument/2006/relationships/hyperlink" Target="http://www.mathworks.com/help/images/radon-transform.html?refresh=true" TargetMode="External"/><Relationship Id="rId2" Type="http://schemas.openxmlformats.org/officeDocument/2006/relationships/notesSlide" Target="../notesSlides/notesSlide50.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931549" y="55626"/>
            <a:ext cx="1682262" cy="1600200"/>
          </a:xfrm>
          <a:prstGeom prst="rect">
            <a:avLst/>
          </a:prstGeom>
        </p:spPr>
      </p:pic>
      <p:pic>
        <p:nvPicPr>
          <p:cNvPr id="8194" name="Picture 2" descr="lgplogo2c"/>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4959" y="62178"/>
            <a:ext cx="6707205" cy="1274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4000" y="4896962"/>
            <a:ext cx="9144000" cy="1961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Rectangle 5"/>
          <p:cNvSpPr txBox="1">
            <a:spLocks noChangeArrowheads="1"/>
          </p:cNvSpPr>
          <p:nvPr/>
        </p:nvSpPr>
        <p:spPr bwMode="auto">
          <a:xfrm>
            <a:off x="1524000" y="1722874"/>
            <a:ext cx="9144000" cy="33981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fontAlgn="base">
              <a:spcBef>
                <a:spcPct val="20000"/>
              </a:spcBef>
              <a:spcAft>
                <a:spcPct val="0"/>
              </a:spcAft>
              <a:buClr>
                <a:srgbClr val="691638"/>
              </a:buClr>
              <a:buNone/>
              <a:defRPr sz="2800">
                <a:solidFill>
                  <a:schemeClr val="tx2"/>
                </a:solidFill>
                <a:latin typeface="+mn-lt"/>
                <a:ea typeface="+mn-ea"/>
                <a:cs typeface="+mn-cs"/>
              </a:defRPr>
            </a:lvl1pPr>
            <a:lvl2pPr marL="742950" indent="-285750" algn="l" rtl="0" fontAlgn="base">
              <a:spcBef>
                <a:spcPct val="20000"/>
              </a:spcBef>
              <a:spcAft>
                <a:spcPct val="0"/>
              </a:spcAft>
              <a:buClr>
                <a:srgbClr val="DC5A21"/>
              </a:buClr>
              <a:buFont typeface="Times" pitchFamily="18" charset="0"/>
              <a:buChar char="•"/>
              <a:defRPr sz="2400">
                <a:solidFill>
                  <a:schemeClr val="tx2"/>
                </a:solidFill>
                <a:latin typeface="+mn-lt"/>
                <a:ea typeface="+mn-ea"/>
              </a:defRPr>
            </a:lvl2pPr>
            <a:lvl3pPr marL="1143000" indent="-228600" algn="l" rtl="0" fontAlgn="base">
              <a:spcBef>
                <a:spcPct val="20000"/>
              </a:spcBef>
              <a:spcAft>
                <a:spcPct val="0"/>
              </a:spcAft>
              <a:buClr>
                <a:srgbClr val="87ADB0"/>
              </a:buClr>
              <a:buChar char="•"/>
              <a:defRPr sz="2000">
                <a:solidFill>
                  <a:schemeClr val="tx2"/>
                </a:solidFill>
                <a:latin typeface="+mn-lt"/>
                <a:ea typeface="+mn-ea"/>
              </a:defRPr>
            </a:lvl3pPr>
            <a:lvl4pPr marL="1600200" indent="-228600" algn="l" rtl="0" fontAlgn="base">
              <a:spcBef>
                <a:spcPct val="20000"/>
              </a:spcBef>
              <a:spcAft>
                <a:spcPct val="0"/>
              </a:spcAft>
              <a:buChar char="–"/>
              <a:defRPr>
                <a:solidFill>
                  <a:schemeClr val="tx2"/>
                </a:solidFill>
                <a:latin typeface="+mn-lt"/>
                <a:ea typeface="+mn-ea"/>
              </a:defRPr>
            </a:lvl4pPr>
            <a:lvl5pPr marL="2057400" indent="-228600" algn="l" rtl="0" fontAlgn="base">
              <a:spcBef>
                <a:spcPct val="20000"/>
              </a:spcBef>
              <a:spcAft>
                <a:spcPct val="0"/>
              </a:spcAft>
              <a:buChar char="»"/>
              <a:defRPr sz="1600">
                <a:solidFill>
                  <a:schemeClr val="tx2"/>
                </a:solidFill>
                <a:latin typeface="+mn-lt"/>
                <a:ea typeface="+mn-ea"/>
              </a:defRPr>
            </a:lvl5pPr>
            <a:lvl6pPr marL="2514600" indent="-228600" algn="l" rtl="0" fontAlgn="base">
              <a:spcBef>
                <a:spcPct val="20000"/>
              </a:spcBef>
              <a:spcAft>
                <a:spcPct val="0"/>
              </a:spcAft>
              <a:buChar char="»"/>
              <a:defRPr sz="1600">
                <a:solidFill>
                  <a:schemeClr val="tx1"/>
                </a:solidFill>
                <a:latin typeface="+mn-lt"/>
                <a:ea typeface="+mn-ea"/>
              </a:defRPr>
            </a:lvl6pPr>
            <a:lvl7pPr marL="2971800" indent="-228600" algn="l" rtl="0" fontAlgn="base">
              <a:spcBef>
                <a:spcPct val="20000"/>
              </a:spcBef>
              <a:spcAft>
                <a:spcPct val="0"/>
              </a:spcAft>
              <a:buChar char="»"/>
              <a:defRPr sz="1600">
                <a:solidFill>
                  <a:schemeClr val="tx1"/>
                </a:solidFill>
                <a:latin typeface="+mn-lt"/>
                <a:ea typeface="+mn-ea"/>
              </a:defRPr>
            </a:lvl7pPr>
            <a:lvl8pPr marL="3429000" indent="-228600" algn="l" rtl="0" fontAlgn="base">
              <a:spcBef>
                <a:spcPct val="20000"/>
              </a:spcBef>
              <a:spcAft>
                <a:spcPct val="0"/>
              </a:spcAft>
              <a:buChar char="»"/>
              <a:defRPr sz="1600">
                <a:solidFill>
                  <a:schemeClr val="tx1"/>
                </a:solidFill>
                <a:latin typeface="+mn-lt"/>
                <a:ea typeface="+mn-ea"/>
              </a:defRPr>
            </a:lvl8pPr>
            <a:lvl9pPr marL="3886200" indent="-228600" algn="l" rtl="0" fontAlgn="base">
              <a:spcBef>
                <a:spcPct val="20000"/>
              </a:spcBef>
              <a:spcAft>
                <a:spcPct val="0"/>
              </a:spcAft>
              <a:buChar char="»"/>
              <a:defRPr sz="1600">
                <a:solidFill>
                  <a:schemeClr val="tx1"/>
                </a:solidFill>
                <a:latin typeface="+mn-lt"/>
                <a:ea typeface="+mn-ea"/>
              </a:defRPr>
            </a:lvl9pPr>
          </a:lstStyle>
          <a:p>
            <a:pPr algn="ctr">
              <a:lnSpc>
                <a:spcPct val="80000"/>
              </a:lnSpc>
              <a:spcBef>
                <a:spcPts val="0"/>
              </a:spcBef>
              <a:spcAft>
                <a:spcPts val="300"/>
              </a:spcAft>
            </a:pPr>
            <a:r>
              <a:rPr lang="en-US" sz="2400" dirty="0">
                <a:solidFill>
                  <a:schemeClr val="tx1"/>
                </a:solidFill>
              </a:rPr>
              <a:t>38655 BMED-2300-02</a:t>
            </a:r>
          </a:p>
          <a:p>
            <a:pPr algn="ctr">
              <a:lnSpc>
                <a:spcPct val="80000"/>
              </a:lnSpc>
              <a:spcBef>
                <a:spcPts val="600"/>
              </a:spcBef>
              <a:spcAft>
                <a:spcPts val="600"/>
              </a:spcAft>
            </a:pPr>
            <a:r>
              <a:rPr lang="en-US" sz="4400" b="1" dirty="0">
                <a:solidFill>
                  <a:schemeClr val="tx1"/>
                </a:solidFill>
              </a:rPr>
              <a:t>Lecture 13: CT Reconstruction</a:t>
            </a:r>
          </a:p>
          <a:p>
            <a:pPr algn="ctr">
              <a:lnSpc>
                <a:spcPct val="80000"/>
              </a:lnSpc>
              <a:spcBef>
                <a:spcPts val="0"/>
              </a:spcBef>
              <a:spcAft>
                <a:spcPts val="300"/>
              </a:spcAft>
            </a:pPr>
            <a:r>
              <a:rPr lang="en-US" sz="2400" dirty="0">
                <a:solidFill>
                  <a:schemeClr val="tx1"/>
                </a:solidFill>
              </a:rPr>
              <a:t>Ge Wang, PhD</a:t>
            </a:r>
          </a:p>
          <a:p>
            <a:pPr algn="ctr">
              <a:lnSpc>
                <a:spcPct val="80000"/>
              </a:lnSpc>
              <a:spcBef>
                <a:spcPts val="0"/>
              </a:spcBef>
              <a:spcAft>
                <a:spcPts val="300"/>
              </a:spcAft>
            </a:pPr>
            <a:r>
              <a:rPr lang="en-US" sz="2400" dirty="0">
                <a:solidFill>
                  <a:schemeClr val="tx1"/>
                </a:solidFill>
              </a:rPr>
              <a:t>Biomedical Imaging Center</a:t>
            </a:r>
          </a:p>
          <a:p>
            <a:pPr algn="ctr">
              <a:lnSpc>
                <a:spcPct val="80000"/>
              </a:lnSpc>
              <a:spcBef>
                <a:spcPts val="0"/>
              </a:spcBef>
              <a:spcAft>
                <a:spcPts val="300"/>
              </a:spcAft>
            </a:pPr>
            <a:r>
              <a:rPr lang="en-US" sz="2400" dirty="0">
                <a:solidFill>
                  <a:schemeClr val="tx1"/>
                </a:solidFill>
              </a:rPr>
              <a:t>CBIS/BME, RPI</a:t>
            </a:r>
          </a:p>
          <a:p>
            <a:pPr algn="ctr">
              <a:lnSpc>
                <a:spcPct val="80000"/>
              </a:lnSpc>
              <a:spcBef>
                <a:spcPts val="0"/>
              </a:spcBef>
              <a:spcAft>
                <a:spcPts val="300"/>
              </a:spcAft>
            </a:pPr>
            <a:r>
              <a:rPr lang="en-US" sz="2400" dirty="0">
                <a:solidFill>
                  <a:schemeClr val="tx1"/>
                </a:solidFill>
              </a:rPr>
              <a:t>wangg6@rpi.edu</a:t>
            </a:r>
          </a:p>
          <a:p>
            <a:pPr algn="ctr">
              <a:lnSpc>
                <a:spcPct val="80000"/>
              </a:lnSpc>
              <a:spcBef>
                <a:spcPts val="0"/>
              </a:spcBef>
              <a:spcAft>
                <a:spcPts val="300"/>
              </a:spcAft>
            </a:pPr>
            <a:endParaRPr lang="en-US" sz="2400" dirty="0">
              <a:solidFill>
                <a:schemeClr val="tx1"/>
              </a:solidFill>
            </a:endParaRPr>
          </a:p>
          <a:p>
            <a:pPr algn="ctr">
              <a:lnSpc>
                <a:spcPct val="80000"/>
              </a:lnSpc>
              <a:spcBef>
                <a:spcPts val="0"/>
              </a:spcBef>
              <a:spcAft>
                <a:spcPts val="0"/>
              </a:spcAft>
            </a:pPr>
            <a:endParaRPr lang="en-US" sz="2400" dirty="0">
              <a:solidFill>
                <a:schemeClr val="tx1"/>
              </a:solidFill>
            </a:endParaRPr>
          </a:p>
          <a:p>
            <a:pPr>
              <a:lnSpc>
                <a:spcPct val="80000"/>
              </a:lnSpc>
              <a:spcBef>
                <a:spcPts val="0"/>
              </a:spcBef>
              <a:spcAft>
                <a:spcPts val="0"/>
              </a:spcAft>
            </a:pPr>
            <a:endParaRPr lang="en-US" sz="2400" dirty="0">
              <a:solidFill>
                <a:schemeClr val="tx1"/>
              </a:solidFill>
            </a:endParaRPr>
          </a:p>
          <a:p>
            <a:pPr>
              <a:lnSpc>
                <a:spcPct val="80000"/>
              </a:lnSpc>
              <a:spcBef>
                <a:spcPts val="0"/>
              </a:spcBef>
              <a:spcAft>
                <a:spcPts val="0"/>
              </a:spcAft>
            </a:pPr>
            <a:endParaRPr lang="en-US" sz="2400" dirty="0">
              <a:solidFill>
                <a:schemeClr val="tx1"/>
              </a:solidFill>
            </a:endParaRPr>
          </a:p>
        </p:txBody>
      </p:sp>
    </p:spTree>
    <p:extLst>
      <p:ext uri="{BB962C8B-B14F-4D97-AF65-F5344CB8AC3E}">
        <p14:creationId xmlns:p14="http://schemas.microsoft.com/office/powerpoint/2010/main" val="41118540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green table with white text&#10;&#10;AI-generated content may be incorrect.">
            <a:extLst>
              <a:ext uri="{FF2B5EF4-FFF2-40B4-BE49-F238E27FC236}">
                <a16:creationId xmlns:a16="http://schemas.microsoft.com/office/drawing/2014/main" id="{88E865D8-F936-04AF-977C-FB3F192BF6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8769" y="0"/>
            <a:ext cx="6991062" cy="5283200"/>
          </a:xfrm>
          <a:prstGeom prst="rect">
            <a:avLst/>
          </a:prstGeom>
        </p:spPr>
      </p:pic>
    </p:spTree>
    <p:extLst>
      <p:ext uri="{BB962C8B-B14F-4D97-AF65-F5344CB8AC3E}">
        <p14:creationId xmlns:p14="http://schemas.microsoft.com/office/powerpoint/2010/main" val="11968940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Some Tips</a:t>
            </a:r>
          </a:p>
        </p:txBody>
      </p:sp>
      <p:sp>
        <p:nvSpPr>
          <p:cNvPr id="3" name="Content Placeholder 2"/>
          <p:cNvSpPr>
            <a:spLocks noGrp="1"/>
          </p:cNvSpPr>
          <p:nvPr>
            <p:ph idx="1"/>
          </p:nvPr>
        </p:nvSpPr>
        <p:spPr>
          <a:xfrm>
            <a:off x="741674" y="1253613"/>
            <a:ext cx="7867501" cy="4350774"/>
          </a:xfrm>
        </p:spPr>
        <p:txBody>
          <a:bodyPr/>
          <a:lstStyle/>
          <a:p>
            <a:pPr marL="457200" indent="-457200">
              <a:buClrTx/>
              <a:buFont typeface="Arial" panose="020B0604020202020204" pitchFamily="34" charset="0"/>
              <a:buChar char="•"/>
            </a:pPr>
            <a:r>
              <a:rPr lang="en-US" sz="3200" dirty="0"/>
              <a:t>Basic Books:</a:t>
            </a:r>
          </a:p>
          <a:p>
            <a:pPr>
              <a:buClrTx/>
            </a:pPr>
            <a:r>
              <a:rPr lang="en-US" sz="3200" dirty="0"/>
              <a:t>	Ge’s Book &amp; Green Book</a:t>
            </a:r>
          </a:p>
          <a:p>
            <a:pPr marL="457200" indent="-457200">
              <a:buClrTx/>
              <a:buFont typeface="Arial" panose="020B0604020202020204" pitchFamily="34" charset="0"/>
              <a:buChar char="•"/>
            </a:pPr>
            <a:r>
              <a:rPr lang="en-US" sz="3200" b="0" dirty="0"/>
              <a:t>Understand Logic Flow/Key Ideas from Lectures/PPTs</a:t>
            </a:r>
          </a:p>
          <a:p>
            <a:pPr marL="457200" indent="-457200">
              <a:buClrTx/>
              <a:buFont typeface="Arial" panose="020B0604020202020204" pitchFamily="34" charset="0"/>
              <a:buChar char="•"/>
            </a:pPr>
            <a:r>
              <a:rPr lang="en-US" sz="3200" b="0" dirty="0"/>
              <a:t>Gain Skills from Homework &amp; Textbook Questions</a:t>
            </a:r>
          </a:p>
          <a:p>
            <a:pPr marL="457200" indent="-457200">
              <a:buClrTx/>
              <a:buFont typeface="Arial" panose="020B0604020202020204" pitchFamily="34" charset="0"/>
              <a:buChar char="•"/>
            </a:pPr>
            <a:r>
              <a:rPr lang="en-US" sz="3200" b="0" dirty="0"/>
              <a:t>Have Habit of Doing Preview-Listening-Review, &amp; Repeated Reviews</a:t>
            </a:r>
          </a:p>
          <a:p>
            <a:pPr marL="457200" indent="-457200">
              <a:buClrTx/>
              <a:buFont typeface="Arial" panose="020B0604020202020204" pitchFamily="34" charset="0"/>
              <a:buChar char="•"/>
            </a:pPr>
            <a:endParaRPr lang="en-US" sz="3200" dirty="0"/>
          </a:p>
        </p:txBody>
      </p:sp>
    </p:spTree>
    <p:extLst>
      <p:ext uri="{BB962C8B-B14F-4D97-AF65-F5344CB8AC3E}">
        <p14:creationId xmlns:p14="http://schemas.microsoft.com/office/powerpoint/2010/main" val="2261666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CT Reconstruction</a:t>
            </a:r>
          </a:p>
        </p:txBody>
      </p:sp>
      <p:sp>
        <p:nvSpPr>
          <p:cNvPr id="4" name="TextBox 3"/>
          <p:cNvSpPr txBox="1"/>
          <p:nvPr/>
        </p:nvSpPr>
        <p:spPr>
          <a:xfrm>
            <a:off x="2491433" y="1406635"/>
            <a:ext cx="6080447" cy="4401205"/>
          </a:xfrm>
          <a:prstGeom prst="rect">
            <a:avLst/>
          </a:prstGeom>
          <a:noFill/>
        </p:spPr>
        <p:txBody>
          <a:bodyPr wrap="none" rtlCol="0">
            <a:spAutoFit/>
          </a:bodyPr>
          <a:lstStyle/>
          <a:p>
            <a:pPr marL="342900" indent="-342900">
              <a:buFont typeface="Arial" panose="020B0604020202020204" pitchFamily="34" charset="0"/>
              <a:buChar char="•"/>
            </a:pPr>
            <a:r>
              <a:rPr lang="en-US" sz="2800" b="1" dirty="0">
                <a:solidFill>
                  <a:srgbClr val="FF0000"/>
                </a:solidFill>
              </a:rPr>
              <a:t>Duality of Information</a:t>
            </a:r>
            <a:endParaRPr lang="en-US" sz="2800" dirty="0">
              <a:solidFill>
                <a:srgbClr val="FF0000"/>
              </a:solidFill>
            </a:endParaRPr>
          </a:p>
          <a:p>
            <a:pPr marL="342900" indent="-342900">
              <a:buFont typeface="Arial" panose="020B0604020202020204" pitchFamily="34" charset="0"/>
              <a:buChar char="•"/>
            </a:pPr>
            <a:r>
              <a:rPr lang="en-US" sz="2800" b="1" dirty="0"/>
              <a:t>Algebraic Approach</a:t>
            </a:r>
          </a:p>
          <a:p>
            <a:r>
              <a:rPr lang="en-US" sz="2800" b="1" dirty="0"/>
              <a:t>	</a:t>
            </a:r>
            <a:r>
              <a:rPr lang="en-US" sz="2800" dirty="0"/>
              <a:t>Solution Uniqueness</a:t>
            </a:r>
          </a:p>
          <a:p>
            <a:r>
              <a:rPr lang="en-US" sz="2800" dirty="0"/>
              <a:t>	Data Independence/Sufficiency</a:t>
            </a:r>
            <a:endParaRPr lang="en-US" sz="2000" dirty="0"/>
          </a:p>
          <a:p>
            <a:pPr marL="342900" indent="-342900">
              <a:buFont typeface="Arial" panose="020B0604020202020204" pitchFamily="34" charset="0"/>
              <a:buChar char="•"/>
            </a:pPr>
            <a:r>
              <a:rPr lang="en-US" sz="2800" b="1" dirty="0"/>
              <a:t>Analytic Approach</a:t>
            </a:r>
          </a:p>
          <a:p>
            <a:r>
              <a:rPr lang="en-US" sz="2800" b="1" dirty="0"/>
              <a:t>	</a:t>
            </a:r>
            <a:r>
              <a:rPr lang="en-US" sz="2800" dirty="0"/>
              <a:t>Fourier Slice Theorem</a:t>
            </a:r>
          </a:p>
          <a:p>
            <a:r>
              <a:rPr lang="en-US" sz="2800" dirty="0"/>
              <a:t>	Filtered Backprojection</a:t>
            </a:r>
          </a:p>
          <a:p>
            <a:pPr marL="342900" indent="-342900">
              <a:buFont typeface="Arial" panose="020B0604020202020204" pitchFamily="34" charset="0"/>
              <a:buChar char="•"/>
            </a:pPr>
            <a:r>
              <a:rPr lang="en-US" sz="2800" b="1" dirty="0"/>
              <a:t>Examples</a:t>
            </a:r>
          </a:p>
          <a:p>
            <a:r>
              <a:rPr lang="en-US" sz="2800" b="1" dirty="0"/>
              <a:t>	</a:t>
            </a:r>
            <a:r>
              <a:rPr lang="en-US" sz="2800" dirty="0"/>
              <a:t>Numerical Examples</a:t>
            </a:r>
          </a:p>
          <a:p>
            <a:r>
              <a:rPr lang="en-US" sz="2800" dirty="0"/>
              <a:t>	Clinical Images</a:t>
            </a:r>
          </a:p>
        </p:txBody>
      </p:sp>
    </p:spTree>
    <p:extLst>
      <p:ext uri="{BB962C8B-B14F-4D97-AF65-F5344CB8AC3E}">
        <p14:creationId xmlns:p14="http://schemas.microsoft.com/office/powerpoint/2010/main" val="25838678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2" name="Picture 4" descr="Image result for Double Sli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5725" y="0"/>
            <a:ext cx="9143998"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
          <p:cNvSpPr txBox="1">
            <a:spLocks/>
          </p:cNvSpPr>
          <p:nvPr/>
        </p:nvSpPr>
        <p:spPr bwMode="auto">
          <a:xfrm>
            <a:off x="5330518" y="1143000"/>
            <a:ext cx="1825345" cy="744548"/>
          </a:xfrm>
          <a:prstGeom prst="rect">
            <a:avLst/>
          </a:prstGeom>
          <a:noFill/>
          <a:ln w="9525">
            <a:noFill/>
            <a:miter lim="800000"/>
            <a:headEnd/>
            <a:tailEnd/>
          </a:ln>
          <a:effectLst>
            <a:outerShdw dist="25399" dir="2700000" algn="ctr" rotWithShape="0">
              <a:schemeClr val="bg2">
                <a:alpha val="31000"/>
              </a:schemeClr>
            </a:outerShdw>
          </a:effectLst>
        </p:spPr>
        <p:txBody>
          <a:bodyPr vert="horz" wrap="square" lIns="81224" tIns="40611" rIns="81224" bIns="40611" numCol="1" anchor="ctr" anchorCtr="0" compatLnSpc="1">
            <a:prstTxWarp prst="textNoShape">
              <a:avLst/>
            </a:prstTxWarp>
          </a:bodyPr>
          <a:lstStyle>
            <a:lvl1pPr algn="ctr" rtl="0" fontAlgn="base">
              <a:spcBef>
                <a:spcPct val="0"/>
              </a:spcBef>
              <a:spcAft>
                <a:spcPct val="0"/>
              </a:spcAft>
              <a:defRPr sz="40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eaLnBrk="1" hangingPunct="1"/>
            <a:r>
              <a:rPr lang="en-US" sz="2842" kern="0" dirty="0">
                <a:solidFill>
                  <a:srgbClr val="FF0000"/>
                </a:solidFill>
              </a:rPr>
              <a:t>Particle</a:t>
            </a:r>
          </a:p>
        </p:txBody>
      </p:sp>
      <p:sp>
        <p:nvSpPr>
          <p:cNvPr id="5" name="Title 1"/>
          <p:cNvSpPr txBox="1">
            <a:spLocks/>
          </p:cNvSpPr>
          <p:nvPr/>
        </p:nvSpPr>
        <p:spPr bwMode="auto">
          <a:xfrm>
            <a:off x="7584379" y="2472785"/>
            <a:ext cx="1825345" cy="744548"/>
          </a:xfrm>
          <a:prstGeom prst="rect">
            <a:avLst/>
          </a:prstGeom>
          <a:noFill/>
          <a:ln w="9525">
            <a:noFill/>
            <a:miter lim="800000"/>
            <a:headEnd/>
            <a:tailEnd/>
          </a:ln>
          <a:effectLst>
            <a:outerShdw dist="25399" dir="2700000" algn="ctr" rotWithShape="0">
              <a:schemeClr val="bg2">
                <a:alpha val="31000"/>
              </a:schemeClr>
            </a:outerShdw>
          </a:effectLst>
        </p:spPr>
        <p:txBody>
          <a:bodyPr vert="horz" wrap="square" lIns="81224" tIns="40611" rIns="81224" bIns="40611" numCol="1" anchor="ctr" anchorCtr="0" compatLnSpc="1">
            <a:prstTxWarp prst="textNoShape">
              <a:avLst/>
            </a:prstTxWarp>
          </a:bodyPr>
          <a:lstStyle>
            <a:lvl1pPr algn="ctr" rtl="0" fontAlgn="base">
              <a:spcBef>
                <a:spcPct val="0"/>
              </a:spcBef>
              <a:spcAft>
                <a:spcPct val="0"/>
              </a:spcAft>
              <a:defRPr sz="40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eaLnBrk="1" hangingPunct="1"/>
            <a:r>
              <a:rPr lang="en-US" sz="2842" kern="0" dirty="0">
                <a:solidFill>
                  <a:srgbClr val="0000FF"/>
                </a:solidFill>
              </a:rPr>
              <a:t>Wave</a:t>
            </a:r>
          </a:p>
        </p:txBody>
      </p:sp>
      <p:sp>
        <p:nvSpPr>
          <p:cNvPr id="6" name="Title 1"/>
          <p:cNvSpPr>
            <a:spLocks noGrp="1"/>
          </p:cNvSpPr>
          <p:nvPr>
            <p:ph type="title"/>
          </p:nvPr>
        </p:nvSpPr>
        <p:spPr>
          <a:xfrm>
            <a:off x="1524000" y="152400"/>
            <a:ext cx="9144000" cy="1270000"/>
          </a:xfrm>
        </p:spPr>
        <p:txBody>
          <a:bodyPr/>
          <a:lstStyle/>
          <a:p>
            <a:r>
              <a:rPr lang="en-US" dirty="0"/>
              <a:t>Duality of Information</a:t>
            </a:r>
          </a:p>
        </p:txBody>
      </p:sp>
      <p:sp>
        <p:nvSpPr>
          <p:cNvPr id="7" name="Content Placeholder 2"/>
          <p:cNvSpPr>
            <a:spLocks noGrp="1"/>
          </p:cNvSpPr>
          <p:nvPr>
            <p:ph idx="1"/>
          </p:nvPr>
        </p:nvSpPr>
        <p:spPr>
          <a:xfrm>
            <a:off x="1003143" y="4455106"/>
            <a:ext cx="7806813" cy="1165123"/>
          </a:xfrm>
          <a:solidFill>
            <a:srgbClr val="FFFF00"/>
          </a:solidFill>
        </p:spPr>
        <p:txBody>
          <a:bodyPr/>
          <a:lstStyle/>
          <a:p>
            <a:r>
              <a:rPr lang="en-US" dirty="0">
                <a:solidFill>
                  <a:srgbClr val="FF0000"/>
                </a:solidFill>
              </a:rPr>
              <a:t>Image = Collection of Pixels/Voxels</a:t>
            </a:r>
          </a:p>
          <a:p>
            <a:r>
              <a:rPr lang="en-US" dirty="0">
                <a:solidFill>
                  <a:srgbClr val="0000FF"/>
                </a:solidFill>
              </a:rPr>
              <a:t>Image = Superposition of Waves/Wavelets</a:t>
            </a:r>
          </a:p>
        </p:txBody>
      </p:sp>
    </p:spTree>
    <p:extLst>
      <p:ext uri="{BB962C8B-B14F-4D97-AF65-F5344CB8AC3E}">
        <p14:creationId xmlns:p14="http://schemas.microsoft.com/office/powerpoint/2010/main" val="4195959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bg/>
                                          </p:spTgt>
                                        </p:tgtEl>
                                        <p:attrNameLst>
                                          <p:attrName>style.visibility</p:attrName>
                                        </p:attrNameLst>
                                      </p:cBhvr>
                                      <p:to>
                                        <p:strVal val="visible"/>
                                      </p:to>
                                    </p:set>
                                    <p:animEffect transition="in" filter="fade">
                                      <p:cBhvr>
                                        <p:cTn id="17" dur="500"/>
                                        <p:tgtEl>
                                          <p:spTgt spid="7">
                                            <p:bg/>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xEl>
                                              <p:pRg st="0" end="0"/>
                                            </p:txEl>
                                          </p:spTgt>
                                        </p:tgtEl>
                                        <p:attrNameLst>
                                          <p:attrName>style.visibility</p:attrName>
                                        </p:attrNameLst>
                                      </p:cBhvr>
                                      <p:to>
                                        <p:strVal val="visible"/>
                                      </p:to>
                                    </p:set>
                                    <p:animEffect transition="in" filter="fade">
                                      <p:cBhvr>
                                        <p:cTn id="22" dur="500"/>
                                        <p:tgtEl>
                                          <p:spTgt spid="7">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xEl>
                                              <p:pRg st="1" end="1"/>
                                            </p:txEl>
                                          </p:spTgt>
                                        </p:tgtEl>
                                        <p:attrNameLst>
                                          <p:attrName>style.visibility</p:attrName>
                                        </p:attrNameLst>
                                      </p:cBhvr>
                                      <p:to>
                                        <p:strVal val="visible"/>
                                      </p:to>
                                    </p:set>
                                    <p:animEffect transition="in" filter="fade">
                                      <p:cBhvr>
                                        <p:cTn id="27" dur="5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build="p"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Pixel: Picture Element</a:t>
            </a:r>
          </a:p>
        </p:txBody>
      </p:sp>
      <p:pic>
        <p:nvPicPr>
          <p:cNvPr id="5" name="Picture 4"/>
          <p:cNvPicPr>
            <a:picLocks noChangeAspect="1"/>
          </p:cNvPicPr>
          <p:nvPr/>
        </p:nvPicPr>
        <p:blipFill>
          <a:blip r:embed="rId3"/>
          <a:stretch>
            <a:fillRect/>
          </a:stretch>
        </p:blipFill>
        <p:spPr>
          <a:xfrm>
            <a:off x="339969" y="1114160"/>
            <a:ext cx="4129241" cy="5505654"/>
          </a:xfrm>
          <a:prstGeom prst="rect">
            <a:avLst/>
          </a:prstGeom>
        </p:spPr>
      </p:pic>
      <p:pic>
        <p:nvPicPr>
          <p:cNvPr id="7172" name="Picture 4" descr="Image result for lincoln pixel resolutio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40339" y="1114160"/>
            <a:ext cx="4640018" cy="55056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72091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Fourier Analysis</a:t>
            </a:r>
          </a:p>
        </p:txBody>
      </p:sp>
      <p:pic>
        <p:nvPicPr>
          <p:cNvPr id="8194" name="Picture 2" descr="Image result for 2d fourier transfor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344" y="1124779"/>
            <a:ext cx="5118773" cy="262081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4"/>
          <a:stretch>
            <a:fillRect/>
          </a:stretch>
        </p:blipFill>
        <p:spPr>
          <a:xfrm rot="5400000">
            <a:off x="5581043" y="1121180"/>
            <a:ext cx="2620813" cy="2628012"/>
          </a:xfrm>
          <a:prstGeom prst="rect">
            <a:avLst/>
          </a:prstGeom>
        </p:spPr>
      </p:pic>
      <p:pic>
        <p:nvPicPr>
          <p:cNvPr id="7170" name="Picture 2" descr="Image result for 3d  visualization of fourier spectrum matlab"/>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9344" y="3808830"/>
            <a:ext cx="2555876" cy="2555876"/>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descr="http://2.bp.blogspot.com/_qvZ1h1bgBRo/SX1DGi68ZVI/AAAAAAAAAZo/gAkAVbSQEaE/s400/Picture+2.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75221" y="3808831"/>
            <a:ext cx="5264968" cy="25535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26729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CT Reconstruction</a:t>
            </a:r>
          </a:p>
        </p:txBody>
      </p:sp>
      <p:sp>
        <p:nvSpPr>
          <p:cNvPr id="4" name="TextBox 3"/>
          <p:cNvSpPr txBox="1"/>
          <p:nvPr/>
        </p:nvSpPr>
        <p:spPr>
          <a:xfrm>
            <a:off x="2491433" y="1406635"/>
            <a:ext cx="6080447" cy="4401205"/>
          </a:xfrm>
          <a:prstGeom prst="rect">
            <a:avLst/>
          </a:prstGeom>
          <a:noFill/>
        </p:spPr>
        <p:txBody>
          <a:bodyPr wrap="none" rtlCol="0">
            <a:spAutoFit/>
          </a:bodyPr>
          <a:lstStyle/>
          <a:p>
            <a:pPr marL="342900" indent="-342900">
              <a:buFont typeface="Arial" panose="020B0604020202020204" pitchFamily="34" charset="0"/>
              <a:buChar char="•"/>
            </a:pPr>
            <a:r>
              <a:rPr lang="en-US" sz="2800" b="1" dirty="0"/>
              <a:t>Duality of Information</a:t>
            </a:r>
            <a:endParaRPr lang="en-US" sz="2800" dirty="0"/>
          </a:p>
          <a:p>
            <a:pPr marL="342900" indent="-342900">
              <a:buFont typeface="Arial" panose="020B0604020202020204" pitchFamily="34" charset="0"/>
              <a:buChar char="•"/>
            </a:pPr>
            <a:r>
              <a:rPr lang="en-US" sz="2800" b="1" dirty="0">
                <a:solidFill>
                  <a:srgbClr val="FF0000"/>
                </a:solidFill>
              </a:rPr>
              <a:t>Algebraic Approach</a:t>
            </a:r>
          </a:p>
          <a:p>
            <a:r>
              <a:rPr lang="en-US" sz="2800" b="1" dirty="0">
                <a:solidFill>
                  <a:srgbClr val="FF0000"/>
                </a:solidFill>
              </a:rPr>
              <a:t>	</a:t>
            </a:r>
            <a:r>
              <a:rPr lang="en-US" sz="2800" dirty="0">
                <a:solidFill>
                  <a:srgbClr val="FF0000"/>
                </a:solidFill>
              </a:rPr>
              <a:t>Solution Uniqueness</a:t>
            </a:r>
          </a:p>
          <a:p>
            <a:r>
              <a:rPr lang="en-US" sz="2800" dirty="0">
                <a:solidFill>
                  <a:srgbClr val="FF0000"/>
                </a:solidFill>
              </a:rPr>
              <a:t>	Data Independence/Sufficiency</a:t>
            </a:r>
            <a:endParaRPr lang="en-US" sz="2000" dirty="0">
              <a:solidFill>
                <a:srgbClr val="FF0000"/>
              </a:solidFill>
            </a:endParaRPr>
          </a:p>
          <a:p>
            <a:pPr marL="342900" indent="-342900">
              <a:buFont typeface="Arial" panose="020B0604020202020204" pitchFamily="34" charset="0"/>
              <a:buChar char="•"/>
            </a:pPr>
            <a:r>
              <a:rPr lang="en-US" sz="2800" b="1" dirty="0"/>
              <a:t>Analytic Approach</a:t>
            </a:r>
          </a:p>
          <a:p>
            <a:r>
              <a:rPr lang="en-US" sz="2800" b="1" dirty="0"/>
              <a:t>	</a:t>
            </a:r>
            <a:r>
              <a:rPr lang="en-US" sz="2800" dirty="0"/>
              <a:t>Fourier Slice Theorem</a:t>
            </a:r>
          </a:p>
          <a:p>
            <a:r>
              <a:rPr lang="en-US" sz="2800" dirty="0"/>
              <a:t>	Filtered Backprojection</a:t>
            </a:r>
          </a:p>
          <a:p>
            <a:pPr marL="342900" indent="-342900">
              <a:buFont typeface="Arial" panose="020B0604020202020204" pitchFamily="34" charset="0"/>
              <a:buChar char="•"/>
            </a:pPr>
            <a:r>
              <a:rPr lang="en-US" sz="2800" b="1" dirty="0"/>
              <a:t>Examples</a:t>
            </a:r>
          </a:p>
          <a:p>
            <a:r>
              <a:rPr lang="en-US" sz="2800" b="1" dirty="0"/>
              <a:t>	</a:t>
            </a:r>
            <a:r>
              <a:rPr lang="en-US" sz="2800" dirty="0"/>
              <a:t>Numerical Examples</a:t>
            </a:r>
          </a:p>
          <a:p>
            <a:r>
              <a:rPr lang="en-US" sz="2800" dirty="0"/>
              <a:t>	Clinical Images</a:t>
            </a:r>
          </a:p>
        </p:txBody>
      </p:sp>
    </p:spTree>
    <p:extLst>
      <p:ext uri="{BB962C8B-B14F-4D97-AF65-F5344CB8AC3E}">
        <p14:creationId xmlns:p14="http://schemas.microsoft.com/office/powerpoint/2010/main" val="32666712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Equation</a:t>
            </a:r>
          </a:p>
        </p:txBody>
      </p:sp>
      <p:sp>
        <p:nvSpPr>
          <p:cNvPr id="4" name="Rectangle 128"/>
          <p:cNvSpPr>
            <a:spLocks noChangeArrowheads="1"/>
          </p:cNvSpPr>
          <p:nvPr/>
        </p:nvSpPr>
        <p:spPr bwMode="auto">
          <a:xfrm>
            <a:off x="1708287" y="1402323"/>
            <a:ext cx="5236498" cy="615216"/>
          </a:xfrm>
          <a:prstGeom prst="rect">
            <a:avLst/>
          </a:prstGeom>
          <a:solidFill>
            <a:srgbClr val="00B0F0"/>
          </a:solidFill>
          <a:ln w="50800">
            <a:solidFill>
              <a:srgbClr val="0000FF"/>
            </a:solidFill>
            <a:miter lim="800000"/>
            <a:headEnd/>
            <a:tailEnd/>
          </a:ln>
          <a:effectLst/>
        </p:spPr>
        <p:txBody>
          <a:bodyPr wrap="none" anchor="ct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pPr>
            <a:endParaRPr lang="en-US" altLang="en-US" sz="3204"/>
          </a:p>
        </p:txBody>
      </p:sp>
      <p:graphicFrame>
        <p:nvGraphicFramePr>
          <p:cNvPr id="5" name="Object 96"/>
          <p:cNvGraphicFramePr>
            <a:graphicFrameLocks noChangeAspect="1"/>
          </p:cNvGraphicFramePr>
          <p:nvPr>
            <p:extLst>
              <p:ext uri="{D42A27DB-BD31-4B8C-83A1-F6EECF244321}">
                <p14:modId xmlns:p14="http://schemas.microsoft.com/office/powerpoint/2010/main" val="2840151706"/>
              </p:ext>
            </p:extLst>
          </p:nvPr>
        </p:nvGraphicFramePr>
        <p:xfrm>
          <a:off x="929331" y="3756680"/>
          <a:ext cx="3281157" cy="1441866"/>
        </p:xfrm>
        <a:graphic>
          <a:graphicData uri="http://schemas.openxmlformats.org/presentationml/2006/ole">
            <mc:AlternateContent xmlns:mc="http://schemas.openxmlformats.org/markup-compatibility/2006">
              <mc:Choice xmlns:v="urn:schemas-microsoft-com:vml" Requires="v">
                <p:oleObj name="Equation" r:id="rId3" imgW="990170" imgH="431613" progId="Equation.3">
                  <p:embed/>
                </p:oleObj>
              </mc:Choice>
              <mc:Fallback>
                <p:oleObj name="Equation" r:id="rId3" imgW="990170" imgH="431613"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9331" y="3756680"/>
                        <a:ext cx="3281157" cy="1441866"/>
                      </a:xfrm>
                      <a:prstGeom prst="rect">
                        <a:avLst/>
                      </a:prstGeom>
                      <a:solidFill>
                        <a:schemeClr val="bg1"/>
                      </a:solidFill>
                      <a:ln>
                        <a:noFill/>
                      </a:ln>
                      <a:effectLst/>
                    </p:spPr>
                  </p:pic>
                </p:oleObj>
              </mc:Fallback>
            </mc:AlternateContent>
          </a:graphicData>
        </a:graphic>
      </p:graphicFrame>
      <p:graphicFrame>
        <p:nvGraphicFramePr>
          <p:cNvPr id="6" name="Object 97"/>
          <p:cNvGraphicFramePr>
            <a:graphicFrameLocks noChangeAspect="1"/>
          </p:cNvGraphicFramePr>
          <p:nvPr>
            <p:extLst>
              <p:ext uri="{D42A27DB-BD31-4B8C-83A1-F6EECF244321}">
                <p14:modId xmlns:p14="http://schemas.microsoft.com/office/powerpoint/2010/main" val="3762126301"/>
              </p:ext>
            </p:extLst>
          </p:nvPr>
        </p:nvGraphicFramePr>
        <p:xfrm>
          <a:off x="4666734" y="3748732"/>
          <a:ext cx="3336796" cy="1449814"/>
        </p:xfrm>
        <a:graphic>
          <a:graphicData uri="http://schemas.openxmlformats.org/presentationml/2006/ole">
            <mc:AlternateContent xmlns:mc="http://schemas.openxmlformats.org/markup-compatibility/2006">
              <mc:Choice xmlns:v="urn:schemas-microsoft-com:vml" Requires="v">
                <p:oleObj name="Equation" r:id="rId5" imgW="1104900" imgH="469900" progId="Equation.3">
                  <p:embed/>
                </p:oleObj>
              </mc:Choice>
              <mc:Fallback>
                <p:oleObj name="Equation" r:id="rId5" imgW="1104900" imgH="4699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66734" y="3748732"/>
                        <a:ext cx="3336796" cy="1449814"/>
                      </a:xfrm>
                      <a:prstGeom prst="rect">
                        <a:avLst/>
                      </a:prstGeom>
                      <a:solidFill>
                        <a:schemeClr val="bg1"/>
                      </a:solidFill>
                      <a:ln>
                        <a:noFill/>
                      </a:ln>
                      <a:effectLst/>
                    </p:spPr>
                  </p:pic>
                </p:oleObj>
              </mc:Fallback>
            </mc:AlternateContent>
          </a:graphicData>
        </a:graphic>
      </p:graphicFrame>
      <p:graphicFrame>
        <p:nvGraphicFramePr>
          <p:cNvPr id="7" name="Object 99"/>
          <p:cNvGraphicFramePr>
            <a:graphicFrameLocks noChangeAspect="1"/>
          </p:cNvGraphicFramePr>
          <p:nvPr>
            <p:extLst>
              <p:ext uri="{D42A27DB-BD31-4B8C-83A1-F6EECF244321}">
                <p14:modId xmlns:p14="http://schemas.microsoft.com/office/powerpoint/2010/main" val="495747146"/>
              </p:ext>
            </p:extLst>
          </p:nvPr>
        </p:nvGraphicFramePr>
        <p:xfrm>
          <a:off x="2916466" y="2190819"/>
          <a:ext cx="2993421" cy="1046028"/>
        </p:xfrm>
        <a:graphic>
          <a:graphicData uri="http://schemas.openxmlformats.org/presentationml/2006/ole">
            <mc:AlternateContent xmlns:mc="http://schemas.openxmlformats.org/markup-compatibility/2006">
              <mc:Choice xmlns:v="urn:schemas-microsoft-com:vml" Requires="v">
                <p:oleObj name="Equation" r:id="rId7" imgW="977476" imgH="342751" progId="Equation.3">
                  <p:embed/>
                </p:oleObj>
              </mc:Choice>
              <mc:Fallback>
                <p:oleObj name="Equation" r:id="rId7" imgW="977476" imgH="342751"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6466" y="2190819"/>
                        <a:ext cx="2993421" cy="1046028"/>
                      </a:xfrm>
                      <a:prstGeom prst="rect">
                        <a:avLst/>
                      </a:prstGeom>
                      <a:solidFill>
                        <a:schemeClr val="bg1"/>
                      </a:solidFill>
                      <a:ln>
                        <a:noFill/>
                      </a:ln>
                      <a:effectLst/>
                    </p:spPr>
                  </p:pic>
                </p:oleObj>
              </mc:Fallback>
            </mc:AlternateContent>
          </a:graphicData>
        </a:graphic>
      </p:graphicFrame>
      <p:sp>
        <p:nvSpPr>
          <p:cNvPr id="8" name="Rectangle 101"/>
          <p:cNvSpPr>
            <a:spLocks noChangeArrowheads="1"/>
          </p:cNvSpPr>
          <p:nvPr/>
        </p:nvSpPr>
        <p:spPr bwMode="auto">
          <a:xfrm>
            <a:off x="1808440" y="2146307"/>
            <a:ext cx="508859" cy="4070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8901F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3127" tIns="36563" rIns="73127" bIns="36563">
            <a:spAutoFit/>
          </a:bodyPr>
          <a:lstStyle>
            <a:lvl1pPr defTabSz="585788">
              <a:defRPr sz="3200" b="1">
                <a:solidFill>
                  <a:srgbClr val="FAFD00"/>
                </a:solidFill>
                <a:latin typeface="Arial" panose="020B0604020202020204" pitchFamily="34" charset="0"/>
              </a:defRPr>
            </a:lvl1pPr>
            <a:lvl2pPr marL="742950" indent="-285750" defTabSz="585788">
              <a:defRPr sz="3200" b="1">
                <a:solidFill>
                  <a:srgbClr val="FAFD00"/>
                </a:solidFill>
                <a:latin typeface="Arial" panose="020B0604020202020204" pitchFamily="34" charset="0"/>
              </a:defRPr>
            </a:lvl2pPr>
            <a:lvl3pPr marL="1143000" indent="-228600" defTabSz="585788">
              <a:defRPr sz="3200" b="1">
                <a:solidFill>
                  <a:srgbClr val="FAFD00"/>
                </a:solidFill>
                <a:latin typeface="Arial" panose="020B0604020202020204" pitchFamily="34" charset="0"/>
              </a:defRPr>
            </a:lvl3pPr>
            <a:lvl4pPr marL="1600200" indent="-228600" defTabSz="585788">
              <a:defRPr sz="3200" b="1">
                <a:solidFill>
                  <a:srgbClr val="FAFD00"/>
                </a:solidFill>
                <a:latin typeface="Arial" panose="020B0604020202020204" pitchFamily="34" charset="0"/>
              </a:defRPr>
            </a:lvl4pPr>
            <a:lvl5pPr marL="2057400" indent="-228600" defTabSz="585788">
              <a:defRPr sz="3200" b="1">
                <a:solidFill>
                  <a:srgbClr val="FAFD00"/>
                </a:solidFill>
                <a:latin typeface="Arial" panose="020B0604020202020204" pitchFamily="34" charset="0"/>
              </a:defRPr>
            </a:lvl5pPr>
            <a:lvl6pPr marL="2514600" indent="-228600" defTabSz="585788" eaLnBrk="0" fontAlgn="base" hangingPunct="0">
              <a:spcBef>
                <a:spcPct val="0"/>
              </a:spcBef>
              <a:spcAft>
                <a:spcPct val="0"/>
              </a:spcAft>
              <a:defRPr sz="3200" b="1">
                <a:solidFill>
                  <a:srgbClr val="FAFD00"/>
                </a:solidFill>
                <a:latin typeface="Arial" panose="020B0604020202020204" pitchFamily="34" charset="0"/>
              </a:defRPr>
            </a:lvl6pPr>
            <a:lvl7pPr marL="2971800" indent="-228600" defTabSz="585788" eaLnBrk="0" fontAlgn="base" hangingPunct="0">
              <a:spcBef>
                <a:spcPct val="0"/>
              </a:spcBef>
              <a:spcAft>
                <a:spcPct val="0"/>
              </a:spcAft>
              <a:defRPr sz="3200" b="1">
                <a:solidFill>
                  <a:srgbClr val="FAFD00"/>
                </a:solidFill>
                <a:latin typeface="Arial" panose="020B0604020202020204" pitchFamily="34" charset="0"/>
              </a:defRPr>
            </a:lvl7pPr>
            <a:lvl8pPr marL="3429000" indent="-228600" defTabSz="585788" eaLnBrk="0" fontAlgn="base" hangingPunct="0">
              <a:spcBef>
                <a:spcPct val="0"/>
              </a:spcBef>
              <a:spcAft>
                <a:spcPct val="0"/>
              </a:spcAft>
              <a:defRPr sz="3200" b="1">
                <a:solidFill>
                  <a:srgbClr val="FAFD00"/>
                </a:solidFill>
                <a:latin typeface="Arial" panose="020B0604020202020204" pitchFamily="34" charset="0"/>
              </a:defRPr>
            </a:lvl8pPr>
            <a:lvl9pPr marL="3886200" indent="-228600" defTabSz="585788"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pPr>
            <a:r>
              <a:rPr lang="en-US" altLang="en-US" sz="2403">
                <a:solidFill>
                  <a:schemeClr val="tx1"/>
                </a:solidFill>
                <a:latin typeface="Symbol" panose="05050102010706020507" pitchFamily="18" charset="2"/>
              </a:rPr>
              <a:t></a:t>
            </a:r>
            <a:r>
              <a:rPr lang="en-US" altLang="en-US" sz="2403">
                <a:solidFill>
                  <a:schemeClr val="tx1"/>
                </a:solidFill>
              </a:rPr>
              <a:t>x</a:t>
            </a:r>
          </a:p>
        </p:txBody>
      </p:sp>
      <p:sp>
        <p:nvSpPr>
          <p:cNvPr id="9" name="Text Box 120"/>
          <p:cNvSpPr txBox="1">
            <a:spLocks noChangeArrowheads="1"/>
          </p:cNvSpPr>
          <p:nvPr/>
        </p:nvSpPr>
        <p:spPr bwMode="auto">
          <a:xfrm>
            <a:off x="6917762" y="1283096"/>
            <a:ext cx="492809" cy="3672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8901F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pPr>
            <a:r>
              <a:rPr lang="en-US" altLang="en-US" sz="2003">
                <a:solidFill>
                  <a:schemeClr val="tx1"/>
                </a:solidFill>
              </a:rPr>
              <a:t>N</a:t>
            </a:r>
            <a:r>
              <a:rPr lang="en-US" altLang="en-US" sz="1602">
                <a:solidFill>
                  <a:schemeClr val="tx1"/>
                </a:solidFill>
              </a:rPr>
              <a:t>o</a:t>
            </a:r>
            <a:endParaRPr lang="en-US" altLang="en-US" sz="3204">
              <a:solidFill>
                <a:schemeClr val="tx1"/>
              </a:solidFill>
            </a:endParaRPr>
          </a:p>
        </p:txBody>
      </p:sp>
      <p:sp>
        <p:nvSpPr>
          <p:cNvPr id="11" name="AutoShape 125"/>
          <p:cNvSpPr>
            <a:spLocks noChangeArrowheads="1"/>
          </p:cNvSpPr>
          <p:nvPr/>
        </p:nvSpPr>
        <p:spPr bwMode="auto">
          <a:xfrm>
            <a:off x="640005" y="1477040"/>
            <a:ext cx="1041259" cy="510297"/>
          </a:xfrm>
          <a:prstGeom prst="rightArrow">
            <a:avLst>
              <a:gd name="adj1" fmla="val 50000"/>
              <a:gd name="adj2" fmla="val 102034"/>
            </a:avLst>
          </a:prstGeom>
          <a:solidFill>
            <a:srgbClr val="FF0000"/>
          </a:solidFill>
          <a:ln w="50800">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pPr>
            <a:endParaRPr lang="en-US" altLang="en-US" sz="3204"/>
          </a:p>
        </p:txBody>
      </p:sp>
      <p:sp>
        <p:nvSpPr>
          <p:cNvPr id="12" name="Text Box 126"/>
          <p:cNvSpPr txBox="1">
            <a:spLocks noChangeArrowheads="1"/>
          </p:cNvSpPr>
          <p:nvPr/>
        </p:nvSpPr>
        <p:spPr bwMode="auto">
          <a:xfrm>
            <a:off x="729027" y="1254481"/>
            <a:ext cx="426042" cy="3672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8901F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pPr>
            <a:r>
              <a:rPr lang="en-US" altLang="en-US" sz="2003">
                <a:solidFill>
                  <a:schemeClr val="tx1"/>
                </a:solidFill>
              </a:rPr>
              <a:t>N</a:t>
            </a:r>
            <a:r>
              <a:rPr lang="en-US" altLang="en-US" sz="1602">
                <a:solidFill>
                  <a:schemeClr val="tx1"/>
                </a:solidFill>
              </a:rPr>
              <a:t>i</a:t>
            </a:r>
            <a:endParaRPr lang="en-US" altLang="en-US" sz="3204">
              <a:solidFill>
                <a:schemeClr val="tx1"/>
              </a:solidFill>
            </a:endParaRPr>
          </a:p>
        </p:txBody>
      </p:sp>
      <p:sp>
        <p:nvSpPr>
          <p:cNvPr id="13" name="Line 100"/>
          <p:cNvSpPr>
            <a:spLocks noChangeShapeType="1"/>
          </p:cNvSpPr>
          <p:nvPr/>
        </p:nvSpPr>
        <p:spPr bwMode="auto">
          <a:xfrm>
            <a:off x="1714647" y="2146306"/>
            <a:ext cx="626345" cy="0"/>
          </a:xfrm>
          <a:prstGeom prst="line">
            <a:avLst/>
          </a:prstGeom>
          <a:noFill/>
          <a:ln w="508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3"/>
          </a:p>
        </p:txBody>
      </p:sp>
      <p:sp>
        <p:nvSpPr>
          <p:cNvPr id="14" name="Line 132"/>
          <p:cNvSpPr>
            <a:spLocks noChangeShapeType="1"/>
          </p:cNvSpPr>
          <p:nvPr/>
        </p:nvSpPr>
        <p:spPr bwMode="auto">
          <a:xfrm>
            <a:off x="3453786" y="1435708"/>
            <a:ext cx="0" cy="583423"/>
          </a:xfrm>
          <a:prstGeom prst="line">
            <a:avLst/>
          </a:prstGeom>
          <a:noFill/>
          <a:ln w="50800">
            <a:solidFill>
              <a:srgbClr val="063DE8"/>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3"/>
          </a:p>
        </p:txBody>
      </p:sp>
      <p:sp>
        <p:nvSpPr>
          <p:cNvPr id="15" name="Line 133"/>
          <p:cNvSpPr>
            <a:spLocks noChangeShapeType="1"/>
          </p:cNvSpPr>
          <p:nvPr/>
        </p:nvSpPr>
        <p:spPr bwMode="auto">
          <a:xfrm>
            <a:off x="2312376" y="1419811"/>
            <a:ext cx="0" cy="581833"/>
          </a:xfrm>
          <a:prstGeom prst="line">
            <a:avLst/>
          </a:prstGeom>
          <a:noFill/>
          <a:ln w="50800">
            <a:solidFill>
              <a:srgbClr val="063DE8"/>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3"/>
          </a:p>
        </p:txBody>
      </p:sp>
      <p:sp>
        <p:nvSpPr>
          <p:cNvPr id="16" name="Line 104"/>
          <p:cNvSpPr>
            <a:spLocks noChangeShapeType="1"/>
          </p:cNvSpPr>
          <p:nvPr/>
        </p:nvSpPr>
        <p:spPr bwMode="auto">
          <a:xfrm>
            <a:off x="4075362" y="1419811"/>
            <a:ext cx="0" cy="581833"/>
          </a:xfrm>
          <a:prstGeom prst="line">
            <a:avLst/>
          </a:prstGeom>
          <a:noFill/>
          <a:ln w="50800">
            <a:solidFill>
              <a:srgbClr val="063DE8"/>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3"/>
          </a:p>
        </p:txBody>
      </p:sp>
      <p:sp>
        <p:nvSpPr>
          <p:cNvPr id="17" name="Rectangle 137"/>
          <p:cNvSpPr>
            <a:spLocks noChangeArrowheads="1"/>
          </p:cNvSpPr>
          <p:nvPr/>
        </p:nvSpPr>
        <p:spPr bwMode="auto">
          <a:xfrm>
            <a:off x="4124645" y="1519962"/>
            <a:ext cx="461015" cy="407086"/>
          </a:xfrm>
          <a:prstGeom prst="rect">
            <a:avLst/>
          </a:prstGeom>
          <a:solidFill>
            <a:srgbClr val="00B0F0"/>
          </a:solidFill>
          <a:ln>
            <a:noFill/>
          </a:ln>
          <a:effectLst/>
        </p:spPr>
        <p:txBody>
          <a:bodyPr lIns="73127" tIns="36563" rIns="73127" bIns="36563">
            <a:spAutoFit/>
          </a:bodyPr>
          <a:lstStyle>
            <a:lvl1pPr defTabSz="585788">
              <a:defRPr sz="3200" b="1">
                <a:solidFill>
                  <a:srgbClr val="FAFD00"/>
                </a:solidFill>
                <a:latin typeface="Arial" panose="020B0604020202020204" pitchFamily="34" charset="0"/>
              </a:defRPr>
            </a:lvl1pPr>
            <a:lvl2pPr marL="742950" indent="-285750" defTabSz="585788">
              <a:defRPr sz="3200" b="1">
                <a:solidFill>
                  <a:srgbClr val="FAFD00"/>
                </a:solidFill>
                <a:latin typeface="Arial" panose="020B0604020202020204" pitchFamily="34" charset="0"/>
              </a:defRPr>
            </a:lvl2pPr>
            <a:lvl3pPr marL="1143000" indent="-228600" defTabSz="585788">
              <a:defRPr sz="3200" b="1">
                <a:solidFill>
                  <a:srgbClr val="FAFD00"/>
                </a:solidFill>
                <a:latin typeface="Arial" panose="020B0604020202020204" pitchFamily="34" charset="0"/>
              </a:defRPr>
            </a:lvl3pPr>
            <a:lvl4pPr marL="1600200" indent="-228600" defTabSz="585788">
              <a:defRPr sz="3200" b="1">
                <a:solidFill>
                  <a:srgbClr val="FAFD00"/>
                </a:solidFill>
                <a:latin typeface="Arial" panose="020B0604020202020204" pitchFamily="34" charset="0"/>
              </a:defRPr>
            </a:lvl4pPr>
            <a:lvl5pPr marL="2057400" indent="-228600" defTabSz="585788">
              <a:defRPr sz="3200" b="1">
                <a:solidFill>
                  <a:srgbClr val="FAFD00"/>
                </a:solidFill>
                <a:latin typeface="Arial" panose="020B0604020202020204" pitchFamily="34" charset="0"/>
              </a:defRPr>
            </a:lvl5pPr>
            <a:lvl6pPr marL="2514600" indent="-228600" defTabSz="585788" eaLnBrk="0" fontAlgn="base" hangingPunct="0">
              <a:spcBef>
                <a:spcPct val="0"/>
              </a:spcBef>
              <a:spcAft>
                <a:spcPct val="0"/>
              </a:spcAft>
              <a:defRPr sz="3200" b="1">
                <a:solidFill>
                  <a:srgbClr val="FAFD00"/>
                </a:solidFill>
                <a:latin typeface="Arial" panose="020B0604020202020204" pitchFamily="34" charset="0"/>
              </a:defRPr>
            </a:lvl6pPr>
            <a:lvl7pPr marL="2971800" indent="-228600" defTabSz="585788" eaLnBrk="0" fontAlgn="base" hangingPunct="0">
              <a:spcBef>
                <a:spcPct val="0"/>
              </a:spcBef>
              <a:spcAft>
                <a:spcPct val="0"/>
              </a:spcAft>
              <a:defRPr sz="3200" b="1">
                <a:solidFill>
                  <a:srgbClr val="FAFD00"/>
                </a:solidFill>
                <a:latin typeface="Arial" panose="020B0604020202020204" pitchFamily="34" charset="0"/>
              </a:defRPr>
            </a:lvl7pPr>
            <a:lvl8pPr marL="3429000" indent="-228600" defTabSz="585788" eaLnBrk="0" fontAlgn="base" hangingPunct="0">
              <a:spcBef>
                <a:spcPct val="0"/>
              </a:spcBef>
              <a:spcAft>
                <a:spcPct val="0"/>
              </a:spcAft>
              <a:defRPr sz="3200" b="1">
                <a:solidFill>
                  <a:srgbClr val="FAFD00"/>
                </a:solidFill>
                <a:latin typeface="Arial" panose="020B0604020202020204" pitchFamily="34" charset="0"/>
              </a:defRPr>
            </a:lvl8pPr>
            <a:lvl9pPr marL="3886200" indent="-228600" defTabSz="585788"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pPr>
            <a:r>
              <a:rPr lang="en-US" altLang="en-US" sz="2403">
                <a:solidFill>
                  <a:schemeClr val="tx1"/>
                </a:solidFill>
                <a:latin typeface="Symbol" panose="05050102010706020507" pitchFamily="18" charset="2"/>
              </a:rPr>
              <a:t></a:t>
            </a:r>
            <a:r>
              <a:rPr lang="en-US" altLang="en-US" sz="2403" baseline="-25000">
                <a:solidFill>
                  <a:schemeClr val="tx1"/>
                </a:solidFill>
                <a:latin typeface="Symbol" panose="05050102010706020507" pitchFamily="18" charset="2"/>
              </a:rPr>
              <a:t>k</a:t>
            </a:r>
          </a:p>
        </p:txBody>
      </p:sp>
      <p:sp>
        <p:nvSpPr>
          <p:cNvPr id="18" name="Line 130"/>
          <p:cNvSpPr>
            <a:spLocks noChangeShapeType="1"/>
          </p:cNvSpPr>
          <p:nvPr/>
        </p:nvSpPr>
        <p:spPr bwMode="auto">
          <a:xfrm>
            <a:off x="5266053" y="1435708"/>
            <a:ext cx="0" cy="583423"/>
          </a:xfrm>
          <a:prstGeom prst="line">
            <a:avLst/>
          </a:prstGeom>
          <a:noFill/>
          <a:ln w="50800">
            <a:solidFill>
              <a:srgbClr val="063DE8"/>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3"/>
          </a:p>
        </p:txBody>
      </p:sp>
      <p:sp>
        <p:nvSpPr>
          <p:cNvPr id="19" name="Line 131"/>
          <p:cNvSpPr>
            <a:spLocks noChangeShapeType="1"/>
          </p:cNvSpPr>
          <p:nvPr/>
        </p:nvSpPr>
        <p:spPr bwMode="auto">
          <a:xfrm>
            <a:off x="4641298" y="1435708"/>
            <a:ext cx="0" cy="583423"/>
          </a:xfrm>
          <a:prstGeom prst="line">
            <a:avLst/>
          </a:prstGeom>
          <a:noFill/>
          <a:ln w="50800">
            <a:solidFill>
              <a:srgbClr val="063DE8"/>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3"/>
          </a:p>
        </p:txBody>
      </p:sp>
      <p:sp>
        <p:nvSpPr>
          <p:cNvPr id="20" name="Line 140"/>
          <p:cNvSpPr>
            <a:spLocks noChangeShapeType="1"/>
          </p:cNvSpPr>
          <p:nvPr/>
        </p:nvSpPr>
        <p:spPr bwMode="auto">
          <a:xfrm>
            <a:off x="6407463" y="1435708"/>
            <a:ext cx="0" cy="583423"/>
          </a:xfrm>
          <a:prstGeom prst="line">
            <a:avLst/>
          </a:prstGeom>
          <a:noFill/>
          <a:ln w="50800">
            <a:solidFill>
              <a:srgbClr val="063DE8"/>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3"/>
          </a:p>
        </p:txBody>
      </p:sp>
      <p:sp>
        <p:nvSpPr>
          <p:cNvPr id="21" name="Line 144"/>
          <p:cNvSpPr>
            <a:spLocks noChangeShapeType="1"/>
          </p:cNvSpPr>
          <p:nvPr/>
        </p:nvSpPr>
        <p:spPr bwMode="auto">
          <a:xfrm>
            <a:off x="1091480" y="3273409"/>
            <a:ext cx="705830" cy="705830"/>
          </a:xfrm>
          <a:prstGeom prst="line">
            <a:avLst/>
          </a:prstGeom>
          <a:noFill/>
          <a:ln w="50800">
            <a:solidFill>
              <a:srgbClr val="00B05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3"/>
          </a:p>
        </p:txBody>
      </p:sp>
      <p:sp>
        <p:nvSpPr>
          <p:cNvPr id="22" name="Rectangle 145"/>
          <p:cNvSpPr>
            <a:spLocks noChangeArrowheads="1"/>
          </p:cNvSpPr>
          <p:nvPr/>
        </p:nvSpPr>
        <p:spPr bwMode="auto">
          <a:xfrm>
            <a:off x="461956" y="2939570"/>
            <a:ext cx="1431868" cy="3772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8901F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88" tIns="25435" rIns="63588" bIns="25435">
            <a:spAutoFit/>
          </a:bodyP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nSpc>
                <a:spcPct val="88000"/>
              </a:lnSpc>
            </a:pPr>
            <a:r>
              <a:rPr lang="en-US" altLang="en-US" sz="2403">
                <a:solidFill>
                  <a:schemeClr val="tx1"/>
                </a:solidFill>
              </a:rPr>
              <a:t>Ray-sum</a:t>
            </a:r>
          </a:p>
        </p:txBody>
      </p:sp>
      <p:sp>
        <p:nvSpPr>
          <p:cNvPr id="23" name="Rectangle 146"/>
          <p:cNvSpPr>
            <a:spLocks noChangeArrowheads="1"/>
          </p:cNvSpPr>
          <p:nvPr/>
        </p:nvSpPr>
        <p:spPr bwMode="auto">
          <a:xfrm>
            <a:off x="1015174" y="4017392"/>
            <a:ext cx="1526120" cy="991978"/>
          </a:xfrm>
          <a:prstGeom prst="rect">
            <a:avLst/>
          </a:prstGeom>
          <a:noFill/>
          <a:ln w="50800">
            <a:solidFill>
              <a:srgbClr val="00B05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pPr>
            <a:endParaRPr lang="en-US" altLang="en-US" sz="3204"/>
          </a:p>
        </p:txBody>
      </p:sp>
      <p:sp>
        <p:nvSpPr>
          <p:cNvPr id="24" name="Line 147"/>
          <p:cNvSpPr>
            <a:spLocks noChangeShapeType="1"/>
          </p:cNvSpPr>
          <p:nvPr/>
        </p:nvSpPr>
        <p:spPr bwMode="auto">
          <a:xfrm flipH="1">
            <a:off x="5707992" y="3158950"/>
            <a:ext cx="705830" cy="705830"/>
          </a:xfrm>
          <a:prstGeom prst="line">
            <a:avLst/>
          </a:prstGeom>
          <a:noFill/>
          <a:ln w="50800">
            <a:solidFill>
              <a:srgbClr val="00B05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3"/>
          </a:p>
        </p:txBody>
      </p:sp>
      <p:sp>
        <p:nvSpPr>
          <p:cNvPr id="25" name="Rectangle 148"/>
          <p:cNvSpPr>
            <a:spLocks noChangeArrowheads="1"/>
          </p:cNvSpPr>
          <p:nvPr/>
        </p:nvSpPr>
        <p:spPr bwMode="auto">
          <a:xfrm>
            <a:off x="6451975" y="2977723"/>
            <a:ext cx="1958384" cy="3772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8901F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88" tIns="25435" rIns="63588" bIns="25435">
            <a:spAutoFit/>
          </a:bodyP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nSpc>
                <a:spcPct val="88000"/>
              </a:lnSpc>
            </a:pPr>
            <a:r>
              <a:rPr lang="en-US" altLang="en-US" sz="2403">
                <a:solidFill>
                  <a:schemeClr val="tx1"/>
                </a:solidFill>
              </a:rPr>
              <a:t>Line integral</a:t>
            </a:r>
          </a:p>
        </p:txBody>
      </p:sp>
      <p:sp>
        <p:nvSpPr>
          <p:cNvPr id="26" name="Rectangle 149"/>
          <p:cNvSpPr>
            <a:spLocks noChangeArrowheads="1"/>
          </p:cNvSpPr>
          <p:nvPr/>
        </p:nvSpPr>
        <p:spPr bwMode="auto">
          <a:xfrm>
            <a:off x="4696938" y="3864781"/>
            <a:ext cx="1755038" cy="1259049"/>
          </a:xfrm>
          <a:prstGeom prst="rect">
            <a:avLst/>
          </a:prstGeom>
          <a:noFill/>
          <a:ln w="50800">
            <a:solidFill>
              <a:srgbClr val="00B05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pPr>
            <a:endParaRPr lang="en-US" altLang="en-US" sz="3204"/>
          </a:p>
        </p:txBody>
      </p:sp>
      <p:sp>
        <p:nvSpPr>
          <p:cNvPr id="27" name="AutoShape 125"/>
          <p:cNvSpPr>
            <a:spLocks noChangeArrowheads="1"/>
          </p:cNvSpPr>
          <p:nvPr/>
        </p:nvSpPr>
        <p:spPr bwMode="auto">
          <a:xfrm>
            <a:off x="6971810" y="1491347"/>
            <a:ext cx="1041259" cy="510297"/>
          </a:xfrm>
          <a:prstGeom prst="rightArrow">
            <a:avLst>
              <a:gd name="adj1" fmla="val 50000"/>
              <a:gd name="adj2" fmla="val 102034"/>
            </a:avLst>
          </a:prstGeom>
          <a:solidFill>
            <a:srgbClr val="FF0000">
              <a:alpha val="20000"/>
            </a:srgbClr>
          </a:solidFill>
          <a:ln w="50800">
            <a:noFill/>
            <a:miter lim="800000"/>
            <a:headEnd/>
            <a:tailEnd/>
          </a:ln>
          <a:effectLst/>
        </p:spPr>
        <p:txBody>
          <a:bodyPr wrap="none" anchor="ct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pPr>
            <a:endParaRPr lang="en-US" altLang="en-US" sz="3204"/>
          </a:p>
        </p:txBody>
      </p:sp>
      <p:sp>
        <p:nvSpPr>
          <p:cNvPr id="28" name="Rectangle 1029"/>
          <p:cNvSpPr>
            <a:spLocks noChangeArrowheads="1"/>
          </p:cNvSpPr>
          <p:nvPr/>
        </p:nvSpPr>
        <p:spPr bwMode="auto">
          <a:xfrm>
            <a:off x="397496" y="5474178"/>
            <a:ext cx="8376327" cy="977444"/>
          </a:xfrm>
          <a:prstGeom prst="rect">
            <a:avLst/>
          </a:prstGeom>
          <a:noFill/>
          <a:ln>
            <a:noFill/>
          </a:ln>
          <a:effectLst/>
          <a:extLst>
            <a:ext uri="{909E8E84-426E-40DD-AFC4-6F175D3DCCD1}">
              <a14:hiddenFill xmlns:a14="http://schemas.microsoft.com/office/drawing/2010/main">
                <a:solidFill>
                  <a:srgbClr val="00279F"/>
                </a:solidFill>
              </a14:hiddenFill>
            </a:ext>
            <a:ext uri="{91240B29-F687-4F45-9708-019B960494DF}">
              <a14:hiddenLine xmlns:a14="http://schemas.microsoft.com/office/drawing/2010/main" w="50800">
                <a:solidFill>
                  <a:srgbClr val="FC0128"/>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614" tIns="44512" rIns="90614" bIns="44512">
            <a:spAutoFit/>
          </a:bodyP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r>
              <a:rPr lang="en-US" altLang="en-US" sz="3204" dirty="0">
                <a:solidFill>
                  <a:schemeClr val="tx1"/>
                </a:solidFill>
                <a:cs typeface="Times New Roman" pitchFamily="18" charset="0"/>
              </a:rPr>
              <a:t>X-ray measurement gives data as ray sums or line integrals</a:t>
            </a:r>
          </a:p>
        </p:txBody>
      </p:sp>
    </p:spTree>
    <p:extLst>
      <p:ext uri="{BB962C8B-B14F-4D97-AF65-F5344CB8AC3E}">
        <p14:creationId xmlns:p14="http://schemas.microsoft.com/office/powerpoint/2010/main" val="14165812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123144"/>
            <a:ext cx="8839200" cy="838200"/>
          </a:xfrm>
        </p:spPr>
        <p:txBody>
          <a:bodyPr/>
          <a:lstStyle/>
          <a:p>
            <a:r>
              <a:rPr lang="en-US" dirty="0"/>
              <a:t>Data Independence</a:t>
            </a:r>
          </a:p>
        </p:txBody>
      </p:sp>
      <p:grpSp>
        <p:nvGrpSpPr>
          <p:cNvPr id="5" name="Group 4"/>
          <p:cNvGrpSpPr/>
          <p:nvPr/>
        </p:nvGrpSpPr>
        <p:grpSpPr>
          <a:xfrm>
            <a:off x="1660654" y="1317867"/>
            <a:ext cx="4606617" cy="4430776"/>
            <a:chOff x="1113306" y="1086775"/>
            <a:chExt cx="6131408" cy="5897363"/>
          </a:xfrm>
        </p:grpSpPr>
        <p:sp>
          <p:nvSpPr>
            <p:cNvPr id="17" name="Line 12"/>
            <p:cNvSpPr>
              <a:spLocks noChangeShapeType="1"/>
            </p:cNvSpPr>
            <p:nvPr/>
          </p:nvSpPr>
          <p:spPr bwMode="auto">
            <a:xfrm rot="5400000" flipV="1">
              <a:off x="4449240" y="-120329"/>
              <a:ext cx="0" cy="2798686"/>
            </a:xfrm>
            <a:prstGeom prst="line">
              <a:avLst/>
            </a:prstGeom>
            <a:noFill/>
            <a:ln w="12700">
              <a:solidFill>
                <a:srgbClr val="00B050"/>
              </a:solidFill>
              <a:round/>
              <a:headEn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solidFill>
                  <a:srgbClr val="FAFD00"/>
                </a:solidFill>
                <a:latin typeface="Arial" panose="020B0604020202020204" pitchFamily="34" charset="0"/>
                <a:ea typeface="ＭＳ Ｐゴシック"/>
                <a:cs typeface="Times New Roman" pitchFamily="18" charset="0"/>
              </a:endParaRPr>
            </a:p>
          </p:txBody>
        </p:sp>
        <p:sp>
          <p:nvSpPr>
            <p:cNvPr id="21" name="Line 12"/>
            <p:cNvSpPr>
              <a:spLocks noChangeShapeType="1"/>
            </p:cNvSpPr>
            <p:nvPr/>
          </p:nvSpPr>
          <p:spPr bwMode="auto">
            <a:xfrm rot="5400000" flipV="1">
              <a:off x="4453621" y="4719522"/>
              <a:ext cx="0" cy="2798686"/>
            </a:xfrm>
            <a:prstGeom prst="line">
              <a:avLst/>
            </a:prstGeom>
            <a:noFill/>
            <a:ln w="12700">
              <a:solidFill>
                <a:srgbClr val="00B050"/>
              </a:solidFill>
              <a:round/>
              <a:headEn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solidFill>
                  <a:srgbClr val="FAFD00"/>
                </a:solidFill>
                <a:latin typeface="Arial" panose="020B0604020202020204" pitchFamily="34" charset="0"/>
                <a:ea typeface="ＭＳ Ｐゴシック"/>
                <a:cs typeface="Times New Roman" pitchFamily="18" charset="0"/>
              </a:endParaRPr>
            </a:p>
          </p:txBody>
        </p:sp>
        <p:sp>
          <p:nvSpPr>
            <p:cNvPr id="22" name="Line 12"/>
            <p:cNvSpPr>
              <a:spLocks noChangeShapeType="1"/>
            </p:cNvSpPr>
            <p:nvPr/>
          </p:nvSpPr>
          <p:spPr bwMode="auto">
            <a:xfrm rot="1800000" flipV="1">
              <a:off x="6543110" y="3512419"/>
              <a:ext cx="0" cy="2798686"/>
            </a:xfrm>
            <a:prstGeom prst="line">
              <a:avLst/>
            </a:prstGeom>
            <a:noFill/>
            <a:ln w="12700">
              <a:solidFill>
                <a:srgbClr val="00B050"/>
              </a:solidFill>
              <a:round/>
              <a:headEn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solidFill>
                  <a:srgbClr val="FAFD00"/>
                </a:solidFill>
                <a:latin typeface="Arial" panose="020B0604020202020204" pitchFamily="34" charset="0"/>
                <a:ea typeface="ＭＳ Ｐゴシック"/>
                <a:cs typeface="Times New Roman" pitchFamily="18" charset="0"/>
              </a:endParaRPr>
            </a:p>
          </p:txBody>
        </p:sp>
        <p:sp>
          <p:nvSpPr>
            <p:cNvPr id="23" name="Line 12"/>
            <p:cNvSpPr>
              <a:spLocks noChangeShapeType="1"/>
            </p:cNvSpPr>
            <p:nvPr/>
          </p:nvSpPr>
          <p:spPr bwMode="auto">
            <a:xfrm rot="19800000" flipV="1">
              <a:off x="6552636" y="1086775"/>
              <a:ext cx="0" cy="2798686"/>
            </a:xfrm>
            <a:prstGeom prst="line">
              <a:avLst/>
            </a:prstGeom>
            <a:noFill/>
            <a:ln w="12700">
              <a:solidFill>
                <a:srgbClr val="00B050"/>
              </a:solidFill>
              <a:round/>
              <a:headEn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solidFill>
                  <a:srgbClr val="FAFD00"/>
                </a:solidFill>
                <a:latin typeface="Arial" panose="020B0604020202020204" pitchFamily="34" charset="0"/>
                <a:ea typeface="ＭＳ Ｐゴシック"/>
                <a:cs typeface="Times New Roman" pitchFamily="18" charset="0"/>
              </a:endParaRPr>
            </a:p>
          </p:txBody>
        </p:sp>
        <p:sp>
          <p:nvSpPr>
            <p:cNvPr id="24" name="Line 12"/>
            <p:cNvSpPr>
              <a:spLocks noChangeShapeType="1"/>
            </p:cNvSpPr>
            <p:nvPr/>
          </p:nvSpPr>
          <p:spPr bwMode="auto">
            <a:xfrm rot="19800000" flipV="1">
              <a:off x="2363303" y="3507657"/>
              <a:ext cx="0" cy="2798686"/>
            </a:xfrm>
            <a:prstGeom prst="line">
              <a:avLst/>
            </a:prstGeom>
            <a:noFill/>
            <a:ln w="12700">
              <a:solidFill>
                <a:srgbClr val="00B050"/>
              </a:solidFill>
              <a:round/>
              <a:headEn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solidFill>
                  <a:srgbClr val="FAFD00"/>
                </a:solidFill>
                <a:latin typeface="Arial" panose="020B0604020202020204" pitchFamily="34" charset="0"/>
                <a:ea typeface="ＭＳ Ｐゴシック"/>
                <a:cs typeface="Times New Roman" pitchFamily="18" charset="0"/>
              </a:endParaRPr>
            </a:p>
          </p:txBody>
        </p:sp>
        <p:sp>
          <p:nvSpPr>
            <p:cNvPr id="25" name="Line 12"/>
            <p:cNvSpPr>
              <a:spLocks noChangeShapeType="1"/>
            </p:cNvSpPr>
            <p:nvPr/>
          </p:nvSpPr>
          <p:spPr bwMode="auto">
            <a:xfrm rot="1800000" flipV="1">
              <a:off x="2353777" y="1091538"/>
              <a:ext cx="0" cy="2798686"/>
            </a:xfrm>
            <a:prstGeom prst="line">
              <a:avLst/>
            </a:prstGeom>
            <a:noFill/>
            <a:ln w="12700">
              <a:solidFill>
                <a:srgbClr val="00B050"/>
              </a:solidFill>
              <a:round/>
              <a:headEn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solidFill>
                  <a:srgbClr val="FAFD00"/>
                </a:solidFill>
                <a:latin typeface="Arial" panose="020B0604020202020204" pitchFamily="34" charset="0"/>
                <a:ea typeface="ＭＳ Ｐゴシック"/>
                <a:cs typeface="Times New Roman" pitchFamily="18" charset="0"/>
              </a:endParaRPr>
            </a:p>
          </p:txBody>
        </p:sp>
        <p:sp>
          <p:nvSpPr>
            <p:cNvPr id="29" name="Freeform 28"/>
            <p:cNvSpPr/>
            <p:nvPr/>
          </p:nvSpPr>
          <p:spPr bwMode="auto">
            <a:xfrm>
              <a:off x="1661159" y="1269682"/>
              <a:ext cx="5583555" cy="4861561"/>
            </a:xfrm>
            <a:custGeom>
              <a:avLst/>
              <a:gdLst>
                <a:gd name="connsiteX0" fmla="*/ 1356360 w 5593080"/>
                <a:gd name="connsiteY0" fmla="*/ 0 h 4876800"/>
                <a:gd name="connsiteX1" fmla="*/ 4236720 w 5593080"/>
                <a:gd name="connsiteY1" fmla="*/ 30480 h 4876800"/>
                <a:gd name="connsiteX2" fmla="*/ 5593080 w 5593080"/>
                <a:gd name="connsiteY2" fmla="*/ 2453640 h 4876800"/>
                <a:gd name="connsiteX3" fmla="*/ 4160520 w 5593080"/>
                <a:gd name="connsiteY3" fmla="*/ 4876800 h 4876800"/>
                <a:gd name="connsiteX4" fmla="*/ 1386840 w 5593080"/>
                <a:gd name="connsiteY4" fmla="*/ 4861560 h 4876800"/>
                <a:gd name="connsiteX5" fmla="*/ 0 w 5593080"/>
                <a:gd name="connsiteY5" fmla="*/ 2423160 h 4876800"/>
                <a:gd name="connsiteX6" fmla="*/ 1356360 w 5593080"/>
                <a:gd name="connsiteY6" fmla="*/ 0 h 4876800"/>
                <a:gd name="connsiteX0" fmla="*/ 1394460 w 5593080"/>
                <a:gd name="connsiteY0" fmla="*/ 0 h 4872038"/>
                <a:gd name="connsiteX1" fmla="*/ 4236720 w 5593080"/>
                <a:gd name="connsiteY1" fmla="*/ 25718 h 4872038"/>
                <a:gd name="connsiteX2" fmla="*/ 5593080 w 5593080"/>
                <a:gd name="connsiteY2" fmla="*/ 2448878 h 4872038"/>
                <a:gd name="connsiteX3" fmla="*/ 4160520 w 5593080"/>
                <a:gd name="connsiteY3" fmla="*/ 4872038 h 4872038"/>
                <a:gd name="connsiteX4" fmla="*/ 1386840 w 5593080"/>
                <a:gd name="connsiteY4" fmla="*/ 4856798 h 4872038"/>
                <a:gd name="connsiteX5" fmla="*/ 0 w 5593080"/>
                <a:gd name="connsiteY5" fmla="*/ 2418398 h 4872038"/>
                <a:gd name="connsiteX6" fmla="*/ 1394460 w 5593080"/>
                <a:gd name="connsiteY6" fmla="*/ 0 h 4872038"/>
                <a:gd name="connsiteX0" fmla="*/ 1394460 w 5593080"/>
                <a:gd name="connsiteY0" fmla="*/ 0 h 4872038"/>
                <a:gd name="connsiteX1" fmla="*/ 4203382 w 5593080"/>
                <a:gd name="connsiteY1" fmla="*/ 16193 h 4872038"/>
                <a:gd name="connsiteX2" fmla="*/ 5593080 w 5593080"/>
                <a:gd name="connsiteY2" fmla="*/ 2448878 h 4872038"/>
                <a:gd name="connsiteX3" fmla="*/ 4160520 w 5593080"/>
                <a:gd name="connsiteY3" fmla="*/ 4872038 h 4872038"/>
                <a:gd name="connsiteX4" fmla="*/ 1386840 w 5593080"/>
                <a:gd name="connsiteY4" fmla="*/ 4856798 h 4872038"/>
                <a:gd name="connsiteX5" fmla="*/ 0 w 5593080"/>
                <a:gd name="connsiteY5" fmla="*/ 2418398 h 4872038"/>
                <a:gd name="connsiteX6" fmla="*/ 1394460 w 5593080"/>
                <a:gd name="connsiteY6" fmla="*/ 0 h 4872038"/>
                <a:gd name="connsiteX0" fmla="*/ 1394460 w 5583555"/>
                <a:gd name="connsiteY0" fmla="*/ 0 h 4872038"/>
                <a:gd name="connsiteX1" fmla="*/ 4203382 w 5583555"/>
                <a:gd name="connsiteY1" fmla="*/ 16193 h 4872038"/>
                <a:gd name="connsiteX2" fmla="*/ 5583555 w 5583555"/>
                <a:gd name="connsiteY2" fmla="*/ 2429828 h 4872038"/>
                <a:gd name="connsiteX3" fmla="*/ 4160520 w 5583555"/>
                <a:gd name="connsiteY3" fmla="*/ 4872038 h 4872038"/>
                <a:gd name="connsiteX4" fmla="*/ 1386840 w 5583555"/>
                <a:gd name="connsiteY4" fmla="*/ 4856798 h 4872038"/>
                <a:gd name="connsiteX5" fmla="*/ 0 w 5583555"/>
                <a:gd name="connsiteY5" fmla="*/ 2418398 h 4872038"/>
                <a:gd name="connsiteX6" fmla="*/ 1394460 w 5583555"/>
                <a:gd name="connsiteY6" fmla="*/ 0 h 4872038"/>
                <a:gd name="connsiteX0" fmla="*/ 1394460 w 5583555"/>
                <a:gd name="connsiteY0" fmla="*/ 0 h 4856798"/>
                <a:gd name="connsiteX1" fmla="*/ 4203382 w 5583555"/>
                <a:gd name="connsiteY1" fmla="*/ 16193 h 4856798"/>
                <a:gd name="connsiteX2" fmla="*/ 5583555 w 5583555"/>
                <a:gd name="connsiteY2" fmla="*/ 2429828 h 4856798"/>
                <a:gd name="connsiteX3" fmla="*/ 4174808 w 5583555"/>
                <a:gd name="connsiteY3" fmla="*/ 4852988 h 4856798"/>
                <a:gd name="connsiteX4" fmla="*/ 1386840 w 5583555"/>
                <a:gd name="connsiteY4" fmla="*/ 4856798 h 4856798"/>
                <a:gd name="connsiteX5" fmla="*/ 0 w 5583555"/>
                <a:gd name="connsiteY5" fmla="*/ 2418398 h 4856798"/>
                <a:gd name="connsiteX6" fmla="*/ 1394460 w 5583555"/>
                <a:gd name="connsiteY6" fmla="*/ 0 h 4856798"/>
                <a:gd name="connsiteX0" fmla="*/ 1394460 w 5583555"/>
                <a:gd name="connsiteY0" fmla="*/ 0 h 4861561"/>
                <a:gd name="connsiteX1" fmla="*/ 4203382 w 5583555"/>
                <a:gd name="connsiteY1" fmla="*/ 16193 h 4861561"/>
                <a:gd name="connsiteX2" fmla="*/ 5583555 w 5583555"/>
                <a:gd name="connsiteY2" fmla="*/ 2429828 h 4861561"/>
                <a:gd name="connsiteX3" fmla="*/ 4174808 w 5583555"/>
                <a:gd name="connsiteY3" fmla="*/ 4852988 h 4861561"/>
                <a:gd name="connsiteX4" fmla="*/ 1401128 w 5583555"/>
                <a:gd name="connsiteY4" fmla="*/ 4861561 h 4861561"/>
                <a:gd name="connsiteX5" fmla="*/ 0 w 5583555"/>
                <a:gd name="connsiteY5" fmla="*/ 2418398 h 4861561"/>
                <a:gd name="connsiteX6" fmla="*/ 1394460 w 5583555"/>
                <a:gd name="connsiteY6" fmla="*/ 0 h 4861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83555" h="4861561">
                  <a:moveTo>
                    <a:pt x="1394460" y="0"/>
                  </a:moveTo>
                  <a:lnTo>
                    <a:pt x="4203382" y="16193"/>
                  </a:lnTo>
                  <a:lnTo>
                    <a:pt x="5583555" y="2429828"/>
                  </a:lnTo>
                  <a:lnTo>
                    <a:pt x="4174808" y="4852988"/>
                  </a:lnTo>
                  <a:lnTo>
                    <a:pt x="1401128" y="4861561"/>
                  </a:lnTo>
                  <a:lnTo>
                    <a:pt x="0" y="2418398"/>
                  </a:lnTo>
                  <a:lnTo>
                    <a:pt x="1394460" y="0"/>
                  </a:lnTo>
                  <a:close/>
                </a:path>
              </a:pathLst>
            </a:cu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defRPr/>
              </a:pPr>
              <a:endParaRPr lang="en-US" sz="1800" dirty="0" err="1">
                <a:solidFill>
                  <a:srgbClr val="000000"/>
                </a:solidFill>
                <a:latin typeface="Garamond" pitchFamily="18" charset="0"/>
                <a:ea typeface="ＭＳ Ｐゴシック"/>
                <a:cs typeface="Times New Roman" pitchFamily="18" charset="0"/>
              </a:endParaRPr>
            </a:p>
          </p:txBody>
        </p:sp>
        <p:sp>
          <p:nvSpPr>
            <p:cNvPr id="30" name="Freeform 29"/>
            <p:cNvSpPr/>
            <p:nvPr/>
          </p:nvSpPr>
          <p:spPr bwMode="auto">
            <a:xfrm rot="1800000">
              <a:off x="2038316" y="1599761"/>
              <a:ext cx="4830607" cy="4205975"/>
            </a:xfrm>
            <a:custGeom>
              <a:avLst/>
              <a:gdLst>
                <a:gd name="connsiteX0" fmla="*/ 1356360 w 5593080"/>
                <a:gd name="connsiteY0" fmla="*/ 0 h 4876800"/>
                <a:gd name="connsiteX1" fmla="*/ 4236720 w 5593080"/>
                <a:gd name="connsiteY1" fmla="*/ 30480 h 4876800"/>
                <a:gd name="connsiteX2" fmla="*/ 5593080 w 5593080"/>
                <a:gd name="connsiteY2" fmla="*/ 2453640 h 4876800"/>
                <a:gd name="connsiteX3" fmla="*/ 4160520 w 5593080"/>
                <a:gd name="connsiteY3" fmla="*/ 4876800 h 4876800"/>
                <a:gd name="connsiteX4" fmla="*/ 1386840 w 5593080"/>
                <a:gd name="connsiteY4" fmla="*/ 4861560 h 4876800"/>
                <a:gd name="connsiteX5" fmla="*/ 0 w 5593080"/>
                <a:gd name="connsiteY5" fmla="*/ 2423160 h 4876800"/>
                <a:gd name="connsiteX6" fmla="*/ 1356360 w 5593080"/>
                <a:gd name="connsiteY6" fmla="*/ 0 h 4876800"/>
                <a:gd name="connsiteX0" fmla="*/ 1394460 w 5593080"/>
                <a:gd name="connsiteY0" fmla="*/ 0 h 4872038"/>
                <a:gd name="connsiteX1" fmla="*/ 4236720 w 5593080"/>
                <a:gd name="connsiteY1" fmla="*/ 25718 h 4872038"/>
                <a:gd name="connsiteX2" fmla="*/ 5593080 w 5593080"/>
                <a:gd name="connsiteY2" fmla="*/ 2448878 h 4872038"/>
                <a:gd name="connsiteX3" fmla="*/ 4160520 w 5593080"/>
                <a:gd name="connsiteY3" fmla="*/ 4872038 h 4872038"/>
                <a:gd name="connsiteX4" fmla="*/ 1386840 w 5593080"/>
                <a:gd name="connsiteY4" fmla="*/ 4856798 h 4872038"/>
                <a:gd name="connsiteX5" fmla="*/ 0 w 5593080"/>
                <a:gd name="connsiteY5" fmla="*/ 2418398 h 4872038"/>
                <a:gd name="connsiteX6" fmla="*/ 1394460 w 5593080"/>
                <a:gd name="connsiteY6" fmla="*/ 0 h 4872038"/>
                <a:gd name="connsiteX0" fmla="*/ 1394460 w 5593080"/>
                <a:gd name="connsiteY0" fmla="*/ 0 h 4872038"/>
                <a:gd name="connsiteX1" fmla="*/ 4203382 w 5593080"/>
                <a:gd name="connsiteY1" fmla="*/ 16193 h 4872038"/>
                <a:gd name="connsiteX2" fmla="*/ 5593080 w 5593080"/>
                <a:gd name="connsiteY2" fmla="*/ 2448878 h 4872038"/>
                <a:gd name="connsiteX3" fmla="*/ 4160520 w 5593080"/>
                <a:gd name="connsiteY3" fmla="*/ 4872038 h 4872038"/>
                <a:gd name="connsiteX4" fmla="*/ 1386840 w 5593080"/>
                <a:gd name="connsiteY4" fmla="*/ 4856798 h 4872038"/>
                <a:gd name="connsiteX5" fmla="*/ 0 w 5593080"/>
                <a:gd name="connsiteY5" fmla="*/ 2418398 h 4872038"/>
                <a:gd name="connsiteX6" fmla="*/ 1394460 w 5593080"/>
                <a:gd name="connsiteY6" fmla="*/ 0 h 4872038"/>
                <a:gd name="connsiteX0" fmla="*/ 1394460 w 5583555"/>
                <a:gd name="connsiteY0" fmla="*/ 0 h 4872038"/>
                <a:gd name="connsiteX1" fmla="*/ 4203382 w 5583555"/>
                <a:gd name="connsiteY1" fmla="*/ 16193 h 4872038"/>
                <a:gd name="connsiteX2" fmla="*/ 5583555 w 5583555"/>
                <a:gd name="connsiteY2" fmla="*/ 2429828 h 4872038"/>
                <a:gd name="connsiteX3" fmla="*/ 4160520 w 5583555"/>
                <a:gd name="connsiteY3" fmla="*/ 4872038 h 4872038"/>
                <a:gd name="connsiteX4" fmla="*/ 1386840 w 5583555"/>
                <a:gd name="connsiteY4" fmla="*/ 4856798 h 4872038"/>
                <a:gd name="connsiteX5" fmla="*/ 0 w 5583555"/>
                <a:gd name="connsiteY5" fmla="*/ 2418398 h 4872038"/>
                <a:gd name="connsiteX6" fmla="*/ 1394460 w 5583555"/>
                <a:gd name="connsiteY6" fmla="*/ 0 h 4872038"/>
                <a:gd name="connsiteX0" fmla="*/ 1394460 w 5583555"/>
                <a:gd name="connsiteY0" fmla="*/ 0 h 4856798"/>
                <a:gd name="connsiteX1" fmla="*/ 4203382 w 5583555"/>
                <a:gd name="connsiteY1" fmla="*/ 16193 h 4856798"/>
                <a:gd name="connsiteX2" fmla="*/ 5583555 w 5583555"/>
                <a:gd name="connsiteY2" fmla="*/ 2429828 h 4856798"/>
                <a:gd name="connsiteX3" fmla="*/ 4174808 w 5583555"/>
                <a:gd name="connsiteY3" fmla="*/ 4852988 h 4856798"/>
                <a:gd name="connsiteX4" fmla="*/ 1386840 w 5583555"/>
                <a:gd name="connsiteY4" fmla="*/ 4856798 h 4856798"/>
                <a:gd name="connsiteX5" fmla="*/ 0 w 5583555"/>
                <a:gd name="connsiteY5" fmla="*/ 2418398 h 4856798"/>
                <a:gd name="connsiteX6" fmla="*/ 1394460 w 5583555"/>
                <a:gd name="connsiteY6" fmla="*/ 0 h 4856798"/>
                <a:gd name="connsiteX0" fmla="*/ 1394460 w 5583555"/>
                <a:gd name="connsiteY0" fmla="*/ 0 h 4861561"/>
                <a:gd name="connsiteX1" fmla="*/ 4203382 w 5583555"/>
                <a:gd name="connsiteY1" fmla="*/ 16193 h 4861561"/>
                <a:gd name="connsiteX2" fmla="*/ 5583555 w 5583555"/>
                <a:gd name="connsiteY2" fmla="*/ 2429828 h 4861561"/>
                <a:gd name="connsiteX3" fmla="*/ 4174808 w 5583555"/>
                <a:gd name="connsiteY3" fmla="*/ 4852988 h 4861561"/>
                <a:gd name="connsiteX4" fmla="*/ 1401128 w 5583555"/>
                <a:gd name="connsiteY4" fmla="*/ 4861561 h 4861561"/>
                <a:gd name="connsiteX5" fmla="*/ 0 w 5583555"/>
                <a:gd name="connsiteY5" fmla="*/ 2418398 h 4861561"/>
                <a:gd name="connsiteX6" fmla="*/ 1394460 w 5583555"/>
                <a:gd name="connsiteY6" fmla="*/ 0 h 4861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83555" h="4861561">
                  <a:moveTo>
                    <a:pt x="1394460" y="0"/>
                  </a:moveTo>
                  <a:lnTo>
                    <a:pt x="4203382" y="16193"/>
                  </a:lnTo>
                  <a:lnTo>
                    <a:pt x="5583555" y="2429828"/>
                  </a:lnTo>
                  <a:lnTo>
                    <a:pt x="4174808" y="4852988"/>
                  </a:lnTo>
                  <a:lnTo>
                    <a:pt x="1401128" y="4861561"/>
                  </a:lnTo>
                  <a:lnTo>
                    <a:pt x="0" y="2418398"/>
                  </a:lnTo>
                  <a:lnTo>
                    <a:pt x="1394460" y="0"/>
                  </a:lnTo>
                  <a:close/>
                </a:path>
              </a:pathLst>
            </a:custGeom>
            <a:solidFill>
              <a:srgbClr val="00B05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defRPr/>
              </a:pPr>
              <a:endParaRPr lang="en-US" sz="1800" dirty="0" err="1">
                <a:solidFill>
                  <a:srgbClr val="000000"/>
                </a:solidFill>
                <a:latin typeface="Garamond" pitchFamily="18" charset="0"/>
                <a:ea typeface="ＭＳ Ｐゴシック"/>
                <a:cs typeface="Times New Roman" pitchFamily="18" charset="0"/>
              </a:endParaRPr>
            </a:p>
          </p:txBody>
        </p:sp>
        <p:sp>
          <p:nvSpPr>
            <p:cNvPr id="31" name="Freeform 30"/>
            <p:cNvSpPr/>
            <p:nvPr/>
          </p:nvSpPr>
          <p:spPr bwMode="auto">
            <a:xfrm>
              <a:off x="2352109" y="1879201"/>
              <a:ext cx="4206241" cy="3662344"/>
            </a:xfrm>
            <a:custGeom>
              <a:avLst/>
              <a:gdLst>
                <a:gd name="connsiteX0" fmla="*/ 1356360 w 5593080"/>
                <a:gd name="connsiteY0" fmla="*/ 0 h 4876800"/>
                <a:gd name="connsiteX1" fmla="*/ 4236720 w 5593080"/>
                <a:gd name="connsiteY1" fmla="*/ 30480 h 4876800"/>
                <a:gd name="connsiteX2" fmla="*/ 5593080 w 5593080"/>
                <a:gd name="connsiteY2" fmla="*/ 2453640 h 4876800"/>
                <a:gd name="connsiteX3" fmla="*/ 4160520 w 5593080"/>
                <a:gd name="connsiteY3" fmla="*/ 4876800 h 4876800"/>
                <a:gd name="connsiteX4" fmla="*/ 1386840 w 5593080"/>
                <a:gd name="connsiteY4" fmla="*/ 4861560 h 4876800"/>
                <a:gd name="connsiteX5" fmla="*/ 0 w 5593080"/>
                <a:gd name="connsiteY5" fmla="*/ 2423160 h 4876800"/>
                <a:gd name="connsiteX6" fmla="*/ 1356360 w 5593080"/>
                <a:gd name="connsiteY6" fmla="*/ 0 h 4876800"/>
                <a:gd name="connsiteX0" fmla="*/ 1394460 w 5593080"/>
                <a:gd name="connsiteY0" fmla="*/ 0 h 4872038"/>
                <a:gd name="connsiteX1" fmla="*/ 4236720 w 5593080"/>
                <a:gd name="connsiteY1" fmla="*/ 25718 h 4872038"/>
                <a:gd name="connsiteX2" fmla="*/ 5593080 w 5593080"/>
                <a:gd name="connsiteY2" fmla="*/ 2448878 h 4872038"/>
                <a:gd name="connsiteX3" fmla="*/ 4160520 w 5593080"/>
                <a:gd name="connsiteY3" fmla="*/ 4872038 h 4872038"/>
                <a:gd name="connsiteX4" fmla="*/ 1386840 w 5593080"/>
                <a:gd name="connsiteY4" fmla="*/ 4856798 h 4872038"/>
                <a:gd name="connsiteX5" fmla="*/ 0 w 5593080"/>
                <a:gd name="connsiteY5" fmla="*/ 2418398 h 4872038"/>
                <a:gd name="connsiteX6" fmla="*/ 1394460 w 5593080"/>
                <a:gd name="connsiteY6" fmla="*/ 0 h 4872038"/>
                <a:gd name="connsiteX0" fmla="*/ 1394460 w 5593080"/>
                <a:gd name="connsiteY0" fmla="*/ 0 h 4872038"/>
                <a:gd name="connsiteX1" fmla="*/ 4203382 w 5593080"/>
                <a:gd name="connsiteY1" fmla="*/ 16193 h 4872038"/>
                <a:gd name="connsiteX2" fmla="*/ 5593080 w 5593080"/>
                <a:gd name="connsiteY2" fmla="*/ 2448878 h 4872038"/>
                <a:gd name="connsiteX3" fmla="*/ 4160520 w 5593080"/>
                <a:gd name="connsiteY3" fmla="*/ 4872038 h 4872038"/>
                <a:gd name="connsiteX4" fmla="*/ 1386840 w 5593080"/>
                <a:gd name="connsiteY4" fmla="*/ 4856798 h 4872038"/>
                <a:gd name="connsiteX5" fmla="*/ 0 w 5593080"/>
                <a:gd name="connsiteY5" fmla="*/ 2418398 h 4872038"/>
                <a:gd name="connsiteX6" fmla="*/ 1394460 w 5593080"/>
                <a:gd name="connsiteY6" fmla="*/ 0 h 4872038"/>
                <a:gd name="connsiteX0" fmla="*/ 1394460 w 5583555"/>
                <a:gd name="connsiteY0" fmla="*/ 0 h 4872038"/>
                <a:gd name="connsiteX1" fmla="*/ 4203382 w 5583555"/>
                <a:gd name="connsiteY1" fmla="*/ 16193 h 4872038"/>
                <a:gd name="connsiteX2" fmla="*/ 5583555 w 5583555"/>
                <a:gd name="connsiteY2" fmla="*/ 2429828 h 4872038"/>
                <a:gd name="connsiteX3" fmla="*/ 4160520 w 5583555"/>
                <a:gd name="connsiteY3" fmla="*/ 4872038 h 4872038"/>
                <a:gd name="connsiteX4" fmla="*/ 1386840 w 5583555"/>
                <a:gd name="connsiteY4" fmla="*/ 4856798 h 4872038"/>
                <a:gd name="connsiteX5" fmla="*/ 0 w 5583555"/>
                <a:gd name="connsiteY5" fmla="*/ 2418398 h 4872038"/>
                <a:gd name="connsiteX6" fmla="*/ 1394460 w 5583555"/>
                <a:gd name="connsiteY6" fmla="*/ 0 h 4872038"/>
                <a:gd name="connsiteX0" fmla="*/ 1394460 w 5583555"/>
                <a:gd name="connsiteY0" fmla="*/ 0 h 4856798"/>
                <a:gd name="connsiteX1" fmla="*/ 4203382 w 5583555"/>
                <a:gd name="connsiteY1" fmla="*/ 16193 h 4856798"/>
                <a:gd name="connsiteX2" fmla="*/ 5583555 w 5583555"/>
                <a:gd name="connsiteY2" fmla="*/ 2429828 h 4856798"/>
                <a:gd name="connsiteX3" fmla="*/ 4174808 w 5583555"/>
                <a:gd name="connsiteY3" fmla="*/ 4852988 h 4856798"/>
                <a:gd name="connsiteX4" fmla="*/ 1386840 w 5583555"/>
                <a:gd name="connsiteY4" fmla="*/ 4856798 h 4856798"/>
                <a:gd name="connsiteX5" fmla="*/ 0 w 5583555"/>
                <a:gd name="connsiteY5" fmla="*/ 2418398 h 4856798"/>
                <a:gd name="connsiteX6" fmla="*/ 1394460 w 5583555"/>
                <a:gd name="connsiteY6" fmla="*/ 0 h 4856798"/>
                <a:gd name="connsiteX0" fmla="*/ 1394460 w 5583555"/>
                <a:gd name="connsiteY0" fmla="*/ 0 h 4861561"/>
                <a:gd name="connsiteX1" fmla="*/ 4203382 w 5583555"/>
                <a:gd name="connsiteY1" fmla="*/ 16193 h 4861561"/>
                <a:gd name="connsiteX2" fmla="*/ 5583555 w 5583555"/>
                <a:gd name="connsiteY2" fmla="*/ 2429828 h 4861561"/>
                <a:gd name="connsiteX3" fmla="*/ 4174808 w 5583555"/>
                <a:gd name="connsiteY3" fmla="*/ 4852988 h 4861561"/>
                <a:gd name="connsiteX4" fmla="*/ 1401128 w 5583555"/>
                <a:gd name="connsiteY4" fmla="*/ 4861561 h 4861561"/>
                <a:gd name="connsiteX5" fmla="*/ 0 w 5583555"/>
                <a:gd name="connsiteY5" fmla="*/ 2418398 h 4861561"/>
                <a:gd name="connsiteX6" fmla="*/ 1394460 w 5583555"/>
                <a:gd name="connsiteY6" fmla="*/ 0 h 4861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83555" h="4861561">
                  <a:moveTo>
                    <a:pt x="1394460" y="0"/>
                  </a:moveTo>
                  <a:lnTo>
                    <a:pt x="4203382" y="16193"/>
                  </a:lnTo>
                  <a:lnTo>
                    <a:pt x="5583555" y="2429828"/>
                  </a:lnTo>
                  <a:lnTo>
                    <a:pt x="4174808" y="4852988"/>
                  </a:lnTo>
                  <a:lnTo>
                    <a:pt x="1401128" y="4861561"/>
                  </a:lnTo>
                  <a:lnTo>
                    <a:pt x="0" y="2418398"/>
                  </a:lnTo>
                  <a:lnTo>
                    <a:pt x="1394460" y="0"/>
                  </a:lnTo>
                  <a:close/>
                </a:path>
              </a:pathLst>
            </a:custGeom>
            <a:solidFill>
              <a:srgbClr val="3366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defRPr/>
              </a:pPr>
              <a:endParaRPr lang="en-US" sz="1800" dirty="0" err="1">
                <a:solidFill>
                  <a:srgbClr val="000000"/>
                </a:solidFill>
                <a:latin typeface="Garamond" pitchFamily="18" charset="0"/>
                <a:ea typeface="ＭＳ Ｐゴシック"/>
                <a:cs typeface="Times New Roman" pitchFamily="18" charset="0"/>
              </a:endParaRPr>
            </a:p>
          </p:txBody>
        </p:sp>
        <p:sp>
          <p:nvSpPr>
            <p:cNvPr id="32" name="Freeform 31"/>
            <p:cNvSpPr/>
            <p:nvPr/>
          </p:nvSpPr>
          <p:spPr bwMode="auto">
            <a:xfrm rot="1800000">
              <a:off x="2626277" y="2138704"/>
              <a:ext cx="3666480" cy="3192378"/>
            </a:xfrm>
            <a:custGeom>
              <a:avLst/>
              <a:gdLst>
                <a:gd name="connsiteX0" fmla="*/ 1356360 w 5593080"/>
                <a:gd name="connsiteY0" fmla="*/ 0 h 4876800"/>
                <a:gd name="connsiteX1" fmla="*/ 4236720 w 5593080"/>
                <a:gd name="connsiteY1" fmla="*/ 30480 h 4876800"/>
                <a:gd name="connsiteX2" fmla="*/ 5593080 w 5593080"/>
                <a:gd name="connsiteY2" fmla="*/ 2453640 h 4876800"/>
                <a:gd name="connsiteX3" fmla="*/ 4160520 w 5593080"/>
                <a:gd name="connsiteY3" fmla="*/ 4876800 h 4876800"/>
                <a:gd name="connsiteX4" fmla="*/ 1386840 w 5593080"/>
                <a:gd name="connsiteY4" fmla="*/ 4861560 h 4876800"/>
                <a:gd name="connsiteX5" fmla="*/ 0 w 5593080"/>
                <a:gd name="connsiteY5" fmla="*/ 2423160 h 4876800"/>
                <a:gd name="connsiteX6" fmla="*/ 1356360 w 5593080"/>
                <a:gd name="connsiteY6" fmla="*/ 0 h 4876800"/>
                <a:gd name="connsiteX0" fmla="*/ 1394460 w 5593080"/>
                <a:gd name="connsiteY0" fmla="*/ 0 h 4872038"/>
                <a:gd name="connsiteX1" fmla="*/ 4236720 w 5593080"/>
                <a:gd name="connsiteY1" fmla="*/ 25718 h 4872038"/>
                <a:gd name="connsiteX2" fmla="*/ 5593080 w 5593080"/>
                <a:gd name="connsiteY2" fmla="*/ 2448878 h 4872038"/>
                <a:gd name="connsiteX3" fmla="*/ 4160520 w 5593080"/>
                <a:gd name="connsiteY3" fmla="*/ 4872038 h 4872038"/>
                <a:gd name="connsiteX4" fmla="*/ 1386840 w 5593080"/>
                <a:gd name="connsiteY4" fmla="*/ 4856798 h 4872038"/>
                <a:gd name="connsiteX5" fmla="*/ 0 w 5593080"/>
                <a:gd name="connsiteY5" fmla="*/ 2418398 h 4872038"/>
                <a:gd name="connsiteX6" fmla="*/ 1394460 w 5593080"/>
                <a:gd name="connsiteY6" fmla="*/ 0 h 4872038"/>
                <a:gd name="connsiteX0" fmla="*/ 1394460 w 5593080"/>
                <a:gd name="connsiteY0" fmla="*/ 0 h 4872038"/>
                <a:gd name="connsiteX1" fmla="*/ 4203382 w 5593080"/>
                <a:gd name="connsiteY1" fmla="*/ 16193 h 4872038"/>
                <a:gd name="connsiteX2" fmla="*/ 5593080 w 5593080"/>
                <a:gd name="connsiteY2" fmla="*/ 2448878 h 4872038"/>
                <a:gd name="connsiteX3" fmla="*/ 4160520 w 5593080"/>
                <a:gd name="connsiteY3" fmla="*/ 4872038 h 4872038"/>
                <a:gd name="connsiteX4" fmla="*/ 1386840 w 5593080"/>
                <a:gd name="connsiteY4" fmla="*/ 4856798 h 4872038"/>
                <a:gd name="connsiteX5" fmla="*/ 0 w 5593080"/>
                <a:gd name="connsiteY5" fmla="*/ 2418398 h 4872038"/>
                <a:gd name="connsiteX6" fmla="*/ 1394460 w 5593080"/>
                <a:gd name="connsiteY6" fmla="*/ 0 h 4872038"/>
                <a:gd name="connsiteX0" fmla="*/ 1394460 w 5583555"/>
                <a:gd name="connsiteY0" fmla="*/ 0 h 4872038"/>
                <a:gd name="connsiteX1" fmla="*/ 4203382 w 5583555"/>
                <a:gd name="connsiteY1" fmla="*/ 16193 h 4872038"/>
                <a:gd name="connsiteX2" fmla="*/ 5583555 w 5583555"/>
                <a:gd name="connsiteY2" fmla="*/ 2429828 h 4872038"/>
                <a:gd name="connsiteX3" fmla="*/ 4160520 w 5583555"/>
                <a:gd name="connsiteY3" fmla="*/ 4872038 h 4872038"/>
                <a:gd name="connsiteX4" fmla="*/ 1386840 w 5583555"/>
                <a:gd name="connsiteY4" fmla="*/ 4856798 h 4872038"/>
                <a:gd name="connsiteX5" fmla="*/ 0 w 5583555"/>
                <a:gd name="connsiteY5" fmla="*/ 2418398 h 4872038"/>
                <a:gd name="connsiteX6" fmla="*/ 1394460 w 5583555"/>
                <a:gd name="connsiteY6" fmla="*/ 0 h 4872038"/>
                <a:gd name="connsiteX0" fmla="*/ 1394460 w 5583555"/>
                <a:gd name="connsiteY0" fmla="*/ 0 h 4856798"/>
                <a:gd name="connsiteX1" fmla="*/ 4203382 w 5583555"/>
                <a:gd name="connsiteY1" fmla="*/ 16193 h 4856798"/>
                <a:gd name="connsiteX2" fmla="*/ 5583555 w 5583555"/>
                <a:gd name="connsiteY2" fmla="*/ 2429828 h 4856798"/>
                <a:gd name="connsiteX3" fmla="*/ 4174808 w 5583555"/>
                <a:gd name="connsiteY3" fmla="*/ 4852988 h 4856798"/>
                <a:gd name="connsiteX4" fmla="*/ 1386840 w 5583555"/>
                <a:gd name="connsiteY4" fmla="*/ 4856798 h 4856798"/>
                <a:gd name="connsiteX5" fmla="*/ 0 w 5583555"/>
                <a:gd name="connsiteY5" fmla="*/ 2418398 h 4856798"/>
                <a:gd name="connsiteX6" fmla="*/ 1394460 w 5583555"/>
                <a:gd name="connsiteY6" fmla="*/ 0 h 4856798"/>
                <a:gd name="connsiteX0" fmla="*/ 1394460 w 5583555"/>
                <a:gd name="connsiteY0" fmla="*/ 0 h 4861561"/>
                <a:gd name="connsiteX1" fmla="*/ 4203382 w 5583555"/>
                <a:gd name="connsiteY1" fmla="*/ 16193 h 4861561"/>
                <a:gd name="connsiteX2" fmla="*/ 5583555 w 5583555"/>
                <a:gd name="connsiteY2" fmla="*/ 2429828 h 4861561"/>
                <a:gd name="connsiteX3" fmla="*/ 4174808 w 5583555"/>
                <a:gd name="connsiteY3" fmla="*/ 4852988 h 4861561"/>
                <a:gd name="connsiteX4" fmla="*/ 1401128 w 5583555"/>
                <a:gd name="connsiteY4" fmla="*/ 4861561 h 4861561"/>
                <a:gd name="connsiteX5" fmla="*/ 0 w 5583555"/>
                <a:gd name="connsiteY5" fmla="*/ 2418398 h 4861561"/>
                <a:gd name="connsiteX6" fmla="*/ 1394460 w 5583555"/>
                <a:gd name="connsiteY6" fmla="*/ 0 h 4861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83555" h="4861561">
                  <a:moveTo>
                    <a:pt x="1394460" y="0"/>
                  </a:moveTo>
                  <a:lnTo>
                    <a:pt x="4203382" y="16193"/>
                  </a:lnTo>
                  <a:lnTo>
                    <a:pt x="5583555" y="2429828"/>
                  </a:lnTo>
                  <a:lnTo>
                    <a:pt x="4174808" y="4852988"/>
                  </a:lnTo>
                  <a:lnTo>
                    <a:pt x="1401128" y="4861561"/>
                  </a:lnTo>
                  <a:lnTo>
                    <a:pt x="0" y="2418398"/>
                  </a:lnTo>
                  <a:lnTo>
                    <a:pt x="1394460" y="0"/>
                  </a:lnTo>
                  <a:close/>
                </a:path>
              </a:pathLst>
            </a:cu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defRPr/>
              </a:pPr>
              <a:endParaRPr lang="en-US" sz="1800" dirty="0" err="1">
                <a:solidFill>
                  <a:srgbClr val="000000"/>
                </a:solidFill>
                <a:latin typeface="Garamond" pitchFamily="18" charset="0"/>
                <a:ea typeface="ＭＳ Ｐゴシック"/>
                <a:cs typeface="Times New Roman" pitchFamily="18" charset="0"/>
              </a:endParaRPr>
            </a:p>
          </p:txBody>
        </p:sp>
        <p:sp>
          <p:nvSpPr>
            <p:cNvPr id="33" name="Line 11"/>
            <p:cNvSpPr>
              <a:spLocks noChangeShapeType="1"/>
            </p:cNvSpPr>
            <p:nvPr/>
          </p:nvSpPr>
          <p:spPr bwMode="auto">
            <a:xfrm rot="1800000">
              <a:off x="1644548" y="5824079"/>
              <a:ext cx="2876409" cy="0"/>
            </a:xfrm>
            <a:prstGeom prst="line">
              <a:avLst/>
            </a:prstGeom>
            <a:noFill/>
            <a:ln w="1270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solidFill>
                  <a:srgbClr val="FAFD00"/>
                </a:solidFill>
                <a:latin typeface="Arial" panose="020B0604020202020204" pitchFamily="34" charset="0"/>
                <a:ea typeface="ＭＳ Ｐゴシック"/>
                <a:cs typeface="Times New Roman" pitchFamily="18" charset="0"/>
              </a:endParaRPr>
            </a:p>
          </p:txBody>
        </p:sp>
        <p:sp>
          <p:nvSpPr>
            <p:cNvPr id="34" name="Line 13"/>
            <p:cNvSpPr>
              <a:spLocks noChangeShapeType="1"/>
            </p:cNvSpPr>
            <p:nvPr/>
          </p:nvSpPr>
          <p:spPr bwMode="auto">
            <a:xfrm rot="3600000" flipV="1">
              <a:off x="3438943" y="-153733"/>
              <a:ext cx="0" cy="4651274"/>
            </a:xfrm>
            <a:prstGeom prst="line">
              <a:avLst/>
            </a:prstGeom>
            <a:noFill/>
            <a:ln w="127000">
              <a:solidFill>
                <a:srgbClr val="3366FF"/>
              </a:solidFill>
              <a:round/>
              <a:headEnd type="triangle"/>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solidFill>
                  <a:srgbClr val="FAFD00"/>
                </a:solidFill>
                <a:latin typeface="Arial" panose="020B0604020202020204" pitchFamily="34" charset="0"/>
                <a:ea typeface="ＭＳ Ｐゴシック"/>
                <a:cs typeface="Times New Roman" pitchFamily="18" charset="0"/>
              </a:endParaRPr>
            </a:p>
          </p:txBody>
        </p:sp>
        <p:sp>
          <p:nvSpPr>
            <p:cNvPr id="35" name="Line 12"/>
            <p:cNvSpPr>
              <a:spLocks noChangeShapeType="1"/>
            </p:cNvSpPr>
            <p:nvPr/>
          </p:nvSpPr>
          <p:spPr bwMode="auto">
            <a:xfrm rot="1800000" flipV="1">
              <a:off x="6261768" y="2374666"/>
              <a:ext cx="0" cy="4609472"/>
            </a:xfrm>
            <a:prstGeom prst="line">
              <a:avLst/>
            </a:prstGeom>
            <a:noFill/>
            <a:ln w="127000">
              <a:solidFill>
                <a:srgbClr val="00B05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solidFill>
                  <a:srgbClr val="FAFD00"/>
                </a:solidFill>
                <a:latin typeface="Arial" panose="020B0604020202020204" pitchFamily="34" charset="0"/>
                <a:ea typeface="ＭＳ Ｐゴシック"/>
                <a:cs typeface="Times New Roman" pitchFamily="18" charset="0"/>
              </a:endParaRPr>
            </a:p>
          </p:txBody>
        </p:sp>
      </p:grpSp>
      <p:sp>
        <p:nvSpPr>
          <p:cNvPr id="19" name="Rectangle 1029"/>
          <p:cNvSpPr>
            <a:spLocks noChangeArrowheads="1"/>
          </p:cNvSpPr>
          <p:nvPr/>
        </p:nvSpPr>
        <p:spPr bwMode="auto">
          <a:xfrm>
            <a:off x="340853" y="5798358"/>
            <a:ext cx="8376327" cy="754691"/>
          </a:xfrm>
          <a:prstGeom prst="rect">
            <a:avLst/>
          </a:prstGeom>
          <a:noFill/>
          <a:ln>
            <a:noFill/>
          </a:ln>
          <a:effectLst/>
          <a:extLst>
            <a:ext uri="{909E8E84-426E-40DD-AFC4-6F175D3DCCD1}">
              <a14:hiddenFill xmlns:a14="http://schemas.microsoft.com/office/drawing/2010/main">
                <a:solidFill>
                  <a:srgbClr val="00279F"/>
                </a:solidFill>
              </a14:hiddenFill>
            </a:ext>
            <a:ext uri="{91240B29-F687-4F45-9708-019B960494DF}">
              <a14:hiddenLine xmlns:a14="http://schemas.microsoft.com/office/drawing/2010/main" w="50800">
                <a:solidFill>
                  <a:srgbClr val="FC0128"/>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614" tIns="44512" rIns="90614" bIns="44512">
            <a:spAutoFit/>
          </a:bodyP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r>
              <a:rPr lang="en-US" altLang="en-US" sz="2400" dirty="0">
                <a:solidFill>
                  <a:schemeClr val="tx1"/>
                </a:solidFill>
                <a:cs typeface="Times New Roman" pitchFamily="18" charset="0"/>
              </a:rPr>
              <a:t>By “onion-peeling”, each x-ray path carries unique information, and all “pixels” can be resolved.</a:t>
            </a:r>
          </a:p>
        </p:txBody>
      </p:sp>
    </p:spTree>
    <p:extLst>
      <p:ext uri="{BB962C8B-B14F-4D97-AF65-F5344CB8AC3E}">
        <p14:creationId xmlns:p14="http://schemas.microsoft.com/office/powerpoint/2010/main" val="2496618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Sufficiency</a:t>
            </a:r>
          </a:p>
        </p:txBody>
      </p:sp>
      <p:sp>
        <p:nvSpPr>
          <p:cNvPr id="4" name="Oval 1027"/>
          <p:cNvSpPr>
            <a:spLocks noChangeArrowheads="1"/>
          </p:cNvSpPr>
          <p:nvPr/>
        </p:nvSpPr>
        <p:spPr bwMode="auto">
          <a:xfrm>
            <a:off x="4113382" y="2791496"/>
            <a:ext cx="2155644" cy="1963290"/>
          </a:xfrm>
          <a:prstGeom prst="ellipse">
            <a:avLst/>
          </a:prstGeom>
          <a:solidFill>
            <a:srgbClr val="3399FF"/>
          </a:solidFill>
          <a:ln w="50800">
            <a:noFill/>
            <a:round/>
            <a:headEnd/>
            <a:tailEnd/>
          </a:ln>
          <a:effectLst/>
        </p:spPr>
        <p:txBody>
          <a:bodyPr wrap="none" anchor="ct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endParaRPr lang="en-US" altLang="en-US" sz="3204">
              <a:solidFill>
                <a:schemeClr val="tx1"/>
              </a:solidFill>
              <a:cs typeface="Times New Roman" pitchFamily="18" charset="0"/>
            </a:endParaRPr>
          </a:p>
        </p:txBody>
      </p:sp>
      <p:sp>
        <p:nvSpPr>
          <p:cNvPr id="5" name="Line 1028"/>
          <p:cNvSpPr>
            <a:spLocks noChangeShapeType="1"/>
          </p:cNvSpPr>
          <p:nvPr/>
        </p:nvSpPr>
        <p:spPr bwMode="auto">
          <a:xfrm flipV="1">
            <a:off x="1099297" y="2918673"/>
            <a:ext cx="6244373" cy="1119154"/>
          </a:xfrm>
          <a:prstGeom prst="line">
            <a:avLst/>
          </a:prstGeom>
          <a:noFill/>
          <a:ln w="508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Arial" panose="020B0604020202020204" pitchFamily="34" charset="0"/>
              <a:cs typeface="Times New Roman" pitchFamily="18" charset="0"/>
            </a:endParaRPr>
          </a:p>
        </p:txBody>
      </p:sp>
      <p:sp>
        <p:nvSpPr>
          <p:cNvPr id="6" name="Rectangle 1029"/>
          <p:cNvSpPr>
            <a:spLocks noChangeArrowheads="1"/>
          </p:cNvSpPr>
          <p:nvPr/>
        </p:nvSpPr>
        <p:spPr bwMode="auto">
          <a:xfrm>
            <a:off x="379159" y="1464091"/>
            <a:ext cx="8199528" cy="978678"/>
          </a:xfrm>
          <a:prstGeom prst="rect">
            <a:avLst/>
          </a:prstGeom>
          <a:noFill/>
          <a:ln>
            <a:noFill/>
          </a:ln>
          <a:effectLst/>
          <a:extLst>
            <a:ext uri="{909E8E84-426E-40DD-AFC4-6F175D3DCCD1}">
              <a14:hiddenFill xmlns:a14="http://schemas.microsoft.com/office/drawing/2010/main">
                <a:solidFill>
                  <a:srgbClr val="00279F"/>
                </a:solidFill>
              </a14:hiddenFill>
            </a:ext>
            <a:ext uri="{91240B29-F687-4F45-9708-019B960494DF}">
              <a14:hiddenLine xmlns:a14="http://schemas.microsoft.com/office/drawing/2010/main" w="50800">
                <a:solidFill>
                  <a:srgbClr val="FC0128"/>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614" tIns="44512" rIns="90614" bIns="44512">
            <a:spAutoFit/>
          </a:bodyP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r>
              <a:rPr lang="en-US" altLang="en-US" sz="3204" dirty="0">
                <a:solidFill>
                  <a:schemeClr val="tx1"/>
                </a:solidFill>
                <a:cs typeface="Times New Roman" pitchFamily="18" charset="0"/>
              </a:rPr>
              <a:t>There exists at least a source on any line</a:t>
            </a:r>
          </a:p>
          <a:p>
            <a:pPr>
              <a:lnSpc>
                <a:spcPct val="90000"/>
              </a:lnSpc>
              <a:defRPr/>
            </a:pPr>
            <a:r>
              <a:rPr lang="en-US" altLang="en-US" sz="3204" dirty="0">
                <a:solidFill>
                  <a:schemeClr val="tx1"/>
                </a:solidFill>
                <a:cs typeface="Times New Roman" pitchFamily="18" charset="0"/>
              </a:rPr>
              <a:t>intersecting a cross-section</a:t>
            </a:r>
          </a:p>
        </p:txBody>
      </p:sp>
      <p:sp>
        <p:nvSpPr>
          <p:cNvPr id="7" name="Arc 1030"/>
          <p:cNvSpPr>
            <a:spLocks/>
          </p:cNvSpPr>
          <p:nvPr/>
        </p:nvSpPr>
        <p:spPr bwMode="auto">
          <a:xfrm>
            <a:off x="2819361" y="2672269"/>
            <a:ext cx="2289179" cy="2573737"/>
          </a:xfrm>
          <a:custGeom>
            <a:avLst/>
            <a:gdLst>
              <a:gd name="T0" fmla="*/ 2147483646 w 21600"/>
              <a:gd name="T1" fmla="*/ 2147483646 h 36431"/>
              <a:gd name="T2" fmla="*/ 2147483646 w 21600"/>
              <a:gd name="T3" fmla="*/ 0 h 36431"/>
              <a:gd name="T4" fmla="*/ 2147483646 w 21600"/>
              <a:gd name="T5" fmla="*/ 2147483646 h 36431"/>
              <a:gd name="T6" fmla="*/ 0 60000 65536"/>
              <a:gd name="T7" fmla="*/ 0 60000 65536"/>
              <a:gd name="T8" fmla="*/ 0 60000 65536"/>
            </a:gdLst>
            <a:ahLst/>
            <a:cxnLst>
              <a:cxn ang="T6">
                <a:pos x="T0" y="T1"/>
              </a:cxn>
              <a:cxn ang="T7">
                <a:pos x="T2" y="T3"/>
              </a:cxn>
              <a:cxn ang="T8">
                <a:pos x="T4" y="T5"/>
              </a:cxn>
            </a:cxnLst>
            <a:rect l="0" t="0" r="r" b="b"/>
            <a:pathLst>
              <a:path w="21600" h="36431" fill="none" extrusionOk="0">
                <a:moveTo>
                  <a:pt x="21600" y="36431"/>
                </a:moveTo>
                <a:cubicBezTo>
                  <a:pt x="9670" y="36431"/>
                  <a:pt x="0" y="26760"/>
                  <a:pt x="0" y="14831"/>
                </a:cubicBezTo>
                <a:cubicBezTo>
                  <a:pt x="0" y="9315"/>
                  <a:pt x="2109" y="4009"/>
                  <a:pt x="5896" y="-1"/>
                </a:cubicBezTo>
              </a:path>
              <a:path w="21600" h="36431" stroke="0" extrusionOk="0">
                <a:moveTo>
                  <a:pt x="21600" y="36431"/>
                </a:moveTo>
                <a:cubicBezTo>
                  <a:pt x="9670" y="36431"/>
                  <a:pt x="0" y="26760"/>
                  <a:pt x="0" y="14831"/>
                </a:cubicBezTo>
                <a:cubicBezTo>
                  <a:pt x="0" y="9315"/>
                  <a:pt x="2109" y="4009"/>
                  <a:pt x="5896" y="-1"/>
                </a:cubicBezTo>
                <a:lnTo>
                  <a:pt x="21600" y="14831"/>
                </a:lnTo>
                <a:lnTo>
                  <a:pt x="21600" y="36431"/>
                </a:lnTo>
                <a:close/>
              </a:path>
            </a:pathLst>
          </a:custGeom>
          <a:noFill/>
          <a:ln w="50800" cap="rnd">
            <a:solidFill>
              <a:srgbClr val="7030A0"/>
            </a:solidFill>
            <a:round/>
            <a:headEnd/>
            <a:tailEnd type="triangle" w="med" len="med"/>
          </a:ln>
          <a:effectLst/>
          <a:extLst>
            <a:ext uri="{909E8E84-426E-40DD-AFC4-6F175D3DCCD1}">
              <a14:hiddenFill xmlns:a14="http://schemas.microsoft.com/office/drawing/2010/main">
                <a:solidFill>
                  <a:srgbClr val="00279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Arial" panose="020B0604020202020204" pitchFamily="34" charset="0"/>
              <a:cs typeface="Times New Roman" pitchFamily="18" charset="0"/>
            </a:endParaRPr>
          </a:p>
        </p:txBody>
      </p:sp>
      <p:sp>
        <p:nvSpPr>
          <p:cNvPr id="8" name="Oval 1031"/>
          <p:cNvSpPr>
            <a:spLocks noChangeArrowheads="1"/>
          </p:cNvSpPr>
          <p:nvPr/>
        </p:nvSpPr>
        <p:spPr bwMode="auto">
          <a:xfrm>
            <a:off x="2746234" y="3635633"/>
            <a:ext cx="143074" cy="166919"/>
          </a:xfrm>
          <a:prstGeom prst="ellipse">
            <a:avLst/>
          </a:prstGeom>
          <a:solidFill>
            <a:srgbClr val="FF0000"/>
          </a:solidFill>
          <a:ln w="508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endParaRPr lang="en-US" altLang="en-US" sz="3204">
              <a:solidFill>
                <a:schemeClr val="tx1"/>
              </a:solidFill>
              <a:cs typeface="Times New Roman" pitchFamily="18" charset="0"/>
            </a:endParaRPr>
          </a:p>
        </p:txBody>
      </p:sp>
      <p:sp>
        <p:nvSpPr>
          <p:cNvPr id="9" name="Rectangle 1029"/>
          <p:cNvSpPr>
            <a:spLocks noChangeArrowheads="1"/>
          </p:cNvSpPr>
          <p:nvPr/>
        </p:nvSpPr>
        <p:spPr bwMode="auto">
          <a:xfrm>
            <a:off x="379160" y="5601998"/>
            <a:ext cx="8376327" cy="754691"/>
          </a:xfrm>
          <a:prstGeom prst="rect">
            <a:avLst/>
          </a:prstGeom>
          <a:noFill/>
          <a:ln>
            <a:noFill/>
          </a:ln>
          <a:effectLst/>
          <a:extLst>
            <a:ext uri="{909E8E84-426E-40DD-AFC4-6F175D3DCCD1}">
              <a14:hiddenFill xmlns:a14="http://schemas.microsoft.com/office/drawing/2010/main">
                <a:solidFill>
                  <a:srgbClr val="00279F"/>
                </a:solidFill>
              </a14:hiddenFill>
            </a:ext>
            <a:ext uri="{91240B29-F687-4F45-9708-019B960494DF}">
              <a14:hiddenLine xmlns:a14="http://schemas.microsoft.com/office/drawing/2010/main" w="50800">
                <a:solidFill>
                  <a:srgbClr val="FC0128"/>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614" tIns="44512" rIns="90614" bIns="44512">
            <a:spAutoFit/>
          </a:bodyP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r>
              <a:rPr lang="en-US" altLang="en-US" sz="2400" dirty="0">
                <a:solidFill>
                  <a:schemeClr val="tx1"/>
                </a:solidFill>
                <a:cs typeface="Times New Roman" pitchFamily="18" charset="0"/>
              </a:rPr>
              <a:t>These represent the maximum amount of data you can measure, which happens to be sufficient</a:t>
            </a:r>
          </a:p>
        </p:txBody>
      </p:sp>
    </p:spTree>
    <p:extLst>
      <p:ext uri="{BB962C8B-B14F-4D97-AF65-F5344CB8AC3E}">
        <p14:creationId xmlns:p14="http://schemas.microsoft.com/office/powerpoint/2010/main" val="34567275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Projection &amp; Sinogram</a:t>
            </a:r>
          </a:p>
        </p:txBody>
      </p:sp>
      <p:pic>
        <p:nvPicPr>
          <p:cNvPr id="4" name="Picture 2050" descr="C:\AAA\proj.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87387" y="3611700"/>
            <a:ext cx="2686606" cy="14879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2052"/>
          <p:cNvSpPr>
            <a:spLocks noChangeArrowheads="1"/>
          </p:cNvSpPr>
          <p:nvPr/>
        </p:nvSpPr>
        <p:spPr bwMode="auto">
          <a:xfrm>
            <a:off x="5145374" y="5209356"/>
            <a:ext cx="1603628" cy="4231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614" tIns="44512" rIns="90614" bIns="44512">
            <a:spAutoFit/>
          </a:bodyP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r>
              <a:rPr lang="en-US" altLang="en-US" sz="2403" dirty="0">
                <a:solidFill>
                  <a:schemeClr val="tx1"/>
                </a:solidFill>
                <a:latin typeface="+mn-lt"/>
                <a:cs typeface="Times New Roman" pitchFamily="18" charset="0"/>
              </a:rPr>
              <a:t>Sinogram</a:t>
            </a:r>
          </a:p>
        </p:txBody>
      </p:sp>
      <p:sp>
        <p:nvSpPr>
          <p:cNvPr id="6" name="Line 2053"/>
          <p:cNvSpPr>
            <a:spLocks noChangeShapeType="1"/>
          </p:cNvSpPr>
          <p:nvPr/>
        </p:nvSpPr>
        <p:spPr bwMode="auto">
          <a:xfrm>
            <a:off x="4397369" y="5080590"/>
            <a:ext cx="3147622" cy="19076"/>
          </a:xfrm>
          <a:prstGeom prst="line">
            <a:avLst/>
          </a:prstGeom>
          <a:noFill/>
          <a:ln w="50800">
            <a:solidFill>
              <a:srgbClr val="7030A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mn-lt"/>
              <a:cs typeface="Times New Roman" pitchFamily="18" charset="0"/>
            </a:endParaRPr>
          </a:p>
        </p:txBody>
      </p:sp>
      <p:sp>
        <p:nvSpPr>
          <p:cNvPr id="7" name="Line 2054"/>
          <p:cNvSpPr>
            <a:spLocks noChangeShapeType="1"/>
          </p:cNvSpPr>
          <p:nvPr/>
        </p:nvSpPr>
        <p:spPr bwMode="auto">
          <a:xfrm flipH="1">
            <a:off x="5922741" y="2339934"/>
            <a:ext cx="0" cy="2772451"/>
          </a:xfrm>
          <a:prstGeom prst="line">
            <a:avLst/>
          </a:prstGeom>
          <a:noFill/>
          <a:ln w="50800">
            <a:solidFill>
              <a:srgbClr val="7030A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mn-lt"/>
              <a:cs typeface="Times New Roman" pitchFamily="18" charset="0"/>
            </a:endParaRPr>
          </a:p>
        </p:txBody>
      </p:sp>
      <p:sp>
        <p:nvSpPr>
          <p:cNvPr id="8" name="Rectangle 2055"/>
          <p:cNvSpPr>
            <a:spLocks noChangeArrowheads="1"/>
          </p:cNvSpPr>
          <p:nvPr/>
        </p:nvSpPr>
        <p:spPr bwMode="auto">
          <a:xfrm>
            <a:off x="7543403" y="4916850"/>
            <a:ext cx="285733" cy="4231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8901F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614" tIns="44512" rIns="90614" bIns="44512">
            <a:spAutoFit/>
          </a:bodyP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r>
              <a:rPr lang="en-US" altLang="en-US" sz="2403">
                <a:solidFill>
                  <a:schemeClr val="tx1"/>
                </a:solidFill>
                <a:latin typeface="+mn-lt"/>
                <a:cs typeface="Times New Roman" pitchFamily="18" charset="0"/>
              </a:rPr>
              <a:t>t</a:t>
            </a:r>
          </a:p>
        </p:txBody>
      </p:sp>
      <p:sp>
        <p:nvSpPr>
          <p:cNvPr id="9" name="Rectangle 2056"/>
          <p:cNvSpPr>
            <a:spLocks noChangeArrowheads="1"/>
          </p:cNvSpPr>
          <p:nvPr/>
        </p:nvSpPr>
        <p:spPr bwMode="auto">
          <a:xfrm>
            <a:off x="5984740" y="2265218"/>
            <a:ext cx="343298" cy="4226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8901F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614" tIns="44512" rIns="90614" bIns="44512">
            <a:spAutoFit/>
          </a:bodyP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r>
              <a:rPr lang="en-US" altLang="en-US" sz="2403" dirty="0">
                <a:solidFill>
                  <a:schemeClr val="tx1"/>
                </a:solidFill>
                <a:latin typeface="Symbol" panose="05050102010706020507" pitchFamily="18" charset="2"/>
                <a:cs typeface="Times New Roman" pitchFamily="18" charset="0"/>
              </a:rPr>
              <a:t></a:t>
            </a:r>
          </a:p>
        </p:txBody>
      </p:sp>
      <p:sp>
        <p:nvSpPr>
          <p:cNvPr id="10" name="Rectangle 2057"/>
          <p:cNvSpPr>
            <a:spLocks noChangeArrowheads="1"/>
          </p:cNvSpPr>
          <p:nvPr/>
        </p:nvSpPr>
        <p:spPr bwMode="auto">
          <a:xfrm>
            <a:off x="4358470" y="1704051"/>
            <a:ext cx="3765889" cy="5938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8901F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88" tIns="25435" rIns="63588" bIns="25435">
            <a:spAutoFit/>
          </a:bodyP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nSpc>
                <a:spcPct val="88000"/>
              </a:lnSpc>
              <a:defRPr/>
            </a:pPr>
            <a:r>
              <a:rPr lang="en-US" altLang="en-US" sz="2003" dirty="0">
                <a:solidFill>
                  <a:schemeClr val="tx1"/>
                </a:solidFill>
                <a:latin typeface="+mn-lt"/>
                <a:cs typeface="Times New Roman" pitchFamily="18" charset="0"/>
              </a:rPr>
              <a:t>Sinogram (Radon Transform):</a:t>
            </a:r>
            <a:br>
              <a:rPr lang="en-US" altLang="en-US" sz="2003" dirty="0">
                <a:solidFill>
                  <a:schemeClr val="tx1"/>
                </a:solidFill>
                <a:latin typeface="+mn-lt"/>
                <a:cs typeface="Times New Roman" pitchFamily="18" charset="0"/>
              </a:rPr>
            </a:br>
            <a:r>
              <a:rPr lang="en-US" altLang="en-US" sz="2003" dirty="0">
                <a:solidFill>
                  <a:schemeClr val="tx1"/>
                </a:solidFill>
                <a:latin typeface="+mn-lt"/>
                <a:cs typeface="Times New Roman" pitchFamily="18" charset="0"/>
              </a:rPr>
              <a:t>All projections</a:t>
            </a:r>
          </a:p>
        </p:txBody>
      </p:sp>
      <p:sp>
        <p:nvSpPr>
          <p:cNvPr id="11" name="Oval 2058"/>
          <p:cNvSpPr>
            <a:spLocks noChangeArrowheads="1"/>
          </p:cNvSpPr>
          <p:nvPr/>
        </p:nvSpPr>
        <p:spPr bwMode="auto">
          <a:xfrm>
            <a:off x="1167926" y="3564010"/>
            <a:ext cx="1244741" cy="1174795"/>
          </a:xfrm>
          <a:prstGeom prst="ellipse">
            <a:avLst/>
          </a:prstGeom>
          <a:solidFill>
            <a:srgbClr val="3399FF"/>
          </a:solidFill>
          <a:ln w="50800">
            <a:noFill/>
            <a:round/>
            <a:headEnd/>
            <a:tailEnd/>
          </a:ln>
          <a:effectLst/>
        </p:spPr>
        <p:txBody>
          <a:bodyPr wrap="none" anchor="ct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endParaRPr lang="en-US" altLang="en-US" sz="3204">
              <a:solidFill>
                <a:schemeClr val="tx1"/>
              </a:solidFill>
              <a:latin typeface="+mn-lt"/>
              <a:cs typeface="Times New Roman" pitchFamily="18" charset="0"/>
            </a:endParaRPr>
          </a:p>
        </p:txBody>
      </p:sp>
      <p:sp>
        <p:nvSpPr>
          <p:cNvPr id="12" name="Line 2059"/>
          <p:cNvSpPr>
            <a:spLocks noChangeShapeType="1"/>
          </p:cNvSpPr>
          <p:nvPr/>
        </p:nvSpPr>
        <p:spPr bwMode="auto">
          <a:xfrm>
            <a:off x="377840" y="4166508"/>
            <a:ext cx="3506896" cy="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mn-lt"/>
              <a:cs typeface="Times New Roman" pitchFamily="18" charset="0"/>
            </a:endParaRPr>
          </a:p>
        </p:txBody>
      </p:sp>
      <p:sp>
        <p:nvSpPr>
          <p:cNvPr id="13" name="Line 2060"/>
          <p:cNvSpPr>
            <a:spLocks noChangeShapeType="1"/>
          </p:cNvSpPr>
          <p:nvPr/>
        </p:nvSpPr>
        <p:spPr bwMode="auto">
          <a:xfrm>
            <a:off x="1797449" y="2471881"/>
            <a:ext cx="0" cy="2953677"/>
          </a:xfrm>
          <a:prstGeom prst="line">
            <a:avLst/>
          </a:prstGeom>
          <a:noFill/>
          <a:ln w="508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mn-lt"/>
              <a:cs typeface="Times New Roman" pitchFamily="18" charset="0"/>
            </a:endParaRPr>
          </a:p>
        </p:txBody>
      </p:sp>
      <p:sp>
        <p:nvSpPr>
          <p:cNvPr id="14" name="Arc 2061"/>
          <p:cNvSpPr>
            <a:spLocks/>
          </p:cNvSpPr>
          <p:nvPr/>
        </p:nvSpPr>
        <p:spPr bwMode="auto">
          <a:xfrm>
            <a:off x="554298" y="2924947"/>
            <a:ext cx="858442" cy="869571"/>
          </a:xfrm>
          <a:custGeom>
            <a:avLst/>
            <a:gdLst>
              <a:gd name="T0" fmla="*/ 0 w 21600"/>
              <a:gd name="T1" fmla="*/ 2147483646 h 21600"/>
              <a:gd name="T2" fmla="*/ 2147483646 w 21600"/>
              <a:gd name="T3" fmla="*/ 0 h 21600"/>
              <a:gd name="T4" fmla="*/ 2147483646 w 21600"/>
              <a:gd name="T5" fmla="*/ 2147483646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21600"/>
                </a:moveTo>
                <a:cubicBezTo>
                  <a:pt x="0" y="9683"/>
                  <a:pt x="9650" y="18"/>
                  <a:pt x="21567" y="0"/>
                </a:cubicBezTo>
              </a:path>
              <a:path w="21600" h="21600" stroke="0" extrusionOk="0">
                <a:moveTo>
                  <a:pt x="0" y="21600"/>
                </a:moveTo>
                <a:cubicBezTo>
                  <a:pt x="0" y="9683"/>
                  <a:pt x="9650" y="18"/>
                  <a:pt x="21567" y="0"/>
                </a:cubicBezTo>
                <a:lnTo>
                  <a:pt x="21600" y="21600"/>
                </a:lnTo>
                <a:lnTo>
                  <a:pt x="0" y="21600"/>
                </a:lnTo>
                <a:close/>
              </a:path>
            </a:pathLst>
          </a:custGeom>
          <a:noFill/>
          <a:ln w="50800" cap="rnd">
            <a:solidFill>
              <a:srgbClr val="FF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mn-lt"/>
              <a:cs typeface="Times New Roman" pitchFamily="18" charset="0"/>
            </a:endParaRPr>
          </a:p>
        </p:txBody>
      </p:sp>
      <p:sp>
        <p:nvSpPr>
          <p:cNvPr id="15" name="Arc 2062"/>
          <p:cNvSpPr>
            <a:spLocks/>
          </p:cNvSpPr>
          <p:nvPr/>
        </p:nvSpPr>
        <p:spPr bwMode="auto">
          <a:xfrm>
            <a:off x="2557329" y="3471806"/>
            <a:ext cx="413324" cy="680395"/>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50800" cap="rnd">
            <a:solidFill>
              <a:srgbClr val="7030A0"/>
            </a:solidFill>
            <a:round/>
            <a:headEnd type="triangle" w="med" len="me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mn-lt"/>
              <a:cs typeface="Times New Roman" pitchFamily="18" charset="0"/>
            </a:endParaRPr>
          </a:p>
        </p:txBody>
      </p:sp>
      <p:sp>
        <p:nvSpPr>
          <p:cNvPr id="16" name="Line 2063"/>
          <p:cNvSpPr>
            <a:spLocks noChangeShapeType="1"/>
          </p:cNvSpPr>
          <p:nvPr/>
        </p:nvSpPr>
        <p:spPr bwMode="auto">
          <a:xfrm>
            <a:off x="1431818" y="2923358"/>
            <a:ext cx="1832933" cy="1847241"/>
          </a:xfrm>
          <a:prstGeom prst="line">
            <a:avLst/>
          </a:prstGeom>
          <a:noFill/>
          <a:ln w="50800">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mn-lt"/>
              <a:cs typeface="Times New Roman" pitchFamily="18" charset="0"/>
            </a:endParaRPr>
          </a:p>
        </p:txBody>
      </p:sp>
      <p:sp>
        <p:nvSpPr>
          <p:cNvPr id="17" name="Line 2064"/>
          <p:cNvSpPr>
            <a:spLocks noChangeShapeType="1"/>
          </p:cNvSpPr>
          <p:nvPr/>
        </p:nvSpPr>
        <p:spPr bwMode="auto">
          <a:xfrm>
            <a:off x="1028030" y="3392321"/>
            <a:ext cx="1786832" cy="1799549"/>
          </a:xfrm>
          <a:prstGeom prst="line">
            <a:avLst/>
          </a:prstGeom>
          <a:noFill/>
          <a:ln w="50800">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mn-lt"/>
              <a:cs typeface="Times New Roman" pitchFamily="18" charset="0"/>
            </a:endParaRPr>
          </a:p>
        </p:txBody>
      </p:sp>
      <p:sp>
        <p:nvSpPr>
          <p:cNvPr id="18" name="Line 2065"/>
          <p:cNvSpPr>
            <a:spLocks noChangeShapeType="1"/>
          </p:cNvSpPr>
          <p:nvPr/>
        </p:nvSpPr>
        <p:spPr bwMode="auto">
          <a:xfrm>
            <a:off x="563837" y="3802464"/>
            <a:ext cx="1832933" cy="1831344"/>
          </a:xfrm>
          <a:prstGeom prst="line">
            <a:avLst/>
          </a:prstGeom>
          <a:noFill/>
          <a:ln w="50800">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mn-lt"/>
              <a:cs typeface="Times New Roman" pitchFamily="18" charset="0"/>
            </a:endParaRPr>
          </a:p>
        </p:txBody>
      </p:sp>
      <p:sp>
        <p:nvSpPr>
          <p:cNvPr id="19" name="Rectangle 2066"/>
          <p:cNvSpPr>
            <a:spLocks noChangeArrowheads="1"/>
          </p:cNvSpPr>
          <p:nvPr/>
        </p:nvSpPr>
        <p:spPr bwMode="auto">
          <a:xfrm>
            <a:off x="203200" y="2602263"/>
            <a:ext cx="915571" cy="4226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8901F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614" tIns="44512" rIns="90614" bIns="44512">
            <a:spAutoFit/>
          </a:bodyP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r>
              <a:rPr lang="en-US" altLang="en-US" sz="2403" dirty="0">
                <a:solidFill>
                  <a:schemeClr val="tx1"/>
                </a:solidFill>
                <a:latin typeface="+mn-lt"/>
                <a:cs typeface="Times New Roman" pitchFamily="18" charset="0"/>
              </a:rPr>
              <a:t>p(</a:t>
            </a:r>
            <a:r>
              <a:rPr lang="en-US" altLang="en-US" sz="2403" dirty="0">
                <a:solidFill>
                  <a:schemeClr val="tx1"/>
                </a:solidFill>
                <a:latin typeface="Symbol" panose="05050102010706020507" pitchFamily="18" charset="2"/>
                <a:cs typeface="Times New Roman" pitchFamily="18" charset="0"/>
              </a:rPr>
              <a:t></a:t>
            </a:r>
            <a:r>
              <a:rPr lang="en-US" altLang="en-US" sz="2403" dirty="0">
                <a:solidFill>
                  <a:schemeClr val="tx1"/>
                </a:solidFill>
                <a:cs typeface="Times New Roman" pitchFamily="18" charset="0"/>
              </a:rPr>
              <a:t>t</a:t>
            </a:r>
            <a:r>
              <a:rPr lang="en-US" altLang="en-US" sz="2403" dirty="0">
                <a:solidFill>
                  <a:schemeClr val="tx1"/>
                </a:solidFill>
                <a:latin typeface="+mn-lt"/>
                <a:cs typeface="Times New Roman" pitchFamily="18" charset="0"/>
              </a:rPr>
              <a:t>)</a:t>
            </a:r>
          </a:p>
        </p:txBody>
      </p:sp>
      <p:sp>
        <p:nvSpPr>
          <p:cNvPr id="20" name="Rectangle 2067"/>
          <p:cNvSpPr>
            <a:spLocks noChangeArrowheads="1"/>
          </p:cNvSpPr>
          <p:nvPr/>
        </p:nvSpPr>
        <p:spPr bwMode="auto">
          <a:xfrm>
            <a:off x="532043" y="4594139"/>
            <a:ext cx="919799" cy="4231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8901F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614" tIns="44512" rIns="90614" bIns="44512">
            <a:spAutoFit/>
          </a:bodyP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r>
              <a:rPr lang="en-US" altLang="en-US" sz="2403">
                <a:solidFill>
                  <a:schemeClr val="tx1"/>
                </a:solidFill>
                <a:latin typeface="+mn-lt"/>
                <a:cs typeface="Times New Roman" pitchFamily="18" charset="0"/>
              </a:rPr>
              <a:t>f(x,y)</a:t>
            </a:r>
          </a:p>
        </p:txBody>
      </p:sp>
      <p:sp>
        <p:nvSpPr>
          <p:cNvPr id="21" name="Rectangle 2068"/>
          <p:cNvSpPr>
            <a:spLocks noChangeArrowheads="1"/>
          </p:cNvSpPr>
          <p:nvPr/>
        </p:nvSpPr>
        <p:spPr bwMode="auto">
          <a:xfrm>
            <a:off x="2886399" y="2818435"/>
            <a:ext cx="285733" cy="4231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8901F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614" tIns="44512" rIns="90614" bIns="44512">
            <a:spAutoFit/>
          </a:bodyP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r>
              <a:rPr lang="en-US" altLang="en-US" sz="2403" dirty="0">
                <a:solidFill>
                  <a:schemeClr val="tx1"/>
                </a:solidFill>
                <a:latin typeface="+mn-lt"/>
                <a:cs typeface="Times New Roman" pitchFamily="18" charset="0"/>
              </a:rPr>
              <a:t>t</a:t>
            </a:r>
          </a:p>
        </p:txBody>
      </p:sp>
      <p:sp>
        <p:nvSpPr>
          <p:cNvPr id="22" name="Rectangle 2069"/>
          <p:cNvSpPr>
            <a:spLocks noChangeArrowheads="1"/>
          </p:cNvSpPr>
          <p:nvPr/>
        </p:nvSpPr>
        <p:spPr bwMode="auto">
          <a:xfrm>
            <a:off x="2595482" y="3672109"/>
            <a:ext cx="343298" cy="4226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8901F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614" tIns="44512" rIns="90614" bIns="44512">
            <a:spAutoFit/>
          </a:bodyP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r>
              <a:rPr lang="en-US" altLang="en-US" sz="2403" dirty="0">
                <a:solidFill>
                  <a:schemeClr val="tx1"/>
                </a:solidFill>
                <a:latin typeface="Symbol" panose="05050102010706020507" pitchFamily="18" charset="2"/>
                <a:cs typeface="Times New Roman" pitchFamily="18" charset="0"/>
              </a:rPr>
              <a:t></a:t>
            </a:r>
          </a:p>
        </p:txBody>
      </p:sp>
      <p:sp>
        <p:nvSpPr>
          <p:cNvPr id="23" name="Rectangle 2070"/>
          <p:cNvSpPr>
            <a:spLocks noChangeArrowheads="1"/>
          </p:cNvSpPr>
          <p:nvPr/>
        </p:nvSpPr>
        <p:spPr bwMode="auto">
          <a:xfrm>
            <a:off x="1889652" y="2376497"/>
            <a:ext cx="354758" cy="4231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8901F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614" tIns="44512" rIns="90614" bIns="44512">
            <a:spAutoFit/>
          </a:bodyP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r>
              <a:rPr lang="en-US" altLang="en-US" sz="2403">
                <a:solidFill>
                  <a:schemeClr val="tx1"/>
                </a:solidFill>
                <a:latin typeface="+mn-lt"/>
                <a:cs typeface="Times New Roman" pitchFamily="18" charset="0"/>
              </a:rPr>
              <a:t>y</a:t>
            </a:r>
          </a:p>
        </p:txBody>
      </p:sp>
      <p:sp>
        <p:nvSpPr>
          <p:cNvPr id="24" name="Rectangle 2071"/>
          <p:cNvSpPr>
            <a:spLocks noChangeArrowheads="1"/>
          </p:cNvSpPr>
          <p:nvPr/>
        </p:nvSpPr>
        <p:spPr bwMode="auto">
          <a:xfrm>
            <a:off x="3708278" y="3751594"/>
            <a:ext cx="354758" cy="4231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8901F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614" tIns="44512" rIns="90614" bIns="44512">
            <a:spAutoFit/>
          </a:bodyP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r>
              <a:rPr lang="en-US" altLang="en-US" sz="2403">
                <a:solidFill>
                  <a:schemeClr val="tx1"/>
                </a:solidFill>
                <a:latin typeface="+mn-lt"/>
                <a:cs typeface="Times New Roman" pitchFamily="18" charset="0"/>
              </a:rPr>
              <a:t>x</a:t>
            </a:r>
          </a:p>
        </p:txBody>
      </p:sp>
      <p:sp>
        <p:nvSpPr>
          <p:cNvPr id="25" name="Line 2072"/>
          <p:cNvSpPr>
            <a:spLocks noChangeShapeType="1"/>
          </p:cNvSpPr>
          <p:nvPr/>
        </p:nvSpPr>
        <p:spPr bwMode="auto">
          <a:xfrm flipH="1">
            <a:off x="295176" y="2637210"/>
            <a:ext cx="1410071" cy="1421199"/>
          </a:xfrm>
          <a:prstGeom prst="line">
            <a:avLst/>
          </a:prstGeom>
          <a:noFill/>
          <a:ln w="76200">
            <a:solidFill>
              <a:srgbClr val="7030A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mn-lt"/>
              <a:cs typeface="Times New Roman" pitchFamily="18" charset="0"/>
            </a:endParaRPr>
          </a:p>
        </p:txBody>
      </p:sp>
      <p:sp>
        <p:nvSpPr>
          <p:cNvPr id="26" name="Rectangle 2073"/>
          <p:cNvSpPr>
            <a:spLocks noChangeArrowheads="1"/>
          </p:cNvSpPr>
          <p:nvPr/>
        </p:nvSpPr>
        <p:spPr bwMode="auto">
          <a:xfrm>
            <a:off x="2886399" y="5051975"/>
            <a:ext cx="1126874" cy="4231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614" tIns="44512" rIns="90614" bIns="44512">
            <a:spAutoFit/>
          </a:bodyP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r>
              <a:rPr lang="en-US" altLang="en-US" sz="2403">
                <a:solidFill>
                  <a:schemeClr val="tx1"/>
                </a:solidFill>
                <a:latin typeface="+mn-lt"/>
                <a:cs typeface="Times New Roman" pitchFamily="18" charset="0"/>
              </a:rPr>
              <a:t>X-rays</a:t>
            </a:r>
          </a:p>
        </p:txBody>
      </p:sp>
      <p:sp>
        <p:nvSpPr>
          <p:cNvPr id="27" name="Rectangle 2074"/>
          <p:cNvSpPr>
            <a:spLocks noChangeArrowheads="1"/>
          </p:cNvSpPr>
          <p:nvPr/>
        </p:nvSpPr>
        <p:spPr bwMode="auto">
          <a:xfrm>
            <a:off x="350816" y="1719947"/>
            <a:ext cx="3348515" cy="5945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8901F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88" tIns="25435" rIns="63588" bIns="25435">
            <a:spAutoFit/>
          </a:bodyP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nSpc>
                <a:spcPct val="88000"/>
              </a:lnSpc>
              <a:defRPr/>
            </a:pPr>
            <a:r>
              <a:rPr lang="en-US" altLang="en-US" sz="2003">
                <a:solidFill>
                  <a:schemeClr val="tx1"/>
                </a:solidFill>
                <a:latin typeface="+mn-lt"/>
                <a:cs typeface="Times New Roman" pitchFamily="18" charset="0"/>
              </a:rPr>
              <a:t>Projection:</a:t>
            </a:r>
            <a:br>
              <a:rPr lang="en-US" altLang="en-US" sz="2003">
                <a:solidFill>
                  <a:schemeClr val="tx1"/>
                </a:solidFill>
                <a:latin typeface="+mn-lt"/>
                <a:cs typeface="Times New Roman" pitchFamily="18" charset="0"/>
              </a:rPr>
            </a:br>
            <a:r>
              <a:rPr lang="en-US" altLang="en-US" sz="2003">
                <a:solidFill>
                  <a:schemeClr val="tx1"/>
                </a:solidFill>
                <a:latin typeface="+mn-lt"/>
                <a:cs typeface="Times New Roman" pitchFamily="18" charset="0"/>
              </a:rPr>
              <a:t>All ray-sums in a direction</a:t>
            </a:r>
          </a:p>
        </p:txBody>
      </p:sp>
      <p:sp>
        <p:nvSpPr>
          <p:cNvPr id="28" name="Oval 2075"/>
          <p:cNvSpPr>
            <a:spLocks noChangeArrowheads="1"/>
          </p:cNvSpPr>
          <p:nvPr/>
        </p:nvSpPr>
        <p:spPr bwMode="auto">
          <a:xfrm>
            <a:off x="1427047" y="4285737"/>
            <a:ext cx="267071" cy="267071"/>
          </a:xfrm>
          <a:prstGeom prst="ellipse">
            <a:avLst/>
          </a:prstGeom>
          <a:solidFill>
            <a:srgbClr val="FFFF00"/>
          </a:solidFill>
          <a:ln w="50800">
            <a:noFill/>
            <a:round/>
            <a:headEnd/>
            <a:tailEnd/>
          </a:ln>
          <a:effectLst/>
        </p:spPr>
        <p:txBody>
          <a:bodyPr wrap="none" anchor="ct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endParaRPr lang="en-US" altLang="en-US" sz="3204">
              <a:solidFill>
                <a:schemeClr val="tx1"/>
              </a:solidFill>
              <a:latin typeface="+mn-lt"/>
              <a:cs typeface="Times New Roman" pitchFamily="18" charset="0"/>
            </a:endParaRPr>
          </a:p>
        </p:txBody>
      </p:sp>
      <p:sp>
        <p:nvSpPr>
          <p:cNvPr id="29" name="Line 2076"/>
          <p:cNvSpPr>
            <a:spLocks noChangeShapeType="1"/>
          </p:cNvSpPr>
          <p:nvPr/>
        </p:nvSpPr>
        <p:spPr bwMode="auto">
          <a:xfrm>
            <a:off x="780036" y="3579906"/>
            <a:ext cx="1818626" cy="1829754"/>
          </a:xfrm>
          <a:prstGeom prst="line">
            <a:avLst/>
          </a:prstGeom>
          <a:noFill/>
          <a:ln w="50800">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mn-lt"/>
              <a:cs typeface="Times New Roman" pitchFamily="18" charset="0"/>
            </a:endParaRPr>
          </a:p>
        </p:txBody>
      </p:sp>
      <p:sp>
        <p:nvSpPr>
          <p:cNvPr id="30" name="Line 2077"/>
          <p:cNvSpPr>
            <a:spLocks noChangeShapeType="1"/>
          </p:cNvSpPr>
          <p:nvPr/>
        </p:nvSpPr>
        <p:spPr bwMode="auto">
          <a:xfrm>
            <a:off x="1245821" y="3172941"/>
            <a:ext cx="1770935" cy="1799549"/>
          </a:xfrm>
          <a:prstGeom prst="line">
            <a:avLst/>
          </a:prstGeom>
          <a:noFill/>
          <a:ln w="50800">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mn-lt"/>
              <a:cs typeface="Times New Roman" pitchFamily="18" charset="0"/>
            </a:endParaRPr>
          </a:p>
        </p:txBody>
      </p:sp>
      <p:sp>
        <p:nvSpPr>
          <p:cNvPr id="31" name="Line 2078"/>
          <p:cNvSpPr>
            <a:spLocks noChangeShapeType="1"/>
          </p:cNvSpPr>
          <p:nvPr/>
        </p:nvSpPr>
        <p:spPr bwMode="auto">
          <a:xfrm flipV="1">
            <a:off x="1834012" y="3085507"/>
            <a:ext cx="1090540" cy="1087360"/>
          </a:xfrm>
          <a:prstGeom prst="line">
            <a:avLst/>
          </a:prstGeom>
          <a:noFill/>
          <a:ln w="50800">
            <a:solidFill>
              <a:srgbClr val="7030A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mn-lt"/>
              <a:cs typeface="Times New Roman" pitchFamily="18" charset="0"/>
            </a:endParaRPr>
          </a:p>
        </p:txBody>
      </p:sp>
      <p:sp>
        <p:nvSpPr>
          <p:cNvPr id="32" name="Rectangle 2079"/>
          <p:cNvSpPr>
            <a:spLocks noChangeArrowheads="1"/>
          </p:cNvSpPr>
          <p:nvPr/>
        </p:nvSpPr>
        <p:spPr bwMode="auto">
          <a:xfrm>
            <a:off x="5965663" y="3180890"/>
            <a:ext cx="352916" cy="4226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8901F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614" tIns="44512" rIns="90614" bIns="44512">
            <a:spAutoFit/>
          </a:bodyP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r>
              <a:rPr lang="en-US" altLang="en-US" sz="2403" dirty="0">
                <a:solidFill>
                  <a:schemeClr val="tx1"/>
                </a:solidFill>
                <a:latin typeface="Symbol" panose="05050102010706020507" pitchFamily="18" charset="2"/>
                <a:cs typeface="Times New Roman" pitchFamily="18" charset="0"/>
              </a:rPr>
              <a:t>p</a:t>
            </a:r>
          </a:p>
        </p:txBody>
      </p:sp>
      <p:sp>
        <p:nvSpPr>
          <p:cNvPr id="33" name="Rectangle 2066"/>
          <p:cNvSpPr>
            <a:spLocks noChangeArrowheads="1"/>
          </p:cNvSpPr>
          <p:nvPr/>
        </p:nvSpPr>
        <p:spPr bwMode="auto">
          <a:xfrm>
            <a:off x="4880122" y="3055594"/>
            <a:ext cx="915571" cy="4226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8901F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614" tIns="44512" rIns="90614" bIns="44512">
            <a:spAutoFit/>
          </a:bodyP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r>
              <a:rPr lang="en-US" altLang="en-US" sz="2403" dirty="0">
                <a:solidFill>
                  <a:schemeClr val="tx1"/>
                </a:solidFill>
                <a:latin typeface="+mn-lt"/>
                <a:cs typeface="Times New Roman" pitchFamily="18" charset="0"/>
              </a:rPr>
              <a:t>p(</a:t>
            </a:r>
            <a:r>
              <a:rPr lang="en-US" altLang="en-US" sz="2403" dirty="0">
                <a:solidFill>
                  <a:schemeClr val="tx1"/>
                </a:solidFill>
                <a:latin typeface="Symbol" panose="05050102010706020507" pitchFamily="18" charset="2"/>
                <a:cs typeface="Times New Roman" pitchFamily="18" charset="0"/>
              </a:rPr>
              <a:t></a:t>
            </a:r>
            <a:r>
              <a:rPr lang="en-US" altLang="en-US" sz="2403" dirty="0">
                <a:solidFill>
                  <a:schemeClr val="tx1"/>
                </a:solidFill>
                <a:cs typeface="Times New Roman" pitchFamily="18" charset="0"/>
              </a:rPr>
              <a:t>t</a:t>
            </a:r>
            <a:r>
              <a:rPr lang="en-US" altLang="en-US" sz="2403" dirty="0">
                <a:solidFill>
                  <a:schemeClr val="tx1"/>
                </a:solidFill>
                <a:latin typeface="+mn-lt"/>
                <a:cs typeface="Times New Roman" pitchFamily="18" charset="0"/>
              </a:rPr>
              <a:t>)</a:t>
            </a:r>
          </a:p>
        </p:txBody>
      </p:sp>
      <p:pic>
        <p:nvPicPr>
          <p:cNvPr id="34" name="Picture 12" descr="http://www.magic-emoji.com/emoji/images/83_emoji_iphone_black_diamond_suit.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2670" y="2149787"/>
            <a:ext cx="2046695" cy="20466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97255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descr="Image result for cat"/>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0428" y="4089588"/>
            <a:ext cx="4700544" cy="197936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dirty="0"/>
              <a:t>Computed Tomography</a:t>
            </a:r>
          </a:p>
        </p:txBody>
      </p:sp>
      <p:sp>
        <p:nvSpPr>
          <p:cNvPr id="4" name="Rectangle 3"/>
          <p:cNvSpPr>
            <a:spLocks noChangeArrowheads="1"/>
          </p:cNvSpPr>
          <p:nvPr/>
        </p:nvSpPr>
        <p:spPr bwMode="auto">
          <a:xfrm>
            <a:off x="934608" y="3427009"/>
            <a:ext cx="915571" cy="4226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8901F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614" tIns="44512" rIns="90614" bIns="44512">
            <a:spAutoFit/>
          </a:bodyP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r>
              <a:rPr lang="en-US" altLang="en-US" sz="2403" dirty="0">
                <a:solidFill>
                  <a:schemeClr val="tx1"/>
                </a:solidFill>
                <a:latin typeface="+mn-lt"/>
                <a:cs typeface="Times New Roman" pitchFamily="18" charset="0"/>
              </a:rPr>
              <a:t>p</a:t>
            </a:r>
            <a:r>
              <a:rPr lang="en-US" altLang="en-US" sz="2403" dirty="0">
                <a:solidFill>
                  <a:schemeClr val="tx1"/>
                </a:solidFill>
                <a:latin typeface="Symbol" panose="05050102010706020507" pitchFamily="18" charset="2"/>
                <a:cs typeface="Times New Roman" pitchFamily="18" charset="0"/>
              </a:rPr>
              <a:t>(</a:t>
            </a:r>
            <a:r>
              <a:rPr lang="en-US" altLang="en-US" sz="2403" dirty="0">
                <a:solidFill>
                  <a:schemeClr val="tx1"/>
                </a:solidFill>
                <a:cs typeface="Times New Roman" pitchFamily="18" charset="0"/>
              </a:rPr>
              <a:t>t</a:t>
            </a:r>
            <a:r>
              <a:rPr lang="en-US" altLang="en-US" sz="2403" dirty="0">
                <a:solidFill>
                  <a:schemeClr val="tx1"/>
                </a:solidFill>
                <a:latin typeface="Symbol" panose="05050102010706020507" pitchFamily="18" charset="2"/>
                <a:cs typeface="Times New Roman" pitchFamily="18" charset="0"/>
              </a:rPr>
              <a:t>)</a:t>
            </a:r>
          </a:p>
        </p:txBody>
      </p:sp>
      <p:sp>
        <p:nvSpPr>
          <p:cNvPr id="5" name="Rectangle 4"/>
          <p:cNvSpPr>
            <a:spLocks noChangeArrowheads="1"/>
          </p:cNvSpPr>
          <p:nvPr/>
        </p:nvSpPr>
        <p:spPr bwMode="auto">
          <a:xfrm>
            <a:off x="2575187" y="3404752"/>
            <a:ext cx="919799" cy="4231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8901F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614" tIns="44512" rIns="90614" bIns="44512">
            <a:spAutoFit/>
          </a:bodyP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r>
              <a:rPr lang="en-US" altLang="en-US" sz="2403">
                <a:solidFill>
                  <a:schemeClr val="tx1"/>
                </a:solidFill>
                <a:latin typeface="+mn-lt"/>
                <a:cs typeface="Times New Roman" pitchFamily="18" charset="0"/>
              </a:rPr>
              <a:t>f(x,y)</a:t>
            </a:r>
          </a:p>
        </p:txBody>
      </p:sp>
      <p:sp>
        <p:nvSpPr>
          <p:cNvPr id="6" name="AutoShape 5"/>
          <p:cNvSpPr>
            <a:spLocks noChangeArrowheads="1"/>
          </p:cNvSpPr>
          <p:nvPr/>
        </p:nvSpPr>
        <p:spPr bwMode="auto">
          <a:xfrm>
            <a:off x="1902740" y="3492186"/>
            <a:ext cx="575474" cy="271840"/>
          </a:xfrm>
          <a:prstGeom prst="rightArrow">
            <a:avLst>
              <a:gd name="adj1" fmla="val 50000"/>
              <a:gd name="adj2" fmla="val 105858"/>
            </a:avLst>
          </a:prstGeom>
          <a:solidFill>
            <a:srgbClr val="FF0000"/>
          </a:solidFill>
          <a:ln w="50800">
            <a:solidFill>
              <a:srgbClr val="FF0000"/>
            </a:solidFill>
            <a:miter lim="800000"/>
            <a:headEnd/>
            <a:tailEnd/>
          </a:ln>
          <a:effectLst/>
        </p:spPr>
        <p:txBody>
          <a:bodyPr wrap="none" anchor="ct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endParaRPr lang="en-US" altLang="en-US" sz="3204">
              <a:solidFill>
                <a:schemeClr val="tx1"/>
              </a:solidFill>
              <a:latin typeface="+mn-lt"/>
              <a:cs typeface="Times New Roman" pitchFamily="18" charset="0"/>
            </a:endParaRPr>
          </a:p>
        </p:txBody>
      </p:sp>
      <p:sp>
        <p:nvSpPr>
          <p:cNvPr id="9" name="Rectangle 26"/>
          <p:cNvSpPr>
            <a:spLocks noChangeArrowheads="1"/>
          </p:cNvSpPr>
          <p:nvPr/>
        </p:nvSpPr>
        <p:spPr bwMode="auto">
          <a:xfrm>
            <a:off x="626204" y="2152063"/>
            <a:ext cx="4321286" cy="10289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8901F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88" tIns="25435" rIns="63588" bIns="25435">
            <a:spAutoFit/>
          </a:bodyP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nSpc>
                <a:spcPct val="88000"/>
              </a:lnSpc>
              <a:defRPr/>
            </a:pPr>
            <a:r>
              <a:rPr lang="en-US" altLang="en-US" sz="2403">
                <a:solidFill>
                  <a:schemeClr val="tx1"/>
                </a:solidFill>
                <a:latin typeface="+mn-lt"/>
                <a:cs typeface="Times New Roman" pitchFamily="18" charset="0"/>
              </a:rPr>
              <a:t>Computed tomography (CT):</a:t>
            </a:r>
            <a:br>
              <a:rPr lang="en-US" altLang="en-US" sz="2403">
                <a:solidFill>
                  <a:schemeClr val="tx1"/>
                </a:solidFill>
                <a:latin typeface="+mn-lt"/>
                <a:cs typeface="Times New Roman" pitchFamily="18" charset="0"/>
              </a:rPr>
            </a:br>
            <a:r>
              <a:rPr lang="en-US" altLang="en-US" sz="2403">
                <a:solidFill>
                  <a:schemeClr val="tx1"/>
                </a:solidFill>
                <a:latin typeface="+mn-lt"/>
                <a:cs typeface="Times New Roman" pitchFamily="18" charset="0"/>
              </a:rPr>
              <a:t>Image reconstruction from</a:t>
            </a:r>
            <a:br>
              <a:rPr lang="en-US" altLang="en-US" sz="2403">
                <a:solidFill>
                  <a:schemeClr val="tx1"/>
                </a:solidFill>
                <a:latin typeface="+mn-lt"/>
                <a:cs typeface="Times New Roman" pitchFamily="18" charset="0"/>
              </a:rPr>
            </a:br>
            <a:r>
              <a:rPr lang="en-US" altLang="en-US" sz="2403">
                <a:solidFill>
                  <a:schemeClr val="tx1"/>
                </a:solidFill>
                <a:latin typeface="+mn-lt"/>
                <a:cs typeface="Times New Roman" pitchFamily="18" charset="0"/>
              </a:rPr>
              <a:t>projections</a:t>
            </a:r>
          </a:p>
        </p:txBody>
      </p:sp>
      <p:sp>
        <p:nvSpPr>
          <p:cNvPr id="10" name="Oval 2058"/>
          <p:cNvSpPr>
            <a:spLocks noChangeArrowheads="1"/>
          </p:cNvSpPr>
          <p:nvPr/>
        </p:nvSpPr>
        <p:spPr bwMode="auto">
          <a:xfrm>
            <a:off x="5884799" y="3840334"/>
            <a:ext cx="1244741" cy="1174795"/>
          </a:xfrm>
          <a:prstGeom prst="ellipse">
            <a:avLst/>
          </a:prstGeom>
          <a:solidFill>
            <a:srgbClr val="3399FF"/>
          </a:solidFill>
          <a:ln w="50800">
            <a:noFill/>
            <a:round/>
            <a:headEnd/>
            <a:tailEnd/>
          </a:ln>
          <a:effectLst/>
        </p:spPr>
        <p:txBody>
          <a:bodyPr wrap="none" anchor="ct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endParaRPr lang="en-US" altLang="en-US" sz="3204">
              <a:solidFill>
                <a:schemeClr val="tx1"/>
              </a:solidFill>
              <a:latin typeface="+mn-lt"/>
              <a:cs typeface="Times New Roman" pitchFamily="18" charset="0"/>
            </a:endParaRPr>
          </a:p>
        </p:txBody>
      </p:sp>
      <p:sp>
        <p:nvSpPr>
          <p:cNvPr id="11" name="Line 2059"/>
          <p:cNvSpPr>
            <a:spLocks noChangeShapeType="1"/>
          </p:cNvSpPr>
          <p:nvPr/>
        </p:nvSpPr>
        <p:spPr bwMode="auto">
          <a:xfrm>
            <a:off x="5094713" y="4442832"/>
            <a:ext cx="3506896" cy="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mn-lt"/>
              <a:cs typeface="Times New Roman" pitchFamily="18" charset="0"/>
            </a:endParaRPr>
          </a:p>
        </p:txBody>
      </p:sp>
      <p:sp>
        <p:nvSpPr>
          <p:cNvPr id="12" name="Line 2060"/>
          <p:cNvSpPr>
            <a:spLocks noChangeShapeType="1"/>
          </p:cNvSpPr>
          <p:nvPr/>
        </p:nvSpPr>
        <p:spPr bwMode="auto">
          <a:xfrm>
            <a:off x="6514322" y="2748205"/>
            <a:ext cx="0" cy="2953677"/>
          </a:xfrm>
          <a:prstGeom prst="line">
            <a:avLst/>
          </a:prstGeom>
          <a:noFill/>
          <a:ln w="508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mn-lt"/>
              <a:cs typeface="Times New Roman" pitchFamily="18" charset="0"/>
            </a:endParaRPr>
          </a:p>
        </p:txBody>
      </p:sp>
      <p:sp>
        <p:nvSpPr>
          <p:cNvPr id="13" name="Arc 2061"/>
          <p:cNvSpPr>
            <a:spLocks/>
          </p:cNvSpPr>
          <p:nvPr/>
        </p:nvSpPr>
        <p:spPr bwMode="auto">
          <a:xfrm>
            <a:off x="5271171" y="3201271"/>
            <a:ext cx="858442" cy="869571"/>
          </a:xfrm>
          <a:custGeom>
            <a:avLst/>
            <a:gdLst>
              <a:gd name="T0" fmla="*/ 0 w 21600"/>
              <a:gd name="T1" fmla="*/ 2147483646 h 21600"/>
              <a:gd name="T2" fmla="*/ 2147483646 w 21600"/>
              <a:gd name="T3" fmla="*/ 0 h 21600"/>
              <a:gd name="T4" fmla="*/ 2147483646 w 21600"/>
              <a:gd name="T5" fmla="*/ 2147483646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21600"/>
                </a:moveTo>
                <a:cubicBezTo>
                  <a:pt x="0" y="9683"/>
                  <a:pt x="9650" y="18"/>
                  <a:pt x="21567" y="0"/>
                </a:cubicBezTo>
              </a:path>
              <a:path w="21600" h="21600" stroke="0" extrusionOk="0">
                <a:moveTo>
                  <a:pt x="0" y="21600"/>
                </a:moveTo>
                <a:cubicBezTo>
                  <a:pt x="0" y="9683"/>
                  <a:pt x="9650" y="18"/>
                  <a:pt x="21567" y="0"/>
                </a:cubicBezTo>
                <a:lnTo>
                  <a:pt x="21600" y="21600"/>
                </a:lnTo>
                <a:lnTo>
                  <a:pt x="0" y="21600"/>
                </a:lnTo>
                <a:close/>
              </a:path>
            </a:pathLst>
          </a:custGeom>
          <a:noFill/>
          <a:ln w="50800" cap="rnd">
            <a:solidFill>
              <a:srgbClr val="FF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mn-lt"/>
              <a:cs typeface="Times New Roman" pitchFamily="18" charset="0"/>
            </a:endParaRPr>
          </a:p>
        </p:txBody>
      </p:sp>
      <p:sp>
        <p:nvSpPr>
          <p:cNvPr id="14" name="Arc 2062"/>
          <p:cNvSpPr>
            <a:spLocks/>
          </p:cNvSpPr>
          <p:nvPr/>
        </p:nvSpPr>
        <p:spPr bwMode="auto">
          <a:xfrm>
            <a:off x="7274202" y="3748130"/>
            <a:ext cx="413324" cy="680395"/>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50800" cap="rnd">
            <a:solidFill>
              <a:srgbClr val="7030A0"/>
            </a:solidFill>
            <a:round/>
            <a:headEnd type="triangle" w="med" len="me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mn-lt"/>
              <a:cs typeface="Times New Roman" pitchFamily="18" charset="0"/>
            </a:endParaRPr>
          </a:p>
        </p:txBody>
      </p:sp>
      <p:sp>
        <p:nvSpPr>
          <p:cNvPr id="15" name="Line 2063"/>
          <p:cNvSpPr>
            <a:spLocks noChangeShapeType="1"/>
          </p:cNvSpPr>
          <p:nvPr/>
        </p:nvSpPr>
        <p:spPr bwMode="auto">
          <a:xfrm>
            <a:off x="6148691" y="3199682"/>
            <a:ext cx="1832933" cy="1847241"/>
          </a:xfrm>
          <a:prstGeom prst="line">
            <a:avLst/>
          </a:prstGeom>
          <a:noFill/>
          <a:ln w="50800">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mn-lt"/>
              <a:cs typeface="Times New Roman" pitchFamily="18" charset="0"/>
            </a:endParaRPr>
          </a:p>
        </p:txBody>
      </p:sp>
      <p:sp>
        <p:nvSpPr>
          <p:cNvPr id="16" name="Line 2064"/>
          <p:cNvSpPr>
            <a:spLocks noChangeShapeType="1"/>
          </p:cNvSpPr>
          <p:nvPr/>
        </p:nvSpPr>
        <p:spPr bwMode="auto">
          <a:xfrm>
            <a:off x="5744903" y="3668645"/>
            <a:ext cx="1786832" cy="1799549"/>
          </a:xfrm>
          <a:prstGeom prst="line">
            <a:avLst/>
          </a:prstGeom>
          <a:noFill/>
          <a:ln w="50800">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mn-lt"/>
              <a:cs typeface="Times New Roman" pitchFamily="18" charset="0"/>
            </a:endParaRPr>
          </a:p>
        </p:txBody>
      </p:sp>
      <p:sp>
        <p:nvSpPr>
          <p:cNvPr id="17" name="Line 2065"/>
          <p:cNvSpPr>
            <a:spLocks noChangeShapeType="1"/>
          </p:cNvSpPr>
          <p:nvPr/>
        </p:nvSpPr>
        <p:spPr bwMode="auto">
          <a:xfrm>
            <a:off x="5280710" y="4078788"/>
            <a:ext cx="1832933" cy="1831344"/>
          </a:xfrm>
          <a:prstGeom prst="line">
            <a:avLst/>
          </a:prstGeom>
          <a:noFill/>
          <a:ln w="50800">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mn-lt"/>
              <a:cs typeface="Times New Roman" pitchFamily="18" charset="0"/>
            </a:endParaRPr>
          </a:p>
        </p:txBody>
      </p:sp>
      <p:sp>
        <p:nvSpPr>
          <p:cNvPr id="18" name="Rectangle 2066"/>
          <p:cNvSpPr>
            <a:spLocks noChangeArrowheads="1"/>
          </p:cNvSpPr>
          <p:nvPr/>
        </p:nvSpPr>
        <p:spPr bwMode="auto">
          <a:xfrm>
            <a:off x="4920073" y="2878587"/>
            <a:ext cx="915571" cy="4226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8901F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614" tIns="44512" rIns="90614" bIns="44512">
            <a:spAutoFit/>
          </a:bodyP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r>
              <a:rPr lang="en-US" altLang="en-US" sz="2403" dirty="0">
                <a:solidFill>
                  <a:schemeClr val="tx1"/>
                </a:solidFill>
                <a:latin typeface="+mn-lt"/>
                <a:cs typeface="Times New Roman" pitchFamily="18" charset="0"/>
              </a:rPr>
              <a:t>p(</a:t>
            </a:r>
            <a:r>
              <a:rPr lang="en-US" altLang="en-US" sz="2403" dirty="0">
                <a:solidFill>
                  <a:schemeClr val="tx1"/>
                </a:solidFill>
                <a:latin typeface="Symbol" panose="05050102010706020507" pitchFamily="18" charset="2"/>
                <a:cs typeface="Times New Roman" pitchFamily="18" charset="0"/>
              </a:rPr>
              <a:t></a:t>
            </a:r>
            <a:r>
              <a:rPr lang="en-US" altLang="en-US" sz="2403" dirty="0">
                <a:solidFill>
                  <a:schemeClr val="tx1"/>
                </a:solidFill>
                <a:cs typeface="Times New Roman" pitchFamily="18" charset="0"/>
              </a:rPr>
              <a:t>t</a:t>
            </a:r>
            <a:r>
              <a:rPr lang="en-US" altLang="en-US" sz="2403" dirty="0">
                <a:solidFill>
                  <a:schemeClr val="tx1"/>
                </a:solidFill>
                <a:latin typeface="+mn-lt"/>
                <a:cs typeface="Times New Roman" pitchFamily="18" charset="0"/>
              </a:rPr>
              <a:t>)</a:t>
            </a:r>
          </a:p>
        </p:txBody>
      </p:sp>
      <p:sp>
        <p:nvSpPr>
          <p:cNvPr id="19" name="Rectangle 2067"/>
          <p:cNvSpPr>
            <a:spLocks noChangeArrowheads="1"/>
          </p:cNvSpPr>
          <p:nvPr/>
        </p:nvSpPr>
        <p:spPr bwMode="auto">
          <a:xfrm>
            <a:off x="5248916" y="4870463"/>
            <a:ext cx="919799" cy="4231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8901F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614" tIns="44512" rIns="90614" bIns="44512">
            <a:spAutoFit/>
          </a:bodyP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r>
              <a:rPr lang="en-US" altLang="en-US" sz="2403">
                <a:solidFill>
                  <a:schemeClr val="tx1"/>
                </a:solidFill>
                <a:latin typeface="+mn-lt"/>
                <a:cs typeface="Times New Roman" pitchFamily="18" charset="0"/>
              </a:rPr>
              <a:t>f(x,y)</a:t>
            </a:r>
          </a:p>
        </p:txBody>
      </p:sp>
      <p:sp>
        <p:nvSpPr>
          <p:cNvPr id="20" name="Rectangle 2068"/>
          <p:cNvSpPr>
            <a:spLocks noChangeArrowheads="1"/>
          </p:cNvSpPr>
          <p:nvPr/>
        </p:nvSpPr>
        <p:spPr bwMode="auto">
          <a:xfrm>
            <a:off x="7603272" y="3094759"/>
            <a:ext cx="285733" cy="4231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8901F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614" tIns="44512" rIns="90614" bIns="44512">
            <a:spAutoFit/>
          </a:bodyP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r>
              <a:rPr lang="en-US" altLang="en-US" sz="2403">
                <a:solidFill>
                  <a:schemeClr val="tx1"/>
                </a:solidFill>
                <a:latin typeface="+mn-lt"/>
                <a:cs typeface="Times New Roman" pitchFamily="18" charset="0"/>
              </a:rPr>
              <a:t>t</a:t>
            </a:r>
          </a:p>
        </p:txBody>
      </p:sp>
      <p:sp>
        <p:nvSpPr>
          <p:cNvPr id="21" name="Rectangle 2069"/>
          <p:cNvSpPr>
            <a:spLocks noChangeArrowheads="1"/>
          </p:cNvSpPr>
          <p:nvPr/>
        </p:nvSpPr>
        <p:spPr bwMode="auto">
          <a:xfrm>
            <a:off x="7312355" y="3948433"/>
            <a:ext cx="343298" cy="4226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8901F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614" tIns="44512" rIns="90614" bIns="44512">
            <a:spAutoFit/>
          </a:bodyP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r>
              <a:rPr lang="en-US" altLang="en-US" sz="2403" dirty="0">
                <a:solidFill>
                  <a:schemeClr val="tx1"/>
                </a:solidFill>
                <a:latin typeface="Symbol" panose="05050102010706020507" pitchFamily="18" charset="2"/>
                <a:cs typeface="Times New Roman" pitchFamily="18" charset="0"/>
              </a:rPr>
              <a:t></a:t>
            </a:r>
          </a:p>
        </p:txBody>
      </p:sp>
      <p:sp>
        <p:nvSpPr>
          <p:cNvPr id="22" name="Rectangle 2070"/>
          <p:cNvSpPr>
            <a:spLocks noChangeArrowheads="1"/>
          </p:cNvSpPr>
          <p:nvPr/>
        </p:nvSpPr>
        <p:spPr bwMode="auto">
          <a:xfrm>
            <a:off x="6606525" y="2652821"/>
            <a:ext cx="354758" cy="4231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8901F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614" tIns="44512" rIns="90614" bIns="44512">
            <a:spAutoFit/>
          </a:bodyP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r>
              <a:rPr lang="en-US" altLang="en-US" sz="2403">
                <a:solidFill>
                  <a:schemeClr val="tx1"/>
                </a:solidFill>
                <a:latin typeface="+mn-lt"/>
                <a:cs typeface="Times New Roman" pitchFamily="18" charset="0"/>
              </a:rPr>
              <a:t>y</a:t>
            </a:r>
          </a:p>
        </p:txBody>
      </p:sp>
      <p:sp>
        <p:nvSpPr>
          <p:cNvPr id="23" name="Rectangle 2071"/>
          <p:cNvSpPr>
            <a:spLocks noChangeArrowheads="1"/>
          </p:cNvSpPr>
          <p:nvPr/>
        </p:nvSpPr>
        <p:spPr bwMode="auto">
          <a:xfrm>
            <a:off x="8425151" y="4027918"/>
            <a:ext cx="354758" cy="4231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8901F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614" tIns="44512" rIns="90614" bIns="44512">
            <a:spAutoFit/>
          </a:bodyP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r>
              <a:rPr lang="en-US" altLang="en-US" sz="2403">
                <a:solidFill>
                  <a:schemeClr val="tx1"/>
                </a:solidFill>
                <a:latin typeface="+mn-lt"/>
                <a:cs typeface="Times New Roman" pitchFamily="18" charset="0"/>
              </a:rPr>
              <a:t>x</a:t>
            </a:r>
          </a:p>
        </p:txBody>
      </p:sp>
      <p:sp>
        <p:nvSpPr>
          <p:cNvPr id="24" name="Line 2072"/>
          <p:cNvSpPr>
            <a:spLocks noChangeShapeType="1"/>
          </p:cNvSpPr>
          <p:nvPr/>
        </p:nvSpPr>
        <p:spPr bwMode="auto">
          <a:xfrm flipH="1">
            <a:off x="5012049" y="2913534"/>
            <a:ext cx="1410071" cy="1421199"/>
          </a:xfrm>
          <a:prstGeom prst="line">
            <a:avLst/>
          </a:prstGeom>
          <a:noFill/>
          <a:ln w="76200">
            <a:solidFill>
              <a:srgbClr val="7030A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mn-lt"/>
              <a:cs typeface="Times New Roman" pitchFamily="18" charset="0"/>
            </a:endParaRPr>
          </a:p>
        </p:txBody>
      </p:sp>
      <p:sp>
        <p:nvSpPr>
          <p:cNvPr id="25" name="Rectangle 2073"/>
          <p:cNvSpPr>
            <a:spLocks noChangeArrowheads="1"/>
          </p:cNvSpPr>
          <p:nvPr/>
        </p:nvSpPr>
        <p:spPr bwMode="auto">
          <a:xfrm>
            <a:off x="7603272" y="5328299"/>
            <a:ext cx="1126874" cy="4231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614" tIns="44512" rIns="90614" bIns="44512">
            <a:spAutoFit/>
          </a:bodyP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r>
              <a:rPr lang="en-US" altLang="en-US" sz="2403">
                <a:solidFill>
                  <a:schemeClr val="tx1"/>
                </a:solidFill>
                <a:latin typeface="+mn-lt"/>
                <a:cs typeface="Times New Roman" pitchFamily="18" charset="0"/>
              </a:rPr>
              <a:t>X-rays</a:t>
            </a:r>
          </a:p>
        </p:txBody>
      </p:sp>
      <p:sp>
        <p:nvSpPr>
          <p:cNvPr id="26" name="Oval 2075"/>
          <p:cNvSpPr>
            <a:spLocks noChangeArrowheads="1"/>
          </p:cNvSpPr>
          <p:nvPr/>
        </p:nvSpPr>
        <p:spPr bwMode="auto">
          <a:xfrm>
            <a:off x="6143920" y="4562061"/>
            <a:ext cx="267071" cy="267071"/>
          </a:xfrm>
          <a:prstGeom prst="ellipse">
            <a:avLst/>
          </a:prstGeom>
          <a:solidFill>
            <a:srgbClr val="FFFF00"/>
          </a:solidFill>
          <a:ln w="50800">
            <a:noFill/>
            <a:round/>
            <a:headEnd/>
            <a:tailEnd/>
          </a:ln>
          <a:effectLst/>
        </p:spPr>
        <p:txBody>
          <a:bodyPr wrap="none" anchor="ct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endParaRPr lang="en-US" altLang="en-US" sz="3204">
              <a:solidFill>
                <a:schemeClr val="tx1"/>
              </a:solidFill>
              <a:latin typeface="+mn-lt"/>
              <a:cs typeface="Times New Roman" pitchFamily="18" charset="0"/>
            </a:endParaRPr>
          </a:p>
        </p:txBody>
      </p:sp>
      <p:sp>
        <p:nvSpPr>
          <p:cNvPr id="27" name="Line 2076"/>
          <p:cNvSpPr>
            <a:spLocks noChangeShapeType="1"/>
          </p:cNvSpPr>
          <p:nvPr/>
        </p:nvSpPr>
        <p:spPr bwMode="auto">
          <a:xfrm>
            <a:off x="5496909" y="3856230"/>
            <a:ext cx="1818626" cy="1829754"/>
          </a:xfrm>
          <a:prstGeom prst="line">
            <a:avLst/>
          </a:prstGeom>
          <a:noFill/>
          <a:ln w="50800">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mn-lt"/>
              <a:cs typeface="Times New Roman" pitchFamily="18" charset="0"/>
            </a:endParaRPr>
          </a:p>
        </p:txBody>
      </p:sp>
      <p:sp>
        <p:nvSpPr>
          <p:cNvPr id="28" name="Line 2077"/>
          <p:cNvSpPr>
            <a:spLocks noChangeShapeType="1"/>
          </p:cNvSpPr>
          <p:nvPr/>
        </p:nvSpPr>
        <p:spPr bwMode="auto">
          <a:xfrm>
            <a:off x="5962694" y="3449265"/>
            <a:ext cx="1770935" cy="1799549"/>
          </a:xfrm>
          <a:prstGeom prst="line">
            <a:avLst/>
          </a:prstGeom>
          <a:noFill/>
          <a:ln w="50800">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mn-lt"/>
              <a:cs typeface="Times New Roman" pitchFamily="18" charset="0"/>
            </a:endParaRPr>
          </a:p>
        </p:txBody>
      </p:sp>
      <p:sp>
        <p:nvSpPr>
          <p:cNvPr id="29" name="Line 2078"/>
          <p:cNvSpPr>
            <a:spLocks noChangeShapeType="1"/>
          </p:cNvSpPr>
          <p:nvPr/>
        </p:nvSpPr>
        <p:spPr bwMode="auto">
          <a:xfrm flipV="1">
            <a:off x="6550885" y="3361831"/>
            <a:ext cx="1090540" cy="1087360"/>
          </a:xfrm>
          <a:prstGeom prst="line">
            <a:avLst/>
          </a:prstGeom>
          <a:noFill/>
          <a:ln w="50800">
            <a:solidFill>
              <a:srgbClr val="7030A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mn-lt"/>
              <a:cs typeface="Times New Roman" pitchFamily="18" charset="0"/>
            </a:endParaRPr>
          </a:p>
        </p:txBody>
      </p:sp>
      <p:pic>
        <p:nvPicPr>
          <p:cNvPr id="30" name="Picture 12" descr="http://www.magic-emoji.com/emoji/images/83_emoji_iphone_black_diamond_suit.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24873" y="990600"/>
            <a:ext cx="2046695" cy="20466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6798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 Game</a:t>
            </a:r>
          </a:p>
        </p:txBody>
      </p:sp>
      <p:sp>
        <p:nvSpPr>
          <p:cNvPr id="4" name="Rectangle 3"/>
          <p:cNvSpPr>
            <a:spLocks noChangeArrowheads="1"/>
          </p:cNvSpPr>
          <p:nvPr/>
        </p:nvSpPr>
        <p:spPr bwMode="auto">
          <a:xfrm>
            <a:off x="1186189" y="1822018"/>
            <a:ext cx="2238309" cy="2142926"/>
          </a:xfrm>
          <a:prstGeom prst="rect">
            <a:avLst/>
          </a:prstGeom>
          <a:solidFill>
            <a:srgbClr val="00B0F0"/>
          </a:solidFill>
          <a:ln w="50800">
            <a:solidFill>
              <a:srgbClr val="0070C0"/>
            </a:solidFill>
            <a:miter lim="800000"/>
            <a:headEnd/>
            <a:tailEnd/>
          </a:ln>
          <a:effectLst/>
        </p:spPr>
        <p:txBody>
          <a:bodyPr wrap="none" anchor="ct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endParaRPr lang="en-US" altLang="en-US" sz="3204">
              <a:cs typeface="Times New Roman" pitchFamily="18" charset="0"/>
            </a:endParaRPr>
          </a:p>
        </p:txBody>
      </p:sp>
      <p:sp>
        <p:nvSpPr>
          <p:cNvPr id="5" name="Line 4"/>
          <p:cNvSpPr>
            <a:spLocks noChangeShapeType="1"/>
          </p:cNvSpPr>
          <p:nvPr/>
        </p:nvSpPr>
        <p:spPr bwMode="auto">
          <a:xfrm flipH="1" flipV="1">
            <a:off x="2292625" y="1860171"/>
            <a:ext cx="0" cy="2117491"/>
          </a:xfrm>
          <a:prstGeom prst="line">
            <a:avLst/>
          </a:prstGeom>
          <a:noFill/>
          <a:ln w="5080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solidFill>
                <a:srgbClr val="FAFD00"/>
              </a:solidFill>
              <a:latin typeface="Arial" panose="020B0604020202020204" pitchFamily="34" charset="0"/>
              <a:cs typeface="Times New Roman" pitchFamily="18" charset="0"/>
            </a:endParaRPr>
          </a:p>
        </p:txBody>
      </p:sp>
      <p:sp>
        <p:nvSpPr>
          <p:cNvPr id="6" name="Line 5"/>
          <p:cNvSpPr>
            <a:spLocks noChangeShapeType="1"/>
          </p:cNvSpPr>
          <p:nvPr/>
        </p:nvSpPr>
        <p:spPr bwMode="auto">
          <a:xfrm>
            <a:off x="1224341" y="2890301"/>
            <a:ext cx="2174720" cy="0"/>
          </a:xfrm>
          <a:prstGeom prst="line">
            <a:avLst/>
          </a:prstGeom>
          <a:noFill/>
          <a:ln w="5080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solidFill>
                <a:srgbClr val="FAFD00"/>
              </a:solidFill>
              <a:latin typeface="Arial" panose="020B0604020202020204" pitchFamily="34" charset="0"/>
              <a:cs typeface="Times New Roman" pitchFamily="18" charset="0"/>
            </a:endParaRPr>
          </a:p>
        </p:txBody>
      </p:sp>
      <p:sp>
        <p:nvSpPr>
          <p:cNvPr id="7" name="Rectangle 6"/>
          <p:cNvSpPr>
            <a:spLocks noChangeArrowheads="1"/>
          </p:cNvSpPr>
          <p:nvPr/>
        </p:nvSpPr>
        <p:spPr bwMode="auto">
          <a:xfrm>
            <a:off x="1259316" y="2230574"/>
            <a:ext cx="780547" cy="407086"/>
          </a:xfrm>
          <a:prstGeom prst="rect">
            <a:avLst/>
          </a:prstGeom>
          <a:solidFill>
            <a:srgbClr val="00B0F0"/>
          </a:solidFill>
          <a:ln>
            <a:noFill/>
          </a:ln>
          <a:effectLst/>
        </p:spPr>
        <p:txBody>
          <a:bodyPr lIns="73127" tIns="36563" rIns="73127" bIns="36563">
            <a:spAutoFit/>
          </a:bodyPr>
          <a:lstStyle>
            <a:lvl1pPr defTabSz="585788">
              <a:defRPr sz="3200" b="1">
                <a:solidFill>
                  <a:srgbClr val="FAFD00"/>
                </a:solidFill>
                <a:latin typeface="Arial" panose="020B0604020202020204" pitchFamily="34" charset="0"/>
              </a:defRPr>
            </a:lvl1pPr>
            <a:lvl2pPr marL="742950" indent="-285750" defTabSz="585788">
              <a:defRPr sz="3200" b="1">
                <a:solidFill>
                  <a:srgbClr val="FAFD00"/>
                </a:solidFill>
                <a:latin typeface="Arial" panose="020B0604020202020204" pitchFamily="34" charset="0"/>
              </a:defRPr>
            </a:lvl2pPr>
            <a:lvl3pPr marL="1143000" indent="-228600" defTabSz="585788">
              <a:defRPr sz="3200" b="1">
                <a:solidFill>
                  <a:srgbClr val="FAFD00"/>
                </a:solidFill>
                <a:latin typeface="Arial" panose="020B0604020202020204" pitchFamily="34" charset="0"/>
              </a:defRPr>
            </a:lvl3pPr>
            <a:lvl4pPr marL="1600200" indent="-228600" defTabSz="585788">
              <a:defRPr sz="3200" b="1">
                <a:solidFill>
                  <a:srgbClr val="FAFD00"/>
                </a:solidFill>
                <a:latin typeface="Arial" panose="020B0604020202020204" pitchFamily="34" charset="0"/>
              </a:defRPr>
            </a:lvl4pPr>
            <a:lvl5pPr marL="2057400" indent="-228600" defTabSz="585788">
              <a:defRPr sz="3200" b="1">
                <a:solidFill>
                  <a:srgbClr val="FAFD00"/>
                </a:solidFill>
                <a:latin typeface="Arial" panose="020B0604020202020204" pitchFamily="34" charset="0"/>
              </a:defRPr>
            </a:lvl5pPr>
            <a:lvl6pPr marL="2514600" indent="-228600" defTabSz="585788" eaLnBrk="0" fontAlgn="base" hangingPunct="0">
              <a:spcBef>
                <a:spcPct val="0"/>
              </a:spcBef>
              <a:spcAft>
                <a:spcPct val="0"/>
              </a:spcAft>
              <a:defRPr sz="3200" b="1">
                <a:solidFill>
                  <a:srgbClr val="FAFD00"/>
                </a:solidFill>
                <a:latin typeface="Arial" panose="020B0604020202020204" pitchFamily="34" charset="0"/>
              </a:defRPr>
            </a:lvl6pPr>
            <a:lvl7pPr marL="2971800" indent="-228600" defTabSz="585788" eaLnBrk="0" fontAlgn="base" hangingPunct="0">
              <a:spcBef>
                <a:spcPct val="0"/>
              </a:spcBef>
              <a:spcAft>
                <a:spcPct val="0"/>
              </a:spcAft>
              <a:defRPr sz="3200" b="1">
                <a:solidFill>
                  <a:srgbClr val="FAFD00"/>
                </a:solidFill>
                <a:latin typeface="Arial" panose="020B0604020202020204" pitchFamily="34" charset="0"/>
              </a:defRPr>
            </a:lvl7pPr>
            <a:lvl8pPr marL="3429000" indent="-228600" defTabSz="585788" eaLnBrk="0" fontAlgn="base" hangingPunct="0">
              <a:spcBef>
                <a:spcPct val="0"/>
              </a:spcBef>
              <a:spcAft>
                <a:spcPct val="0"/>
              </a:spcAft>
              <a:defRPr sz="3200" b="1">
                <a:solidFill>
                  <a:srgbClr val="FAFD00"/>
                </a:solidFill>
                <a:latin typeface="Arial" panose="020B0604020202020204" pitchFamily="34" charset="0"/>
              </a:defRPr>
            </a:lvl8pPr>
            <a:lvl9pPr marL="3886200" indent="-228600" defTabSz="585788"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r>
              <a:rPr lang="en-US" altLang="en-US" sz="2403" dirty="0">
                <a:solidFill>
                  <a:srgbClr val="FFFFFF"/>
                </a:solidFill>
                <a:latin typeface="Symbol" panose="05050102010706020507" pitchFamily="18" charset="2"/>
                <a:cs typeface="Times New Roman" pitchFamily="18" charset="0"/>
              </a:rPr>
              <a:t></a:t>
            </a:r>
            <a:r>
              <a:rPr lang="en-US" altLang="en-US" sz="2403" baseline="-25000" dirty="0">
                <a:solidFill>
                  <a:srgbClr val="FFFFFF"/>
                </a:solidFill>
                <a:latin typeface="Symbol" panose="05050102010706020507" pitchFamily="18" charset="2"/>
                <a:cs typeface="Times New Roman" pitchFamily="18" charset="0"/>
              </a:rPr>
              <a:t></a:t>
            </a:r>
            <a:r>
              <a:rPr lang="en-US" altLang="en-US" sz="2403" dirty="0">
                <a:solidFill>
                  <a:srgbClr val="FFFFFF"/>
                </a:solidFill>
                <a:latin typeface="Symbol" panose="05050102010706020507" pitchFamily="18" charset="2"/>
                <a:cs typeface="Times New Roman" pitchFamily="18" charset="0"/>
              </a:rPr>
              <a:t>=4</a:t>
            </a:r>
          </a:p>
        </p:txBody>
      </p:sp>
      <p:sp>
        <p:nvSpPr>
          <p:cNvPr id="8" name="Rectangle 7"/>
          <p:cNvSpPr>
            <a:spLocks noChangeArrowheads="1"/>
          </p:cNvSpPr>
          <p:nvPr/>
        </p:nvSpPr>
        <p:spPr bwMode="auto">
          <a:xfrm>
            <a:off x="2375291" y="2230574"/>
            <a:ext cx="780547" cy="407086"/>
          </a:xfrm>
          <a:prstGeom prst="rect">
            <a:avLst/>
          </a:prstGeom>
          <a:solidFill>
            <a:srgbClr val="00B0F0"/>
          </a:solidFill>
          <a:ln>
            <a:noFill/>
          </a:ln>
          <a:effectLst/>
        </p:spPr>
        <p:txBody>
          <a:bodyPr lIns="73127" tIns="36563" rIns="73127" bIns="36563">
            <a:spAutoFit/>
          </a:bodyPr>
          <a:lstStyle>
            <a:lvl1pPr defTabSz="585788">
              <a:defRPr sz="3200" b="1">
                <a:solidFill>
                  <a:srgbClr val="FAFD00"/>
                </a:solidFill>
                <a:latin typeface="Arial" panose="020B0604020202020204" pitchFamily="34" charset="0"/>
              </a:defRPr>
            </a:lvl1pPr>
            <a:lvl2pPr marL="742950" indent="-285750" defTabSz="585788">
              <a:defRPr sz="3200" b="1">
                <a:solidFill>
                  <a:srgbClr val="FAFD00"/>
                </a:solidFill>
                <a:latin typeface="Arial" panose="020B0604020202020204" pitchFamily="34" charset="0"/>
              </a:defRPr>
            </a:lvl2pPr>
            <a:lvl3pPr marL="1143000" indent="-228600" defTabSz="585788">
              <a:defRPr sz="3200" b="1">
                <a:solidFill>
                  <a:srgbClr val="FAFD00"/>
                </a:solidFill>
                <a:latin typeface="Arial" panose="020B0604020202020204" pitchFamily="34" charset="0"/>
              </a:defRPr>
            </a:lvl3pPr>
            <a:lvl4pPr marL="1600200" indent="-228600" defTabSz="585788">
              <a:defRPr sz="3200" b="1">
                <a:solidFill>
                  <a:srgbClr val="FAFD00"/>
                </a:solidFill>
                <a:latin typeface="Arial" panose="020B0604020202020204" pitchFamily="34" charset="0"/>
              </a:defRPr>
            </a:lvl4pPr>
            <a:lvl5pPr marL="2057400" indent="-228600" defTabSz="585788">
              <a:defRPr sz="3200" b="1">
                <a:solidFill>
                  <a:srgbClr val="FAFD00"/>
                </a:solidFill>
                <a:latin typeface="Arial" panose="020B0604020202020204" pitchFamily="34" charset="0"/>
              </a:defRPr>
            </a:lvl5pPr>
            <a:lvl6pPr marL="2514600" indent="-228600" defTabSz="585788" eaLnBrk="0" fontAlgn="base" hangingPunct="0">
              <a:spcBef>
                <a:spcPct val="0"/>
              </a:spcBef>
              <a:spcAft>
                <a:spcPct val="0"/>
              </a:spcAft>
              <a:defRPr sz="3200" b="1">
                <a:solidFill>
                  <a:srgbClr val="FAFD00"/>
                </a:solidFill>
                <a:latin typeface="Arial" panose="020B0604020202020204" pitchFamily="34" charset="0"/>
              </a:defRPr>
            </a:lvl6pPr>
            <a:lvl7pPr marL="2971800" indent="-228600" defTabSz="585788" eaLnBrk="0" fontAlgn="base" hangingPunct="0">
              <a:spcBef>
                <a:spcPct val="0"/>
              </a:spcBef>
              <a:spcAft>
                <a:spcPct val="0"/>
              </a:spcAft>
              <a:defRPr sz="3200" b="1">
                <a:solidFill>
                  <a:srgbClr val="FAFD00"/>
                </a:solidFill>
                <a:latin typeface="Arial" panose="020B0604020202020204" pitchFamily="34" charset="0"/>
              </a:defRPr>
            </a:lvl7pPr>
            <a:lvl8pPr marL="3429000" indent="-228600" defTabSz="585788" eaLnBrk="0" fontAlgn="base" hangingPunct="0">
              <a:spcBef>
                <a:spcPct val="0"/>
              </a:spcBef>
              <a:spcAft>
                <a:spcPct val="0"/>
              </a:spcAft>
              <a:defRPr sz="3200" b="1">
                <a:solidFill>
                  <a:srgbClr val="FAFD00"/>
                </a:solidFill>
                <a:latin typeface="Arial" panose="020B0604020202020204" pitchFamily="34" charset="0"/>
              </a:defRPr>
            </a:lvl8pPr>
            <a:lvl9pPr marL="3886200" indent="-228600" defTabSz="585788"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r>
              <a:rPr lang="en-US" altLang="en-US" sz="2403">
                <a:solidFill>
                  <a:srgbClr val="FFFFFF"/>
                </a:solidFill>
                <a:latin typeface="Symbol" panose="05050102010706020507" pitchFamily="18" charset="2"/>
                <a:cs typeface="Times New Roman" pitchFamily="18" charset="0"/>
              </a:rPr>
              <a:t></a:t>
            </a:r>
            <a:r>
              <a:rPr lang="en-US" altLang="en-US" sz="2403" baseline="-25000">
                <a:solidFill>
                  <a:srgbClr val="FFFFFF"/>
                </a:solidFill>
                <a:latin typeface="Symbol" panose="05050102010706020507" pitchFamily="18" charset="2"/>
                <a:cs typeface="Times New Roman" pitchFamily="18" charset="0"/>
              </a:rPr>
              <a:t>2</a:t>
            </a:r>
            <a:r>
              <a:rPr lang="en-US" altLang="en-US" sz="2403">
                <a:solidFill>
                  <a:srgbClr val="FFFFFF"/>
                </a:solidFill>
                <a:latin typeface="Symbol" panose="05050102010706020507" pitchFamily="18" charset="2"/>
                <a:cs typeface="Times New Roman" pitchFamily="18" charset="0"/>
              </a:rPr>
              <a:t>=3</a:t>
            </a:r>
          </a:p>
        </p:txBody>
      </p:sp>
      <p:sp>
        <p:nvSpPr>
          <p:cNvPr id="9" name="Rectangle 8"/>
          <p:cNvSpPr>
            <a:spLocks noChangeArrowheads="1"/>
          </p:cNvSpPr>
          <p:nvPr/>
        </p:nvSpPr>
        <p:spPr bwMode="auto">
          <a:xfrm>
            <a:off x="1287931" y="3260704"/>
            <a:ext cx="780547" cy="407086"/>
          </a:xfrm>
          <a:prstGeom prst="rect">
            <a:avLst/>
          </a:prstGeom>
          <a:solidFill>
            <a:srgbClr val="00B0F0"/>
          </a:solidFill>
          <a:ln>
            <a:noFill/>
          </a:ln>
          <a:effectLst/>
        </p:spPr>
        <p:txBody>
          <a:bodyPr lIns="73127" tIns="36563" rIns="73127" bIns="36563">
            <a:spAutoFit/>
          </a:bodyPr>
          <a:lstStyle>
            <a:lvl1pPr defTabSz="585788">
              <a:defRPr sz="3200" b="1">
                <a:solidFill>
                  <a:srgbClr val="FAFD00"/>
                </a:solidFill>
                <a:latin typeface="Arial" panose="020B0604020202020204" pitchFamily="34" charset="0"/>
              </a:defRPr>
            </a:lvl1pPr>
            <a:lvl2pPr marL="742950" indent="-285750" defTabSz="585788">
              <a:defRPr sz="3200" b="1">
                <a:solidFill>
                  <a:srgbClr val="FAFD00"/>
                </a:solidFill>
                <a:latin typeface="Arial" panose="020B0604020202020204" pitchFamily="34" charset="0"/>
              </a:defRPr>
            </a:lvl2pPr>
            <a:lvl3pPr marL="1143000" indent="-228600" defTabSz="585788">
              <a:defRPr sz="3200" b="1">
                <a:solidFill>
                  <a:srgbClr val="FAFD00"/>
                </a:solidFill>
                <a:latin typeface="Arial" panose="020B0604020202020204" pitchFamily="34" charset="0"/>
              </a:defRPr>
            </a:lvl3pPr>
            <a:lvl4pPr marL="1600200" indent="-228600" defTabSz="585788">
              <a:defRPr sz="3200" b="1">
                <a:solidFill>
                  <a:srgbClr val="FAFD00"/>
                </a:solidFill>
                <a:latin typeface="Arial" panose="020B0604020202020204" pitchFamily="34" charset="0"/>
              </a:defRPr>
            </a:lvl4pPr>
            <a:lvl5pPr marL="2057400" indent="-228600" defTabSz="585788">
              <a:defRPr sz="3200" b="1">
                <a:solidFill>
                  <a:srgbClr val="FAFD00"/>
                </a:solidFill>
                <a:latin typeface="Arial" panose="020B0604020202020204" pitchFamily="34" charset="0"/>
              </a:defRPr>
            </a:lvl5pPr>
            <a:lvl6pPr marL="2514600" indent="-228600" defTabSz="585788" eaLnBrk="0" fontAlgn="base" hangingPunct="0">
              <a:spcBef>
                <a:spcPct val="0"/>
              </a:spcBef>
              <a:spcAft>
                <a:spcPct val="0"/>
              </a:spcAft>
              <a:defRPr sz="3200" b="1">
                <a:solidFill>
                  <a:srgbClr val="FAFD00"/>
                </a:solidFill>
                <a:latin typeface="Arial" panose="020B0604020202020204" pitchFamily="34" charset="0"/>
              </a:defRPr>
            </a:lvl6pPr>
            <a:lvl7pPr marL="2971800" indent="-228600" defTabSz="585788" eaLnBrk="0" fontAlgn="base" hangingPunct="0">
              <a:spcBef>
                <a:spcPct val="0"/>
              </a:spcBef>
              <a:spcAft>
                <a:spcPct val="0"/>
              </a:spcAft>
              <a:defRPr sz="3200" b="1">
                <a:solidFill>
                  <a:srgbClr val="FAFD00"/>
                </a:solidFill>
                <a:latin typeface="Arial" panose="020B0604020202020204" pitchFamily="34" charset="0"/>
              </a:defRPr>
            </a:lvl7pPr>
            <a:lvl8pPr marL="3429000" indent="-228600" defTabSz="585788" eaLnBrk="0" fontAlgn="base" hangingPunct="0">
              <a:spcBef>
                <a:spcPct val="0"/>
              </a:spcBef>
              <a:spcAft>
                <a:spcPct val="0"/>
              </a:spcAft>
              <a:defRPr sz="3200" b="1">
                <a:solidFill>
                  <a:srgbClr val="FAFD00"/>
                </a:solidFill>
                <a:latin typeface="Arial" panose="020B0604020202020204" pitchFamily="34" charset="0"/>
              </a:defRPr>
            </a:lvl8pPr>
            <a:lvl9pPr marL="3886200" indent="-228600" defTabSz="585788"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r>
              <a:rPr lang="en-US" altLang="en-US" sz="2403">
                <a:solidFill>
                  <a:srgbClr val="FFFFFF"/>
                </a:solidFill>
                <a:latin typeface="Symbol" panose="05050102010706020507" pitchFamily="18" charset="2"/>
                <a:cs typeface="Times New Roman" pitchFamily="18" charset="0"/>
              </a:rPr>
              <a:t></a:t>
            </a:r>
            <a:r>
              <a:rPr lang="en-US" altLang="en-US" sz="2403" baseline="-25000">
                <a:solidFill>
                  <a:srgbClr val="FFFFFF"/>
                </a:solidFill>
                <a:latin typeface="Symbol" panose="05050102010706020507" pitchFamily="18" charset="2"/>
                <a:cs typeface="Times New Roman" pitchFamily="18" charset="0"/>
              </a:rPr>
              <a:t>3</a:t>
            </a:r>
            <a:r>
              <a:rPr lang="en-US" altLang="en-US" sz="2403">
                <a:solidFill>
                  <a:srgbClr val="FFFFFF"/>
                </a:solidFill>
                <a:latin typeface="Symbol" panose="05050102010706020507" pitchFamily="18" charset="2"/>
                <a:cs typeface="Times New Roman" pitchFamily="18" charset="0"/>
              </a:rPr>
              <a:t>=2</a:t>
            </a:r>
          </a:p>
        </p:txBody>
      </p:sp>
      <p:sp>
        <p:nvSpPr>
          <p:cNvPr id="10" name="Rectangle 9"/>
          <p:cNvSpPr>
            <a:spLocks noChangeArrowheads="1"/>
          </p:cNvSpPr>
          <p:nvPr/>
        </p:nvSpPr>
        <p:spPr bwMode="auto">
          <a:xfrm>
            <a:off x="2375291" y="3260704"/>
            <a:ext cx="780547" cy="407086"/>
          </a:xfrm>
          <a:prstGeom prst="rect">
            <a:avLst/>
          </a:prstGeom>
          <a:solidFill>
            <a:srgbClr val="00B0F0"/>
          </a:solidFill>
          <a:ln>
            <a:noFill/>
          </a:ln>
          <a:effectLst/>
        </p:spPr>
        <p:txBody>
          <a:bodyPr lIns="73127" tIns="36563" rIns="73127" bIns="36563">
            <a:spAutoFit/>
          </a:bodyPr>
          <a:lstStyle>
            <a:lvl1pPr defTabSz="585788">
              <a:defRPr sz="3200" b="1">
                <a:solidFill>
                  <a:srgbClr val="FAFD00"/>
                </a:solidFill>
                <a:latin typeface="Arial" panose="020B0604020202020204" pitchFamily="34" charset="0"/>
              </a:defRPr>
            </a:lvl1pPr>
            <a:lvl2pPr marL="742950" indent="-285750" defTabSz="585788">
              <a:defRPr sz="3200" b="1">
                <a:solidFill>
                  <a:srgbClr val="FAFD00"/>
                </a:solidFill>
                <a:latin typeface="Arial" panose="020B0604020202020204" pitchFamily="34" charset="0"/>
              </a:defRPr>
            </a:lvl2pPr>
            <a:lvl3pPr marL="1143000" indent="-228600" defTabSz="585788">
              <a:defRPr sz="3200" b="1">
                <a:solidFill>
                  <a:srgbClr val="FAFD00"/>
                </a:solidFill>
                <a:latin typeface="Arial" panose="020B0604020202020204" pitchFamily="34" charset="0"/>
              </a:defRPr>
            </a:lvl3pPr>
            <a:lvl4pPr marL="1600200" indent="-228600" defTabSz="585788">
              <a:defRPr sz="3200" b="1">
                <a:solidFill>
                  <a:srgbClr val="FAFD00"/>
                </a:solidFill>
                <a:latin typeface="Arial" panose="020B0604020202020204" pitchFamily="34" charset="0"/>
              </a:defRPr>
            </a:lvl4pPr>
            <a:lvl5pPr marL="2057400" indent="-228600" defTabSz="585788">
              <a:defRPr sz="3200" b="1">
                <a:solidFill>
                  <a:srgbClr val="FAFD00"/>
                </a:solidFill>
                <a:latin typeface="Arial" panose="020B0604020202020204" pitchFamily="34" charset="0"/>
              </a:defRPr>
            </a:lvl5pPr>
            <a:lvl6pPr marL="2514600" indent="-228600" defTabSz="585788" eaLnBrk="0" fontAlgn="base" hangingPunct="0">
              <a:spcBef>
                <a:spcPct val="0"/>
              </a:spcBef>
              <a:spcAft>
                <a:spcPct val="0"/>
              </a:spcAft>
              <a:defRPr sz="3200" b="1">
                <a:solidFill>
                  <a:srgbClr val="FAFD00"/>
                </a:solidFill>
                <a:latin typeface="Arial" panose="020B0604020202020204" pitchFamily="34" charset="0"/>
              </a:defRPr>
            </a:lvl6pPr>
            <a:lvl7pPr marL="2971800" indent="-228600" defTabSz="585788" eaLnBrk="0" fontAlgn="base" hangingPunct="0">
              <a:spcBef>
                <a:spcPct val="0"/>
              </a:spcBef>
              <a:spcAft>
                <a:spcPct val="0"/>
              </a:spcAft>
              <a:defRPr sz="3200" b="1">
                <a:solidFill>
                  <a:srgbClr val="FAFD00"/>
                </a:solidFill>
                <a:latin typeface="Arial" panose="020B0604020202020204" pitchFamily="34" charset="0"/>
              </a:defRPr>
            </a:lvl7pPr>
            <a:lvl8pPr marL="3429000" indent="-228600" defTabSz="585788" eaLnBrk="0" fontAlgn="base" hangingPunct="0">
              <a:spcBef>
                <a:spcPct val="0"/>
              </a:spcBef>
              <a:spcAft>
                <a:spcPct val="0"/>
              </a:spcAft>
              <a:defRPr sz="3200" b="1">
                <a:solidFill>
                  <a:srgbClr val="FAFD00"/>
                </a:solidFill>
                <a:latin typeface="Arial" panose="020B0604020202020204" pitchFamily="34" charset="0"/>
              </a:defRPr>
            </a:lvl8pPr>
            <a:lvl9pPr marL="3886200" indent="-228600" defTabSz="585788"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r>
              <a:rPr lang="en-US" altLang="en-US" sz="2403">
                <a:solidFill>
                  <a:srgbClr val="FFFFFF"/>
                </a:solidFill>
                <a:latin typeface="Symbol" panose="05050102010706020507" pitchFamily="18" charset="2"/>
                <a:cs typeface="Times New Roman" pitchFamily="18" charset="0"/>
              </a:rPr>
              <a:t></a:t>
            </a:r>
            <a:r>
              <a:rPr lang="en-US" altLang="en-US" sz="2403" baseline="-25000">
                <a:solidFill>
                  <a:srgbClr val="FFFFFF"/>
                </a:solidFill>
                <a:latin typeface="Symbol" panose="05050102010706020507" pitchFamily="18" charset="2"/>
                <a:cs typeface="Times New Roman" pitchFamily="18" charset="0"/>
              </a:rPr>
              <a:t>4</a:t>
            </a:r>
            <a:r>
              <a:rPr lang="en-US" altLang="en-US" sz="2403">
                <a:solidFill>
                  <a:srgbClr val="FFFFFF"/>
                </a:solidFill>
                <a:latin typeface="Symbol" panose="05050102010706020507" pitchFamily="18" charset="2"/>
                <a:cs typeface="Times New Roman" pitchFamily="18" charset="0"/>
              </a:rPr>
              <a:t>=1</a:t>
            </a:r>
          </a:p>
        </p:txBody>
      </p:sp>
      <p:sp>
        <p:nvSpPr>
          <p:cNvPr id="11" name="Line 10"/>
          <p:cNvSpPr>
            <a:spLocks noChangeShapeType="1"/>
          </p:cNvSpPr>
          <p:nvPr/>
        </p:nvSpPr>
        <p:spPr bwMode="auto">
          <a:xfrm>
            <a:off x="919117" y="3710591"/>
            <a:ext cx="2785168" cy="0"/>
          </a:xfrm>
          <a:prstGeom prst="line">
            <a:avLst/>
          </a:prstGeom>
          <a:noFill/>
          <a:ln w="508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solidFill>
                <a:srgbClr val="FAFD00"/>
              </a:solidFill>
              <a:latin typeface="Arial" panose="020B0604020202020204" pitchFamily="34" charset="0"/>
              <a:cs typeface="Times New Roman" pitchFamily="18" charset="0"/>
            </a:endParaRPr>
          </a:p>
        </p:txBody>
      </p:sp>
      <p:sp>
        <p:nvSpPr>
          <p:cNvPr id="12" name="Line 11"/>
          <p:cNvSpPr>
            <a:spLocks noChangeShapeType="1"/>
          </p:cNvSpPr>
          <p:nvPr/>
        </p:nvSpPr>
        <p:spPr bwMode="auto">
          <a:xfrm>
            <a:off x="957270" y="2661383"/>
            <a:ext cx="2785168" cy="0"/>
          </a:xfrm>
          <a:prstGeom prst="line">
            <a:avLst/>
          </a:prstGeom>
          <a:noFill/>
          <a:ln w="508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solidFill>
                <a:srgbClr val="FAFD00"/>
              </a:solidFill>
              <a:latin typeface="Arial" panose="020B0604020202020204" pitchFamily="34" charset="0"/>
              <a:cs typeface="Times New Roman" pitchFamily="18" charset="0"/>
            </a:endParaRPr>
          </a:p>
        </p:txBody>
      </p:sp>
      <p:sp>
        <p:nvSpPr>
          <p:cNvPr id="13" name="Line 12"/>
          <p:cNvSpPr>
            <a:spLocks noChangeShapeType="1"/>
          </p:cNvSpPr>
          <p:nvPr/>
        </p:nvSpPr>
        <p:spPr bwMode="auto">
          <a:xfrm flipV="1">
            <a:off x="3189220" y="1564486"/>
            <a:ext cx="0" cy="2594403"/>
          </a:xfrm>
          <a:prstGeom prst="line">
            <a:avLst/>
          </a:prstGeom>
          <a:noFill/>
          <a:ln w="508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solidFill>
                <a:srgbClr val="FAFD00"/>
              </a:solidFill>
              <a:latin typeface="Arial" panose="020B0604020202020204" pitchFamily="34" charset="0"/>
              <a:cs typeface="Times New Roman" pitchFamily="18" charset="0"/>
            </a:endParaRPr>
          </a:p>
        </p:txBody>
      </p:sp>
      <p:sp>
        <p:nvSpPr>
          <p:cNvPr id="14" name="Line 13"/>
          <p:cNvSpPr>
            <a:spLocks noChangeShapeType="1"/>
          </p:cNvSpPr>
          <p:nvPr/>
        </p:nvSpPr>
        <p:spPr bwMode="auto">
          <a:xfrm flipV="1">
            <a:off x="2082783" y="1583562"/>
            <a:ext cx="0" cy="2594403"/>
          </a:xfrm>
          <a:prstGeom prst="line">
            <a:avLst/>
          </a:prstGeom>
          <a:noFill/>
          <a:ln w="508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solidFill>
                <a:srgbClr val="FAFD00"/>
              </a:solidFill>
              <a:latin typeface="Arial" panose="020B0604020202020204" pitchFamily="34" charset="0"/>
              <a:cs typeface="Times New Roman" pitchFamily="18" charset="0"/>
            </a:endParaRPr>
          </a:p>
        </p:txBody>
      </p:sp>
      <p:graphicFrame>
        <p:nvGraphicFramePr>
          <p:cNvPr id="15" name="Object 14"/>
          <p:cNvGraphicFramePr>
            <a:graphicFrameLocks noChangeAspect="1"/>
          </p:cNvGraphicFramePr>
          <p:nvPr>
            <p:extLst>
              <p:ext uri="{D42A27DB-BD31-4B8C-83A1-F6EECF244321}">
                <p14:modId xmlns:p14="http://schemas.microsoft.com/office/powerpoint/2010/main" val="1176816314"/>
              </p:ext>
            </p:extLst>
          </p:nvPr>
        </p:nvGraphicFramePr>
        <p:xfrm>
          <a:off x="4422835" y="1286286"/>
          <a:ext cx="2823321" cy="3273208"/>
        </p:xfrm>
        <a:graphic>
          <a:graphicData uri="http://schemas.openxmlformats.org/presentationml/2006/ole">
            <mc:AlternateContent xmlns:mc="http://schemas.openxmlformats.org/markup-compatibility/2006">
              <mc:Choice xmlns:v="urn:schemas-microsoft-com:vml" Requires="v">
                <p:oleObj name="Equation" r:id="rId3" imgW="812447" imgH="939392" progId="Equation.3">
                  <p:embed/>
                </p:oleObj>
              </mc:Choice>
              <mc:Fallback>
                <p:oleObj name="Equation" r:id="rId3" imgW="812447" imgH="939392" progId="Equation.3">
                  <p:embed/>
                  <p:pic>
                    <p:nvPicPr>
                      <p:cNvPr id="25614" name="Object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22835" y="1286286"/>
                        <a:ext cx="2823321" cy="3273208"/>
                      </a:xfrm>
                      <a:prstGeom prst="rect">
                        <a:avLst/>
                      </a:prstGeom>
                      <a:solidFill>
                        <a:schemeClr val="bg1"/>
                      </a:solidFill>
                      <a:ln>
                        <a:noFill/>
                      </a:ln>
                      <a:effectLst/>
                    </p:spPr>
                  </p:pic>
                </p:oleObj>
              </mc:Fallback>
            </mc:AlternateContent>
          </a:graphicData>
        </a:graphic>
      </p:graphicFrame>
      <p:sp>
        <p:nvSpPr>
          <p:cNvPr id="16" name="Line 13"/>
          <p:cNvSpPr>
            <a:spLocks noChangeShapeType="1"/>
          </p:cNvSpPr>
          <p:nvPr/>
        </p:nvSpPr>
        <p:spPr bwMode="auto">
          <a:xfrm flipV="1">
            <a:off x="906399" y="1262440"/>
            <a:ext cx="3039522" cy="2995010"/>
          </a:xfrm>
          <a:prstGeom prst="line">
            <a:avLst/>
          </a:prstGeom>
          <a:noFill/>
          <a:ln w="508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solidFill>
                <a:srgbClr val="FAFD00"/>
              </a:solidFill>
              <a:latin typeface="Arial" panose="020B0604020202020204" pitchFamily="34" charset="0"/>
              <a:cs typeface="Times New Roman" pitchFamily="18" charset="0"/>
            </a:endParaRPr>
          </a:p>
        </p:txBody>
      </p:sp>
      <p:sp>
        <p:nvSpPr>
          <p:cNvPr id="17" name="Rectangle 1029"/>
          <p:cNvSpPr>
            <a:spLocks noChangeArrowheads="1"/>
          </p:cNvSpPr>
          <p:nvPr/>
        </p:nvSpPr>
        <p:spPr bwMode="auto">
          <a:xfrm>
            <a:off x="530357" y="5388208"/>
            <a:ext cx="8376327" cy="977444"/>
          </a:xfrm>
          <a:prstGeom prst="rect">
            <a:avLst/>
          </a:prstGeom>
          <a:noFill/>
          <a:ln>
            <a:noFill/>
          </a:ln>
          <a:effectLst/>
          <a:extLst>
            <a:ext uri="{909E8E84-426E-40DD-AFC4-6F175D3DCCD1}">
              <a14:hiddenFill xmlns:a14="http://schemas.microsoft.com/office/drawing/2010/main">
                <a:solidFill>
                  <a:srgbClr val="00279F"/>
                </a:solidFill>
              </a14:hiddenFill>
            </a:ext>
            <a:ext uri="{91240B29-F687-4F45-9708-019B960494DF}">
              <a14:hiddenLine xmlns:a14="http://schemas.microsoft.com/office/drawing/2010/main" w="50800">
                <a:solidFill>
                  <a:srgbClr val="FC0128"/>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614" tIns="44512" rIns="90614" bIns="44512">
            <a:spAutoFit/>
          </a:bodyP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r>
              <a:rPr lang="en-US" altLang="en-US" sz="3204" dirty="0">
                <a:solidFill>
                  <a:schemeClr val="tx1"/>
                </a:solidFill>
                <a:cs typeface="Times New Roman" pitchFamily="18" charset="0"/>
              </a:rPr>
              <a:t>A practical problem has many more unknowns but the idea is the same!</a:t>
            </a:r>
          </a:p>
        </p:txBody>
      </p:sp>
    </p:spTree>
    <p:extLst>
      <p:ext uri="{BB962C8B-B14F-4D97-AF65-F5344CB8AC3E}">
        <p14:creationId xmlns:p14="http://schemas.microsoft.com/office/powerpoint/2010/main" val="2125922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Trial &amp; Error</a:t>
            </a:r>
          </a:p>
        </p:txBody>
      </p:sp>
      <p:sp>
        <p:nvSpPr>
          <p:cNvPr id="81" name="Line 102"/>
          <p:cNvSpPr>
            <a:spLocks noChangeShapeType="1"/>
          </p:cNvSpPr>
          <p:nvPr/>
        </p:nvSpPr>
        <p:spPr bwMode="auto">
          <a:xfrm flipH="1" flipV="1">
            <a:off x="3750118" y="5031606"/>
            <a:ext cx="843724" cy="0"/>
          </a:xfrm>
          <a:prstGeom prst="line">
            <a:avLst/>
          </a:prstGeom>
          <a:noFill/>
          <a:ln w="508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Arial" panose="020B0604020202020204" pitchFamily="34" charset="0"/>
              <a:cs typeface="Times New Roman" pitchFamily="18" charset="0"/>
            </a:endParaRPr>
          </a:p>
        </p:txBody>
      </p:sp>
      <p:sp>
        <p:nvSpPr>
          <p:cNvPr id="82" name="Rectangle 26"/>
          <p:cNvSpPr>
            <a:spLocks noChangeArrowheads="1"/>
          </p:cNvSpPr>
          <p:nvPr/>
        </p:nvSpPr>
        <p:spPr bwMode="auto">
          <a:xfrm>
            <a:off x="5584299" y="2944771"/>
            <a:ext cx="1323668" cy="1230045"/>
          </a:xfrm>
          <a:prstGeom prst="rect">
            <a:avLst/>
          </a:prstGeom>
          <a:solidFill>
            <a:schemeClr val="hlink"/>
          </a:solidFill>
          <a:ln w="50800">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endParaRPr lang="en-US" altLang="en-US" sz="3204">
              <a:solidFill>
                <a:schemeClr val="tx1"/>
              </a:solidFill>
              <a:cs typeface="Times New Roman" pitchFamily="18" charset="0"/>
            </a:endParaRPr>
          </a:p>
        </p:txBody>
      </p:sp>
      <p:sp>
        <p:nvSpPr>
          <p:cNvPr id="83" name="Line 27"/>
          <p:cNvSpPr>
            <a:spLocks noChangeShapeType="1"/>
          </p:cNvSpPr>
          <p:nvPr/>
        </p:nvSpPr>
        <p:spPr bwMode="auto">
          <a:xfrm flipH="1" flipV="1">
            <a:off x="6238491" y="2965979"/>
            <a:ext cx="0" cy="1217321"/>
          </a:xfrm>
          <a:prstGeom prst="line">
            <a:avLst/>
          </a:prstGeom>
          <a:noFill/>
          <a:ln w="508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Arial" panose="020B0604020202020204" pitchFamily="34" charset="0"/>
              <a:cs typeface="Times New Roman" pitchFamily="18" charset="0"/>
            </a:endParaRPr>
          </a:p>
        </p:txBody>
      </p:sp>
      <p:sp>
        <p:nvSpPr>
          <p:cNvPr id="84" name="Line 28"/>
          <p:cNvSpPr>
            <a:spLocks noChangeShapeType="1"/>
          </p:cNvSpPr>
          <p:nvPr/>
        </p:nvSpPr>
        <p:spPr bwMode="auto">
          <a:xfrm>
            <a:off x="5607226" y="3558379"/>
            <a:ext cx="1285456" cy="0"/>
          </a:xfrm>
          <a:prstGeom prst="line">
            <a:avLst/>
          </a:prstGeom>
          <a:noFill/>
          <a:ln w="508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Arial" panose="020B0604020202020204" pitchFamily="34" charset="0"/>
              <a:cs typeface="Times New Roman" pitchFamily="18" charset="0"/>
            </a:endParaRPr>
          </a:p>
        </p:txBody>
      </p:sp>
      <p:sp>
        <p:nvSpPr>
          <p:cNvPr id="85" name="Rectangle 29"/>
          <p:cNvSpPr>
            <a:spLocks noChangeArrowheads="1"/>
          </p:cNvSpPr>
          <p:nvPr/>
        </p:nvSpPr>
        <p:spPr bwMode="auto">
          <a:xfrm>
            <a:off x="5627097" y="3178056"/>
            <a:ext cx="460074" cy="352047"/>
          </a:xfrm>
          <a:prstGeom prst="rect">
            <a:avLst/>
          </a:prstGeom>
          <a:solidFill>
            <a:schemeClr val="hlink"/>
          </a:solidFill>
          <a:ln>
            <a:noFill/>
          </a:ln>
          <a:effectLst/>
          <a:extLst>
            <a:ext uri="{91240B29-F687-4F45-9708-019B960494DF}">
              <a14:hiddenLine xmlns:a14="http://schemas.microsoft.com/office/drawing/2010/main" w="50800">
                <a:solidFill>
                  <a:srgbClr val="8901F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3127" tIns="36563" rIns="73127" bIns="36563">
            <a:spAutoFit/>
          </a:bodyPr>
          <a:lstStyle>
            <a:lvl1pPr defTabSz="585788">
              <a:defRPr sz="3200" b="1">
                <a:solidFill>
                  <a:srgbClr val="FAFD00"/>
                </a:solidFill>
                <a:latin typeface="Arial" panose="020B0604020202020204" pitchFamily="34" charset="0"/>
              </a:defRPr>
            </a:lvl1pPr>
            <a:lvl2pPr marL="742950" indent="-285750" defTabSz="585788">
              <a:defRPr sz="3200" b="1">
                <a:solidFill>
                  <a:srgbClr val="FAFD00"/>
                </a:solidFill>
                <a:latin typeface="Arial" panose="020B0604020202020204" pitchFamily="34" charset="0"/>
              </a:defRPr>
            </a:lvl2pPr>
            <a:lvl3pPr marL="1143000" indent="-228600" defTabSz="585788">
              <a:defRPr sz="3200" b="1">
                <a:solidFill>
                  <a:srgbClr val="FAFD00"/>
                </a:solidFill>
                <a:latin typeface="Arial" panose="020B0604020202020204" pitchFamily="34" charset="0"/>
              </a:defRPr>
            </a:lvl3pPr>
            <a:lvl4pPr marL="1600200" indent="-228600" defTabSz="585788">
              <a:defRPr sz="3200" b="1">
                <a:solidFill>
                  <a:srgbClr val="FAFD00"/>
                </a:solidFill>
                <a:latin typeface="Arial" panose="020B0604020202020204" pitchFamily="34" charset="0"/>
              </a:defRPr>
            </a:lvl4pPr>
            <a:lvl5pPr marL="2057400" indent="-228600" defTabSz="585788">
              <a:defRPr sz="3200" b="1">
                <a:solidFill>
                  <a:srgbClr val="FAFD00"/>
                </a:solidFill>
                <a:latin typeface="Arial" panose="020B0604020202020204" pitchFamily="34" charset="0"/>
              </a:defRPr>
            </a:lvl5pPr>
            <a:lvl6pPr marL="2514600" indent="-228600" defTabSz="585788" eaLnBrk="0" fontAlgn="base" hangingPunct="0">
              <a:spcBef>
                <a:spcPct val="0"/>
              </a:spcBef>
              <a:spcAft>
                <a:spcPct val="0"/>
              </a:spcAft>
              <a:defRPr sz="3200" b="1">
                <a:solidFill>
                  <a:srgbClr val="FAFD00"/>
                </a:solidFill>
                <a:latin typeface="Arial" panose="020B0604020202020204" pitchFamily="34" charset="0"/>
              </a:defRPr>
            </a:lvl6pPr>
            <a:lvl7pPr marL="2971800" indent="-228600" defTabSz="585788" eaLnBrk="0" fontAlgn="base" hangingPunct="0">
              <a:spcBef>
                <a:spcPct val="0"/>
              </a:spcBef>
              <a:spcAft>
                <a:spcPct val="0"/>
              </a:spcAft>
              <a:defRPr sz="3200" b="1">
                <a:solidFill>
                  <a:srgbClr val="FAFD00"/>
                </a:solidFill>
                <a:latin typeface="Arial" panose="020B0604020202020204" pitchFamily="34" charset="0"/>
              </a:defRPr>
            </a:lvl7pPr>
            <a:lvl8pPr marL="3429000" indent="-228600" defTabSz="585788" eaLnBrk="0" fontAlgn="base" hangingPunct="0">
              <a:spcBef>
                <a:spcPct val="0"/>
              </a:spcBef>
              <a:spcAft>
                <a:spcPct val="0"/>
              </a:spcAft>
              <a:defRPr sz="3200" b="1">
                <a:solidFill>
                  <a:srgbClr val="FAFD00"/>
                </a:solidFill>
                <a:latin typeface="Arial" panose="020B0604020202020204" pitchFamily="34" charset="0"/>
              </a:defRPr>
            </a:lvl8pPr>
            <a:lvl9pPr marL="3886200" indent="-228600" defTabSz="585788"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r>
              <a:rPr lang="en-US" altLang="en-US" sz="2003">
                <a:solidFill>
                  <a:schemeClr val="tx1"/>
                </a:solidFill>
                <a:latin typeface="Symbol" panose="05050102010706020507" pitchFamily="18" charset="2"/>
                <a:cs typeface="Times New Roman" pitchFamily="18" charset="0"/>
              </a:rPr>
              <a:t>3</a:t>
            </a:r>
          </a:p>
        </p:txBody>
      </p:sp>
      <p:sp>
        <p:nvSpPr>
          <p:cNvPr id="86" name="Rectangle 30"/>
          <p:cNvSpPr>
            <a:spLocks noChangeArrowheads="1"/>
          </p:cNvSpPr>
          <p:nvPr/>
        </p:nvSpPr>
        <p:spPr bwMode="auto">
          <a:xfrm>
            <a:off x="6285875" y="3178056"/>
            <a:ext cx="463131" cy="352047"/>
          </a:xfrm>
          <a:prstGeom prst="rect">
            <a:avLst/>
          </a:prstGeom>
          <a:solidFill>
            <a:schemeClr val="hlink"/>
          </a:solidFill>
          <a:ln>
            <a:noFill/>
          </a:ln>
          <a:effectLst/>
          <a:extLst>
            <a:ext uri="{91240B29-F687-4F45-9708-019B960494DF}">
              <a14:hiddenLine xmlns:a14="http://schemas.microsoft.com/office/drawing/2010/main" w="50800">
                <a:solidFill>
                  <a:srgbClr val="8901F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3127" tIns="36563" rIns="73127" bIns="36563">
            <a:spAutoFit/>
          </a:bodyPr>
          <a:lstStyle>
            <a:lvl1pPr defTabSz="585788">
              <a:defRPr sz="3200" b="1">
                <a:solidFill>
                  <a:srgbClr val="FAFD00"/>
                </a:solidFill>
                <a:latin typeface="Arial" panose="020B0604020202020204" pitchFamily="34" charset="0"/>
              </a:defRPr>
            </a:lvl1pPr>
            <a:lvl2pPr marL="742950" indent="-285750" defTabSz="585788">
              <a:defRPr sz="3200" b="1">
                <a:solidFill>
                  <a:srgbClr val="FAFD00"/>
                </a:solidFill>
                <a:latin typeface="Arial" panose="020B0604020202020204" pitchFamily="34" charset="0"/>
              </a:defRPr>
            </a:lvl2pPr>
            <a:lvl3pPr marL="1143000" indent="-228600" defTabSz="585788">
              <a:defRPr sz="3200" b="1">
                <a:solidFill>
                  <a:srgbClr val="FAFD00"/>
                </a:solidFill>
                <a:latin typeface="Arial" panose="020B0604020202020204" pitchFamily="34" charset="0"/>
              </a:defRPr>
            </a:lvl3pPr>
            <a:lvl4pPr marL="1600200" indent="-228600" defTabSz="585788">
              <a:defRPr sz="3200" b="1">
                <a:solidFill>
                  <a:srgbClr val="FAFD00"/>
                </a:solidFill>
                <a:latin typeface="Arial" panose="020B0604020202020204" pitchFamily="34" charset="0"/>
              </a:defRPr>
            </a:lvl4pPr>
            <a:lvl5pPr marL="2057400" indent="-228600" defTabSz="585788">
              <a:defRPr sz="3200" b="1">
                <a:solidFill>
                  <a:srgbClr val="FAFD00"/>
                </a:solidFill>
                <a:latin typeface="Arial" panose="020B0604020202020204" pitchFamily="34" charset="0"/>
              </a:defRPr>
            </a:lvl5pPr>
            <a:lvl6pPr marL="2514600" indent="-228600" defTabSz="585788" eaLnBrk="0" fontAlgn="base" hangingPunct="0">
              <a:spcBef>
                <a:spcPct val="0"/>
              </a:spcBef>
              <a:spcAft>
                <a:spcPct val="0"/>
              </a:spcAft>
              <a:defRPr sz="3200" b="1">
                <a:solidFill>
                  <a:srgbClr val="FAFD00"/>
                </a:solidFill>
                <a:latin typeface="Arial" panose="020B0604020202020204" pitchFamily="34" charset="0"/>
              </a:defRPr>
            </a:lvl6pPr>
            <a:lvl7pPr marL="2971800" indent="-228600" defTabSz="585788" eaLnBrk="0" fontAlgn="base" hangingPunct="0">
              <a:spcBef>
                <a:spcPct val="0"/>
              </a:spcBef>
              <a:spcAft>
                <a:spcPct val="0"/>
              </a:spcAft>
              <a:defRPr sz="3200" b="1">
                <a:solidFill>
                  <a:srgbClr val="FAFD00"/>
                </a:solidFill>
                <a:latin typeface="Arial" panose="020B0604020202020204" pitchFamily="34" charset="0"/>
              </a:defRPr>
            </a:lvl7pPr>
            <a:lvl8pPr marL="3429000" indent="-228600" defTabSz="585788" eaLnBrk="0" fontAlgn="base" hangingPunct="0">
              <a:spcBef>
                <a:spcPct val="0"/>
              </a:spcBef>
              <a:spcAft>
                <a:spcPct val="0"/>
              </a:spcAft>
              <a:defRPr sz="3200" b="1">
                <a:solidFill>
                  <a:srgbClr val="FAFD00"/>
                </a:solidFill>
                <a:latin typeface="Arial" panose="020B0604020202020204" pitchFamily="34" charset="0"/>
              </a:defRPr>
            </a:lvl8pPr>
            <a:lvl9pPr marL="3886200" indent="-228600" defTabSz="585788"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r>
              <a:rPr lang="en-US" altLang="en-US" sz="2003">
                <a:solidFill>
                  <a:schemeClr val="tx1"/>
                </a:solidFill>
                <a:latin typeface="Symbol" panose="05050102010706020507" pitchFamily="18" charset="2"/>
                <a:cs typeface="Times New Roman" pitchFamily="18" charset="0"/>
              </a:rPr>
              <a:t>2</a:t>
            </a:r>
          </a:p>
        </p:txBody>
      </p:sp>
      <p:sp>
        <p:nvSpPr>
          <p:cNvPr id="87" name="Rectangle 31"/>
          <p:cNvSpPr>
            <a:spLocks noChangeArrowheads="1"/>
          </p:cNvSpPr>
          <p:nvPr/>
        </p:nvSpPr>
        <p:spPr bwMode="auto">
          <a:xfrm>
            <a:off x="5643911" y="3769042"/>
            <a:ext cx="463131" cy="349220"/>
          </a:xfrm>
          <a:prstGeom prst="rect">
            <a:avLst/>
          </a:prstGeom>
          <a:solidFill>
            <a:schemeClr val="hlink"/>
          </a:solidFill>
          <a:ln>
            <a:noFill/>
          </a:ln>
          <a:effectLst/>
          <a:extLst>
            <a:ext uri="{91240B29-F687-4F45-9708-019B960494DF}">
              <a14:hiddenLine xmlns:a14="http://schemas.microsoft.com/office/drawing/2010/main" w="50800">
                <a:solidFill>
                  <a:srgbClr val="8901F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3127" tIns="36563" rIns="73127" bIns="36563">
            <a:spAutoFit/>
          </a:bodyPr>
          <a:lstStyle>
            <a:lvl1pPr defTabSz="585788">
              <a:defRPr sz="3200" b="1">
                <a:solidFill>
                  <a:srgbClr val="FAFD00"/>
                </a:solidFill>
                <a:latin typeface="Arial" panose="020B0604020202020204" pitchFamily="34" charset="0"/>
              </a:defRPr>
            </a:lvl1pPr>
            <a:lvl2pPr marL="742950" indent="-285750" defTabSz="585788">
              <a:defRPr sz="3200" b="1">
                <a:solidFill>
                  <a:srgbClr val="FAFD00"/>
                </a:solidFill>
                <a:latin typeface="Arial" panose="020B0604020202020204" pitchFamily="34" charset="0"/>
              </a:defRPr>
            </a:lvl2pPr>
            <a:lvl3pPr marL="1143000" indent="-228600" defTabSz="585788">
              <a:defRPr sz="3200" b="1">
                <a:solidFill>
                  <a:srgbClr val="FAFD00"/>
                </a:solidFill>
                <a:latin typeface="Arial" panose="020B0604020202020204" pitchFamily="34" charset="0"/>
              </a:defRPr>
            </a:lvl3pPr>
            <a:lvl4pPr marL="1600200" indent="-228600" defTabSz="585788">
              <a:defRPr sz="3200" b="1">
                <a:solidFill>
                  <a:srgbClr val="FAFD00"/>
                </a:solidFill>
                <a:latin typeface="Arial" panose="020B0604020202020204" pitchFamily="34" charset="0"/>
              </a:defRPr>
            </a:lvl4pPr>
            <a:lvl5pPr marL="2057400" indent="-228600" defTabSz="585788">
              <a:defRPr sz="3200" b="1">
                <a:solidFill>
                  <a:srgbClr val="FAFD00"/>
                </a:solidFill>
                <a:latin typeface="Arial" panose="020B0604020202020204" pitchFamily="34" charset="0"/>
              </a:defRPr>
            </a:lvl5pPr>
            <a:lvl6pPr marL="2514600" indent="-228600" defTabSz="585788" eaLnBrk="0" fontAlgn="base" hangingPunct="0">
              <a:spcBef>
                <a:spcPct val="0"/>
              </a:spcBef>
              <a:spcAft>
                <a:spcPct val="0"/>
              </a:spcAft>
              <a:defRPr sz="3200" b="1">
                <a:solidFill>
                  <a:srgbClr val="FAFD00"/>
                </a:solidFill>
                <a:latin typeface="Arial" panose="020B0604020202020204" pitchFamily="34" charset="0"/>
              </a:defRPr>
            </a:lvl6pPr>
            <a:lvl7pPr marL="2971800" indent="-228600" defTabSz="585788" eaLnBrk="0" fontAlgn="base" hangingPunct="0">
              <a:spcBef>
                <a:spcPct val="0"/>
              </a:spcBef>
              <a:spcAft>
                <a:spcPct val="0"/>
              </a:spcAft>
              <a:defRPr sz="3200" b="1">
                <a:solidFill>
                  <a:srgbClr val="FAFD00"/>
                </a:solidFill>
                <a:latin typeface="Arial" panose="020B0604020202020204" pitchFamily="34" charset="0"/>
              </a:defRPr>
            </a:lvl7pPr>
            <a:lvl8pPr marL="3429000" indent="-228600" defTabSz="585788" eaLnBrk="0" fontAlgn="base" hangingPunct="0">
              <a:spcBef>
                <a:spcPct val="0"/>
              </a:spcBef>
              <a:spcAft>
                <a:spcPct val="0"/>
              </a:spcAft>
              <a:defRPr sz="3200" b="1">
                <a:solidFill>
                  <a:srgbClr val="FAFD00"/>
                </a:solidFill>
                <a:latin typeface="Arial" panose="020B0604020202020204" pitchFamily="34" charset="0"/>
              </a:defRPr>
            </a:lvl8pPr>
            <a:lvl9pPr marL="3886200" indent="-228600" defTabSz="585788"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r>
              <a:rPr lang="en-US" altLang="en-US" sz="2003">
                <a:solidFill>
                  <a:schemeClr val="tx1"/>
                </a:solidFill>
                <a:latin typeface="Symbol" panose="05050102010706020507" pitchFamily="18" charset="2"/>
                <a:cs typeface="Times New Roman" pitchFamily="18" charset="0"/>
              </a:rPr>
              <a:t>3</a:t>
            </a:r>
          </a:p>
        </p:txBody>
      </p:sp>
      <p:sp>
        <p:nvSpPr>
          <p:cNvPr id="88" name="Rectangle 32"/>
          <p:cNvSpPr>
            <a:spLocks noChangeArrowheads="1"/>
          </p:cNvSpPr>
          <p:nvPr/>
        </p:nvSpPr>
        <p:spPr bwMode="auto">
          <a:xfrm>
            <a:off x="6285875" y="3769042"/>
            <a:ext cx="463131" cy="349220"/>
          </a:xfrm>
          <a:prstGeom prst="rect">
            <a:avLst/>
          </a:prstGeom>
          <a:solidFill>
            <a:schemeClr val="hlink"/>
          </a:solidFill>
          <a:ln>
            <a:noFill/>
          </a:ln>
          <a:effectLst/>
          <a:extLst>
            <a:ext uri="{91240B29-F687-4F45-9708-019B960494DF}">
              <a14:hiddenLine xmlns:a14="http://schemas.microsoft.com/office/drawing/2010/main" w="50800">
                <a:solidFill>
                  <a:srgbClr val="8901F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3127" tIns="36563" rIns="73127" bIns="36563">
            <a:spAutoFit/>
          </a:bodyPr>
          <a:lstStyle>
            <a:lvl1pPr defTabSz="585788">
              <a:defRPr sz="3200" b="1">
                <a:solidFill>
                  <a:srgbClr val="FAFD00"/>
                </a:solidFill>
                <a:latin typeface="Arial" panose="020B0604020202020204" pitchFamily="34" charset="0"/>
              </a:defRPr>
            </a:lvl1pPr>
            <a:lvl2pPr marL="742950" indent="-285750" defTabSz="585788">
              <a:defRPr sz="3200" b="1">
                <a:solidFill>
                  <a:srgbClr val="FAFD00"/>
                </a:solidFill>
                <a:latin typeface="Arial" panose="020B0604020202020204" pitchFamily="34" charset="0"/>
              </a:defRPr>
            </a:lvl2pPr>
            <a:lvl3pPr marL="1143000" indent="-228600" defTabSz="585788">
              <a:defRPr sz="3200" b="1">
                <a:solidFill>
                  <a:srgbClr val="FAFD00"/>
                </a:solidFill>
                <a:latin typeface="Arial" panose="020B0604020202020204" pitchFamily="34" charset="0"/>
              </a:defRPr>
            </a:lvl3pPr>
            <a:lvl4pPr marL="1600200" indent="-228600" defTabSz="585788">
              <a:defRPr sz="3200" b="1">
                <a:solidFill>
                  <a:srgbClr val="FAFD00"/>
                </a:solidFill>
                <a:latin typeface="Arial" panose="020B0604020202020204" pitchFamily="34" charset="0"/>
              </a:defRPr>
            </a:lvl4pPr>
            <a:lvl5pPr marL="2057400" indent="-228600" defTabSz="585788">
              <a:defRPr sz="3200" b="1">
                <a:solidFill>
                  <a:srgbClr val="FAFD00"/>
                </a:solidFill>
                <a:latin typeface="Arial" panose="020B0604020202020204" pitchFamily="34" charset="0"/>
              </a:defRPr>
            </a:lvl5pPr>
            <a:lvl6pPr marL="2514600" indent="-228600" defTabSz="585788" eaLnBrk="0" fontAlgn="base" hangingPunct="0">
              <a:spcBef>
                <a:spcPct val="0"/>
              </a:spcBef>
              <a:spcAft>
                <a:spcPct val="0"/>
              </a:spcAft>
              <a:defRPr sz="3200" b="1">
                <a:solidFill>
                  <a:srgbClr val="FAFD00"/>
                </a:solidFill>
                <a:latin typeface="Arial" panose="020B0604020202020204" pitchFamily="34" charset="0"/>
              </a:defRPr>
            </a:lvl6pPr>
            <a:lvl7pPr marL="2971800" indent="-228600" defTabSz="585788" eaLnBrk="0" fontAlgn="base" hangingPunct="0">
              <a:spcBef>
                <a:spcPct val="0"/>
              </a:spcBef>
              <a:spcAft>
                <a:spcPct val="0"/>
              </a:spcAft>
              <a:defRPr sz="3200" b="1">
                <a:solidFill>
                  <a:srgbClr val="FAFD00"/>
                </a:solidFill>
                <a:latin typeface="Arial" panose="020B0604020202020204" pitchFamily="34" charset="0"/>
              </a:defRPr>
            </a:lvl7pPr>
            <a:lvl8pPr marL="3429000" indent="-228600" defTabSz="585788" eaLnBrk="0" fontAlgn="base" hangingPunct="0">
              <a:spcBef>
                <a:spcPct val="0"/>
              </a:spcBef>
              <a:spcAft>
                <a:spcPct val="0"/>
              </a:spcAft>
              <a:defRPr sz="3200" b="1">
                <a:solidFill>
                  <a:srgbClr val="FAFD00"/>
                </a:solidFill>
                <a:latin typeface="Arial" panose="020B0604020202020204" pitchFamily="34" charset="0"/>
              </a:defRPr>
            </a:lvl8pPr>
            <a:lvl9pPr marL="3886200" indent="-228600" defTabSz="585788"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r>
              <a:rPr lang="en-US" altLang="en-US" sz="2003">
                <a:solidFill>
                  <a:schemeClr val="tx1"/>
                </a:solidFill>
                <a:latin typeface="Symbol" panose="05050102010706020507" pitchFamily="18" charset="2"/>
                <a:cs typeface="Times New Roman" pitchFamily="18" charset="0"/>
              </a:rPr>
              <a:t>2</a:t>
            </a:r>
          </a:p>
        </p:txBody>
      </p:sp>
      <p:sp>
        <p:nvSpPr>
          <p:cNvPr id="89" name="Rectangle 3"/>
          <p:cNvSpPr>
            <a:spLocks noChangeArrowheads="1"/>
          </p:cNvSpPr>
          <p:nvPr/>
        </p:nvSpPr>
        <p:spPr bwMode="auto">
          <a:xfrm>
            <a:off x="2206348" y="2933178"/>
            <a:ext cx="1323668" cy="1230045"/>
          </a:xfrm>
          <a:prstGeom prst="rect">
            <a:avLst/>
          </a:prstGeom>
          <a:solidFill>
            <a:srgbClr val="00B0F0"/>
          </a:solidFill>
          <a:ln w="50800">
            <a:solidFill>
              <a:srgbClr val="0070C0"/>
            </a:solidFill>
            <a:miter lim="800000"/>
            <a:headEnd/>
            <a:tailEnd/>
          </a:ln>
          <a:effectLst/>
        </p:spPr>
        <p:txBody>
          <a:bodyPr wrap="none" anchor="ct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endParaRPr lang="en-US" altLang="en-US" sz="3204">
              <a:solidFill>
                <a:schemeClr val="tx1"/>
              </a:solidFill>
              <a:cs typeface="Times New Roman" pitchFamily="18" charset="0"/>
            </a:endParaRPr>
          </a:p>
        </p:txBody>
      </p:sp>
      <p:sp>
        <p:nvSpPr>
          <p:cNvPr id="90" name="Line 4"/>
          <p:cNvSpPr>
            <a:spLocks noChangeShapeType="1"/>
          </p:cNvSpPr>
          <p:nvPr/>
        </p:nvSpPr>
        <p:spPr bwMode="auto">
          <a:xfrm flipH="1" flipV="1">
            <a:off x="2863596" y="2965979"/>
            <a:ext cx="0" cy="1217321"/>
          </a:xfrm>
          <a:prstGeom prst="line">
            <a:avLst/>
          </a:prstGeom>
          <a:noFill/>
          <a:ln w="508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Arial" panose="020B0604020202020204" pitchFamily="34" charset="0"/>
              <a:cs typeface="Times New Roman" pitchFamily="18" charset="0"/>
            </a:endParaRPr>
          </a:p>
        </p:txBody>
      </p:sp>
      <p:sp>
        <p:nvSpPr>
          <p:cNvPr id="91" name="Line 5"/>
          <p:cNvSpPr>
            <a:spLocks noChangeShapeType="1"/>
          </p:cNvSpPr>
          <p:nvPr/>
        </p:nvSpPr>
        <p:spPr bwMode="auto">
          <a:xfrm>
            <a:off x="2232332" y="3558379"/>
            <a:ext cx="1285456" cy="0"/>
          </a:xfrm>
          <a:prstGeom prst="line">
            <a:avLst/>
          </a:prstGeom>
          <a:noFill/>
          <a:ln w="508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Arial" panose="020B0604020202020204" pitchFamily="34" charset="0"/>
              <a:cs typeface="Times New Roman" pitchFamily="18" charset="0"/>
            </a:endParaRPr>
          </a:p>
        </p:txBody>
      </p:sp>
      <p:sp>
        <p:nvSpPr>
          <p:cNvPr id="92" name="Rectangle 6"/>
          <p:cNvSpPr>
            <a:spLocks noChangeArrowheads="1"/>
          </p:cNvSpPr>
          <p:nvPr/>
        </p:nvSpPr>
        <p:spPr bwMode="auto">
          <a:xfrm>
            <a:off x="2252204" y="3178056"/>
            <a:ext cx="463131" cy="352047"/>
          </a:xfrm>
          <a:prstGeom prst="rect">
            <a:avLst/>
          </a:prstGeom>
          <a:noFill/>
          <a:ln>
            <a:noFill/>
          </a:ln>
          <a:effectLst/>
        </p:spPr>
        <p:txBody>
          <a:bodyPr lIns="73127" tIns="36563" rIns="73127" bIns="36563">
            <a:spAutoFit/>
          </a:bodyPr>
          <a:lstStyle>
            <a:lvl1pPr defTabSz="585788">
              <a:defRPr sz="3200" b="1">
                <a:solidFill>
                  <a:srgbClr val="FAFD00"/>
                </a:solidFill>
                <a:latin typeface="Arial" panose="020B0604020202020204" pitchFamily="34" charset="0"/>
              </a:defRPr>
            </a:lvl1pPr>
            <a:lvl2pPr marL="742950" indent="-285750" defTabSz="585788">
              <a:defRPr sz="3200" b="1">
                <a:solidFill>
                  <a:srgbClr val="FAFD00"/>
                </a:solidFill>
                <a:latin typeface="Arial" panose="020B0604020202020204" pitchFamily="34" charset="0"/>
              </a:defRPr>
            </a:lvl2pPr>
            <a:lvl3pPr marL="1143000" indent="-228600" defTabSz="585788">
              <a:defRPr sz="3200" b="1">
                <a:solidFill>
                  <a:srgbClr val="FAFD00"/>
                </a:solidFill>
                <a:latin typeface="Arial" panose="020B0604020202020204" pitchFamily="34" charset="0"/>
              </a:defRPr>
            </a:lvl3pPr>
            <a:lvl4pPr marL="1600200" indent="-228600" defTabSz="585788">
              <a:defRPr sz="3200" b="1">
                <a:solidFill>
                  <a:srgbClr val="FAFD00"/>
                </a:solidFill>
                <a:latin typeface="Arial" panose="020B0604020202020204" pitchFamily="34" charset="0"/>
              </a:defRPr>
            </a:lvl4pPr>
            <a:lvl5pPr marL="2057400" indent="-228600" defTabSz="585788">
              <a:defRPr sz="3200" b="1">
                <a:solidFill>
                  <a:srgbClr val="FAFD00"/>
                </a:solidFill>
                <a:latin typeface="Arial" panose="020B0604020202020204" pitchFamily="34" charset="0"/>
              </a:defRPr>
            </a:lvl5pPr>
            <a:lvl6pPr marL="2514600" indent="-228600" defTabSz="585788" eaLnBrk="0" fontAlgn="base" hangingPunct="0">
              <a:spcBef>
                <a:spcPct val="0"/>
              </a:spcBef>
              <a:spcAft>
                <a:spcPct val="0"/>
              </a:spcAft>
              <a:defRPr sz="3200" b="1">
                <a:solidFill>
                  <a:srgbClr val="FAFD00"/>
                </a:solidFill>
                <a:latin typeface="Arial" panose="020B0604020202020204" pitchFamily="34" charset="0"/>
              </a:defRPr>
            </a:lvl6pPr>
            <a:lvl7pPr marL="2971800" indent="-228600" defTabSz="585788" eaLnBrk="0" fontAlgn="base" hangingPunct="0">
              <a:spcBef>
                <a:spcPct val="0"/>
              </a:spcBef>
              <a:spcAft>
                <a:spcPct val="0"/>
              </a:spcAft>
              <a:defRPr sz="3200" b="1">
                <a:solidFill>
                  <a:srgbClr val="FAFD00"/>
                </a:solidFill>
                <a:latin typeface="Arial" panose="020B0604020202020204" pitchFamily="34" charset="0"/>
              </a:defRPr>
            </a:lvl7pPr>
            <a:lvl8pPr marL="3429000" indent="-228600" defTabSz="585788" eaLnBrk="0" fontAlgn="base" hangingPunct="0">
              <a:spcBef>
                <a:spcPct val="0"/>
              </a:spcBef>
              <a:spcAft>
                <a:spcPct val="0"/>
              </a:spcAft>
              <a:defRPr sz="3200" b="1">
                <a:solidFill>
                  <a:srgbClr val="FAFD00"/>
                </a:solidFill>
                <a:latin typeface="Arial" panose="020B0604020202020204" pitchFamily="34" charset="0"/>
              </a:defRPr>
            </a:lvl8pPr>
            <a:lvl9pPr marL="3886200" indent="-228600" defTabSz="585788"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r>
              <a:rPr lang="en-US" altLang="en-US" sz="2003">
                <a:solidFill>
                  <a:schemeClr val="tx1"/>
                </a:solidFill>
                <a:latin typeface="Symbol" panose="05050102010706020507" pitchFamily="18" charset="2"/>
                <a:cs typeface="Times New Roman" pitchFamily="18" charset="0"/>
              </a:rPr>
              <a:t>4</a:t>
            </a:r>
          </a:p>
        </p:txBody>
      </p:sp>
      <p:sp>
        <p:nvSpPr>
          <p:cNvPr id="93" name="Rectangle 7"/>
          <p:cNvSpPr>
            <a:spLocks noChangeArrowheads="1"/>
          </p:cNvSpPr>
          <p:nvPr/>
        </p:nvSpPr>
        <p:spPr bwMode="auto">
          <a:xfrm>
            <a:off x="2912508" y="3178056"/>
            <a:ext cx="461602" cy="352047"/>
          </a:xfrm>
          <a:prstGeom prst="rect">
            <a:avLst/>
          </a:prstGeom>
          <a:noFill/>
          <a:ln>
            <a:noFill/>
          </a:ln>
          <a:effectLst/>
        </p:spPr>
        <p:txBody>
          <a:bodyPr lIns="73127" tIns="36563" rIns="73127" bIns="36563">
            <a:spAutoFit/>
          </a:bodyPr>
          <a:lstStyle>
            <a:lvl1pPr defTabSz="585788">
              <a:defRPr sz="3200" b="1">
                <a:solidFill>
                  <a:srgbClr val="FAFD00"/>
                </a:solidFill>
                <a:latin typeface="Arial" panose="020B0604020202020204" pitchFamily="34" charset="0"/>
              </a:defRPr>
            </a:lvl1pPr>
            <a:lvl2pPr marL="742950" indent="-285750" defTabSz="585788">
              <a:defRPr sz="3200" b="1">
                <a:solidFill>
                  <a:srgbClr val="FAFD00"/>
                </a:solidFill>
                <a:latin typeface="Arial" panose="020B0604020202020204" pitchFamily="34" charset="0"/>
              </a:defRPr>
            </a:lvl2pPr>
            <a:lvl3pPr marL="1143000" indent="-228600" defTabSz="585788">
              <a:defRPr sz="3200" b="1">
                <a:solidFill>
                  <a:srgbClr val="FAFD00"/>
                </a:solidFill>
                <a:latin typeface="Arial" panose="020B0604020202020204" pitchFamily="34" charset="0"/>
              </a:defRPr>
            </a:lvl3pPr>
            <a:lvl4pPr marL="1600200" indent="-228600" defTabSz="585788">
              <a:defRPr sz="3200" b="1">
                <a:solidFill>
                  <a:srgbClr val="FAFD00"/>
                </a:solidFill>
                <a:latin typeface="Arial" panose="020B0604020202020204" pitchFamily="34" charset="0"/>
              </a:defRPr>
            </a:lvl4pPr>
            <a:lvl5pPr marL="2057400" indent="-228600" defTabSz="585788">
              <a:defRPr sz="3200" b="1">
                <a:solidFill>
                  <a:srgbClr val="FAFD00"/>
                </a:solidFill>
                <a:latin typeface="Arial" panose="020B0604020202020204" pitchFamily="34" charset="0"/>
              </a:defRPr>
            </a:lvl5pPr>
            <a:lvl6pPr marL="2514600" indent="-228600" defTabSz="585788" eaLnBrk="0" fontAlgn="base" hangingPunct="0">
              <a:spcBef>
                <a:spcPct val="0"/>
              </a:spcBef>
              <a:spcAft>
                <a:spcPct val="0"/>
              </a:spcAft>
              <a:defRPr sz="3200" b="1">
                <a:solidFill>
                  <a:srgbClr val="FAFD00"/>
                </a:solidFill>
                <a:latin typeface="Arial" panose="020B0604020202020204" pitchFamily="34" charset="0"/>
              </a:defRPr>
            </a:lvl6pPr>
            <a:lvl7pPr marL="2971800" indent="-228600" defTabSz="585788" eaLnBrk="0" fontAlgn="base" hangingPunct="0">
              <a:spcBef>
                <a:spcPct val="0"/>
              </a:spcBef>
              <a:spcAft>
                <a:spcPct val="0"/>
              </a:spcAft>
              <a:defRPr sz="3200" b="1">
                <a:solidFill>
                  <a:srgbClr val="FAFD00"/>
                </a:solidFill>
                <a:latin typeface="Arial" panose="020B0604020202020204" pitchFamily="34" charset="0"/>
              </a:defRPr>
            </a:lvl7pPr>
            <a:lvl8pPr marL="3429000" indent="-228600" defTabSz="585788" eaLnBrk="0" fontAlgn="base" hangingPunct="0">
              <a:spcBef>
                <a:spcPct val="0"/>
              </a:spcBef>
              <a:spcAft>
                <a:spcPct val="0"/>
              </a:spcAft>
              <a:defRPr sz="3200" b="1">
                <a:solidFill>
                  <a:srgbClr val="FAFD00"/>
                </a:solidFill>
                <a:latin typeface="Arial" panose="020B0604020202020204" pitchFamily="34" charset="0"/>
              </a:defRPr>
            </a:lvl8pPr>
            <a:lvl9pPr marL="3886200" indent="-228600" defTabSz="585788"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r>
              <a:rPr lang="en-US" altLang="en-US" sz="2003">
                <a:solidFill>
                  <a:schemeClr val="tx1"/>
                </a:solidFill>
                <a:latin typeface="Symbol" panose="05050102010706020507" pitchFamily="18" charset="2"/>
                <a:cs typeface="Times New Roman" pitchFamily="18" charset="0"/>
              </a:rPr>
              <a:t>3</a:t>
            </a:r>
          </a:p>
        </p:txBody>
      </p:sp>
      <p:sp>
        <p:nvSpPr>
          <p:cNvPr id="94" name="Rectangle 8"/>
          <p:cNvSpPr>
            <a:spLocks noChangeArrowheads="1"/>
          </p:cNvSpPr>
          <p:nvPr/>
        </p:nvSpPr>
        <p:spPr bwMode="auto">
          <a:xfrm>
            <a:off x="2270544" y="3769042"/>
            <a:ext cx="461602" cy="349220"/>
          </a:xfrm>
          <a:prstGeom prst="rect">
            <a:avLst/>
          </a:prstGeom>
          <a:noFill/>
          <a:ln>
            <a:noFill/>
          </a:ln>
          <a:effectLst/>
        </p:spPr>
        <p:txBody>
          <a:bodyPr lIns="73127" tIns="36563" rIns="73127" bIns="36563">
            <a:spAutoFit/>
          </a:bodyPr>
          <a:lstStyle>
            <a:lvl1pPr defTabSz="585788">
              <a:defRPr sz="3200" b="1">
                <a:solidFill>
                  <a:srgbClr val="FAFD00"/>
                </a:solidFill>
                <a:latin typeface="Arial" panose="020B0604020202020204" pitchFamily="34" charset="0"/>
              </a:defRPr>
            </a:lvl1pPr>
            <a:lvl2pPr marL="742950" indent="-285750" defTabSz="585788">
              <a:defRPr sz="3200" b="1">
                <a:solidFill>
                  <a:srgbClr val="FAFD00"/>
                </a:solidFill>
                <a:latin typeface="Arial" panose="020B0604020202020204" pitchFamily="34" charset="0"/>
              </a:defRPr>
            </a:lvl2pPr>
            <a:lvl3pPr marL="1143000" indent="-228600" defTabSz="585788">
              <a:defRPr sz="3200" b="1">
                <a:solidFill>
                  <a:srgbClr val="FAFD00"/>
                </a:solidFill>
                <a:latin typeface="Arial" panose="020B0604020202020204" pitchFamily="34" charset="0"/>
              </a:defRPr>
            </a:lvl3pPr>
            <a:lvl4pPr marL="1600200" indent="-228600" defTabSz="585788">
              <a:defRPr sz="3200" b="1">
                <a:solidFill>
                  <a:srgbClr val="FAFD00"/>
                </a:solidFill>
                <a:latin typeface="Arial" panose="020B0604020202020204" pitchFamily="34" charset="0"/>
              </a:defRPr>
            </a:lvl4pPr>
            <a:lvl5pPr marL="2057400" indent="-228600" defTabSz="585788">
              <a:defRPr sz="3200" b="1">
                <a:solidFill>
                  <a:srgbClr val="FAFD00"/>
                </a:solidFill>
                <a:latin typeface="Arial" panose="020B0604020202020204" pitchFamily="34" charset="0"/>
              </a:defRPr>
            </a:lvl5pPr>
            <a:lvl6pPr marL="2514600" indent="-228600" defTabSz="585788" eaLnBrk="0" fontAlgn="base" hangingPunct="0">
              <a:spcBef>
                <a:spcPct val="0"/>
              </a:spcBef>
              <a:spcAft>
                <a:spcPct val="0"/>
              </a:spcAft>
              <a:defRPr sz="3200" b="1">
                <a:solidFill>
                  <a:srgbClr val="FAFD00"/>
                </a:solidFill>
                <a:latin typeface="Arial" panose="020B0604020202020204" pitchFamily="34" charset="0"/>
              </a:defRPr>
            </a:lvl6pPr>
            <a:lvl7pPr marL="2971800" indent="-228600" defTabSz="585788" eaLnBrk="0" fontAlgn="base" hangingPunct="0">
              <a:spcBef>
                <a:spcPct val="0"/>
              </a:spcBef>
              <a:spcAft>
                <a:spcPct val="0"/>
              </a:spcAft>
              <a:defRPr sz="3200" b="1">
                <a:solidFill>
                  <a:srgbClr val="FAFD00"/>
                </a:solidFill>
                <a:latin typeface="Arial" panose="020B0604020202020204" pitchFamily="34" charset="0"/>
              </a:defRPr>
            </a:lvl7pPr>
            <a:lvl8pPr marL="3429000" indent="-228600" defTabSz="585788" eaLnBrk="0" fontAlgn="base" hangingPunct="0">
              <a:spcBef>
                <a:spcPct val="0"/>
              </a:spcBef>
              <a:spcAft>
                <a:spcPct val="0"/>
              </a:spcAft>
              <a:defRPr sz="3200" b="1">
                <a:solidFill>
                  <a:srgbClr val="FAFD00"/>
                </a:solidFill>
                <a:latin typeface="Arial" panose="020B0604020202020204" pitchFamily="34" charset="0"/>
              </a:defRPr>
            </a:lvl8pPr>
            <a:lvl9pPr marL="3886200" indent="-228600" defTabSz="585788"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r>
              <a:rPr lang="en-US" altLang="en-US" sz="2003">
                <a:solidFill>
                  <a:schemeClr val="tx1"/>
                </a:solidFill>
                <a:latin typeface="Symbol" panose="05050102010706020507" pitchFamily="18" charset="2"/>
                <a:cs typeface="Times New Roman" pitchFamily="18" charset="0"/>
              </a:rPr>
              <a:t>2</a:t>
            </a:r>
          </a:p>
        </p:txBody>
      </p:sp>
      <p:sp>
        <p:nvSpPr>
          <p:cNvPr id="95" name="Rectangle 9"/>
          <p:cNvSpPr>
            <a:spLocks noChangeArrowheads="1"/>
          </p:cNvSpPr>
          <p:nvPr/>
        </p:nvSpPr>
        <p:spPr bwMode="auto">
          <a:xfrm>
            <a:off x="2912508" y="3769042"/>
            <a:ext cx="461602" cy="349220"/>
          </a:xfrm>
          <a:prstGeom prst="rect">
            <a:avLst/>
          </a:prstGeom>
          <a:noFill/>
          <a:ln>
            <a:noFill/>
          </a:ln>
          <a:effectLst/>
        </p:spPr>
        <p:txBody>
          <a:bodyPr lIns="73127" tIns="36563" rIns="73127" bIns="36563">
            <a:spAutoFit/>
          </a:bodyPr>
          <a:lstStyle>
            <a:lvl1pPr defTabSz="585788">
              <a:defRPr sz="3200" b="1">
                <a:solidFill>
                  <a:srgbClr val="FAFD00"/>
                </a:solidFill>
                <a:latin typeface="Arial" panose="020B0604020202020204" pitchFamily="34" charset="0"/>
              </a:defRPr>
            </a:lvl1pPr>
            <a:lvl2pPr marL="742950" indent="-285750" defTabSz="585788">
              <a:defRPr sz="3200" b="1">
                <a:solidFill>
                  <a:srgbClr val="FAFD00"/>
                </a:solidFill>
                <a:latin typeface="Arial" panose="020B0604020202020204" pitchFamily="34" charset="0"/>
              </a:defRPr>
            </a:lvl2pPr>
            <a:lvl3pPr marL="1143000" indent="-228600" defTabSz="585788">
              <a:defRPr sz="3200" b="1">
                <a:solidFill>
                  <a:srgbClr val="FAFD00"/>
                </a:solidFill>
                <a:latin typeface="Arial" panose="020B0604020202020204" pitchFamily="34" charset="0"/>
              </a:defRPr>
            </a:lvl3pPr>
            <a:lvl4pPr marL="1600200" indent="-228600" defTabSz="585788">
              <a:defRPr sz="3200" b="1">
                <a:solidFill>
                  <a:srgbClr val="FAFD00"/>
                </a:solidFill>
                <a:latin typeface="Arial" panose="020B0604020202020204" pitchFamily="34" charset="0"/>
              </a:defRPr>
            </a:lvl4pPr>
            <a:lvl5pPr marL="2057400" indent="-228600" defTabSz="585788">
              <a:defRPr sz="3200" b="1">
                <a:solidFill>
                  <a:srgbClr val="FAFD00"/>
                </a:solidFill>
                <a:latin typeface="Arial" panose="020B0604020202020204" pitchFamily="34" charset="0"/>
              </a:defRPr>
            </a:lvl5pPr>
            <a:lvl6pPr marL="2514600" indent="-228600" defTabSz="585788" eaLnBrk="0" fontAlgn="base" hangingPunct="0">
              <a:spcBef>
                <a:spcPct val="0"/>
              </a:spcBef>
              <a:spcAft>
                <a:spcPct val="0"/>
              </a:spcAft>
              <a:defRPr sz="3200" b="1">
                <a:solidFill>
                  <a:srgbClr val="FAFD00"/>
                </a:solidFill>
                <a:latin typeface="Arial" panose="020B0604020202020204" pitchFamily="34" charset="0"/>
              </a:defRPr>
            </a:lvl6pPr>
            <a:lvl7pPr marL="2971800" indent="-228600" defTabSz="585788" eaLnBrk="0" fontAlgn="base" hangingPunct="0">
              <a:spcBef>
                <a:spcPct val="0"/>
              </a:spcBef>
              <a:spcAft>
                <a:spcPct val="0"/>
              </a:spcAft>
              <a:defRPr sz="3200" b="1">
                <a:solidFill>
                  <a:srgbClr val="FAFD00"/>
                </a:solidFill>
                <a:latin typeface="Arial" panose="020B0604020202020204" pitchFamily="34" charset="0"/>
              </a:defRPr>
            </a:lvl7pPr>
            <a:lvl8pPr marL="3429000" indent="-228600" defTabSz="585788" eaLnBrk="0" fontAlgn="base" hangingPunct="0">
              <a:spcBef>
                <a:spcPct val="0"/>
              </a:spcBef>
              <a:spcAft>
                <a:spcPct val="0"/>
              </a:spcAft>
              <a:defRPr sz="3200" b="1">
                <a:solidFill>
                  <a:srgbClr val="FAFD00"/>
                </a:solidFill>
                <a:latin typeface="Arial" panose="020B0604020202020204" pitchFamily="34" charset="0"/>
              </a:defRPr>
            </a:lvl8pPr>
            <a:lvl9pPr marL="3886200" indent="-228600" defTabSz="585788"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r>
              <a:rPr lang="en-US" altLang="en-US" sz="2003">
                <a:solidFill>
                  <a:schemeClr val="tx1"/>
                </a:solidFill>
                <a:latin typeface="Symbol" panose="05050102010706020507" pitchFamily="18" charset="2"/>
                <a:cs typeface="Times New Roman" pitchFamily="18" charset="0"/>
              </a:rPr>
              <a:t>1</a:t>
            </a:r>
          </a:p>
        </p:txBody>
      </p:sp>
      <p:sp>
        <p:nvSpPr>
          <p:cNvPr id="96" name="Line 33"/>
          <p:cNvSpPr>
            <a:spLocks noChangeShapeType="1"/>
          </p:cNvSpPr>
          <p:nvPr/>
        </p:nvSpPr>
        <p:spPr bwMode="auto">
          <a:xfrm flipV="1">
            <a:off x="2649609" y="2741178"/>
            <a:ext cx="0" cy="1560885"/>
          </a:xfrm>
          <a:prstGeom prst="line">
            <a:avLst/>
          </a:prstGeom>
          <a:noFill/>
          <a:ln w="508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Arial" panose="020B0604020202020204" pitchFamily="34" charset="0"/>
              <a:cs typeface="Times New Roman" pitchFamily="18" charset="0"/>
            </a:endParaRPr>
          </a:p>
        </p:txBody>
      </p:sp>
      <p:sp>
        <p:nvSpPr>
          <p:cNvPr id="97" name="Line 34"/>
          <p:cNvSpPr>
            <a:spLocks noChangeShapeType="1"/>
          </p:cNvSpPr>
          <p:nvPr/>
        </p:nvSpPr>
        <p:spPr bwMode="auto">
          <a:xfrm flipV="1">
            <a:off x="3309914" y="2741178"/>
            <a:ext cx="0" cy="1560885"/>
          </a:xfrm>
          <a:prstGeom prst="line">
            <a:avLst/>
          </a:prstGeom>
          <a:noFill/>
          <a:ln w="508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Arial" panose="020B0604020202020204" pitchFamily="34" charset="0"/>
              <a:cs typeface="Times New Roman" pitchFamily="18" charset="0"/>
            </a:endParaRPr>
          </a:p>
        </p:txBody>
      </p:sp>
      <p:sp>
        <p:nvSpPr>
          <p:cNvPr id="98" name="Line 37"/>
          <p:cNvSpPr>
            <a:spLocks noChangeShapeType="1"/>
          </p:cNvSpPr>
          <p:nvPr/>
        </p:nvSpPr>
        <p:spPr bwMode="auto">
          <a:xfrm>
            <a:off x="2209406" y="2741177"/>
            <a:ext cx="1320611" cy="0"/>
          </a:xfrm>
          <a:prstGeom prst="line">
            <a:avLst/>
          </a:prstGeom>
          <a:noFill/>
          <a:ln w="508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Arial" panose="020B0604020202020204" pitchFamily="34" charset="0"/>
              <a:cs typeface="Times New Roman" pitchFamily="18" charset="0"/>
            </a:endParaRPr>
          </a:p>
        </p:txBody>
      </p:sp>
      <p:sp>
        <p:nvSpPr>
          <p:cNvPr id="99" name="Line 39"/>
          <p:cNvSpPr>
            <a:spLocks noChangeShapeType="1"/>
          </p:cNvSpPr>
          <p:nvPr/>
        </p:nvSpPr>
        <p:spPr bwMode="auto">
          <a:xfrm>
            <a:off x="5584300" y="2741177"/>
            <a:ext cx="1320611" cy="0"/>
          </a:xfrm>
          <a:prstGeom prst="line">
            <a:avLst/>
          </a:prstGeom>
          <a:noFill/>
          <a:ln w="508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Arial" panose="020B0604020202020204" pitchFamily="34" charset="0"/>
              <a:cs typeface="Times New Roman" pitchFamily="18" charset="0"/>
            </a:endParaRPr>
          </a:p>
        </p:txBody>
      </p:sp>
      <p:sp>
        <p:nvSpPr>
          <p:cNvPr id="100" name="Rectangle 18"/>
          <p:cNvSpPr>
            <a:spLocks noChangeArrowheads="1"/>
          </p:cNvSpPr>
          <p:nvPr/>
        </p:nvSpPr>
        <p:spPr bwMode="auto">
          <a:xfrm>
            <a:off x="521958" y="2944771"/>
            <a:ext cx="1323668" cy="1230045"/>
          </a:xfrm>
          <a:prstGeom prst="rect">
            <a:avLst/>
          </a:prstGeom>
          <a:solidFill>
            <a:schemeClr val="hlink"/>
          </a:solidFill>
          <a:ln w="50800">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endParaRPr lang="en-US" altLang="en-US" sz="3204">
              <a:solidFill>
                <a:schemeClr val="tx1"/>
              </a:solidFill>
              <a:cs typeface="Times New Roman" pitchFamily="18" charset="0"/>
            </a:endParaRPr>
          </a:p>
        </p:txBody>
      </p:sp>
      <p:sp>
        <p:nvSpPr>
          <p:cNvPr id="101" name="Line 19"/>
          <p:cNvSpPr>
            <a:spLocks noChangeShapeType="1"/>
          </p:cNvSpPr>
          <p:nvPr/>
        </p:nvSpPr>
        <p:spPr bwMode="auto">
          <a:xfrm flipH="1" flipV="1">
            <a:off x="1176149" y="2965979"/>
            <a:ext cx="0" cy="1217321"/>
          </a:xfrm>
          <a:prstGeom prst="line">
            <a:avLst/>
          </a:prstGeom>
          <a:noFill/>
          <a:ln w="508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Arial" panose="020B0604020202020204" pitchFamily="34" charset="0"/>
              <a:cs typeface="Times New Roman" pitchFamily="18" charset="0"/>
            </a:endParaRPr>
          </a:p>
        </p:txBody>
      </p:sp>
      <p:sp>
        <p:nvSpPr>
          <p:cNvPr id="102" name="Line 20"/>
          <p:cNvSpPr>
            <a:spLocks noChangeShapeType="1"/>
          </p:cNvSpPr>
          <p:nvPr/>
        </p:nvSpPr>
        <p:spPr bwMode="auto">
          <a:xfrm>
            <a:off x="544885" y="3558379"/>
            <a:ext cx="1285456" cy="0"/>
          </a:xfrm>
          <a:prstGeom prst="line">
            <a:avLst/>
          </a:prstGeom>
          <a:noFill/>
          <a:ln w="508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Arial" panose="020B0604020202020204" pitchFamily="34" charset="0"/>
              <a:cs typeface="Times New Roman" pitchFamily="18" charset="0"/>
            </a:endParaRPr>
          </a:p>
        </p:txBody>
      </p:sp>
      <p:sp>
        <p:nvSpPr>
          <p:cNvPr id="103" name="Rectangle 21"/>
          <p:cNvSpPr>
            <a:spLocks noChangeArrowheads="1"/>
          </p:cNvSpPr>
          <p:nvPr/>
        </p:nvSpPr>
        <p:spPr bwMode="auto">
          <a:xfrm>
            <a:off x="564757" y="3178056"/>
            <a:ext cx="463131" cy="352047"/>
          </a:xfrm>
          <a:prstGeom prst="rect">
            <a:avLst/>
          </a:prstGeom>
          <a:solidFill>
            <a:schemeClr val="hlink"/>
          </a:solidFill>
          <a:ln>
            <a:noFill/>
          </a:ln>
          <a:effectLst/>
          <a:extLst>
            <a:ext uri="{91240B29-F687-4F45-9708-019B960494DF}">
              <a14:hiddenLine xmlns:a14="http://schemas.microsoft.com/office/drawing/2010/main" w="50800">
                <a:solidFill>
                  <a:srgbClr val="8901F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3127" tIns="36563" rIns="73127" bIns="36563">
            <a:spAutoFit/>
          </a:bodyPr>
          <a:lstStyle>
            <a:lvl1pPr defTabSz="585788">
              <a:defRPr sz="3200" b="1">
                <a:solidFill>
                  <a:srgbClr val="FAFD00"/>
                </a:solidFill>
                <a:latin typeface="Arial" panose="020B0604020202020204" pitchFamily="34" charset="0"/>
              </a:defRPr>
            </a:lvl1pPr>
            <a:lvl2pPr marL="742950" indent="-285750" defTabSz="585788">
              <a:defRPr sz="3200" b="1">
                <a:solidFill>
                  <a:srgbClr val="FAFD00"/>
                </a:solidFill>
                <a:latin typeface="Arial" panose="020B0604020202020204" pitchFamily="34" charset="0"/>
              </a:defRPr>
            </a:lvl2pPr>
            <a:lvl3pPr marL="1143000" indent="-228600" defTabSz="585788">
              <a:defRPr sz="3200" b="1">
                <a:solidFill>
                  <a:srgbClr val="FAFD00"/>
                </a:solidFill>
                <a:latin typeface="Arial" panose="020B0604020202020204" pitchFamily="34" charset="0"/>
              </a:defRPr>
            </a:lvl3pPr>
            <a:lvl4pPr marL="1600200" indent="-228600" defTabSz="585788">
              <a:defRPr sz="3200" b="1">
                <a:solidFill>
                  <a:srgbClr val="FAFD00"/>
                </a:solidFill>
                <a:latin typeface="Arial" panose="020B0604020202020204" pitchFamily="34" charset="0"/>
              </a:defRPr>
            </a:lvl4pPr>
            <a:lvl5pPr marL="2057400" indent="-228600" defTabSz="585788">
              <a:defRPr sz="3200" b="1">
                <a:solidFill>
                  <a:srgbClr val="FAFD00"/>
                </a:solidFill>
                <a:latin typeface="Arial" panose="020B0604020202020204" pitchFamily="34" charset="0"/>
              </a:defRPr>
            </a:lvl5pPr>
            <a:lvl6pPr marL="2514600" indent="-228600" defTabSz="585788" eaLnBrk="0" fontAlgn="base" hangingPunct="0">
              <a:spcBef>
                <a:spcPct val="0"/>
              </a:spcBef>
              <a:spcAft>
                <a:spcPct val="0"/>
              </a:spcAft>
              <a:defRPr sz="3200" b="1">
                <a:solidFill>
                  <a:srgbClr val="FAFD00"/>
                </a:solidFill>
                <a:latin typeface="Arial" panose="020B0604020202020204" pitchFamily="34" charset="0"/>
              </a:defRPr>
            </a:lvl6pPr>
            <a:lvl7pPr marL="2971800" indent="-228600" defTabSz="585788" eaLnBrk="0" fontAlgn="base" hangingPunct="0">
              <a:spcBef>
                <a:spcPct val="0"/>
              </a:spcBef>
              <a:spcAft>
                <a:spcPct val="0"/>
              </a:spcAft>
              <a:defRPr sz="3200" b="1">
                <a:solidFill>
                  <a:srgbClr val="FAFD00"/>
                </a:solidFill>
                <a:latin typeface="Arial" panose="020B0604020202020204" pitchFamily="34" charset="0"/>
              </a:defRPr>
            </a:lvl7pPr>
            <a:lvl8pPr marL="3429000" indent="-228600" defTabSz="585788" eaLnBrk="0" fontAlgn="base" hangingPunct="0">
              <a:spcBef>
                <a:spcPct val="0"/>
              </a:spcBef>
              <a:spcAft>
                <a:spcPct val="0"/>
              </a:spcAft>
              <a:defRPr sz="3200" b="1">
                <a:solidFill>
                  <a:srgbClr val="FAFD00"/>
                </a:solidFill>
                <a:latin typeface="Arial" panose="020B0604020202020204" pitchFamily="34" charset="0"/>
              </a:defRPr>
            </a:lvl8pPr>
            <a:lvl9pPr marL="3886200" indent="-228600" defTabSz="585788"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r>
              <a:rPr lang="en-US" altLang="en-US" sz="2003">
                <a:solidFill>
                  <a:schemeClr val="tx1"/>
                </a:solidFill>
                <a:latin typeface="Symbol" panose="05050102010706020507" pitchFamily="18" charset="2"/>
                <a:cs typeface="Times New Roman" pitchFamily="18" charset="0"/>
              </a:rPr>
              <a:t>0</a:t>
            </a:r>
          </a:p>
        </p:txBody>
      </p:sp>
      <p:sp>
        <p:nvSpPr>
          <p:cNvPr id="104" name="Rectangle 22"/>
          <p:cNvSpPr>
            <a:spLocks noChangeArrowheads="1"/>
          </p:cNvSpPr>
          <p:nvPr/>
        </p:nvSpPr>
        <p:spPr bwMode="auto">
          <a:xfrm>
            <a:off x="1225061" y="3178056"/>
            <a:ext cx="461602" cy="352047"/>
          </a:xfrm>
          <a:prstGeom prst="rect">
            <a:avLst/>
          </a:prstGeom>
          <a:solidFill>
            <a:schemeClr val="hlink"/>
          </a:solidFill>
          <a:ln>
            <a:noFill/>
          </a:ln>
          <a:effectLst/>
          <a:extLst>
            <a:ext uri="{91240B29-F687-4F45-9708-019B960494DF}">
              <a14:hiddenLine xmlns:a14="http://schemas.microsoft.com/office/drawing/2010/main" w="50800">
                <a:solidFill>
                  <a:srgbClr val="8901F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3127" tIns="36563" rIns="73127" bIns="36563">
            <a:spAutoFit/>
          </a:bodyPr>
          <a:lstStyle>
            <a:lvl1pPr defTabSz="585788">
              <a:defRPr sz="3200" b="1">
                <a:solidFill>
                  <a:srgbClr val="FAFD00"/>
                </a:solidFill>
                <a:latin typeface="Arial" panose="020B0604020202020204" pitchFamily="34" charset="0"/>
              </a:defRPr>
            </a:lvl1pPr>
            <a:lvl2pPr marL="742950" indent="-285750" defTabSz="585788">
              <a:defRPr sz="3200" b="1">
                <a:solidFill>
                  <a:srgbClr val="FAFD00"/>
                </a:solidFill>
                <a:latin typeface="Arial" panose="020B0604020202020204" pitchFamily="34" charset="0"/>
              </a:defRPr>
            </a:lvl2pPr>
            <a:lvl3pPr marL="1143000" indent="-228600" defTabSz="585788">
              <a:defRPr sz="3200" b="1">
                <a:solidFill>
                  <a:srgbClr val="FAFD00"/>
                </a:solidFill>
                <a:latin typeface="Arial" panose="020B0604020202020204" pitchFamily="34" charset="0"/>
              </a:defRPr>
            </a:lvl3pPr>
            <a:lvl4pPr marL="1600200" indent="-228600" defTabSz="585788">
              <a:defRPr sz="3200" b="1">
                <a:solidFill>
                  <a:srgbClr val="FAFD00"/>
                </a:solidFill>
                <a:latin typeface="Arial" panose="020B0604020202020204" pitchFamily="34" charset="0"/>
              </a:defRPr>
            </a:lvl4pPr>
            <a:lvl5pPr marL="2057400" indent="-228600" defTabSz="585788">
              <a:defRPr sz="3200" b="1">
                <a:solidFill>
                  <a:srgbClr val="FAFD00"/>
                </a:solidFill>
                <a:latin typeface="Arial" panose="020B0604020202020204" pitchFamily="34" charset="0"/>
              </a:defRPr>
            </a:lvl5pPr>
            <a:lvl6pPr marL="2514600" indent="-228600" defTabSz="585788" eaLnBrk="0" fontAlgn="base" hangingPunct="0">
              <a:spcBef>
                <a:spcPct val="0"/>
              </a:spcBef>
              <a:spcAft>
                <a:spcPct val="0"/>
              </a:spcAft>
              <a:defRPr sz="3200" b="1">
                <a:solidFill>
                  <a:srgbClr val="FAFD00"/>
                </a:solidFill>
                <a:latin typeface="Arial" panose="020B0604020202020204" pitchFamily="34" charset="0"/>
              </a:defRPr>
            </a:lvl6pPr>
            <a:lvl7pPr marL="2971800" indent="-228600" defTabSz="585788" eaLnBrk="0" fontAlgn="base" hangingPunct="0">
              <a:spcBef>
                <a:spcPct val="0"/>
              </a:spcBef>
              <a:spcAft>
                <a:spcPct val="0"/>
              </a:spcAft>
              <a:defRPr sz="3200" b="1">
                <a:solidFill>
                  <a:srgbClr val="FAFD00"/>
                </a:solidFill>
                <a:latin typeface="Arial" panose="020B0604020202020204" pitchFamily="34" charset="0"/>
              </a:defRPr>
            </a:lvl7pPr>
            <a:lvl8pPr marL="3429000" indent="-228600" defTabSz="585788" eaLnBrk="0" fontAlgn="base" hangingPunct="0">
              <a:spcBef>
                <a:spcPct val="0"/>
              </a:spcBef>
              <a:spcAft>
                <a:spcPct val="0"/>
              </a:spcAft>
              <a:defRPr sz="3200" b="1">
                <a:solidFill>
                  <a:srgbClr val="FAFD00"/>
                </a:solidFill>
                <a:latin typeface="Arial" panose="020B0604020202020204" pitchFamily="34" charset="0"/>
              </a:defRPr>
            </a:lvl8pPr>
            <a:lvl9pPr marL="3886200" indent="-228600" defTabSz="585788"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r>
              <a:rPr lang="en-US" altLang="en-US" sz="2003">
                <a:solidFill>
                  <a:schemeClr val="tx1"/>
                </a:solidFill>
                <a:latin typeface="Symbol" panose="05050102010706020507" pitchFamily="18" charset="2"/>
                <a:cs typeface="Times New Roman" pitchFamily="18" charset="0"/>
              </a:rPr>
              <a:t>0</a:t>
            </a:r>
          </a:p>
        </p:txBody>
      </p:sp>
      <p:sp>
        <p:nvSpPr>
          <p:cNvPr id="105" name="Rectangle 23"/>
          <p:cNvSpPr>
            <a:spLocks noChangeArrowheads="1"/>
          </p:cNvSpPr>
          <p:nvPr/>
        </p:nvSpPr>
        <p:spPr bwMode="auto">
          <a:xfrm>
            <a:off x="583097" y="3769042"/>
            <a:ext cx="461602" cy="349220"/>
          </a:xfrm>
          <a:prstGeom prst="rect">
            <a:avLst/>
          </a:prstGeom>
          <a:solidFill>
            <a:schemeClr val="hlink"/>
          </a:solidFill>
          <a:ln>
            <a:noFill/>
          </a:ln>
          <a:effectLst/>
          <a:extLst>
            <a:ext uri="{91240B29-F687-4F45-9708-019B960494DF}">
              <a14:hiddenLine xmlns:a14="http://schemas.microsoft.com/office/drawing/2010/main" w="50800">
                <a:solidFill>
                  <a:srgbClr val="8901F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3127" tIns="36563" rIns="73127" bIns="36563">
            <a:spAutoFit/>
          </a:bodyPr>
          <a:lstStyle>
            <a:lvl1pPr defTabSz="585788">
              <a:defRPr sz="3200" b="1">
                <a:solidFill>
                  <a:srgbClr val="FAFD00"/>
                </a:solidFill>
                <a:latin typeface="Arial" panose="020B0604020202020204" pitchFamily="34" charset="0"/>
              </a:defRPr>
            </a:lvl1pPr>
            <a:lvl2pPr marL="742950" indent="-285750" defTabSz="585788">
              <a:defRPr sz="3200" b="1">
                <a:solidFill>
                  <a:srgbClr val="FAFD00"/>
                </a:solidFill>
                <a:latin typeface="Arial" panose="020B0604020202020204" pitchFamily="34" charset="0"/>
              </a:defRPr>
            </a:lvl2pPr>
            <a:lvl3pPr marL="1143000" indent="-228600" defTabSz="585788">
              <a:defRPr sz="3200" b="1">
                <a:solidFill>
                  <a:srgbClr val="FAFD00"/>
                </a:solidFill>
                <a:latin typeface="Arial" panose="020B0604020202020204" pitchFamily="34" charset="0"/>
              </a:defRPr>
            </a:lvl3pPr>
            <a:lvl4pPr marL="1600200" indent="-228600" defTabSz="585788">
              <a:defRPr sz="3200" b="1">
                <a:solidFill>
                  <a:srgbClr val="FAFD00"/>
                </a:solidFill>
                <a:latin typeface="Arial" panose="020B0604020202020204" pitchFamily="34" charset="0"/>
              </a:defRPr>
            </a:lvl4pPr>
            <a:lvl5pPr marL="2057400" indent="-228600" defTabSz="585788">
              <a:defRPr sz="3200" b="1">
                <a:solidFill>
                  <a:srgbClr val="FAFD00"/>
                </a:solidFill>
                <a:latin typeface="Arial" panose="020B0604020202020204" pitchFamily="34" charset="0"/>
              </a:defRPr>
            </a:lvl5pPr>
            <a:lvl6pPr marL="2514600" indent="-228600" defTabSz="585788" eaLnBrk="0" fontAlgn="base" hangingPunct="0">
              <a:spcBef>
                <a:spcPct val="0"/>
              </a:spcBef>
              <a:spcAft>
                <a:spcPct val="0"/>
              </a:spcAft>
              <a:defRPr sz="3200" b="1">
                <a:solidFill>
                  <a:srgbClr val="FAFD00"/>
                </a:solidFill>
                <a:latin typeface="Arial" panose="020B0604020202020204" pitchFamily="34" charset="0"/>
              </a:defRPr>
            </a:lvl6pPr>
            <a:lvl7pPr marL="2971800" indent="-228600" defTabSz="585788" eaLnBrk="0" fontAlgn="base" hangingPunct="0">
              <a:spcBef>
                <a:spcPct val="0"/>
              </a:spcBef>
              <a:spcAft>
                <a:spcPct val="0"/>
              </a:spcAft>
              <a:defRPr sz="3200" b="1">
                <a:solidFill>
                  <a:srgbClr val="FAFD00"/>
                </a:solidFill>
                <a:latin typeface="Arial" panose="020B0604020202020204" pitchFamily="34" charset="0"/>
              </a:defRPr>
            </a:lvl7pPr>
            <a:lvl8pPr marL="3429000" indent="-228600" defTabSz="585788" eaLnBrk="0" fontAlgn="base" hangingPunct="0">
              <a:spcBef>
                <a:spcPct val="0"/>
              </a:spcBef>
              <a:spcAft>
                <a:spcPct val="0"/>
              </a:spcAft>
              <a:defRPr sz="3200" b="1">
                <a:solidFill>
                  <a:srgbClr val="FAFD00"/>
                </a:solidFill>
                <a:latin typeface="Arial" panose="020B0604020202020204" pitchFamily="34" charset="0"/>
              </a:defRPr>
            </a:lvl8pPr>
            <a:lvl9pPr marL="3886200" indent="-228600" defTabSz="585788"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r>
              <a:rPr lang="en-US" altLang="en-US" sz="2003">
                <a:solidFill>
                  <a:schemeClr val="tx1"/>
                </a:solidFill>
                <a:latin typeface="Symbol" panose="05050102010706020507" pitchFamily="18" charset="2"/>
                <a:cs typeface="Times New Roman" pitchFamily="18" charset="0"/>
              </a:rPr>
              <a:t>0</a:t>
            </a:r>
          </a:p>
        </p:txBody>
      </p:sp>
      <p:sp>
        <p:nvSpPr>
          <p:cNvPr id="106" name="Rectangle 24"/>
          <p:cNvSpPr>
            <a:spLocks noChangeArrowheads="1"/>
          </p:cNvSpPr>
          <p:nvPr/>
        </p:nvSpPr>
        <p:spPr bwMode="auto">
          <a:xfrm>
            <a:off x="1225061" y="3769042"/>
            <a:ext cx="461602" cy="349220"/>
          </a:xfrm>
          <a:prstGeom prst="rect">
            <a:avLst/>
          </a:prstGeom>
          <a:solidFill>
            <a:schemeClr val="hlink"/>
          </a:solidFill>
          <a:ln>
            <a:noFill/>
          </a:ln>
          <a:effectLst/>
          <a:extLst>
            <a:ext uri="{91240B29-F687-4F45-9708-019B960494DF}">
              <a14:hiddenLine xmlns:a14="http://schemas.microsoft.com/office/drawing/2010/main" w="50800">
                <a:solidFill>
                  <a:srgbClr val="8901F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3127" tIns="36563" rIns="73127" bIns="36563">
            <a:spAutoFit/>
          </a:bodyPr>
          <a:lstStyle>
            <a:lvl1pPr defTabSz="585788">
              <a:defRPr sz="3200" b="1">
                <a:solidFill>
                  <a:srgbClr val="FAFD00"/>
                </a:solidFill>
                <a:latin typeface="Arial" panose="020B0604020202020204" pitchFamily="34" charset="0"/>
              </a:defRPr>
            </a:lvl1pPr>
            <a:lvl2pPr marL="742950" indent="-285750" defTabSz="585788">
              <a:defRPr sz="3200" b="1">
                <a:solidFill>
                  <a:srgbClr val="FAFD00"/>
                </a:solidFill>
                <a:latin typeface="Arial" panose="020B0604020202020204" pitchFamily="34" charset="0"/>
              </a:defRPr>
            </a:lvl2pPr>
            <a:lvl3pPr marL="1143000" indent="-228600" defTabSz="585788">
              <a:defRPr sz="3200" b="1">
                <a:solidFill>
                  <a:srgbClr val="FAFD00"/>
                </a:solidFill>
                <a:latin typeface="Arial" panose="020B0604020202020204" pitchFamily="34" charset="0"/>
              </a:defRPr>
            </a:lvl3pPr>
            <a:lvl4pPr marL="1600200" indent="-228600" defTabSz="585788">
              <a:defRPr sz="3200" b="1">
                <a:solidFill>
                  <a:srgbClr val="FAFD00"/>
                </a:solidFill>
                <a:latin typeface="Arial" panose="020B0604020202020204" pitchFamily="34" charset="0"/>
              </a:defRPr>
            </a:lvl4pPr>
            <a:lvl5pPr marL="2057400" indent="-228600" defTabSz="585788">
              <a:defRPr sz="3200" b="1">
                <a:solidFill>
                  <a:srgbClr val="FAFD00"/>
                </a:solidFill>
                <a:latin typeface="Arial" panose="020B0604020202020204" pitchFamily="34" charset="0"/>
              </a:defRPr>
            </a:lvl5pPr>
            <a:lvl6pPr marL="2514600" indent="-228600" defTabSz="585788" eaLnBrk="0" fontAlgn="base" hangingPunct="0">
              <a:spcBef>
                <a:spcPct val="0"/>
              </a:spcBef>
              <a:spcAft>
                <a:spcPct val="0"/>
              </a:spcAft>
              <a:defRPr sz="3200" b="1">
                <a:solidFill>
                  <a:srgbClr val="FAFD00"/>
                </a:solidFill>
                <a:latin typeface="Arial" panose="020B0604020202020204" pitchFamily="34" charset="0"/>
              </a:defRPr>
            </a:lvl6pPr>
            <a:lvl7pPr marL="2971800" indent="-228600" defTabSz="585788" eaLnBrk="0" fontAlgn="base" hangingPunct="0">
              <a:spcBef>
                <a:spcPct val="0"/>
              </a:spcBef>
              <a:spcAft>
                <a:spcPct val="0"/>
              </a:spcAft>
              <a:defRPr sz="3200" b="1">
                <a:solidFill>
                  <a:srgbClr val="FAFD00"/>
                </a:solidFill>
                <a:latin typeface="Arial" panose="020B0604020202020204" pitchFamily="34" charset="0"/>
              </a:defRPr>
            </a:lvl7pPr>
            <a:lvl8pPr marL="3429000" indent="-228600" defTabSz="585788" eaLnBrk="0" fontAlgn="base" hangingPunct="0">
              <a:spcBef>
                <a:spcPct val="0"/>
              </a:spcBef>
              <a:spcAft>
                <a:spcPct val="0"/>
              </a:spcAft>
              <a:defRPr sz="3200" b="1">
                <a:solidFill>
                  <a:srgbClr val="FAFD00"/>
                </a:solidFill>
                <a:latin typeface="Arial" panose="020B0604020202020204" pitchFamily="34" charset="0"/>
              </a:defRPr>
            </a:lvl8pPr>
            <a:lvl9pPr marL="3886200" indent="-228600" defTabSz="585788"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r>
              <a:rPr lang="en-US" altLang="en-US" sz="2003">
                <a:solidFill>
                  <a:schemeClr val="tx1"/>
                </a:solidFill>
                <a:latin typeface="Symbol" panose="05050102010706020507" pitchFamily="18" charset="2"/>
                <a:cs typeface="Times New Roman" pitchFamily="18" charset="0"/>
              </a:rPr>
              <a:t>0</a:t>
            </a:r>
          </a:p>
        </p:txBody>
      </p:sp>
      <p:sp>
        <p:nvSpPr>
          <p:cNvPr id="107" name="Line 35"/>
          <p:cNvSpPr>
            <a:spLocks noChangeShapeType="1"/>
          </p:cNvSpPr>
          <p:nvPr/>
        </p:nvSpPr>
        <p:spPr bwMode="auto">
          <a:xfrm flipH="1" flipV="1">
            <a:off x="1549100" y="2741178"/>
            <a:ext cx="16814" cy="1419501"/>
          </a:xfrm>
          <a:prstGeom prst="line">
            <a:avLst/>
          </a:prstGeom>
          <a:noFill/>
          <a:ln w="508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Arial" panose="020B0604020202020204" pitchFamily="34" charset="0"/>
              <a:cs typeface="Times New Roman" pitchFamily="18" charset="0"/>
            </a:endParaRPr>
          </a:p>
        </p:txBody>
      </p:sp>
      <p:sp>
        <p:nvSpPr>
          <p:cNvPr id="108" name="Line 36"/>
          <p:cNvSpPr>
            <a:spLocks noChangeShapeType="1"/>
          </p:cNvSpPr>
          <p:nvPr/>
        </p:nvSpPr>
        <p:spPr bwMode="auto">
          <a:xfrm flipH="1" flipV="1">
            <a:off x="962162" y="2741177"/>
            <a:ext cx="21399" cy="1433638"/>
          </a:xfrm>
          <a:prstGeom prst="line">
            <a:avLst/>
          </a:prstGeom>
          <a:noFill/>
          <a:ln w="508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Arial" panose="020B0604020202020204" pitchFamily="34" charset="0"/>
              <a:cs typeface="Times New Roman" pitchFamily="18" charset="0"/>
            </a:endParaRPr>
          </a:p>
        </p:txBody>
      </p:sp>
      <p:sp>
        <p:nvSpPr>
          <p:cNvPr id="109" name="Line 40"/>
          <p:cNvSpPr>
            <a:spLocks noChangeShapeType="1"/>
          </p:cNvSpPr>
          <p:nvPr/>
        </p:nvSpPr>
        <p:spPr bwMode="auto">
          <a:xfrm>
            <a:off x="595326" y="2741177"/>
            <a:ext cx="1320611" cy="0"/>
          </a:xfrm>
          <a:prstGeom prst="line">
            <a:avLst/>
          </a:prstGeom>
          <a:noFill/>
          <a:ln w="508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Arial" panose="020B0604020202020204" pitchFamily="34" charset="0"/>
              <a:cs typeface="Times New Roman" pitchFamily="18" charset="0"/>
            </a:endParaRPr>
          </a:p>
        </p:txBody>
      </p:sp>
      <p:sp useBgFill="1">
        <p:nvSpPr>
          <p:cNvPr id="110" name="Oval 44"/>
          <p:cNvSpPr>
            <a:spLocks noChangeArrowheads="1"/>
          </p:cNvSpPr>
          <p:nvPr/>
        </p:nvSpPr>
        <p:spPr bwMode="auto">
          <a:xfrm>
            <a:off x="1769201" y="2130396"/>
            <a:ext cx="586938" cy="475052"/>
          </a:xfrm>
          <a:prstGeom prst="ellipse">
            <a:avLst/>
          </a:prstGeom>
          <a:ln w="508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endParaRPr lang="en-US" altLang="en-US" sz="3204">
              <a:solidFill>
                <a:schemeClr val="tx1"/>
              </a:solidFill>
              <a:cs typeface="Times New Roman" pitchFamily="18" charset="0"/>
            </a:endParaRPr>
          </a:p>
        </p:txBody>
      </p:sp>
      <p:sp>
        <p:nvSpPr>
          <p:cNvPr id="111" name="Line 45"/>
          <p:cNvSpPr>
            <a:spLocks noChangeShapeType="1"/>
          </p:cNvSpPr>
          <p:nvPr/>
        </p:nvSpPr>
        <p:spPr bwMode="auto">
          <a:xfrm>
            <a:off x="1769201" y="2367922"/>
            <a:ext cx="586938" cy="0"/>
          </a:xfrm>
          <a:prstGeom prst="line">
            <a:avLst/>
          </a:prstGeom>
          <a:noFill/>
          <a:ln w="508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Arial" panose="020B0604020202020204" pitchFamily="34" charset="0"/>
              <a:cs typeface="Times New Roman" pitchFamily="18" charset="0"/>
            </a:endParaRPr>
          </a:p>
        </p:txBody>
      </p:sp>
      <p:sp>
        <p:nvSpPr>
          <p:cNvPr id="112" name="Line 46"/>
          <p:cNvSpPr>
            <a:spLocks noChangeShapeType="1"/>
          </p:cNvSpPr>
          <p:nvPr/>
        </p:nvSpPr>
        <p:spPr bwMode="auto">
          <a:xfrm flipV="1">
            <a:off x="1255632" y="2401855"/>
            <a:ext cx="513571" cy="339323"/>
          </a:xfrm>
          <a:prstGeom prst="line">
            <a:avLst/>
          </a:prstGeom>
          <a:noFill/>
          <a:ln w="508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Arial" panose="020B0604020202020204" pitchFamily="34" charset="0"/>
              <a:cs typeface="Times New Roman" pitchFamily="18" charset="0"/>
            </a:endParaRPr>
          </a:p>
        </p:txBody>
      </p:sp>
      <p:sp>
        <p:nvSpPr>
          <p:cNvPr id="113" name="Line 47"/>
          <p:cNvSpPr>
            <a:spLocks noChangeShapeType="1"/>
          </p:cNvSpPr>
          <p:nvPr/>
        </p:nvSpPr>
        <p:spPr bwMode="auto">
          <a:xfrm flipH="1" flipV="1">
            <a:off x="2356141" y="2401855"/>
            <a:ext cx="513571" cy="339323"/>
          </a:xfrm>
          <a:prstGeom prst="line">
            <a:avLst/>
          </a:prstGeom>
          <a:noFill/>
          <a:ln w="508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Arial" panose="020B0604020202020204" pitchFamily="34" charset="0"/>
              <a:cs typeface="Times New Roman" pitchFamily="18" charset="0"/>
            </a:endParaRPr>
          </a:p>
        </p:txBody>
      </p:sp>
      <p:sp>
        <p:nvSpPr>
          <p:cNvPr id="114" name="Line 50"/>
          <p:cNvSpPr>
            <a:spLocks noChangeShapeType="1"/>
          </p:cNvSpPr>
          <p:nvPr/>
        </p:nvSpPr>
        <p:spPr bwMode="auto">
          <a:xfrm flipV="1">
            <a:off x="2062671" y="2113430"/>
            <a:ext cx="3533856" cy="16966"/>
          </a:xfrm>
          <a:prstGeom prst="line">
            <a:avLst/>
          </a:prstGeom>
          <a:noFill/>
          <a:ln w="508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Arial" panose="020B0604020202020204" pitchFamily="34" charset="0"/>
              <a:cs typeface="Times New Roman" pitchFamily="18" charset="0"/>
            </a:endParaRPr>
          </a:p>
        </p:txBody>
      </p:sp>
      <p:sp>
        <p:nvSpPr>
          <p:cNvPr id="115" name="Line 52"/>
          <p:cNvSpPr>
            <a:spLocks noChangeShapeType="1"/>
          </p:cNvSpPr>
          <p:nvPr/>
        </p:nvSpPr>
        <p:spPr bwMode="auto">
          <a:xfrm flipV="1">
            <a:off x="6024503" y="2741178"/>
            <a:ext cx="0" cy="1764479"/>
          </a:xfrm>
          <a:prstGeom prst="line">
            <a:avLst/>
          </a:prstGeom>
          <a:noFill/>
          <a:ln w="50800">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Arial" panose="020B0604020202020204" pitchFamily="34" charset="0"/>
              <a:cs typeface="Times New Roman" pitchFamily="18" charset="0"/>
            </a:endParaRPr>
          </a:p>
        </p:txBody>
      </p:sp>
      <p:sp>
        <p:nvSpPr>
          <p:cNvPr id="116" name="Line 53"/>
          <p:cNvSpPr>
            <a:spLocks noChangeShapeType="1"/>
          </p:cNvSpPr>
          <p:nvPr/>
        </p:nvSpPr>
        <p:spPr bwMode="auto">
          <a:xfrm flipV="1">
            <a:off x="6684808" y="2741178"/>
            <a:ext cx="0" cy="1764479"/>
          </a:xfrm>
          <a:prstGeom prst="line">
            <a:avLst/>
          </a:prstGeom>
          <a:noFill/>
          <a:ln w="50800">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Arial" panose="020B0604020202020204" pitchFamily="34" charset="0"/>
              <a:cs typeface="Times New Roman" pitchFamily="18" charset="0"/>
            </a:endParaRPr>
          </a:p>
        </p:txBody>
      </p:sp>
      <p:sp>
        <p:nvSpPr>
          <p:cNvPr id="117" name="Line 54"/>
          <p:cNvSpPr>
            <a:spLocks noChangeShapeType="1"/>
          </p:cNvSpPr>
          <p:nvPr/>
        </p:nvSpPr>
        <p:spPr bwMode="auto">
          <a:xfrm>
            <a:off x="2062671" y="3148364"/>
            <a:ext cx="1760814" cy="0"/>
          </a:xfrm>
          <a:prstGeom prst="line">
            <a:avLst/>
          </a:prstGeom>
          <a:noFill/>
          <a:ln w="508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Arial" panose="020B0604020202020204" pitchFamily="34" charset="0"/>
              <a:cs typeface="Times New Roman" pitchFamily="18" charset="0"/>
            </a:endParaRPr>
          </a:p>
        </p:txBody>
      </p:sp>
      <p:sp>
        <p:nvSpPr>
          <p:cNvPr id="118" name="Line 55"/>
          <p:cNvSpPr>
            <a:spLocks noChangeShapeType="1"/>
          </p:cNvSpPr>
          <p:nvPr/>
        </p:nvSpPr>
        <p:spPr bwMode="auto">
          <a:xfrm>
            <a:off x="2062671" y="3691281"/>
            <a:ext cx="1760814" cy="0"/>
          </a:xfrm>
          <a:prstGeom prst="line">
            <a:avLst/>
          </a:prstGeom>
          <a:noFill/>
          <a:ln w="508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Arial" panose="020B0604020202020204" pitchFamily="34" charset="0"/>
              <a:cs typeface="Times New Roman" pitchFamily="18" charset="0"/>
            </a:endParaRPr>
          </a:p>
        </p:txBody>
      </p:sp>
      <p:sp>
        <p:nvSpPr>
          <p:cNvPr id="119" name="Line 56"/>
          <p:cNvSpPr>
            <a:spLocks noChangeShapeType="1"/>
          </p:cNvSpPr>
          <p:nvPr/>
        </p:nvSpPr>
        <p:spPr bwMode="auto">
          <a:xfrm>
            <a:off x="3823485" y="2944771"/>
            <a:ext cx="0" cy="1289427"/>
          </a:xfrm>
          <a:prstGeom prst="line">
            <a:avLst/>
          </a:prstGeom>
          <a:noFill/>
          <a:ln w="508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Arial" panose="020B0604020202020204" pitchFamily="34" charset="0"/>
              <a:cs typeface="Times New Roman" pitchFamily="18" charset="0"/>
            </a:endParaRPr>
          </a:p>
        </p:txBody>
      </p:sp>
      <p:sp>
        <p:nvSpPr>
          <p:cNvPr id="120" name="Line 57"/>
          <p:cNvSpPr>
            <a:spLocks noChangeShapeType="1"/>
          </p:cNvSpPr>
          <p:nvPr/>
        </p:nvSpPr>
        <p:spPr bwMode="auto">
          <a:xfrm>
            <a:off x="5364197" y="2944771"/>
            <a:ext cx="0" cy="1289427"/>
          </a:xfrm>
          <a:prstGeom prst="line">
            <a:avLst/>
          </a:prstGeom>
          <a:noFill/>
          <a:ln w="508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Arial" panose="020B0604020202020204" pitchFamily="34" charset="0"/>
              <a:cs typeface="Times New Roman" pitchFamily="18" charset="0"/>
            </a:endParaRPr>
          </a:p>
        </p:txBody>
      </p:sp>
      <p:sp>
        <p:nvSpPr>
          <p:cNvPr id="121" name="Line 58"/>
          <p:cNvSpPr>
            <a:spLocks noChangeShapeType="1"/>
          </p:cNvSpPr>
          <p:nvPr/>
        </p:nvSpPr>
        <p:spPr bwMode="auto">
          <a:xfrm>
            <a:off x="5364197" y="3148364"/>
            <a:ext cx="1760814" cy="0"/>
          </a:xfrm>
          <a:prstGeom prst="line">
            <a:avLst/>
          </a:prstGeom>
          <a:noFill/>
          <a:ln w="50800">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Arial" panose="020B0604020202020204" pitchFamily="34" charset="0"/>
              <a:cs typeface="Times New Roman" pitchFamily="18" charset="0"/>
            </a:endParaRPr>
          </a:p>
        </p:txBody>
      </p:sp>
      <p:sp>
        <p:nvSpPr>
          <p:cNvPr id="122" name="Line 59"/>
          <p:cNvSpPr>
            <a:spLocks noChangeShapeType="1"/>
          </p:cNvSpPr>
          <p:nvPr/>
        </p:nvSpPr>
        <p:spPr bwMode="auto">
          <a:xfrm>
            <a:off x="5364197" y="3691281"/>
            <a:ext cx="1760814" cy="0"/>
          </a:xfrm>
          <a:prstGeom prst="line">
            <a:avLst/>
          </a:prstGeom>
          <a:noFill/>
          <a:ln w="50800">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Arial" panose="020B0604020202020204" pitchFamily="34" charset="0"/>
              <a:cs typeface="Times New Roman" pitchFamily="18" charset="0"/>
            </a:endParaRPr>
          </a:p>
        </p:txBody>
      </p:sp>
      <p:sp useBgFill="1">
        <p:nvSpPr>
          <p:cNvPr id="123" name="Oval 61"/>
          <p:cNvSpPr>
            <a:spLocks noChangeArrowheads="1"/>
          </p:cNvSpPr>
          <p:nvPr/>
        </p:nvSpPr>
        <p:spPr bwMode="auto">
          <a:xfrm>
            <a:off x="4318714" y="3006980"/>
            <a:ext cx="586938" cy="475052"/>
          </a:xfrm>
          <a:prstGeom prst="ellipse">
            <a:avLst/>
          </a:prstGeom>
          <a:ln w="508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endParaRPr lang="en-US" altLang="en-US" sz="3204">
              <a:solidFill>
                <a:schemeClr val="tx1"/>
              </a:solidFill>
              <a:cs typeface="Times New Roman" pitchFamily="18" charset="0"/>
            </a:endParaRPr>
          </a:p>
        </p:txBody>
      </p:sp>
      <p:sp>
        <p:nvSpPr>
          <p:cNvPr id="124" name="Line 62"/>
          <p:cNvSpPr>
            <a:spLocks noChangeShapeType="1"/>
          </p:cNvSpPr>
          <p:nvPr/>
        </p:nvSpPr>
        <p:spPr bwMode="auto">
          <a:xfrm>
            <a:off x="4318714" y="3244505"/>
            <a:ext cx="586938" cy="0"/>
          </a:xfrm>
          <a:prstGeom prst="line">
            <a:avLst/>
          </a:prstGeom>
          <a:noFill/>
          <a:ln w="508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Arial" panose="020B0604020202020204" pitchFamily="34" charset="0"/>
              <a:cs typeface="Times New Roman" pitchFamily="18" charset="0"/>
            </a:endParaRPr>
          </a:p>
        </p:txBody>
      </p:sp>
      <p:sp>
        <p:nvSpPr>
          <p:cNvPr id="125" name="Line 63"/>
          <p:cNvSpPr>
            <a:spLocks noChangeShapeType="1"/>
          </p:cNvSpPr>
          <p:nvPr/>
        </p:nvSpPr>
        <p:spPr bwMode="auto">
          <a:xfrm flipV="1">
            <a:off x="3805144" y="3267127"/>
            <a:ext cx="513571" cy="0"/>
          </a:xfrm>
          <a:prstGeom prst="line">
            <a:avLst/>
          </a:prstGeom>
          <a:noFill/>
          <a:ln w="508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Arial" panose="020B0604020202020204" pitchFamily="34" charset="0"/>
              <a:cs typeface="Times New Roman" pitchFamily="18" charset="0"/>
            </a:endParaRPr>
          </a:p>
        </p:txBody>
      </p:sp>
      <p:sp>
        <p:nvSpPr>
          <p:cNvPr id="126" name="Line 64"/>
          <p:cNvSpPr>
            <a:spLocks noChangeShapeType="1"/>
          </p:cNvSpPr>
          <p:nvPr/>
        </p:nvSpPr>
        <p:spPr bwMode="auto">
          <a:xfrm flipH="1" flipV="1">
            <a:off x="4905652" y="3267127"/>
            <a:ext cx="440204" cy="0"/>
          </a:xfrm>
          <a:prstGeom prst="line">
            <a:avLst/>
          </a:prstGeom>
          <a:noFill/>
          <a:ln w="508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Arial" panose="020B0604020202020204" pitchFamily="34" charset="0"/>
              <a:cs typeface="Times New Roman" pitchFamily="18" charset="0"/>
            </a:endParaRPr>
          </a:p>
        </p:txBody>
      </p:sp>
      <p:sp>
        <p:nvSpPr>
          <p:cNvPr id="127" name="Line 75"/>
          <p:cNvSpPr>
            <a:spLocks noChangeShapeType="1"/>
          </p:cNvSpPr>
          <p:nvPr/>
        </p:nvSpPr>
        <p:spPr bwMode="auto">
          <a:xfrm>
            <a:off x="4606069" y="3470721"/>
            <a:ext cx="0" cy="916172"/>
          </a:xfrm>
          <a:prstGeom prst="line">
            <a:avLst/>
          </a:prstGeom>
          <a:noFill/>
          <a:ln w="508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Arial" panose="020B0604020202020204" pitchFamily="34" charset="0"/>
              <a:cs typeface="Times New Roman" pitchFamily="18" charset="0"/>
            </a:endParaRPr>
          </a:p>
        </p:txBody>
      </p:sp>
      <p:sp>
        <p:nvSpPr>
          <p:cNvPr id="128" name="Line 76"/>
          <p:cNvSpPr>
            <a:spLocks noChangeShapeType="1"/>
          </p:cNvSpPr>
          <p:nvPr/>
        </p:nvSpPr>
        <p:spPr bwMode="auto">
          <a:xfrm>
            <a:off x="6238491" y="2130397"/>
            <a:ext cx="0" cy="610781"/>
          </a:xfrm>
          <a:prstGeom prst="line">
            <a:avLst/>
          </a:prstGeom>
          <a:noFill/>
          <a:ln w="508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Arial" panose="020B0604020202020204" pitchFamily="34" charset="0"/>
              <a:cs typeface="Times New Roman" pitchFamily="18" charset="0"/>
            </a:endParaRPr>
          </a:p>
        </p:txBody>
      </p:sp>
      <p:sp>
        <p:nvSpPr>
          <p:cNvPr id="129" name="Rectangle 77"/>
          <p:cNvSpPr>
            <a:spLocks noChangeArrowheads="1"/>
          </p:cNvSpPr>
          <p:nvPr/>
        </p:nvSpPr>
        <p:spPr bwMode="auto">
          <a:xfrm>
            <a:off x="2227747" y="4437792"/>
            <a:ext cx="1323668" cy="1230045"/>
          </a:xfrm>
          <a:prstGeom prst="rect">
            <a:avLst/>
          </a:prstGeom>
          <a:solidFill>
            <a:schemeClr val="hlink"/>
          </a:solidFill>
          <a:ln w="50800">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endParaRPr lang="en-US" altLang="en-US" sz="3204">
              <a:solidFill>
                <a:schemeClr val="tx1"/>
              </a:solidFill>
              <a:cs typeface="Times New Roman" pitchFamily="18" charset="0"/>
            </a:endParaRPr>
          </a:p>
        </p:txBody>
      </p:sp>
      <p:sp>
        <p:nvSpPr>
          <p:cNvPr id="130" name="Line 78"/>
          <p:cNvSpPr>
            <a:spLocks noChangeShapeType="1"/>
          </p:cNvSpPr>
          <p:nvPr/>
        </p:nvSpPr>
        <p:spPr bwMode="auto">
          <a:xfrm flipH="1" flipV="1">
            <a:off x="2881938" y="4458999"/>
            <a:ext cx="0" cy="1217321"/>
          </a:xfrm>
          <a:prstGeom prst="line">
            <a:avLst/>
          </a:prstGeom>
          <a:noFill/>
          <a:ln w="508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Arial" panose="020B0604020202020204" pitchFamily="34" charset="0"/>
              <a:cs typeface="Times New Roman" pitchFamily="18" charset="0"/>
            </a:endParaRPr>
          </a:p>
        </p:txBody>
      </p:sp>
      <p:sp>
        <p:nvSpPr>
          <p:cNvPr id="131" name="Line 79"/>
          <p:cNvSpPr>
            <a:spLocks noChangeShapeType="1"/>
          </p:cNvSpPr>
          <p:nvPr/>
        </p:nvSpPr>
        <p:spPr bwMode="auto">
          <a:xfrm>
            <a:off x="2250674" y="5051399"/>
            <a:ext cx="1285456" cy="0"/>
          </a:xfrm>
          <a:prstGeom prst="line">
            <a:avLst/>
          </a:prstGeom>
          <a:noFill/>
          <a:ln w="508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Arial" panose="020B0604020202020204" pitchFamily="34" charset="0"/>
              <a:cs typeface="Times New Roman" pitchFamily="18" charset="0"/>
            </a:endParaRPr>
          </a:p>
        </p:txBody>
      </p:sp>
      <p:sp>
        <p:nvSpPr>
          <p:cNvPr id="132" name="Rectangle 80"/>
          <p:cNvSpPr>
            <a:spLocks noChangeArrowheads="1"/>
          </p:cNvSpPr>
          <p:nvPr/>
        </p:nvSpPr>
        <p:spPr bwMode="auto">
          <a:xfrm>
            <a:off x="2270545" y="4671076"/>
            <a:ext cx="463131" cy="352047"/>
          </a:xfrm>
          <a:prstGeom prst="rect">
            <a:avLst/>
          </a:prstGeom>
          <a:solidFill>
            <a:schemeClr val="hlink"/>
          </a:solidFill>
          <a:ln>
            <a:noFill/>
          </a:ln>
          <a:effectLst/>
          <a:extLst>
            <a:ext uri="{91240B29-F687-4F45-9708-019B960494DF}">
              <a14:hiddenLine xmlns:a14="http://schemas.microsoft.com/office/drawing/2010/main" w="50800">
                <a:solidFill>
                  <a:srgbClr val="8901F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3127" tIns="36563" rIns="73127" bIns="36563">
            <a:spAutoFit/>
          </a:bodyPr>
          <a:lstStyle>
            <a:lvl1pPr defTabSz="585788">
              <a:defRPr sz="3200" b="1">
                <a:solidFill>
                  <a:srgbClr val="FAFD00"/>
                </a:solidFill>
                <a:latin typeface="Arial" panose="020B0604020202020204" pitchFamily="34" charset="0"/>
              </a:defRPr>
            </a:lvl1pPr>
            <a:lvl2pPr marL="742950" indent="-285750" defTabSz="585788">
              <a:defRPr sz="3200" b="1">
                <a:solidFill>
                  <a:srgbClr val="FAFD00"/>
                </a:solidFill>
                <a:latin typeface="Arial" panose="020B0604020202020204" pitchFamily="34" charset="0"/>
              </a:defRPr>
            </a:lvl2pPr>
            <a:lvl3pPr marL="1143000" indent="-228600" defTabSz="585788">
              <a:defRPr sz="3200" b="1">
                <a:solidFill>
                  <a:srgbClr val="FAFD00"/>
                </a:solidFill>
                <a:latin typeface="Arial" panose="020B0604020202020204" pitchFamily="34" charset="0"/>
              </a:defRPr>
            </a:lvl3pPr>
            <a:lvl4pPr marL="1600200" indent="-228600" defTabSz="585788">
              <a:defRPr sz="3200" b="1">
                <a:solidFill>
                  <a:srgbClr val="FAFD00"/>
                </a:solidFill>
                <a:latin typeface="Arial" panose="020B0604020202020204" pitchFamily="34" charset="0"/>
              </a:defRPr>
            </a:lvl4pPr>
            <a:lvl5pPr marL="2057400" indent="-228600" defTabSz="585788">
              <a:defRPr sz="3200" b="1">
                <a:solidFill>
                  <a:srgbClr val="FAFD00"/>
                </a:solidFill>
                <a:latin typeface="Arial" panose="020B0604020202020204" pitchFamily="34" charset="0"/>
              </a:defRPr>
            </a:lvl5pPr>
            <a:lvl6pPr marL="2514600" indent="-228600" defTabSz="585788" eaLnBrk="0" fontAlgn="base" hangingPunct="0">
              <a:spcBef>
                <a:spcPct val="0"/>
              </a:spcBef>
              <a:spcAft>
                <a:spcPct val="0"/>
              </a:spcAft>
              <a:defRPr sz="3200" b="1">
                <a:solidFill>
                  <a:srgbClr val="FAFD00"/>
                </a:solidFill>
                <a:latin typeface="Arial" panose="020B0604020202020204" pitchFamily="34" charset="0"/>
              </a:defRPr>
            </a:lvl6pPr>
            <a:lvl7pPr marL="2971800" indent="-228600" defTabSz="585788" eaLnBrk="0" fontAlgn="base" hangingPunct="0">
              <a:spcBef>
                <a:spcPct val="0"/>
              </a:spcBef>
              <a:spcAft>
                <a:spcPct val="0"/>
              </a:spcAft>
              <a:defRPr sz="3200" b="1">
                <a:solidFill>
                  <a:srgbClr val="FAFD00"/>
                </a:solidFill>
                <a:latin typeface="Arial" panose="020B0604020202020204" pitchFamily="34" charset="0"/>
              </a:defRPr>
            </a:lvl7pPr>
            <a:lvl8pPr marL="3429000" indent="-228600" defTabSz="585788" eaLnBrk="0" fontAlgn="base" hangingPunct="0">
              <a:spcBef>
                <a:spcPct val="0"/>
              </a:spcBef>
              <a:spcAft>
                <a:spcPct val="0"/>
              </a:spcAft>
              <a:defRPr sz="3200" b="1">
                <a:solidFill>
                  <a:srgbClr val="FAFD00"/>
                </a:solidFill>
                <a:latin typeface="Arial" panose="020B0604020202020204" pitchFamily="34" charset="0"/>
              </a:defRPr>
            </a:lvl8pPr>
            <a:lvl9pPr marL="3886200" indent="-228600" defTabSz="585788"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r>
              <a:rPr lang="en-US" altLang="en-US" sz="2003">
                <a:solidFill>
                  <a:schemeClr val="tx1"/>
                </a:solidFill>
                <a:latin typeface="Symbol" panose="05050102010706020507" pitchFamily="18" charset="2"/>
                <a:cs typeface="Times New Roman" pitchFamily="18" charset="0"/>
              </a:rPr>
              <a:t>4</a:t>
            </a:r>
          </a:p>
        </p:txBody>
      </p:sp>
      <p:sp>
        <p:nvSpPr>
          <p:cNvPr id="133" name="Rectangle 81"/>
          <p:cNvSpPr>
            <a:spLocks noChangeArrowheads="1"/>
          </p:cNvSpPr>
          <p:nvPr/>
        </p:nvSpPr>
        <p:spPr bwMode="auto">
          <a:xfrm>
            <a:off x="2930850" y="4671076"/>
            <a:ext cx="461602" cy="352047"/>
          </a:xfrm>
          <a:prstGeom prst="rect">
            <a:avLst/>
          </a:prstGeom>
          <a:solidFill>
            <a:schemeClr val="hlink"/>
          </a:solidFill>
          <a:ln>
            <a:noFill/>
          </a:ln>
          <a:effectLst/>
          <a:extLst>
            <a:ext uri="{91240B29-F687-4F45-9708-019B960494DF}">
              <a14:hiddenLine xmlns:a14="http://schemas.microsoft.com/office/drawing/2010/main" w="50800">
                <a:solidFill>
                  <a:srgbClr val="8901F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3127" tIns="36563" rIns="73127" bIns="36563">
            <a:spAutoFit/>
          </a:bodyPr>
          <a:lstStyle>
            <a:lvl1pPr defTabSz="585788">
              <a:defRPr sz="3200" b="1">
                <a:solidFill>
                  <a:srgbClr val="FAFD00"/>
                </a:solidFill>
                <a:latin typeface="Arial" panose="020B0604020202020204" pitchFamily="34" charset="0"/>
              </a:defRPr>
            </a:lvl1pPr>
            <a:lvl2pPr marL="742950" indent="-285750" defTabSz="585788">
              <a:defRPr sz="3200" b="1">
                <a:solidFill>
                  <a:srgbClr val="FAFD00"/>
                </a:solidFill>
                <a:latin typeface="Arial" panose="020B0604020202020204" pitchFamily="34" charset="0"/>
              </a:defRPr>
            </a:lvl2pPr>
            <a:lvl3pPr marL="1143000" indent="-228600" defTabSz="585788">
              <a:defRPr sz="3200" b="1">
                <a:solidFill>
                  <a:srgbClr val="FAFD00"/>
                </a:solidFill>
                <a:latin typeface="Arial" panose="020B0604020202020204" pitchFamily="34" charset="0"/>
              </a:defRPr>
            </a:lvl3pPr>
            <a:lvl4pPr marL="1600200" indent="-228600" defTabSz="585788">
              <a:defRPr sz="3200" b="1">
                <a:solidFill>
                  <a:srgbClr val="FAFD00"/>
                </a:solidFill>
                <a:latin typeface="Arial" panose="020B0604020202020204" pitchFamily="34" charset="0"/>
              </a:defRPr>
            </a:lvl4pPr>
            <a:lvl5pPr marL="2057400" indent="-228600" defTabSz="585788">
              <a:defRPr sz="3200" b="1">
                <a:solidFill>
                  <a:srgbClr val="FAFD00"/>
                </a:solidFill>
                <a:latin typeface="Arial" panose="020B0604020202020204" pitchFamily="34" charset="0"/>
              </a:defRPr>
            </a:lvl5pPr>
            <a:lvl6pPr marL="2514600" indent="-228600" defTabSz="585788" eaLnBrk="0" fontAlgn="base" hangingPunct="0">
              <a:spcBef>
                <a:spcPct val="0"/>
              </a:spcBef>
              <a:spcAft>
                <a:spcPct val="0"/>
              </a:spcAft>
              <a:defRPr sz="3200" b="1">
                <a:solidFill>
                  <a:srgbClr val="FAFD00"/>
                </a:solidFill>
                <a:latin typeface="Arial" panose="020B0604020202020204" pitchFamily="34" charset="0"/>
              </a:defRPr>
            </a:lvl6pPr>
            <a:lvl7pPr marL="2971800" indent="-228600" defTabSz="585788" eaLnBrk="0" fontAlgn="base" hangingPunct="0">
              <a:spcBef>
                <a:spcPct val="0"/>
              </a:spcBef>
              <a:spcAft>
                <a:spcPct val="0"/>
              </a:spcAft>
              <a:defRPr sz="3200" b="1">
                <a:solidFill>
                  <a:srgbClr val="FAFD00"/>
                </a:solidFill>
                <a:latin typeface="Arial" panose="020B0604020202020204" pitchFamily="34" charset="0"/>
              </a:defRPr>
            </a:lvl7pPr>
            <a:lvl8pPr marL="3429000" indent="-228600" defTabSz="585788" eaLnBrk="0" fontAlgn="base" hangingPunct="0">
              <a:spcBef>
                <a:spcPct val="0"/>
              </a:spcBef>
              <a:spcAft>
                <a:spcPct val="0"/>
              </a:spcAft>
              <a:defRPr sz="3200" b="1">
                <a:solidFill>
                  <a:srgbClr val="FAFD00"/>
                </a:solidFill>
                <a:latin typeface="Arial" panose="020B0604020202020204" pitchFamily="34" charset="0"/>
              </a:defRPr>
            </a:lvl8pPr>
            <a:lvl9pPr marL="3886200" indent="-228600" defTabSz="585788"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r>
              <a:rPr lang="en-US" altLang="en-US" sz="2003">
                <a:solidFill>
                  <a:schemeClr val="tx1"/>
                </a:solidFill>
                <a:latin typeface="Symbol" panose="05050102010706020507" pitchFamily="18" charset="2"/>
                <a:cs typeface="Times New Roman" pitchFamily="18" charset="0"/>
              </a:rPr>
              <a:t>3</a:t>
            </a:r>
          </a:p>
        </p:txBody>
      </p:sp>
      <p:sp>
        <p:nvSpPr>
          <p:cNvPr id="134" name="Rectangle 82"/>
          <p:cNvSpPr>
            <a:spLocks noChangeArrowheads="1"/>
          </p:cNvSpPr>
          <p:nvPr/>
        </p:nvSpPr>
        <p:spPr bwMode="auto">
          <a:xfrm>
            <a:off x="2288886" y="5263476"/>
            <a:ext cx="461602" cy="349220"/>
          </a:xfrm>
          <a:prstGeom prst="rect">
            <a:avLst/>
          </a:prstGeom>
          <a:solidFill>
            <a:schemeClr val="hlink"/>
          </a:solidFill>
          <a:ln>
            <a:noFill/>
          </a:ln>
          <a:effectLst/>
          <a:extLst>
            <a:ext uri="{91240B29-F687-4F45-9708-019B960494DF}">
              <a14:hiddenLine xmlns:a14="http://schemas.microsoft.com/office/drawing/2010/main" w="50800">
                <a:solidFill>
                  <a:srgbClr val="8901F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3127" tIns="36563" rIns="73127" bIns="36563">
            <a:spAutoFit/>
          </a:bodyPr>
          <a:lstStyle>
            <a:lvl1pPr defTabSz="585788">
              <a:defRPr sz="3200" b="1">
                <a:solidFill>
                  <a:srgbClr val="FAFD00"/>
                </a:solidFill>
                <a:latin typeface="Arial" panose="020B0604020202020204" pitchFamily="34" charset="0"/>
              </a:defRPr>
            </a:lvl1pPr>
            <a:lvl2pPr marL="742950" indent="-285750" defTabSz="585788">
              <a:defRPr sz="3200" b="1">
                <a:solidFill>
                  <a:srgbClr val="FAFD00"/>
                </a:solidFill>
                <a:latin typeface="Arial" panose="020B0604020202020204" pitchFamily="34" charset="0"/>
              </a:defRPr>
            </a:lvl2pPr>
            <a:lvl3pPr marL="1143000" indent="-228600" defTabSz="585788">
              <a:defRPr sz="3200" b="1">
                <a:solidFill>
                  <a:srgbClr val="FAFD00"/>
                </a:solidFill>
                <a:latin typeface="Arial" panose="020B0604020202020204" pitchFamily="34" charset="0"/>
              </a:defRPr>
            </a:lvl3pPr>
            <a:lvl4pPr marL="1600200" indent="-228600" defTabSz="585788">
              <a:defRPr sz="3200" b="1">
                <a:solidFill>
                  <a:srgbClr val="FAFD00"/>
                </a:solidFill>
                <a:latin typeface="Arial" panose="020B0604020202020204" pitchFamily="34" charset="0"/>
              </a:defRPr>
            </a:lvl4pPr>
            <a:lvl5pPr marL="2057400" indent="-228600" defTabSz="585788">
              <a:defRPr sz="3200" b="1">
                <a:solidFill>
                  <a:srgbClr val="FAFD00"/>
                </a:solidFill>
                <a:latin typeface="Arial" panose="020B0604020202020204" pitchFamily="34" charset="0"/>
              </a:defRPr>
            </a:lvl5pPr>
            <a:lvl6pPr marL="2514600" indent="-228600" defTabSz="585788" eaLnBrk="0" fontAlgn="base" hangingPunct="0">
              <a:spcBef>
                <a:spcPct val="0"/>
              </a:spcBef>
              <a:spcAft>
                <a:spcPct val="0"/>
              </a:spcAft>
              <a:defRPr sz="3200" b="1">
                <a:solidFill>
                  <a:srgbClr val="FAFD00"/>
                </a:solidFill>
                <a:latin typeface="Arial" panose="020B0604020202020204" pitchFamily="34" charset="0"/>
              </a:defRPr>
            </a:lvl6pPr>
            <a:lvl7pPr marL="2971800" indent="-228600" defTabSz="585788" eaLnBrk="0" fontAlgn="base" hangingPunct="0">
              <a:spcBef>
                <a:spcPct val="0"/>
              </a:spcBef>
              <a:spcAft>
                <a:spcPct val="0"/>
              </a:spcAft>
              <a:defRPr sz="3200" b="1">
                <a:solidFill>
                  <a:srgbClr val="FAFD00"/>
                </a:solidFill>
                <a:latin typeface="Arial" panose="020B0604020202020204" pitchFamily="34" charset="0"/>
              </a:defRPr>
            </a:lvl7pPr>
            <a:lvl8pPr marL="3429000" indent="-228600" defTabSz="585788" eaLnBrk="0" fontAlgn="base" hangingPunct="0">
              <a:spcBef>
                <a:spcPct val="0"/>
              </a:spcBef>
              <a:spcAft>
                <a:spcPct val="0"/>
              </a:spcAft>
              <a:defRPr sz="3200" b="1">
                <a:solidFill>
                  <a:srgbClr val="FAFD00"/>
                </a:solidFill>
                <a:latin typeface="Arial" panose="020B0604020202020204" pitchFamily="34" charset="0"/>
              </a:defRPr>
            </a:lvl8pPr>
            <a:lvl9pPr marL="3886200" indent="-228600" defTabSz="585788"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r>
              <a:rPr lang="en-US" altLang="en-US" sz="2003">
                <a:solidFill>
                  <a:schemeClr val="tx1"/>
                </a:solidFill>
                <a:latin typeface="Symbol" panose="05050102010706020507" pitchFamily="18" charset="2"/>
                <a:cs typeface="Times New Roman" pitchFamily="18" charset="0"/>
              </a:rPr>
              <a:t>2</a:t>
            </a:r>
          </a:p>
        </p:txBody>
      </p:sp>
      <p:sp>
        <p:nvSpPr>
          <p:cNvPr id="135" name="Rectangle 83"/>
          <p:cNvSpPr>
            <a:spLocks noChangeArrowheads="1"/>
          </p:cNvSpPr>
          <p:nvPr/>
        </p:nvSpPr>
        <p:spPr bwMode="auto">
          <a:xfrm>
            <a:off x="2930850" y="5263476"/>
            <a:ext cx="461602" cy="349220"/>
          </a:xfrm>
          <a:prstGeom prst="rect">
            <a:avLst/>
          </a:prstGeom>
          <a:solidFill>
            <a:schemeClr val="hlink"/>
          </a:solidFill>
          <a:ln>
            <a:noFill/>
          </a:ln>
          <a:effectLst/>
          <a:extLst>
            <a:ext uri="{91240B29-F687-4F45-9708-019B960494DF}">
              <a14:hiddenLine xmlns:a14="http://schemas.microsoft.com/office/drawing/2010/main" w="50800">
                <a:solidFill>
                  <a:srgbClr val="8901F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3127" tIns="36563" rIns="73127" bIns="36563">
            <a:spAutoFit/>
          </a:bodyPr>
          <a:lstStyle>
            <a:lvl1pPr defTabSz="585788">
              <a:defRPr sz="3200" b="1">
                <a:solidFill>
                  <a:srgbClr val="FAFD00"/>
                </a:solidFill>
                <a:latin typeface="Arial" panose="020B0604020202020204" pitchFamily="34" charset="0"/>
              </a:defRPr>
            </a:lvl1pPr>
            <a:lvl2pPr marL="742950" indent="-285750" defTabSz="585788">
              <a:defRPr sz="3200" b="1">
                <a:solidFill>
                  <a:srgbClr val="FAFD00"/>
                </a:solidFill>
                <a:latin typeface="Arial" panose="020B0604020202020204" pitchFamily="34" charset="0"/>
              </a:defRPr>
            </a:lvl2pPr>
            <a:lvl3pPr marL="1143000" indent="-228600" defTabSz="585788">
              <a:defRPr sz="3200" b="1">
                <a:solidFill>
                  <a:srgbClr val="FAFD00"/>
                </a:solidFill>
                <a:latin typeface="Arial" panose="020B0604020202020204" pitchFamily="34" charset="0"/>
              </a:defRPr>
            </a:lvl3pPr>
            <a:lvl4pPr marL="1600200" indent="-228600" defTabSz="585788">
              <a:defRPr sz="3200" b="1">
                <a:solidFill>
                  <a:srgbClr val="FAFD00"/>
                </a:solidFill>
                <a:latin typeface="Arial" panose="020B0604020202020204" pitchFamily="34" charset="0"/>
              </a:defRPr>
            </a:lvl4pPr>
            <a:lvl5pPr marL="2057400" indent="-228600" defTabSz="585788">
              <a:defRPr sz="3200" b="1">
                <a:solidFill>
                  <a:srgbClr val="FAFD00"/>
                </a:solidFill>
                <a:latin typeface="Arial" panose="020B0604020202020204" pitchFamily="34" charset="0"/>
              </a:defRPr>
            </a:lvl5pPr>
            <a:lvl6pPr marL="2514600" indent="-228600" defTabSz="585788" eaLnBrk="0" fontAlgn="base" hangingPunct="0">
              <a:spcBef>
                <a:spcPct val="0"/>
              </a:spcBef>
              <a:spcAft>
                <a:spcPct val="0"/>
              </a:spcAft>
              <a:defRPr sz="3200" b="1">
                <a:solidFill>
                  <a:srgbClr val="FAFD00"/>
                </a:solidFill>
                <a:latin typeface="Arial" panose="020B0604020202020204" pitchFamily="34" charset="0"/>
              </a:defRPr>
            </a:lvl6pPr>
            <a:lvl7pPr marL="2971800" indent="-228600" defTabSz="585788" eaLnBrk="0" fontAlgn="base" hangingPunct="0">
              <a:spcBef>
                <a:spcPct val="0"/>
              </a:spcBef>
              <a:spcAft>
                <a:spcPct val="0"/>
              </a:spcAft>
              <a:defRPr sz="3200" b="1">
                <a:solidFill>
                  <a:srgbClr val="FAFD00"/>
                </a:solidFill>
                <a:latin typeface="Arial" panose="020B0604020202020204" pitchFamily="34" charset="0"/>
              </a:defRPr>
            </a:lvl7pPr>
            <a:lvl8pPr marL="3429000" indent="-228600" defTabSz="585788" eaLnBrk="0" fontAlgn="base" hangingPunct="0">
              <a:spcBef>
                <a:spcPct val="0"/>
              </a:spcBef>
              <a:spcAft>
                <a:spcPct val="0"/>
              </a:spcAft>
              <a:defRPr sz="3200" b="1">
                <a:solidFill>
                  <a:srgbClr val="FAFD00"/>
                </a:solidFill>
                <a:latin typeface="Arial" panose="020B0604020202020204" pitchFamily="34" charset="0"/>
              </a:defRPr>
            </a:lvl8pPr>
            <a:lvl9pPr marL="3886200" indent="-228600" defTabSz="585788"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r>
              <a:rPr lang="en-US" altLang="en-US" sz="2003">
                <a:solidFill>
                  <a:schemeClr val="tx1"/>
                </a:solidFill>
                <a:latin typeface="Symbol" panose="05050102010706020507" pitchFamily="18" charset="2"/>
                <a:cs typeface="Times New Roman" pitchFamily="18" charset="0"/>
              </a:rPr>
              <a:t>1</a:t>
            </a:r>
          </a:p>
        </p:txBody>
      </p:sp>
      <p:sp>
        <p:nvSpPr>
          <p:cNvPr id="136" name="Rectangle 87"/>
          <p:cNvSpPr>
            <a:spLocks noChangeArrowheads="1"/>
          </p:cNvSpPr>
          <p:nvPr/>
        </p:nvSpPr>
        <p:spPr bwMode="auto">
          <a:xfrm>
            <a:off x="5584299" y="1808039"/>
            <a:ext cx="1323668" cy="585332"/>
          </a:xfrm>
          <a:prstGeom prst="rect">
            <a:avLst/>
          </a:prstGeom>
          <a:solidFill>
            <a:schemeClr val="bg1"/>
          </a:solidFill>
          <a:ln w="50800">
            <a:solidFill>
              <a:schemeClr val="folHlink"/>
            </a:solidFill>
            <a:miter lim="800000"/>
            <a:headEnd/>
            <a:tailEnd/>
          </a:ln>
          <a:effectLst/>
        </p:spPr>
        <p:txBody>
          <a:bodyPr wrap="none" anchor="ct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endParaRPr lang="en-US" altLang="en-US" sz="3204">
              <a:solidFill>
                <a:schemeClr val="tx1"/>
              </a:solidFill>
              <a:cs typeface="Times New Roman" pitchFamily="18" charset="0"/>
            </a:endParaRPr>
          </a:p>
        </p:txBody>
      </p:sp>
      <p:sp>
        <p:nvSpPr>
          <p:cNvPr id="137" name="Line 88"/>
          <p:cNvSpPr>
            <a:spLocks noChangeShapeType="1"/>
          </p:cNvSpPr>
          <p:nvPr/>
        </p:nvSpPr>
        <p:spPr bwMode="auto">
          <a:xfrm flipV="1">
            <a:off x="6238491" y="1829248"/>
            <a:ext cx="0" cy="555641"/>
          </a:xfrm>
          <a:prstGeom prst="line">
            <a:avLst/>
          </a:prstGeom>
          <a:noFill/>
          <a:ln w="508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Arial" panose="020B0604020202020204" pitchFamily="34" charset="0"/>
              <a:cs typeface="Times New Roman" pitchFamily="18" charset="0"/>
            </a:endParaRPr>
          </a:p>
        </p:txBody>
      </p:sp>
      <p:sp>
        <p:nvSpPr>
          <p:cNvPr id="138" name="Rectangle 90"/>
          <p:cNvSpPr>
            <a:spLocks noChangeArrowheads="1"/>
          </p:cNvSpPr>
          <p:nvPr/>
        </p:nvSpPr>
        <p:spPr bwMode="auto">
          <a:xfrm>
            <a:off x="5717278" y="1973460"/>
            <a:ext cx="464659" cy="352047"/>
          </a:xfrm>
          <a:prstGeom prst="rect">
            <a:avLst/>
          </a:prstGeom>
          <a:solidFill>
            <a:schemeClr val="bg1"/>
          </a:solidFill>
          <a:ln>
            <a:noFill/>
          </a:ln>
          <a:effectLst/>
        </p:spPr>
        <p:txBody>
          <a:bodyPr lIns="73127" tIns="36563" rIns="73127" bIns="36563">
            <a:spAutoFit/>
          </a:bodyPr>
          <a:lstStyle>
            <a:lvl1pPr defTabSz="585788">
              <a:defRPr sz="3200" b="1">
                <a:solidFill>
                  <a:srgbClr val="FAFD00"/>
                </a:solidFill>
                <a:latin typeface="Arial" panose="020B0604020202020204" pitchFamily="34" charset="0"/>
              </a:defRPr>
            </a:lvl1pPr>
            <a:lvl2pPr marL="742950" indent="-285750" defTabSz="585788">
              <a:defRPr sz="3200" b="1">
                <a:solidFill>
                  <a:srgbClr val="FAFD00"/>
                </a:solidFill>
                <a:latin typeface="Arial" panose="020B0604020202020204" pitchFamily="34" charset="0"/>
              </a:defRPr>
            </a:lvl2pPr>
            <a:lvl3pPr marL="1143000" indent="-228600" defTabSz="585788">
              <a:defRPr sz="3200" b="1">
                <a:solidFill>
                  <a:srgbClr val="FAFD00"/>
                </a:solidFill>
                <a:latin typeface="Arial" panose="020B0604020202020204" pitchFamily="34" charset="0"/>
              </a:defRPr>
            </a:lvl3pPr>
            <a:lvl4pPr marL="1600200" indent="-228600" defTabSz="585788">
              <a:defRPr sz="3200" b="1">
                <a:solidFill>
                  <a:srgbClr val="FAFD00"/>
                </a:solidFill>
                <a:latin typeface="Arial" panose="020B0604020202020204" pitchFamily="34" charset="0"/>
              </a:defRPr>
            </a:lvl4pPr>
            <a:lvl5pPr marL="2057400" indent="-228600" defTabSz="585788">
              <a:defRPr sz="3200" b="1">
                <a:solidFill>
                  <a:srgbClr val="FAFD00"/>
                </a:solidFill>
                <a:latin typeface="Arial" panose="020B0604020202020204" pitchFamily="34" charset="0"/>
              </a:defRPr>
            </a:lvl5pPr>
            <a:lvl6pPr marL="2514600" indent="-228600" defTabSz="585788" eaLnBrk="0" fontAlgn="base" hangingPunct="0">
              <a:spcBef>
                <a:spcPct val="0"/>
              </a:spcBef>
              <a:spcAft>
                <a:spcPct val="0"/>
              </a:spcAft>
              <a:defRPr sz="3200" b="1">
                <a:solidFill>
                  <a:srgbClr val="FAFD00"/>
                </a:solidFill>
                <a:latin typeface="Arial" panose="020B0604020202020204" pitchFamily="34" charset="0"/>
              </a:defRPr>
            </a:lvl6pPr>
            <a:lvl7pPr marL="2971800" indent="-228600" defTabSz="585788" eaLnBrk="0" fontAlgn="base" hangingPunct="0">
              <a:spcBef>
                <a:spcPct val="0"/>
              </a:spcBef>
              <a:spcAft>
                <a:spcPct val="0"/>
              </a:spcAft>
              <a:defRPr sz="3200" b="1">
                <a:solidFill>
                  <a:srgbClr val="FAFD00"/>
                </a:solidFill>
                <a:latin typeface="Arial" panose="020B0604020202020204" pitchFamily="34" charset="0"/>
              </a:defRPr>
            </a:lvl7pPr>
            <a:lvl8pPr marL="3429000" indent="-228600" defTabSz="585788" eaLnBrk="0" fontAlgn="base" hangingPunct="0">
              <a:spcBef>
                <a:spcPct val="0"/>
              </a:spcBef>
              <a:spcAft>
                <a:spcPct val="0"/>
              </a:spcAft>
              <a:defRPr sz="3200" b="1">
                <a:solidFill>
                  <a:srgbClr val="FAFD00"/>
                </a:solidFill>
                <a:latin typeface="Arial" panose="020B0604020202020204" pitchFamily="34" charset="0"/>
              </a:defRPr>
            </a:lvl8pPr>
            <a:lvl9pPr marL="3886200" indent="-228600" defTabSz="585788"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r>
              <a:rPr lang="en-US" altLang="en-US" sz="2003">
                <a:solidFill>
                  <a:schemeClr val="tx1"/>
                </a:solidFill>
                <a:latin typeface="Symbol" panose="05050102010706020507" pitchFamily="18" charset="2"/>
                <a:cs typeface="Times New Roman" pitchFamily="18" charset="0"/>
              </a:rPr>
              <a:t>6</a:t>
            </a:r>
          </a:p>
        </p:txBody>
      </p:sp>
      <p:sp>
        <p:nvSpPr>
          <p:cNvPr id="139" name="Rectangle 91"/>
          <p:cNvSpPr>
            <a:spLocks noChangeArrowheads="1"/>
          </p:cNvSpPr>
          <p:nvPr/>
        </p:nvSpPr>
        <p:spPr bwMode="auto">
          <a:xfrm>
            <a:off x="6377583" y="1973460"/>
            <a:ext cx="460074" cy="352047"/>
          </a:xfrm>
          <a:prstGeom prst="rect">
            <a:avLst/>
          </a:prstGeom>
          <a:solidFill>
            <a:schemeClr val="bg1"/>
          </a:solidFill>
          <a:ln>
            <a:noFill/>
          </a:ln>
          <a:effectLst/>
        </p:spPr>
        <p:txBody>
          <a:bodyPr lIns="73127" tIns="36563" rIns="73127" bIns="36563">
            <a:spAutoFit/>
          </a:bodyPr>
          <a:lstStyle>
            <a:lvl1pPr defTabSz="585788">
              <a:defRPr sz="3200" b="1">
                <a:solidFill>
                  <a:srgbClr val="FAFD00"/>
                </a:solidFill>
                <a:latin typeface="Arial" panose="020B0604020202020204" pitchFamily="34" charset="0"/>
              </a:defRPr>
            </a:lvl1pPr>
            <a:lvl2pPr marL="742950" indent="-285750" defTabSz="585788">
              <a:defRPr sz="3200" b="1">
                <a:solidFill>
                  <a:srgbClr val="FAFD00"/>
                </a:solidFill>
                <a:latin typeface="Arial" panose="020B0604020202020204" pitchFamily="34" charset="0"/>
              </a:defRPr>
            </a:lvl2pPr>
            <a:lvl3pPr marL="1143000" indent="-228600" defTabSz="585788">
              <a:defRPr sz="3200" b="1">
                <a:solidFill>
                  <a:srgbClr val="FAFD00"/>
                </a:solidFill>
                <a:latin typeface="Arial" panose="020B0604020202020204" pitchFamily="34" charset="0"/>
              </a:defRPr>
            </a:lvl3pPr>
            <a:lvl4pPr marL="1600200" indent="-228600" defTabSz="585788">
              <a:defRPr sz="3200" b="1">
                <a:solidFill>
                  <a:srgbClr val="FAFD00"/>
                </a:solidFill>
                <a:latin typeface="Arial" panose="020B0604020202020204" pitchFamily="34" charset="0"/>
              </a:defRPr>
            </a:lvl4pPr>
            <a:lvl5pPr marL="2057400" indent="-228600" defTabSz="585788">
              <a:defRPr sz="3200" b="1">
                <a:solidFill>
                  <a:srgbClr val="FAFD00"/>
                </a:solidFill>
                <a:latin typeface="Arial" panose="020B0604020202020204" pitchFamily="34" charset="0"/>
              </a:defRPr>
            </a:lvl5pPr>
            <a:lvl6pPr marL="2514600" indent="-228600" defTabSz="585788" eaLnBrk="0" fontAlgn="base" hangingPunct="0">
              <a:spcBef>
                <a:spcPct val="0"/>
              </a:spcBef>
              <a:spcAft>
                <a:spcPct val="0"/>
              </a:spcAft>
              <a:defRPr sz="3200" b="1">
                <a:solidFill>
                  <a:srgbClr val="FAFD00"/>
                </a:solidFill>
                <a:latin typeface="Arial" panose="020B0604020202020204" pitchFamily="34" charset="0"/>
              </a:defRPr>
            </a:lvl6pPr>
            <a:lvl7pPr marL="2971800" indent="-228600" defTabSz="585788" eaLnBrk="0" fontAlgn="base" hangingPunct="0">
              <a:spcBef>
                <a:spcPct val="0"/>
              </a:spcBef>
              <a:spcAft>
                <a:spcPct val="0"/>
              </a:spcAft>
              <a:defRPr sz="3200" b="1">
                <a:solidFill>
                  <a:srgbClr val="FAFD00"/>
                </a:solidFill>
                <a:latin typeface="Arial" panose="020B0604020202020204" pitchFamily="34" charset="0"/>
              </a:defRPr>
            </a:lvl7pPr>
            <a:lvl8pPr marL="3429000" indent="-228600" defTabSz="585788" eaLnBrk="0" fontAlgn="base" hangingPunct="0">
              <a:spcBef>
                <a:spcPct val="0"/>
              </a:spcBef>
              <a:spcAft>
                <a:spcPct val="0"/>
              </a:spcAft>
              <a:defRPr sz="3200" b="1">
                <a:solidFill>
                  <a:srgbClr val="FAFD00"/>
                </a:solidFill>
                <a:latin typeface="Arial" panose="020B0604020202020204" pitchFamily="34" charset="0"/>
              </a:defRPr>
            </a:lvl8pPr>
            <a:lvl9pPr marL="3886200" indent="-228600" defTabSz="585788"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r>
              <a:rPr lang="en-US" altLang="en-US" sz="2003">
                <a:solidFill>
                  <a:schemeClr val="tx1"/>
                </a:solidFill>
                <a:latin typeface="Symbol" panose="05050102010706020507" pitchFamily="18" charset="2"/>
                <a:cs typeface="Times New Roman" pitchFamily="18" charset="0"/>
              </a:rPr>
              <a:t>4</a:t>
            </a:r>
          </a:p>
        </p:txBody>
      </p:sp>
      <p:sp>
        <p:nvSpPr>
          <p:cNvPr id="140" name="Rectangle 94"/>
          <p:cNvSpPr>
            <a:spLocks noChangeArrowheads="1"/>
          </p:cNvSpPr>
          <p:nvPr/>
        </p:nvSpPr>
        <p:spPr bwMode="auto">
          <a:xfrm rot="16200000">
            <a:off x="3964833" y="4702486"/>
            <a:ext cx="1224390" cy="632793"/>
          </a:xfrm>
          <a:prstGeom prst="rect">
            <a:avLst/>
          </a:prstGeom>
          <a:solidFill>
            <a:schemeClr val="bg1"/>
          </a:solidFill>
          <a:ln w="50800">
            <a:solidFill>
              <a:schemeClr val="folHlink"/>
            </a:solidFill>
            <a:miter lim="800000"/>
            <a:headEnd/>
            <a:tailEnd/>
          </a:ln>
          <a:effectLst/>
        </p:spPr>
        <p:txBody>
          <a:bodyPr wrap="none" anchor="ct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endParaRPr lang="en-US" altLang="en-US" sz="3204">
              <a:solidFill>
                <a:schemeClr val="tx1"/>
              </a:solidFill>
              <a:cs typeface="Times New Roman" pitchFamily="18" charset="0"/>
            </a:endParaRPr>
          </a:p>
        </p:txBody>
      </p:sp>
      <p:sp>
        <p:nvSpPr>
          <p:cNvPr id="141" name="Line 95"/>
          <p:cNvSpPr>
            <a:spLocks noChangeShapeType="1"/>
          </p:cNvSpPr>
          <p:nvPr/>
        </p:nvSpPr>
        <p:spPr bwMode="auto">
          <a:xfrm rot="16200000" flipV="1">
            <a:off x="4583142" y="4723482"/>
            <a:ext cx="0" cy="600694"/>
          </a:xfrm>
          <a:prstGeom prst="line">
            <a:avLst/>
          </a:prstGeom>
          <a:noFill/>
          <a:ln w="508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Arial" panose="020B0604020202020204" pitchFamily="34" charset="0"/>
              <a:cs typeface="Times New Roman" pitchFamily="18" charset="0"/>
            </a:endParaRPr>
          </a:p>
        </p:txBody>
      </p:sp>
      <p:sp>
        <p:nvSpPr>
          <p:cNvPr id="142" name="Rectangle 96"/>
          <p:cNvSpPr>
            <a:spLocks noChangeArrowheads="1"/>
          </p:cNvSpPr>
          <p:nvPr/>
        </p:nvSpPr>
        <p:spPr bwMode="auto">
          <a:xfrm>
            <a:off x="4399724" y="5110781"/>
            <a:ext cx="461602" cy="349220"/>
          </a:xfrm>
          <a:prstGeom prst="rect">
            <a:avLst/>
          </a:prstGeom>
          <a:solidFill>
            <a:schemeClr val="bg1"/>
          </a:solidFill>
          <a:ln>
            <a:noFill/>
          </a:ln>
          <a:effectLst/>
        </p:spPr>
        <p:txBody>
          <a:bodyPr lIns="73127" tIns="36563" rIns="73127" bIns="36563">
            <a:spAutoFit/>
          </a:bodyPr>
          <a:lstStyle>
            <a:lvl1pPr defTabSz="585788">
              <a:defRPr sz="3200" b="1">
                <a:solidFill>
                  <a:srgbClr val="FAFD00"/>
                </a:solidFill>
                <a:latin typeface="Arial" panose="020B0604020202020204" pitchFamily="34" charset="0"/>
              </a:defRPr>
            </a:lvl1pPr>
            <a:lvl2pPr marL="742950" indent="-285750" defTabSz="585788">
              <a:defRPr sz="3200" b="1">
                <a:solidFill>
                  <a:srgbClr val="FAFD00"/>
                </a:solidFill>
                <a:latin typeface="Arial" panose="020B0604020202020204" pitchFamily="34" charset="0"/>
              </a:defRPr>
            </a:lvl2pPr>
            <a:lvl3pPr marL="1143000" indent="-228600" defTabSz="585788">
              <a:defRPr sz="3200" b="1">
                <a:solidFill>
                  <a:srgbClr val="FAFD00"/>
                </a:solidFill>
                <a:latin typeface="Arial" panose="020B0604020202020204" pitchFamily="34" charset="0"/>
              </a:defRPr>
            </a:lvl3pPr>
            <a:lvl4pPr marL="1600200" indent="-228600" defTabSz="585788">
              <a:defRPr sz="3200" b="1">
                <a:solidFill>
                  <a:srgbClr val="FAFD00"/>
                </a:solidFill>
                <a:latin typeface="Arial" panose="020B0604020202020204" pitchFamily="34" charset="0"/>
              </a:defRPr>
            </a:lvl4pPr>
            <a:lvl5pPr marL="2057400" indent="-228600" defTabSz="585788">
              <a:defRPr sz="3200" b="1">
                <a:solidFill>
                  <a:srgbClr val="FAFD00"/>
                </a:solidFill>
                <a:latin typeface="Arial" panose="020B0604020202020204" pitchFamily="34" charset="0"/>
              </a:defRPr>
            </a:lvl5pPr>
            <a:lvl6pPr marL="2514600" indent="-228600" defTabSz="585788" eaLnBrk="0" fontAlgn="base" hangingPunct="0">
              <a:spcBef>
                <a:spcPct val="0"/>
              </a:spcBef>
              <a:spcAft>
                <a:spcPct val="0"/>
              </a:spcAft>
              <a:defRPr sz="3200" b="1">
                <a:solidFill>
                  <a:srgbClr val="FAFD00"/>
                </a:solidFill>
                <a:latin typeface="Arial" panose="020B0604020202020204" pitchFamily="34" charset="0"/>
              </a:defRPr>
            </a:lvl6pPr>
            <a:lvl7pPr marL="2971800" indent="-228600" defTabSz="585788" eaLnBrk="0" fontAlgn="base" hangingPunct="0">
              <a:spcBef>
                <a:spcPct val="0"/>
              </a:spcBef>
              <a:spcAft>
                <a:spcPct val="0"/>
              </a:spcAft>
              <a:defRPr sz="3200" b="1">
                <a:solidFill>
                  <a:srgbClr val="FAFD00"/>
                </a:solidFill>
                <a:latin typeface="Arial" panose="020B0604020202020204" pitchFamily="34" charset="0"/>
              </a:defRPr>
            </a:lvl7pPr>
            <a:lvl8pPr marL="3429000" indent="-228600" defTabSz="585788" eaLnBrk="0" fontAlgn="base" hangingPunct="0">
              <a:spcBef>
                <a:spcPct val="0"/>
              </a:spcBef>
              <a:spcAft>
                <a:spcPct val="0"/>
              </a:spcAft>
              <a:defRPr sz="3200" b="1">
                <a:solidFill>
                  <a:srgbClr val="FAFD00"/>
                </a:solidFill>
                <a:latin typeface="Arial" panose="020B0604020202020204" pitchFamily="34" charset="0"/>
              </a:defRPr>
            </a:lvl8pPr>
            <a:lvl9pPr marL="3886200" indent="-228600" defTabSz="585788"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r>
              <a:rPr lang="en-US" altLang="en-US" sz="2003">
                <a:solidFill>
                  <a:schemeClr val="tx1"/>
                </a:solidFill>
                <a:latin typeface="Symbol" panose="05050102010706020507" pitchFamily="18" charset="2"/>
                <a:cs typeface="Times New Roman" pitchFamily="18" charset="0"/>
              </a:rPr>
              <a:t>-2</a:t>
            </a:r>
          </a:p>
        </p:txBody>
      </p:sp>
      <p:sp>
        <p:nvSpPr>
          <p:cNvPr id="143" name="Rectangle 97"/>
          <p:cNvSpPr>
            <a:spLocks noChangeArrowheads="1"/>
          </p:cNvSpPr>
          <p:nvPr/>
        </p:nvSpPr>
        <p:spPr bwMode="auto">
          <a:xfrm>
            <a:off x="4529646" y="4552313"/>
            <a:ext cx="223159" cy="352047"/>
          </a:xfrm>
          <a:prstGeom prst="rect">
            <a:avLst/>
          </a:prstGeom>
          <a:solidFill>
            <a:schemeClr val="bg1"/>
          </a:solidFill>
          <a:ln>
            <a:noFill/>
          </a:ln>
          <a:effectLst/>
        </p:spPr>
        <p:txBody>
          <a:bodyPr lIns="73127" tIns="36563" rIns="73127" bIns="36563">
            <a:spAutoFit/>
          </a:bodyPr>
          <a:lstStyle>
            <a:lvl1pPr defTabSz="585788">
              <a:defRPr sz="3200" b="1">
                <a:solidFill>
                  <a:srgbClr val="FAFD00"/>
                </a:solidFill>
                <a:latin typeface="Arial" panose="020B0604020202020204" pitchFamily="34" charset="0"/>
              </a:defRPr>
            </a:lvl1pPr>
            <a:lvl2pPr marL="742950" indent="-285750" defTabSz="585788">
              <a:defRPr sz="3200" b="1">
                <a:solidFill>
                  <a:srgbClr val="FAFD00"/>
                </a:solidFill>
                <a:latin typeface="Arial" panose="020B0604020202020204" pitchFamily="34" charset="0"/>
              </a:defRPr>
            </a:lvl2pPr>
            <a:lvl3pPr marL="1143000" indent="-228600" defTabSz="585788">
              <a:defRPr sz="3200" b="1">
                <a:solidFill>
                  <a:srgbClr val="FAFD00"/>
                </a:solidFill>
                <a:latin typeface="Arial" panose="020B0604020202020204" pitchFamily="34" charset="0"/>
              </a:defRPr>
            </a:lvl3pPr>
            <a:lvl4pPr marL="1600200" indent="-228600" defTabSz="585788">
              <a:defRPr sz="3200" b="1">
                <a:solidFill>
                  <a:srgbClr val="FAFD00"/>
                </a:solidFill>
                <a:latin typeface="Arial" panose="020B0604020202020204" pitchFamily="34" charset="0"/>
              </a:defRPr>
            </a:lvl4pPr>
            <a:lvl5pPr marL="2057400" indent="-228600" defTabSz="585788">
              <a:defRPr sz="3200" b="1">
                <a:solidFill>
                  <a:srgbClr val="FAFD00"/>
                </a:solidFill>
                <a:latin typeface="Arial" panose="020B0604020202020204" pitchFamily="34" charset="0"/>
              </a:defRPr>
            </a:lvl5pPr>
            <a:lvl6pPr marL="2514600" indent="-228600" defTabSz="585788" eaLnBrk="0" fontAlgn="base" hangingPunct="0">
              <a:spcBef>
                <a:spcPct val="0"/>
              </a:spcBef>
              <a:spcAft>
                <a:spcPct val="0"/>
              </a:spcAft>
              <a:defRPr sz="3200" b="1">
                <a:solidFill>
                  <a:srgbClr val="FAFD00"/>
                </a:solidFill>
                <a:latin typeface="Arial" panose="020B0604020202020204" pitchFamily="34" charset="0"/>
              </a:defRPr>
            </a:lvl6pPr>
            <a:lvl7pPr marL="2971800" indent="-228600" defTabSz="585788" eaLnBrk="0" fontAlgn="base" hangingPunct="0">
              <a:spcBef>
                <a:spcPct val="0"/>
              </a:spcBef>
              <a:spcAft>
                <a:spcPct val="0"/>
              </a:spcAft>
              <a:defRPr sz="3200" b="1">
                <a:solidFill>
                  <a:srgbClr val="FAFD00"/>
                </a:solidFill>
                <a:latin typeface="Arial" panose="020B0604020202020204" pitchFamily="34" charset="0"/>
              </a:defRPr>
            </a:lvl7pPr>
            <a:lvl8pPr marL="3429000" indent="-228600" defTabSz="585788" eaLnBrk="0" fontAlgn="base" hangingPunct="0">
              <a:spcBef>
                <a:spcPct val="0"/>
              </a:spcBef>
              <a:spcAft>
                <a:spcPct val="0"/>
              </a:spcAft>
              <a:defRPr sz="3200" b="1">
                <a:solidFill>
                  <a:srgbClr val="FAFD00"/>
                </a:solidFill>
                <a:latin typeface="Arial" panose="020B0604020202020204" pitchFamily="34" charset="0"/>
              </a:defRPr>
            </a:lvl8pPr>
            <a:lvl9pPr marL="3886200" indent="-228600" defTabSz="585788"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r>
              <a:rPr lang="en-US" altLang="en-US" sz="2003">
                <a:solidFill>
                  <a:schemeClr val="tx1"/>
                </a:solidFill>
                <a:latin typeface="Symbol" panose="05050102010706020507" pitchFamily="18" charset="2"/>
                <a:cs typeface="Times New Roman" pitchFamily="18" charset="0"/>
              </a:rPr>
              <a:t>2</a:t>
            </a:r>
          </a:p>
        </p:txBody>
      </p:sp>
      <p:sp>
        <p:nvSpPr>
          <p:cNvPr id="144" name="Line 99"/>
          <p:cNvSpPr>
            <a:spLocks noChangeShapeType="1"/>
          </p:cNvSpPr>
          <p:nvPr/>
        </p:nvSpPr>
        <p:spPr bwMode="auto">
          <a:xfrm>
            <a:off x="3768459" y="4403859"/>
            <a:ext cx="0" cy="1289427"/>
          </a:xfrm>
          <a:prstGeom prst="line">
            <a:avLst/>
          </a:prstGeom>
          <a:noFill/>
          <a:ln w="508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Arial" panose="020B0604020202020204" pitchFamily="34" charset="0"/>
              <a:cs typeface="Times New Roman" pitchFamily="18" charset="0"/>
            </a:endParaRPr>
          </a:p>
        </p:txBody>
      </p:sp>
      <p:sp>
        <p:nvSpPr>
          <p:cNvPr id="145" name="Line 100"/>
          <p:cNvSpPr>
            <a:spLocks noChangeShapeType="1"/>
          </p:cNvSpPr>
          <p:nvPr/>
        </p:nvSpPr>
        <p:spPr bwMode="auto">
          <a:xfrm>
            <a:off x="1714176" y="4692283"/>
            <a:ext cx="2035942" cy="0"/>
          </a:xfrm>
          <a:prstGeom prst="line">
            <a:avLst/>
          </a:prstGeom>
          <a:noFill/>
          <a:ln w="50800">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Arial" panose="020B0604020202020204" pitchFamily="34" charset="0"/>
              <a:cs typeface="Times New Roman" pitchFamily="18" charset="0"/>
            </a:endParaRPr>
          </a:p>
        </p:txBody>
      </p:sp>
      <p:sp>
        <p:nvSpPr>
          <p:cNvPr id="146" name="Line 101"/>
          <p:cNvSpPr>
            <a:spLocks noChangeShapeType="1"/>
          </p:cNvSpPr>
          <p:nvPr/>
        </p:nvSpPr>
        <p:spPr bwMode="auto">
          <a:xfrm>
            <a:off x="1677493" y="5235199"/>
            <a:ext cx="2090967" cy="16966"/>
          </a:xfrm>
          <a:prstGeom prst="line">
            <a:avLst/>
          </a:prstGeom>
          <a:noFill/>
          <a:ln w="50800">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Arial" panose="020B0604020202020204" pitchFamily="34" charset="0"/>
              <a:cs typeface="Times New Roman" pitchFamily="18" charset="0"/>
            </a:endParaRPr>
          </a:p>
        </p:txBody>
      </p:sp>
      <p:sp>
        <p:nvSpPr>
          <p:cNvPr id="147" name="Line 103"/>
          <p:cNvSpPr>
            <a:spLocks noChangeShapeType="1"/>
          </p:cNvSpPr>
          <p:nvPr/>
        </p:nvSpPr>
        <p:spPr bwMode="auto">
          <a:xfrm>
            <a:off x="6244604" y="4212990"/>
            <a:ext cx="0" cy="814375"/>
          </a:xfrm>
          <a:prstGeom prst="line">
            <a:avLst/>
          </a:prstGeom>
          <a:noFill/>
          <a:ln w="508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Arial" panose="020B0604020202020204" pitchFamily="34" charset="0"/>
              <a:cs typeface="Times New Roman" pitchFamily="18" charset="0"/>
            </a:endParaRPr>
          </a:p>
        </p:txBody>
      </p:sp>
      <p:sp>
        <p:nvSpPr>
          <p:cNvPr id="148" name="Line 104"/>
          <p:cNvSpPr>
            <a:spLocks noChangeShapeType="1"/>
          </p:cNvSpPr>
          <p:nvPr/>
        </p:nvSpPr>
        <p:spPr bwMode="auto">
          <a:xfrm flipH="1">
            <a:off x="4923994" y="5027364"/>
            <a:ext cx="1357294" cy="0"/>
          </a:xfrm>
          <a:prstGeom prst="line">
            <a:avLst/>
          </a:prstGeom>
          <a:noFill/>
          <a:ln w="508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Arial" panose="020B0604020202020204" pitchFamily="34" charset="0"/>
              <a:cs typeface="Times New Roman" pitchFamily="18" charset="0"/>
            </a:endParaRPr>
          </a:p>
        </p:txBody>
      </p:sp>
      <p:sp>
        <p:nvSpPr>
          <p:cNvPr id="149" name="Rectangle 105"/>
          <p:cNvSpPr>
            <a:spLocks noChangeArrowheads="1"/>
          </p:cNvSpPr>
          <p:nvPr/>
        </p:nvSpPr>
        <p:spPr bwMode="auto">
          <a:xfrm>
            <a:off x="6530431" y="4705008"/>
            <a:ext cx="2100138" cy="866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8901F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88" tIns="25435" rIns="63588" bIns="25435">
            <a:spAutoFit/>
          </a:bodyP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gn="ctr">
              <a:lnSpc>
                <a:spcPct val="88000"/>
              </a:lnSpc>
              <a:defRPr/>
            </a:pPr>
            <a:r>
              <a:rPr lang="en-US" altLang="en-US" sz="2003" dirty="0">
                <a:solidFill>
                  <a:schemeClr val="tx1"/>
                </a:solidFill>
                <a:cs typeface="Times New Roman" pitchFamily="18" charset="0"/>
              </a:rPr>
              <a:t>Update a guess</a:t>
            </a:r>
            <a:br>
              <a:rPr lang="en-US" altLang="en-US" sz="2003" dirty="0">
                <a:solidFill>
                  <a:schemeClr val="tx1"/>
                </a:solidFill>
                <a:cs typeface="Times New Roman" pitchFamily="18" charset="0"/>
              </a:rPr>
            </a:br>
            <a:r>
              <a:rPr lang="en-US" altLang="en-US" sz="2003" dirty="0">
                <a:solidFill>
                  <a:schemeClr val="tx1"/>
                </a:solidFill>
                <a:cs typeface="Times New Roman" pitchFamily="18" charset="0"/>
              </a:rPr>
              <a:t>based on</a:t>
            </a:r>
            <a:br>
              <a:rPr lang="en-US" altLang="en-US" sz="2003" dirty="0">
                <a:solidFill>
                  <a:schemeClr val="tx1"/>
                </a:solidFill>
                <a:cs typeface="Times New Roman" pitchFamily="18" charset="0"/>
              </a:rPr>
            </a:br>
            <a:r>
              <a:rPr lang="en-US" altLang="en-US" sz="2003" dirty="0">
                <a:solidFill>
                  <a:schemeClr val="tx1"/>
                </a:solidFill>
                <a:cs typeface="Times New Roman" pitchFamily="18" charset="0"/>
              </a:rPr>
              <a:t>data differences</a:t>
            </a:r>
          </a:p>
        </p:txBody>
      </p:sp>
      <p:sp>
        <p:nvSpPr>
          <p:cNvPr id="150" name="Rectangle 106"/>
          <p:cNvSpPr>
            <a:spLocks noChangeArrowheads="1"/>
          </p:cNvSpPr>
          <p:nvPr/>
        </p:nvSpPr>
        <p:spPr bwMode="auto">
          <a:xfrm>
            <a:off x="7037888" y="3279853"/>
            <a:ext cx="1129550" cy="322357"/>
          </a:xfrm>
          <a:prstGeom prst="rect">
            <a:avLst/>
          </a:prstGeom>
          <a:solidFill>
            <a:schemeClr val="hlink"/>
          </a:solidFill>
          <a:ln>
            <a:noFill/>
          </a:ln>
          <a:effectLst/>
          <a:extLst>
            <a:ext uri="{91240B29-F687-4F45-9708-019B960494DF}">
              <a14:hiddenLine xmlns:a14="http://schemas.microsoft.com/office/drawing/2010/main" w="12700">
                <a:solidFill>
                  <a:srgbClr val="8901F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88" tIns="25435" rIns="63588" bIns="25435">
            <a:spAutoFit/>
          </a:bodyP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gn="ctr">
              <a:lnSpc>
                <a:spcPct val="88000"/>
              </a:lnSpc>
              <a:defRPr/>
            </a:pPr>
            <a:r>
              <a:rPr lang="en-US" altLang="en-US" sz="2003">
                <a:solidFill>
                  <a:schemeClr val="tx1"/>
                </a:solidFill>
                <a:cs typeface="Times New Roman" pitchFamily="18" charset="0"/>
              </a:rPr>
              <a:t>Guess 1</a:t>
            </a:r>
          </a:p>
        </p:txBody>
      </p:sp>
      <p:sp>
        <p:nvSpPr>
          <p:cNvPr id="151" name="Rectangle 107"/>
          <p:cNvSpPr>
            <a:spLocks noChangeArrowheads="1"/>
          </p:cNvSpPr>
          <p:nvPr/>
        </p:nvSpPr>
        <p:spPr bwMode="auto">
          <a:xfrm>
            <a:off x="618253" y="4282269"/>
            <a:ext cx="1129550" cy="322357"/>
          </a:xfrm>
          <a:prstGeom prst="rect">
            <a:avLst/>
          </a:prstGeom>
          <a:solidFill>
            <a:schemeClr val="hlink"/>
          </a:solidFill>
          <a:ln>
            <a:noFill/>
          </a:ln>
          <a:effectLst/>
          <a:extLst>
            <a:ext uri="{91240B29-F687-4F45-9708-019B960494DF}">
              <a14:hiddenLine xmlns:a14="http://schemas.microsoft.com/office/drawing/2010/main" w="12700">
                <a:solidFill>
                  <a:srgbClr val="8901F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88" tIns="25435" rIns="63588" bIns="25435">
            <a:spAutoFit/>
          </a:bodyP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gn="ctr">
              <a:lnSpc>
                <a:spcPct val="88000"/>
              </a:lnSpc>
              <a:defRPr/>
            </a:pPr>
            <a:r>
              <a:rPr lang="en-US" altLang="en-US" sz="2003">
                <a:solidFill>
                  <a:schemeClr val="tx1"/>
                </a:solidFill>
                <a:cs typeface="Times New Roman" pitchFamily="18" charset="0"/>
              </a:rPr>
              <a:t>Guess 0</a:t>
            </a:r>
          </a:p>
        </p:txBody>
      </p:sp>
      <p:sp>
        <p:nvSpPr>
          <p:cNvPr id="152" name="Rectangle 108"/>
          <p:cNvSpPr>
            <a:spLocks noChangeArrowheads="1"/>
          </p:cNvSpPr>
          <p:nvPr/>
        </p:nvSpPr>
        <p:spPr bwMode="auto">
          <a:xfrm>
            <a:off x="968276" y="4791253"/>
            <a:ext cx="1129550" cy="322357"/>
          </a:xfrm>
          <a:prstGeom prst="rect">
            <a:avLst/>
          </a:prstGeom>
          <a:solidFill>
            <a:schemeClr val="hlink"/>
          </a:solidFill>
          <a:ln>
            <a:noFill/>
          </a:ln>
          <a:effectLst/>
          <a:extLst>
            <a:ext uri="{91240B29-F687-4F45-9708-019B960494DF}">
              <a14:hiddenLine xmlns:a14="http://schemas.microsoft.com/office/drawing/2010/main" w="12700">
                <a:solidFill>
                  <a:srgbClr val="8901F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88" tIns="25435" rIns="63588" bIns="25435">
            <a:spAutoFit/>
          </a:bodyP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gn="ctr">
              <a:lnSpc>
                <a:spcPct val="88000"/>
              </a:lnSpc>
              <a:defRPr/>
            </a:pPr>
            <a:r>
              <a:rPr lang="en-US" altLang="en-US" sz="2003">
                <a:solidFill>
                  <a:schemeClr val="tx1"/>
                </a:solidFill>
                <a:cs typeface="Times New Roman" pitchFamily="18" charset="0"/>
              </a:rPr>
              <a:t>Guess 2</a:t>
            </a:r>
          </a:p>
        </p:txBody>
      </p:sp>
      <p:sp>
        <p:nvSpPr>
          <p:cNvPr id="153" name="Rectangle 109"/>
          <p:cNvSpPr>
            <a:spLocks noChangeArrowheads="1"/>
          </p:cNvSpPr>
          <p:nvPr/>
        </p:nvSpPr>
        <p:spPr bwMode="auto">
          <a:xfrm>
            <a:off x="7045530" y="1973460"/>
            <a:ext cx="756600" cy="322357"/>
          </a:xfrm>
          <a:prstGeom prst="rect">
            <a:avLst/>
          </a:prstGeom>
          <a:solidFill>
            <a:schemeClr val="bg1"/>
          </a:solidFill>
          <a:ln>
            <a:noFill/>
          </a:ln>
          <a:effectLst/>
        </p:spPr>
        <p:txBody>
          <a:bodyPr wrap="none" lIns="63588" tIns="25435" rIns="63588" bIns="25435">
            <a:spAutoFit/>
          </a:bodyP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gn="ctr">
              <a:lnSpc>
                <a:spcPct val="88000"/>
              </a:lnSpc>
              <a:defRPr/>
            </a:pPr>
            <a:r>
              <a:rPr lang="en-US" altLang="en-US" sz="2003">
                <a:solidFill>
                  <a:schemeClr val="tx1"/>
                </a:solidFill>
                <a:cs typeface="Times New Roman" pitchFamily="18" charset="0"/>
              </a:rPr>
              <a:t>Error</a:t>
            </a:r>
          </a:p>
        </p:txBody>
      </p:sp>
      <p:sp>
        <p:nvSpPr>
          <p:cNvPr id="154" name="Rectangle 110"/>
          <p:cNvSpPr>
            <a:spLocks noChangeArrowheads="1"/>
          </p:cNvSpPr>
          <p:nvPr/>
        </p:nvSpPr>
        <p:spPr bwMode="auto">
          <a:xfrm>
            <a:off x="5026402" y="5229545"/>
            <a:ext cx="756600" cy="322357"/>
          </a:xfrm>
          <a:prstGeom prst="rect">
            <a:avLst/>
          </a:prstGeom>
          <a:solidFill>
            <a:schemeClr val="bg1"/>
          </a:solidFill>
          <a:ln>
            <a:noFill/>
          </a:ln>
          <a:effectLst/>
        </p:spPr>
        <p:txBody>
          <a:bodyPr wrap="none" lIns="63588" tIns="25435" rIns="63588" bIns="25435">
            <a:spAutoFit/>
          </a:bodyP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gn="ctr">
              <a:lnSpc>
                <a:spcPct val="88000"/>
              </a:lnSpc>
              <a:defRPr/>
            </a:pPr>
            <a:r>
              <a:rPr lang="en-US" altLang="en-US" sz="2003">
                <a:solidFill>
                  <a:schemeClr val="tx1"/>
                </a:solidFill>
                <a:cs typeface="Times New Roman" pitchFamily="18" charset="0"/>
              </a:rPr>
              <a:t>Error</a:t>
            </a:r>
          </a:p>
        </p:txBody>
      </p:sp>
    </p:spTree>
    <p:extLst>
      <p:ext uri="{BB962C8B-B14F-4D97-AF65-F5344CB8AC3E}">
        <p14:creationId xmlns:p14="http://schemas.microsoft.com/office/powerpoint/2010/main" val="27328180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Algebraic Approach</a:t>
            </a:r>
          </a:p>
        </p:txBody>
      </p:sp>
      <p:sp>
        <p:nvSpPr>
          <p:cNvPr id="3" name="Content Placeholder 2"/>
          <p:cNvSpPr>
            <a:spLocks noGrp="1"/>
          </p:cNvSpPr>
          <p:nvPr>
            <p:ph idx="1"/>
          </p:nvPr>
        </p:nvSpPr>
        <p:spPr>
          <a:xfrm>
            <a:off x="672501" y="1303744"/>
            <a:ext cx="7502014" cy="3908323"/>
          </a:xfrm>
        </p:spPr>
        <p:txBody>
          <a:bodyPr/>
          <a:lstStyle/>
          <a:p>
            <a:pPr marL="457200" indent="-457200">
              <a:buClrTx/>
              <a:buFont typeface="Arial" panose="020B0604020202020204" pitchFamily="34" charset="0"/>
              <a:buChar char="•"/>
            </a:pPr>
            <a:r>
              <a:rPr lang="en-US" dirty="0"/>
              <a:t>Convert X-ray data into line integrals to form a system of linear equations</a:t>
            </a:r>
          </a:p>
          <a:p>
            <a:pPr marL="457200" indent="-457200">
              <a:buClrTx/>
              <a:buFont typeface="Arial" panose="020B0604020202020204" pitchFamily="34" charset="0"/>
              <a:buChar char="•"/>
            </a:pPr>
            <a:r>
              <a:rPr lang="en-US" dirty="0"/>
              <a:t>Solve the system of linear equations to reconstruct an underlying image</a:t>
            </a:r>
          </a:p>
          <a:p>
            <a:pPr marL="457200" indent="-457200">
              <a:buClrTx/>
              <a:buFont typeface="Arial" panose="020B0604020202020204" pitchFamily="34" charset="0"/>
              <a:buChar char="•"/>
            </a:pPr>
            <a:r>
              <a:rPr lang="en-US" dirty="0"/>
              <a:t>Regularize the image reconstruction with various prior knowledge</a:t>
            </a:r>
          </a:p>
          <a:p>
            <a:pPr marL="457200" indent="-457200">
              <a:buClrTx/>
              <a:buFont typeface="Arial" panose="020B0604020202020204" pitchFamily="34" charset="0"/>
              <a:buChar char="•"/>
            </a:pPr>
            <a:r>
              <a:rPr lang="en-US" dirty="0"/>
              <a:t>Iteratively refine an intermediate image until the outcome is satisfactory</a:t>
            </a:r>
          </a:p>
        </p:txBody>
      </p:sp>
      <p:pic>
        <p:nvPicPr>
          <p:cNvPr id="4" name="Picture 12" descr="http://www.magic-emoji.com/emoji/images/83_emoji_iphone_black_diamond_suit.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3478027" y="4921223"/>
            <a:ext cx="2046695" cy="20466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88149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CT Reconstruction</a:t>
            </a:r>
          </a:p>
        </p:txBody>
      </p:sp>
      <p:sp>
        <p:nvSpPr>
          <p:cNvPr id="4" name="TextBox 3"/>
          <p:cNvSpPr txBox="1"/>
          <p:nvPr/>
        </p:nvSpPr>
        <p:spPr>
          <a:xfrm>
            <a:off x="1225340" y="1484789"/>
            <a:ext cx="6080447" cy="4401205"/>
          </a:xfrm>
          <a:prstGeom prst="rect">
            <a:avLst/>
          </a:prstGeom>
          <a:noFill/>
        </p:spPr>
        <p:txBody>
          <a:bodyPr wrap="none" rtlCol="0">
            <a:spAutoFit/>
          </a:bodyPr>
          <a:lstStyle/>
          <a:p>
            <a:pPr marL="342900" indent="-342900">
              <a:buFont typeface="Arial" panose="020B0604020202020204" pitchFamily="34" charset="0"/>
              <a:buChar char="•"/>
            </a:pPr>
            <a:r>
              <a:rPr lang="en-US" sz="2800" b="1" dirty="0"/>
              <a:t>Duality of Information</a:t>
            </a:r>
            <a:endParaRPr lang="en-US" sz="2800" dirty="0"/>
          </a:p>
          <a:p>
            <a:pPr marL="342900" indent="-342900">
              <a:buFont typeface="Arial" panose="020B0604020202020204" pitchFamily="34" charset="0"/>
              <a:buChar char="•"/>
            </a:pPr>
            <a:r>
              <a:rPr lang="en-US" sz="2800" b="1" dirty="0"/>
              <a:t>Algebraic Approach</a:t>
            </a:r>
          </a:p>
          <a:p>
            <a:r>
              <a:rPr lang="en-US" sz="2800" b="1" dirty="0"/>
              <a:t>	</a:t>
            </a:r>
            <a:r>
              <a:rPr lang="en-US" sz="2800" dirty="0"/>
              <a:t>Solution Uniqueness</a:t>
            </a:r>
          </a:p>
          <a:p>
            <a:r>
              <a:rPr lang="en-US" sz="2800" dirty="0"/>
              <a:t>	Data Independence/Sufficiency</a:t>
            </a:r>
            <a:endParaRPr lang="en-US" sz="2000" dirty="0"/>
          </a:p>
          <a:p>
            <a:pPr marL="342900" indent="-342900">
              <a:buFont typeface="Arial" panose="020B0604020202020204" pitchFamily="34" charset="0"/>
              <a:buChar char="•"/>
            </a:pPr>
            <a:r>
              <a:rPr lang="en-US" sz="2800" b="1" dirty="0">
                <a:solidFill>
                  <a:srgbClr val="FF0000"/>
                </a:solidFill>
              </a:rPr>
              <a:t>Analytic Approach</a:t>
            </a:r>
          </a:p>
          <a:p>
            <a:r>
              <a:rPr lang="en-US" sz="2800" b="1" dirty="0">
                <a:solidFill>
                  <a:srgbClr val="FF0000"/>
                </a:solidFill>
              </a:rPr>
              <a:t>	</a:t>
            </a:r>
            <a:r>
              <a:rPr lang="en-US" sz="2800" dirty="0">
                <a:solidFill>
                  <a:srgbClr val="FF0000"/>
                </a:solidFill>
              </a:rPr>
              <a:t>Fourier Slice Theorem</a:t>
            </a:r>
          </a:p>
          <a:p>
            <a:r>
              <a:rPr lang="en-US" sz="2800" dirty="0">
                <a:solidFill>
                  <a:srgbClr val="FF0000"/>
                </a:solidFill>
              </a:rPr>
              <a:t>	Filtered Backprojection</a:t>
            </a:r>
          </a:p>
          <a:p>
            <a:pPr marL="342900" indent="-342900">
              <a:buFont typeface="Arial" panose="020B0604020202020204" pitchFamily="34" charset="0"/>
              <a:buChar char="•"/>
            </a:pPr>
            <a:r>
              <a:rPr lang="en-US" sz="2800" b="1" dirty="0"/>
              <a:t>Examples</a:t>
            </a:r>
          </a:p>
          <a:p>
            <a:r>
              <a:rPr lang="en-US" sz="2800" b="1" dirty="0"/>
              <a:t>	</a:t>
            </a:r>
            <a:r>
              <a:rPr lang="en-US" sz="2800" dirty="0"/>
              <a:t>Numerical Examples</a:t>
            </a:r>
          </a:p>
          <a:p>
            <a:r>
              <a:rPr lang="en-US" sz="2800" dirty="0"/>
              <a:t>	Clinical Images</a:t>
            </a:r>
          </a:p>
        </p:txBody>
      </p:sp>
    </p:spTree>
    <p:extLst>
      <p:ext uri="{BB962C8B-B14F-4D97-AF65-F5344CB8AC3E}">
        <p14:creationId xmlns:p14="http://schemas.microsoft.com/office/powerpoint/2010/main" val="35643105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Probing Waves</a:t>
            </a:r>
          </a:p>
        </p:txBody>
      </p:sp>
      <p:sp>
        <p:nvSpPr>
          <p:cNvPr id="4" name="AutoShape 15"/>
          <p:cNvSpPr>
            <a:spLocks noChangeArrowheads="1"/>
          </p:cNvSpPr>
          <p:nvPr/>
        </p:nvSpPr>
        <p:spPr bwMode="auto">
          <a:xfrm>
            <a:off x="966261" y="1933110"/>
            <a:ext cx="1278125" cy="2422715"/>
          </a:xfrm>
          <a:prstGeom prst="flowChartPunchedTape">
            <a:avLst/>
          </a:prstGeom>
          <a:solidFill>
            <a:srgbClr val="33CC33"/>
          </a:solidFill>
          <a:ln w="50800">
            <a:solidFill>
              <a:schemeClr val="hlink"/>
            </a:solidFill>
            <a:miter lim="800000"/>
            <a:headEnd/>
            <a:tailEnd/>
          </a:ln>
          <a:effectLst/>
        </p:spPr>
        <p:txBody>
          <a:bodyPr wrap="none" anchor="ct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endParaRPr lang="en-US" altLang="en-US" sz="3204">
              <a:solidFill>
                <a:schemeClr val="tx1"/>
              </a:solidFill>
              <a:cs typeface="Times New Roman" pitchFamily="18" charset="0"/>
            </a:endParaRPr>
          </a:p>
        </p:txBody>
      </p:sp>
      <p:sp>
        <p:nvSpPr>
          <p:cNvPr id="5" name="AutoShape 16"/>
          <p:cNvSpPr>
            <a:spLocks noChangeArrowheads="1"/>
          </p:cNvSpPr>
          <p:nvPr/>
        </p:nvSpPr>
        <p:spPr bwMode="auto">
          <a:xfrm>
            <a:off x="2244387" y="1971263"/>
            <a:ext cx="1278125" cy="2422715"/>
          </a:xfrm>
          <a:prstGeom prst="flowChartPunchedTape">
            <a:avLst/>
          </a:prstGeom>
          <a:solidFill>
            <a:srgbClr val="33CC33"/>
          </a:solidFill>
          <a:ln w="50800">
            <a:solidFill>
              <a:schemeClr val="hlink"/>
            </a:solidFill>
            <a:miter lim="800000"/>
            <a:headEnd/>
            <a:tailEnd/>
          </a:ln>
          <a:effectLst/>
        </p:spPr>
        <p:txBody>
          <a:bodyPr wrap="none" anchor="ct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endParaRPr lang="en-US" altLang="en-US" sz="3204">
              <a:solidFill>
                <a:schemeClr val="tx1"/>
              </a:solidFill>
              <a:cs typeface="Times New Roman" pitchFamily="18" charset="0"/>
            </a:endParaRPr>
          </a:p>
        </p:txBody>
      </p:sp>
      <p:sp>
        <p:nvSpPr>
          <p:cNvPr id="6" name="AutoShape 21"/>
          <p:cNvSpPr>
            <a:spLocks noChangeArrowheads="1"/>
          </p:cNvSpPr>
          <p:nvPr/>
        </p:nvSpPr>
        <p:spPr bwMode="auto">
          <a:xfrm>
            <a:off x="3532050" y="2028493"/>
            <a:ext cx="1278125" cy="2422715"/>
          </a:xfrm>
          <a:prstGeom prst="flowChartPunchedTape">
            <a:avLst/>
          </a:prstGeom>
          <a:solidFill>
            <a:srgbClr val="33CC33"/>
          </a:solidFill>
          <a:ln w="50800">
            <a:solidFill>
              <a:schemeClr val="hlink"/>
            </a:solidFill>
            <a:miter lim="800000"/>
            <a:headEnd/>
            <a:tailEnd/>
          </a:ln>
          <a:effectLst/>
        </p:spPr>
        <p:txBody>
          <a:bodyPr wrap="none" anchor="ct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endParaRPr lang="en-US" altLang="en-US" sz="3204">
              <a:solidFill>
                <a:schemeClr val="tx1"/>
              </a:solidFill>
              <a:cs typeface="Times New Roman" pitchFamily="18" charset="0"/>
            </a:endParaRPr>
          </a:p>
        </p:txBody>
      </p:sp>
      <p:sp>
        <p:nvSpPr>
          <p:cNvPr id="7" name="Line 12"/>
          <p:cNvSpPr>
            <a:spLocks noChangeShapeType="1"/>
          </p:cNvSpPr>
          <p:nvPr/>
        </p:nvSpPr>
        <p:spPr bwMode="auto">
          <a:xfrm flipV="1">
            <a:off x="203200" y="1923572"/>
            <a:ext cx="5474954" cy="1945803"/>
          </a:xfrm>
          <a:prstGeom prst="line">
            <a:avLst/>
          </a:prstGeom>
          <a:noFill/>
          <a:ln w="508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Arial" panose="020B0604020202020204" pitchFamily="34" charset="0"/>
              <a:cs typeface="Times New Roman" pitchFamily="18" charset="0"/>
            </a:endParaRPr>
          </a:p>
        </p:txBody>
      </p:sp>
      <p:sp>
        <p:nvSpPr>
          <p:cNvPr id="8" name="Line 23"/>
          <p:cNvSpPr>
            <a:spLocks noChangeShapeType="1"/>
          </p:cNvSpPr>
          <p:nvPr/>
        </p:nvSpPr>
        <p:spPr bwMode="auto">
          <a:xfrm>
            <a:off x="1939161" y="1637425"/>
            <a:ext cx="0" cy="3204851"/>
          </a:xfrm>
          <a:prstGeom prst="line">
            <a:avLst/>
          </a:prstGeom>
          <a:noFill/>
          <a:ln w="508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Arial" panose="020B0604020202020204" pitchFamily="34" charset="0"/>
              <a:cs typeface="Times New Roman" pitchFamily="18" charset="0"/>
            </a:endParaRPr>
          </a:p>
        </p:txBody>
      </p:sp>
      <p:sp>
        <p:nvSpPr>
          <p:cNvPr id="9" name="Line 24"/>
          <p:cNvSpPr>
            <a:spLocks noChangeShapeType="1"/>
          </p:cNvSpPr>
          <p:nvPr/>
        </p:nvSpPr>
        <p:spPr bwMode="auto">
          <a:xfrm>
            <a:off x="2091773" y="1637425"/>
            <a:ext cx="0" cy="3204851"/>
          </a:xfrm>
          <a:prstGeom prst="line">
            <a:avLst/>
          </a:prstGeom>
          <a:noFill/>
          <a:ln w="508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Arial" panose="020B0604020202020204" pitchFamily="34" charset="0"/>
              <a:cs typeface="Times New Roman" pitchFamily="18" charset="0"/>
            </a:endParaRPr>
          </a:p>
        </p:txBody>
      </p:sp>
      <p:sp>
        <p:nvSpPr>
          <p:cNvPr id="10" name="Line 25"/>
          <p:cNvSpPr>
            <a:spLocks noChangeShapeType="1"/>
          </p:cNvSpPr>
          <p:nvPr/>
        </p:nvSpPr>
        <p:spPr bwMode="auto">
          <a:xfrm>
            <a:off x="2244385" y="1637425"/>
            <a:ext cx="0" cy="3204851"/>
          </a:xfrm>
          <a:prstGeom prst="line">
            <a:avLst/>
          </a:prstGeom>
          <a:noFill/>
          <a:ln w="508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Arial" panose="020B0604020202020204" pitchFamily="34" charset="0"/>
              <a:cs typeface="Times New Roman" pitchFamily="18" charset="0"/>
            </a:endParaRPr>
          </a:p>
        </p:txBody>
      </p:sp>
      <p:sp>
        <p:nvSpPr>
          <p:cNvPr id="11" name="Line 26"/>
          <p:cNvSpPr>
            <a:spLocks noChangeShapeType="1"/>
          </p:cNvSpPr>
          <p:nvPr/>
        </p:nvSpPr>
        <p:spPr bwMode="auto">
          <a:xfrm>
            <a:off x="2396997" y="1637425"/>
            <a:ext cx="0" cy="3204851"/>
          </a:xfrm>
          <a:prstGeom prst="line">
            <a:avLst/>
          </a:prstGeom>
          <a:noFill/>
          <a:ln w="508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Arial" panose="020B0604020202020204" pitchFamily="34" charset="0"/>
              <a:cs typeface="Times New Roman" pitchFamily="18" charset="0"/>
            </a:endParaRPr>
          </a:p>
        </p:txBody>
      </p:sp>
      <p:sp>
        <p:nvSpPr>
          <p:cNvPr id="12" name="Line 27"/>
          <p:cNvSpPr>
            <a:spLocks noChangeShapeType="1"/>
          </p:cNvSpPr>
          <p:nvPr/>
        </p:nvSpPr>
        <p:spPr bwMode="auto">
          <a:xfrm>
            <a:off x="2568686" y="1637425"/>
            <a:ext cx="0" cy="3204851"/>
          </a:xfrm>
          <a:prstGeom prst="line">
            <a:avLst/>
          </a:prstGeom>
          <a:noFill/>
          <a:ln w="508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Arial" panose="020B0604020202020204" pitchFamily="34" charset="0"/>
              <a:cs typeface="Times New Roman" pitchFamily="18" charset="0"/>
            </a:endParaRPr>
          </a:p>
        </p:txBody>
      </p:sp>
      <p:sp>
        <p:nvSpPr>
          <p:cNvPr id="13" name="Line 28"/>
          <p:cNvSpPr>
            <a:spLocks noChangeShapeType="1"/>
          </p:cNvSpPr>
          <p:nvPr/>
        </p:nvSpPr>
        <p:spPr bwMode="auto">
          <a:xfrm flipV="1">
            <a:off x="355812" y="2076184"/>
            <a:ext cx="5474954" cy="1945803"/>
          </a:xfrm>
          <a:prstGeom prst="line">
            <a:avLst/>
          </a:prstGeom>
          <a:noFill/>
          <a:ln w="508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Arial" panose="020B0604020202020204" pitchFamily="34" charset="0"/>
              <a:cs typeface="Times New Roman" pitchFamily="18" charset="0"/>
            </a:endParaRPr>
          </a:p>
        </p:txBody>
      </p:sp>
      <p:sp>
        <p:nvSpPr>
          <p:cNvPr id="14" name="Line 29"/>
          <p:cNvSpPr>
            <a:spLocks noChangeShapeType="1"/>
          </p:cNvSpPr>
          <p:nvPr/>
        </p:nvSpPr>
        <p:spPr bwMode="auto">
          <a:xfrm flipV="1">
            <a:off x="508424" y="2228796"/>
            <a:ext cx="5474954" cy="1945803"/>
          </a:xfrm>
          <a:prstGeom prst="line">
            <a:avLst/>
          </a:prstGeom>
          <a:noFill/>
          <a:ln w="508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Arial" panose="020B0604020202020204" pitchFamily="34" charset="0"/>
              <a:cs typeface="Times New Roman" pitchFamily="18" charset="0"/>
            </a:endParaRPr>
          </a:p>
        </p:txBody>
      </p:sp>
      <p:sp>
        <p:nvSpPr>
          <p:cNvPr id="15" name="Line 30"/>
          <p:cNvSpPr>
            <a:spLocks noChangeShapeType="1"/>
          </p:cNvSpPr>
          <p:nvPr/>
        </p:nvSpPr>
        <p:spPr bwMode="auto">
          <a:xfrm flipV="1">
            <a:off x="661036" y="2381408"/>
            <a:ext cx="5474954" cy="1945803"/>
          </a:xfrm>
          <a:prstGeom prst="line">
            <a:avLst/>
          </a:prstGeom>
          <a:noFill/>
          <a:ln w="508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Arial" panose="020B0604020202020204" pitchFamily="34" charset="0"/>
              <a:cs typeface="Times New Roman" pitchFamily="18" charset="0"/>
            </a:endParaRPr>
          </a:p>
        </p:txBody>
      </p:sp>
      <p:sp>
        <p:nvSpPr>
          <p:cNvPr id="16" name="Rectangle 31"/>
          <p:cNvSpPr>
            <a:spLocks noChangeArrowheads="1"/>
          </p:cNvSpPr>
          <p:nvPr/>
        </p:nvSpPr>
        <p:spPr bwMode="auto">
          <a:xfrm>
            <a:off x="4950069" y="2829706"/>
            <a:ext cx="3920220" cy="16455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8901F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614" tIns="44512" rIns="90614" bIns="44512">
            <a:spAutoFit/>
          </a:bodyP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r>
              <a:rPr lang="en-US" altLang="en-US" sz="2804">
                <a:solidFill>
                  <a:schemeClr val="tx1"/>
                </a:solidFill>
                <a:cs typeface="Times New Roman" pitchFamily="18" charset="0"/>
              </a:rPr>
              <a:t>No any info in projection data along non-orthogonal directions</a:t>
            </a:r>
          </a:p>
        </p:txBody>
      </p:sp>
      <p:sp>
        <p:nvSpPr>
          <p:cNvPr id="17" name="Rectangle 33"/>
          <p:cNvSpPr>
            <a:spLocks noChangeArrowheads="1"/>
          </p:cNvSpPr>
          <p:nvPr/>
        </p:nvSpPr>
        <p:spPr bwMode="auto">
          <a:xfrm>
            <a:off x="1471789" y="4851813"/>
            <a:ext cx="5471775" cy="8677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8901F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614" tIns="44512" rIns="90614" bIns="44512">
            <a:spAutoFit/>
          </a:bodyP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r>
              <a:rPr lang="en-US" altLang="en-US" sz="2804">
                <a:solidFill>
                  <a:schemeClr val="tx1"/>
                </a:solidFill>
                <a:cs typeface="Times New Roman" pitchFamily="18" charset="0"/>
              </a:rPr>
              <a:t>Info in projection data along the orthogonal direction</a:t>
            </a:r>
          </a:p>
        </p:txBody>
      </p:sp>
    </p:spTree>
    <p:extLst>
      <p:ext uri="{BB962C8B-B14F-4D97-AF65-F5344CB8AC3E}">
        <p14:creationId xmlns:p14="http://schemas.microsoft.com/office/powerpoint/2010/main" val="11095591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Fourier Slice Theorem</a:t>
            </a:r>
          </a:p>
        </p:txBody>
      </p:sp>
      <p:sp>
        <p:nvSpPr>
          <p:cNvPr id="5" name="Oval 4"/>
          <p:cNvSpPr/>
          <p:nvPr/>
        </p:nvSpPr>
        <p:spPr bwMode="auto">
          <a:xfrm>
            <a:off x="5311124" y="2286807"/>
            <a:ext cx="1982459" cy="1982459"/>
          </a:xfrm>
          <a:prstGeom prst="ellipse">
            <a:avLst/>
          </a:prstGeom>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70000"/>
                </a:schemeClr>
              </a:gs>
            </a:gsLst>
            <a:path path="circle">
              <a:fillToRect l="50000" t="50000" r="50000" b="50000"/>
            </a:path>
            <a:tileRect/>
          </a:gradFill>
          <a:ln w="9525" cap="flat" cmpd="sng" algn="ctr">
            <a:noFill/>
            <a:prstDash val="solid"/>
            <a:round/>
            <a:headEnd type="none" w="med" len="med"/>
            <a:tailEnd type="none" w="med" len="med"/>
          </a:ln>
          <a:effectLst/>
        </p:spPr>
        <p:txBody>
          <a:bodyPr vert="horz" wrap="square" lIns="81224" tIns="40611" rIns="81224" bIns="40611" numCol="1" rtlCol="0" anchor="t" anchorCtr="0" compatLnSpc="1">
            <a:prstTxWarp prst="textNoShape">
              <a:avLst/>
            </a:prstTxWarp>
          </a:bodyPr>
          <a:lstStyle/>
          <a:p>
            <a:pPr algn="ctr" defTabSz="812209"/>
            <a:endParaRPr lang="en-US" sz="1776" b="1" dirty="0" err="1">
              <a:latin typeface="+mn-lt"/>
            </a:endParaRPr>
          </a:p>
        </p:txBody>
      </p:sp>
      <p:pic>
        <p:nvPicPr>
          <p:cNvPr id="6" name="Picture 60" descr="C:\AAA\image.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2027023" y="2265239"/>
            <a:ext cx="2030587" cy="2030587"/>
          </a:xfrm>
          <a:prstGeom prst="rect">
            <a:avLst/>
          </a:prstGeom>
          <a:noFill/>
          <a:ln w="25400">
            <a:noFill/>
            <a:miter lim="800000"/>
            <a:headEnd/>
            <a:tailEnd/>
          </a:ln>
          <a:extLst>
            <a:ext uri="{909E8E84-426E-40DD-AFC4-6F175D3DCCD1}">
              <a14:hiddenFill xmlns:a14="http://schemas.microsoft.com/office/drawing/2010/main">
                <a:solidFill>
                  <a:srgbClr val="FFFFFF"/>
                </a:solidFill>
              </a14:hiddenFill>
            </a:ext>
          </a:extLst>
        </p:spPr>
      </p:pic>
      <p:sp>
        <p:nvSpPr>
          <p:cNvPr id="7" name="Straight Arrow Connector 105"/>
          <p:cNvSpPr>
            <a:spLocks noChangeShapeType="1"/>
          </p:cNvSpPr>
          <p:nvPr/>
        </p:nvSpPr>
        <p:spPr bwMode="auto">
          <a:xfrm flipV="1">
            <a:off x="1590088" y="3275818"/>
            <a:ext cx="2894709" cy="0"/>
          </a:xfrm>
          <a:prstGeom prst="straightConnector1">
            <a:avLst/>
          </a:prstGeom>
          <a:noFill/>
          <a:ln w="25400">
            <a:solidFill>
              <a:srgbClr val="000000"/>
            </a:solidFill>
            <a:round/>
            <a:headEnd type="none"/>
            <a:tailEnd type="triangle" w="med" len="med"/>
          </a:ln>
          <a:extLst>
            <a:ext uri="{909E8E84-426E-40DD-AFC4-6F175D3DCCD1}">
              <a14:hiddenFill xmlns:a14="http://schemas.microsoft.com/office/drawing/2010/main">
                <a:noFill/>
              </a14:hiddenFill>
            </a:ext>
          </a:extLst>
        </p:spPr>
        <p:txBody>
          <a:bodyPr vert="horz" wrap="square" lIns="81224" tIns="40611" rIns="81224" bIns="40611" numCol="1" anchor="t" anchorCtr="0" compatLnSpc="1">
            <a:prstTxWarp prst="textNoShape">
              <a:avLst/>
            </a:prstTxWarp>
          </a:bodyPr>
          <a:lstStyle/>
          <a:p>
            <a:endParaRPr lang="en-US" sz="1776" b="1">
              <a:latin typeface="+mn-lt"/>
            </a:endParaRPr>
          </a:p>
        </p:txBody>
      </p:sp>
      <p:sp>
        <p:nvSpPr>
          <p:cNvPr id="8" name="Straight Arrow Connector 105"/>
          <p:cNvSpPr>
            <a:spLocks noChangeShapeType="1"/>
          </p:cNvSpPr>
          <p:nvPr/>
        </p:nvSpPr>
        <p:spPr bwMode="auto">
          <a:xfrm flipV="1">
            <a:off x="4855949" y="3275818"/>
            <a:ext cx="2894709" cy="0"/>
          </a:xfrm>
          <a:prstGeom prst="straightConnector1">
            <a:avLst/>
          </a:prstGeom>
          <a:noFill/>
          <a:ln w="25400">
            <a:solidFill>
              <a:srgbClr val="000000"/>
            </a:solidFill>
            <a:round/>
            <a:headEnd type="none"/>
            <a:tailEnd type="triangle" w="med" len="med"/>
          </a:ln>
          <a:extLst>
            <a:ext uri="{909E8E84-426E-40DD-AFC4-6F175D3DCCD1}">
              <a14:hiddenFill xmlns:a14="http://schemas.microsoft.com/office/drawing/2010/main">
                <a:noFill/>
              </a14:hiddenFill>
            </a:ext>
          </a:extLst>
        </p:spPr>
        <p:txBody>
          <a:bodyPr vert="horz" wrap="square" lIns="81224" tIns="40611" rIns="81224" bIns="40611" numCol="1" anchor="t" anchorCtr="0" compatLnSpc="1">
            <a:prstTxWarp prst="textNoShape">
              <a:avLst/>
            </a:prstTxWarp>
          </a:bodyPr>
          <a:lstStyle/>
          <a:p>
            <a:endParaRPr lang="en-US" sz="1776" b="1">
              <a:latin typeface="+mn-lt"/>
            </a:endParaRPr>
          </a:p>
        </p:txBody>
      </p:sp>
      <p:sp>
        <p:nvSpPr>
          <p:cNvPr id="9" name="Straight Arrow Connector 105"/>
          <p:cNvSpPr>
            <a:spLocks noChangeShapeType="1"/>
          </p:cNvSpPr>
          <p:nvPr/>
        </p:nvSpPr>
        <p:spPr bwMode="auto">
          <a:xfrm rot="16200000" flipV="1">
            <a:off x="1763465" y="3102442"/>
            <a:ext cx="2547954" cy="0"/>
          </a:xfrm>
          <a:prstGeom prst="straightConnector1">
            <a:avLst/>
          </a:prstGeom>
          <a:noFill/>
          <a:ln w="25400">
            <a:solidFill>
              <a:srgbClr val="000000"/>
            </a:solidFill>
            <a:round/>
            <a:headEnd type="none"/>
            <a:tailEnd type="triangle" w="med" len="med"/>
          </a:ln>
          <a:extLst>
            <a:ext uri="{909E8E84-426E-40DD-AFC4-6F175D3DCCD1}">
              <a14:hiddenFill xmlns:a14="http://schemas.microsoft.com/office/drawing/2010/main">
                <a:noFill/>
              </a14:hiddenFill>
            </a:ext>
          </a:extLst>
        </p:spPr>
        <p:txBody>
          <a:bodyPr vert="horz" wrap="square" lIns="81224" tIns="40611" rIns="81224" bIns="40611" numCol="1" anchor="t" anchorCtr="0" compatLnSpc="1">
            <a:prstTxWarp prst="textNoShape">
              <a:avLst/>
            </a:prstTxWarp>
          </a:bodyPr>
          <a:lstStyle/>
          <a:p>
            <a:endParaRPr lang="en-US" sz="1776" b="1">
              <a:latin typeface="+mn-lt"/>
            </a:endParaRPr>
          </a:p>
        </p:txBody>
      </p:sp>
      <p:sp>
        <p:nvSpPr>
          <p:cNvPr id="10" name="Straight Arrow Connector 105"/>
          <p:cNvSpPr>
            <a:spLocks noChangeShapeType="1"/>
          </p:cNvSpPr>
          <p:nvPr/>
        </p:nvSpPr>
        <p:spPr bwMode="auto">
          <a:xfrm rot="16200000" flipV="1">
            <a:off x="4761789" y="2874001"/>
            <a:ext cx="3083024" cy="0"/>
          </a:xfrm>
          <a:prstGeom prst="straightConnector1">
            <a:avLst/>
          </a:prstGeom>
          <a:noFill/>
          <a:ln w="25400">
            <a:solidFill>
              <a:srgbClr val="000000"/>
            </a:solidFill>
            <a:round/>
            <a:headEnd type="none"/>
            <a:tailEnd type="triangle" w="med" len="med"/>
          </a:ln>
          <a:extLst>
            <a:ext uri="{909E8E84-426E-40DD-AFC4-6F175D3DCCD1}">
              <a14:hiddenFill xmlns:a14="http://schemas.microsoft.com/office/drawing/2010/main">
                <a:noFill/>
              </a14:hiddenFill>
            </a:ext>
          </a:extLst>
        </p:spPr>
        <p:txBody>
          <a:bodyPr vert="horz" wrap="square" lIns="81224" tIns="40611" rIns="81224" bIns="40611" numCol="1" anchor="t" anchorCtr="0" compatLnSpc="1">
            <a:prstTxWarp prst="textNoShape">
              <a:avLst/>
            </a:prstTxWarp>
          </a:bodyPr>
          <a:lstStyle/>
          <a:p>
            <a:endParaRPr lang="en-US" sz="1776" b="1">
              <a:latin typeface="+mn-lt"/>
            </a:endParaRPr>
          </a:p>
        </p:txBody>
      </p:sp>
      <p:graphicFrame>
        <p:nvGraphicFramePr>
          <p:cNvPr id="11" name="对象 28"/>
          <p:cNvGraphicFramePr>
            <a:graphicFrameLocks noChangeAspect="1"/>
          </p:cNvGraphicFramePr>
          <p:nvPr>
            <p:extLst>
              <p:ext uri="{D42A27DB-BD31-4B8C-83A1-F6EECF244321}">
                <p14:modId xmlns:p14="http://schemas.microsoft.com/office/powerpoint/2010/main" val="2414546263"/>
              </p:ext>
            </p:extLst>
          </p:nvPr>
        </p:nvGraphicFramePr>
        <p:xfrm>
          <a:off x="4325871" y="3337866"/>
          <a:ext cx="211520" cy="228441"/>
        </p:xfrm>
        <a:graphic>
          <a:graphicData uri="http://schemas.openxmlformats.org/presentationml/2006/ole">
            <mc:AlternateContent xmlns:mc="http://schemas.openxmlformats.org/markup-compatibility/2006">
              <mc:Choice xmlns:v="urn:schemas-microsoft-com:vml" Requires="v">
                <p:oleObj name="Equation" r:id="rId4" imgW="177480" imgH="190440" progId="Equation.DSMT4">
                  <p:embed/>
                </p:oleObj>
              </mc:Choice>
              <mc:Fallback>
                <p:oleObj name="Equation" r:id="rId4" imgW="177480" imgH="190440" progId="Equation.DSMT4">
                  <p:embed/>
                  <p:pic>
                    <p:nvPicPr>
                      <p:cNvPr id="11" name="对象 28"/>
                      <p:cNvPicPr/>
                      <p:nvPr/>
                    </p:nvPicPr>
                    <p:blipFill>
                      <a:blip r:embed="rId5"/>
                      <a:stretch>
                        <a:fillRect/>
                      </a:stretch>
                    </p:blipFill>
                    <p:spPr>
                      <a:xfrm>
                        <a:off x="4325871" y="3337866"/>
                        <a:ext cx="211520" cy="228441"/>
                      </a:xfrm>
                      <a:prstGeom prst="rect">
                        <a:avLst/>
                      </a:prstGeom>
                    </p:spPr>
                  </p:pic>
                </p:oleObj>
              </mc:Fallback>
            </mc:AlternateContent>
          </a:graphicData>
        </a:graphic>
      </p:graphicFrame>
      <p:graphicFrame>
        <p:nvGraphicFramePr>
          <p:cNvPr id="12" name="对象 28"/>
          <p:cNvGraphicFramePr>
            <a:graphicFrameLocks noChangeAspect="1"/>
          </p:cNvGraphicFramePr>
          <p:nvPr>
            <p:extLst>
              <p:ext uri="{D42A27DB-BD31-4B8C-83A1-F6EECF244321}">
                <p14:modId xmlns:p14="http://schemas.microsoft.com/office/powerpoint/2010/main" val="2314565625"/>
              </p:ext>
            </p:extLst>
          </p:nvPr>
        </p:nvGraphicFramePr>
        <p:xfrm>
          <a:off x="3096238" y="1747239"/>
          <a:ext cx="224211" cy="289077"/>
        </p:xfrm>
        <a:graphic>
          <a:graphicData uri="http://schemas.openxmlformats.org/presentationml/2006/ole">
            <mc:AlternateContent xmlns:mc="http://schemas.openxmlformats.org/markup-compatibility/2006">
              <mc:Choice xmlns:v="urn:schemas-microsoft-com:vml" Requires="v">
                <p:oleObj name="Equation" r:id="rId6" imgW="190440" imgH="241200" progId="Equation.DSMT4">
                  <p:embed/>
                </p:oleObj>
              </mc:Choice>
              <mc:Fallback>
                <p:oleObj name="Equation" r:id="rId6" imgW="190440" imgH="241200" progId="Equation.DSMT4">
                  <p:embed/>
                  <p:pic>
                    <p:nvPicPr>
                      <p:cNvPr id="12" name="对象 28"/>
                      <p:cNvPicPr/>
                      <p:nvPr/>
                    </p:nvPicPr>
                    <p:blipFill>
                      <a:blip r:embed="rId7"/>
                      <a:stretch>
                        <a:fillRect/>
                      </a:stretch>
                    </p:blipFill>
                    <p:spPr>
                      <a:xfrm>
                        <a:off x="3096238" y="1747239"/>
                        <a:ext cx="224211" cy="289077"/>
                      </a:xfrm>
                      <a:prstGeom prst="rect">
                        <a:avLst/>
                      </a:prstGeom>
                    </p:spPr>
                  </p:pic>
                </p:oleObj>
              </mc:Fallback>
            </mc:AlternateContent>
          </a:graphicData>
        </a:graphic>
      </p:graphicFrame>
      <p:graphicFrame>
        <p:nvGraphicFramePr>
          <p:cNvPr id="13" name="对象 28"/>
          <p:cNvGraphicFramePr>
            <a:graphicFrameLocks noChangeAspect="1"/>
          </p:cNvGraphicFramePr>
          <p:nvPr>
            <p:extLst>
              <p:ext uri="{D42A27DB-BD31-4B8C-83A1-F6EECF244321}">
                <p14:modId xmlns:p14="http://schemas.microsoft.com/office/powerpoint/2010/main" val="4088410768"/>
              </p:ext>
            </p:extLst>
          </p:nvPr>
        </p:nvGraphicFramePr>
        <p:xfrm>
          <a:off x="7585669" y="3335016"/>
          <a:ext cx="211520" cy="228441"/>
        </p:xfrm>
        <a:graphic>
          <a:graphicData uri="http://schemas.openxmlformats.org/presentationml/2006/ole">
            <mc:AlternateContent xmlns:mc="http://schemas.openxmlformats.org/markup-compatibility/2006">
              <mc:Choice xmlns:v="urn:schemas-microsoft-com:vml" Requires="v">
                <p:oleObj name="Equation" r:id="rId8" imgW="177480" imgH="190440" progId="Equation.DSMT4">
                  <p:embed/>
                </p:oleObj>
              </mc:Choice>
              <mc:Fallback>
                <p:oleObj name="Equation" r:id="rId8" imgW="177480" imgH="190440" progId="Equation.DSMT4">
                  <p:embed/>
                  <p:pic>
                    <p:nvPicPr>
                      <p:cNvPr id="13" name="对象 28"/>
                      <p:cNvPicPr/>
                      <p:nvPr/>
                    </p:nvPicPr>
                    <p:blipFill>
                      <a:blip r:embed="rId9"/>
                      <a:stretch>
                        <a:fillRect/>
                      </a:stretch>
                    </p:blipFill>
                    <p:spPr>
                      <a:xfrm>
                        <a:off x="7585669" y="3335016"/>
                        <a:ext cx="211520" cy="228441"/>
                      </a:xfrm>
                      <a:prstGeom prst="rect">
                        <a:avLst/>
                      </a:prstGeom>
                    </p:spPr>
                  </p:pic>
                </p:oleObj>
              </mc:Fallback>
            </mc:AlternateContent>
          </a:graphicData>
        </a:graphic>
      </p:graphicFrame>
      <p:graphicFrame>
        <p:nvGraphicFramePr>
          <p:cNvPr id="14" name="对象 28"/>
          <p:cNvGraphicFramePr>
            <a:graphicFrameLocks noChangeAspect="1"/>
          </p:cNvGraphicFramePr>
          <p:nvPr>
            <p:extLst>
              <p:ext uri="{D42A27DB-BD31-4B8C-83A1-F6EECF244321}">
                <p14:modId xmlns:p14="http://schemas.microsoft.com/office/powerpoint/2010/main" val="4108227393"/>
              </p:ext>
            </p:extLst>
          </p:nvPr>
        </p:nvGraphicFramePr>
        <p:xfrm>
          <a:off x="6379021" y="1249465"/>
          <a:ext cx="179087" cy="228441"/>
        </p:xfrm>
        <a:graphic>
          <a:graphicData uri="http://schemas.openxmlformats.org/presentationml/2006/ole">
            <mc:AlternateContent xmlns:mc="http://schemas.openxmlformats.org/markup-compatibility/2006">
              <mc:Choice xmlns:v="urn:schemas-microsoft-com:vml" Requires="v">
                <p:oleObj name="Equation" r:id="rId10" imgW="152280" imgH="190440" progId="Equation.DSMT4">
                  <p:embed/>
                </p:oleObj>
              </mc:Choice>
              <mc:Fallback>
                <p:oleObj name="Equation" r:id="rId10" imgW="152280" imgH="190440" progId="Equation.DSMT4">
                  <p:embed/>
                  <p:pic>
                    <p:nvPicPr>
                      <p:cNvPr id="14" name="对象 28"/>
                      <p:cNvPicPr/>
                      <p:nvPr/>
                    </p:nvPicPr>
                    <p:blipFill>
                      <a:blip r:embed="rId11"/>
                      <a:stretch>
                        <a:fillRect/>
                      </a:stretch>
                    </p:blipFill>
                    <p:spPr>
                      <a:xfrm>
                        <a:off x="6379021" y="1249465"/>
                        <a:ext cx="179087" cy="228441"/>
                      </a:xfrm>
                      <a:prstGeom prst="rect">
                        <a:avLst/>
                      </a:prstGeom>
                    </p:spPr>
                  </p:pic>
                </p:oleObj>
              </mc:Fallback>
            </mc:AlternateContent>
          </a:graphicData>
        </a:graphic>
      </p:graphicFrame>
      <p:graphicFrame>
        <p:nvGraphicFramePr>
          <p:cNvPr id="15" name="对象 28"/>
          <p:cNvGraphicFramePr>
            <a:graphicFrameLocks noChangeAspect="1"/>
          </p:cNvGraphicFramePr>
          <p:nvPr>
            <p:extLst>
              <p:ext uri="{D42A27DB-BD31-4B8C-83A1-F6EECF244321}">
                <p14:modId xmlns:p14="http://schemas.microsoft.com/office/powerpoint/2010/main" val="2312602642"/>
              </p:ext>
            </p:extLst>
          </p:nvPr>
        </p:nvGraphicFramePr>
        <p:xfrm>
          <a:off x="4500853" y="1863718"/>
          <a:ext cx="135372" cy="259464"/>
        </p:xfrm>
        <a:graphic>
          <a:graphicData uri="http://schemas.openxmlformats.org/presentationml/2006/ole">
            <mc:AlternateContent xmlns:mc="http://schemas.openxmlformats.org/markup-compatibility/2006">
              <mc:Choice xmlns:v="urn:schemas-microsoft-com:vml" Requires="v">
                <p:oleObj name="Equation" r:id="rId12" imgW="114120" imgH="215640" progId="Equation.DSMT4">
                  <p:embed/>
                </p:oleObj>
              </mc:Choice>
              <mc:Fallback>
                <p:oleObj name="Equation" r:id="rId12" imgW="114120" imgH="215640" progId="Equation.DSMT4">
                  <p:embed/>
                  <p:pic>
                    <p:nvPicPr>
                      <p:cNvPr id="15" name="对象 28"/>
                      <p:cNvPicPr/>
                      <p:nvPr/>
                    </p:nvPicPr>
                    <p:blipFill>
                      <a:blip r:embed="rId13"/>
                      <a:stretch>
                        <a:fillRect/>
                      </a:stretch>
                    </p:blipFill>
                    <p:spPr>
                      <a:xfrm>
                        <a:off x="4500853" y="1863718"/>
                        <a:ext cx="135372" cy="259464"/>
                      </a:xfrm>
                      <a:prstGeom prst="rect">
                        <a:avLst/>
                      </a:prstGeom>
                    </p:spPr>
                  </p:pic>
                </p:oleObj>
              </mc:Fallback>
            </mc:AlternateContent>
          </a:graphicData>
        </a:graphic>
      </p:graphicFrame>
      <p:sp>
        <p:nvSpPr>
          <p:cNvPr id="16" name="Straight Arrow Connector 105"/>
          <p:cNvSpPr>
            <a:spLocks noChangeShapeType="1"/>
          </p:cNvSpPr>
          <p:nvPr/>
        </p:nvSpPr>
        <p:spPr bwMode="auto">
          <a:xfrm rot="18900000">
            <a:off x="1374489" y="3193468"/>
            <a:ext cx="3492610" cy="20443"/>
          </a:xfrm>
          <a:prstGeom prst="straightConnector1">
            <a:avLst/>
          </a:prstGeom>
          <a:noFill/>
          <a:ln w="25400">
            <a:solidFill>
              <a:srgbClr val="FFC000"/>
            </a:solidFill>
            <a:round/>
            <a:headEnd type="none"/>
            <a:tailEnd type="triangle" w="med" len="med"/>
          </a:ln>
          <a:extLst>
            <a:ext uri="{909E8E84-426E-40DD-AFC4-6F175D3DCCD1}">
              <a14:hiddenFill xmlns:a14="http://schemas.microsoft.com/office/drawing/2010/main">
                <a:noFill/>
              </a14:hiddenFill>
            </a:ext>
          </a:extLst>
        </p:spPr>
        <p:txBody>
          <a:bodyPr vert="horz" wrap="square" lIns="81224" tIns="40611" rIns="81224" bIns="40611" numCol="1" anchor="t" anchorCtr="0" compatLnSpc="1">
            <a:prstTxWarp prst="textNoShape">
              <a:avLst/>
            </a:prstTxWarp>
          </a:bodyPr>
          <a:lstStyle/>
          <a:p>
            <a:endParaRPr lang="en-US" sz="1776" b="1">
              <a:latin typeface="+mn-lt"/>
            </a:endParaRPr>
          </a:p>
        </p:txBody>
      </p:sp>
      <p:sp>
        <p:nvSpPr>
          <p:cNvPr id="17" name="Arc 16"/>
          <p:cNvSpPr/>
          <p:nvPr/>
        </p:nvSpPr>
        <p:spPr bwMode="auto">
          <a:xfrm>
            <a:off x="3022068" y="2573575"/>
            <a:ext cx="1119312" cy="1421656"/>
          </a:xfrm>
          <a:prstGeom prst="arc">
            <a:avLst>
              <a:gd name="adj1" fmla="val 16909222"/>
              <a:gd name="adj2" fmla="val 21533365"/>
            </a:avLst>
          </a:prstGeom>
          <a:noFill/>
          <a:ln w="25400" cap="flat" cmpd="sng" algn="ctr">
            <a:solidFill>
              <a:srgbClr val="FFC000"/>
            </a:solidFill>
            <a:prstDash val="solid"/>
            <a:round/>
            <a:headEnd type="triangle" w="med" len="med"/>
            <a:tailEnd type="none" w="med" len="med"/>
          </a:ln>
          <a:effectLst/>
        </p:spPr>
        <p:txBody>
          <a:bodyPr vert="horz" wrap="square" lIns="81224" tIns="40611" rIns="81224" bIns="40611" numCol="1" rtlCol="0" anchor="t" anchorCtr="0" compatLnSpc="1">
            <a:prstTxWarp prst="textNoShape">
              <a:avLst/>
            </a:prstTxWarp>
          </a:bodyPr>
          <a:lstStyle/>
          <a:p>
            <a:pPr defTabSz="812209"/>
            <a:endParaRPr lang="en-US" sz="1776" b="1">
              <a:latin typeface="+mn-lt"/>
            </a:endParaRPr>
          </a:p>
        </p:txBody>
      </p:sp>
      <p:graphicFrame>
        <p:nvGraphicFramePr>
          <p:cNvPr id="18" name="对象 28"/>
          <p:cNvGraphicFramePr>
            <a:graphicFrameLocks noChangeAspect="1"/>
          </p:cNvGraphicFramePr>
          <p:nvPr>
            <p:extLst>
              <p:ext uri="{D42A27DB-BD31-4B8C-83A1-F6EECF244321}">
                <p14:modId xmlns:p14="http://schemas.microsoft.com/office/powerpoint/2010/main" val="2495377145"/>
              </p:ext>
            </p:extLst>
          </p:nvPr>
        </p:nvGraphicFramePr>
        <p:xfrm>
          <a:off x="4128814" y="2765283"/>
          <a:ext cx="210109" cy="290486"/>
        </p:xfrm>
        <a:graphic>
          <a:graphicData uri="http://schemas.openxmlformats.org/presentationml/2006/ole">
            <mc:AlternateContent xmlns:mc="http://schemas.openxmlformats.org/markup-compatibility/2006">
              <mc:Choice xmlns:v="urn:schemas-microsoft-com:vml" Requires="v">
                <p:oleObj name="Equation" r:id="rId14" imgW="177480" imgH="241200" progId="Equation.DSMT4">
                  <p:embed/>
                </p:oleObj>
              </mc:Choice>
              <mc:Fallback>
                <p:oleObj name="Equation" r:id="rId14" imgW="177480" imgH="241200" progId="Equation.DSMT4">
                  <p:embed/>
                  <p:pic>
                    <p:nvPicPr>
                      <p:cNvPr id="18" name="对象 28"/>
                      <p:cNvPicPr/>
                      <p:nvPr/>
                    </p:nvPicPr>
                    <p:blipFill>
                      <a:blip r:embed="rId15"/>
                      <a:stretch>
                        <a:fillRect/>
                      </a:stretch>
                    </p:blipFill>
                    <p:spPr>
                      <a:xfrm>
                        <a:off x="4128814" y="2765283"/>
                        <a:ext cx="210109" cy="290486"/>
                      </a:xfrm>
                      <a:prstGeom prst="rect">
                        <a:avLst/>
                      </a:prstGeom>
                    </p:spPr>
                  </p:pic>
                </p:oleObj>
              </mc:Fallback>
            </mc:AlternateContent>
          </a:graphicData>
        </a:graphic>
      </p:graphicFrame>
      <p:sp>
        <p:nvSpPr>
          <p:cNvPr id="19" name="Pie 18"/>
          <p:cNvSpPr/>
          <p:nvPr/>
        </p:nvSpPr>
        <p:spPr bwMode="auto">
          <a:xfrm rot="8100000">
            <a:off x="5334673" y="2443226"/>
            <a:ext cx="1940350" cy="1676577"/>
          </a:xfrm>
          <a:prstGeom prst="pie">
            <a:avLst>
              <a:gd name="adj1" fmla="val 0"/>
              <a:gd name="adj2" fmla="val 10757782"/>
            </a:avLst>
          </a:prstGeom>
          <a:solidFill>
            <a:srgbClr val="00B050">
              <a:alpha val="50000"/>
            </a:srgbClr>
          </a:solidFill>
          <a:ln w="9525" cap="flat" cmpd="sng" algn="ctr">
            <a:noFill/>
            <a:prstDash val="solid"/>
            <a:round/>
            <a:headEnd type="none" w="med" len="med"/>
            <a:tailEnd type="none" w="med" len="med"/>
          </a:ln>
          <a:effectLst/>
        </p:spPr>
        <p:txBody>
          <a:bodyPr vert="horz" wrap="square" lIns="81224" tIns="40611" rIns="81224" bIns="40611" numCol="1" rtlCol="0" anchor="t" anchorCtr="0" compatLnSpc="1">
            <a:prstTxWarp prst="textNoShape">
              <a:avLst/>
            </a:prstTxWarp>
          </a:bodyPr>
          <a:lstStyle/>
          <a:p>
            <a:pPr algn="ctr" defTabSz="812209"/>
            <a:endParaRPr lang="en-US" sz="1776" b="1" dirty="0" err="1">
              <a:latin typeface="+mn-lt"/>
            </a:endParaRPr>
          </a:p>
        </p:txBody>
      </p:sp>
      <p:graphicFrame>
        <p:nvGraphicFramePr>
          <p:cNvPr id="20" name="对象 28"/>
          <p:cNvGraphicFramePr>
            <a:graphicFrameLocks noChangeAspect="1"/>
          </p:cNvGraphicFramePr>
          <p:nvPr>
            <p:extLst>
              <p:ext uri="{D42A27DB-BD31-4B8C-83A1-F6EECF244321}">
                <p14:modId xmlns:p14="http://schemas.microsoft.com/office/powerpoint/2010/main" val="2390314280"/>
              </p:ext>
            </p:extLst>
          </p:nvPr>
        </p:nvGraphicFramePr>
        <p:xfrm>
          <a:off x="7585671" y="1966515"/>
          <a:ext cx="255233" cy="289076"/>
        </p:xfrm>
        <a:graphic>
          <a:graphicData uri="http://schemas.openxmlformats.org/presentationml/2006/ole">
            <mc:AlternateContent xmlns:mc="http://schemas.openxmlformats.org/markup-compatibility/2006">
              <mc:Choice xmlns:v="urn:schemas-microsoft-com:vml" Requires="v">
                <p:oleObj name="Equation" r:id="rId16" imgW="215640" imgH="241200" progId="Equation.DSMT4">
                  <p:embed/>
                </p:oleObj>
              </mc:Choice>
              <mc:Fallback>
                <p:oleObj name="Equation" r:id="rId16" imgW="215640" imgH="241200" progId="Equation.DSMT4">
                  <p:embed/>
                  <p:pic>
                    <p:nvPicPr>
                      <p:cNvPr id="20" name="对象 28"/>
                      <p:cNvPicPr/>
                      <p:nvPr/>
                    </p:nvPicPr>
                    <p:blipFill>
                      <a:blip r:embed="rId17"/>
                      <a:stretch>
                        <a:fillRect/>
                      </a:stretch>
                    </p:blipFill>
                    <p:spPr>
                      <a:xfrm>
                        <a:off x="7585671" y="1966515"/>
                        <a:ext cx="255233" cy="289076"/>
                      </a:xfrm>
                      <a:prstGeom prst="rect">
                        <a:avLst/>
                      </a:prstGeom>
                    </p:spPr>
                  </p:pic>
                </p:oleObj>
              </mc:Fallback>
            </mc:AlternateContent>
          </a:graphicData>
        </a:graphic>
      </p:graphicFrame>
      <p:graphicFrame>
        <p:nvGraphicFramePr>
          <p:cNvPr id="21" name="对象 28"/>
          <p:cNvGraphicFramePr>
            <a:graphicFrameLocks noChangeAspect="1"/>
          </p:cNvGraphicFramePr>
          <p:nvPr>
            <p:extLst>
              <p:ext uri="{D42A27DB-BD31-4B8C-83A1-F6EECF244321}">
                <p14:modId xmlns:p14="http://schemas.microsoft.com/office/powerpoint/2010/main" val="390283324"/>
              </p:ext>
            </p:extLst>
          </p:nvPr>
        </p:nvGraphicFramePr>
        <p:xfrm>
          <a:off x="2291457" y="4605445"/>
          <a:ext cx="896843" cy="365224"/>
        </p:xfrm>
        <a:graphic>
          <a:graphicData uri="http://schemas.openxmlformats.org/presentationml/2006/ole">
            <mc:AlternateContent xmlns:mc="http://schemas.openxmlformats.org/markup-compatibility/2006">
              <mc:Choice xmlns:v="urn:schemas-microsoft-com:vml" Requires="v">
                <p:oleObj name="Equation" r:id="rId18" imgW="761760" imgH="304560" progId="Equation.DSMT4">
                  <p:embed/>
                </p:oleObj>
              </mc:Choice>
              <mc:Fallback>
                <p:oleObj name="Equation" r:id="rId18" imgW="761760" imgH="304560" progId="Equation.DSMT4">
                  <p:embed/>
                  <p:pic>
                    <p:nvPicPr>
                      <p:cNvPr id="21" name="对象 28"/>
                      <p:cNvPicPr/>
                      <p:nvPr/>
                    </p:nvPicPr>
                    <p:blipFill>
                      <a:blip r:embed="rId19"/>
                      <a:stretch>
                        <a:fillRect/>
                      </a:stretch>
                    </p:blipFill>
                    <p:spPr>
                      <a:xfrm>
                        <a:off x="2291457" y="4605445"/>
                        <a:ext cx="896843" cy="365224"/>
                      </a:xfrm>
                      <a:prstGeom prst="rect">
                        <a:avLst/>
                      </a:prstGeom>
                    </p:spPr>
                  </p:pic>
                </p:oleObj>
              </mc:Fallback>
            </mc:AlternateContent>
          </a:graphicData>
        </a:graphic>
      </p:graphicFrame>
      <p:graphicFrame>
        <p:nvGraphicFramePr>
          <p:cNvPr id="22" name="对象 28"/>
          <p:cNvGraphicFramePr>
            <a:graphicFrameLocks noChangeAspect="1"/>
          </p:cNvGraphicFramePr>
          <p:nvPr>
            <p:extLst>
              <p:ext uri="{D42A27DB-BD31-4B8C-83A1-F6EECF244321}">
                <p14:modId xmlns:p14="http://schemas.microsoft.com/office/powerpoint/2010/main" val="3449718359"/>
              </p:ext>
            </p:extLst>
          </p:nvPr>
        </p:nvGraphicFramePr>
        <p:xfrm>
          <a:off x="5532942" y="4605445"/>
          <a:ext cx="2077122" cy="365223"/>
        </p:xfrm>
        <a:graphic>
          <a:graphicData uri="http://schemas.openxmlformats.org/presentationml/2006/ole">
            <mc:AlternateContent xmlns:mc="http://schemas.openxmlformats.org/markup-compatibility/2006">
              <mc:Choice xmlns:v="urn:schemas-microsoft-com:vml" Requires="v">
                <p:oleObj name="Equation" r:id="rId20" imgW="1765080" imgH="304560" progId="Equation.DSMT4">
                  <p:embed/>
                </p:oleObj>
              </mc:Choice>
              <mc:Fallback>
                <p:oleObj name="Equation" r:id="rId20" imgW="1765080" imgH="304560" progId="Equation.DSMT4">
                  <p:embed/>
                  <p:pic>
                    <p:nvPicPr>
                      <p:cNvPr id="22" name="对象 28"/>
                      <p:cNvPicPr/>
                      <p:nvPr/>
                    </p:nvPicPr>
                    <p:blipFill>
                      <a:blip r:embed="rId21"/>
                      <a:stretch>
                        <a:fillRect/>
                      </a:stretch>
                    </p:blipFill>
                    <p:spPr>
                      <a:xfrm>
                        <a:off x="5532942" y="4605445"/>
                        <a:ext cx="2077122" cy="365223"/>
                      </a:xfrm>
                      <a:prstGeom prst="rect">
                        <a:avLst/>
                      </a:prstGeom>
                    </p:spPr>
                  </p:pic>
                </p:oleObj>
              </mc:Fallback>
            </mc:AlternateContent>
          </a:graphicData>
        </a:graphic>
      </p:graphicFrame>
      <p:graphicFrame>
        <p:nvGraphicFramePr>
          <p:cNvPr id="23" name="对象 28"/>
          <p:cNvGraphicFramePr>
            <a:graphicFrameLocks noChangeAspect="1"/>
          </p:cNvGraphicFramePr>
          <p:nvPr>
            <p:extLst>
              <p:ext uri="{D42A27DB-BD31-4B8C-83A1-F6EECF244321}">
                <p14:modId xmlns:p14="http://schemas.microsoft.com/office/powerpoint/2010/main" val="2224605686"/>
              </p:ext>
            </p:extLst>
          </p:nvPr>
        </p:nvGraphicFramePr>
        <p:xfrm>
          <a:off x="1831352" y="1798004"/>
          <a:ext cx="180497" cy="228441"/>
        </p:xfrm>
        <a:graphic>
          <a:graphicData uri="http://schemas.openxmlformats.org/presentationml/2006/ole">
            <mc:AlternateContent xmlns:mc="http://schemas.openxmlformats.org/markup-compatibility/2006">
              <mc:Choice xmlns:v="urn:schemas-microsoft-com:vml" Requires="v">
                <p:oleObj name="Equation" r:id="rId22" imgW="152280" imgH="190440" progId="Equation.DSMT4">
                  <p:embed/>
                </p:oleObj>
              </mc:Choice>
              <mc:Fallback>
                <p:oleObj name="Equation" r:id="rId22" imgW="152280" imgH="190440" progId="Equation.DSMT4">
                  <p:embed/>
                  <p:pic>
                    <p:nvPicPr>
                      <p:cNvPr id="23" name="对象 28"/>
                      <p:cNvPicPr/>
                      <p:nvPr/>
                    </p:nvPicPr>
                    <p:blipFill>
                      <a:blip r:embed="rId23"/>
                      <a:stretch>
                        <a:fillRect/>
                      </a:stretch>
                    </p:blipFill>
                    <p:spPr>
                      <a:xfrm>
                        <a:off x="1831352" y="1798004"/>
                        <a:ext cx="180497" cy="228441"/>
                      </a:xfrm>
                      <a:prstGeom prst="rect">
                        <a:avLst/>
                      </a:prstGeom>
                    </p:spPr>
                  </p:pic>
                </p:oleObj>
              </mc:Fallback>
            </mc:AlternateContent>
          </a:graphicData>
        </a:graphic>
      </p:graphicFrame>
      <p:sp>
        <p:nvSpPr>
          <p:cNvPr id="24" name="Title 1"/>
          <p:cNvSpPr txBox="1">
            <a:spLocks/>
          </p:cNvSpPr>
          <p:nvPr/>
        </p:nvSpPr>
        <p:spPr bwMode="auto">
          <a:xfrm>
            <a:off x="3380377" y="4978800"/>
            <a:ext cx="2022269" cy="349451"/>
          </a:xfrm>
          <a:prstGeom prst="rect">
            <a:avLst/>
          </a:prstGeom>
          <a:noFill/>
          <a:ln w="9525">
            <a:noFill/>
            <a:miter lim="800000"/>
            <a:headEnd/>
            <a:tailEnd/>
          </a:ln>
          <a:effectLst>
            <a:outerShdw dist="25399" dir="2700000" algn="ctr" rotWithShape="0">
              <a:schemeClr val="bg2">
                <a:alpha val="31000"/>
              </a:schemeClr>
            </a:outerShdw>
          </a:effectLst>
        </p:spPr>
        <p:txBody>
          <a:bodyPr vert="horz" wrap="square" lIns="81224" tIns="40611" rIns="81224" bIns="40611" numCol="1" anchor="ctr" anchorCtr="0" compatLnSpc="1">
            <a:prstTxWarp prst="textNoShape">
              <a:avLst/>
            </a:prstTxWarp>
          </a:bodyPr>
          <a:lstStyle>
            <a:lvl1pPr algn="l" rtl="0" fontAlgn="base">
              <a:spcBef>
                <a:spcPct val="0"/>
              </a:spcBef>
              <a:spcAft>
                <a:spcPct val="0"/>
              </a:spcAft>
              <a:defRPr sz="36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algn="ctr" eaLnBrk="1" hangingPunct="1"/>
            <a:r>
              <a:rPr lang="en-US" sz="1776" kern="0" dirty="0">
                <a:latin typeface="+mn-lt"/>
              </a:rPr>
              <a:t>2D Fourier Transform</a:t>
            </a:r>
          </a:p>
        </p:txBody>
      </p:sp>
      <p:cxnSp>
        <p:nvCxnSpPr>
          <p:cNvPr id="25" name="Curved Connector 24"/>
          <p:cNvCxnSpPr>
            <a:endCxn id="19" idx="1"/>
          </p:cNvCxnSpPr>
          <p:nvPr/>
        </p:nvCxnSpPr>
        <p:spPr bwMode="auto">
          <a:xfrm>
            <a:off x="2495661" y="1331746"/>
            <a:ext cx="3216427" cy="1357011"/>
          </a:xfrm>
          <a:prstGeom prst="curvedConnector2">
            <a:avLst/>
          </a:prstGeom>
          <a:solidFill>
            <a:schemeClr val="accent1"/>
          </a:solidFill>
          <a:ln w="127000" cap="flat" cmpd="sng" algn="ctr">
            <a:solidFill>
              <a:srgbClr val="00B0F0">
                <a:alpha val="50000"/>
              </a:srgbClr>
            </a:solidFill>
            <a:prstDash val="solid"/>
            <a:round/>
            <a:headEnd type="none" w="med" len="med"/>
            <a:tailEnd type="triangle"/>
          </a:ln>
          <a:effectLst/>
        </p:spPr>
      </p:cxnSp>
      <p:sp>
        <p:nvSpPr>
          <p:cNvPr id="26" name="Arc 25"/>
          <p:cNvSpPr/>
          <p:nvPr/>
        </p:nvSpPr>
        <p:spPr bwMode="auto">
          <a:xfrm>
            <a:off x="6234270" y="2833651"/>
            <a:ext cx="761887" cy="834463"/>
          </a:xfrm>
          <a:prstGeom prst="arc">
            <a:avLst>
              <a:gd name="adj1" fmla="val 16909222"/>
              <a:gd name="adj2" fmla="val 21533365"/>
            </a:avLst>
          </a:prstGeom>
          <a:noFill/>
          <a:ln w="25400" cap="flat" cmpd="sng" algn="ctr">
            <a:solidFill>
              <a:srgbClr val="FFC000"/>
            </a:solidFill>
            <a:prstDash val="solid"/>
            <a:round/>
            <a:headEnd type="triangle" w="med" len="med"/>
            <a:tailEnd type="none" w="med" len="med"/>
          </a:ln>
          <a:effectLst/>
        </p:spPr>
        <p:txBody>
          <a:bodyPr vert="horz" wrap="square" lIns="81224" tIns="40611" rIns="81224" bIns="40611" numCol="1" rtlCol="0" anchor="t" anchorCtr="0" compatLnSpc="1">
            <a:prstTxWarp prst="textNoShape">
              <a:avLst/>
            </a:prstTxWarp>
          </a:bodyPr>
          <a:lstStyle/>
          <a:p>
            <a:pPr defTabSz="812209"/>
            <a:endParaRPr lang="en-US" sz="1776" b="1">
              <a:latin typeface="+mn-lt"/>
            </a:endParaRPr>
          </a:p>
        </p:txBody>
      </p:sp>
      <p:graphicFrame>
        <p:nvGraphicFramePr>
          <p:cNvPr id="27" name="对象 28"/>
          <p:cNvGraphicFramePr>
            <a:graphicFrameLocks noChangeAspect="1"/>
          </p:cNvGraphicFramePr>
          <p:nvPr>
            <p:extLst>
              <p:ext uri="{D42A27DB-BD31-4B8C-83A1-F6EECF244321}">
                <p14:modId xmlns:p14="http://schemas.microsoft.com/office/powerpoint/2010/main" val="755425004"/>
              </p:ext>
            </p:extLst>
          </p:nvPr>
        </p:nvGraphicFramePr>
        <p:xfrm>
          <a:off x="6615779" y="2956553"/>
          <a:ext cx="210109" cy="290486"/>
        </p:xfrm>
        <a:graphic>
          <a:graphicData uri="http://schemas.openxmlformats.org/presentationml/2006/ole">
            <mc:AlternateContent xmlns:mc="http://schemas.openxmlformats.org/markup-compatibility/2006">
              <mc:Choice xmlns:v="urn:schemas-microsoft-com:vml" Requires="v">
                <p:oleObj name="Equation" r:id="rId14" imgW="177480" imgH="241200" progId="Equation.DSMT4">
                  <p:embed/>
                </p:oleObj>
              </mc:Choice>
              <mc:Fallback>
                <p:oleObj name="Equation" r:id="rId14" imgW="177480" imgH="241200" progId="Equation.DSMT4">
                  <p:embed/>
                  <p:pic>
                    <p:nvPicPr>
                      <p:cNvPr id="27" name="对象 28"/>
                      <p:cNvPicPr/>
                      <p:nvPr/>
                    </p:nvPicPr>
                    <p:blipFill>
                      <a:blip r:embed="rId15"/>
                      <a:stretch>
                        <a:fillRect/>
                      </a:stretch>
                    </p:blipFill>
                    <p:spPr>
                      <a:xfrm>
                        <a:off x="6615779" y="2956553"/>
                        <a:ext cx="210109" cy="290486"/>
                      </a:xfrm>
                      <a:prstGeom prst="rect">
                        <a:avLst/>
                      </a:prstGeom>
                    </p:spPr>
                  </p:pic>
                </p:oleObj>
              </mc:Fallback>
            </mc:AlternateContent>
          </a:graphicData>
        </a:graphic>
      </p:graphicFrame>
      <p:cxnSp>
        <p:nvCxnSpPr>
          <p:cNvPr id="28" name="Straight Connector 27"/>
          <p:cNvCxnSpPr/>
          <p:nvPr/>
        </p:nvCxnSpPr>
        <p:spPr bwMode="auto">
          <a:xfrm>
            <a:off x="3320448" y="4788055"/>
            <a:ext cx="2110964" cy="0"/>
          </a:xfrm>
          <a:prstGeom prst="line">
            <a:avLst/>
          </a:prstGeom>
          <a:solidFill>
            <a:schemeClr val="accent1"/>
          </a:solidFill>
          <a:ln w="127000" cap="flat" cmpd="sng" algn="ctr">
            <a:solidFill>
              <a:srgbClr val="00B0F0">
                <a:alpha val="50000"/>
              </a:srgbClr>
            </a:solidFill>
            <a:prstDash val="solid"/>
            <a:round/>
            <a:headEnd type="triangle" w="med" len="med"/>
            <a:tailEnd type="triangle" w="med" len="med"/>
          </a:ln>
          <a:effectLst/>
        </p:spPr>
      </p:cxnSp>
      <p:sp>
        <p:nvSpPr>
          <p:cNvPr id="29" name="Title 1"/>
          <p:cNvSpPr txBox="1">
            <a:spLocks/>
          </p:cNvSpPr>
          <p:nvPr/>
        </p:nvSpPr>
        <p:spPr bwMode="auto">
          <a:xfrm>
            <a:off x="3963665" y="1153566"/>
            <a:ext cx="2179326" cy="349451"/>
          </a:xfrm>
          <a:prstGeom prst="rect">
            <a:avLst/>
          </a:prstGeom>
          <a:noFill/>
          <a:ln w="9525">
            <a:noFill/>
            <a:miter lim="800000"/>
            <a:headEnd/>
            <a:tailEnd/>
          </a:ln>
          <a:effectLst>
            <a:outerShdw dist="25399" dir="2700000" algn="ctr" rotWithShape="0">
              <a:schemeClr val="bg2">
                <a:alpha val="31000"/>
              </a:schemeClr>
            </a:outerShdw>
          </a:effectLst>
        </p:spPr>
        <p:txBody>
          <a:bodyPr vert="horz" wrap="square" lIns="91567" tIns="45784" rIns="91567" bIns="45784" numCol="1" anchor="ctr" anchorCtr="0" compatLnSpc="1">
            <a:prstTxWarp prst="textNoShape">
              <a:avLst/>
            </a:prstTxWarp>
          </a:bodyPr>
          <a:lstStyle>
            <a:lvl1pPr algn="ctr" rtl="0" fontAlgn="base">
              <a:spcBef>
                <a:spcPct val="0"/>
              </a:spcBef>
              <a:spcAft>
                <a:spcPct val="0"/>
              </a:spcAft>
              <a:defRPr sz="3548" b="1">
                <a:solidFill>
                  <a:schemeClr val="tx1"/>
                </a:solidFill>
                <a:latin typeface="+mj-lt"/>
                <a:ea typeface="+mj-ea"/>
                <a:cs typeface="+mj-cs"/>
              </a:defRPr>
            </a:lvl1pPr>
            <a:lvl2pPr algn="l" rtl="0" fontAlgn="base">
              <a:spcBef>
                <a:spcPct val="0"/>
              </a:spcBef>
              <a:spcAft>
                <a:spcPct val="0"/>
              </a:spcAft>
              <a:defRPr sz="3903">
                <a:solidFill>
                  <a:srgbClr val="691638"/>
                </a:solidFill>
                <a:latin typeface="Arial" charset="0"/>
                <a:ea typeface="ＭＳ Ｐゴシック" pitchFamily="116" charset="-128"/>
              </a:defRPr>
            </a:lvl2pPr>
            <a:lvl3pPr algn="l" rtl="0" fontAlgn="base">
              <a:spcBef>
                <a:spcPct val="0"/>
              </a:spcBef>
              <a:spcAft>
                <a:spcPct val="0"/>
              </a:spcAft>
              <a:defRPr sz="3903">
                <a:solidFill>
                  <a:srgbClr val="691638"/>
                </a:solidFill>
                <a:latin typeface="Arial" charset="0"/>
                <a:ea typeface="ＭＳ Ｐゴシック" pitchFamily="116" charset="-128"/>
              </a:defRPr>
            </a:lvl3pPr>
            <a:lvl4pPr algn="l" rtl="0" fontAlgn="base">
              <a:spcBef>
                <a:spcPct val="0"/>
              </a:spcBef>
              <a:spcAft>
                <a:spcPct val="0"/>
              </a:spcAft>
              <a:defRPr sz="3903">
                <a:solidFill>
                  <a:srgbClr val="691638"/>
                </a:solidFill>
                <a:latin typeface="Arial" charset="0"/>
                <a:ea typeface="ＭＳ Ｐゴシック" pitchFamily="116" charset="-128"/>
              </a:defRPr>
            </a:lvl4pPr>
            <a:lvl5pPr algn="l" rtl="0" fontAlgn="base">
              <a:spcBef>
                <a:spcPct val="0"/>
              </a:spcBef>
              <a:spcAft>
                <a:spcPct val="0"/>
              </a:spcAft>
              <a:defRPr sz="3903">
                <a:solidFill>
                  <a:srgbClr val="691638"/>
                </a:solidFill>
                <a:latin typeface="Arial" charset="0"/>
                <a:ea typeface="ＭＳ Ｐゴシック" pitchFamily="116" charset="-128"/>
              </a:defRPr>
            </a:lvl5pPr>
            <a:lvl6pPr marL="405536" algn="l" rtl="0" fontAlgn="base">
              <a:spcBef>
                <a:spcPct val="0"/>
              </a:spcBef>
              <a:spcAft>
                <a:spcPct val="0"/>
              </a:spcAft>
              <a:defRPr sz="3903">
                <a:solidFill>
                  <a:srgbClr val="691638"/>
                </a:solidFill>
                <a:latin typeface="Arial" charset="0"/>
                <a:ea typeface="ＭＳ Ｐゴシック" pitchFamily="116" charset="-128"/>
              </a:defRPr>
            </a:lvl6pPr>
            <a:lvl7pPr marL="811073" algn="l" rtl="0" fontAlgn="base">
              <a:spcBef>
                <a:spcPct val="0"/>
              </a:spcBef>
              <a:spcAft>
                <a:spcPct val="0"/>
              </a:spcAft>
              <a:defRPr sz="3903">
                <a:solidFill>
                  <a:srgbClr val="691638"/>
                </a:solidFill>
                <a:latin typeface="Arial" charset="0"/>
                <a:ea typeface="ＭＳ Ｐゴシック" pitchFamily="116" charset="-128"/>
              </a:defRPr>
            </a:lvl7pPr>
            <a:lvl8pPr marL="1216609" algn="l" rtl="0" fontAlgn="base">
              <a:spcBef>
                <a:spcPct val="0"/>
              </a:spcBef>
              <a:spcAft>
                <a:spcPct val="0"/>
              </a:spcAft>
              <a:defRPr sz="3903">
                <a:solidFill>
                  <a:srgbClr val="691638"/>
                </a:solidFill>
                <a:latin typeface="Arial" charset="0"/>
                <a:ea typeface="ＭＳ Ｐゴシック" pitchFamily="116" charset="-128"/>
              </a:defRPr>
            </a:lvl8pPr>
            <a:lvl9pPr marL="1622146" algn="l" rtl="0" fontAlgn="base">
              <a:spcBef>
                <a:spcPct val="0"/>
              </a:spcBef>
              <a:spcAft>
                <a:spcPct val="0"/>
              </a:spcAft>
              <a:defRPr sz="3903">
                <a:solidFill>
                  <a:srgbClr val="691638"/>
                </a:solidFill>
                <a:latin typeface="Arial" charset="0"/>
                <a:ea typeface="ＭＳ Ｐゴシック" pitchFamily="116" charset="-128"/>
              </a:defRPr>
            </a:lvl9pPr>
          </a:lstStyle>
          <a:p>
            <a:pPr eaLnBrk="1" hangingPunct="1"/>
            <a:r>
              <a:rPr lang="en-US" sz="1776" kern="0">
                <a:latin typeface="+mn-lt"/>
              </a:rPr>
              <a:t>1D Fourier Transform</a:t>
            </a:r>
            <a:endParaRPr lang="en-US" sz="1776" kern="0" dirty="0">
              <a:latin typeface="+mn-lt"/>
            </a:endParaRPr>
          </a:p>
        </p:txBody>
      </p:sp>
      <p:sp>
        <p:nvSpPr>
          <p:cNvPr id="30" name="Straight Arrow Connector 105"/>
          <p:cNvSpPr>
            <a:spLocks noChangeShapeType="1"/>
          </p:cNvSpPr>
          <p:nvPr/>
        </p:nvSpPr>
        <p:spPr bwMode="auto">
          <a:xfrm rot="13500000" flipV="1">
            <a:off x="1261911" y="3249553"/>
            <a:ext cx="3502598" cy="0"/>
          </a:xfrm>
          <a:prstGeom prst="straightConnector1">
            <a:avLst/>
          </a:prstGeom>
          <a:noFill/>
          <a:ln w="25400">
            <a:solidFill>
              <a:srgbClr val="FFC000"/>
            </a:solidFill>
            <a:round/>
            <a:headEnd type="none"/>
            <a:tailEnd type="triangle" w="med" len="med"/>
          </a:ln>
          <a:extLst>
            <a:ext uri="{909E8E84-426E-40DD-AFC4-6F175D3DCCD1}">
              <a14:hiddenFill xmlns:a14="http://schemas.microsoft.com/office/drawing/2010/main">
                <a:noFill/>
              </a14:hiddenFill>
            </a:ext>
          </a:extLst>
        </p:spPr>
        <p:txBody>
          <a:bodyPr vert="horz" wrap="square" lIns="81224" tIns="40611" rIns="81224" bIns="40611" numCol="1" anchor="t" anchorCtr="0" compatLnSpc="1">
            <a:prstTxWarp prst="textNoShape">
              <a:avLst/>
            </a:prstTxWarp>
          </a:bodyPr>
          <a:lstStyle/>
          <a:p>
            <a:endParaRPr lang="en-US" sz="1776" b="1">
              <a:latin typeface="+mn-lt"/>
            </a:endParaRPr>
          </a:p>
        </p:txBody>
      </p:sp>
      <p:graphicFrame>
        <p:nvGraphicFramePr>
          <p:cNvPr id="31" name="对象 28"/>
          <p:cNvGraphicFramePr>
            <a:graphicFrameLocks noChangeAspect="1"/>
          </p:cNvGraphicFramePr>
          <p:nvPr>
            <p:extLst>
              <p:ext uri="{D42A27DB-BD31-4B8C-83A1-F6EECF244321}">
                <p14:modId xmlns:p14="http://schemas.microsoft.com/office/powerpoint/2010/main" val="1423505011"/>
              </p:ext>
            </p:extLst>
          </p:nvPr>
        </p:nvGraphicFramePr>
        <p:xfrm>
          <a:off x="784969" y="924312"/>
          <a:ext cx="826336" cy="366634"/>
        </p:xfrm>
        <a:graphic>
          <a:graphicData uri="http://schemas.openxmlformats.org/presentationml/2006/ole">
            <mc:AlternateContent xmlns:mc="http://schemas.openxmlformats.org/markup-compatibility/2006">
              <mc:Choice xmlns:v="urn:schemas-microsoft-com:vml" Requires="v">
                <p:oleObj name="Equation" r:id="rId24" imgW="698400" imgH="304560" progId="Equation.DSMT4">
                  <p:embed/>
                </p:oleObj>
              </mc:Choice>
              <mc:Fallback>
                <p:oleObj name="Equation" r:id="rId24" imgW="698400" imgH="304560" progId="Equation.DSMT4">
                  <p:embed/>
                  <p:pic>
                    <p:nvPicPr>
                      <p:cNvPr id="31" name="对象 28"/>
                      <p:cNvPicPr/>
                      <p:nvPr/>
                    </p:nvPicPr>
                    <p:blipFill>
                      <a:blip r:embed="rId25"/>
                      <a:stretch>
                        <a:fillRect/>
                      </a:stretch>
                    </p:blipFill>
                    <p:spPr>
                      <a:xfrm>
                        <a:off x="784969" y="924312"/>
                        <a:ext cx="826336" cy="366634"/>
                      </a:xfrm>
                      <a:prstGeom prst="rect">
                        <a:avLst/>
                      </a:prstGeom>
                    </p:spPr>
                  </p:pic>
                </p:oleObj>
              </mc:Fallback>
            </mc:AlternateContent>
          </a:graphicData>
        </a:graphic>
      </p:graphicFrame>
      <p:sp>
        <p:nvSpPr>
          <p:cNvPr id="32" name="Title 1"/>
          <p:cNvSpPr txBox="1">
            <a:spLocks/>
          </p:cNvSpPr>
          <p:nvPr/>
        </p:nvSpPr>
        <p:spPr bwMode="auto">
          <a:xfrm>
            <a:off x="1083663" y="3310976"/>
            <a:ext cx="869053" cy="349451"/>
          </a:xfrm>
          <a:prstGeom prst="rect">
            <a:avLst/>
          </a:prstGeom>
          <a:noFill/>
          <a:ln w="9525">
            <a:noFill/>
            <a:miter lim="800000"/>
            <a:headEnd/>
            <a:tailEnd/>
          </a:ln>
          <a:effectLst>
            <a:outerShdw dist="25399" dir="2700000" algn="ctr" rotWithShape="0">
              <a:schemeClr val="bg2">
                <a:alpha val="31000"/>
              </a:schemeClr>
            </a:outerShdw>
          </a:effectLst>
        </p:spPr>
        <p:txBody>
          <a:bodyPr vert="horz" wrap="square" lIns="81224" tIns="40611" rIns="81224" bIns="40611" numCol="1" anchor="ctr" anchorCtr="0" compatLnSpc="1">
            <a:prstTxWarp prst="textNoShape">
              <a:avLst/>
            </a:prstTxWarp>
          </a:bodyPr>
          <a:lstStyle>
            <a:lvl1pPr algn="l" rtl="0" fontAlgn="base">
              <a:spcBef>
                <a:spcPct val="0"/>
              </a:spcBef>
              <a:spcAft>
                <a:spcPct val="0"/>
              </a:spcAft>
              <a:defRPr sz="36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algn="ctr" eaLnBrk="1" hangingPunct="1"/>
            <a:r>
              <a:rPr lang="en-US" sz="1776" kern="0" dirty="0">
                <a:latin typeface="+mn-lt"/>
              </a:rPr>
              <a:t>X-rays</a:t>
            </a:r>
          </a:p>
        </p:txBody>
      </p:sp>
      <p:sp>
        <p:nvSpPr>
          <p:cNvPr id="33" name="Freeform 32"/>
          <p:cNvSpPr/>
          <p:nvPr/>
        </p:nvSpPr>
        <p:spPr bwMode="auto">
          <a:xfrm flipH="1">
            <a:off x="1133418" y="1378934"/>
            <a:ext cx="1516203" cy="1542486"/>
          </a:xfrm>
          <a:custGeom>
            <a:avLst/>
            <a:gdLst>
              <a:gd name="connsiteX0" fmla="*/ 0 w 2185988"/>
              <a:gd name="connsiteY0" fmla="*/ 314325 h 2171700"/>
              <a:gd name="connsiteX1" fmla="*/ 157163 w 2185988"/>
              <a:gd name="connsiteY1" fmla="*/ 185737 h 2171700"/>
              <a:gd name="connsiteX2" fmla="*/ 333375 w 2185988"/>
              <a:gd name="connsiteY2" fmla="*/ 95250 h 2171700"/>
              <a:gd name="connsiteX3" fmla="*/ 495300 w 2185988"/>
              <a:gd name="connsiteY3" fmla="*/ 33337 h 2171700"/>
              <a:gd name="connsiteX4" fmla="*/ 690563 w 2185988"/>
              <a:gd name="connsiteY4" fmla="*/ 0 h 2171700"/>
              <a:gd name="connsiteX5" fmla="*/ 871538 w 2185988"/>
              <a:gd name="connsiteY5" fmla="*/ 4762 h 2171700"/>
              <a:gd name="connsiteX6" fmla="*/ 1066800 w 2185988"/>
              <a:gd name="connsiteY6" fmla="*/ 28575 h 2171700"/>
              <a:gd name="connsiteX7" fmla="*/ 1276350 w 2185988"/>
              <a:gd name="connsiteY7" fmla="*/ 104775 h 2171700"/>
              <a:gd name="connsiteX8" fmla="*/ 1428750 w 2185988"/>
              <a:gd name="connsiteY8" fmla="*/ 171450 h 2171700"/>
              <a:gd name="connsiteX9" fmla="*/ 1571625 w 2185988"/>
              <a:gd name="connsiteY9" fmla="*/ 266700 h 2171700"/>
              <a:gd name="connsiteX10" fmla="*/ 1704975 w 2185988"/>
              <a:gd name="connsiteY10" fmla="*/ 385762 h 2171700"/>
              <a:gd name="connsiteX11" fmla="*/ 1824038 w 2185988"/>
              <a:gd name="connsiteY11" fmla="*/ 504825 h 2171700"/>
              <a:gd name="connsiteX12" fmla="*/ 1938338 w 2185988"/>
              <a:gd name="connsiteY12" fmla="*/ 633412 h 2171700"/>
              <a:gd name="connsiteX13" fmla="*/ 2024063 w 2185988"/>
              <a:gd name="connsiteY13" fmla="*/ 781050 h 2171700"/>
              <a:gd name="connsiteX14" fmla="*/ 2085975 w 2185988"/>
              <a:gd name="connsiteY14" fmla="*/ 952500 h 2171700"/>
              <a:gd name="connsiteX15" fmla="*/ 2152650 w 2185988"/>
              <a:gd name="connsiteY15" fmla="*/ 1152525 h 2171700"/>
              <a:gd name="connsiteX16" fmla="*/ 2185988 w 2185988"/>
              <a:gd name="connsiteY16" fmla="*/ 1428750 h 2171700"/>
              <a:gd name="connsiteX17" fmla="*/ 2171700 w 2185988"/>
              <a:gd name="connsiteY17" fmla="*/ 1609725 h 2171700"/>
              <a:gd name="connsiteX18" fmla="*/ 2124075 w 2185988"/>
              <a:gd name="connsiteY18" fmla="*/ 1804987 h 2171700"/>
              <a:gd name="connsiteX19" fmla="*/ 2038350 w 2185988"/>
              <a:gd name="connsiteY19" fmla="*/ 1981200 h 2171700"/>
              <a:gd name="connsiteX20" fmla="*/ 1957388 w 2185988"/>
              <a:gd name="connsiteY20" fmla="*/ 2100262 h 2171700"/>
              <a:gd name="connsiteX21" fmla="*/ 1895475 w 2185988"/>
              <a:gd name="connsiteY21" fmla="*/ 2171700 h 2171700"/>
              <a:gd name="connsiteX0" fmla="*/ 0 w 2185988"/>
              <a:gd name="connsiteY0" fmla="*/ 314325 h 2171700"/>
              <a:gd name="connsiteX1" fmla="*/ 157163 w 2185988"/>
              <a:gd name="connsiteY1" fmla="*/ 185737 h 2171700"/>
              <a:gd name="connsiteX2" fmla="*/ 333375 w 2185988"/>
              <a:gd name="connsiteY2" fmla="*/ 95250 h 2171700"/>
              <a:gd name="connsiteX3" fmla="*/ 495300 w 2185988"/>
              <a:gd name="connsiteY3" fmla="*/ 33337 h 2171700"/>
              <a:gd name="connsiteX4" fmla="*/ 690563 w 2185988"/>
              <a:gd name="connsiteY4" fmla="*/ 0 h 2171700"/>
              <a:gd name="connsiteX5" fmla="*/ 871538 w 2185988"/>
              <a:gd name="connsiteY5" fmla="*/ 4762 h 2171700"/>
              <a:gd name="connsiteX6" fmla="*/ 1066800 w 2185988"/>
              <a:gd name="connsiteY6" fmla="*/ 28575 h 2171700"/>
              <a:gd name="connsiteX7" fmla="*/ 1276350 w 2185988"/>
              <a:gd name="connsiteY7" fmla="*/ 104775 h 2171700"/>
              <a:gd name="connsiteX8" fmla="*/ 1428750 w 2185988"/>
              <a:gd name="connsiteY8" fmla="*/ 171450 h 2171700"/>
              <a:gd name="connsiteX9" fmla="*/ 1571625 w 2185988"/>
              <a:gd name="connsiteY9" fmla="*/ 266700 h 2171700"/>
              <a:gd name="connsiteX10" fmla="*/ 1704975 w 2185988"/>
              <a:gd name="connsiteY10" fmla="*/ 385762 h 2171700"/>
              <a:gd name="connsiteX11" fmla="*/ 2066926 w 2185988"/>
              <a:gd name="connsiteY11" fmla="*/ 361950 h 2171700"/>
              <a:gd name="connsiteX12" fmla="*/ 1938338 w 2185988"/>
              <a:gd name="connsiteY12" fmla="*/ 633412 h 2171700"/>
              <a:gd name="connsiteX13" fmla="*/ 2024063 w 2185988"/>
              <a:gd name="connsiteY13" fmla="*/ 781050 h 2171700"/>
              <a:gd name="connsiteX14" fmla="*/ 2085975 w 2185988"/>
              <a:gd name="connsiteY14" fmla="*/ 952500 h 2171700"/>
              <a:gd name="connsiteX15" fmla="*/ 2152650 w 2185988"/>
              <a:gd name="connsiteY15" fmla="*/ 1152525 h 2171700"/>
              <a:gd name="connsiteX16" fmla="*/ 2185988 w 2185988"/>
              <a:gd name="connsiteY16" fmla="*/ 1428750 h 2171700"/>
              <a:gd name="connsiteX17" fmla="*/ 2171700 w 2185988"/>
              <a:gd name="connsiteY17" fmla="*/ 1609725 h 2171700"/>
              <a:gd name="connsiteX18" fmla="*/ 2124075 w 2185988"/>
              <a:gd name="connsiteY18" fmla="*/ 1804987 h 2171700"/>
              <a:gd name="connsiteX19" fmla="*/ 2038350 w 2185988"/>
              <a:gd name="connsiteY19" fmla="*/ 1981200 h 2171700"/>
              <a:gd name="connsiteX20" fmla="*/ 1957388 w 2185988"/>
              <a:gd name="connsiteY20" fmla="*/ 2100262 h 2171700"/>
              <a:gd name="connsiteX21" fmla="*/ 1895475 w 2185988"/>
              <a:gd name="connsiteY21" fmla="*/ 2171700 h 2171700"/>
              <a:gd name="connsiteX0" fmla="*/ 0 w 2185988"/>
              <a:gd name="connsiteY0" fmla="*/ 314325 h 2171700"/>
              <a:gd name="connsiteX1" fmla="*/ 157163 w 2185988"/>
              <a:gd name="connsiteY1" fmla="*/ 185737 h 2171700"/>
              <a:gd name="connsiteX2" fmla="*/ 333375 w 2185988"/>
              <a:gd name="connsiteY2" fmla="*/ 95250 h 2171700"/>
              <a:gd name="connsiteX3" fmla="*/ 495300 w 2185988"/>
              <a:gd name="connsiteY3" fmla="*/ 33337 h 2171700"/>
              <a:gd name="connsiteX4" fmla="*/ 690563 w 2185988"/>
              <a:gd name="connsiteY4" fmla="*/ 0 h 2171700"/>
              <a:gd name="connsiteX5" fmla="*/ 871538 w 2185988"/>
              <a:gd name="connsiteY5" fmla="*/ 4762 h 2171700"/>
              <a:gd name="connsiteX6" fmla="*/ 1066800 w 2185988"/>
              <a:gd name="connsiteY6" fmla="*/ 28575 h 2171700"/>
              <a:gd name="connsiteX7" fmla="*/ 1276350 w 2185988"/>
              <a:gd name="connsiteY7" fmla="*/ 104775 h 2171700"/>
              <a:gd name="connsiteX8" fmla="*/ 1428750 w 2185988"/>
              <a:gd name="connsiteY8" fmla="*/ 171450 h 2171700"/>
              <a:gd name="connsiteX9" fmla="*/ 1571625 w 2185988"/>
              <a:gd name="connsiteY9" fmla="*/ 266700 h 2171700"/>
              <a:gd name="connsiteX10" fmla="*/ 1704975 w 2185988"/>
              <a:gd name="connsiteY10" fmla="*/ 385762 h 2171700"/>
              <a:gd name="connsiteX11" fmla="*/ 2066926 w 2185988"/>
              <a:gd name="connsiteY11" fmla="*/ 361950 h 2171700"/>
              <a:gd name="connsiteX12" fmla="*/ 2009775 w 2185988"/>
              <a:gd name="connsiteY12" fmla="*/ 590550 h 2171700"/>
              <a:gd name="connsiteX13" fmla="*/ 2024063 w 2185988"/>
              <a:gd name="connsiteY13" fmla="*/ 781050 h 2171700"/>
              <a:gd name="connsiteX14" fmla="*/ 2085975 w 2185988"/>
              <a:gd name="connsiteY14" fmla="*/ 952500 h 2171700"/>
              <a:gd name="connsiteX15" fmla="*/ 2152650 w 2185988"/>
              <a:gd name="connsiteY15" fmla="*/ 1152525 h 2171700"/>
              <a:gd name="connsiteX16" fmla="*/ 2185988 w 2185988"/>
              <a:gd name="connsiteY16" fmla="*/ 1428750 h 2171700"/>
              <a:gd name="connsiteX17" fmla="*/ 2171700 w 2185988"/>
              <a:gd name="connsiteY17" fmla="*/ 1609725 h 2171700"/>
              <a:gd name="connsiteX18" fmla="*/ 2124075 w 2185988"/>
              <a:gd name="connsiteY18" fmla="*/ 1804987 h 2171700"/>
              <a:gd name="connsiteX19" fmla="*/ 2038350 w 2185988"/>
              <a:gd name="connsiteY19" fmla="*/ 1981200 h 2171700"/>
              <a:gd name="connsiteX20" fmla="*/ 1957388 w 2185988"/>
              <a:gd name="connsiteY20" fmla="*/ 2100262 h 2171700"/>
              <a:gd name="connsiteX21" fmla="*/ 1895475 w 2185988"/>
              <a:gd name="connsiteY21" fmla="*/ 2171700 h 2171700"/>
              <a:gd name="connsiteX0" fmla="*/ 0 w 2185988"/>
              <a:gd name="connsiteY0" fmla="*/ 314325 h 2171700"/>
              <a:gd name="connsiteX1" fmla="*/ 157163 w 2185988"/>
              <a:gd name="connsiteY1" fmla="*/ 185737 h 2171700"/>
              <a:gd name="connsiteX2" fmla="*/ 333375 w 2185988"/>
              <a:gd name="connsiteY2" fmla="*/ 95250 h 2171700"/>
              <a:gd name="connsiteX3" fmla="*/ 495300 w 2185988"/>
              <a:gd name="connsiteY3" fmla="*/ 33337 h 2171700"/>
              <a:gd name="connsiteX4" fmla="*/ 690563 w 2185988"/>
              <a:gd name="connsiteY4" fmla="*/ 0 h 2171700"/>
              <a:gd name="connsiteX5" fmla="*/ 871538 w 2185988"/>
              <a:gd name="connsiteY5" fmla="*/ 4762 h 2171700"/>
              <a:gd name="connsiteX6" fmla="*/ 1066800 w 2185988"/>
              <a:gd name="connsiteY6" fmla="*/ 28575 h 2171700"/>
              <a:gd name="connsiteX7" fmla="*/ 1276350 w 2185988"/>
              <a:gd name="connsiteY7" fmla="*/ 104775 h 2171700"/>
              <a:gd name="connsiteX8" fmla="*/ 1428750 w 2185988"/>
              <a:gd name="connsiteY8" fmla="*/ 171450 h 2171700"/>
              <a:gd name="connsiteX9" fmla="*/ 1571625 w 2185988"/>
              <a:gd name="connsiteY9" fmla="*/ 266700 h 2171700"/>
              <a:gd name="connsiteX10" fmla="*/ 1704975 w 2185988"/>
              <a:gd name="connsiteY10" fmla="*/ 385762 h 2171700"/>
              <a:gd name="connsiteX11" fmla="*/ 1885950 w 2185988"/>
              <a:gd name="connsiteY11" fmla="*/ 347662 h 2171700"/>
              <a:gd name="connsiteX12" fmla="*/ 2066926 w 2185988"/>
              <a:gd name="connsiteY12" fmla="*/ 361950 h 2171700"/>
              <a:gd name="connsiteX13" fmla="*/ 2009775 w 2185988"/>
              <a:gd name="connsiteY13" fmla="*/ 590550 h 2171700"/>
              <a:gd name="connsiteX14" fmla="*/ 2024063 w 2185988"/>
              <a:gd name="connsiteY14" fmla="*/ 781050 h 2171700"/>
              <a:gd name="connsiteX15" fmla="*/ 2085975 w 2185988"/>
              <a:gd name="connsiteY15" fmla="*/ 952500 h 2171700"/>
              <a:gd name="connsiteX16" fmla="*/ 2152650 w 2185988"/>
              <a:gd name="connsiteY16" fmla="*/ 1152525 h 2171700"/>
              <a:gd name="connsiteX17" fmla="*/ 2185988 w 2185988"/>
              <a:gd name="connsiteY17" fmla="*/ 1428750 h 2171700"/>
              <a:gd name="connsiteX18" fmla="*/ 2171700 w 2185988"/>
              <a:gd name="connsiteY18" fmla="*/ 1609725 h 2171700"/>
              <a:gd name="connsiteX19" fmla="*/ 2124075 w 2185988"/>
              <a:gd name="connsiteY19" fmla="*/ 1804987 h 2171700"/>
              <a:gd name="connsiteX20" fmla="*/ 2038350 w 2185988"/>
              <a:gd name="connsiteY20" fmla="*/ 1981200 h 2171700"/>
              <a:gd name="connsiteX21" fmla="*/ 1957388 w 2185988"/>
              <a:gd name="connsiteY21" fmla="*/ 2100262 h 2171700"/>
              <a:gd name="connsiteX22" fmla="*/ 1895475 w 2185988"/>
              <a:gd name="connsiteY22" fmla="*/ 2171700 h 2171700"/>
              <a:gd name="connsiteX0" fmla="*/ 0 w 2185988"/>
              <a:gd name="connsiteY0" fmla="*/ 314325 h 2171700"/>
              <a:gd name="connsiteX1" fmla="*/ 157163 w 2185988"/>
              <a:gd name="connsiteY1" fmla="*/ 185737 h 2171700"/>
              <a:gd name="connsiteX2" fmla="*/ 333375 w 2185988"/>
              <a:gd name="connsiteY2" fmla="*/ 95250 h 2171700"/>
              <a:gd name="connsiteX3" fmla="*/ 495300 w 2185988"/>
              <a:gd name="connsiteY3" fmla="*/ 33337 h 2171700"/>
              <a:gd name="connsiteX4" fmla="*/ 690563 w 2185988"/>
              <a:gd name="connsiteY4" fmla="*/ 0 h 2171700"/>
              <a:gd name="connsiteX5" fmla="*/ 871538 w 2185988"/>
              <a:gd name="connsiteY5" fmla="*/ 4762 h 2171700"/>
              <a:gd name="connsiteX6" fmla="*/ 1066800 w 2185988"/>
              <a:gd name="connsiteY6" fmla="*/ 28575 h 2171700"/>
              <a:gd name="connsiteX7" fmla="*/ 1276350 w 2185988"/>
              <a:gd name="connsiteY7" fmla="*/ 104775 h 2171700"/>
              <a:gd name="connsiteX8" fmla="*/ 1428750 w 2185988"/>
              <a:gd name="connsiteY8" fmla="*/ 171450 h 2171700"/>
              <a:gd name="connsiteX9" fmla="*/ 1571625 w 2185988"/>
              <a:gd name="connsiteY9" fmla="*/ 266700 h 2171700"/>
              <a:gd name="connsiteX10" fmla="*/ 1704975 w 2185988"/>
              <a:gd name="connsiteY10" fmla="*/ 385762 h 2171700"/>
              <a:gd name="connsiteX11" fmla="*/ 1914525 w 2185988"/>
              <a:gd name="connsiteY11" fmla="*/ 290512 h 2171700"/>
              <a:gd name="connsiteX12" fmla="*/ 2066926 w 2185988"/>
              <a:gd name="connsiteY12" fmla="*/ 361950 h 2171700"/>
              <a:gd name="connsiteX13" fmla="*/ 2009775 w 2185988"/>
              <a:gd name="connsiteY13" fmla="*/ 590550 h 2171700"/>
              <a:gd name="connsiteX14" fmla="*/ 2024063 w 2185988"/>
              <a:gd name="connsiteY14" fmla="*/ 781050 h 2171700"/>
              <a:gd name="connsiteX15" fmla="*/ 2085975 w 2185988"/>
              <a:gd name="connsiteY15" fmla="*/ 952500 h 2171700"/>
              <a:gd name="connsiteX16" fmla="*/ 2152650 w 2185988"/>
              <a:gd name="connsiteY16" fmla="*/ 1152525 h 2171700"/>
              <a:gd name="connsiteX17" fmla="*/ 2185988 w 2185988"/>
              <a:gd name="connsiteY17" fmla="*/ 1428750 h 2171700"/>
              <a:gd name="connsiteX18" fmla="*/ 2171700 w 2185988"/>
              <a:gd name="connsiteY18" fmla="*/ 1609725 h 2171700"/>
              <a:gd name="connsiteX19" fmla="*/ 2124075 w 2185988"/>
              <a:gd name="connsiteY19" fmla="*/ 1804987 h 2171700"/>
              <a:gd name="connsiteX20" fmla="*/ 2038350 w 2185988"/>
              <a:gd name="connsiteY20" fmla="*/ 1981200 h 2171700"/>
              <a:gd name="connsiteX21" fmla="*/ 1957388 w 2185988"/>
              <a:gd name="connsiteY21" fmla="*/ 2100262 h 2171700"/>
              <a:gd name="connsiteX22" fmla="*/ 1895475 w 2185988"/>
              <a:gd name="connsiteY22" fmla="*/ 2171700 h 2171700"/>
              <a:gd name="connsiteX0" fmla="*/ 0 w 2224088"/>
              <a:gd name="connsiteY0" fmla="*/ 314325 h 2171700"/>
              <a:gd name="connsiteX1" fmla="*/ 157163 w 2224088"/>
              <a:gd name="connsiteY1" fmla="*/ 185737 h 2171700"/>
              <a:gd name="connsiteX2" fmla="*/ 333375 w 2224088"/>
              <a:gd name="connsiteY2" fmla="*/ 95250 h 2171700"/>
              <a:gd name="connsiteX3" fmla="*/ 495300 w 2224088"/>
              <a:gd name="connsiteY3" fmla="*/ 33337 h 2171700"/>
              <a:gd name="connsiteX4" fmla="*/ 690563 w 2224088"/>
              <a:gd name="connsiteY4" fmla="*/ 0 h 2171700"/>
              <a:gd name="connsiteX5" fmla="*/ 871538 w 2224088"/>
              <a:gd name="connsiteY5" fmla="*/ 4762 h 2171700"/>
              <a:gd name="connsiteX6" fmla="*/ 1066800 w 2224088"/>
              <a:gd name="connsiteY6" fmla="*/ 28575 h 2171700"/>
              <a:gd name="connsiteX7" fmla="*/ 1276350 w 2224088"/>
              <a:gd name="connsiteY7" fmla="*/ 104775 h 2171700"/>
              <a:gd name="connsiteX8" fmla="*/ 1428750 w 2224088"/>
              <a:gd name="connsiteY8" fmla="*/ 171450 h 2171700"/>
              <a:gd name="connsiteX9" fmla="*/ 1571625 w 2224088"/>
              <a:gd name="connsiteY9" fmla="*/ 266700 h 2171700"/>
              <a:gd name="connsiteX10" fmla="*/ 1704975 w 2224088"/>
              <a:gd name="connsiteY10" fmla="*/ 385762 h 2171700"/>
              <a:gd name="connsiteX11" fmla="*/ 1914525 w 2224088"/>
              <a:gd name="connsiteY11" fmla="*/ 290512 h 2171700"/>
              <a:gd name="connsiteX12" fmla="*/ 2066926 w 2224088"/>
              <a:gd name="connsiteY12" fmla="*/ 361950 h 2171700"/>
              <a:gd name="connsiteX13" fmla="*/ 2224088 w 2224088"/>
              <a:gd name="connsiteY13" fmla="*/ 604837 h 2171700"/>
              <a:gd name="connsiteX14" fmla="*/ 2024063 w 2224088"/>
              <a:gd name="connsiteY14" fmla="*/ 781050 h 2171700"/>
              <a:gd name="connsiteX15" fmla="*/ 2085975 w 2224088"/>
              <a:gd name="connsiteY15" fmla="*/ 952500 h 2171700"/>
              <a:gd name="connsiteX16" fmla="*/ 2152650 w 2224088"/>
              <a:gd name="connsiteY16" fmla="*/ 1152525 h 2171700"/>
              <a:gd name="connsiteX17" fmla="*/ 2185988 w 2224088"/>
              <a:gd name="connsiteY17" fmla="*/ 1428750 h 2171700"/>
              <a:gd name="connsiteX18" fmla="*/ 2171700 w 2224088"/>
              <a:gd name="connsiteY18" fmla="*/ 1609725 h 2171700"/>
              <a:gd name="connsiteX19" fmla="*/ 2124075 w 2224088"/>
              <a:gd name="connsiteY19" fmla="*/ 1804987 h 2171700"/>
              <a:gd name="connsiteX20" fmla="*/ 2038350 w 2224088"/>
              <a:gd name="connsiteY20" fmla="*/ 1981200 h 2171700"/>
              <a:gd name="connsiteX21" fmla="*/ 1957388 w 2224088"/>
              <a:gd name="connsiteY21" fmla="*/ 2100262 h 2171700"/>
              <a:gd name="connsiteX22" fmla="*/ 1895475 w 2224088"/>
              <a:gd name="connsiteY22" fmla="*/ 2171700 h 2171700"/>
              <a:gd name="connsiteX0" fmla="*/ 0 w 2224088"/>
              <a:gd name="connsiteY0" fmla="*/ 314325 h 2171700"/>
              <a:gd name="connsiteX1" fmla="*/ 157163 w 2224088"/>
              <a:gd name="connsiteY1" fmla="*/ 185737 h 2171700"/>
              <a:gd name="connsiteX2" fmla="*/ 333375 w 2224088"/>
              <a:gd name="connsiteY2" fmla="*/ 95250 h 2171700"/>
              <a:gd name="connsiteX3" fmla="*/ 495300 w 2224088"/>
              <a:gd name="connsiteY3" fmla="*/ 33337 h 2171700"/>
              <a:gd name="connsiteX4" fmla="*/ 690563 w 2224088"/>
              <a:gd name="connsiteY4" fmla="*/ 0 h 2171700"/>
              <a:gd name="connsiteX5" fmla="*/ 871538 w 2224088"/>
              <a:gd name="connsiteY5" fmla="*/ 4762 h 2171700"/>
              <a:gd name="connsiteX6" fmla="*/ 1066800 w 2224088"/>
              <a:gd name="connsiteY6" fmla="*/ 28575 h 2171700"/>
              <a:gd name="connsiteX7" fmla="*/ 1276350 w 2224088"/>
              <a:gd name="connsiteY7" fmla="*/ 104775 h 2171700"/>
              <a:gd name="connsiteX8" fmla="*/ 1428750 w 2224088"/>
              <a:gd name="connsiteY8" fmla="*/ 171450 h 2171700"/>
              <a:gd name="connsiteX9" fmla="*/ 1571625 w 2224088"/>
              <a:gd name="connsiteY9" fmla="*/ 266700 h 2171700"/>
              <a:gd name="connsiteX10" fmla="*/ 1704975 w 2224088"/>
              <a:gd name="connsiteY10" fmla="*/ 385762 h 2171700"/>
              <a:gd name="connsiteX11" fmla="*/ 1838325 w 2224088"/>
              <a:gd name="connsiteY11" fmla="*/ 323850 h 2171700"/>
              <a:gd name="connsiteX12" fmla="*/ 2066926 w 2224088"/>
              <a:gd name="connsiteY12" fmla="*/ 361950 h 2171700"/>
              <a:gd name="connsiteX13" fmla="*/ 2224088 w 2224088"/>
              <a:gd name="connsiteY13" fmla="*/ 604837 h 2171700"/>
              <a:gd name="connsiteX14" fmla="*/ 2024063 w 2224088"/>
              <a:gd name="connsiteY14" fmla="*/ 781050 h 2171700"/>
              <a:gd name="connsiteX15" fmla="*/ 2085975 w 2224088"/>
              <a:gd name="connsiteY15" fmla="*/ 952500 h 2171700"/>
              <a:gd name="connsiteX16" fmla="*/ 2152650 w 2224088"/>
              <a:gd name="connsiteY16" fmla="*/ 1152525 h 2171700"/>
              <a:gd name="connsiteX17" fmla="*/ 2185988 w 2224088"/>
              <a:gd name="connsiteY17" fmla="*/ 1428750 h 2171700"/>
              <a:gd name="connsiteX18" fmla="*/ 2171700 w 2224088"/>
              <a:gd name="connsiteY18" fmla="*/ 1609725 h 2171700"/>
              <a:gd name="connsiteX19" fmla="*/ 2124075 w 2224088"/>
              <a:gd name="connsiteY19" fmla="*/ 1804987 h 2171700"/>
              <a:gd name="connsiteX20" fmla="*/ 2038350 w 2224088"/>
              <a:gd name="connsiteY20" fmla="*/ 1981200 h 2171700"/>
              <a:gd name="connsiteX21" fmla="*/ 1957388 w 2224088"/>
              <a:gd name="connsiteY21" fmla="*/ 2100262 h 2171700"/>
              <a:gd name="connsiteX22" fmla="*/ 1895475 w 2224088"/>
              <a:gd name="connsiteY22" fmla="*/ 2171700 h 2171700"/>
              <a:gd name="connsiteX0" fmla="*/ 0 w 2224088"/>
              <a:gd name="connsiteY0" fmla="*/ 314325 h 2171700"/>
              <a:gd name="connsiteX1" fmla="*/ 157163 w 2224088"/>
              <a:gd name="connsiteY1" fmla="*/ 185737 h 2171700"/>
              <a:gd name="connsiteX2" fmla="*/ 333375 w 2224088"/>
              <a:gd name="connsiteY2" fmla="*/ 95250 h 2171700"/>
              <a:gd name="connsiteX3" fmla="*/ 495300 w 2224088"/>
              <a:gd name="connsiteY3" fmla="*/ 33337 h 2171700"/>
              <a:gd name="connsiteX4" fmla="*/ 690563 w 2224088"/>
              <a:gd name="connsiteY4" fmla="*/ 0 h 2171700"/>
              <a:gd name="connsiteX5" fmla="*/ 871538 w 2224088"/>
              <a:gd name="connsiteY5" fmla="*/ 4762 h 2171700"/>
              <a:gd name="connsiteX6" fmla="*/ 1066800 w 2224088"/>
              <a:gd name="connsiteY6" fmla="*/ 28575 h 2171700"/>
              <a:gd name="connsiteX7" fmla="*/ 1276350 w 2224088"/>
              <a:gd name="connsiteY7" fmla="*/ 104775 h 2171700"/>
              <a:gd name="connsiteX8" fmla="*/ 1428750 w 2224088"/>
              <a:gd name="connsiteY8" fmla="*/ 171450 h 2171700"/>
              <a:gd name="connsiteX9" fmla="*/ 1571625 w 2224088"/>
              <a:gd name="connsiteY9" fmla="*/ 266700 h 2171700"/>
              <a:gd name="connsiteX10" fmla="*/ 1704975 w 2224088"/>
              <a:gd name="connsiteY10" fmla="*/ 385762 h 2171700"/>
              <a:gd name="connsiteX11" fmla="*/ 1838325 w 2224088"/>
              <a:gd name="connsiteY11" fmla="*/ 323850 h 2171700"/>
              <a:gd name="connsiteX12" fmla="*/ 2066926 w 2224088"/>
              <a:gd name="connsiteY12" fmla="*/ 361950 h 2171700"/>
              <a:gd name="connsiteX13" fmla="*/ 2128838 w 2224088"/>
              <a:gd name="connsiteY13" fmla="*/ 452437 h 2171700"/>
              <a:gd name="connsiteX14" fmla="*/ 2224088 w 2224088"/>
              <a:gd name="connsiteY14" fmla="*/ 604837 h 2171700"/>
              <a:gd name="connsiteX15" fmla="*/ 2024063 w 2224088"/>
              <a:gd name="connsiteY15" fmla="*/ 781050 h 2171700"/>
              <a:gd name="connsiteX16" fmla="*/ 2085975 w 2224088"/>
              <a:gd name="connsiteY16" fmla="*/ 952500 h 2171700"/>
              <a:gd name="connsiteX17" fmla="*/ 2152650 w 2224088"/>
              <a:gd name="connsiteY17" fmla="*/ 1152525 h 2171700"/>
              <a:gd name="connsiteX18" fmla="*/ 2185988 w 2224088"/>
              <a:gd name="connsiteY18" fmla="*/ 1428750 h 2171700"/>
              <a:gd name="connsiteX19" fmla="*/ 2171700 w 2224088"/>
              <a:gd name="connsiteY19" fmla="*/ 1609725 h 2171700"/>
              <a:gd name="connsiteX20" fmla="*/ 2124075 w 2224088"/>
              <a:gd name="connsiteY20" fmla="*/ 1804987 h 2171700"/>
              <a:gd name="connsiteX21" fmla="*/ 2038350 w 2224088"/>
              <a:gd name="connsiteY21" fmla="*/ 1981200 h 2171700"/>
              <a:gd name="connsiteX22" fmla="*/ 1957388 w 2224088"/>
              <a:gd name="connsiteY22" fmla="*/ 2100262 h 2171700"/>
              <a:gd name="connsiteX23" fmla="*/ 1895475 w 2224088"/>
              <a:gd name="connsiteY23" fmla="*/ 2171700 h 2171700"/>
              <a:gd name="connsiteX0" fmla="*/ 0 w 2224088"/>
              <a:gd name="connsiteY0" fmla="*/ 314325 h 2171700"/>
              <a:gd name="connsiteX1" fmla="*/ 157163 w 2224088"/>
              <a:gd name="connsiteY1" fmla="*/ 185737 h 2171700"/>
              <a:gd name="connsiteX2" fmla="*/ 333375 w 2224088"/>
              <a:gd name="connsiteY2" fmla="*/ 95250 h 2171700"/>
              <a:gd name="connsiteX3" fmla="*/ 495300 w 2224088"/>
              <a:gd name="connsiteY3" fmla="*/ 33337 h 2171700"/>
              <a:gd name="connsiteX4" fmla="*/ 690563 w 2224088"/>
              <a:gd name="connsiteY4" fmla="*/ 0 h 2171700"/>
              <a:gd name="connsiteX5" fmla="*/ 871538 w 2224088"/>
              <a:gd name="connsiteY5" fmla="*/ 4762 h 2171700"/>
              <a:gd name="connsiteX6" fmla="*/ 1066800 w 2224088"/>
              <a:gd name="connsiteY6" fmla="*/ 28575 h 2171700"/>
              <a:gd name="connsiteX7" fmla="*/ 1276350 w 2224088"/>
              <a:gd name="connsiteY7" fmla="*/ 104775 h 2171700"/>
              <a:gd name="connsiteX8" fmla="*/ 1428750 w 2224088"/>
              <a:gd name="connsiteY8" fmla="*/ 171450 h 2171700"/>
              <a:gd name="connsiteX9" fmla="*/ 1571625 w 2224088"/>
              <a:gd name="connsiteY9" fmla="*/ 266700 h 2171700"/>
              <a:gd name="connsiteX10" fmla="*/ 1704975 w 2224088"/>
              <a:gd name="connsiteY10" fmla="*/ 385762 h 2171700"/>
              <a:gd name="connsiteX11" fmla="*/ 1838325 w 2224088"/>
              <a:gd name="connsiteY11" fmla="*/ 323850 h 2171700"/>
              <a:gd name="connsiteX12" fmla="*/ 2066926 w 2224088"/>
              <a:gd name="connsiteY12" fmla="*/ 361950 h 2171700"/>
              <a:gd name="connsiteX13" fmla="*/ 2128838 w 2224088"/>
              <a:gd name="connsiteY13" fmla="*/ 452437 h 2171700"/>
              <a:gd name="connsiteX14" fmla="*/ 2224088 w 2224088"/>
              <a:gd name="connsiteY14" fmla="*/ 604837 h 2171700"/>
              <a:gd name="connsiteX15" fmla="*/ 2128838 w 2224088"/>
              <a:gd name="connsiteY15" fmla="*/ 671512 h 2171700"/>
              <a:gd name="connsiteX16" fmla="*/ 2024063 w 2224088"/>
              <a:gd name="connsiteY16" fmla="*/ 781050 h 2171700"/>
              <a:gd name="connsiteX17" fmla="*/ 2085975 w 2224088"/>
              <a:gd name="connsiteY17" fmla="*/ 952500 h 2171700"/>
              <a:gd name="connsiteX18" fmla="*/ 2152650 w 2224088"/>
              <a:gd name="connsiteY18" fmla="*/ 1152525 h 2171700"/>
              <a:gd name="connsiteX19" fmla="*/ 2185988 w 2224088"/>
              <a:gd name="connsiteY19" fmla="*/ 1428750 h 2171700"/>
              <a:gd name="connsiteX20" fmla="*/ 2171700 w 2224088"/>
              <a:gd name="connsiteY20" fmla="*/ 1609725 h 2171700"/>
              <a:gd name="connsiteX21" fmla="*/ 2124075 w 2224088"/>
              <a:gd name="connsiteY21" fmla="*/ 1804987 h 2171700"/>
              <a:gd name="connsiteX22" fmla="*/ 2038350 w 2224088"/>
              <a:gd name="connsiteY22" fmla="*/ 1981200 h 2171700"/>
              <a:gd name="connsiteX23" fmla="*/ 1957388 w 2224088"/>
              <a:gd name="connsiteY23" fmla="*/ 2100262 h 2171700"/>
              <a:gd name="connsiteX24" fmla="*/ 1895475 w 2224088"/>
              <a:gd name="connsiteY24" fmla="*/ 2171700 h 2171700"/>
              <a:gd name="connsiteX0" fmla="*/ 0 w 2185988"/>
              <a:gd name="connsiteY0" fmla="*/ 314325 h 2171700"/>
              <a:gd name="connsiteX1" fmla="*/ 157163 w 2185988"/>
              <a:gd name="connsiteY1" fmla="*/ 185737 h 2171700"/>
              <a:gd name="connsiteX2" fmla="*/ 333375 w 2185988"/>
              <a:gd name="connsiteY2" fmla="*/ 95250 h 2171700"/>
              <a:gd name="connsiteX3" fmla="*/ 495300 w 2185988"/>
              <a:gd name="connsiteY3" fmla="*/ 33337 h 2171700"/>
              <a:gd name="connsiteX4" fmla="*/ 690563 w 2185988"/>
              <a:gd name="connsiteY4" fmla="*/ 0 h 2171700"/>
              <a:gd name="connsiteX5" fmla="*/ 871538 w 2185988"/>
              <a:gd name="connsiteY5" fmla="*/ 4762 h 2171700"/>
              <a:gd name="connsiteX6" fmla="*/ 1066800 w 2185988"/>
              <a:gd name="connsiteY6" fmla="*/ 28575 h 2171700"/>
              <a:gd name="connsiteX7" fmla="*/ 1276350 w 2185988"/>
              <a:gd name="connsiteY7" fmla="*/ 104775 h 2171700"/>
              <a:gd name="connsiteX8" fmla="*/ 1428750 w 2185988"/>
              <a:gd name="connsiteY8" fmla="*/ 171450 h 2171700"/>
              <a:gd name="connsiteX9" fmla="*/ 1571625 w 2185988"/>
              <a:gd name="connsiteY9" fmla="*/ 266700 h 2171700"/>
              <a:gd name="connsiteX10" fmla="*/ 1704975 w 2185988"/>
              <a:gd name="connsiteY10" fmla="*/ 385762 h 2171700"/>
              <a:gd name="connsiteX11" fmla="*/ 1838325 w 2185988"/>
              <a:gd name="connsiteY11" fmla="*/ 323850 h 2171700"/>
              <a:gd name="connsiteX12" fmla="*/ 2066926 w 2185988"/>
              <a:gd name="connsiteY12" fmla="*/ 361950 h 2171700"/>
              <a:gd name="connsiteX13" fmla="*/ 2128838 w 2185988"/>
              <a:gd name="connsiteY13" fmla="*/ 452437 h 2171700"/>
              <a:gd name="connsiteX14" fmla="*/ 2138363 w 2185988"/>
              <a:gd name="connsiteY14" fmla="*/ 576262 h 2171700"/>
              <a:gd name="connsiteX15" fmla="*/ 2128838 w 2185988"/>
              <a:gd name="connsiteY15" fmla="*/ 671512 h 2171700"/>
              <a:gd name="connsiteX16" fmla="*/ 2024063 w 2185988"/>
              <a:gd name="connsiteY16" fmla="*/ 781050 h 2171700"/>
              <a:gd name="connsiteX17" fmla="*/ 2085975 w 2185988"/>
              <a:gd name="connsiteY17" fmla="*/ 952500 h 2171700"/>
              <a:gd name="connsiteX18" fmla="*/ 2152650 w 2185988"/>
              <a:gd name="connsiteY18" fmla="*/ 1152525 h 2171700"/>
              <a:gd name="connsiteX19" fmla="*/ 2185988 w 2185988"/>
              <a:gd name="connsiteY19" fmla="*/ 1428750 h 2171700"/>
              <a:gd name="connsiteX20" fmla="*/ 2171700 w 2185988"/>
              <a:gd name="connsiteY20" fmla="*/ 1609725 h 2171700"/>
              <a:gd name="connsiteX21" fmla="*/ 2124075 w 2185988"/>
              <a:gd name="connsiteY21" fmla="*/ 1804987 h 2171700"/>
              <a:gd name="connsiteX22" fmla="*/ 2038350 w 2185988"/>
              <a:gd name="connsiteY22" fmla="*/ 1981200 h 2171700"/>
              <a:gd name="connsiteX23" fmla="*/ 1957388 w 2185988"/>
              <a:gd name="connsiteY23" fmla="*/ 2100262 h 2171700"/>
              <a:gd name="connsiteX24" fmla="*/ 1895475 w 2185988"/>
              <a:gd name="connsiteY24" fmla="*/ 2171700 h 2171700"/>
              <a:gd name="connsiteX0" fmla="*/ 0 w 2185988"/>
              <a:gd name="connsiteY0" fmla="*/ 314325 h 2171700"/>
              <a:gd name="connsiteX1" fmla="*/ 157163 w 2185988"/>
              <a:gd name="connsiteY1" fmla="*/ 185737 h 2171700"/>
              <a:gd name="connsiteX2" fmla="*/ 333375 w 2185988"/>
              <a:gd name="connsiteY2" fmla="*/ 95250 h 2171700"/>
              <a:gd name="connsiteX3" fmla="*/ 495300 w 2185988"/>
              <a:gd name="connsiteY3" fmla="*/ 33337 h 2171700"/>
              <a:gd name="connsiteX4" fmla="*/ 690563 w 2185988"/>
              <a:gd name="connsiteY4" fmla="*/ 0 h 2171700"/>
              <a:gd name="connsiteX5" fmla="*/ 871538 w 2185988"/>
              <a:gd name="connsiteY5" fmla="*/ 4762 h 2171700"/>
              <a:gd name="connsiteX6" fmla="*/ 1066800 w 2185988"/>
              <a:gd name="connsiteY6" fmla="*/ 28575 h 2171700"/>
              <a:gd name="connsiteX7" fmla="*/ 1276350 w 2185988"/>
              <a:gd name="connsiteY7" fmla="*/ 104775 h 2171700"/>
              <a:gd name="connsiteX8" fmla="*/ 1428750 w 2185988"/>
              <a:gd name="connsiteY8" fmla="*/ 171450 h 2171700"/>
              <a:gd name="connsiteX9" fmla="*/ 1571625 w 2185988"/>
              <a:gd name="connsiteY9" fmla="*/ 266700 h 2171700"/>
              <a:gd name="connsiteX10" fmla="*/ 1704975 w 2185988"/>
              <a:gd name="connsiteY10" fmla="*/ 385762 h 2171700"/>
              <a:gd name="connsiteX11" fmla="*/ 1838325 w 2185988"/>
              <a:gd name="connsiteY11" fmla="*/ 323850 h 2171700"/>
              <a:gd name="connsiteX12" fmla="*/ 2066926 w 2185988"/>
              <a:gd name="connsiteY12" fmla="*/ 361950 h 2171700"/>
              <a:gd name="connsiteX13" fmla="*/ 2128838 w 2185988"/>
              <a:gd name="connsiteY13" fmla="*/ 452437 h 2171700"/>
              <a:gd name="connsiteX14" fmla="*/ 2138363 w 2185988"/>
              <a:gd name="connsiteY14" fmla="*/ 576262 h 2171700"/>
              <a:gd name="connsiteX15" fmla="*/ 2095501 w 2185988"/>
              <a:gd name="connsiteY15" fmla="*/ 681037 h 2171700"/>
              <a:gd name="connsiteX16" fmla="*/ 2024063 w 2185988"/>
              <a:gd name="connsiteY16" fmla="*/ 781050 h 2171700"/>
              <a:gd name="connsiteX17" fmla="*/ 2085975 w 2185988"/>
              <a:gd name="connsiteY17" fmla="*/ 952500 h 2171700"/>
              <a:gd name="connsiteX18" fmla="*/ 2152650 w 2185988"/>
              <a:gd name="connsiteY18" fmla="*/ 1152525 h 2171700"/>
              <a:gd name="connsiteX19" fmla="*/ 2185988 w 2185988"/>
              <a:gd name="connsiteY19" fmla="*/ 1428750 h 2171700"/>
              <a:gd name="connsiteX20" fmla="*/ 2171700 w 2185988"/>
              <a:gd name="connsiteY20" fmla="*/ 1609725 h 2171700"/>
              <a:gd name="connsiteX21" fmla="*/ 2124075 w 2185988"/>
              <a:gd name="connsiteY21" fmla="*/ 1804987 h 2171700"/>
              <a:gd name="connsiteX22" fmla="*/ 2038350 w 2185988"/>
              <a:gd name="connsiteY22" fmla="*/ 1981200 h 2171700"/>
              <a:gd name="connsiteX23" fmla="*/ 1957388 w 2185988"/>
              <a:gd name="connsiteY23" fmla="*/ 2100262 h 2171700"/>
              <a:gd name="connsiteX24" fmla="*/ 1895475 w 2185988"/>
              <a:gd name="connsiteY24" fmla="*/ 2171700 h 2171700"/>
              <a:gd name="connsiteX0" fmla="*/ 0 w 2185988"/>
              <a:gd name="connsiteY0" fmla="*/ 314325 h 2171700"/>
              <a:gd name="connsiteX1" fmla="*/ 157163 w 2185988"/>
              <a:gd name="connsiteY1" fmla="*/ 185737 h 2171700"/>
              <a:gd name="connsiteX2" fmla="*/ 333375 w 2185988"/>
              <a:gd name="connsiteY2" fmla="*/ 95250 h 2171700"/>
              <a:gd name="connsiteX3" fmla="*/ 495300 w 2185988"/>
              <a:gd name="connsiteY3" fmla="*/ 33337 h 2171700"/>
              <a:gd name="connsiteX4" fmla="*/ 690563 w 2185988"/>
              <a:gd name="connsiteY4" fmla="*/ 0 h 2171700"/>
              <a:gd name="connsiteX5" fmla="*/ 871538 w 2185988"/>
              <a:gd name="connsiteY5" fmla="*/ 4762 h 2171700"/>
              <a:gd name="connsiteX6" fmla="*/ 1066800 w 2185988"/>
              <a:gd name="connsiteY6" fmla="*/ 28575 h 2171700"/>
              <a:gd name="connsiteX7" fmla="*/ 1276350 w 2185988"/>
              <a:gd name="connsiteY7" fmla="*/ 104775 h 2171700"/>
              <a:gd name="connsiteX8" fmla="*/ 1428750 w 2185988"/>
              <a:gd name="connsiteY8" fmla="*/ 171450 h 2171700"/>
              <a:gd name="connsiteX9" fmla="*/ 1571625 w 2185988"/>
              <a:gd name="connsiteY9" fmla="*/ 266700 h 2171700"/>
              <a:gd name="connsiteX10" fmla="*/ 1704975 w 2185988"/>
              <a:gd name="connsiteY10" fmla="*/ 385762 h 2171700"/>
              <a:gd name="connsiteX11" fmla="*/ 1838325 w 2185988"/>
              <a:gd name="connsiteY11" fmla="*/ 323850 h 2171700"/>
              <a:gd name="connsiteX12" fmla="*/ 2066926 w 2185988"/>
              <a:gd name="connsiteY12" fmla="*/ 361950 h 2171700"/>
              <a:gd name="connsiteX13" fmla="*/ 1962150 w 2185988"/>
              <a:gd name="connsiteY13" fmla="*/ 342900 h 2171700"/>
              <a:gd name="connsiteX14" fmla="*/ 2128838 w 2185988"/>
              <a:gd name="connsiteY14" fmla="*/ 452437 h 2171700"/>
              <a:gd name="connsiteX15" fmla="*/ 2138363 w 2185988"/>
              <a:gd name="connsiteY15" fmla="*/ 576262 h 2171700"/>
              <a:gd name="connsiteX16" fmla="*/ 2095501 w 2185988"/>
              <a:gd name="connsiteY16" fmla="*/ 681037 h 2171700"/>
              <a:gd name="connsiteX17" fmla="*/ 2024063 w 2185988"/>
              <a:gd name="connsiteY17" fmla="*/ 781050 h 2171700"/>
              <a:gd name="connsiteX18" fmla="*/ 2085975 w 2185988"/>
              <a:gd name="connsiteY18" fmla="*/ 952500 h 2171700"/>
              <a:gd name="connsiteX19" fmla="*/ 2152650 w 2185988"/>
              <a:gd name="connsiteY19" fmla="*/ 1152525 h 2171700"/>
              <a:gd name="connsiteX20" fmla="*/ 2185988 w 2185988"/>
              <a:gd name="connsiteY20" fmla="*/ 1428750 h 2171700"/>
              <a:gd name="connsiteX21" fmla="*/ 2171700 w 2185988"/>
              <a:gd name="connsiteY21" fmla="*/ 1609725 h 2171700"/>
              <a:gd name="connsiteX22" fmla="*/ 2124075 w 2185988"/>
              <a:gd name="connsiteY22" fmla="*/ 1804987 h 2171700"/>
              <a:gd name="connsiteX23" fmla="*/ 2038350 w 2185988"/>
              <a:gd name="connsiteY23" fmla="*/ 1981200 h 2171700"/>
              <a:gd name="connsiteX24" fmla="*/ 1957388 w 2185988"/>
              <a:gd name="connsiteY24" fmla="*/ 2100262 h 2171700"/>
              <a:gd name="connsiteX25" fmla="*/ 1895475 w 2185988"/>
              <a:gd name="connsiteY25" fmla="*/ 2171700 h 2171700"/>
              <a:gd name="connsiteX0" fmla="*/ 0 w 2185988"/>
              <a:gd name="connsiteY0" fmla="*/ 314325 h 2171700"/>
              <a:gd name="connsiteX1" fmla="*/ 157163 w 2185988"/>
              <a:gd name="connsiteY1" fmla="*/ 185737 h 2171700"/>
              <a:gd name="connsiteX2" fmla="*/ 333375 w 2185988"/>
              <a:gd name="connsiteY2" fmla="*/ 95250 h 2171700"/>
              <a:gd name="connsiteX3" fmla="*/ 495300 w 2185988"/>
              <a:gd name="connsiteY3" fmla="*/ 33337 h 2171700"/>
              <a:gd name="connsiteX4" fmla="*/ 690563 w 2185988"/>
              <a:gd name="connsiteY4" fmla="*/ 0 h 2171700"/>
              <a:gd name="connsiteX5" fmla="*/ 871538 w 2185988"/>
              <a:gd name="connsiteY5" fmla="*/ 4762 h 2171700"/>
              <a:gd name="connsiteX6" fmla="*/ 1066800 w 2185988"/>
              <a:gd name="connsiteY6" fmla="*/ 28575 h 2171700"/>
              <a:gd name="connsiteX7" fmla="*/ 1276350 w 2185988"/>
              <a:gd name="connsiteY7" fmla="*/ 104775 h 2171700"/>
              <a:gd name="connsiteX8" fmla="*/ 1428750 w 2185988"/>
              <a:gd name="connsiteY8" fmla="*/ 171450 h 2171700"/>
              <a:gd name="connsiteX9" fmla="*/ 1571625 w 2185988"/>
              <a:gd name="connsiteY9" fmla="*/ 266700 h 2171700"/>
              <a:gd name="connsiteX10" fmla="*/ 1704975 w 2185988"/>
              <a:gd name="connsiteY10" fmla="*/ 385762 h 2171700"/>
              <a:gd name="connsiteX11" fmla="*/ 1809750 w 2185988"/>
              <a:gd name="connsiteY11" fmla="*/ 328613 h 2171700"/>
              <a:gd name="connsiteX12" fmla="*/ 2066926 w 2185988"/>
              <a:gd name="connsiteY12" fmla="*/ 361950 h 2171700"/>
              <a:gd name="connsiteX13" fmla="*/ 1962150 w 2185988"/>
              <a:gd name="connsiteY13" fmla="*/ 342900 h 2171700"/>
              <a:gd name="connsiteX14" fmla="*/ 2128838 w 2185988"/>
              <a:gd name="connsiteY14" fmla="*/ 452437 h 2171700"/>
              <a:gd name="connsiteX15" fmla="*/ 2138363 w 2185988"/>
              <a:gd name="connsiteY15" fmla="*/ 576262 h 2171700"/>
              <a:gd name="connsiteX16" fmla="*/ 2095501 w 2185988"/>
              <a:gd name="connsiteY16" fmla="*/ 681037 h 2171700"/>
              <a:gd name="connsiteX17" fmla="*/ 2024063 w 2185988"/>
              <a:gd name="connsiteY17" fmla="*/ 781050 h 2171700"/>
              <a:gd name="connsiteX18" fmla="*/ 2085975 w 2185988"/>
              <a:gd name="connsiteY18" fmla="*/ 952500 h 2171700"/>
              <a:gd name="connsiteX19" fmla="*/ 2152650 w 2185988"/>
              <a:gd name="connsiteY19" fmla="*/ 1152525 h 2171700"/>
              <a:gd name="connsiteX20" fmla="*/ 2185988 w 2185988"/>
              <a:gd name="connsiteY20" fmla="*/ 1428750 h 2171700"/>
              <a:gd name="connsiteX21" fmla="*/ 2171700 w 2185988"/>
              <a:gd name="connsiteY21" fmla="*/ 1609725 h 2171700"/>
              <a:gd name="connsiteX22" fmla="*/ 2124075 w 2185988"/>
              <a:gd name="connsiteY22" fmla="*/ 1804987 h 2171700"/>
              <a:gd name="connsiteX23" fmla="*/ 2038350 w 2185988"/>
              <a:gd name="connsiteY23" fmla="*/ 1981200 h 2171700"/>
              <a:gd name="connsiteX24" fmla="*/ 1957388 w 2185988"/>
              <a:gd name="connsiteY24" fmla="*/ 2100262 h 2171700"/>
              <a:gd name="connsiteX25" fmla="*/ 1895475 w 2185988"/>
              <a:gd name="connsiteY25" fmla="*/ 2171700 h 2171700"/>
              <a:gd name="connsiteX0" fmla="*/ 0 w 2185988"/>
              <a:gd name="connsiteY0" fmla="*/ 314325 h 2171700"/>
              <a:gd name="connsiteX1" fmla="*/ 157163 w 2185988"/>
              <a:gd name="connsiteY1" fmla="*/ 185737 h 2171700"/>
              <a:gd name="connsiteX2" fmla="*/ 333375 w 2185988"/>
              <a:gd name="connsiteY2" fmla="*/ 95250 h 2171700"/>
              <a:gd name="connsiteX3" fmla="*/ 495300 w 2185988"/>
              <a:gd name="connsiteY3" fmla="*/ 33337 h 2171700"/>
              <a:gd name="connsiteX4" fmla="*/ 690563 w 2185988"/>
              <a:gd name="connsiteY4" fmla="*/ 0 h 2171700"/>
              <a:gd name="connsiteX5" fmla="*/ 871538 w 2185988"/>
              <a:gd name="connsiteY5" fmla="*/ 4762 h 2171700"/>
              <a:gd name="connsiteX6" fmla="*/ 1066800 w 2185988"/>
              <a:gd name="connsiteY6" fmla="*/ 28575 h 2171700"/>
              <a:gd name="connsiteX7" fmla="*/ 1276350 w 2185988"/>
              <a:gd name="connsiteY7" fmla="*/ 104775 h 2171700"/>
              <a:gd name="connsiteX8" fmla="*/ 1428750 w 2185988"/>
              <a:gd name="connsiteY8" fmla="*/ 171450 h 2171700"/>
              <a:gd name="connsiteX9" fmla="*/ 1571625 w 2185988"/>
              <a:gd name="connsiteY9" fmla="*/ 266700 h 2171700"/>
              <a:gd name="connsiteX10" fmla="*/ 1704975 w 2185988"/>
              <a:gd name="connsiteY10" fmla="*/ 385762 h 2171700"/>
              <a:gd name="connsiteX11" fmla="*/ 1809750 w 2185988"/>
              <a:gd name="connsiteY11" fmla="*/ 328613 h 2171700"/>
              <a:gd name="connsiteX12" fmla="*/ 2066926 w 2185988"/>
              <a:gd name="connsiteY12" fmla="*/ 361950 h 2171700"/>
              <a:gd name="connsiteX13" fmla="*/ 1933575 w 2185988"/>
              <a:gd name="connsiteY13" fmla="*/ 314325 h 2171700"/>
              <a:gd name="connsiteX14" fmla="*/ 2128838 w 2185988"/>
              <a:gd name="connsiteY14" fmla="*/ 452437 h 2171700"/>
              <a:gd name="connsiteX15" fmla="*/ 2138363 w 2185988"/>
              <a:gd name="connsiteY15" fmla="*/ 576262 h 2171700"/>
              <a:gd name="connsiteX16" fmla="*/ 2095501 w 2185988"/>
              <a:gd name="connsiteY16" fmla="*/ 681037 h 2171700"/>
              <a:gd name="connsiteX17" fmla="*/ 2024063 w 2185988"/>
              <a:gd name="connsiteY17" fmla="*/ 781050 h 2171700"/>
              <a:gd name="connsiteX18" fmla="*/ 2085975 w 2185988"/>
              <a:gd name="connsiteY18" fmla="*/ 952500 h 2171700"/>
              <a:gd name="connsiteX19" fmla="*/ 2152650 w 2185988"/>
              <a:gd name="connsiteY19" fmla="*/ 1152525 h 2171700"/>
              <a:gd name="connsiteX20" fmla="*/ 2185988 w 2185988"/>
              <a:gd name="connsiteY20" fmla="*/ 1428750 h 2171700"/>
              <a:gd name="connsiteX21" fmla="*/ 2171700 w 2185988"/>
              <a:gd name="connsiteY21" fmla="*/ 1609725 h 2171700"/>
              <a:gd name="connsiteX22" fmla="*/ 2124075 w 2185988"/>
              <a:gd name="connsiteY22" fmla="*/ 1804987 h 2171700"/>
              <a:gd name="connsiteX23" fmla="*/ 2038350 w 2185988"/>
              <a:gd name="connsiteY23" fmla="*/ 1981200 h 2171700"/>
              <a:gd name="connsiteX24" fmla="*/ 1957388 w 2185988"/>
              <a:gd name="connsiteY24" fmla="*/ 2100262 h 2171700"/>
              <a:gd name="connsiteX25" fmla="*/ 1895475 w 2185988"/>
              <a:gd name="connsiteY25" fmla="*/ 2171700 h 2171700"/>
              <a:gd name="connsiteX0" fmla="*/ 0 w 2185988"/>
              <a:gd name="connsiteY0" fmla="*/ 314325 h 2171700"/>
              <a:gd name="connsiteX1" fmla="*/ 157163 w 2185988"/>
              <a:gd name="connsiteY1" fmla="*/ 185737 h 2171700"/>
              <a:gd name="connsiteX2" fmla="*/ 333375 w 2185988"/>
              <a:gd name="connsiteY2" fmla="*/ 95250 h 2171700"/>
              <a:gd name="connsiteX3" fmla="*/ 495300 w 2185988"/>
              <a:gd name="connsiteY3" fmla="*/ 33337 h 2171700"/>
              <a:gd name="connsiteX4" fmla="*/ 690563 w 2185988"/>
              <a:gd name="connsiteY4" fmla="*/ 0 h 2171700"/>
              <a:gd name="connsiteX5" fmla="*/ 871538 w 2185988"/>
              <a:gd name="connsiteY5" fmla="*/ 4762 h 2171700"/>
              <a:gd name="connsiteX6" fmla="*/ 1066800 w 2185988"/>
              <a:gd name="connsiteY6" fmla="*/ 28575 h 2171700"/>
              <a:gd name="connsiteX7" fmla="*/ 1276350 w 2185988"/>
              <a:gd name="connsiteY7" fmla="*/ 104775 h 2171700"/>
              <a:gd name="connsiteX8" fmla="*/ 1428750 w 2185988"/>
              <a:gd name="connsiteY8" fmla="*/ 171450 h 2171700"/>
              <a:gd name="connsiteX9" fmla="*/ 1571625 w 2185988"/>
              <a:gd name="connsiteY9" fmla="*/ 266700 h 2171700"/>
              <a:gd name="connsiteX10" fmla="*/ 1704975 w 2185988"/>
              <a:gd name="connsiteY10" fmla="*/ 385762 h 2171700"/>
              <a:gd name="connsiteX11" fmla="*/ 1809750 w 2185988"/>
              <a:gd name="connsiteY11" fmla="*/ 328613 h 2171700"/>
              <a:gd name="connsiteX12" fmla="*/ 2066926 w 2185988"/>
              <a:gd name="connsiteY12" fmla="*/ 361950 h 2171700"/>
              <a:gd name="connsiteX13" fmla="*/ 1933575 w 2185988"/>
              <a:gd name="connsiteY13" fmla="*/ 314325 h 2171700"/>
              <a:gd name="connsiteX14" fmla="*/ 2128838 w 2185988"/>
              <a:gd name="connsiteY14" fmla="*/ 452437 h 2171700"/>
              <a:gd name="connsiteX15" fmla="*/ 2138363 w 2185988"/>
              <a:gd name="connsiteY15" fmla="*/ 576262 h 2171700"/>
              <a:gd name="connsiteX16" fmla="*/ 2095501 w 2185988"/>
              <a:gd name="connsiteY16" fmla="*/ 681037 h 2171700"/>
              <a:gd name="connsiteX17" fmla="*/ 2024063 w 2185988"/>
              <a:gd name="connsiteY17" fmla="*/ 781050 h 2171700"/>
              <a:gd name="connsiteX18" fmla="*/ 2085975 w 2185988"/>
              <a:gd name="connsiteY18" fmla="*/ 952500 h 2171700"/>
              <a:gd name="connsiteX19" fmla="*/ 2152650 w 2185988"/>
              <a:gd name="connsiteY19" fmla="*/ 1152525 h 2171700"/>
              <a:gd name="connsiteX20" fmla="*/ 2185988 w 2185988"/>
              <a:gd name="connsiteY20" fmla="*/ 1428750 h 2171700"/>
              <a:gd name="connsiteX21" fmla="*/ 2171700 w 2185988"/>
              <a:gd name="connsiteY21" fmla="*/ 1609725 h 2171700"/>
              <a:gd name="connsiteX22" fmla="*/ 2124075 w 2185988"/>
              <a:gd name="connsiteY22" fmla="*/ 1804987 h 2171700"/>
              <a:gd name="connsiteX23" fmla="*/ 2038350 w 2185988"/>
              <a:gd name="connsiteY23" fmla="*/ 1981200 h 2171700"/>
              <a:gd name="connsiteX24" fmla="*/ 1957388 w 2185988"/>
              <a:gd name="connsiteY24" fmla="*/ 2100262 h 2171700"/>
              <a:gd name="connsiteX25" fmla="*/ 1895475 w 2185988"/>
              <a:gd name="connsiteY25" fmla="*/ 2171700 h 2171700"/>
              <a:gd name="connsiteX0" fmla="*/ 0 w 2185988"/>
              <a:gd name="connsiteY0" fmla="*/ 314325 h 2171700"/>
              <a:gd name="connsiteX1" fmla="*/ 157163 w 2185988"/>
              <a:gd name="connsiteY1" fmla="*/ 185737 h 2171700"/>
              <a:gd name="connsiteX2" fmla="*/ 333375 w 2185988"/>
              <a:gd name="connsiteY2" fmla="*/ 95250 h 2171700"/>
              <a:gd name="connsiteX3" fmla="*/ 495300 w 2185988"/>
              <a:gd name="connsiteY3" fmla="*/ 33337 h 2171700"/>
              <a:gd name="connsiteX4" fmla="*/ 690563 w 2185988"/>
              <a:gd name="connsiteY4" fmla="*/ 0 h 2171700"/>
              <a:gd name="connsiteX5" fmla="*/ 871538 w 2185988"/>
              <a:gd name="connsiteY5" fmla="*/ 4762 h 2171700"/>
              <a:gd name="connsiteX6" fmla="*/ 1066800 w 2185988"/>
              <a:gd name="connsiteY6" fmla="*/ 28575 h 2171700"/>
              <a:gd name="connsiteX7" fmla="*/ 1276350 w 2185988"/>
              <a:gd name="connsiteY7" fmla="*/ 104775 h 2171700"/>
              <a:gd name="connsiteX8" fmla="*/ 1428750 w 2185988"/>
              <a:gd name="connsiteY8" fmla="*/ 171450 h 2171700"/>
              <a:gd name="connsiteX9" fmla="*/ 1571625 w 2185988"/>
              <a:gd name="connsiteY9" fmla="*/ 266700 h 2171700"/>
              <a:gd name="connsiteX10" fmla="*/ 1704975 w 2185988"/>
              <a:gd name="connsiteY10" fmla="*/ 385762 h 2171700"/>
              <a:gd name="connsiteX11" fmla="*/ 1809750 w 2185988"/>
              <a:gd name="connsiteY11" fmla="*/ 328613 h 2171700"/>
              <a:gd name="connsiteX12" fmla="*/ 1909764 w 2185988"/>
              <a:gd name="connsiteY12" fmla="*/ 290513 h 2171700"/>
              <a:gd name="connsiteX13" fmla="*/ 1933575 w 2185988"/>
              <a:gd name="connsiteY13" fmla="*/ 314325 h 2171700"/>
              <a:gd name="connsiteX14" fmla="*/ 2128838 w 2185988"/>
              <a:gd name="connsiteY14" fmla="*/ 452437 h 2171700"/>
              <a:gd name="connsiteX15" fmla="*/ 2138363 w 2185988"/>
              <a:gd name="connsiteY15" fmla="*/ 576262 h 2171700"/>
              <a:gd name="connsiteX16" fmla="*/ 2095501 w 2185988"/>
              <a:gd name="connsiteY16" fmla="*/ 681037 h 2171700"/>
              <a:gd name="connsiteX17" fmla="*/ 2024063 w 2185988"/>
              <a:gd name="connsiteY17" fmla="*/ 781050 h 2171700"/>
              <a:gd name="connsiteX18" fmla="*/ 2085975 w 2185988"/>
              <a:gd name="connsiteY18" fmla="*/ 952500 h 2171700"/>
              <a:gd name="connsiteX19" fmla="*/ 2152650 w 2185988"/>
              <a:gd name="connsiteY19" fmla="*/ 1152525 h 2171700"/>
              <a:gd name="connsiteX20" fmla="*/ 2185988 w 2185988"/>
              <a:gd name="connsiteY20" fmla="*/ 1428750 h 2171700"/>
              <a:gd name="connsiteX21" fmla="*/ 2171700 w 2185988"/>
              <a:gd name="connsiteY21" fmla="*/ 1609725 h 2171700"/>
              <a:gd name="connsiteX22" fmla="*/ 2124075 w 2185988"/>
              <a:gd name="connsiteY22" fmla="*/ 1804987 h 2171700"/>
              <a:gd name="connsiteX23" fmla="*/ 2038350 w 2185988"/>
              <a:gd name="connsiteY23" fmla="*/ 1981200 h 2171700"/>
              <a:gd name="connsiteX24" fmla="*/ 1957388 w 2185988"/>
              <a:gd name="connsiteY24" fmla="*/ 2100262 h 2171700"/>
              <a:gd name="connsiteX25" fmla="*/ 1895475 w 2185988"/>
              <a:gd name="connsiteY25" fmla="*/ 2171700 h 2171700"/>
              <a:gd name="connsiteX0" fmla="*/ 0 w 2185988"/>
              <a:gd name="connsiteY0" fmla="*/ 314325 h 2171700"/>
              <a:gd name="connsiteX1" fmla="*/ 157163 w 2185988"/>
              <a:gd name="connsiteY1" fmla="*/ 185737 h 2171700"/>
              <a:gd name="connsiteX2" fmla="*/ 333375 w 2185988"/>
              <a:gd name="connsiteY2" fmla="*/ 95250 h 2171700"/>
              <a:gd name="connsiteX3" fmla="*/ 495300 w 2185988"/>
              <a:gd name="connsiteY3" fmla="*/ 33337 h 2171700"/>
              <a:gd name="connsiteX4" fmla="*/ 690563 w 2185988"/>
              <a:gd name="connsiteY4" fmla="*/ 0 h 2171700"/>
              <a:gd name="connsiteX5" fmla="*/ 871538 w 2185988"/>
              <a:gd name="connsiteY5" fmla="*/ 4762 h 2171700"/>
              <a:gd name="connsiteX6" fmla="*/ 1066800 w 2185988"/>
              <a:gd name="connsiteY6" fmla="*/ 28575 h 2171700"/>
              <a:gd name="connsiteX7" fmla="*/ 1276350 w 2185988"/>
              <a:gd name="connsiteY7" fmla="*/ 104775 h 2171700"/>
              <a:gd name="connsiteX8" fmla="*/ 1428750 w 2185988"/>
              <a:gd name="connsiteY8" fmla="*/ 171450 h 2171700"/>
              <a:gd name="connsiteX9" fmla="*/ 1571625 w 2185988"/>
              <a:gd name="connsiteY9" fmla="*/ 266700 h 2171700"/>
              <a:gd name="connsiteX10" fmla="*/ 1704975 w 2185988"/>
              <a:gd name="connsiteY10" fmla="*/ 385762 h 2171700"/>
              <a:gd name="connsiteX11" fmla="*/ 1809750 w 2185988"/>
              <a:gd name="connsiteY11" fmla="*/ 328613 h 2171700"/>
              <a:gd name="connsiteX12" fmla="*/ 1909764 w 2185988"/>
              <a:gd name="connsiteY12" fmla="*/ 290513 h 2171700"/>
              <a:gd name="connsiteX13" fmla="*/ 2071687 w 2185988"/>
              <a:gd name="connsiteY13" fmla="*/ 309562 h 2171700"/>
              <a:gd name="connsiteX14" fmla="*/ 2128838 w 2185988"/>
              <a:gd name="connsiteY14" fmla="*/ 452437 h 2171700"/>
              <a:gd name="connsiteX15" fmla="*/ 2138363 w 2185988"/>
              <a:gd name="connsiteY15" fmla="*/ 576262 h 2171700"/>
              <a:gd name="connsiteX16" fmla="*/ 2095501 w 2185988"/>
              <a:gd name="connsiteY16" fmla="*/ 681037 h 2171700"/>
              <a:gd name="connsiteX17" fmla="*/ 2024063 w 2185988"/>
              <a:gd name="connsiteY17" fmla="*/ 781050 h 2171700"/>
              <a:gd name="connsiteX18" fmla="*/ 2085975 w 2185988"/>
              <a:gd name="connsiteY18" fmla="*/ 952500 h 2171700"/>
              <a:gd name="connsiteX19" fmla="*/ 2152650 w 2185988"/>
              <a:gd name="connsiteY19" fmla="*/ 1152525 h 2171700"/>
              <a:gd name="connsiteX20" fmla="*/ 2185988 w 2185988"/>
              <a:gd name="connsiteY20" fmla="*/ 1428750 h 2171700"/>
              <a:gd name="connsiteX21" fmla="*/ 2171700 w 2185988"/>
              <a:gd name="connsiteY21" fmla="*/ 1609725 h 2171700"/>
              <a:gd name="connsiteX22" fmla="*/ 2124075 w 2185988"/>
              <a:gd name="connsiteY22" fmla="*/ 1804987 h 2171700"/>
              <a:gd name="connsiteX23" fmla="*/ 2038350 w 2185988"/>
              <a:gd name="connsiteY23" fmla="*/ 1981200 h 2171700"/>
              <a:gd name="connsiteX24" fmla="*/ 1957388 w 2185988"/>
              <a:gd name="connsiteY24" fmla="*/ 2100262 h 2171700"/>
              <a:gd name="connsiteX25" fmla="*/ 1895475 w 2185988"/>
              <a:gd name="connsiteY25" fmla="*/ 2171700 h 2171700"/>
              <a:gd name="connsiteX0" fmla="*/ 0 w 2185988"/>
              <a:gd name="connsiteY0" fmla="*/ 314325 h 2171700"/>
              <a:gd name="connsiteX1" fmla="*/ 157163 w 2185988"/>
              <a:gd name="connsiteY1" fmla="*/ 185737 h 2171700"/>
              <a:gd name="connsiteX2" fmla="*/ 333375 w 2185988"/>
              <a:gd name="connsiteY2" fmla="*/ 95250 h 2171700"/>
              <a:gd name="connsiteX3" fmla="*/ 495300 w 2185988"/>
              <a:gd name="connsiteY3" fmla="*/ 33337 h 2171700"/>
              <a:gd name="connsiteX4" fmla="*/ 690563 w 2185988"/>
              <a:gd name="connsiteY4" fmla="*/ 0 h 2171700"/>
              <a:gd name="connsiteX5" fmla="*/ 871538 w 2185988"/>
              <a:gd name="connsiteY5" fmla="*/ 4762 h 2171700"/>
              <a:gd name="connsiteX6" fmla="*/ 1066800 w 2185988"/>
              <a:gd name="connsiteY6" fmla="*/ 28575 h 2171700"/>
              <a:gd name="connsiteX7" fmla="*/ 1276350 w 2185988"/>
              <a:gd name="connsiteY7" fmla="*/ 104775 h 2171700"/>
              <a:gd name="connsiteX8" fmla="*/ 1428750 w 2185988"/>
              <a:gd name="connsiteY8" fmla="*/ 171450 h 2171700"/>
              <a:gd name="connsiteX9" fmla="*/ 1571625 w 2185988"/>
              <a:gd name="connsiteY9" fmla="*/ 266700 h 2171700"/>
              <a:gd name="connsiteX10" fmla="*/ 1704975 w 2185988"/>
              <a:gd name="connsiteY10" fmla="*/ 385762 h 2171700"/>
              <a:gd name="connsiteX11" fmla="*/ 1809750 w 2185988"/>
              <a:gd name="connsiteY11" fmla="*/ 328613 h 2171700"/>
              <a:gd name="connsiteX12" fmla="*/ 1976439 w 2185988"/>
              <a:gd name="connsiteY12" fmla="*/ 300038 h 2171700"/>
              <a:gd name="connsiteX13" fmla="*/ 2071687 w 2185988"/>
              <a:gd name="connsiteY13" fmla="*/ 309562 h 2171700"/>
              <a:gd name="connsiteX14" fmla="*/ 2128838 w 2185988"/>
              <a:gd name="connsiteY14" fmla="*/ 452437 h 2171700"/>
              <a:gd name="connsiteX15" fmla="*/ 2138363 w 2185988"/>
              <a:gd name="connsiteY15" fmla="*/ 576262 h 2171700"/>
              <a:gd name="connsiteX16" fmla="*/ 2095501 w 2185988"/>
              <a:gd name="connsiteY16" fmla="*/ 681037 h 2171700"/>
              <a:gd name="connsiteX17" fmla="*/ 2024063 w 2185988"/>
              <a:gd name="connsiteY17" fmla="*/ 781050 h 2171700"/>
              <a:gd name="connsiteX18" fmla="*/ 2085975 w 2185988"/>
              <a:gd name="connsiteY18" fmla="*/ 952500 h 2171700"/>
              <a:gd name="connsiteX19" fmla="*/ 2152650 w 2185988"/>
              <a:gd name="connsiteY19" fmla="*/ 1152525 h 2171700"/>
              <a:gd name="connsiteX20" fmla="*/ 2185988 w 2185988"/>
              <a:gd name="connsiteY20" fmla="*/ 1428750 h 2171700"/>
              <a:gd name="connsiteX21" fmla="*/ 2171700 w 2185988"/>
              <a:gd name="connsiteY21" fmla="*/ 1609725 h 2171700"/>
              <a:gd name="connsiteX22" fmla="*/ 2124075 w 2185988"/>
              <a:gd name="connsiteY22" fmla="*/ 1804987 h 2171700"/>
              <a:gd name="connsiteX23" fmla="*/ 2038350 w 2185988"/>
              <a:gd name="connsiteY23" fmla="*/ 1981200 h 2171700"/>
              <a:gd name="connsiteX24" fmla="*/ 1957388 w 2185988"/>
              <a:gd name="connsiteY24" fmla="*/ 2100262 h 2171700"/>
              <a:gd name="connsiteX25" fmla="*/ 1895475 w 2185988"/>
              <a:gd name="connsiteY25" fmla="*/ 2171700 h 2171700"/>
              <a:gd name="connsiteX0" fmla="*/ 0 w 2185988"/>
              <a:gd name="connsiteY0" fmla="*/ 314325 h 2171700"/>
              <a:gd name="connsiteX1" fmla="*/ 157163 w 2185988"/>
              <a:gd name="connsiteY1" fmla="*/ 185737 h 2171700"/>
              <a:gd name="connsiteX2" fmla="*/ 333375 w 2185988"/>
              <a:gd name="connsiteY2" fmla="*/ 95250 h 2171700"/>
              <a:gd name="connsiteX3" fmla="*/ 495300 w 2185988"/>
              <a:gd name="connsiteY3" fmla="*/ 33337 h 2171700"/>
              <a:gd name="connsiteX4" fmla="*/ 690563 w 2185988"/>
              <a:gd name="connsiteY4" fmla="*/ 0 h 2171700"/>
              <a:gd name="connsiteX5" fmla="*/ 871538 w 2185988"/>
              <a:gd name="connsiteY5" fmla="*/ 4762 h 2171700"/>
              <a:gd name="connsiteX6" fmla="*/ 1066800 w 2185988"/>
              <a:gd name="connsiteY6" fmla="*/ 28575 h 2171700"/>
              <a:gd name="connsiteX7" fmla="*/ 1276350 w 2185988"/>
              <a:gd name="connsiteY7" fmla="*/ 104775 h 2171700"/>
              <a:gd name="connsiteX8" fmla="*/ 1428750 w 2185988"/>
              <a:gd name="connsiteY8" fmla="*/ 171450 h 2171700"/>
              <a:gd name="connsiteX9" fmla="*/ 1571625 w 2185988"/>
              <a:gd name="connsiteY9" fmla="*/ 266700 h 2171700"/>
              <a:gd name="connsiteX10" fmla="*/ 1704975 w 2185988"/>
              <a:gd name="connsiteY10" fmla="*/ 385762 h 2171700"/>
              <a:gd name="connsiteX11" fmla="*/ 1809750 w 2185988"/>
              <a:gd name="connsiteY11" fmla="*/ 328613 h 2171700"/>
              <a:gd name="connsiteX12" fmla="*/ 1976439 w 2185988"/>
              <a:gd name="connsiteY12" fmla="*/ 300038 h 2171700"/>
              <a:gd name="connsiteX13" fmla="*/ 2128838 w 2185988"/>
              <a:gd name="connsiteY13" fmla="*/ 452437 h 2171700"/>
              <a:gd name="connsiteX14" fmla="*/ 2138363 w 2185988"/>
              <a:gd name="connsiteY14" fmla="*/ 576262 h 2171700"/>
              <a:gd name="connsiteX15" fmla="*/ 2095501 w 2185988"/>
              <a:gd name="connsiteY15" fmla="*/ 681037 h 2171700"/>
              <a:gd name="connsiteX16" fmla="*/ 2024063 w 2185988"/>
              <a:gd name="connsiteY16" fmla="*/ 781050 h 2171700"/>
              <a:gd name="connsiteX17" fmla="*/ 2085975 w 2185988"/>
              <a:gd name="connsiteY17" fmla="*/ 952500 h 2171700"/>
              <a:gd name="connsiteX18" fmla="*/ 2152650 w 2185988"/>
              <a:gd name="connsiteY18" fmla="*/ 1152525 h 2171700"/>
              <a:gd name="connsiteX19" fmla="*/ 2185988 w 2185988"/>
              <a:gd name="connsiteY19" fmla="*/ 1428750 h 2171700"/>
              <a:gd name="connsiteX20" fmla="*/ 2171700 w 2185988"/>
              <a:gd name="connsiteY20" fmla="*/ 1609725 h 2171700"/>
              <a:gd name="connsiteX21" fmla="*/ 2124075 w 2185988"/>
              <a:gd name="connsiteY21" fmla="*/ 1804987 h 2171700"/>
              <a:gd name="connsiteX22" fmla="*/ 2038350 w 2185988"/>
              <a:gd name="connsiteY22" fmla="*/ 1981200 h 2171700"/>
              <a:gd name="connsiteX23" fmla="*/ 1957388 w 2185988"/>
              <a:gd name="connsiteY23" fmla="*/ 2100262 h 2171700"/>
              <a:gd name="connsiteX24" fmla="*/ 1895475 w 2185988"/>
              <a:gd name="connsiteY24" fmla="*/ 2171700 h 2171700"/>
              <a:gd name="connsiteX0" fmla="*/ 0 w 2185988"/>
              <a:gd name="connsiteY0" fmla="*/ 314325 h 2171700"/>
              <a:gd name="connsiteX1" fmla="*/ 157163 w 2185988"/>
              <a:gd name="connsiteY1" fmla="*/ 185737 h 2171700"/>
              <a:gd name="connsiteX2" fmla="*/ 333375 w 2185988"/>
              <a:gd name="connsiteY2" fmla="*/ 95250 h 2171700"/>
              <a:gd name="connsiteX3" fmla="*/ 495300 w 2185988"/>
              <a:gd name="connsiteY3" fmla="*/ 33337 h 2171700"/>
              <a:gd name="connsiteX4" fmla="*/ 690563 w 2185988"/>
              <a:gd name="connsiteY4" fmla="*/ 0 h 2171700"/>
              <a:gd name="connsiteX5" fmla="*/ 871538 w 2185988"/>
              <a:gd name="connsiteY5" fmla="*/ 4762 h 2171700"/>
              <a:gd name="connsiteX6" fmla="*/ 1066800 w 2185988"/>
              <a:gd name="connsiteY6" fmla="*/ 28575 h 2171700"/>
              <a:gd name="connsiteX7" fmla="*/ 1276350 w 2185988"/>
              <a:gd name="connsiteY7" fmla="*/ 104775 h 2171700"/>
              <a:gd name="connsiteX8" fmla="*/ 1428750 w 2185988"/>
              <a:gd name="connsiteY8" fmla="*/ 171450 h 2171700"/>
              <a:gd name="connsiteX9" fmla="*/ 1571625 w 2185988"/>
              <a:gd name="connsiteY9" fmla="*/ 266700 h 2171700"/>
              <a:gd name="connsiteX10" fmla="*/ 1704975 w 2185988"/>
              <a:gd name="connsiteY10" fmla="*/ 385762 h 2171700"/>
              <a:gd name="connsiteX11" fmla="*/ 1809750 w 2185988"/>
              <a:gd name="connsiteY11" fmla="*/ 328613 h 2171700"/>
              <a:gd name="connsiteX12" fmla="*/ 1976439 w 2185988"/>
              <a:gd name="connsiteY12" fmla="*/ 300038 h 2171700"/>
              <a:gd name="connsiteX13" fmla="*/ 2128838 w 2185988"/>
              <a:gd name="connsiteY13" fmla="*/ 452437 h 2171700"/>
              <a:gd name="connsiteX14" fmla="*/ 2138363 w 2185988"/>
              <a:gd name="connsiteY14" fmla="*/ 576262 h 2171700"/>
              <a:gd name="connsiteX15" fmla="*/ 2095501 w 2185988"/>
              <a:gd name="connsiteY15" fmla="*/ 681037 h 2171700"/>
              <a:gd name="connsiteX16" fmla="*/ 2024063 w 2185988"/>
              <a:gd name="connsiteY16" fmla="*/ 781050 h 2171700"/>
              <a:gd name="connsiteX17" fmla="*/ 2105025 w 2185988"/>
              <a:gd name="connsiteY17" fmla="*/ 962025 h 2171700"/>
              <a:gd name="connsiteX18" fmla="*/ 2152650 w 2185988"/>
              <a:gd name="connsiteY18" fmla="*/ 1152525 h 2171700"/>
              <a:gd name="connsiteX19" fmla="*/ 2185988 w 2185988"/>
              <a:gd name="connsiteY19" fmla="*/ 1428750 h 2171700"/>
              <a:gd name="connsiteX20" fmla="*/ 2171700 w 2185988"/>
              <a:gd name="connsiteY20" fmla="*/ 1609725 h 2171700"/>
              <a:gd name="connsiteX21" fmla="*/ 2124075 w 2185988"/>
              <a:gd name="connsiteY21" fmla="*/ 1804987 h 2171700"/>
              <a:gd name="connsiteX22" fmla="*/ 2038350 w 2185988"/>
              <a:gd name="connsiteY22" fmla="*/ 1981200 h 2171700"/>
              <a:gd name="connsiteX23" fmla="*/ 1957388 w 2185988"/>
              <a:gd name="connsiteY23" fmla="*/ 2100262 h 2171700"/>
              <a:gd name="connsiteX24" fmla="*/ 1895475 w 2185988"/>
              <a:gd name="connsiteY24" fmla="*/ 2171700 h 2171700"/>
              <a:gd name="connsiteX0" fmla="*/ 0 w 2185988"/>
              <a:gd name="connsiteY0" fmla="*/ 314325 h 2171700"/>
              <a:gd name="connsiteX1" fmla="*/ 157163 w 2185988"/>
              <a:gd name="connsiteY1" fmla="*/ 185737 h 2171700"/>
              <a:gd name="connsiteX2" fmla="*/ 333375 w 2185988"/>
              <a:gd name="connsiteY2" fmla="*/ 95250 h 2171700"/>
              <a:gd name="connsiteX3" fmla="*/ 495300 w 2185988"/>
              <a:gd name="connsiteY3" fmla="*/ 33337 h 2171700"/>
              <a:gd name="connsiteX4" fmla="*/ 690563 w 2185988"/>
              <a:gd name="connsiteY4" fmla="*/ 0 h 2171700"/>
              <a:gd name="connsiteX5" fmla="*/ 871538 w 2185988"/>
              <a:gd name="connsiteY5" fmla="*/ 4762 h 2171700"/>
              <a:gd name="connsiteX6" fmla="*/ 1066800 w 2185988"/>
              <a:gd name="connsiteY6" fmla="*/ 28575 h 2171700"/>
              <a:gd name="connsiteX7" fmla="*/ 1276350 w 2185988"/>
              <a:gd name="connsiteY7" fmla="*/ 104775 h 2171700"/>
              <a:gd name="connsiteX8" fmla="*/ 1428750 w 2185988"/>
              <a:gd name="connsiteY8" fmla="*/ 171450 h 2171700"/>
              <a:gd name="connsiteX9" fmla="*/ 1571625 w 2185988"/>
              <a:gd name="connsiteY9" fmla="*/ 266700 h 2171700"/>
              <a:gd name="connsiteX10" fmla="*/ 1704975 w 2185988"/>
              <a:gd name="connsiteY10" fmla="*/ 385762 h 2171700"/>
              <a:gd name="connsiteX11" fmla="*/ 1809750 w 2185988"/>
              <a:gd name="connsiteY11" fmla="*/ 328613 h 2171700"/>
              <a:gd name="connsiteX12" fmla="*/ 1976439 w 2185988"/>
              <a:gd name="connsiteY12" fmla="*/ 300038 h 2171700"/>
              <a:gd name="connsiteX13" fmla="*/ 2128838 w 2185988"/>
              <a:gd name="connsiteY13" fmla="*/ 452437 h 2171700"/>
              <a:gd name="connsiteX14" fmla="*/ 2138363 w 2185988"/>
              <a:gd name="connsiteY14" fmla="*/ 576262 h 2171700"/>
              <a:gd name="connsiteX15" fmla="*/ 2095501 w 2185988"/>
              <a:gd name="connsiteY15" fmla="*/ 681037 h 2171700"/>
              <a:gd name="connsiteX16" fmla="*/ 2024063 w 2185988"/>
              <a:gd name="connsiteY16" fmla="*/ 781050 h 2171700"/>
              <a:gd name="connsiteX17" fmla="*/ 2105025 w 2185988"/>
              <a:gd name="connsiteY17" fmla="*/ 962025 h 2171700"/>
              <a:gd name="connsiteX18" fmla="*/ 2176463 w 2185988"/>
              <a:gd name="connsiteY18" fmla="*/ 1214437 h 2171700"/>
              <a:gd name="connsiteX19" fmla="*/ 2185988 w 2185988"/>
              <a:gd name="connsiteY19" fmla="*/ 1428750 h 2171700"/>
              <a:gd name="connsiteX20" fmla="*/ 2171700 w 2185988"/>
              <a:gd name="connsiteY20" fmla="*/ 1609725 h 2171700"/>
              <a:gd name="connsiteX21" fmla="*/ 2124075 w 2185988"/>
              <a:gd name="connsiteY21" fmla="*/ 1804987 h 2171700"/>
              <a:gd name="connsiteX22" fmla="*/ 2038350 w 2185988"/>
              <a:gd name="connsiteY22" fmla="*/ 1981200 h 2171700"/>
              <a:gd name="connsiteX23" fmla="*/ 1957388 w 2185988"/>
              <a:gd name="connsiteY23" fmla="*/ 2100262 h 2171700"/>
              <a:gd name="connsiteX24" fmla="*/ 1895475 w 2185988"/>
              <a:gd name="connsiteY24" fmla="*/ 2171700 h 2171700"/>
              <a:gd name="connsiteX0" fmla="*/ 0 w 2185988"/>
              <a:gd name="connsiteY0" fmla="*/ 314325 h 2262286"/>
              <a:gd name="connsiteX1" fmla="*/ 157163 w 2185988"/>
              <a:gd name="connsiteY1" fmla="*/ 185737 h 2262286"/>
              <a:gd name="connsiteX2" fmla="*/ 333375 w 2185988"/>
              <a:gd name="connsiteY2" fmla="*/ 95250 h 2262286"/>
              <a:gd name="connsiteX3" fmla="*/ 495300 w 2185988"/>
              <a:gd name="connsiteY3" fmla="*/ 33337 h 2262286"/>
              <a:gd name="connsiteX4" fmla="*/ 690563 w 2185988"/>
              <a:gd name="connsiteY4" fmla="*/ 0 h 2262286"/>
              <a:gd name="connsiteX5" fmla="*/ 871538 w 2185988"/>
              <a:gd name="connsiteY5" fmla="*/ 4762 h 2262286"/>
              <a:gd name="connsiteX6" fmla="*/ 1066800 w 2185988"/>
              <a:gd name="connsiteY6" fmla="*/ 28575 h 2262286"/>
              <a:gd name="connsiteX7" fmla="*/ 1276350 w 2185988"/>
              <a:gd name="connsiteY7" fmla="*/ 104775 h 2262286"/>
              <a:gd name="connsiteX8" fmla="*/ 1428750 w 2185988"/>
              <a:gd name="connsiteY8" fmla="*/ 171450 h 2262286"/>
              <a:gd name="connsiteX9" fmla="*/ 1571625 w 2185988"/>
              <a:gd name="connsiteY9" fmla="*/ 266700 h 2262286"/>
              <a:gd name="connsiteX10" fmla="*/ 1704975 w 2185988"/>
              <a:gd name="connsiteY10" fmla="*/ 385762 h 2262286"/>
              <a:gd name="connsiteX11" fmla="*/ 1809750 w 2185988"/>
              <a:gd name="connsiteY11" fmla="*/ 328613 h 2262286"/>
              <a:gd name="connsiteX12" fmla="*/ 1976439 w 2185988"/>
              <a:gd name="connsiteY12" fmla="*/ 300038 h 2262286"/>
              <a:gd name="connsiteX13" fmla="*/ 2128838 w 2185988"/>
              <a:gd name="connsiteY13" fmla="*/ 452437 h 2262286"/>
              <a:gd name="connsiteX14" fmla="*/ 2138363 w 2185988"/>
              <a:gd name="connsiteY14" fmla="*/ 576262 h 2262286"/>
              <a:gd name="connsiteX15" fmla="*/ 2095501 w 2185988"/>
              <a:gd name="connsiteY15" fmla="*/ 681037 h 2262286"/>
              <a:gd name="connsiteX16" fmla="*/ 2024063 w 2185988"/>
              <a:gd name="connsiteY16" fmla="*/ 781050 h 2262286"/>
              <a:gd name="connsiteX17" fmla="*/ 2105025 w 2185988"/>
              <a:gd name="connsiteY17" fmla="*/ 962025 h 2262286"/>
              <a:gd name="connsiteX18" fmla="*/ 2176463 w 2185988"/>
              <a:gd name="connsiteY18" fmla="*/ 1214437 h 2262286"/>
              <a:gd name="connsiteX19" fmla="*/ 2185988 w 2185988"/>
              <a:gd name="connsiteY19" fmla="*/ 1428750 h 2262286"/>
              <a:gd name="connsiteX20" fmla="*/ 2171700 w 2185988"/>
              <a:gd name="connsiteY20" fmla="*/ 1609725 h 2262286"/>
              <a:gd name="connsiteX21" fmla="*/ 2124075 w 2185988"/>
              <a:gd name="connsiteY21" fmla="*/ 1804987 h 2262286"/>
              <a:gd name="connsiteX22" fmla="*/ 2038350 w 2185988"/>
              <a:gd name="connsiteY22" fmla="*/ 1981200 h 2262286"/>
              <a:gd name="connsiteX23" fmla="*/ 1957388 w 2185988"/>
              <a:gd name="connsiteY23" fmla="*/ 2100262 h 2262286"/>
              <a:gd name="connsiteX24" fmla="*/ 1833006 w 2185988"/>
              <a:gd name="connsiteY24" fmla="*/ 2262286 h 2262286"/>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571625 w 2185988"/>
              <a:gd name="connsiteY9" fmla="*/ 266700 h 2231435"/>
              <a:gd name="connsiteX10" fmla="*/ 1704975 w 2185988"/>
              <a:gd name="connsiteY10" fmla="*/ 385762 h 2231435"/>
              <a:gd name="connsiteX11" fmla="*/ 1809750 w 2185988"/>
              <a:gd name="connsiteY11" fmla="*/ 328613 h 2231435"/>
              <a:gd name="connsiteX12" fmla="*/ 1976439 w 2185988"/>
              <a:gd name="connsiteY12" fmla="*/ 300038 h 2231435"/>
              <a:gd name="connsiteX13" fmla="*/ 2128838 w 2185988"/>
              <a:gd name="connsiteY13" fmla="*/ 452437 h 2231435"/>
              <a:gd name="connsiteX14" fmla="*/ 2138363 w 2185988"/>
              <a:gd name="connsiteY14" fmla="*/ 576262 h 2231435"/>
              <a:gd name="connsiteX15" fmla="*/ 2095501 w 2185988"/>
              <a:gd name="connsiteY15" fmla="*/ 681037 h 2231435"/>
              <a:gd name="connsiteX16" fmla="*/ 2024063 w 2185988"/>
              <a:gd name="connsiteY16" fmla="*/ 781050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614283 w 2185988"/>
              <a:gd name="connsiteY9" fmla="*/ 93929 h 2231435"/>
              <a:gd name="connsiteX10" fmla="*/ 1704975 w 2185988"/>
              <a:gd name="connsiteY10" fmla="*/ 385762 h 2231435"/>
              <a:gd name="connsiteX11" fmla="*/ 1809750 w 2185988"/>
              <a:gd name="connsiteY11" fmla="*/ 328613 h 2231435"/>
              <a:gd name="connsiteX12" fmla="*/ 1976439 w 2185988"/>
              <a:gd name="connsiteY12" fmla="*/ 300038 h 2231435"/>
              <a:gd name="connsiteX13" fmla="*/ 2128838 w 2185988"/>
              <a:gd name="connsiteY13" fmla="*/ 452437 h 2231435"/>
              <a:gd name="connsiteX14" fmla="*/ 2138363 w 2185988"/>
              <a:gd name="connsiteY14" fmla="*/ 576262 h 2231435"/>
              <a:gd name="connsiteX15" fmla="*/ 2095501 w 2185988"/>
              <a:gd name="connsiteY15" fmla="*/ 681037 h 2231435"/>
              <a:gd name="connsiteX16" fmla="*/ 2024063 w 2185988"/>
              <a:gd name="connsiteY16" fmla="*/ 781050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614283 w 2185988"/>
              <a:gd name="connsiteY9" fmla="*/ 93929 h 2231435"/>
              <a:gd name="connsiteX10" fmla="*/ 1851230 w 2185988"/>
              <a:gd name="connsiteY10" fmla="*/ 89582 h 2231435"/>
              <a:gd name="connsiteX11" fmla="*/ 1809750 w 2185988"/>
              <a:gd name="connsiteY11" fmla="*/ 328613 h 2231435"/>
              <a:gd name="connsiteX12" fmla="*/ 1976439 w 2185988"/>
              <a:gd name="connsiteY12" fmla="*/ 300038 h 2231435"/>
              <a:gd name="connsiteX13" fmla="*/ 2128838 w 2185988"/>
              <a:gd name="connsiteY13" fmla="*/ 452437 h 2231435"/>
              <a:gd name="connsiteX14" fmla="*/ 2138363 w 2185988"/>
              <a:gd name="connsiteY14" fmla="*/ 576262 h 2231435"/>
              <a:gd name="connsiteX15" fmla="*/ 2095501 w 2185988"/>
              <a:gd name="connsiteY15" fmla="*/ 681037 h 2231435"/>
              <a:gd name="connsiteX16" fmla="*/ 2024063 w 2185988"/>
              <a:gd name="connsiteY16" fmla="*/ 781050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614283 w 2185988"/>
              <a:gd name="connsiteY9" fmla="*/ 93929 h 2231435"/>
              <a:gd name="connsiteX10" fmla="*/ 1851230 w 2185988"/>
              <a:gd name="connsiteY10" fmla="*/ 89582 h 2231435"/>
              <a:gd name="connsiteX11" fmla="*/ 2004758 w 2185988"/>
              <a:gd name="connsiteY11" fmla="*/ 106478 h 2231435"/>
              <a:gd name="connsiteX12" fmla="*/ 1976439 w 2185988"/>
              <a:gd name="connsiteY12" fmla="*/ 300038 h 2231435"/>
              <a:gd name="connsiteX13" fmla="*/ 2128838 w 2185988"/>
              <a:gd name="connsiteY13" fmla="*/ 452437 h 2231435"/>
              <a:gd name="connsiteX14" fmla="*/ 2138363 w 2185988"/>
              <a:gd name="connsiteY14" fmla="*/ 576262 h 2231435"/>
              <a:gd name="connsiteX15" fmla="*/ 2095501 w 2185988"/>
              <a:gd name="connsiteY15" fmla="*/ 681037 h 2231435"/>
              <a:gd name="connsiteX16" fmla="*/ 2024063 w 2185988"/>
              <a:gd name="connsiteY16" fmla="*/ 781050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614283 w 2185988"/>
              <a:gd name="connsiteY9" fmla="*/ 93929 h 2231435"/>
              <a:gd name="connsiteX10" fmla="*/ 1851230 w 2185988"/>
              <a:gd name="connsiteY10" fmla="*/ 89582 h 2231435"/>
              <a:gd name="connsiteX11" fmla="*/ 2004758 w 2185988"/>
              <a:gd name="connsiteY11" fmla="*/ 106478 h 2231435"/>
              <a:gd name="connsiteX12" fmla="*/ 2092224 w 2185988"/>
              <a:gd name="connsiteY12" fmla="*/ 213652 h 2231435"/>
              <a:gd name="connsiteX13" fmla="*/ 2128838 w 2185988"/>
              <a:gd name="connsiteY13" fmla="*/ 452437 h 2231435"/>
              <a:gd name="connsiteX14" fmla="*/ 2138363 w 2185988"/>
              <a:gd name="connsiteY14" fmla="*/ 576262 h 2231435"/>
              <a:gd name="connsiteX15" fmla="*/ 2095501 w 2185988"/>
              <a:gd name="connsiteY15" fmla="*/ 681037 h 2231435"/>
              <a:gd name="connsiteX16" fmla="*/ 2024063 w 2185988"/>
              <a:gd name="connsiteY16" fmla="*/ 781050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614283 w 2185988"/>
              <a:gd name="connsiteY9" fmla="*/ 93929 h 2231435"/>
              <a:gd name="connsiteX10" fmla="*/ 1851230 w 2185988"/>
              <a:gd name="connsiteY10" fmla="*/ 89582 h 2231435"/>
              <a:gd name="connsiteX11" fmla="*/ 2004758 w 2185988"/>
              <a:gd name="connsiteY11" fmla="*/ 106478 h 2231435"/>
              <a:gd name="connsiteX12" fmla="*/ 2092224 w 2185988"/>
              <a:gd name="connsiteY12" fmla="*/ 213652 h 2231435"/>
              <a:gd name="connsiteX13" fmla="*/ 2177590 w 2185988"/>
              <a:gd name="connsiteY13" fmla="*/ 427755 h 2231435"/>
              <a:gd name="connsiteX14" fmla="*/ 2138363 w 2185988"/>
              <a:gd name="connsiteY14" fmla="*/ 576262 h 2231435"/>
              <a:gd name="connsiteX15" fmla="*/ 2095501 w 2185988"/>
              <a:gd name="connsiteY15" fmla="*/ 681037 h 2231435"/>
              <a:gd name="connsiteX16" fmla="*/ 2024063 w 2185988"/>
              <a:gd name="connsiteY16" fmla="*/ 781050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614283 w 2185988"/>
              <a:gd name="connsiteY9" fmla="*/ 93929 h 2231435"/>
              <a:gd name="connsiteX10" fmla="*/ 1851230 w 2185988"/>
              <a:gd name="connsiteY10" fmla="*/ 89582 h 2231435"/>
              <a:gd name="connsiteX11" fmla="*/ 2004758 w 2185988"/>
              <a:gd name="connsiteY11" fmla="*/ 106478 h 2231435"/>
              <a:gd name="connsiteX12" fmla="*/ 2092224 w 2185988"/>
              <a:gd name="connsiteY12" fmla="*/ 213652 h 2231435"/>
              <a:gd name="connsiteX13" fmla="*/ 2177590 w 2185988"/>
              <a:gd name="connsiteY13" fmla="*/ 427755 h 2231435"/>
              <a:gd name="connsiteX14" fmla="*/ 2138363 w 2185988"/>
              <a:gd name="connsiteY14" fmla="*/ 576262 h 2231435"/>
              <a:gd name="connsiteX15" fmla="*/ 2095501 w 2185988"/>
              <a:gd name="connsiteY15" fmla="*/ 681037 h 2231435"/>
              <a:gd name="connsiteX16" fmla="*/ 1987499 w 2185988"/>
              <a:gd name="connsiteY16" fmla="*/ 756368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614283 w 2185988"/>
              <a:gd name="connsiteY9" fmla="*/ 93929 h 2231435"/>
              <a:gd name="connsiteX10" fmla="*/ 1851230 w 2185988"/>
              <a:gd name="connsiteY10" fmla="*/ 89582 h 2231435"/>
              <a:gd name="connsiteX11" fmla="*/ 2004758 w 2185988"/>
              <a:gd name="connsiteY11" fmla="*/ 106478 h 2231435"/>
              <a:gd name="connsiteX12" fmla="*/ 2092224 w 2185988"/>
              <a:gd name="connsiteY12" fmla="*/ 213652 h 2231435"/>
              <a:gd name="connsiteX13" fmla="*/ 2177590 w 2185988"/>
              <a:gd name="connsiteY13" fmla="*/ 427755 h 2231435"/>
              <a:gd name="connsiteX14" fmla="*/ 2138363 w 2185988"/>
              <a:gd name="connsiteY14" fmla="*/ 576262 h 2231435"/>
              <a:gd name="connsiteX15" fmla="*/ 2095501 w 2185988"/>
              <a:gd name="connsiteY15" fmla="*/ 681037 h 2231435"/>
              <a:gd name="connsiteX16" fmla="*/ 2005780 w 2185988"/>
              <a:gd name="connsiteY16" fmla="*/ 737857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614283 w 2185988"/>
              <a:gd name="connsiteY9" fmla="*/ 93929 h 2231435"/>
              <a:gd name="connsiteX10" fmla="*/ 1851230 w 2185988"/>
              <a:gd name="connsiteY10" fmla="*/ 89582 h 2231435"/>
              <a:gd name="connsiteX11" fmla="*/ 2004758 w 2185988"/>
              <a:gd name="connsiteY11" fmla="*/ 106478 h 2231435"/>
              <a:gd name="connsiteX12" fmla="*/ 2092224 w 2185988"/>
              <a:gd name="connsiteY12" fmla="*/ 213652 h 2231435"/>
              <a:gd name="connsiteX13" fmla="*/ 2177590 w 2185988"/>
              <a:gd name="connsiteY13" fmla="*/ 427755 h 2231435"/>
              <a:gd name="connsiteX14" fmla="*/ 2138363 w 2185988"/>
              <a:gd name="connsiteY14" fmla="*/ 576262 h 2231435"/>
              <a:gd name="connsiteX15" fmla="*/ 2101596 w 2185988"/>
              <a:gd name="connsiteY15" fmla="*/ 631674 h 2231435"/>
              <a:gd name="connsiteX16" fmla="*/ 2005780 w 2185988"/>
              <a:gd name="connsiteY16" fmla="*/ 737857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614283 w 2185988"/>
              <a:gd name="connsiteY9" fmla="*/ 93929 h 2231435"/>
              <a:gd name="connsiteX10" fmla="*/ 1851230 w 2185988"/>
              <a:gd name="connsiteY10" fmla="*/ 89582 h 2231435"/>
              <a:gd name="connsiteX11" fmla="*/ 2004758 w 2185988"/>
              <a:gd name="connsiteY11" fmla="*/ 106478 h 2231435"/>
              <a:gd name="connsiteX12" fmla="*/ 2092224 w 2185988"/>
              <a:gd name="connsiteY12" fmla="*/ 213652 h 2231435"/>
              <a:gd name="connsiteX13" fmla="*/ 2177590 w 2185988"/>
              <a:gd name="connsiteY13" fmla="*/ 427755 h 2231435"/>
              <a:gd name="connsiteX14" fmla="*/ 2144457 w 2185988"/>
              <a:gd name="connsiteY14" fmla="*/ 514558 h 2231435"/>
              <a:gd name="connsiteX15" fmla="*/ 2101596 w 2185988"/>
              <a:gd name="connsiteY15" fmla="*/ 631674 h 2231435"/>
              <a:gd name="connsiteX16" fmla="*/ 2005780 w 2185988"/>
              <a:gd name="connsiteY16" fmla="*/ 737857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614283 w 2185988"/>
              <a:gd name="connsiteY9" fmla="*/ 93929 h 2231435"/>
              <a:gd name="connsiteX10" fmla="*/ 1851230 w 2185988"/>
              <a:gd name="connsiteY10" fmla="*/ 89582 h 2231435"/>
              <a:gd name="connsiteX11" fmla="*/ 2004758 w 2185988"/>
              <a:gd name="connsiteY11" fmla="*/ 106478 h 2231435"/>
              <a:gd name="connsiteX12" fmla="*/ 2092224 w 2185988"/>
              <a:gd name="connsiteY12" fmla="*/ 213652 h 2231435"/>
              <a:gd name="connsiteX13" fmla="*/ 2177590 w 2185988"/>
              <a:gd name="connsiteY13" fmla="*/ 335200 h 2231435"/>
              <a:gd name="connsiteX14" fmla="*/ 2144457 w 2185988"/>
              <a:gd name="connsiteY14" fmla="*/ 514558 h 2231435"/>
              <a:gd name="connsiteX15" fmla="*/ 2101596 w 2185988"/>
              <a:gd name="connsiteY15" fmla="*/ 631674 h 2231435"/>
              <a:gd name="connsiteX16" fmla="*/ 2005780 w 2185988"/>
              <a:gd name="connsiteY16" fmla="*/ 737857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614283 w 2185988"/>
              <a:gd name="connsiteY9" fmla="*/ 93929 h 2231435"/>
              <a:gd name="connsiteX10" fmla="*/ 1851230 w 2185988"/>
              <a:gd name="connsiteY10" fmla="*/ 89582 h 2231435"/>
              <a:gd name="connsiteX11" fmla="*/ 2004758 w 2185988"/>
              <a:gd name="connsiteY11" fmla="*/ 106478 h 2231435"/>
              <a:gd name="connsiteX12" fmla="*/ 2086130 w 2185988"/>
              <a:gd name="connsiteY12" fmla="*/ 151948 h 2231435"/>
              <a:gd name="connsiteX13" fmla="*/ 2177590 w 2185988"/>
              <a:gd name="connsiteY13" fmla="*/ 335200 h 2231435"/>
              <a:gd name="connsiteX14" fmla="*/ 2144457 w 2185988"/>
              <a:gd name="connsiteY14" fmla="*/ 514558 h 2231435"/>
              <a:gd name="connsiteX15" fmla="*/ 2101596 w 2185988"/>
              <a:gd name="connsiteY15" fmla="*/ 631674 h 2231435"/>
              <a:gd name="connsiteX16" fmla="*/ 2005780 w 2185988"/>
              <a:gd name="connsiteY16" fmla="*/ 737857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614283 w 2185988"/>
              <a:gd name="connsiteY9" fmla="*/ 93929 h 2231435"/>
              <a:gd name="connsiteX10" fmla="*/ 1820761 w 2185988"/>
              <a:gd name="connsiteY10" fmla="*/ 64900 h 2231435"/>
              <a:gd name="connsiteX11" fmla="*/ 2004758 w 2185988"/>
              <a:gd name="connsiteY11" fmla="*/ 106478 h 2231435"/>
              <a:gd name="connsiteX12" fmla="*/ 2086130 w 2185988"/>
              <a:gd name="connsiteY12" fmla="*/ 151948 h 2231435"/>
              <a:gd name="connsiteX13" fmla="*/ 2177590 w 2185988"/>
              <a:gd name="connsiteY13" fmla="*/ 335200 h 2231435"/>
              <a:gd name="connsiteX14" fmla="*/ 2144457 w 2185988"/>
              <a:gd name="connsiteY14" fmla="*/ 514558 h 2231435"/>
              <a:gd name="connsiteX15" fmla="*/ 2101596 w 2185988"/>
              <a:gd name="connsiteY15" fmla="*/ 631674 h 2231435"/>
              <a:gd name="connsiteX16" fmla="*/ 2005780 w 2185988"/>
              <a:gd name="connsiteY16" fmla="*/ 737857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614283 w 2185988"/>
              <a:gd name="connsiteY9" fmla="*/ 93929 h 2231435"/>
              <a:gd name="connsiteX10" fmla="*/ 1820761 w 2185988"/>
              <a:gd name="connsiteY10" fmla="*/ 64900 h 2231435"/>
              <a:gd name="connsiteX11" fmla="*/ 1980382 w 2185988"/>
              <a:gd name="connsiteY11" fmla="*/ 75626 h 2231435"/>
              <a:gd name="connsiteX12" fmla="*/ 2086130 w 2185988"/>
              <a:gd name="connsiteY12" fmla="*/ 151948 h 2231435"/>
              <a:gd name="connsiteX13" fmla="*/ 2177590 w 2185988"/>
              <a:gd name="connsiteY13" fmla="*/ 335200 h 2231435"/>
              <a:gd name="connsiteX14" fmla="*/ 2144457 w 2185988"/>
              <a:gd name="connsiteY14" fmla="*/ 514558 h 2231435"/>
              <a:gd name="connsiteX15" fmla="*/ 2101596 w 2185988"/>
              <a:gd name="connsiteY15" fmla="*/ 631674 h 2231435"/>
              <a:gd name="connsiteX16" fmla="*/ 2005780 w 2185988"/>
              <a:gd name="connsiteY16" fmla="*/ 737857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614283 w 2185988"/>
              <a:gd name="connsiteY9" fmla="*/ 93929 h 2231435"/>
              <a:gd name="connsiteX10" fmla="*/ 1820761 w 2185988"/>
              <a:gd name="connsiteY10" fmla="*/ 64900 h 2231435"/>
              <a:gd name="connsiteX11" fmla="*/ 1992570 w 2185988"/>
              <a:gd name="connsiteY11" fmla="*/ 81797 h 2231435"/>
              <a:gd name="connsiteX12" fmla="*/ 2086130 w 2185988"/>
              <a:gd name="connsiteY12" fmla="*/ 151948 h 2231435"/>
              <a:gd name="connsiteX13" fmla="*/ 2177590 w 2185988"/>
              <a:gd name="connsiteY13" fmla="*/ 335200 h 2231435"/>
              <a:gd name="connsiteX14" fmla="*/ 2144457 w 2185988"/>
              <a:gd name="connsiteY14" fmla="*/ 514558 h 2231435"/>
              <a:gd name="connsiteX15" fmla="*/ 2101596 w 2185988"/>
              <a:gd name="connsiteY15" fmla="*/ 631674 h 2231435"/>
              <a:gd name="connsiteX16" fmla="*/ 2005780 w 2185988"/>
              <a:gd name="connsiteY16" fmla="*/ 737857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614283 w 2185988"/>
              <a:gd name="connsiteY9" fmla="*/ 93929 h 2231435"/>
              <a:gd name="connsiteX10" fmla="*/ 1820761 w 2185988"/>
              <a:gd name="connsiteY10" fmla="*/ 64900 h 2231435"/>
              <a:gd name="connsiteX11" fmla="*/ 1992570 w 2185988"/>
              <a:gd name="connsiteY11" fmla="*/ 81797 h 2231435"/>
              <a:gd name="connsiteX12" fmla="*/ 2104411 w 2185988"/>
              <a:gd name="connsiteY12" fmla="*/ 176630 h 2231435"/>
              <a:gd name="connsiteX13" fmla="*/ 2177590 w 2185988"/>
              <a:gd name="connsiteY13" fmla="*/ 335200 h 2231435"/>
              <a:gd name="connsiteX14" fmla="*/ 2144457 w 2185988"/>
              <a:gd name="connsiteY14" fmla="*/ 514558 h 2231435"/>
              <a:gd name="connsiteX15" fmla="*/ 2101596 w 2185988"/>
              <a:gd name="connsiteY15" fmla="*/ 631674 h 2231435"/>
              <a:gd name="connsiteX16" fmla="*/ 2005780 w 2185988"/>
              <a:gd name="connsiteY16" fmla="*/ 737857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614283 w 2185988"/>
              <a:gd name="connsiteY9" fmla="*/ 93929 h 2231435"/>
              <a:gd name="connsiteX10" fmla="*/ 1832949 w 2185988"/>
              <a:gd name="connsiteY10" fmla="*/ 15537 h 2231435"/>
              <a:gd name="connsiteX11" fmla="*/ 1992570 w 2185988"/>
              <a:gd name="connsiteY11" fmla="*/ 81797 h 2231435"/>
              <a:gd name="connsiteX12" fmla="*/ 2104411 w 2185988"/>
              <a:gd name="connsiteY12" fmla="*/ 176630 h 2231435"/>
              <a:gd name="connsiteX13" fmla="*/ 2177590 w 2185988"/>
              <a:gd name="connsiteY13" fmla="*/ 335200 h 2231435"/>
              <a:gd name="connsiteX14" fmla="*/ 2144457 w 2185988"/>
              <a:gd name="connsiteY14" fmla="*/ 514558 h 2231435"/>
              <a:gd name="connsiteX15" fmla="*/ 2101596 w 2185988"/>
              <a:gd name="connsiteY15" fmla="*/ 631674 h 2231435"/>
              <a:gd name="connsiteX16" fmla="*/ 2005780 w 2185988"/>
              <a:gd name="connsiteY16" fmla="*/ 737857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614283 w 2185988"/>
              <a:gd name="connsiteY9" fmla="*/ 93929 h 2231435"/>
              <a:gd name="connsiteX10" fmla="*/ 1832949 w 2185988"/>
              <a:gd name="connsiteY10" fmla="*/ 15537 h 2231435"/>
              <a:gd name="connsiteX11" fmla="*/ 1998663 w 2185988"/>
              <a:gd name="connsiteY11" fmla="*/ 44774 h 2231435"/>
              <a:gd name="connsiteX12" fmla="*/ 2104411 w 2185988"/>
              <a:gd name="connsiteY12" fmla="*/ 176630 h 2231435"/>
              <a:gd name="connsiteX13" fmla="*/ 2177590 w 2185988"/>
              <a:gd name="connsiteY13" fmla="*/ 335200 h 2231435"/>
              <a:gd name="connsiteX14" fmla="*/ 2144457 w 2185988"/>
              <a:gd name="connsiteY14" fmla="*/ 514558 h 2231435"/>
              <a:gd name="connsiteX15" fmla="*/ 2101596 w 2185988"/>
              <a:gd name="connsiteY15" fmla="*/ 631674 h 2231435"/>
              <a:gd name="connsiteX16" fmla="*/ 2005780 w 2185988"/>
              <a:gd name="connsiteY16" fmla="*/ 737857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626471 w 2185988"/>
              <a:gd name="connsiteY9" fmla="*/ 69247 h 2231435"/>
              <a:gd name="connsiteX10" fmla="*/ 1832949 w 2185988"/>
              <a:gd name="connsiteY10" fmla="*/ 15537 h 2231435"/>
              <a:gd name="connsiteX11" fmla="*/ 1998663 w 2185988"/>
              <a:gd name="connsiteY11" fmla="*/ 44774 h 2231435"/>
              <a:gd name="connsiteX12" fmla="*/ 2104411 w 2185988"/>
              <a:gd name="connsiteY12" fmla="*/ 176630 h 2231435"/>
              <a:gd name="connsiteX13" fmla="*/ 2177590 w 2185988"/>
              <a:gd name="connsiteY13" fmla="*/ 335200 h 2231435"/>
              <a:gd name="connsiteX14" fmla="*/ 2144457 w 2185988"/>
              <a:gd name="connsiteY14" fmla="*/ 514558 h 2231435"/>
              <a:gd name="connsiteX15" fmla="*/ 2101596 w 2185988"/>
              <a:gd name="connsiteY15" fmla="*/ 631674 h 2231435"/>
              <a:gd name="connsiteX16" fmla="*/ 2005780 w 2185988"/>
              <a:gd name="connsiteY16" fmla="*/ 737857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632566 w 2185988"/>
              <a:gd name="connsiteY9" fmla="*/ 44566 h 2231435"/>
              <a:gd name="connsiteX10" fmla="*/ 1832949 w 2185988"/>
              <a:gd name="connsiteY10" fmla="*/ 15537 h 2231435"/>
              <a:gd name="connsiteX11" fmla="*/ 1998663 w 2185988"/>
              <a:gd name="connsiteY11" fmla="*/ 44774 h 2231435"/>
              <a:gd name="connsiteX12" fmla="*/ 2104411 w 2185988"/>
              <a:gd name="connsiteY12" fmla="*/ 176630 h 2231435"/>
              <a:gd name="connsiteX13" fmla="*/ 2177590 w 2185988"/>
              <a:gd name="connsiteY13" fmla="*/ 335200 h 2231435"/>
              <a:gd name="connsiteX14" fmla="*/ 2144457 w 2185988"/>
              <a:gd name="connsiteY14" fmla="*/ 514558 h 2231435"/>
              <a:gd name="connsiteX15" fmla="*/ 2101596 w 2185988"/>
              <a:gd name="connsiteY15" fmla="*/ 631674 h 2231435"/>
              <a:gd name="connsiteX16" fmla="*/ 2005780 w 2185988"/>
              <a:gd name="connsiteY16" fmla="*/ 737857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632566 w 2185988"/>
              <a:gd name="connsiteY9" fmla="*/ 44566 h 2231435"/>
              <a:gd name="connsiteX10" fmla="*/ 1832949 w 2185988"/>
              <a:gd name="connsiteY10" fmla="*/ 15537 h 2231435"/>
              <a:gd name="connsiteX11" fmla="*/ 1998663 w 2185988"/>
              <a:gd name="connsiteY11" fmla="*/ 44774 h 2231435"/>
              <a:gd name="connsiteX12" fmla="*/ 2104411 w 2185988"/>
              <a:gd name="connsiteY12" fmla="*/ 176630 h 2231435"/>
              <a:gd name="connsiteX13" fmla="*/ 2177590 w 2185988"/>
              <a:gd name="connsiteY13" fmla="*/ 335200 h 2231435"/>
              <a:gd name="connsiteX14" fmla="*/ 2144457 w 2185988"/>
              <a:gd name="connsiteY14" fmla="*/ 514558 h 2231435"/>
              <a:gd name="connsiteX15" fmla="*/ 2107691 w 2185988"/>
              <a:gd name="connsiteY15" fmla="*/ 650184 h 2231435"/>
              <a:gd name="connsiteX16" fmla="*/ 2005780 w 2185988"/>
              <a:gd name="connsiteY16" fmla="*/ 737857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632566 w 2185988"/>
              <a:gd name="connsiteY9" fmla="*/ 44566 h 2231435"/>
              <a:gd name="connsiteX10" fmla="*/ 1832949 w 2185988"/>
              <a:gd name="connsiteY10" fmla="*/ 15537 h 2231435"/>
              <a:gd name="connsiteX11" fmla="*/ 1998663 w 2185988"/>
              <a:gd name="connsiteY11" fmla="*/ 44774 h 2231435"/>
              <a:gd name="connsiteX12" fmla="*/ 2104411 w 2185988"/>
              <a:gd name="connsiteY12" fmla="*/ 176630 h 2231435"/>
              <a:gd name="connsiteX13" fmla="*/ 2177590 w 2185988"/>
              <a:gd name="connsiteY13" fmla="*/ 335200 h 2231435"/>
              <a:gd name="connsiteX14" fmla="*/ 2144457 w 2185988"/>
              <a:gd name="connsiteY14" fmla="*/ 514558 h 2231435"/>
              <a:gd name="connsiteX15" fmla="*/ 2095503 w 2185988"/>
              <a:gd name="connsiteY15" fmla="*/ 625503 h 2231435"/>
              <a:gd name="connsiteX16" fmla="*/ 2005780 w 2185988"/>
              <a:gd name="connsiteY16" fmla="*/ 737857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632566 w 2185988"/>
              <a:gd name="connsiteY9" fmla="*/ 44566 h 2231435"/>
              <a:gd name="connsiteX10" fmla="*/ 1832949 w 2185988"/>
              <a:gd name="connsiteY10" fmla="*/ 15537 h 2231435"/>
              <a:gd name="connsiteX11" fmla="*/ 1998663 w 2185988"/>
              <a:gd name="connsiteY11" fmla="*/ 44774 h 2231435"/>
              <a:gd name="connsiteX12" fmla="*/ 2104411 w 2185988"/>
              <a:gd name="connsiteY12" fmla="*/ 176630 h 2231435"/>
              <a:gd name="connsiteX13" fmla="*/ 2177590 w 2185988"/>
              <a:gd name="connsiteY13" fmla="*/ 335200 h 2231435"/>
              <a:gd name="connsiteX14" fmla="*/ 2168833 w 2185988"/>
              <a:gd name="connsiteY14" fmla="*/ 489877 h 2231435"/>
              <a:gd name="connsiteX15" fmla="*/ 2095503 w 2185988"/>
              <a:gd name="connsiteY15" fmla="*/ 625503 h 2231435"/>
              <a:gd name="connsiteX16" fmla="*/ 2005780 w 2185988"/>
              <a:gd name="connsiteY16" fmla="*/ 737857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608190 w 2185988"/>
              <a:gd name="connsiteY9" fmla="*/ 50735 h 2231435"/>
              <a:gd name="connsiteX10" fmla="*/ 1832949 w 2185988"/>
              <a:gd name="connsiteY10" fmla="*/ 15537 h 2231435"/>
              <a:gd name="connsiteX11" fmla="*/ 1998663 w 2185988"/>
              <a:gd name="connsiteY11" fmla="*/ 44774 h 2231435"/>
              <a:gd name="connsiteX12" fmla="*/ 2104411 w 2185988"/>
              <a:gd name="connsiteY12" fmla="*/ 176630 h 2231435"/>
              <a:gd name="connsiteX13" fmla="*/ 2177590 w 2185988"/>
              <a:gd name="connsiteY13" fmla="*/ 335200 h 2231435"/>
              <a:gd name="connsiteX14" fmla="*/ 2168833 w 2185988"/>
              <a:gd name="connsiteY14" fmla="*/ 489877 h 2231435"/>
              <a:gd name="connsiteX15" fmla="*/ 2095503 w 2185988"/>
              <a:gd name="connsiteY15" fmla="*/ 625503 h 2231435"/>
              <a:gd name="connsiteX16" fmla="*/ 2005780 w 2185988"/>
              <a:gd name="connsiteY16" fmla="*/ 737857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608190 w 2185988"/>
              <a:gd name="connsiteY9" fmla="*/ 50735 h 2231435"/>
              <a:gd name="connsiteX10" fmla="*/ 1832949 w 2185988"/>
              <a:gd name="connsiteY10" fmla="*/ 15537 h 2231435"/>
              <a:gd name="connsiteX11" fmla="*/ 1998663 w 2185988"/>
              <a:gd name="connsiteY11" fmla="*/ 44774 h 2231435"/>
              <a:gd name="connsiteX12" fmla="*/ 2104411 w 2185988"/>
              <a:gd name="connsiteY12" fmla="*/ 176630 h 2231435"/>
              <a:gd name="connsiteX13" fmla="*/ 2177590 w 2185988"/>
              <a:gd name="connsiteY13" fmla="*/ 335200 h 2231435"/>
              <a:gd name="connsiteX14" fmla="*/ 2168833 w 2185988"/>
              <a:gd name="connsiteY14" fmla="*/ 489877 h 2231435"/>
              <a:gd name="connsiteX15" fmla="*/ 2095503 w 2185988"/>
              <a:gd name="connsiteY15" fmla="*/ 625503 h 2231435"/>
              <a:gd name="connsiteX16" fmla="*/ 2005780 w 2185988"/>
              <a:gd name="connsiteY16" fmla="*/ 737857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608190 w 2185988"/>
              <a:gd name="connsiteY9" fmla="*/ 50735 h 2231435"/>
              <a:gd name="connsiteX10" fmla="*/ 1832949 w 2185988"/>
              <a:gd name="connsiteY10" fmla="*/ 15537 h 2231435"/>
              <a:gd name="connsiteX11" fmla="*/ 1998663 w 2185988"/>
              <a:gd name="connsiteY11" fmla="*/ 44774 h 2231435"/>
              <a:gd name="connsiteX12" fmla="*/ 2104411 w 2185988"/>
              <a:gd name="connsiteY12" fmla="*/ 176630 h 2231435"/>
              <a:gd name="connsiteX13" fmla="*/ 2177590 w 2185988"/>
              <a:gd name="connsiteY13" fmla="*/ 335200 h 2231435"/>
              <a:gd name="connsiteX14" fmla="*/ 2168833 w 2185988"/>
              <a:gd name="connsiteY14" fmla="*/ 489877 h 2231435"/>
              <a:gd name="connsiteX15" fmla="*/ 2095503 w 2185988"/>
              <a:gd name="connsiteY15" fmla="*/ 625503 h 2231435"/>
              <a:gd name="connsiteX16" fmla="*/ 2005780 w 2185988"/>
              <a:gd name="connsiteY16" fmla="*/ 737857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608190 w 2185988"/>
              <a:gd name="connsiteY9" fmla="*/ 50735 h 2231435"/>
              <a:gd name="connsiteX10" fmla="*/ 1832949 w 2185988"/>
              <a:gd name="connsiteY10" fmla="*/ 15537 h 2231435"/>
              <a:gd name="connsiteX11" fmla="*/ 1998663 w 2185988"/>
              <a:gd name="connsiteY11" fmla="*/ 44774 h 2231435"/>
              <a:gd name="connsiteX12" fmla="*/ 2104411 w 2185988"/>
              <a:gd name="connsiteY12" fmla="*/ 145777 h 2231435"/>
              <a:gd name="connsiteX13" fmla="*/ 2177590 w 2185988"/>
              <a:gd name="connsiteY13" fmla="*/ 335200 h 2231435"/>
              <a:gd name="connsiteX14" fmla="*/ 2168833 w 2185988"/>
              <a:gd name="connsiteY14" fmla="*/ 489877 h 2231435"/>
              <a:gd name="connsiteX15" fmla="*/ 2095503 w 2185988"/>
              <a:gd name="connsiteY15" fmla="*/ 625503 h 2231435"/>
              <a:gd name="connsiteX16" fmla="*/ 2005780 w 2185988"/>
              <a:gd name="connsiteY16" fmla="*/ 737857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06753"/>
              <a:gd name="connsiteX1" fmla="*/ 157163 w 2185988"/>
              <a:gd name="connsiteY1" fmla="*/ 185737 h 2206753"/>
              <a:gd name="connsiteX2" fmla="*/ 333375 w 2185988"/>
              <a:gd name="connsiteY2" fmla="*/ 95250 h 2206753"/>
              <a:gd name="connsiteX3" fmla="*/ 495300 w 2185988"/>
              <a:gd name="connsiteY3" fmla="*/ 33337 h 2206753"/>
              <a:gd name="connsiteX4" fmla="*/ 690563 w 2185988"/>
              <a:gd name="connsiteY4" fmla="*/ 0 h 2206753"/>
              <a:gd name="connsiteX5" fmla="*/ 871538 w 2185988"/>
              <a:gd name="connsiteY5" fmla="*/ 4762 h 2206753"/>
              <a:gd name="connsiteX6" fmla="*/ 1066800 w 2185988"/>
              <a:gd name="connsiteY6" fmla="*/ 28575 h 2206753"/>
              <a:gd name="connsiteX7" fmla="*/ 1276350 w 2185988"/>
              <a:gd name="connsiteY7" fmla="*/ 104775 h 2206753"/>
              <a:gd name="connsiteX8" fmla="*/ 1428750 w 2185988"/>
              <a:gd name="connsiteY8" fmla="*/ 171450 h 2206753"/>
              <a:gd name="connsiteX9" fmla="*/ 1608190 w 2185988"/>
              <a:gd name="connsiteY9" fmla="*/ 50735 h 2206753"/>
              <a:gd name="connsiteX10" fmla="*/ 1832949 w 2185988"/>
              <a:gd name="connsiteY10" fmla="*/ 15537 h 2206753"/>
              <a:gd name="connsiteX11" fmla="*/ 1998663 w 2185988"/>
              <a:gd name="connsiteY11" fmla="*/ 44774 h 2206753"/>
              <a:gd name="connsiteX12" fmla="*/ 2104411 w 2185988"/>
              <a:gd name="connsiteY12" fmla="*/ 145777 h 2206753"/>
              <a:gd name="connsiteX13" fmla="*/ 2177590 w 2185988"/>
              <a:gd name="connsiteY13" fmla="*/ 335200 h 2206753"/>
              <a:gd name="connsiteX14" fmla="*/ 2168833 w 2185988"/>
              <a:gd name="connsiteY14" fmla="*/ 489877 h 2206753"/>
              <a:gd name="connsiteX15" fmla="*/ 2095503 w 2185988"/>
              <a:gd name="connsiteY15" fmla="*/ 625503 h 2206753"/>
              <a:gd name="connsiteX16" fmla="*/ 2005780 w 2185988"/>
              <a:gd name="connsiteY16" fmla="*/ 737857 h 2206753"/>
              <a:gd name="connsiteX17" fmla="*/ 2105025 w 2185988"/>
              <a:gd name="connsiteY17" fmla="*/ 962025 h 2206753"/>
              <a:gd name="connsiteX18" fmla="*/ 2176463 w 2185988"/>
              <a:gd name="connsiteY18" fmla="*/ 1214437 h 2206753"/>
              <a:gd name="connsiteX19" fmla="*/ 2185988 w 2185988"/>
              <a:gd name="connsiteY19" fmla="*/ 1428750 h 2206753"/>
              <a:gd name="connsiteX20" fmla="*/ 2171700 w 2185988"/>
              <a:gd name="connsiteY20" fmla="*/ 1609725 h 2206753"/>
              <a:gd name="connsiteX21" fmla="*/ 2124075 w 2185988"/>
              <a:gd name="connsiteY21" fmla="*/ 1804987 h 2206753"/>
              <a:gd name="connsiteX22" fmla="*/ 2038350 w 2185988"/>
              <a:gd name="connsiteY22" fmla="*/ 1981200 h 2206753"/>
              <a:gd name="connsiteX23" fmla="*/ 1957388 w 2185988"/>
              <a:gd name="connsiteY23" fmla="*/ 2100262 h 2206753"/>
              <a:gd name="connsiteX24" fmla="*/ 1881757 w 2185988"/>
              <a:gd name="connsiteY24" fmla="*/ 2206753 h 2206753"/>
              <a:gd name="connsiteX0" fmla="*/ 0 w 2185988"/>
              <a:gd name="connsiteY0" fmla="*/ 314325 h 2206753"/>
              <a:gd name="connsiteX1" fmla="*/ 157163 w 2185988"/>
              <a:gd name="connsiteY1" fmla="*/ 185737 h 2206753"/>
              <a:gd name="connsiteX2" fmla="*/ 333375 w 2185988"/>
              <a:gd name="connsiteY2" fmla="*/ 95250 h 2206753"/>
              <a:gd name="connsiteX3" fmla="*/ 495300 w 2185988"/>
              <a:gd name="connsiteY3" fmla="*/ 33337 h 2206753"/>
              <a:gd name="connsiteX4" fmla="*/ 690563 w 2185988"/>
              <a:gd name="connsiteY4" fmla="*/ 0 h 2206753"/>
              <a:gd name="connsiteX5" fmla="*/ 871538 w 2185988"/>
              <a:gd name="connsiteY5" fmla="*/ 4762 h 2206753"/>
              <a:gd name="connsiteX6" fmla="*/ 1066800 w 2185988"/>
              <a:gd name="connsiteY6" fmla="*/ 28575 h 2206753"/>
              <a:gd name="connsiteX7" fmla="*/ 1276350 w 2185988"/>
              <a:gd name="connsiteY7" fmla="*/ 104775 h 2206753"/>
              <a:gd name="connsiteX8" fmla="*/ 1428750 w 2185988"/>
              <a:gd name="connsiteY8" fmla="*/ 171450 h 2206753"/>
              <a:gd name="connsiteX9" fmla="*/ 1608190 w 2185988"/>
              <a:gd name="connsiteY9" fmla="*/ 50735 h 2206753"/>
              <a:gd name="connsiteX10" fmla="*/ 1725998 w 2185988"/>
              <a:gd name="connsiteY10" fmla="*/ 16732 h 2206753"/>
              <a:gd name="connsiteX11" fmla="*/ 1832949 w 2185988"/>
              <a:gd name="connsiteY11" fmla="*/ 15537 h 2206753"/>
              <a:gd name="connsiteX12" fmla="*/ 1998663 w 2185988"/>
              <a:gd name="connsiteY12" fmla="*/ 44774 h 2206753"/>
              <a:gd name="connsiteX13" fmla="*/ 2104411 w 2185988"/>
              <a:gd name="connsiteY13" fmla="*/ 145777 h 2206753"/>
              <a:gd name="connsiteX14" fmla="*/ 2177590 w 2185988"/>
              <a:gd name="connsiteY14" fmla="*/ 335200 h 2206753"/>
              <a:gd name="connsiteX15" fmla="*/ 2168833 w 2185988"/>
              <a:gd name="connsiteY15" fmla="*/ 489877 h 2206753"/>
              <a:gd name="connsiteX16" fmla="*/ 2095503 w 2185988"/>
              <a:gd name="connsiteY16" fmla="*/ 625503 h 2206753"/>
              <a:gd name="connsiteX17" fmla="*/ 2005780 w 2185988"/>
              <a:gd name="connsiteY17" fmla="*/ 737857 h 2206753"/>
              <a:gd name="connsiteX18" fmla="*/ 2105025 w 2185988"/>
              <a:gd name="connsiteY18" fmla="*/ 962025 h 2206753"/>
              <a:gd name="connsiteX19" fmla="*/ 2176463 w 2185988"/>
              <a:gd name="connsiteY19" fmla="*/ 1214437 h 2206753"/>
              <a:gd name="connsiteX20" fmla="*/ 2185988 w 2185988"/>
              <a:gd name="connsiteY20" fmla="*/ 1428750 h 2206753"/>
              <a:gd name="connsiteX21" fmla="*/ 2171700 w 2185988"/>
              <a:gd name="connsiteY21" fmla="*/ 1609725 h 2206753"/>
              <a:gd name="connsiteX22" fmla="*/ 2124075 w 2185988"/>
              <a:gd name="connsiteY22" fmla="*/ 1804987 h 2206753"/>
              <a:gd name="connsiteX23" fmla="*/ 2038350 w 2185988"/>
              <a:gd name="connsiteY23" fmla="*/ 1981200 h 2206753"/>
              <a:gd name="connsiteX24" fmla="*/ 1957388 w 2185988"/>
              <a:gd name="connsiteY24" fmla="*/ 2100262 h 2206753"/>
              <a:gd name="connsiteX25" fmla="*/ 1881757 w 2185988"/>
              <a:gd name="connsiteY25" fmla="*/ 2206753 h 2206753"/>
              <a:gd name="connsiteX0" fmla="*/ 0 w 2185988"/>
              <a:gd name="connsiteY0" fmla="*/ 314325 h 2206753"/>
              <a:gd name="connsiteX1" fmla="*/ 157163 w 2185988"/>
              <a:gd name="connsiteY1" fmla="*/ 185737 h 2206753"/>
              <a:gd name="connsiteX2" fmla="*/ 333375 w 2185988"/>
              <a:gd name="connsiteY2" fmla="*/ 95250 h 2206753"/>
              <a:gd name="connsiteX3" fmla="*/ 495300 w 2185988"/>
              <a:gd name="connsiteY3" fmla="*/ 33337 h 2206753"/>
              <a:gd name="connsiteX4" fmla="*/ 690563 w 2185988"/>
              <a:gd name="connsiteY4" fmla="*/ 0 h 2206753"/>
              <a:gd name="connsiteX5" fmla="*/ 871538 w 2185988"/>
              <a:gd name="connsiteY5" fmla="*/ 4762 h 2206753"/>
              <a:gd name="connsiteX6" fmla="*/ 1066800 w 2185988"/>
              <a:gd name="connsiteY6" fmla="*/ 28575 h 2206753"/>
              <a:gd name="connsiteX7" fmla="*/ 1276350 w 2185988"/>
              <a:gd name="connsiteY7" fmla="*/ 104775 h 2206753"/>
              <a:gd name="connsiteX8" fmla="*/ 1428750 w 2185988"/>
              <a:gd name="connsiteY8" fmla="*/ 171450 h 2206753"/>
              <a:gd name="connsiteX9" fmla="*/ 1512708 w 2185988"/>
              <a:gd name="connsiteY9" fmla="*/ 109288 h 2206753"/>
              <a:gd name="connsiteX10" fmla="*/ 1608190 w 2185988"/>
              <a:gd name="connsiteY10" fmla="*/ 50735 h 2206753"/>
              <a:gd name="connsiteX11" fmla="*/ 1725998 w 2185988"/>
              <a:gd name="connsiteY11" fmla="*/ 16732 h 2206753"/>
              <a:gd name="connsiteX12" fmla="*/ 1832949 w 2185988"/>
              <a:gd name="connsiteY12" fmla="*/ 15537 h 2206753"/>
              <a:gd name="connsiteX13" fmla="*/ 1998663 w 2185988"/>
              <a:gd name="connsiteY13" fmla="*/ 44774 h 2206753"/>
              <a:gd name="connsiteX14" fmla="*/ 2104411 w 2185988"/>
              <a:gd name="connsiteY14" fmla="*/ 145777 h 2206753"/>
              <a:gd name="connsiteX15" fmla="*/ 2177590 w 2185988"/>
              <a:gd name="connsiteY15" fmla="*/ 335200 h 2206753"/>
              <a:gd name="connsiteX16" fmla="*/ 2168833 w 2185988"/>
              <a:gd name="connsiteY16" fmla="*/ 489877 h 2206753"/>
              <a:gd name="connsiteX17" fmla="*/ 2095503 w 2185988"/>
              <a:gd name="connsiteY17" fmla="*/ 625503 h 2206753"/>
              <a:gd name="connsiteX18" fmla="*/ 2005780 w 2185988"/>
              <a:gd name="connsiteY18" fmla="*/ 737857 h 2206753"/>
              <a:gd name="connsiteX19" fmla="*/ 2105025 w 2185988"/>
              <a:gd name="connsiteY19" fmla="*/ 962025 h 2206753"/>
              <a:gd name="connsiteX20" fmla="*/ 2176463 w 2185988"/>
              <a:gd name="connsiteY20" fmla="*/ 1214437 h 2206753"/>
              <a:gd name="connsiteX21" fmla="*/ 2185988 w 2185988"/>
              <a:gd name="connsiteY21" fmla="*/ 1428750 h 2206753"/>
              <a:gd name="connsiteX22" fmla="*/ 2171700 w 2185988"/>
              <a:gd name="connsiteY22" fmla="*/ 1609725 h 2206753"/>
              <a:gd name="connsiteX23" fmla="*/ 2124075 w 2185988"/>
              <a:gd name="connsiteY23" fmla="*/ 1804987 h 2206753"/>
              <a:gd name="connsiteX24" fmla="*/ 2038350 w 2185988"/>
              <a:gd name="connsiteY24" fmla="*/ 1981200 h 2206753"/>
              <a:gd name="connsiteX25" fmla="*/ 1957388 w 2185988"/>
              <a:gd name="connsiteY25" fmla="*/ 2100262 h 2206753"/>
              <a:gd name="connsiteX26" fmla="*/ 1881757 w 2185988"/>
              <a:gd name="connsiteY26" fmla="*/ 2206753 h 2206753"/>
              <a:gd name="connsiteX0" fmla="*/ 0 w 2185988"/>
              <a:gd name="connsiteY0" fmla="*/ 314325 h 2206753"/>
              <a:gd name="connsiteX1" fmla="*/ 157163 w 2185988"/>
              <a:gd name="connsiteY1" fmla="*/ 185737 h 2206753"/>
              <a:gd name="connsiteX2" fmla="*/ 333375 w 2185988"/>
              <a:gd name="connsiteY2" fmla="*/ 95250 h 2206753"/>
              <a:gd name="connsiteX3" fmla="*/ 495300 w 2185988"/>
              <a:gd name="connsiteY3" fmla="*/ 33337 h 2206753"/>
              <a:gd name="connsiteX4" fmla="*/ 690563 w 2185988"/>
              <a:gd name="connsiteY4" fmla="*/ 0 h 2206753"/>
              <a:gd name="connsiteX5" fmla="*/ 871538 w 2185988"/>
              <a:gd name="connsiteY5" fmla="*/ 4762 h 2206753"/>
              <a:gd name="connsiteX6" fmla="*/ 1066800 w 2185988"/>
              <a:gd name="connsiteY6" fmla="*/ 28575 h 2206753"/>
              <a:gd name="connsiteX7" fmla="*/ 1276350 w 2185988"/>
              <a:gd name="connsiteY7" fmla="*/ 104775 h 2206753"/>
              <a:gd name="connsiteX8" fmla="*/ 1428750 w 2185988"/>
              <a:gd name="connsiteY8" fmla="*/ 171450 h 2206753"/>
              <a:gd name="connsiteX9" fmla="*/ 1512708 w 2185988"/>
              <a:gd name="connsiteY9" fmla="*/ 109288 h 2206753"/>
              <a:gd name="connsiteX10" fmla="*/ 1608190 w 2185988"/>
              <a:gd name="connsiteY10" fmla="*/ 50735 h 2206753"/>
              <a:gd name="connsiteX11" fmla="*/ 1725998 w 2185988"/>
              <a:gd name="connsiteY11" fmla="*/ 16732 h 2206753"/>
              <a:gd name="connsiteX12" fmla="*/ 1832949 w 2185988"/>
              <a:gd name="connsiteY12" fmla="*/ 15537 h 2206753"/>
              <a:gd name="connsiteX13" fmla="*/ 1921006 w 2185988"/>
              <a:gd name="connsiteY13" fmla="*/ 25988 h 2206753"/>
              <a:gd name="connsiteX14" fmla="*/ 1998663 w 2185988"/>
              <a:gd name="connsiteY14" fmla="*/ 44774 h 2206753"/>
              <a:gd name="connsiteX15" fmla="*/ 2104411 w 2185988"/>
              <a:gd name="connsiteY15" fmla="*/ 145777 h 2206753"/>
              <a:gd name="connsiteX16" fmla="*/ 2177590 w 2185988"/>
              <a:gd name="connsiteY16" fmla="*/ 335200 h 2206753"/>
              <a:gd name="connsiteX17" fmla="*/ 2168833 w 2185988"/>
              <a:gd name="connsiteY17" fmla="*/ 489877 h 2206753"/>
              <a:gd name="connsiteX18" fmla="*/ 2095503 w 2185988"/>
              <a:gd name="connsiteY18" fmla="*/ 625503 h 2206753"/>
              <a:gd name="connsiteX19" fmla="*/ 2005780 w 2185988"/>
              <a:gd name="connsiteY19" fmla="*/ 737857 h 2206753"/>
              <a:gd name="connsiteX20" fmla="*/ 2105025 w 2185988"/>
              <a:gd name="connsiteY20" fmla="*/ 962025 h 2206753"/>
              <a:gd name="connsiteX21" fmla="*/ 2176463 w 2185988"/>
              <a:gd name="connsiteY21" fmla="*/ 1214437 h 2206753"/>
              <a:gd name="connsiteX22" fmla="*/ 2185988 w 2185988"/>
              <a:gd name="connsiteY22" fmla="*/ 1428750 h 2206753"/>
              <a:gd name="connsiteX23" fmla="*/ 2171700 w 2185988"/>
              <a:gd name="connsiteY23" fmla="*/ 1609725 h 2206753"/>
              <a:gd name="connsiteX24" fmla="*/ 2124075 w 2185988"/>
              <a:gd name="connsiteY24" fmla="*/ 1804987 h 2206753"/>
              <a:gd name="connsiteX25" fmla="*/ 2038350 w 2185988"/>
              <a:gd name="connsiteY25" fmla="*/ 1981200 h 2206753"/>
              <a:gd name="connsiteX26" fmla="*/ 1957388 w 2185988"/>
              <a:gd name="connsiteY26" fmla="*/ 2100262 h 2206753"/>
              <a:gd name="connsiteX27" fmla="*/ 1881757 w 2185988"/>
              <a:gd name="connsiteY27" fmla="*/ 2206753 h 2206753"/>
              <a:gd name="connsiteX0" fmla="*/ 0 w 2185988"/>
              <a:gd name="connsiteY0" fmla="*/ 314325 h 2206753"/>
              <a:gd name="connsiteX1" fmla="*/ 157163 w 2185988"/>
              <a:gd name="connsiteY1" fmla="*/ 185737 h 2206753"/>
              <a:gd name="connsiteX2" fmla="*/ 333375 w 2185988"/>
              <a:gd name="connsiteY2" fmla="*/ 95250 h 2206753"/>
              <a:gd name="connsiteX3" fmla="*/ 495300 w 2185988"/>
              <a:gd name="connsiteY3" fmla="*/ 33337 h 2206753"/>
              <a:gd name="connsiteX4" fmla="*/ 690563 w 2185988"/>
              <a:gd name="connsiteY4" fmla="*/ 0 h 2206753"/>
              <a:gd name="connsiteX5" fmla="*/ 871538 w 2185988"/>
              <a:gd name="connsiteY5" fmla="*/ 4762 h 2206753"/>
              <a:gd name="connsiteX6" fmla="*/ 1066800 w 2185988"/>
              <a:gd name="connsiteY6" fmla="*/ 28575 h 2206753"/>
              <a:gd name="connsiteX7" fmla="*/ 1276350 w 2185988"/>
              <a:gd name="connsiteY7" fmla="*/ 104775 h 2206753"/>
              <a:gd name="connsiteX8" fmla="*/ 1428750 w 2185988"/>
              <a:gd name="connsiteY8" fmla="*/ 171450 h 2206753"/>
              <a:gd name="connsiteX9" fmla="*/ 1512708 w 2185988"/>
              <a:gd name="connsiteY9" fmla="*/ 109288 h 2206753"/>
              <a:gd name="connsiteX10" fmla="*/ 1608190 w 2185988"/>
              <a:gd name="connsiteY10" fmla="*/ 50735 h 2206753"/>
              <a:gd name="connsiteX11" fmla="*/ 1725998 w 2185988"/>
              <a:gd name="connsiteY11" fmla="*/ 16732 h 2206753"/>
              <a:gd name="connsiteX12" fmla="*/ 1832949 w 2185988"/>
              <a:gd name="connsiteY12" fmla="*/ 15537 h 2206753"/>
              <a:gd name="connsiteX13" fmla="*/ 1921006 w 2185988"/>
              <a:gd name="connsiteY13" fmla="*/ 25988 h 2206753"/>
              <a:gd name="connsiteX14" fmla="*/ 1998663 w 2185988"/>
              <a:gd name="connsiteY14" fmla="*/ 44774 h 2206753"/>
              <a:gd name="connsiteX15" fmla="*/ 2052027 w 2185988"/>
              <a:gd name="connsiteY15" fmla="*/ 84607 h 2206753"/>
              <a:gd name="connsiteX16" fmla="*/ 2104411 w 2185988"/>
              <a:gd name="connsiteY16" fmla="*/ 145777 h 2206753"/>
              <a:gd name="connsiteX17" fmla="*/ 2177590 w 2185988"/>
              <a:gd name="connsiteY17" fmla="*/ 335200 h 2206753"/>
              <a:gd name="connsiteX18" fmla="*/ 2168833 w 2185988"/>
              <a:gd name="connsiteY18" fmla="*/ 489877 h 2206753"/>
              <a:gd name="connsiteX19" fmla="*/ 2095503 w 2185988"/>
              <a:gd name="connsiteY19" fmla="*/ 625503 h 2206753"/>
              <a:gd name="connsiteX20" fmla="*/ 2005780 w 2185988"/>
              <a:gd name="connsiteY20" fmla="*/ 737857 h 2206753"/>
              <a:gd name="connsiteX21" fmla="*/ 2105025 w 2185988"/>
              <a:gd name="connsiteY21" fmla="*/ 962025 h 2206753"/>
              <a:gd name="connsiteX22" fmla="*/ 2176463 w 2185988"/>
              <a:gd name="connsiteY22" fmla="*/ 1214437 h 2206753"/>
              <a:gd name="connsiteX23" fmla="*/ 2185988 w 2185988"/>
              <a:gd name="connsiteY23" fmla="*/ 1428750 h 2206753"/>
              <a:gd name="connsiteX24" fmla="*/ 2171700 w 2185988"/>
              <a:gd name="connsiteY24" fmla="*/ 1609725 h 2206753"/>
              <a:gd name="connsiteX25" fmla="*/ 2124075 w 2185988"/>
              <a:gd name="connsiteY25" fmla="*/ 1804987 h 2206753"/>
              <a:gd name="connsiteX26" fmla="*/ 2038350 w 2185988"/>
              <a:gd name="connsiteY26" fmla="*/ 1981200 h 2206753"/>
              <a:gd name="connsiteX27" fmla="*/ 1957388 w 2185988"/>
              <a:gd name="connsiteY27" fmla="*/ 2100262 h 2206753"/>
              <a:gd name="connsiteX28" fmla="*/ 1881757 w 2185988"/>
              <a:gd name="connsiteY28" fmla="*/ 2206753 h 2206753"/>
              <a:gd name="connsiteX0" fmla="*/ 0 w 2185988"/>
              <a:gd name="connsiteY0" fmla="*/ 314325 h 2206753"/>
              <a:gd name="connsiteX1" fmla="*/ 157163 w 2185988"/>
              <a:gd name="connsiteY1" fmla="*/ 185737 h 2206753"/>
              <a:gd name="connsiteX2" fmla="*/ 333375 w 2185988"/>
              <a:gd name="connsiteY2" fmla="*/ 95250 h 2206753"/>
              <a:gd name="connsiteX3" fmla="*/ 495300 w 2185988"/>
              <a:gd name="connsiteY3" fmla="*/ 33337 h 2206753"/>
              <a:gd name="connsiteX4" fmla="*/ 690563 w 2185988"/>
              <a:gd name="connsiteY4" fmla="*/ 0 h 2206753"/>
              <a:gd name="connsiteX5" fmla="*/ 871538 w 2185988"/>
              <a:gd name="connsiteY5" fmla="*/ 4762 h 2206753"/>
              <a:gd name="connsiteX6" fmla="*/ 1066800 w 2185988"/>
              <a:gd name="connsiteY6" fmla="*/ 28575 h 2206753"/>
              <a:gd name="connsiteX7" fmla="*/ 1276350 w 2185988"/>
              <a:gd name="connsiteY7" fmla="*/ 104775 h 2206753"/>
              <a:gd name="connsiteX8" fmla="*/ 1428750 w 2185988"/>
              <a:gd name="connsiteY8" fmla="*/ 171450 h 2206753"/>
              <a:gd name="connsiteX9" fmla="*/ 1512708 w 2185988"/>
              <a:gd name="connsiteY9" fmla="*/ 109288 h 2206753"/>
              <a:gd name="connsiteX10" fmla="*/ 1608190 w 2185988"/>
              <a:gd name="connsiteY10" fmla="*/ 50735 h 2206753"/>
              <a:gd name="connsiteX11" fmla="*/ 1725998 w 2185988"/>
              <a:gd name="connsiteY11" fmla="*/ 16732 h 2206753"/>
              <a:gd name="connsiteX12" fmla="*/ 1832949 w 2185988"/>
              <a:gd name="connsiteY12" fmla="*/ 15537 h 2206753"/>
              <a:gd name="connsiteX13" fmla="*/ 1921006 w 2185988"/>
              <a:gd name="connsiteY13" fmla="*/ 25988 h 2206753"/>
              <a:gd name="connsiteX14" fmla="*/ 1998663 w 2185988"/>
              <a:gd name="connsiteY14" fmla="*/ 44774 h 2206753"/>
              <a:gd name="connsiteX15" fmla="*/ 2052027 w 2185988"/>
              <a:gd name="connsiteY15" fmla="*/ 84607 h 2206753"/>
              <a:gd name="connsiteX16" fmla="*/ 2104411 w 2185988"/>
              <a:gd name="connsiteY16" fmla="*/ 145777 h 2206753"/>
              <a:gd name="connsiteX17" fmla="*/ 2158670 w 2185988"/>
              <a:gd name="connsiteY17" fmla="*/ 235781 h 2206753"/>
              <a:gd name="connsiteX18" fmla="*/ 2177590 w 2185988"/>
              <a:gd name="connsiteY18" fmla="*/ 335200 h 2206753"/>
              <a:gd name="connsiteX19" fmla="*/ 2168833 w 2185988"/>
              <a:gd name="connsiteY19" fmla="*/ 489877 h 2206753"/>
              <a:gd name="connsiteX20" fmla="*/ 2095503 w 2185988"/>
              <a:gd name="connsiteY20" fmla="*/ 625503 h 2206753"/>
              <a:gd name="connsiteX21" fmla="*/ 2005780 w 2185988"/>
              <a:gd name="connsiteY21" fmla="*/ 737857 h 2206753"/>
              <a:gd name="connsiteX22" fmla="*/ 2105025 w 2185988"/>
              <a:gd name="connsiteY22" fmla="*/ 962025 h 2206753"/>
              <a:gd name="connsiteX23" fmla="*/ 2176463 w 2185988"/>
              <a:gd name="connsiteY23" fmla="*/ 1214437 h 2206753"/>
              <a:gd name="connsiteX24" fmla="*/ 2185988 w 2185988"/>
              <a:gd name="connsiteY24" fmla="*/ 1428750 h 2206753"/>
              <a:gd name="connsiteX25" fmla="*/ 2171700 w 2185988"/>
              <a:gd name="connsiteY25" fmla="*/ 1609725 h 2206753"/>
              <a:gd name="connsiteX26" fmla="*/ 2124075 w 2185988"/>
              <a:gd name="connsiteY26" fmla="*/ 1804987 h 2206753"/>
              <a:gd name="connsiteX27" fmla="*/ 2038350 w 2185988"/>
              <a:gd name="connsiteY27" fmla="*/ 1981200 h 2206753"/>
              <a:gd name="connsiteX28" fmla="*/ 1957388 w 2185988"/>
              <a:gd name="connsiteY28" fmla="*/ 2100262 h 2206753"/>
              <a:gd name="connsiteX29" fmla="*/ 1881757 w 2185988"/>
              <a:gd name="connsiteY29" fmla="*/ 2206753 h 2206753"/>
              <a:gd name="connsiteX0" fmla="*/ 0 w 2185988"/>
              <a:gd name="connsiteY0" fmla="*/ 314325 h 2206753"/>
              <a:gd name="connsiteX1" fmla="*/ 157163 w 2185988"/>
              <a:gd name="connsiteY1" fmla="*/ 185737 h 2206753"/>
              <a:gd name="connsiteX2" fmla="*/ 333375 w 2185988"/>
              <a:gd name="connsiteY2" fmla="*/ 95250 h 2206753"/>
              <a:gd name="connsiteX3" fmla="*/ 495300 w 2185988"/>
              <a:gd name="connsiteY3" fmla="*/ 33337 h 2206753"/>
              <a:gd name="connsiteX4" fmla="*/ 690563 w 2185988"/>
              <a:gd name="connsiteY4" fmla="*/ 0 h 2206753"/>
              <a:gd name="connsiteX5" fmla="*/ 871538 w 2185988"/>
              <a:gd name="connsiteY5" fmla="*/ 4762 h 2206753"/>
              <a:gd name="connsiteX6" fmla="*/ 1066800 w 2185988"/>
              <a:gd name="connsiteY6" fmla="*/ 28575 h 2206753"/>
              <a:gd name="connsiteX7" fmla="*/ 1276350 w 2185988"/>
              <a:gd name="connsiteY7" fmla="*/ 104775 h 2206753"/>
              <a:gd name="connsiteX8" fmla="*/ 1428750 w 2185988"/>
              <a:gd name="connsiteY8" fmla="*/ 171450 h 2206753"/>
              <a:gd name="connsiteX9" fmla="*/ 1512708 w 2185988"/>
              <a:gd name="connsiteY9" fmla="*/ 109288 h 2206753"/>
              <a:gd name="connsiteX10" fmla="*/ 1608190 w 2185988"/>
              <a:gd name="connsiteY10" fmla="*/ 50735 h 2206753"/>
              <a:gd name="connsiteX11" fmla="*/ 1725998 w 2185988"/>
              <a:gd name="connsiteY11" fmla="*/ 16732 h 2206753"/>
              <a:gd name="connsiteX12" fmla="*/ 1832949 w 2185988"/>
              <a:gd name="connsiteY12" fmla="*/ 15537 h 2206753"/>
              <a:gd name="connsiteX13" fmla="*/ 1921006 w 2185988"/>
              <a:gd name="connsiteY13" fmla="*/ 25988 h 2206753"/>
              <a:gd name="connsiteX14" fmla="*/ 1998663 w 2185988"/>
              <a:gd name="connsiteY14" fmla="*/ 44774 h 2206753"/>
              <a:gd name="connsiteX15" fmla="*/ 2052027 w 2185988"/>
              <a:gd name="connsiteY15" fmla="*/ 84607 h 2206753"/>
              <a:gd name="connsiteX16" fmla="*/ 2104411 w 2185988"/>
              <a:gd name="connsiteY16" fmla="*/ 145777 h 2206753"/>
              <a:gd name="connsiteX17" fmla="*/ 2158670 w 2185988"/>
              <a:gd name="connsiteY17" fmla="*/ 235781 h 2206753"/>
              <a:gd name="connsiteX18" fmla="*/ 2177590 w 2185988"/>
              <a:gd name="connsiteY18" fmla="*/ 335200 h 2206753"/>
              <a:gd name="connsiteX19" fmla="*/ 2176953 w 2185988"/>
              <a:gd name="connsiteY19" fmla="*/ 405468 h 2206753"/>
              <a:gd name="connsiteX20" fmla="*/ 2168833 w 2185988"/>
              <a:gd name="connsiteY20" fmla="*/ 489877 h 2206753"/>
              <a:gd name="connsiteX21" fmla="*/ 2095503 w 2185988"/>
              <a:gd name="connsiteY21" fmla="*/ 625503 h 2206753"/>
              <a:gd name="connsiteX22" fmla="*/ 2005780 w 2185988"/>
              <a:gd name="connsiteY22" fmla="*/ 737857 h 2206753"/>
              <a:gd name="connsiteX23" fmla="*/ 2105025 w 2185988"/>
              <a:gd name="connsiteY23" fmla="*/ 962025 h 2206753"/>
              <a:gd name="connsiteX24" fmla="*/ 2176463 w 2185988"/>
              <a:gd name="connsiteY24" fmla="*/ 1214437 h 2206753"/>
              <a:gd name="connsiteX25" fmla="*/ 2185988 w 2185988"/>
              <a:gd name="connsiteY25" fmla="*/ 1428750 h 2206753"/>
              <a:gd name="connsiteX26" fmla="*/ 2171700 w 2185988"/>
              <a:gd name="connsiteY26" fmla="*/ 1609725 h 2206753"/>
              <a:gd name="connsiteX27" fmla="*/ 2124075 w 2185988"/>
              <a:gd name="connsiteY27" fmla="*/ 1804987 h 2206753"/>
              <a:gd name="connsiteX28" fmla="*/ 2038350 w 2185988"/>
              <a:gd name="connsiteY28" fmla="*/ 1981200 h 2206753"/>
              <a:gd name="connsiteX29" fmla="*/ 1957388 w 2185988"/>
              <a:gd name="connsiteY29" fmla="*/ 2100262 h 2206753"/>
              <a:gd name="connsiteX30" fmla="*/ 1881757 w 2185988"/>
              <a:gd name="connsiteY30" fmla="*/ 2206753 h 2206753"/>
              <a:gd name="connsiteX0" fmla="*/ 0 w 2185988"/>
              <a:gd name="connsiteY0" fmla="*/ 314325 h 2206753"/>
              <a:gd name="connsiteX1" fmla="*/ 157163 w 2185988"/>
              <a:gd name="connsiteY1" fmla="*/ 185737 h 2206753"/>
              <a:gd name="connsiteX2" fmla="*/ 333375 w 2185988"/>
              <a:gd name="connsiteY2" fmla="*/ 95250 h 2206753"/>
              <a:gd name="connsiteX3" fmla="*/ 495300 w 2185988"/>
              <a:gd name="connsiteY3" fmla="*/ 33337 h 2206753"/>
              <a:gd name="connsiteX4" fmla="*/ 690563 w 2185988"/>
              <a:gd name="connsiteY4" fmla="*/ 0 h 2206753"/>
              <a:gd name="connsiteX5" fmla="*/ 871538 w 2185988"/>
              <a:gd name="connsiteY5" fmla="*/ 4762 h 2206753"/>
              <a:gd name="connsiteX6" fmla="*/ 1066800 w 2185988"/>
              <a:gd name="connsiteY6" fmla="*/ 28575 h 2206753"/>
              <a:gd name="connsiteX7" fmla="*/ 1276350 w 2185988"/>
              <a:gd name="connsiteY7" fmla="*/ 104775 h 2206753"/>
              <a:gd name="connsiteX8" fmla="*/ 1428750 w 2185988"/>
              <a:gd name="connsiteY8" fmla="*/ 171450 h 2206753"/>
              <a:gd name="connsiteX9" fmla="*/ 1512708 w 2185988"/>
              <a:gd name="connsiteY9" fmla="*/ 109288 h 2206753"/>
              <a:gd name="connsiteX10" fmla="*/ 1608190 w 2185988"/>
              <a:gd name="connsiteY10" fmla="*/ 50735 h 2206753"/>
              <a:gd name="connsiteX11" fmla="*/ 1725998 w 2185988"/>
              <a:gd name="connsiteY11" fmla="*/ 16732 h 2206753"/>
              <a:gd name="connsiteX12" fmla="*/ 1832949 w 2185988"/>
              <a:gd name="connsiteY12" fmla="*/ 15537 h 2206753"/>
              <a:gd name="connsiteX13" fmla="*/ 1921006 w 2185988"/>
              <a:gd name="connsiteY13" fmla="*/ 25988 h 2206753"/>
              <a:gd name="connsiteX14" fmla="*/ 1998663 w 2185988"/>
              <a:gd name="connsiteY14" fmla="*/ 44774 h 2206753"/>
              <a:gd name="connsiteX15" fmla="*/ 2052027 w 2185988"/>
              <a:gd name="connsiteY15" fmla="*/ 84607 h 2206753"/>
              <a:gd name="connsiteX16" fmla="*/ 2104411 w 2185988"/>
              <a:gd name="connsiteY16" fmla="*/ 145777 h 2206753"/>
              <a:gd name="connsiteX17" fmla="*/ 2158670 w 2185988"/>
              <a:gd name="connsiteY17" fmla="*/ 235781 h 2206753"/>
              <a:gd name="connsiteX18" fmla="*/ 2177590 w 2185988"/>
              <a:gd name="connsiteY18" fmla="*/ 335200 h 2206753"/>
              <a:gd name="connsiteX19" fmla="*/ 2176953 w 2185988"/>
              <a:gd name="connsiteY19" fmla="*/ 405468 h 2206753"/>
              <a:gd name="connsiteX20" fmla="*/ 2168833 w 2185988"/>
              <a:gd name="connsiteY20" fmla="*/ 489877 h 2206753"/>
              <a:gd name="connsiteX21" fmla="*/ 2134294 w 2185988"/>
              <a:gd name="connsiteY21" fmla="*/ 562812 h 2206753"/>
              <a:gd name="connsiteX22" fmla="*/ 2095503 w 2185988"/>
              <a:gd name="connsiteY22" fmla="*/ 625503 h 2206753"/>
              <a:gd name="connsiteX23" fmla="*/ 2005780 w 2185988"/>
              <a:gd name="connsiteY23" fmla="*/ 737857 h 2206753"/>
              <a:gd name="connsiteX24" fmla="*/ 2105025 w 2185988"/>
              <a:gd name="connsiteY24" fmla="*/ 962025 h 2206753"/>
              <a:gd name="connsiteX25" fmla="*/ 2176463 w 2185988"/>
              <a:gd name="connsiteY25" fmla="*/ 1214437 h 2206753"/>
              <a:gd name="connsiteX26" fmla="*/ 2185988 w 2185988"/>
              <a:gd name="connsiteY26" fmla="*/ 1428750 h 2206753"/>
              <a:gd name="connsiteX27" fmla="*/ 2171700 w 2185988"/>
              <a:gd name="connsiteY27" fmla="*/ 1609725 h 2206753"/>
              <a:gd name="connsiteX28" fmla="*/ 2124075 w 2185988"/>
              <a:gd name="connsiteY28" fmla="*/ 1804987 h 2206753"/>
              <a:gd name="connsiteX29" fmla="*/ 2038350 w 2185988"/>
              <a:gd name="connsiteY29" fmla="*/ 1981200 h 2206753"/>
              <a:gd name="connsiteX30" fmla="*/ 1957388 w 2185988"/>
              <a:gd name="connsiteY30" fmla="*/ 2100262 h 2206753"/>
              <a:gd name="connsiteX31" fmla="*/ 1881757 w 2185988"/>
              <a:gd name="connsiteY31" fmla="*/ 2206753 h 2206753"/>
              <a:gd name="connsiteX0" fmla="*/ 0 w 2185988"/>
              <a:gd name="connsiteY0" fmla="*/ 314325 h 2206753"/>
              <a:gd name="connsiteX1" fmla="*/ 157163 w 2185988"/>
              <a:gd name="connsiteY1" fmla="*/ 185737 h 2206753"/>
              <a:gd name="connsiteX2" fmla="*/ 333375 w 2185988"/>
              <a:gd name="connsiteY2" fmla="*/ 95250 h 2206753"/>
              <a:gd name="connsiteX3" fmla="*/ 495300 w 2185988"/>
              <a:gd name="connsiteY3" fmla="*/ 33337 h 2206753"/>
              <a:gd name="connsiteX4" fmla="*/ 690563 w 2185988"/>
              <a:gd name="connsiteY4" fmla="*/ 0 h 2206753"/>
              <a:gd name="connsiteX5" fmla="*/ 871538 w 2185988"/>
              <a:gd name="connsiteY5" fmla="*/ 4762 h 2206753"/>
              <a:gd name="connsiteX6" fmla="*/ 1066800 w 2185988"/>
              <a:gd name="connsiteY6" fmla="*/ 28575 h 2206753"/>
              <a:gd name="connsiteX7" fmla="*/ 1276350 w 2185988"/>
              <a:gd name="connsiteY7" fmla="*/ 104775 h 2206753"/>
              <a:gd name="connsiteX8" fmla="*/ 1428750 w 2185988"/>
              <a:gd name="connsiteY8" fmla="*/ 171450 h 2206753"/>
              <a:gd name="connsiteX9" fmla="*/ 1512708 w 2185988"/>
              <a:gd name="connsiteY9" fmla="*/ 109288 h 2206753"/>
              <a:gd name="connsiteX10" fmla="*/ 1608190 w 2185988"/>
              <a:gd name="connsiteY10" fmla="*/ 50735 h 2206753"/>
              <a:gd name="connsiteX11" fmla="*/ 1725998 w 2185988"/>
              <a:gd name="connsiteY11" fmla="*/ 16732 h 2206753"/>
              <a:gd name="connsiteX12" fmla="*/ 1832949 w 2185988"/>
              <a:gd name="connsiteY12" fmla="*/ 15537 h 2206753"/>
              <a:gd name="connsiteX13" fmla="*/ 1921004 w 2185988"/>
              <a:gd name="connsiteY13" fmla="*/ 21624 h 2206753"/>
              <a:gd name="connsiteX14" fmla="*/ 1998663 w 2185988"/>
              <a:gd name="connsiteY14" fmla="*/ 44774 h 2206753"/>
              <a:gd name="connsiteX15" fmla="*/ 2052027 w 2185988"/>
              <a:gd name="connsiteY15" fmla="*/ 84607 h 2206753"/>
              <a:gd name="connsiteX16" fmla="*/ 2104411 w 2185988"/>
              <a:gd name="connsiteY16" fmla="*/ 145777 h 2206753"/>
              <a:gd name="connsiteX17" fmla="*/ 2158670 w 2185988"/>
              <a:gd name="connsiteY17" fmla="*/ 235781 h 2206753"/>
              <a:gd name="connsiteX18" fmla="*/ 2177590 w 2185988"/>
              <a:gd name="connsiteY18" fmla="*/ 335200 h 2206753"/>
              <a:gd name="connsiteX19" fmla="*/ 2176953 w 2185988"/>
              <a:gd name="connsiteY19" fmla="*/ 405468 h 2206753"/>
              <a:gd name="connsiteX20" fmla="*/ 2168833 w 2185988"/>
              <a:gd name="connsiteY20" fmla="*/ 489877 h 2206753"/>
              <a:gd name="connsiteX21" fmla="*/ 2134294 w 2185988"/>
              <a:gd name="connsiteY21" fmla="*/ 562812 h 2206753"/>
              <a:gd name="connsiteX22" fmla="*/ 2095503 w 2185988"/>
              <a:gd name="connsiteY22" fmla="*/ 625503 h 2206753"/>
              <a:gd name="connsiteX23" fmla="*/ 2005780 w 2185988"/>
              <a:gd name="connsiteY23" fmla="*/ 737857 h 2206753"/>
              <a:gd name="connsiteX24" fmla="*/ 2105025 w 2185988"/>
              <a:gd name="connsiteY24" fmla="*/ 962025 h 2206753"/>
              <a:gd name="connsiteX25" fmla="*/ 2176463 w 2185988"/>
              <a:gd name="connsiteY25" fmla="*/ 1214437 h 2206753"/>
              <a:gd name="connsiteX26" fmla="*/ 2185988 w 2185988"/>
              <a:gd name="connsiteY26" fmla="*/ 1428750 h 2206753"/>
              <a:gd name="connsiteX27" fmla="*/ 2171700 w 2185988"/>
              <a:gd name="connsiteY27" fmla="*/ 1609725 h 2206753"/>
              <a:gd name="connsiteX28" fmla="*/ 2124075 w 2185988"/>
              <a:gd name="connsiteY28" fmla="*/ 1804987 h 2206753"/>
              <a:gd name="connsiteX29" fmla="*/ 2038350 w 2185988"/>
              <a:gd name="connsiteY29" fmla="*/ 1981200 h 2206753"/>
              <a:gd name="connsiteX30" fmla="*/ 1957388 w 2185988"/>
              <a:gd name="connsiteY30" fmla="*/ 2100262 h 2206753"/>
              <a:gd name="connsiteX31" fmla="*/ 1881757 w 2185988"/>
              <a:gd name="connsiteY31" fmla="*/ 2206753 h 2206753"/>
              <a:gd name="connsiteX0" fmla="*/ 0 w 2185988"/>
              <a:gd name="connsiteY0" fmla="*/ 314325 h 2206753"/>
              <a:gd name="connsiteX1" fmla="*/ 157163 w 2185988"/>
              <a:gd name="connsiteY1" fmla="*/ 185737 h 2206753"/>
              <a:gd name="connsiteX2" fmla="*/ 333375 w 2185988"/>
              <a:gd name="connsiteY2" fmla="*/ 95250 h 2206753"/>
              <a:gd name="connsiteX3" fmla="*/ 495300 w 2185988"/>
              <a:gd name="connsiteY3" fmla="*/ 33337 h 2206753"/>
              <a:gd name="connsiteX4" fmla="*/ 690563 w 2185988"/>
              <a:gd name="connsiteY4" fmla="*/ 0 h 2206753"/>
              <a:gd name="connsiteX5" fmla="*/ 871538 w 2185988"/>
              <a:gd name="connsiteY5" fmla="*/ 4762 h 2206753"/>
              <a:gd name="connsiteX6" fmla="*/ 1066800 w 2185988"/>
              <a:gd name="connsiteY6" fmla="*/ 28575 h 2206753"/>
              <a:gd name="connsiteX7" fmla="*/ 1276350 w 2185988"/>
              <a:gd name="connsiteY7" fmla="*/ 104775 h 2206753"/>
              <a:gd name="connsiteX8" fmla="*/ 1428750 w 2185988"/>
              <a:gd name="connsiteY8" fmla="*/ 171450 h 2206753"/>
              <a:gd name="connsiteX9" fmla="*/ 1512708 w 2185988"/>
              <a:gd name="connsiteY9" fmla="*/ 109288 h 2206753"/>
              <a:gd name="connsiteX10" fmla="*/ 1608190 w 2185988"/>
              <a:gd name="connsiteY10" fmla="*/ 50735 h 2206753"/>
              <a:gd name="connsiteX11" fmla="*/ 1725998 w 2185988"/>
              <a:gd name="connsiteY11" fmla="*/ 16732 h 2206753"/>
              <a:gd name="connsiteX12" fmla="*/ 1832949 w 2185988"/>
              <a:gd name="connsiteY12" fmla="*/ 6811 h 2206753"/>
              <a:gd name="connsiteX13" fmla="*/ 1921004 w 2185988"/>
              <a:gd name="connsiteY13" fmla="*/ 21624 h 2206753"/>
              <a:gd name="connsiteX14" fmla="*/ 1998663 w 2185988"/>
              <a:gd name="connsiteY14" fmla="*/ 44774 h 2206753"/>
              <a:gd name="connsiteX15" fmla="*/ 2052027 w 2185988"/>
              <a:gd name="connsiteY15" fmla="*/ 84607 h 2206753"/>
              <a:gd name="connsiteX16" fmla="*/ 2104411 w 2185988"/>
              <a:gd name="connsiteY16" fmla="*/ 145777 h 2206753"/>
              <a:gd name="connsiteX17" fmla="*/ 2158670 w 2185988"/>
              <a:gd name="connsiteY17" fmla="*/ 235781 h 2206753"/>
              <a:gd name="connsiteX18" fmla="*/ 2177590 w 2185988"/>
              <a:gd name="connsiteY18" fmla="*/ 335200 h 2206753"/>
              <a:gd name="connsiteX19" fmla="*/ 2176953 w 2185988"/>
              <a:gd name="connsiteY19" fmla="*/ 405468 h 2206753"/>
              <a:gd name="connsiteX20" fmla="*/ 2168833 w 2185988"/>
              <a:gd name="connsiteY20" fmla="*/ 489877 h 2206753"/>
              <a:gd name="connsiteX21" fmla="*/ 2134294 w 2185988"/>
              <a:gd name="connsiteY21" fmla="*/ 562812 h 2206753"/>
              <a:gd name="connsiteX22" fmla="*/ 2095503 w 2185988"/>
              <a:gd name="connsiteY22" fmla="*/ 625503 h 2206753"/>
              <a:gd name="connsiteX23" fmla="*/ 2005780 w 2185988"/>
              <a:gd name="connsiteY23" fmla="*/ 737857 h 2206753"/>
              <a:gd name="connsiteX24" fmla="*/ 2105025 w 2185988"/>
              <a:gd name="connsiteY24" fmla="*/ 962025 h 2206753"/>
              <a:gd name="connsiteX25" fmla="*/ 2176463 w 2185988"/>
              <a:gd name="connsiteY25" fmla="*/ 1214437 h 2206753"/>
              <a:gd name="connsiteX26" fmla="*/ 2185988 w 2185988"/>
              <a:gd name="connsiteY26" fmla="*/ 1428750 h 2206753"/>
              <a:gd name="connsiteX27" fmla="*/ 2171700 w 2185988"/>
              <a:gd name="connsiteY27" fmla="*/ 1609725 h 2206753"/>
              <a:gd name="connsiteX28" fmla="*/ 2124075 w 2185988"/>
              <a:gd name="connsiteY28" fmla="*/ 1804987 h 2206753"/>
              <a:gd name="connsiteX29" fmla="*/ 2038350 w 2185988"/>
              <a:gd name="connsiteY29" fmla="*/ 1981200 h 2206753"/>
              <a:gd name="connsiteX30" fmla="*/ 1957388 w 2185988"/>
              <a:gd name="connsiteY30" fmla="*/ 2100262 h 2206753"/>
              <a:gd name="connsiteX31" fmla="*/ 1881757 w 2185988"/>
              <a:gd name="connsiteY31" fmla="*/ 2206753 h 2206753"/>
              <a:gd name="connsiteX0" fmla="*/ 0 w 2185988"/>
              <a:gd name="connsiteY0" fmla="*/ 314325 h 2206753"/>
              <a:gd name="connsiteX1" fmla="*/ 157163 w 2185988"/>
              <a:gd name="connsiteY1" fmla="*/ 185737 h 2206753"/>
              <a:gd name="connsiteX2" fmla="*/ 333375 w 2185988"/>
              <a:gd name="connsiteY2" fmla="*/ 95250 h 2206753"/>
              <a:gd name="connsiteX3" fmla="*/ 495300 w 2185988"/>
              <a:gd name="connsiteY3" fmla="*/ 33337 h 2206753"/>
              <a:gd name="connsiteX4" fmla="*/ 690563 w 2185988"/>
              <a:gd name="connsiteY4" fmla="*/ 0 h 2206753"/>
              <a:gd name="connsiteX5" fmla="*/ 871538 w 2185988"/>
              <a:gd name="connsiteY5" fmla="*/ 4762 h 2206753"/>
              <a:gd name="connsiteX6" fmla="*/ 1066800 w 2185988"/>
              <a:gd name="connsiteY6" fmla="*/ 28575 h 2206753"/>
              <a:gd name="connsiteX7" fmla="*/ 1276350 w 2185988"/>
              <a:gd name="connsiteY7" fmla="*/ 104775 h 2206753"/>
              <a:gd name="connsiteX8" fmla="*/ 1428750 w 2185988"/>
              <a:gd name="connsiteY8" fmla="*/ 171450 h 2206753"/>
              <a:gd name="connsiteX9" fmla="*/ 1512708 w 2185988"/>
              <a:gd name="connsiteY9" fmla="*/ 109288 h 2206753"/>
              <a:gd name="connsiteX10" fmla="*/ 1608190 w 2185988"/>
              <a:gd name="connsiteY10" fmla="*/ 50735 h 2206753"/>
              <a:gd name="connsiteX11" fmla="*/ 1723842 w 2185988"/>
              <a:gd name="connsiteY11" fmla="*/ 10187 h 2206753"/>
              <a:gd name="connsiteX12" fmla="*/ 1832949 w 2185988"/>
              <a:gd name="connsiteY12" fmla="*/ 6811 h 2206753"/>
              <a:gd name="connsiteX13" fmla="*/ 1921004 w 2185988"/>
              <a:gd name="connsiteY13" fmla="*/ 21624 h 2206753"/>
              <a:gd name="connsiteX14" fmla="*/ 1998663 w 2185988"/>
              <a:gd name="connsiteY14" fmla="*/ 44774 h 2206753"/>
              <a:gd name="connsiteX15" fmla="*/ 2052027 w 2185988"/>
              <a:gd name="connsiteY15" fmla="*/ 84607 h 2206753"/>
              <a:gd name="connsiteX16" fmla="*/ 2104411 w 2185988"/>
              <a:gd name="connsiteY16" fmla="*/ 145777 h 2206753"/>
              <a:gd name="connsiteX17" fmla="*/ 2158670 w 2185988"/>
              <a:gd name="connsiteY17" fmla="*/ 235781 h 2206753"/>
              <a:gd name="connsiteX18" fmla="*/ 2177590 w 2185988"/>
              <a:gd name="connsiteY18" fmla="*/ 335200 h 2206753"/>
              <a:gd name="connsiteX19" fmla="*/ 2176953 w 2185988"/>
              <a:gd name="connsiteY19" fmla="*/ 405468 h 2206753"/>
              <a:gd name="connsiteX20" fmla="*/ 2168833 w 2185988"/>
              <a:gd name="connsiteY20" fmla="*/ 489877 h 2206753"/>
              <a:gd name="connsiteX21" fmla="*/ 2134294 w 2185988"/>
              <a:gd name="connsiteY21" fmla="*/ 562812 h 2206753"/>
              <a:gd name="connsiteX22" fmla="*/ 2095503 w 2185988"/>
              <a:gd name="connsiteY22" fmla="*/ 625503 h 2206753"/>
              <a:gd name="connsiteX23" fmla="*/ 2005780 w 2185988"/>
              <a:gd name="connsiteY23" fmla="*/ 737857 h 2206753"/>
              <a:gd name="connsiteX24" fmla="*/ 2105025 w 2185988"/>
              <a:gd name="connsiteY24" fmla="*/ 962025 h 2206753"/>
              <a:gd name="connsiteX25" fmla="*/ 2176463 w 2185988"/>
              <a:gd name="connsiteY25" fmla="*/ 1214437 h 2206753"/>
              <a:gd name="connsiteX26" fmla="*/ 2185988 w 2185988"/>
              <a:gd name="connsiteY26" fmla="*/ 1428750 h 2206753"/>
              <a:gd name="connsiteX27" fmla="*/ 2171700 w 2185988"/>
              <a:gd name="connsiteY27" fmla="*/ 1609725 h 2206753"/>
              <a:gd name="connsiteX28" fmla="*/ 2124075 w 2185988"/>
              <a:gd name="connsiteY28" fmla="*/ 1804987 h 2206753"/>
              <a:gd name="connsiteX29" fmla="*/ 2038350 w 2185988"/>
              <a:gd name="connsiteY29" fmla="*/ 1981200 h 2206753"/>
              <a:gd name="connsiteX30" fmla="*/ 1957388 w 2185988"/>
              <a:gd name="connsiteY30" fmla="*/ 2100262 h 2206753"/>
              <a:gd name="connsiteX31" fmla="*/ 1881757 w 2185988"/>
              <a:gd name="connsiteY31" fmla="*/ 2206753 h 2206753"/>
              <a:gd name="connsiteX0" fmla="*/ 0 w 2185988"/>
              <a:gd name="connsiteY0" fmla="*/ 318582 h 2211010"/>
              <a:gd name="connsiteX1" fmla="*/ 157163 w 2185988"/>
              <a:gd name="connsiteY1" fmla="*/ 189994 h 2211010"/>
              <a:gd name="connsiteX2" fmla="*/ 333375 w 2185988"/>
              <a:gd name="connsiteY2" fmla="*/ 99507 h 2211010"/>
              <a:gd name="connsiteX3" fmla="*/ 495300 w 2185988"/>
              <a:gd name="connsiteY3" fmla="*/ 37594 h 2211010"/>
              <a:gd name="connsiteX4" fmla="*/ 690563 w 2185988"/>
              <a:gd name="connsiteY4" fmla="*/ 4257 h 2211010"/>
              <a:gd name="connsiteX5" fmla="*/ 871538 w 2185988"/>
              <a:gd name="connsiteY5" fmla="*/ 9019 h 2211010"/>
              <a:gd name="connsiteX6" fmla="*/ 1066800 w 2185988"/>
              <a:gd name="connsiteY6" fmla="*/ 32832 h 2211010"/>
              <a:gd name="connsiteX7" fmla="*/ 1276350 w 2185988"/>
              <a:gd name="connsiteY7" fmla="*/ 109032 h 2211010"/>
              <a:gd name="connsiteX8" fmla="*/ 1428750 w 2185988"/>
              <a:gd name="connsiteY8" fmla="*/ 175707 h 2211010"/>
              <a:gd name="connsiteX9" fmla="*/ 1512708 w 2185988"/>
              <a:gd name="connsiteY9" fmla="*/ 113545 h 2211010"/>
              <a:gd name="connsiteX10" fmla="*/ 1608190 w 2185988"/>
              <a:gd name="connsiteY10" fmla="*/ 54992 h 2211010"/>
              <a:gd name="connsiteX11" fmla="*/ 1723842 w 2185988"/>
              <a:gd name="connsiteY11" fmla="*/ 14444 h 2211010"/>
              <a:gd name="connsiteX12" fmla="*/ 1835105 w 2185988"/>
              <a:gd name="connsiteY12" fmla="*/ 160 h 2211010"/>
              <a:gd name="connsiteX13" fmla="*/ 1921004 w 2185988"/>
              <a:gd name="connsiteY13" fmla="*/ 25881 h 2211010"/>
              <a:gd name="connsiteX14" fmla="*/ 1998663 w 2185988"/>
              <a:gd name="connsiteY14" fmla="*/ 49031 h 2211010"/>
              <a:gd name="connsiteX15" fmla="*/ 2052027 w 2185988"/>
              <a:gd name="connsiteY15" fmla="*/ 88864 h 2211010"/>
              <a:gd name="connsiteX16" fmla="*/ 2104411 w 2185988"/>
              <a:gd name="connsiteY16" fmla="*/ 150034 h 2211010"/>
              <a:gd name="connsiteX17" fmla="*/ 2158670 w 2185988"/>
              <a:gd name="connsiteY17" fmla="*/ 240038 h 2211010"/>
              <a:gd name="connsiteX18" fmla="*/ 2177590 w 2185988"/>
              <a:gd name="connsiteY18" fmla="*/ 339457 h 2211010"/>
              <a:gd name="connsiteX19" fmla="*/ 2176953 w 2185988"/>
              <a:gd name="connsiteY19" fmla="*/ 409725 h 2211010"/>
              <a:gd name="connsiteX20" fmla="*/ 2168833 w 2185988"/>
              <a:gd name="connsiteY20" fmla="*/ 494134 h 2211010"/>
              <a:gd name="connsiteX21" fmla="*/ 2134294 w 2185988"/>
              <a:gd name="connsiteY21" fmla="*/ 567069 h 2211010"/>
              <a:gd name="connsiteX22" fmla="*/ 2095503 w 2185988"/>
              <a:gd name="connsiteY22" fmla="*/ 629760 h 2211010"/>
              <a:gd name="connsiteX23" fmla="*/ 2005780 w 2185988"/>
              <a:gd name="connsiteY23" fmla="*/ 742114 h 2211010"/>
              <a:gd name="connsiteX24" fmla="*/ 2105025 w 2185988"/>
              <a:gd name="connsiteY24" fmla="*/ 966282 h 2211010"/>
              <a:gd name="connsiteX25" fmla="*/ 2176463 w 2185988"/>
              <a:gd name="connsiteY25" fmla="*/ 1218694 h 2211010"/>
              <a:gd name="connsiteX26" fmla="*/ 2185988 w 2185988"/>
              <a:gd name="connsiteY26" fmla="*/ 1433007 h 2211010"/>
              <a:gd name="connsiteX27" fmla="*/ 2171700 w 2185988"/>
              <a:gd name="connsiteY27" fmla="*/ 1613982 h 2211010"/>
              <a:gd name="connsiteX28" fmla="*/ 2124075 w 2185988"/>
              <a:gd name="connsiteY28" fmla="*/ 1809244 h 2211010"/>
              <a:gd name="connsiteX29" fmla="*/ 2038350 w 2185988"/>
              <a:gd name="connsiteY29" fmla="*/ 1985457 h 2211010"/>
              <a:gd name="connsiteX30" fmla="*/ 1957388 w 2185988"/>
              <a:gd name="connsiteY30" fmla="*/ 2104519 h 2211010"/>
              <a:gd name="connsiteX31" fmla="*/ 1881757 w 2185988"/>
              <a:gd name="connsiteY31" fmla="*/ 2211010 h 2211010"/>
              <a:gd name="connsiteX0" fmla="*/ 0 w 2185988"/>
              <a:gd name="connsiteY0" fmla="*/ 318582 h 2211010"/>
              <a:gd name="connsiteX1" fmla="*/ 157163 w 2185988"/>
              <a:gd name="connsiteY1" fmla="*/ 189994 h 2211010"/>
              <a:gd name="connsiteX2" fmla="*/ 333375 w 2185988"/>
              <a:gd name="connsiteY2" fmla="*/ 99507 h 2211010"/>
              <a:gd name="connsiteX3" fmla="*/ 495300 w 2185988"/>
              <a:gd name="connsiteY3" fmla="*/ 37594 h 2211010"/>
              <a:gd name="connsiteX4" fmla="*/ 690563 w 2185988"/>
              <a:gd name="connsiteY4" fmla="*/ 4257 h 2211010"/>
              <a:gd name="connsiteX5" fmla="*/ 871538 w 2185988"/>
              <a:gd name="connsiteY5" fmla="*/ 9019 h 2211010"/>
              <a:gd name="connsiteX6" fmla="*/ 1066800 w 2185988"/>
              <a:gd name="connsiteY6" fmla="*/ 32832 h 2211010"/>
              <a:gd name="connsiteX7" fmla="*/ 1276350 w 2185988"/>
              <a:gd name="connsiteY7" fmla="*/ 109032 h 2211010"/>
              <a:gd name="connsiteX8" fmla="*/ 1428750 w 2185988"/>
              <a:gd name="connsiteY8" fmla="*/ 175707 h 2211010"/>
              <a:gd name="connsiteX9" fmla="*/ 1512708 w 2185988"/>
              <a:gd name="connsiteY9" fmla="*/ 113545 h 2211010"/>
              <a:gd name="connsiteX10" fmla="*/ 1608190 w 2185988"/>
              <a:gd name="connsiteY10" fmla="*/ 54992 h 2211010"/>
              <a:gd name="connsiteX11" fmla="*/ 1723842 w 2185988"/>
              <a:gd name="connsiteY11" fmla="*/ 14444 h 2211010"/>
              <a:gd name="connsiteX12" fmla="*/ 1835105 w 2185988"/>
              <a:gd name="connsiteY12" fmla="*/ 160 h 2211010"/>
              <a:gd name="connsiteX13" fmla="*/ 1923158 w 2185988"/>
              <a:gd name="connsiteY13" fmla="*/ 19337 h 2211010"/>
              <a:gd name="connsiteX14" fmla="*/ 1998663 w 2185988"/>
              <a:gd name="connsiteY14" fmla="*/ 49031 h 2211010"/>
              <a:gd name="connsiteX15" fmla="*/ 2052027 w 2185988"/>
              <a:gd name="connsiteY15" fmla="*/ 88864 h 2211010"/>
              <a:gd name="connsiteX16" fmla="*/ 2104411 w 2185988"/>
              <a:gd name="connsiteY16" fmla="*/ 150034 h 2211010"/>
              <a:gd name="connsiteX17" fmla="*/ 2158670 w 2185988"/>
              <a:gd name="connsiteY17" fmla="*/ 240038 h 2211010"/>
              <a:gd name="connsiteX18" fmla="*/ 2177590 w 2185988"/>
              <a:gd name="connsiteY18" fmla="*/ 339457 h 2211010"/>
              <a:gd name="connsiteX19" fmla="*/ 2176953 w 2185988"/>
              <a:gd name="connsiteY19" fmla="*/ 409725 h 2211010"/>
              <a:gd name="connsiteX20" fmla="*/ 2168833 w 2185988"/>
              <a:gd name="connsiteY20" fmla="*/ 494134 h 2211010"/>
              <a:gd name="connsiteX21" fmla="*/ 2134294 w 2185988"/>
              <a:gd name="connsiteY21" fmla="*/ 567069 h 2211010"/>
              <a:gd name="connsiteX22" fmla="*/ 2095503 w 2185988"/>
              <a:gd name="connsiteY22" fmla="*/ 629760 h 2211010"/>
              <a:gd name="connsiteX23" fmla="*/ 2005780 w 2185988"/>
              <a:gd name="connsiteY23" fmla="*/ 742114 h 2211010"/>
              <a:gd name="connsiteX24" fmla="*/ 2105025 w 2185988"/>
              <a:gd name="connsiteY24" fmla="*/ 966282 h 2211010"/>
              <a:gd name="connsiteX25" fmla="*/ 2176463 w 2185988"/>
              <a:gd name="connsiteY25" fmla="*/ 1218694 h 2211010"/>
              <a:gd name="connsiteX26" fmla="*/ 2185988 w 2185988"/>
              <a:gd name="connsiteY26" fmla="*/ 1433007 h 2211010"/>
              <a:gd name="connsiteX27" fmla="*/ 2171700 w 2185988"/>
              <a:gd name="connsiteY27" fmla="*/ 1613982 h 2211010"/>
              <a:gd name="connsiteX28" fmla="*/ 2124075 w 2185988"/>
              <a:gd name="connsiteY28" fmla="*/ 1809244 h 2211010"/>
              <a:gd name="connsiteX29" fmla="*/ 2038350 w 2185988"/>
              <a:gd name="connsiteY29" fmla="*/ 1985457 h 2211010"/>
              <a:gd name="connsiteX30" fmla="*/ 1957388 w 2185988"/>
              <a:gd name="connsiteY30" fmla="*/ 2104519 h 2211010"/>
              <a:gd name="connsiteX31" fmla="*/ 1881757 w 2185988"/>
              <a:gd name="connsiteY31" fmla="*/ 2211010 h 2211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185988" h="2211010">
                <a:moveTo>
                  <a:pt x="0" y="318582"/>
                </a:moveTo>
                <a:lnTo>
                  <a:pt x="157163" y="189994"/>
                </a:lnTo>
                <a:lnTo>
                  <a:pt x="333375" y="99507"/>
                </a:lnTo>
                <a:lnTo>
                  <a:pt x="495300" y="37594"/>
                </a:lnTo>
                <a:lnTo>
                  <a:pt x="690563" y="4257"/>
                </a:lnTo>
                <a:lnTo>
                  <a:pt x="871538" y="9019"/>
                </a:lnTo>
                <a:lnTo>
                  <a:pt x="1066800" y="32832"/>
                </a:lnTo>
                <a:lnTo>
                  <a:pt x="1276350" y="109032"/>
                </a:lnTo>
                <a:lnTo>
                  <a:pt x="1428750" y="175707"/>
                </a:lnTo>
                <a:lnTo>
                  <a:pt x="1512708" y="113545"/>
                </a:lnTo>
                <a:lnTo>
                  <a:pt x="1608190" y="54992"/>
                </a:lnTo>
                <a:cubicBezTo>
                  <a:pt x="1657731" y="29206"/>
                  <a:pt x="1686382" y="20310"/>
                  <a:pt x="1723842" y="14444"/>
                </a:cubicBezTo>
                <a:cubicBezTo>
                  <a:pt x="1761302" y="8578"/>
                  <a:pt x="1802604" y="-1383"/>
                  <a:pt x="1835105" y="160"/>
                </a:cubicBezTo>
                <a:lnTo>
                  <a:pt x="1923158" y="19337"/>
                </a:lnTo>
                <a:lnTo>
                  <a:pt x="1998663" y="49031"/>
                </a:lnTo>
                <a:lnTo>
                  <a:pt x="2052027" y="88864"/>
                </a:lnTo>
                <a:lnTo>
                  <a:pt x="2104411" y="150034"/>
                </a:lnTo>
                <a:cubicBezTo>
                  <a:pt x="2122185" y="175230"/>
                  <a:pt x="2146474" y="208468"/>
                  <a:pt x="2158670" y="240038"/>
                </a:cubicBezTo>
                <a:cubicBezTo>
                  <a:pt x="2170867" y="271609"/>
                  <a:pt x="2174543" y="311176"/>
                  <a:pt x="2177590" y="339457"/>
                </a:cubicBezTo>
                <a:cubicBezTo>
                  <a:pt x="2177378" y="362880"/>
                  <a:pt x="2177165" y="386302"/>
                  <a:pt x="2176953" y="409725"/>
                </a:cubicBezTo>
                <a:lnTo>
                  <a:pt x="2168833" y="494134"/>
                </a:lnTo>
                <a:lnTo>
                  <a:pt x="2134294" y="567069"/>
                </a:lnTo>
                <a:lnTo>
                  <a:pt x="2095503" y="629760"/>
                </a:lnTo>
                <a:lnTo>
                  <a:pt x="2005780" y="742114"/>
                </a:lnTo>
                <a:lnTo>
                  <a:pt x="2105025" y="966282"/>
                </a:lnTo>
                <a:lnTo>
                  <a:pt x="2176463" y="1218694"/>
                </a:lnTo>
                <a:lnTo>
                  <a:pt x="2185988" y="1433007"/>
                </a:lnTo>
                <a:lnTo>
                  <a:pt x="2171700" y="1613982"/>
                </a:lnTo>
                <a:lnTo>
                  <a:pt x="2124075" y="1809244"/>
                </a:lnTo>
                <a:lnTo>
                  <a:pt x="2038350" y="1985457"/>
                </a:lnTo>
                <a:lnTo>
                  <a:pt x="1957388" y="2104519"/>
                </a:lnTo>
                <a:cubicBezTo>
                  <a:pt x="1926084" y="2148243"/>
                  <a:pt x="1913061" y="2167286"/>
                  <a:pt x="1881757" y="2211010"/>
                </a:cubicBezTo>
              </a:path>
            </a:pathLst>
          </a:custGeom>
          <a:solidFill>
            <a:srgbClr val="FF0000">
              <a:alpha val="50000"/>
            </a:srgbClr>
          </a:solidFill>
          <a:ln w="9525" cap="flat" cmpd="sng" algn="ctr">
            <a:noFill/>
            <a:prstDash val="solid"/>
            <a:round/>
            <a:headEnd type="none" w="med" len="med"/>
            <a:tailEnd type="none" w="med" len="med"/>
          </a:ln>
          <a:effectLst/>
        </p:spPr>
        <p:txBody>
          <a:bodyPr vert="horz" wrap="square" lIns="81224" tIns="40611" rIns="81224" bIns="40611" numCol="1" rtlCol="0" anchor="t" anchorCtr="0" compatLnSpc="1">
            <a:prstTxWarp prst="textNoShape">
              <a:avLst/>
            </a:prstTxWarp>
          </a:bodyPr>
          <a:lstStyle/>
          <a:p>
            <a:pPr defTabSz="812209"/>
            <a:endParaRPr lang="en-US" sz="1776" b="1" dirty="0">
              <a:latin typeface="+mn-lt"/>
            </a:endParaRPr>
          </a:p>
        </p:txBody>
      </p:sp>
      <p:sp>
        <p:nvSpPr>
          <p:cNvPr id="34" name="Straight Arrow Connector 105"/>
          <p:cNvSpPr>
            <a:spLocks noChangeShapeType="1"/>
          </p:cNvSpPr>
          <p:nvPr/>
        </p:nvSpPr>
        <p:spPr bwMode="auto">
          <a:xfrm rot="18900000" flipV="1">
            <a:off x="4745057" y="3249553"/>
            <a:ext cx="3184179" cy="0"/>
          </a:xfrm>
          <a:prstGeom prst="straightConnector1">
            <a:avLst/>
          </a:prstGeom>
          <a:noFill/>
          <a:ln w="25400">
            <a:solidFill>
              <a:srgbClr val="FFC000"/>
            </a:solidFill>
            <a:round/>
            <a:headEnd type="none"/>
            <a:tailEnd type="triangle" w="med" len="med"/>
          </a:ln>
          <a:extLst>
            <a:ext uri="{909E8E84-426E-40DD-AFC4-6F175D3DCCD1}">
              <a14:hiddenFill xmlns:a14="http://schemas.microsoft.com/office/drawing/2010/main">
                <a:noFill/>
              </a14:hiddenFill>
            </a:ext>
          </a:extLst>
        </p:spPr>
        <p:txBody>
          <a:bodyPr vert="horz" wrap="square" lIns="81224" tIns="40611" rIns="81224" bIns="40611" numCol="1" anchor="t" anchorCtr="0" compatLnSpc="1">
            <a:prstTxWarp prst="textNoShape">
              <a:avLst/>
            </a:prstTxWarp>
          </a:bodyPr>
          <a:lstStyle/>
          <a:p>
            <a:endParaRPr lang="en-US" sz="1776" b="1">
              <a:latin typeface="+mn-lt"/>
            </a:endParaRPr>
          </a:p>
        </p:txBody>
      </p:sp>
      <p:sp>
        <p:nvSpPr>
          <p:cNvPr id="35" name="Straight Arrow Connector 105"/>
          <p:cNvSpPr>
            <a:spLocks noChangeShapeType="1"/>
          </p:cNvSpPr>
          <p:nvPr/>
        </p:nvSpPr>
        <p:spPr bwMode="auto">
          <a:xfrm rot="18900000" flipV="1">
            <a:off x="365618" y="2159136"/>
            <a:ext cx="3492610" cy="0"/>
          </a:xfrm>
          <a:prstGeom prst="straightConnector1">
            <a:avLst/>
          </a:prstGeom>
          <a:noFill/>
          <a:ln w="25400">
            <a:solidFill>
              <a:srgbClr val="FFC000"/>
            </a:solidFill>
            <a:round/>
            <a:headEnd type="none"/>
            <a:tailEnd type="triangle" w="med" len="med"/>
          </a:ln>
          <a:extLst>
            <a:ext uri="{909E8E84-426E-40DD-AFC4-6F175D3DCCD1}">
              <a14:hiddenFill xmlns:a14="http://schemas.microsoft.com/office/drawing/2010/main">
                <a:noFill/>
              </a14:hiddenFill>
            </a:ext>
          </a:extLst>
        </p:spPr>
        <p:txBody>
          <a:bodyPr vert="horz" wrap="square" lIns="81224" tIns="40611" rIns="81224" bIns="40611" numCol="1" anchor="t" anchorCtr="0" compatLnSpc="1">
            <a:prstTxWarp prst="textNoShape">
              <a:avLst/>
            </a:prstTxWarp>
          </a:bodyPr>
          <a:lstStyle/>
          <a:p>
            <a:endParaRPr lang="en-US" sz="1776" b="1">
              <a:latin typeface="+mn-lt"/>
            </a:endParaRPr>
          </a:p>
        </p:txBody>
      </p:sp>
      <p:sp>
        <p:nvSpPr>
          <p:cNvPr id="36" name="Line 69"/>
          <p:cNvSpPr>
            <a:spLocks noChangeShapeType="1"/>
          </p:cNvSpPr>
          <p:nvPr/>
        </p:nvSpPr>
        <p:spPr bwMode="auto">
          <a:xfrm flipH="1" flipV="1">
            <a:off x="2626792" y="1643052"/>
            <a:ext cx="1855787" cy="1855787"/>
          </a:xfrm>
          <a:prstGeom prst="line">
            <a:avLst/>
          </a:prstGeom>
          <a:noFill/>
          <a:ln w="25400">
            <a:solidFill>
              <a:srgbClr val="7030A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sz="1776" b="1">
              <a:solidFill>
                <a:srgbClr val="FFFFFF"/>
              </a:solidFill>
              <a:latin typeface="+mn-lt"/>
            </a:endParaRPr>
          </a:p>
        </p:txBody>
      </p:sp>
      <p:sp>
        <p:nvSpPr>
          <p:cNvPr id="37" name="Line 70"/>
          <p:cNvSpPr>
            <a:spLocks noChangeShapeType="1"/>
          </p:cNvSpPr>
          <p:nvPr/>
        </p:nvSpPr>
        <p:spPr bwMode="auto">
          <a:xfrm flipH="1" flipV="1">
            <a:off x="2491231" y="1778611"/>
            <a:ext cx="1991348" cy="1991348"/>
          </a:xfrm>
          <a:prstGeom prst="line">
            <a:avLst/>
          </a:prstGeom>
          <a:noFill/>
          <a:ln w="25400">
            <a:solidFill>
              <a:srgbClr val="7030A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sz="1776" b="1">
              <a:solidFill>
                <a:srgbClr val="FFFFFF"/>
              </a:solidFill>
              <a:latin typeface="+mn-lt"/>
            </a:endParaRPr>
          </a:p>
        </p:txBody>
      </p:sp>
      <p:sp>
        <p:nvSpPr>
          <p:cNvPr id="38" name="Line 71"/>
          <p:cNvSpPr>
            <a:spLocks noChangeShapeType="1"/>
          </p:cNvSpPr>
          <p:nvPr/>
        </p:nvSpPr>
        <p:spPr bwMode="auto">
          <a:xfrm flipH="1" flipV="1">
            <a:off x="2355671" y="1914175"/>
            <a:ext cx="2126909" cy="2126909"/>
          </a:xfrm>
          <a:prstGeom prst="line">
            <a:avLst/>
          </a:prstGeom>
          <a:noFill/>
          <a:ln w="25400">
            <a:solidFill>
              <a:srgbClr val="7030A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sz="1776" b="1">
              <a:solidFill>
                <a:srgbClr val="FFFFFF"/>
              </a:solidFill>
              <a:latin typeface="+mn-lt"/>
            </a:endParaRPr>
          </a:p>
        </p:txBody>
      </p:sp>
      <p:sp>
        <p:nvSpPr>
          <p:cNvPr id="39" name="Line 72"/>
          <p:cNvSpPr>
            <a:spLocks noChangeShapeType="1"/>
          </p:cNvSpPr>
          <p:nvPr/>
        </p:nvSpPr>
        <p:spPr bwMode="auto">
          <a:xfrm flipH="1" flipV="1">
            <a:off x="2220111" y="2049735"/>
            <a:ext cx="2262469" cy="2262469"/>
          </a:xfrm>
          <a:prstGeom prst="line">
            <a:avLst/>
          </a:prstGeom>
          <a:noFill/>
          <a:ln w="25400">
            <a:solidFill>
              <a:srgbClr val="7030A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sz="1776" b="1">
              <a:solidFill>
                <a:srgbClr val="FFFFFF"/>
              </a:solidFill>
              <a:latin typeface="+mn-lt"/>
            </a:endParaRPr>
          </a:p>
        </p:txBody>
      </p:sp>
      <p:sp>
        <p:nvSpPr>
          <p:cNvPr id="40" name="Line 73"/>
          <p:cNvSpPr>
            <a:spLocks noChangeShapeType="1"/>
          </p:cNvSpPr>
          <p:nvPr/>
        </p:nvSpPr>
        <p:spPr bwMode="auto">
          <a:xfrm flipH="1" flipV="1">
            <a:off x="2084549" y="2185294"/>
            <a:ext cx="2392661" cy="2392661"/>
          </a:xfrm>
          <a:prstGeom prst="line">
            <a:avLst/>
          </a:prstGeom>
          <a:noFill/>
          <a:ln w="25400">
            <a:solidFill>
              <a:srgbClr val="7030A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sz="1776" b="1">
              <a:solidFill>
                <a:srgbClr val="FFFFFF"/>
              </a:solidFill>
              <a:latin typeface="+mn-lt"/>
            </a:endParaRPr>
          </a:p>
        </p:txBody>
      </p:sp>
      <p:sp>
        <p:nvSpPr>
          <p:cNvPr id="41" name="Line 74"/>
          <p:cNvSpPr>
            <a:spLocks noChangeShapeType="1"/>
          </p:cNvSpPr>
          <p:nvPr/>
        </p:nvSpPr>
        <p:spPr bwMode="auto">
          <a:xfrm flipH="1" flipV="1">
            <a:off x="1948987" y="2320855"/>
            <a:ext cx="2290076" cy="2290076"/>
          </a:xfrm>
          <a:prstGeom prst="line">
            <a:avLst/>
          </a:prstGeom>
          <a:noFill/>
          <a:ln w="25400">
            <a:solidFill>
              <a:srgbClr val="7030A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sz="1776" b="1">
              <a:solidFill>
                <a:srgbClr val="FFFFFF"/>
              </a:solidFill>
              <a:latin typeface="+mn-lt"/>
            </a:endParaRPr>
          </a:p>
        </p:txBody>
      </p:sp>
      <p:sp>
        <p:nvSpPr>
          <p:cNvPr id="42" name="Line 75"/>
          <p:cNvSpPr>
            <a:spLocks noChangeShapeType="1"/>
          </p:cNvSpPr>
          <p:nvPr/>
        </p:nvSpPr>
        <p:spPr bwMode="auto">
          <a:xfrm flipH="1" flipV="1">
            <a:off x="1813427" y="2456416"/>
            <a:ext cx="2140519" cy="2140519"/>
          </a:xfrm>
          <a:prstGeom prst="line">
            <a:avLst/>
          </a:prstGeom>
          <a:noFill/>
          <a:ln w="25400">
            <a:solidFill>
              <a:srgbClr val="7030A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sz="1776" b="1">
              <a:solidFill>
                <a:srgbClr val="FFFFFF"/>
              </a:solidFill>
              <a:latin typeface="+mn-lt"/>
            </a:endParaRPr>
          </a:p>
        </p:txBody>
      </p:sp>
      <p:sp>
        <p:nvSpPr>
          <p:cNvPr id="43" name="Line 76"/>
          <p:cNvSpPr>
            <a:spLocks noChangeShapeType="1"/>
          </p:cNvSpPr>
          <p:nvPr/>
        </p:nvSpPr>
        <p:spPr bwMode="auto">
          <a:xfrm flipH="1" flipV="1">
            <a:off x="1677868" y="2591976"/>
            <a:ext cx="2028104" cy="2028104"/>
          </a:xfrm>
          <a:prstGeom prst="line">
            <a:avLst/>
          </a:prstGeom>
          <a:noFill/>
          <a:ln w="25400">
            <a:solidFill>
              <a:srgbClr val="7030A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sz="1776" b="1">
              <a:solidFill>
                <a:srgbClr val="FFFFFF"/>
              </a:solidFill>
              <a:latin typeface="+mn-lt"/>
            </a:endParaRPr>
          </a:p>
        </p:txBody>
      </p:sp>
      <p:sp>
        <p:nvSpPr>
          <p:cNvPr id="44" name="Line 76"/>
          <p:cNvSpPr>
            <a:spLocks noChangeShapeType="1"/>
          </p:cNvSpPr>
          <p:nvPr/>
        </p:nvSpPr>
        <p:spPr bwMode="auto">
          <a:xfrm flipH="1" flipV="1">
            <a:off x="1542493" y="2727351"/>
            <a:ext cx="1869585" cy="1869585"/>
          </a:xfrm>
          <a:prstGeom prst="line">
            <a:avLst/>
          </a:prstGeom>
          <a:noFill/>
          <a:ln w="25400">
            <a:solidFill>
              <a:srgbClr val="7030A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sz="1776" b="1">
              <a:solidFill>
                <a:srgbClr val="FFFFFF"/>
              </a:solidFill>
              <a:latin typeface="+mn-lt"/>
            </a:endParaRPr>
          </a:p>
        </p:txBody>
      </p:sp>
      <p:sp>
        <p:nvSpPr>
          <p:cNvPr id="45" name="Line 76"/>
          <p:cNvSpPr>
            <a:spLocks noChangeShapeType="1"/>
          </p:cNvSpPr>
          <p:nvPr/>
        </p:nvSpPr>
        <p:spPr bwMode="auto">
          <a:xfrm flipH="1" flipV="1">
            <a:off x="1407120" y="2862723"/>
            <a:ext cx="1748208" cy="1748208"/>
          </a:xfrm>
          <a:prstGeom prst="line">
            <a:avLst/>
          </a:prstGeom>
          <a:noFill/>
          <a:ln w="25400">
            <a:solidFill>
              <a:srgbClr val="7030A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sz="1776" b="1">
              <a:solidFill>
                <a:srgbClr val="FFFFFF"/>
              </a:solidFill>
              <a:latin typeface="+mn-lt"/>
            </a:endParaRPr>
          </a:p>
        </p:txBody>
      </p:sp>
      <p:sp>
        <p:nvSpPr>
          <p:cNvPr id="46" name="Straight Arrow Connector 105"/>
          <p:cNvSpPr>
            <a:spLocks noChangeShapeType="1"/>
          </p:cNvSpPr>
          <p:nvPr/>
        </p:nvSpPr>
        <p:spPr bwMode="auto">
          <a:xfrm rot="17100000" flipV="1">
            <a:off x="5140984" y="3189074"/>
            <a:ext cx="2392322" cy="0"/>
          </a:xfrm>
          <a:prstGeom prst="straightConnector1">
            <a:avLst/>
          </a:prstGeom>
          <a:noFill/>
          <a:ln w="25400">
            <a:solidFill>
              <a:srgbClr val="FFC000"/>
            </a:solidFill>
            <a:prstDash val="dash"/>
            <a:round/>
            <a:headEnd type="none"/>
            <a:tailEnd type="triangle" w="med" len="med"/>
          </a:ln>
          <a:extLst>
            <a:ext uri="{909E8E84-426E-40DD-AFC4-6F175D3DCCD1}">
              <a14:hiddenFill xmlns:a14="http://schemas.microsoft.com/office/drawing/2010/main">
                <a:noFill/>
              </a14:hiddenFill>
            </a:ext>
          </a:extLst>
        </p:spPr>
        <p:txBody>
          <a:bodyPr vert="horz" wrap="square" lIns="81224" tIns="40611" rIns="81224" bIns="40611" numCol="1" anchor="t" anchorCtr="0" compatLnSpc="1">
            <a:prstTxWarp prst="textNoShape">
              <a:avLst/>
            </a:prstTxWarp>
          </a:bodyPr>
          <a:lstStyle/>
          <a:p>
            <a:endParaRPr lang="en-US" sz="1776" b="1">
              <a:latin typeface="+mn-lt"/>
            </a:endParaRPr>
          </a:p>
        </p:txBody>
      </p:sp>
      <p:sp>
        <p:nvSpPr>
          <p:cNvPr id="47" name="Straight Arrow Connector 105"/>
          <p:cNvSpPr>
            <a:spLocks noChangeShapeType="1"/>
          </p:cNvSpPr>
          <p:nvPr/>
        </p:nvSpPr>
        <p:spPr bwMode="auto">
          <a:xfrm rot="18000000" flipV="1">
            <a:off x="5106724" y="3239511"/>
            <a:ext cx="2445385" cy="13258"/>
          </a:xfrm>
          <a:prstGeom prst="straightConnector1">
            <a:avLst/>
          </a:prstGeom>
          <a:noFill/>
          <a:ln w="25400">
            <a:solidFill>
              <a:srgbClr val="FFC000"/>
            </a:solidFill>
            <a:prstDash val="dash"/>
            <a:round/>
            <a:headEnd type="none"/>
            <a:tailEnd type="triangle" w="med" len="med"/>
          </a:ln>
          <a:extLst>
            <a:ext uri="{909E8E84-426E-40DD-AFC4-6F175D3DCCD1}">
              <a14:hiddenFill xmlns:a14="http://schemas.microsoft.com/office/drawing/2010/main">
                <a:noFill/>
              </a14:hiddenFill>
            </a:ext>
          </a:extLst>
        </p:spPr>
        <p:txBody>
          <a:bodyPr vert="horz" wrap="square" lIns="81224" tIns="40611" rIns="81224" bIns="40611" numCol="1" anchor="t" anchorCtr="0" compatLnSpc="1">
            <a:prstTxWarp prst="textNoShape">
              <a:avLst/>
            </a:prstTxWarp>
          </a:bodyPr>
          <a:lstStyle/>
          <a:p>
            <a:endParaRPr lang="en-US" sz="1776" b="1">
              <a:latin typeface="+mn-lt"/>
            </a:endParaRPr>
          </a:p>
        </p:txBody>
      </p:sp>
      <p:sp>
        <p:nvSpPr>
          <p:cNvPr id="48" name="Straight Arrow Connector 105"/>
          <p:cNvSpPr>
            <a:spLocks noChangeShapeType="1"/>
          </p:cNvSpPr>
          <p:nvPr/>
        </p:nvSpPr>
        <p:spPr bwMode="auto">
          <a:xfrm rot="15300000" flipV="1">
            <a:off x="5085457" y="3144239"/>
            <a:ext cx="2392322" cy="0"/>
          </a:xfrm>
          <a:prstGeom prst="straightConnector1">
            <a:avLst/>
          </a:prstGeom>
          <a:noFill/>
          <a:ln w="25400">
            <a:solidFill>
              <a:srgbClr val="FFC000"/>
            </a:solidFill>
            <a:prstDash val="dash"/>
            <a:round/>
            <a:headEnd type="none"/>
            <a:tailEnd type="triangle" w="med" len="med"/>
          </a:ln>
          <a:extLst>
            <a:ext uri="{909E8E84-426E-40DD-AFC4-6F175D3DCCD1}">
              <a14:hiddenFill xmlns:a14="http://schemas.microsoft.com/office/drawing/2010/main">
                <a:noFill/>
              </a14:hiddenFill>
            </a:ext>
          </a:extLst>
        </p:spPr>
        <p:txBody>
          <a:bodyPr vert="horz" wrap="square" lIns="81224" tIns="40611" rIns="81224" bIns="40611" numCol="1" anchor="t" anchorCtr="0" compatLnSpc="1">
            <a:prstTxWarp prst="textNoShape">
              <a:avLst/>
            </a:prstTxWarp>
          </a:bodyPr>
          <a:lstStyle/>
          <a:p>
            <a:endParaRPr lang="en-US" sz="1776" b="1">
              <a:latin typeface="+mn-lt"/>
            </a:endParaRPr>
          </a:p>
        </p:txBody>
      </p:sp>
      <p:sp>
        <p:nvSpPr>
          <p:cNvPr id="49" name="Straight Arrow Connector 105"/>
          <p:cNvSpPr>
            <a:spLocks noChangeShapeType="1"/>
          </p:cNvSpPr>
          <p:nvPr/>
        </p:nvSpPr>
        <p:spPr bwMode="auto">
          <a:xfrm rot="16200000" flipV="1">
            <a:off x="5107142" y="3152702"/>
            <a:ext cx="2392322" cy="0"/>
          </a:xfrm>
          <a:prstGeom prst="straightConnector1">
            <a:avLst/>
          </a:prstGeom>
          <a:noFill/>
          <a:ln w="25400">
            <a:solidFill>
              <a:srgbClr val="FFC000"/>
            </a:solidFill>
            <a:prstDash val="dash"/>
            <a:round/>
            <a:headEnd type="none"/>
            <a:tailEnd type="triangle" w="med" len="med"/>
          </a:ln>
          <a:extLst>
            <a:ext uri="{909E8E84-426E-40DD-AFC4-6F175D3DCCD1}">
              <a14:hiddenFill xmlns:a14="http://schemas.microsoft.com/office/drawing/2010/main">
                <a:noFill/>
              </a14:hiddenFill>
            </a:ext>
          </a:extLst>
        </p:spPr>
        <p:txBody>
          <a:bodyPr vert="horz" wrap="square" lIns="81224" tIns="40611" rIns="81224" bIns="40611" numCol="1" anchor="t" anchorCtr="0" compatLnSpc="1">
            <a:prstTxWarp prst="textNoShape">
              <a:avLst/>
            </a:prstTxWarp>
          </a:bodyPr>
          <a:lstStyle/>
          <a:p>
            <a:endParaRPr lang="en-US" sz="1776" b="1">
              <a:latin typeface="+mn-lt"/>
            </a:endParaRPr>
          </a:p>
        </p:txBody>
      </p:sp>
      <p:sp>
        <p:nvSpPr>
          <p:cNvPr id="50" name="Rectangle 1029"/>
          <p:cNvSpPr>
            <a:spLocks noChangeArrowheads="1"/>
          </p:cNvSpPr>
          <p:nvPr/>
        </p:nvSpPr>
        <p:spPr bwMode="auto">
          <a:xfrm>
            <a:off x="203200" y="5516030"/>
            <a:ext cx="8376327" cy="1087089"/>
          </a:xfrm>
          <a:prstGeom prst="rect">
            <a:avLst/>
          </a:prstGeom>
          <a:noFill/>
          <a:ln>
            <a:noFill/>
          </a:ln>
          <a:effectLst/>
          <a:extLst>
            <a:ext uri="{909E8E84-426E-40DD-AFC4-6F175D3DCCD1}">
              <a14:hiddenFill xmlns:a14="http://schemas.microsoft.com/office/drawing/2010/main">
                <a:solidFill>
                  <a:srgbClr val="00279F"/>
                </a:solidFill>
              </a14:hiddenFill>
            </a:ext>
            <a:ext uri="{91240B29-F687-4F45-9708-019B960494DF}">
              <a14:hiddenLine xmlns:a14="http://schemas.microsoft.com/office/drawing/2010/main" w="50800">
                <a:solidFill>
                  <a:srgbClr val="FC0128"/>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614" tIns="44512" rIns="90614" bIns="44512">
            <a:spAutoFit/>
          </a:bodyP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r>
              <a:rPr lang="en-US" altLang="en-US" sz="2400" dirty="0">
                <a:solidFill>
                  <a:schemeClr val="tx1"/>
                </a:solidFill>
                <a:cs typeface="Times New Roman" pitchFamily="18" charset="0"/>
              </a:rPr>
              <a:t>Imagine that f(</a:t>
            </a:r>
            <a:r>
              <a:rPr lang="en-US" altLang="en-US" sz="2400" dirty="0" err="1">
                <a:solidFill>
                  <a:schemeClr val="tx1"/>
                </a:solidFill>
                <a:cs typeface="Times New Roman" pitchFamily="18" charset="0"/>
              </a:rPr>
              <a:t>x,y</a:t>
            </a:r>
            <a:r>
              <a:rPr lang="en-US" altLang="en-US" sz="2400" dirty="0">
                <a:solidFill>
                  <a:schemeClr val="tx1"/>
                </a:solidFill>
                <a:cs typeface="Times New Roman" pitchFamily="18" charset="0"/>
              </a:rPr>
              <a:t>) is a superposition of various 2D waves propagating along different orientations at all frequencies… …</a:t>
            </a:r>
          </a:p>
        </p:txBody>
      </p:sp>
    </p:spTree>
    <p:extLst>
      <p:ext uri="{BB962C8B-B14F-4D97-AF65-F5344CB8AC3E}">
        <p14:creationId xmlns:p14="http://schemas.microsoft.com/office/powerpoint/2010/main" val="733629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a:stretch>
            <a:fillRect/>
          </a:stretch>
        </p:blipFill>
        <p:spPr>
          <a:xfrm>
            <a:off x="461827" y="829849"/>
            <a:ext cx="4130061" cy="3405804"/>
          </a:xfrm>
          <a:prstGeom prst="rect">
            <a:avLst/>
          </a:prstGeom>
        </p:spPr>
      </p:pic>
      <p:sp>
        <p:nvSpPr>
          <p:cNvPr id="2" name="Title 1"/>
          <p:cNvSpPr>
            <a:spLocks noGrp="1"/>
          </p:cNvSpPr>
          <p:nvPr>
            <p:ph type="title"/>
          </p:nvPr>
        </p:nvSpPr>
        <p:spPr/>
        <p:txBody>
          <a:bodyPr/>
          <a:lstStyle/>
          <a:p>
            <a:r>
              <a:rPr lang="en-US" dirty="0"/>
              <a:t>Kak’s Book Chapter 3</a:t>
            </a:r>
          </a:p>
        </p:txBody>
      </p:sp>
      <p:pic>
        <p:nvPicPr>
          <p:cNvPr id="4" name="Picture 3"/>
          <p:cNvPicPr>
            <a:picLocks noChangeAspect="1"/>
          </p:cNvPicPr>
          <p:nvPr/>
        </p:nvPicPr>
        <p:blipFill>
          <a:blip r:embed="rId4"/>
          <a:stretch>
            <a:fillRect/>
          </a:stretch>
        </p:blipFill>
        <p:spPr>
          <a:xfrm>
            <a:off x="3672006" y="2131695"/>
            <a:ext cx="5751563" cy="448298"/>
          </a:xfrm>
          <a:prstGeom prst="rect">
            <a:avLst/>
          </a:prstGeom>
        </p:spPr>
      </p:pic>
      <p:pic>
        <p:nvPicPr>
          <p:cNvPr id="6" name="Picture 5"/>
          <p:cNvPicPr>
            <a:picLocks noChangeAspect="1"/>
          </p:cNvPicPr>
          <p:nvPr/>
        </p:nvPicPr>
        <p:blipFill>
          <a:blip r:embed="rId5"/>
          <a:stretch>
            <a:fillRect/>
          </a:stretch>
        </p:blipFill>
        <p:spPr>
          <a:xfrm>
            <a:off x="54861" y="4235653"/>
            <a:ext cx="8706185" cy="1974972"/>
          </a:xfrm>
          <a:prstGeom prst="rect">
            <a:avLst/>
          </a:prstGeom>
        </p:spPr>
      </p:pic>
      <p:sp>
        <p:nvSpPr>
          <p:cNvPr id="3" name="Rectangle 2"/>
          <p:cNvSpPr/>
          <p:nvPr/>
        </p:nvSpPr>
        <p:spPr bwMode="auto">
          <a:xfrm>
            <a:off x="4189422" y="5659557"/>
            <a:ext cx="2453655" cy="383709"/>
          </a:xfrm>
          <a:prstGeom prst="rect">
            <a:avLst/>
          </a:prstGeom>
          <a:solidFill>
            <a:srgbClr val="FF0000">
              <a:alpha val="50000"/>
            </a:srgbClr>
          </a:solidFill>
          <a:ln w="50800">
            <a:noFill/>
            <a:round/>
            <a:headEnd type="triangle" w="med" len="med"/>
            <a:tailEnd/>
          </a:ln>
          <a:effectLst/>
        </p:spPr>
        <p:txBody>
          <a:bodyPr wrap="none" rtlCol="0" anchor="ctr"/>
          <a:lstStyle/>
          <a:p>
            <a:endParaRPr lang="en-US" sz="3204" b="1">
              <a:latin typeface="+mn-lt"/>
              <a:cs typeface="Times New Roman" pitchFamily="18" charset="0"/>
            </a:endParaRPr>
          </a:p>
        </p:txBody>
      </p:sp>
    </p:spTree>
    <p:extLst>
      <p:ext uri="{BB962C8B-B14F-4D97-AF65-F5344CB8AC3E}">
        <p14:creationId xmlns:p14="http://schemas.microsoft.com/office/powerpoint/2010/main" val="9910041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Simplest Example</a:t>
            </a:r>
          </a:p>
        </p:txBody>
      </p:sp>
      <p:pic>
        <p:nvPicPr>
          <p:cNvPr id="4" name="Picture 3"/>
          <p:cNvPicPr>
            <a:picLocks noChangeAspect="1"/>
          </p:cNvPicPr>
          <p:nvPr/>
        </p:nvPicPr>
        <p:blipFill>
          <a:blip r:embed="rId3"/>
          <a:stretch>
            <a:fillRect/>
          </a:stretch>
        </p:blipFill>
        <p:spPr>
          <a:xfrm>
            <a:off x="459424" y="1314030"/>
            <a:ext cx="7300372" cy="1831344"/>
          </a:xfrm>
          <a:prstGeom prst="rect">
            <a:avLst/>
          </a:prstGeom>
        </p:spPr>
      </p:pic>
      <p:pic>
        <p:nvPicPr>
          <p:cNvPr id="5" name="Picture 4"/>
          <p:cNvPicPr>
            <a:picLocks noChangeAspect="1"/>
          </p:cNvPicPr>
          <p:nvPr/>
        </p:nvPicPr>
        <p:blipFill>
          <a:blip r:embed="rId4"/>
          <a:stretch>
            <a:fillRect/>
          </a:stretch>
        </p:blipFill>
        <p:spPr>
          <a:xfrm>
            <a:off x="1350094" y="3221681"/>
            <a:ext cx="6409702" cy="2951470"/>
          </a:xfrm>
          <a:prstGeom prst="rect">
            <a:avLst/>
          </a:prstGeom>
        </p:spPr>
      </p:pic>
      <p:sp>
        <p:nvSpPr>
          <p:cNvPr id="6" name="Rectangle 5"/>
          <p:cNvSpPr/>
          <p:nvPr/>
        </p:nvSpPr>
        <p:spPr bwMode="auto">
          <a:xfrm>
            <a:off x="2556106" y="5431691"/>
            <a:ext cx="3927891" cy="741460"/>
          </a:xfrm>
          <a:prstGeom prst="rect">
            <a:avLst/>
          </a:prstGeom>
          <a:solidFill>
            <a:srgbClr val="FF0000">
              <a:alpha val="50000"/>
            </a:srgbClr>
          </a:solidFill>
          <a:ln w="50800">
            <a:noFill/>
            <a:round/>
            <a:headEnd type="triangle" w="med" len="med"/>
            <a:tailEnd/>
          </a:ln>
          <a:effectLst/>
        </p:spPr>
        <p:txBody>
          <a:bodyPr wrap="none" rtlCol="0" anchor="ctr"/>
          <a:lstStyle/>
          <a:p>
            <a:endParaRPr lang="en-US" sz="3204" b="1">
              <a:latin typeface="+mn-lt"/>
              <a:cs typeface="Times New Roman" pitchFamily="18" charset="0"/>
            </a:endParaRPr>
          </a:p>
        </p:txBody>
      </p:sp>
    </p:spTree>
    <p:extLst>
      <p:ext uri="{BB962C8B-B14F-4D97-AF65-F5344CB8AC3E}">
        <p14:creationId xmlns:p14="http://schemas.microsoft.com/office/powerpoint/2010/main" val="9653188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Along Vertical Direction</a:t>
            </a:r>
          </a:p>
        </p:txBody>
      </p:sp>
      <p:pic>
        <p:nvPicPr>
          <p:cNvPr id="4" name="Picture 3"/>
          <p:cNvPicPr>
            <a:picLocks noChangeAspect="1"/>
          </p:cNvPicPr>
          <p:nvPr/>
        </p:nvPicPr>
        <p:blipFill>
          <a:blip r:embed="rId3"/>
          <a:stretch>
            <a:fillRect/>
          </a:stretch>
        </p:blipFill>
        <p:spPr>
          <a:xfrm>
            <a:off x="58145" y="1488242"/>
            <a:ext cx="8683832" cy="4349441"/>
          </a:xfrm>
          <a:prstGeom prst="rect">
            <a:avLst/>
          </a:prstGeom>
        </p:spPr>
      </p:pic>
      <p:sp>
        <p:nvSpPr>
          <p:cNvPr id="5" name="Rectangle 4"/>
          <p:cNvSpPr/>
          <p:nvPr/>
        </p:nvSpPr>
        <p:spPr bwMode="auto">
          <a:xfrm>
            <a:off x="3367675" y="5337656"/>
            <a:ext cx="2005781" cy="422787"/>
          </a:xfrm>
          <a:prstGeom prst="rect">
            <a:avLst/>
          </a:prstGeom>
          <a:solidFill>
            <a:srgbClr val="FF0000">
              <a:alpha val="50000"/>
            </a:srgbClr>
          </a:solidFill>
          <a:ln w="50800">
            <a:noFill/>
            <a:round/>
            <a:headEnd type="triangle" w="med" len="med"/>
            <a:tailEnd/>
          </a:ln>
          <a:effectLst/>
        </p:spPr>
        <p:txBody>
          <a:bodyPr wrap="none" rtlCol="0" anchor="ctr"/>
          <a:lstStyle/>
          <a:p>
            <a:endParaRPr lang="en-US" sz="3204" b="1">
              <a:latin typeface="+mn-lt"/>
              <a:cs typeface="Times New Roman" pitchFamily="18" charset="0"/>
            </a:endParaRPr>
          </a:p>
        </p:txBody>
      </p:sp>
    </p:spTree>
    <p:extLst>
      <p:ext uri="{BB962C8B-B14F-4D97-AF65-F5344CB8AC3E}">
        <p14:creationId xmlns:p14="http://schemas.microsoft.com/office/powerpoint/2010/main" val="35018485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Along Any Direction</a:t>
            </a:r>
          </a:p>
        </p:txBody>
      </p:sp>
      <p:pic>
        <p:nvPicPr>
          <p:cNvPr id="4" name="Picture 3"/>
          <p:cNvPicPr>
            <a:picLocks noChangeAspect="1"/>
          </p:cNvPicPr>
          <p:nvPr/>
        </p:nvPicPr>
        <p:blipFill>
          <a:blip r:embed="rId3"/>
          <a:stretch>
            <a:fillRect/>
          </a:stretch>
        </p:blipFill>
        <p:spPr>
          <a:xfrm>
            <a:off x="120198" y="1274451"/>
            <a:ext cx="8137699" cy="4718866"/>
          </a:xfrm>
          <a:prstGeom prst="rect">
            <a:avLst/>
          </a:prstGeom>
        </p:spPr>
      </p:pic>
      <p:pic>
        <p:nvPicPr>
          <p:cNvPr id="5" name="Picture 12" descr="http://www.magic-emoji.com/emoji/images/83_emoji_iphone_black_diamond_suit.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5400000">
            <a:off x="3194405" y="4811305"/>
            <a:ext cx="2046695" cy="20466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78443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Fourier Slice Theorem</a:t>
            </a:r>
          </a:p>
        </p:txBody>
      </p:sp>
      <p:pic>
        <p:nvPicPr>
          <p:cNvPr id="4" name="Picture 3"/>
          <p:cNvPicPr>
            <a:picLocks noChangeAspect="1"/>
          </p:cNvPicPr>
          <p:nvPr/>
        </p:nvPicPr>
        <p:blipFill>
          <a:blip r:embed="rId3"/>
          <a:stretch>
            <a:fillRect/>
          </a:stretch>
        </p:blipFill>
        <p:spPr>
          <a:xfrm>
            <a:off x="648633" y="1251509"/>
            <a:ext cx="7096456" cy="4904639"/>
          </a:xfrm>
          <a:prstGeom prst="rect">
            <a:avLst/>
          </a:prstGeom>
        </p:spPr>
      </p:pic>
      <p:sp>
        <p:nvSpPr>
          <p:cNvPr id="5" name="Rectangle 4"/>
          <p:cNvSpPr/>
          <p:nvPr/>
        </p:nvSpPr>
        <p:spPr bwMode="auto">
          <a:xfrm>
            <a:off x="2466385" y="5408498"/>
            <a:ext cx="3362633" cy="668594"/>
          </a:xfrm>
          <a:prstGeom prst="rect">
            <a:avLst/>
          </a:prstGeom>
          <a:solidFill>
            <a:srgbClr val="FF0000">
              <a:alpha val="50000"/>
            </a:srgbClr>
          </a:solidFill>
          <a:ln w="50800">
            <a:noFill/>
            <a:round/>
            <a:headEnd type="triangle" w="med" len="med"/>
            <a:tailEnd/>
          </a:ln>
          <a:effectLst/>
        </p:spPr>
        <p:txBody>
          <a:bodyPr wrap="none" rtlCol="0" anchor="ctr"/>
          <a:lstStyle/>
          <a:p>
            <a:endParaRPr lang="en-US" sz="3204" b="1">
              <a:latin typeface="+mn-lt"/>
              <a:cs typeface="Times New Roman" pitchFamily="18" charset="0"/>
            </a:endParaRPr>
          </a:p>
        </p:txBody>
      </p:sp>
    </p:spTree>
    <p:extLst>
      <p:ext uri="{BB962C8B-B14F-4D97-AF65-F5344CB8AC3E}">
        <p14:creationId xmlns:p14="http://schemas.microsoft.com/office/powerpoint/2010/main" val="34346398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Fourier Slice Theorem</a:t>
            </a:r>
          </a:p>
        </p:txBody>
      </p:sp>
      <p:pic>
        <p:nvPicPr>
          <p:cNvPr id="4" name="Picture 3"/>
          <p:cNvPicPr>
            <a:picLocks noChangeAspect="1"/>
          </p:cNvPicPr>
          <p:nvPr/>
        </p:nvPicPr>
        <p:blipFill>
          <a:blip r:embed="rId3"/>
          <a:stretch>
            <a:fillRect/>
          </a:stretch>
        </p:blipFill>
        <p:spPr>
          <a:xfrm>
            <a:off x="122300" y="1516581"/>
            <a:ext cx="8924620" cy="3824837"/>
          </a:xfrm>
          <a:prstGeom prst="rect">
            <a:avLst/>
          </a:prstGeom>
        </p:spPr>
      </p:pic>
      <p:sp>
        <p:nvSpPr>
          <p:cNvPr id="5" name="Rectangle 4"/>
          <p:cNvSpPr/>
          <p:nvPr/>
        </p:nvSpPr>
        <p:spPr bwMode="auto">
          <a:xfrm>
            <a:off x="1500777" y="2438334"/>
            <a:ext cx="5923839" cy="717755"/>
          </a:xfrm>
          <a:prstGeom prst="rect">
            <a:avLst/>
          </a:prstGeom>
          <a:solidFill>
            <a:srgbClr val="FF0000">
              <a:alpha val="50000"/>
            </a:srgbClr>
          </a:solidFill>
          <a:ln w="50800">
            <a:noFill/>
            <a:round/>
            <a:headEnd type="triangle" w="med" len="med"/>
            <a:tailEnd/>
          </a:ln>
          <a:effectLst/>
        </p:spPr>
        <p:txBody>
          <a:bodyPr wrap="none" rtlCol="0" anchor="ctr"/>
          <a:lstStyle/>
          <a:p>
            <a:endParaRPr lang="en-US" sz="3204" b="1">
              <a:latin typeface="+mn-lt"/>
              <a:cs typeface="Times New Roman" pitchFamily="18" charset="0"/>
            </a:endParaRPr>
          </a:p>
        </p:txBody>
      </p:sp>
      <p:sp>
        <p:nvSpPr>
          <p:cNvPr id="6" name="Rectangle 5"/>
          <p:cNvSpPr/>
          <p:nvPr/>
        </p:nvSpPr>
        <p:spPr bwMode="auto">
          <a:xfrm>
            <a:off x="2179202" y="4149146"/>
            <a:ext cx="4537491" cy="422787"/>
          </a:xfrm>
          <a:prstGeom prst="rect">
            <a:avLst/>
          </a:prstGeom>
          <a:solidFill>
            <a:srgbClr val="FF0000">
              <a:alpha val="50000"/>
            </a:srgbClr>
          </a:solidFill>
          <a:ln w="50800">
            <a:noFill/>
            <a:round/>
            <a:headEnd type="triangle" w="med" len="med"/>
            <a:tailEnd/>
          </a:ln>
          <a:effectLst/>
        </p:spPr>
        <p:txBody>
          <a:bodyPr wrap="none" rtlCol="0" anchor="ctr"/>
          <a:lstStyle/>
          <a:p>
            <a:endParaRPr lang="en-US" sz="3204" b="1">
              <a:latin typeface="+mn-lt"/>
              <a:cs typeface="Times New Roman" pitchFamily="18" charset="0"/>
            </a:endParaRPr>
          </a:p>
        </p:txBody>
      </p:sp>
    </p:spTree>
    <p:extLst>
      <p:ext uri="{BB962C8B-B14F-4D97-AF65-F5344CB8AC3E}">
        <p14:creationId xmlns:p14="http://schemas.microsoft.com/office/powerpoint/2010/main" val="13606206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From Projections to Image</a:t>
            </a:r>
          </a:p>
        </p:txBody>
      </p:sp>
      <p:sp>
        <p:nvSpPr>
          <p:cNvPr id="5" name="Oval 3"/>
          <p:cNvSpPr>
            <a:spLocks noChangeArrowheads="1"/>
          </p:cNvSpPr>
          <p:nvPr/>
        </p:nvSpPr>
        <p:spPr bwMode="auto">
          <a:xfrm>
            <a:off x="1354313" y="2377357"/>
            <a:ext cx="1412069" cy="1302818"/>
          </a:xfrm>
          <a:prstGeom prst="ellipse">
            <a:avLst/>
          </a:prstGeom>
          <a:solidFill>
            <a:srgbClr val="00B0F0"/>
          </a:solidFill>
          <a:ln w="50800">
            <a:solidFill>
              <a:srgbClr val="0070C0"/>
            </a:solidFill>
            <a:round/>
            <a:headEnd/>
            <a:tailEnd/>
          </a:ln>
          <a:effectLst/>
        </p:spPr>
        <p:txBody>
          <a:bodyPr wrap="none" anchor="ct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endParaRPr lang="en-US" altLang="en-US" sz="3204">
              <a:solidFill>
                <a:schemeClr val="tx1"/>
              </a:solidFill>
              <a:cs typeface="Times New Roman" pitchFamily="18" charset="0"/>
            </a:endParaRPr>
          </a:p>
        </p:txBody>
      </p:sp>
      <p:sp>
        <p:nvSpPr>
          <p:cNvPr id="6" name="Line 4"/>
          <p:cNvSpPr>
            <a:spLocks noChangeShapeType="1"/>
          </p:cNvSpPr>
          <p:nvPr/>
        </p:nvSpPr>
        <p:spPr bwMode="auto">
          <a:xfrm>
            <a:off x="692222" y="3046060"/>
            <a:ext cx="3298735" cy="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Arial" panose="020B0604020202020204" pitchFamily="34" charset="0"/>
              <a:cs typeface="Times New Roman" pitchFamily="18" charset="0"/>
            </a:endParaRPr>
          </a:p>
        </p:txBody>
      </p:sp>
      <p:sp>
        <p:nvSpPr>
          <p:cNvPr id="7" name="Line 5"/>
          <p:cNvSpPr>
            <a:spLocks noChangeShapeType="1"/>
          </p:cNvSpPr>
          <p:nvPr/>
        </p:nvSpPr>
        <p:spPr bwMode="auto">
          <a:xfrm>
            <a:off x="2069135" y="1420421"/>
            <a:ext cx="0" cy="2813163"/>
          </a:xfrm>
          <a:prstGeom prst="line">
            <a:avLst/>
          </a:prstGeom>
          <a:noFill/>
          <a:ln w="508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Arial" panose="020B0604020202020204" pitchFamily="34" charset="0"/>
              <a:cs typeface="Times New Roman" pitchFamily="18" charset="0"/>
            </a:endParaRPr>
          </a:p>
        </p:txBody>
      </p:sp>
      <p:sp>
        <p:nvSpPr>
          <p:cNvPr id="8" name="Rectangle 7"/>
          <p:cNvSpPr>
            <a:spLocks noChangeArrowheads="1"/>
          </p:cNvSpPr>
          <p:nvPr/>
        </p:nvSpPr>
        <p:spPr bwMode="auto">
          <a:xfrm>
            <a:off x="2178995" y="1309450"/>
            <a:ext cx="413074" cy="5346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8901F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614" tIns="44512" rIns="90614" bIns="44512">
            <a:spAutoFit/>
          </a:bodyP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r>
              <a:rPr lang="en-US" altLang="en-US" sz="3204">
                <a:solidFill>
                  <a:schemeClr val="tx1"/>
                </a:solidFill>
                <a:cs typeface="Times New Roman" pitchFamily="18" charset="0"/>
              </a:rPr>
              <a:t>y</a:t>
            </a:r>
          </a:p>
        </p:txBody>
      </p:sp>
      <p:sp>
        <p:nvSpPr>
          <p:cNvPr id="9" name="Rectangle 8"/>
          <p:cNvSpPr>
            <a:spLocks noChangeArrowheads="1"/>
          </p:cNvSpPr>
          <p:nvPr/>
        </p:nvSpPr>
        <p:spPr bwMode="auto">
          <a:xfrm>
            <a:off x="3696530" y="2514268"/>
            <a:ext cx="413074" cy="5346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8901F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614" tIns="44512" rIns="90614" bIns="44512">
            <a:spAutoFit/>
          </a:bodyP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r>
              <a:rPr lang="en-US" altLang="en-US" sz="3204">
                <a:solidFill>
                  <a:schemeClr val="tx1"/>
                </a:solidFill>
                <a:cs typeface="Times New Roman" pitchFamily="18" charset="0"/>
              </a:rPr>
              <a:t>x</a:t>
            </a:r>
          </a:p>
        </p:txBody>
      </p:sp>
      <p:sp>
        <p:nvSpPr>
          <p:cNvPr id="10" name="Line 9"/>
          <p:cNvSpPr>
            <a:spLocks noChangeShapeType="1"/>
          </p:cNvSpPr>
          <p:nvPr/>
        </p:nvSpPr>
        <p:spPr bwMode="auto">
          <a:xfrm>
            <a:off x="4418678" y="3046060"/>
            <a:ext cx="3111240" cy="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Arial" panose="020B0604020202020204" pitchFamily="34" charset="0"/>
              <a:cs typeface="Times New Roman" pitchFamily="18" charset="0"/>
            </a:endParaRPr>
          </a:p>
        </p:txBody>
      </p:sp>
      <p:sp>
        <p:nvSpPr>
          <p:cNvPr id="11" name="Line 10"/>
          <p:cNvSpPr>
            <a:spLocks noChangeShapeType="1"/>
          </p:cNvSpPr>
          <p:nvPr/>
        </p:nvSpPr>
        <p:spPr bwMode="auto">
          <a:xfrm>
            <a:off x="5795592" y="1420421"/>
            <a:ext cx="0" cy="2720929"/>
          </a:xfrm>
          <a:prstGeom prst="line">
            <a:avLst/>
          </a:prstGeom>
          <a:noFill/>
          <a:ln w="508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Arial" panose="020B0604020202020204" pitchFamily="34" charset="0"/>
              <a:cs typeface="Times New Roman" pitchFamily="18" charset="0"/>
            </a:endParaRPr>
          </a:p>
        </p:txBody>
      </p:sp>
      <p:sp>
        <p:nvSpPr>
          <p:cNvPr id="12" name="Rectangle 11"/>
          <p:cNvSpPr>
            <a:spLocks noChangeArrowheads="1"/>
          </p:cNvSpPr>
          <p:nvPr/>
        </p:nvSpPr>
        <p:spPr bwMode="auto">
          <a:xfrm>
            <a:off x="5882015" y="1333950"/>
            <a:ext cx="413074" cy="5346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8901F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614" tIns="44512" rIns="90614" bIns="44512">
            <a:spAutoFit/>
          </a:bodyP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r>
              <a:rPr lang="en-US" altLang="en-US" sz="3204">
                <a:solidFill>
                  <a:schemeClr val="tx1"/>
                </a:solidFill>
                <a:cs typeface="Times New Roman" pitchFamily="18" charset="0"/>
              </a:rPr>
              <a:t>v</a:t>
            </a:r>
          </a:p>
        </p:txBody>
      </p:sp>
      <p:sp>
        <p:nvSpPr>
          <p:cNvPr id="13" name="Rectangle 12"/>
          <p:cNvSpPr>
            <a:spLocks noChangeArrowheads="1"/>
          </p:cNvSpPr>
          <p:nvPr/>
        </p:nvSpPr>
        <p:spPr bwMode="auto">
          <a:xfrm>
            <a:off x="7235493" y="2537327"/>
            <a:ext cx="435046" cy="5346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FF66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614" tIns="44512" rIns="90614" bIns="44512">
            <a:spAutoFit/>
          </a:bodyP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r>
              <a:rPr lang="en-US" altLang="en-US" sz="3204">
                <a:solidFill>
                  <a:schemeClr val="tx1"/>
                </a:solidFill>
                <a:cs typeface="Times New Roman" pitchFamily="18" charset="0"/>
              </a:rPr>
              <a:t>u</a:t>
            </a:r>
          </a:p>
        </p:txBody>
      </p:sp>
      <p:sp>
        <p:nvSpPr>
          <p:cNvPr id="14" name="Line 13"/>
          <p:cNvSpPr>
            <a:spLocks noChangeShapeType="1"/>
          </p:cNvSpPr>
          <p:nvPr/>
        </p:nvSpPr>
        <p:spPr bwMode="auto">
          <a:xfrm flipV="1">
            <a:off x="4805387" y="1818184"/>
            <a:ext cx="2167907" cy="2179049"/>
          </a:xfrm>
          <a:prstGeom prst="line">
            <a:avLst/>
          </a:prstGeom>
          <a:noFill/>
          <a:ln w="508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Arial" panose="020B0604020202020204" pitchFamily="34" charset="0"/>
              <a:cs typeface="Times New Roman" pitchFamily="18" charset="0"/>
            </a:endParaRPr>
          </a:p>
        </p:txBody>
      </p:sp>
      <p:sp>
        <p:nvSpPr>
          <p:cNvPr id="15" name="Line 21"/>
          <p:cNvSpPr>
            <a:spLocks noChangeShapeType="1"/>
          </p:cNvSpPr>
          <p:nvPr/>
        </p:nvSpPr>
        <p:spPr bwMode="auto">
          <a:xfrm flipH="1">
            <a:off x="5332715" y="1599125"/>
            <a:ext cx="1078094" cy="2513400"/>
          </a:xfrm>
          <a:prstGeom prst="line">
            <a:avLst/>
          </a:prstGeom>
          <a:noFill/>
          <a:ln w="508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Arial" panose="020B0604020202020204" pitchFamily="34" charset="0"/>
              <a:cs typeface="Times New Roman" pitchFamily="18" charset="0"/>
            </a:endParaRPr>
          </a:p>
        </p:txBody>
      </p:sp>
      <p:sp>
        <p:nvSpPr>
          <p:cNvPr id="16" name="Line 22"/>
          <p:cNvSpPr>
            <a:spLocks noChangeShapeType="1"/>
          </p:cNvSpPr>
          <p:nvPr/>
        </p:nvSpPr>
        <p:spPr bwMode="auto">
          <a:xfrm>
            <a:off x="5262405" y="1599125"/>
            <a:ext cx="937473" cy="2559518"/>
          </a:xfrm>
          <a:prstGeom prst="line">
            <a:avLst/>
          </a:prstGeom>
          <a:noFill/>
          <a:ln w="508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Arial" panose="020B0604020202020204" pitchFamily="34" charset="0"/>
              <a:cs typeface="Times New Roman" pitchFamily="18" charset="0"/>
            </a:endParaRPr>
          </a:p>
        </p:txBody>
      </p:sp>
      <p:sp>
        <p:nvSpPr>
          <p:cNvPr id="17" name="Line 23"/>
          <p:cNvSpPr>
            <a:spLocks noChangeShapeType="1"/>
          </p:cNvSpPr>
          <p:nvPr/>
        </p:nvSpPr>
        <p:spPr bwMode="auto">
          <a:xfrm>
            <a:off x="4746794" y="1991124"/>
            <a:ext cx="2249936" cy="2213637"/>
          </a:xfrm>
          <a:prstGeom prst="line">
            <a:avLst/>
          </a:prstGeom>
          <a:noFill/>
          <a:ln w="508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Arial" panose="020B0604020202020204" pitchFamily="34" charset="0"/>
              <a:cs typeface="Times New Roman" pitchFamily="18" charset="0"/>
            </a:endParaRPr>
          </a:p>
        </p:txBody>
      </p:sp>
      <p:sp>
        <p:nvSpPr>
          <p:cNvPr id="18" name="Line 24"/>
          <p:cNvSpPr>
            <a:spLocks noChangeShapeType="1"/>
          </p:cNvSpPr>
          <p:nvPr/>
        </p:nvSpPr>
        <p:spPr bwMode="auto">
          <a:xfrm>
            <a:off x="4488989" y="2544533"/>
            <a:ext cx="2765547" cy="1037642"/>
          </a:xfrm>
          <a:prstGeom prst="line">
            <a:avLst/>
          </a:prstGeom>
          <a:noFill/>
          <a:ln w="508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Arial" panose="020B0604020202020204" pitchFamily="34" charset="0"/>
              <a:cs typeface="Times New Roman" pitchFamily="18" charset="0"/>
            </a:endParaRPr>
          </a:p>
        </p:txBody>
      </p:sp>
      <p:sp>
        <p:nvSpPr>
          <p:cNvPr id="19" name="Line 25"/>
          <p:cNvSpPr>
            <a:spLocks noChangeShapeType="1"/>
          </p:cNvSpPr>
          <p:nvPr/>
        </p:nvSpPr>
        <p:spPr bwMode="auto">
          <a:xfrm flipH="1">
            <a:off x="4371805" y="2406181"/>
            <a:ext cx="2953041" cy="1199053"/>
          </a:xfrm>
          <a:prstGeom prst="line">
            <a:avLst/>
          </a:prstGeom>
          <a:noFill/>
          <a:ln w="508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Arial" panose="020B0604020202020204" pitchFamily="34" charset="0"/>
              <a:cs typeface="Times New Roman" pitchFamily="18" charset="0"/>
            </a:endParaRPr>
          </a:p>
        </p:txBody>
      </p:sp>
      <p:sp>
        <p:nvSpPr>
          <p:cNvPr id="20" name="Arc 27"/>
          <p:cNvSpPr>
            <a:spLocks/>
          </p:cNvSpPr>
          <p:nvPr/>
        </p:nvSpPr>
        <p:spPr bwMode="auto">
          <a:xfrm>
            <a:off x="3809321" y="1620744"/>
            <a:ext cx="1874947" cy="94828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57150" cap="rnd">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Arial" panose="020B0604020202020204" pitchFamily="34" charset="0"/>
              <a:cs typeface="Times New Roman" pitchFamily="18" charset="0"/>
            </a:endParaRPr>
          </a:p>
        </p:txBody>
      </p:sp>
      <p:sp>
        <p:nvSpPr>
          <p:cNvPr id="21" name="Arc 28"/>
          <p:cNvSpPr>
            <a:spLocks/>
          </p:cNvSpPr>
          <p:nvPr/>
        </p:nvSpPr>
        <p:spPr bwMode="auto">
          <a:xfrm>
            <a:off x="2287391" y="1617863"/>
            <a:ext cx="1570268" cy="108952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21600"/>
                </a:moveTo>
                <a:cubicBezTo>
                  <a:pt x="0" y="9678"/>
                  <a:pt x="9658" y="11"/>
                  <a:pt x="21580" y="0"/>
                </a:cubicBezTo>
              </a:path>
              <a:path w="21600" h="21600" stroke="0" extrusionOk="0">
                <a:moveTo>
                  <a:pt x="0" y="21600"/>
                </a:moveTo>
                <a:cubicBezTo>
                  <a:pt x="0" y="9678"/>
                  <a:pt x="9658" y="11"/>
                  <a:pt x="21580" y="0"/>
                </a:cubicBezTo>
                <a:lnTo>
                  <a:pt x="21600" y="21600"/>
                </a:lnTo>
                <a:lnTo>
                  <a:pt x="0" y="21600"/>
                </a:lnTo>
                <a:close/>
              </a:path>
            </a:pathLst>
          </a:custGeom>
          <a:noFill/>
          <a:ln w="57150" cap="rnd">
            <a:solidFill>
              <a:schemeClr val="tx2"/>
            </a:solidFill>
            <a:round/>
            <a:headEnd type="triangle" w="med" len="me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3204" b="1">
              <a:latin typeface="Arial" panose="020B0604020202020204" pitchFamily="34" charset="0"/>
              <a:cs typeface="Times New Roman" pitchFamily="18" charset="0"/>
            </a:endParaRPr>
          </a:p>
        </p:txBody>
      </p:sp>
      <p:sp>
        <p:nvSpPr>
          <p:cNvPr id="22" name="Rectangle 14"/>
          <p:cNvSpPr>
            <a:spLocks noChangeArrowheads="1"/>
          </p:cNvSpPr>
          <p:nvPr/>
        </p:nvSpPr>
        <p:spPr bwMode="auto">
          <a:xfrm>
            <a:off x="2859396" y="930422"/>
            <a:ext cx="2205992" cy="534674"/>
          </a:xfrm>
          <a:prstGeom prst="rect">
            <a:avLst/>
          </a:prstGeom>
          <a:noFill/>
          <a:ln>
            <a:noFill/>
          </a:ln>
          <a:effectLst/>
        </p:spPr>
        <p:txBody>
          <a:bodyPr lIns="90614" tIns="44512" rIns="90614" bIns="44512">
            <a:spAutoFit/>
          </a:bodyP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r>
              <a:rPr lang="en-US" altLang="en-US" sz="3204" dirty="0">
                <a:solidFill>
                  <a:schemeClr val="tx1"/>
                </a:solidFill>
                <a:cs typeface="Times New Roman" pitchFamily="18" charset="0"/>
              </a:rPr>
              <a:t>F</a:t>
            </a:r>
            <a:r>
              <a:rPr lang="en-US" altLang="en-US" sz="4406" baseline="30000" dirty="0">
                <a:solidFill>
                  <a:schemeClr val="tx1"/>
                </a:solidFill>
                <a:cs typeface="Times New Roman" pitchFamily="18" charset="0"/>
              </a:rPr>
              <a:t>-1</a:t>
            </a:r>
            <a:r>
              <a:rPr lang="en-US" altLang="en-US" sz="3204" dirty="0">
                <a:solidFill>
                  <a:schemeClr val="tx1"/>
                </a:solidFill>
                <a:cs typeface="Times New Roman" pitchFamily="18" charset="0"/>
              </a:rPr>
              <a:t>[F(</a:t>
            </a:r>
            <a:r>
              <a:rPr lang="en-US" altLang="en-US" sz="3204" dirty="0" err="1">
                <a:solidFill>
                  <a:schemeClr val="tx1"/>
                </a:solidFill>
                <a:cs typeface="Times New Roman" pitchFamily="18" charset="0"/>
              </a:rPr>
              <a:t>u,v</a:t>
            </a:r>
            <a:r>
              <a:rPr lang="en-US" altLang="en-US" sz="3204" dirty="0">
                <a:solidFill>
                  <a:schemeClr val="tx1"/>
                </a:solidFill>
                <a:cs typeface="Times New Roman" pitchFamily="18" charset="0"/>
              </a:rPr>
              <a:t>)]</a:t>
            </a:r>
          </a:p>
        </p:txBody>
      </p:sp>
      <p:sp>
        <p:nvSpPr>
          <p:cNvPr id="23" name="Rectangle 6"/>
          <p:cNvSpPr>
            <a:spLocks noChangeArrowheads="1"/>
          </p:cNvSpPr>
          <p:nvPr/>
        </p:nvSpPr>
        <p:spPr bwMode="auto">
          <a:xfrm>
            <a:off x="1669245" y="4343215"/>
            <a:ext cx="1165983" cy="5346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8901F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614" tIns="44512" rIns="90614" bIns="44512">
            <a:spAutoFit/>
          </a:bodyP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r>
              <a:rPr lang="en-US" altLang="en-US" sz="3204" dirty="0">
                <a:solidFill>
                  <a:schemeClr val="tx1"/>
                </a:solidFill>
                <a:cs typeface="Times New Roman" pitchFamily="18" charset="0"/>
              </a:rPr>
              <a:t>f(</a:t>
            </a:r>
            <a:r>
              <a:rPr lang="en-US" altLang="en-US" sz="3204" dirty="0" err="1">
                <a:solidFill>
                  <a:schemeClr val="tx1"/>
                </a:solidFill>
                <a:cs typeface="Times New Roman" pitchFamily="18" charset="0"/>
              </a:rPr>
              <a:t>x,y</a:t>
            </a:r>
            <a:r>
              <a:rPr lang="en-US" altLang="en-US" sz="3204" dirty="0">
                <a:solidFill>
                  <a:schemeClr val="tx1"/>
                </a:solidFill>
                <a:cs typeface="Times New Roman" pitchFamily="18" charset="0"/>
              </a:rPr>
              <a:t>)</a:t>
            </a:r>
          </a:p>
        </p:txBody>
      </p:sp>
      <p:sp>
        <p:nvSpPr>
          <p:cNvPr id="24" name="Rectangle 15"/>
          <p:cNvSpPr>
            <a:spLocks noChangeArrowheads="1"/>
          </p:cNvSpPr>
          <p:nvPr/>
        </p:nvSpPr>
        <p:spPr bwMode="auto">
          <a:xfrm>
            <a:off x="3509037" y="4328701"/>
            <a:ext cx="1185025" cy="5346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8901F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614" tIns="44512" rIns="90614" bIns="44512">
            <a:spAutoFit/>
          </a:bodyP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r>
              <a:rPr lang="en-US" altLang="en-US" sz="3204" dirty="0">
                <a:solidFill>
                  <a:srgbClr val="0000FF"/>
                </a:solidFill>
                <a:cs typeface="Times New Roman" pitchFamily="18" charset="0"/>
              </a:rPr>
              <a:t>P(</a:t>
            </a:r>
            <a:r>
              <a:rPr lang="en-US" altLang="en-US" sz="3204" dirty="0">
                <a:solidFill>
                  <a:srgbClr val="0000FF"/>
                </a:solidFill>
                <a:latin typeface="Symbol" panose="05050102010706020507" pitchFamily="18" charset="2"/>
                <a:cs typeface="Times New Roman" pitchFamily="18" charset="0"/>
              </a:rPr>
              <a:t></a:t>
            </a:r>
            <a:r>
              <a:rPr lang="en-US" altLang="en-US" sz="3204" dirty="0">
                <a:solidFill>
                  <a:srgbClr val="0000FF"/>
                </a:solidFill>
                <a:cs typeface="Times New Roman" pitchFamily="18" charset="0"/>
              </a:rPr>
              <a:t>t)</a:t>
            </a:r>
          </a:p>
        </p:txBody>
      </p:sp>
      <p:sp>
        <p:nvSpPr>
          <p:cNvPr id="25" name="Rectangle 16"/>
          <p:cNvSpPr>
            <a:spLocks noChangeArrowheads="1"/>
          </p:cNvSpPr>
          <p:nvPr/>
        </p:nvSpPr>
        <p:spPr bwMode="auto">
          <a:xfrm>
            <a:off x="5337110" y="4314187"/>
            <a:ext cx="1417929" cy="5346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8901F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614" tIns="44512" rIns="90614" bIns="44512">
            <a:spAutoFit/>
          </a:bodyP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r>
              <a:rPr lang="en-US" altLang="en-US" sz="3204" dirty="0">
                <a:solidFill>
                  <a:srgbClr val="FF0000"/>
                </a:solidFill>
                <a:cs typeface="Times New Roman" pitchFamily="18" charset="0"/>
              </a:rPr>
              <a:t>F(</a:t>
            </a:r>
            <a:r>
              <a:rPr lang="en-US" altLang="en-US" sz="3204" dirty="0" err="1">
                <a:solidFill>
                  <a:srgbClr val="FF0000"/>
                </a:solidFill>
                <a:cs typeface="Times New Roman" pitchFamily="18" charset="0"/>
              </a:rPr>
              <a:t>u,v</a:t>
            </a:r>
            <a:r>
              <a:rPr lang="en-US" altLang="en-US" sz="3204" dirty="0">
                <a:solidFill>
                  <a:srgbClr val="FF0000"/>
                </a:solidFill>
                <a:cs typeface="Times New Roman" pitchFamily="18" charset="0"/>
              </a:rPr>
              <a:t>) </a:t>
            </a:r>
          </a:p>
        </p:txBody>
      </p:sp>
      <p:cxnSp>
        <p:nvCxnSpPr>
          <p:cNvPr id="32" name="Curved Connector 31"/>
          <p:cNvCxnSpPr>
            <a:stCxn id="23" idx="3"/>
            <a:endCxn id="24" idx="1"/>
          </p:cNvCxnSpPr>
          <p:nvPr/>
        </p:nvCxnSpPr>
        <p:spPr bwMode="auto">
          <a:xfrm flipV="1">
            <a:off x="2835228" y="4596038"/>
            <a:ext cx="673809" cy="14514"/>
          </a:xfrm>
          <a:prstGeom prst="straightConnector1">
            <a:avLst/>
          </a:prstGeom>
          <a:solidFill>
            <a:schemeClr val="accent1"/>
          </a:solidFill>
          <a:ln w="76200" cap="flat" cmpd="sng" algn="ctr">
            <a:solidFill>
              <a:srgbClr val="0000FF"/>
            </a:solidFill>
            <a:prstDash val="solid"/>
            <a:round/>
            <a:headEnd type="none" w="med" len="med"/>
            <a:tailEnd type="triangle"/>
          </a:ln>
          <a:effectLst/>
        </p:spPr>
      </p:cxnSp>
      <p:cxnSp>
        <p:nvCxnSpPr>
          <p:cNvPr id="34" name="Curved Connector 33"/>
          <p:cNvCxnSpPr>
            <a:stCxn id="24" idx="3"/>
            <a:endCxn id="25" idx="1"/>
          </p:cNvCxnSpPr>
          <p:nvPr/>
        </p:nvCxnSpPr>
        <p:spPr bwMode="auto">
          <a:xfrm flipV="1">
            <a:off x="4694061" y="4581524"/>
            <a:ext cx="643048" cy="14514"/>
          </a:xfrm>
          <a:prstGeom prst="straightConnector1">
            <a:avLst/>
          </a:prstGeom>
          <a:solidFill>
            <a:schemeClr val="accent1"/>
          </a:solidFill>
          <a:ln w="76200" cap="flat" cmpd="sng" algn="ctr">
            <a:solidFill>
              <a:srgbClr val="0000FF"/>
            </a:solidFill>
            <a:prstDash val="solid"/>
            <a:round/>
            <a:headEnd type="none" w="med" len="med"/>
            <a:tailEnd type="triangle"/>
          </a:ln>
          <a:effectLst/>
        </p:spPr>
      </p:cxnSp>
      <p:cxnSp>
        <p:nvCxnSpPr>
          <p:cNvPr id="37" name="Curved Connector 36"/>
          <p:cNvCxnSpPr>
            <a:stCxn id="25" idx="2"/>
            <a:endCxn id="23" idx="2"/>
          </p:cNvCxnSpPr>
          <p:nvPr/>
        </p:nvCxnSpPr>
        <p:spPr bwMode="auto">
          <a:xfrm rot="5400000">
            <a:off x="4134641" y="2966456"/>
            <a:ext cx="29028" cy="3793838"/>
          </a:xfrm>
          <a:prstGeom prst="curvedConnector3">
            <a:avLst>
              <a:gd name="adj1" fmla="val 887516"/>
            </a:avLst>
          </a:prstGeom>
          <a:solidFill>
            <a:schemeClr val="accent1"/>
          </a:solidFill>
          <a:ln w="76200" cap="flat" cmpd="sng" algn="ctr">
            <a:solidFill>
              <a:srgbClr val="FF0000"/>
            </a:solidFill>
            <a:prstDash val="solid"/>
            <a:round/>
            <a:headEnd type="none" w="med" len="med"/>
            <a:tailEnd type="triangle"/>
          </a:ln>
          <a:effectLst/>
        </p:spPr>
      </p:cxnSp>
      <p:sp>
        <p:nvSpPr>
          <p:cNvPr id="27" name="Rectangle 1029"/>
          <p:cNvSpPr>
            <a:spLocks noChangeArrowheads="1"/>
          </p:cNvSpPr>
          <p:nvPr/>
        </p:nvSpPr>
        <p:spPr bwMode="auto">
          <a:xfrm>
            <a:off x="105620" y="5375352"/>
            <a:ext cx="8376327" cy="1087089"/>
          </a:xfrm>
          <a:prstGeom prst="rect">
            <a:avLst/>
          </a:prstGeom>
          <a:noFill/>
          <a:ln>
            <a:noFill/>
          </a:ln>
          <a:effectLst/>
          <a:extLst>
            <a:ext uri="{909E8E84-426E-40DD-AFC4-6F175D3DCCD1}">
              <a14:hiddenFill xmlns:a14="http://schemas.microsoft.com/office/drawing/2010/main">
                <a:solidFill>
                  <a:srgbClr val="00279F"/>
                </a:solidFill>
              </a14:hiddenFill>
            </a:ext>
            <a:ext uri="{91240B29-F687-4F45-9708-019B960494DF}">
              <a14:hiddenLine xmlns:a14="http://schemas.microsoft.com/office/drawing/2010/main" w="50800">
                <a:solidFill>
                  <a:srgbClr val="FC0128"/>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614" tIns="44512" rIns="90614" bIns="44512">
            <a:spAutoFit/>
          </a:bodyP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r>
              <a:rPr lang="en-US" altLang="en-US" sz="2400" dirty="0">
                <a:solidFill>
                  <a:schemeClr val="tx1"/>
                </a:solidFill>
                <a:cs typeface="Times New Roman" pitchFamily="18" charset="0"/>
              </a:rPr>
              <a:t>X-ray data are essentially samples in the Fourier space, and image reconstruction can be done via inverse Fourier transform!</a:t>
            </a:r>
          </a:p>
        </p:txBody>
      </p:sp>
    </p:spTree>
    <p:extLst>
      <p:ext uri="{BB962C8B-B14F-4D97-AF65-F5344CB8AC3E}">
        <p14:creationId xmlns:p14="http://schemas.microsoft.com/office/powerpoint/2010/main" val="4660554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Filtered Backprojection</a:t>
            </a:r>
          </a:p>
        </p:txBody>
      </p:sp>
      <p:pic>
        <p:nvPicPr>
          <p:cNvPr id="4" name="Picture 3"/>
          <p:cNvPicPr>
            <a:picLocks noChangeAspect="1"/>
          </p:cNvPicPr>
          <p:nvPr/>
        </p:nvPicPr>
        <p:blipFill>
          <a:blip r:embed="rId3"/>
          <a:stretch>
            <a:fillRect/>
          </a:stretch>
        </p:blipFill>
        <p:spPr>
          <a:xfrm>
            <a:off x="297704" y="1372488"/>
            <a:ext cx="7845209" cy="4113023"/>
          </a:xfrm>
          <a:prstGeom prst="rect">
            <a:avLst/>
          </a:prstGeom>
        </p:spPr>
      </p:pic>
      <p:sp>
        <p:nvSpPr>
          <p:cNvPr id="5" name="Rectangle 1029"/>
          <p:cNvSpPr>
            <a:spLocks noChangeArrowheads="1"/>
          </p:cNvSpPr>
          <p:nvPr/>
        </p:nvSpPr>
        <p:spPr bwMode="auto">
          <a:xfrm>
            <a:off x="395559" y="5863649"/>
            <a:ext cx="8175062" cy="754691"/>
          </a:xfrm>
          <a:prstGeom prst="rect">
            <a:avLst/>
          </a:prstGeom>
          <a:noFill/>
          <a:ln>
            <a:noFill/>
          </a:ln>
          <a:effectLst/>
          <a:extLst>
            <a:ext uri="{909E8E84-426E-40DD-AFC4-6F175D3DCCD1}">
              <a14:hiddenFill xmlns:a14="http://schemas.microsoft.com/office/drawing/2010/main">
                <a:solidFill>
                  <a:srgbClr val="00279F"/>
                </a:solidFill>
              </a14:hiddenFill>
            </a:ext>
            <a:ext uri="{91240B29-F687-4F45-9708-019B960494DF}">
              <a14:hiddenLine xmlns:a14="http://schemas.microsoft.com/office/drawing/2010/main" w="50800">
                <a:solidFill>
                  <a:srgbClr val="FC0128"/>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614" tIns="44512" rIns="90614" bIns="44512">
            <a:spAutoFit/>
          </a:bodyP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r>
              <a:rPr lang="en-US" altLang="en-US" sz="2400" dirty="0">
                <a:solidFill>
                  <a:srgbClr val="FF0000"/>
                </a:solidFill>
                <a:cs typeface="Times New Roman" pitchFamily="18" charset="0"/>
              </a:rPr>
              <a:t>The idea is to express f(</a:t>
            </a:r>
            <a:r>
              <a:rPr lang="en-US" altLang="en-US" sz="2400" dirty="0" err="1">
                <a:solidFill>
                  <a:srgbClr val="FF0000"/>
                </a:solidFill>
                <a:cs typeface="Times New Roman" pitchFamily="18" charset="0"/>
              </a:rPr>
              <a:t>x,y</a:t>
            </a:r>
            <a:r>
              <a:rPr lang="en-US" altLang="en-US" sz="2400" dirty="0">
                <a:solidFill>
                  <a:srgbClr val="FF0000"/>
                </a:solidFill>
                <a:cs typeface="Times New Roman" pitchFamily="18" charset="0"/>
              </a:rPr>
              <a:t>) in terms of the Fourier transform in polar coordinates</a:t>
            </a:r>
          </a:p>
        </p:txBody>
      </p:sp>
    </p:spTree>
    <p:extLst>
      <p:ext uri="{BB962C8B-B14F-4D97-AF65-F5344CB8AC3E}">
        <p14:creationId xmlns:p14="http://schemas.microsoft.com/office/powerpoint/2010/main" val="4742782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Filtered Backprojection</a:t>
            </a:r>
          </a:p>
        </p:txBody>
      </p:sp>
      <p:pic>
        <p:nvPicPr>
          <p:cNvPr id="4" name="Picture 3"/>
          <p:cNvPicPr>
            <a:picLocks noChangeAspect="1"/>
          </p:cNvPicPr>
          <p:nvPr/>
        </p:nvPicPr>
        <p:blipFill>
          <a:blip r:embed="rId3"/>
          <a:stretch>
            <a:fillRect/>
          </a:stretch>
        </p:blipFill>
        <p:spPr>
          <a:xfrm>
            <a:off x="0" y="1224366"/>
            <a:ext cx="8875454" cy="4578359"/>
          </a:xfrm>
          <a:prstGeom prst="rect">
            <a:avLst/>
          </a:prstGeom>
        </p:spPr>
      </p:pic>
      <p:sp>
        <p:nvSpPr>
          <p:cNvPr id="5" name="Rectangle 1029"/>
          <p:cNvSpPr>
            <a:spLocks noChangeArrowheads="1"/>
          </p:cNvSpPr>
          <p:nvPr/>
        </p:nvSpPr>
        <p:spPr bwMode="auto">
          <a:xfrm>
            <a:off x="594852" y="5562915"/>
            <a:ext cx="8175062" cy="754691"/>
          </a:xfrm>
          <a:prstGeom prst="rect">
            <a:avLst/>
          </a:prstGeom>
          <a:noFill/>
          <a:ln>
            <a:noFill/>
          </a:ln>
          <a:effectLst/>
          <a:extLst>
            <a:ext uri="{909E8E84-426E-40DD-AFC4-6F175D3DCCD1}">
              <a14:hiddenFill xmlns:a14="http://schemas.microsoft.com/office/drawing/2010/main">
                <a:solidFill>
                  <a:srgbClr val="00279F"/>
                </a:solidFill>
              </a14:hiddenFill>
            </a:ext>
            <a:ext uri="{91240B29-F687-4F45-9708-019B960494DF}">
              <a14:hiddenLine xmlns:a14="http://schemas.microsoft.com/office/drawing/2010/main" w="50800">
                <a:solidFill>
                  <a:srgbClr val="FC0128"/>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614" tIns="44512" rIns="90614" bIns="44512">
            <a:spAutoFit/>
          </a:bodyP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r>
              <a:rPr lang="en-US" altLang="en-US" sz="2400" dirty="0">
                <a:solidFill>
                  <a:schemeClr val="tx1"/>
                </a:solidFill>
                <a:cs typeface="Times New Roman" pitchFamily="18" charset="0"/>
              </a:rPr>
              <a:t>Half-scan over 0-180 Degrees Gives Sufficient Information for Image Reconstruction</a:t>
            </a:r>
          </a:p>
        </p:txBody>
      </p:sp>
    </p:spTree>
    <p:extLst>
      <p:ext uri="{BB962C8B-B14F-4D97-AF65-F5344CB8AC3E}">
        <p14:creationId xmlns:p14="http://schemas.microsoft.com/office/powerpoint/2010/main" val="27963146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Filtered Backprojection</a:t>
            </a:r>
          </a:p>
        </p:txBody>
      </p:sp>
      <p:pic>
        <p:nvPicPr>
          <p:cNvPr id="4" name="Picture 3"/>
          <p:cNvPicPr>
            <a:picLocks noChangeAspect="1"/>
          </p:cNvPicPr>
          <p:nvPr/>
        </p:nvPicPr>
        <p:blipFill>
          <a:blip r:embed="rId3"/>
          <a:stretch>
            <a:fillRect/>
          </a:stretch>
        </p:blipFill>
        <p:spPr>
          <a:xfrm>
            <a:off x="1441775" y="1227532"/>
            <a:ext cx="6142631" cy="4402935"/>
          </a:xfrm>
          <a:prstGeom prst="rect">
            <a:avLst/>
          </a:prstGeom>
        </p:spPr>
      </p:pic>
      <p:pic>
        <p:nvPicPr>
          <p:cNvPr id="5" name="Picture 4"/>
          <p:cNvPicPr>
            <a:picLocks noChangeAspect="1"/>
          </p:cNvPicPr>
          <p:nvPr/>
        </p:nvPicPr>
        <p:blipFill>
          <a:blip r:embed="rId4"/>
          <a:stretch>
            <a:fillRect/>
          </a:stretch>
        </p:blipFill>
        <p:spPr>
          <a:xfrm>
            <a:off x="2623727" y="5750738"/>
            <a:ext cx="4905885" cy="532105"/>
          </a:xfrm>
          <a:prstGeom prst="rect">
            <a:avLst/>
          </a:prstGeom>
        </p:spPr>
      </p:pic>
      <p:pic>
        <p:nvPicPr>
          <p:cNvPr id="6" name="Picture 12" descr="http://www.magic-emoji.com/emoji/images/83_emoji_iphone_black_diamond_suit.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5400000">
            <a:off x="203200" y="4861845"/>
            <a:ext cx="2046695" cy="2046695"/>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p:cNvSpPr/>
          <p:nvPr/>
        </p:nvSpPr>
        <p:spPr bwMode="auto">
          <a:xfrm>
            <a:off x="2623727" y="4003750"/>
            <a:ext cx="3578747" cy="717755"/>
          </a:xfrm>
          <a:prstGeom prst="rect">
            <a:avLst/>
          </a:prstGeom>
          <a:solidFill>
            <a:srgbClr val="FF0000">
              <a:alpha val="50000"/>
            </a:srgbClr>
          </a:solidFill>
          <a:ln w="50800">
            <a:noFill/>
            <a:round/>
            <a:headEnd type="triangle" w="med" len="med"/>
            <a:tailEnd/>
          </a:ln>
          <a:effectLst/>
        </p:spPr>
        <p:txBody>
          <a:bodyPr wrap="none" rtlCol="0" anchor="ctr"/>
          <a:lstStyle/>
          <a:p>
            <a:endParaRPr lang="en-US" sz="3204" b="1">
              <a:latin typeface="+mn-lt"/>
              <a:cs typeface="Times New Roman" pitchFamily="18" charset="0"/>
            </a:endParaRPr>
          </a:p>
        </p:txBody>
      </p:sp>
    </p:spTree>
    <p:extLst>
      <p:ext uri="{BB962C8B-B14F-4D97-AF65-F5344CB8AC3E}">
        <p14:creationId xmlns:p14="http://schemas.microsoft.com/office/powerpoint/2010/main" val="32415367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Ramp Filter</a:t>
            </a:r>
          </a:p>
        </p:txBody>
      </p:sp>
      <p:pic>
        <p:nvPicPr>
          <p:cNvPr id="4" name="Picture 3"/>
          <p:cNvPicPr>
            <a:picLocks noChangeAspect="1"/>
          </p:cNvPicPr>
          <p:nvPr/>
        </p:nvPicPr>
        <p:blipFill>
          <a:blip r:embed="rId3"/>
          <a:stretch>
            <a:fillRect/>
          </a:stretch>
        </p:blipFill>
        <p:spPr>
          <a:xfrm>
            <a:off x="875135" y="1947790"/>
            <a:ext cx="6597085" cy="4365207"/>
          </a:xfrm>
          <a:prstGeom prst="rect">
            <a:avLst/>
          </a:prstGeom>
        </p:spPr>
      </p:pic>
      <p:pic>
        <p:nvPicPr>
          <p:cNvPr id="3" name="Picture 2"/>
          <p:cNvPicPr>
            <a:picLocks noChangeAspect="1"/>
          </p:cNvPicPr>
          <p:nvPr/>
        </p:nvPicPr>
        <p:blipFill>
          <a:blip r:embed="rId4"/>
          <a:stretch>
            <a:fillRect/>
          </a:stretch>
        </p:blipFill>
        <p:spPr>
          <a:xfrm>
            <a:off x="2725324" y="1276802"/>
            <a:ext cx="4649896" cy="709053"/>
          </a:xfrm>
          <a:prstGeom prst="rect">
            <a:avLst/>
          </a:prstGeom>
        </p:spPr>
      </p:pic>
      <p:pic>
        <p:nvPicPr>
          <p:cNvPr id="5" name="Picture 4" descr="http://www.wpclipart.com/blanks/buttons/round/button_round_green.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0" y="380408"/>
            <a:ext cx="1490954" cy="14909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82754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Bandlimited Expression</a:t>
            </a:r>
          </a:p>
        </p:txBody>
      </p:sp>
      <p:pic>
        <p:nvPicPr>
          <p:cNvPr id="4" name="Picture 3"/>
          <p:cNvPicPr>
            <a:picLocks noChangeAspect="1"/>
          </p:cNvPicPr>
          <p:nvPr/>
        </p:nvPicPr>
        <p:blipFill>
          <a:blip r:embed="rId3"/>
          <a:stretch>
            <a:fillRect/>
          </a:stretch>
        </p:blipFill>
        <p:spPr>
          <a:xfrm>
            <a:off x="0" y="1228487"/>
            <a:ext cx="8840923" cy="4196829"/>
          </a:xfrm>
          <a:prstGeom prst="rect">
            <a:avLst/>
          </a:prstGeom>
        </p:spPr>
      </p:pic>
      <p:pic>
        <p:nvPicPr>
          <p:cNvPr id="5" name="Picture 4" descr="http://www.wpclipart.com/blanks/buttons/round/button_round_gree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19175" y="2182486"/>
            <a:ext cx="1490954" cy="14909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25936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Digital Filtration</a:t>
            </a:r>
          </a:p>
        </p:txBody>
      </p:sp>
      <p:pic>
        <p:nvPicPr>
          <p:cNvPr id="4" name="Picture 3"/>
          <p:cNvPicPr>
            <a:picLocks noChangeAspect="1"/>
          </p:cNvPicPr>
          <p:nvPr/>
        </p:nvPicPr>
        <p:blipFill>
          <a:blip r:embed="rId3"/>
          <a:stretch>
            <a:fillRect/>
          </a:stretch>
        </p:blipFill>
        <p:spPr>
          <a:xfrm>
            <a:off x="203200" y="1293198"/>
            <a:ext cx="5288959" cy="4980604"/>
          </a:xfrm>
          <a:prstGeom prst="rect">
            <a:avLst/>
          </a:prstGeom>
        </p:spPr>
      </p:pic>
      <p:pic>
        <p:nvPicPr>
          <p:cNvPr id="5" name="Picture 4"/>
          <p:cNvPicPr>
            <a:picLocks noChangeAspect="1"/>
          </p:cNvPicPr>
          <p:nvPr/>
        </p:nvPicPr>
        <p:blipFill>
          <a:blip r:embed="rId4"/>
          <a:stretch>
            <a:fillRect/>
          </a:stretch>
        </p:blipFill>
        <p:spPr>
          <a:xfrm>
            <a:off x="4012139" y="1296203"/>
            <a:ext cx="5182660" cy="2838778"/>
          </a:xfrm>
          <a:prstGeom prst="rect">
            <a:avLst/>
          </a:prstGeom>
        </p:spPr>
      </p:pic>
      <p:pic>
        <p:nvPicPr>
          <p:cNvPr id="6" name="Picture 5" descr="http://www.wpclipart.com/blanks/buttons/round/button_round_green.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16715" y="1724655"/>
            <a:ext cx="1490954" cy="14909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24139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644" name="Picture 140" descr="http://orig02.deviantart.net/b47f/f/2014/065/b/7/green_sphere_2_png_by_clipartcotttage-d7951ut.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90579" y="2624868"/>
            <a:ext cx="1038820" cy="1038820"/>
          </a:xfrm>
          <a:prstGeom prst="rect">
            <a:avLst/>
          </a:prstGeom>
          <a:noFill/>
          <a:extLst>
            <a:ext uri="{909E8E84-426E-40DD-AFC4-6F175D3DCCD1}">
              <a14:hiddenFill xmlns:a14="http://schemas.microsoft.com/office/drawing/2010/main">
                <a:solidFill>
                  <a:srgbClr val="FFFFFF"/>
                </a:solidFill>
              </a14:hiddenFill>
            </a:ext>
          </a:extLst>
        </p:spPr>
      </p:pic>
      <p:pic>
        <p:nvPicPr>
          <p:cNvPr id="112" name="Picture 111"/>
          <p:cNvPicPr>
            <a:picLocks noChangeAspect="1"/>
          </p:cNvPicPr>
          <p:nvPr/>
        </p:nvPicPr>
        <p:blipFill>
          <a:blip r:embed="rId4"/>
          <a:stretch>
            <a:fillRect/>
          </a:stretch>
        </p:blipFill>
        <p:spPr>
          <a:xfrm>
            <a:off x="1353924" y="2634923"/>
            <a:ext cx="1193053" cy="1039661"/>
          </a:xfrm>
          <a:prstGeom prst="rect">
            <a:avLst/>
          </a:prstGeom>
        </p:spPr>
      </p:pic>
      <p:sp>
        <p:nvSpPr>
          <p:cNvPr id="4" name="Oval 2"/>
          <p:cNvSpPr>
            <a:spLocks noChangeAspect="1" noChangeArrowheads="1"/>
          </p:cNvSpPr>
          <p:nvPr/>
        </p:nvSpPr>
        <p:spPr bwMode="auto">
          <a:xfrm>
            <a:off x="909393" y="2060104"/>
            <a:ext cx="2103633" cy="2176915"/>
          </a:xfrm>
          <a:prstGeom prst="ellipse">
            <a:avLst/>
          </a:prstGeom>
          <a:noFill/>
          <a:ln w="25400">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zh-CN" altLang="en-US" sz="2000" b="1">
              <a:latin typeface="+mn-lt"/>
              <a:ea typeface="SimSun" panose="02010600030101010101" pitchFamily="2" charset="-122"/>
            </a:endParaRPr>
          </a:p>
        </p:txBody>
      </p:sp>
      <p:sp>
        <p:nvSpPr>
          <p:cNvPr id="5" name="Arc 3"/>
          <p:cNvSpPr>
            <a:spLocks noChangeAspect="1"/>
          </p:cNvSpPr>
          <p:nvPr/>
        </p:nvSpPr>
        <p:spPr bwMode="auto">
          <a:xfrm rot="11647623" flipH="1">
            <a:off x="1530137" y="2018991"/>
            <a:ext cx="439694" cy="2155363"/>
          </a:xfrm>
          <a:custGeom>
            <a:avLst/>
            <a:gdLst>
              <a:gd name="T0" fmla="*/ 4683303 w 22229"/>
              <a:gd name="T1" fmla="*/ 58330186 h 43200"/>
              <a:gd name="T2" fmla="*/ 4718108 w 22229"/>
              <a:gd name="T3" fmla="*/ 12163 h 43200"/>
              <a:gd name="T4" fmla="*/ 4584600 w 22229"/>
              <a:gd name="T5" fmla="*/ 29168474 h 43200"/>
              <a:gd name="T6" fmla="*/ 0 60000 65536"/>
              <a:gd name="T7" fmla="*/ 0 60000 65536"/>
              <a:gd name="T8" fmla="*/ 0 60000 65536"/>
              <a:gd name="T9" fmla="*/ 0 w 22229"/>
              <a:gd name="T10" fmla="*/ 0 h 43200"/>
              <a:gd name="T11" fmla="*/ 22229 w 22229"/>
              <a:gd name="T12" fmla="*/ 43200 h 43200"/>
            </a:gdLst>
            <a:ahLst/>
            <a:cxnLst>
              <a:cxn ang="T6">
                <a:pos x="T0" y="T1"/>
              </a:cxn>
              <a:cxn ang="T7">
                <a:pos x="T2" y="T3"/>
              </a:cxn>
              <a:cxn ang="T8">
                <a:pos x="T4" y="T5"/>
              </a:cxn>
            </a:cxnLst>
            <a:rect l="T9" t="T10" r="T11" b="T12"/>
            <a:pathLst>
              <a:path w="22229" h="43200" fill="none" extrusionOk="0">
                <a:moveTo>
                  <a:pt x="22064" y="43194"/>
                </a:moveTo>
                <a:cubicBezTo>
                  <a:pt x="21910" y="43198"/>
                  <a:pt x="21755" y="43199"/>
                  <a:pt x="21600" y="43200"/>
                </a:cubicBezTo>
                <a:cubicBezTo>
                  <a:pt x="9670" y="43200"/>
                  <a:pt x="0" y="33529"/>
                  <a:pt x="0" y="21600"/>
                </a:cubicBezTo>
                <a:cubicBezTo>
                  <a:pt x="0" y="9670"/>
                  <a:pt x="9670" y="0"/>
                  <a:pt x="21600" y="0"/>
                </a:cubicBezTo>
                <a:cubicBezTo>
                  <a:pt x="21809" y="-1"/>
                  <a:pt x="22019" y="3"/>
                  <a:pt x="22228" y="9"/>
                </a:cubicBezTo>
              </a:path>
              <a:path w="22229" h="43200" stroke="0" extrusionOk="0">
                <a:moveTo>
                  <a:pt x="22064" y="43194"/>
                </a:moveTo>
                <a:cubicBezTo>
                  <a:pt x="21910" y="43198"/>
                  <a:pt x="21755" y="43199"/>
                  <a:pt x="21600" y="43200"/>
                </a:cubicBezTo>
                <a:cubicBezTo>
                  <a:pt x="9670" y="43200"/>
                  <a:pt x="0" y="33529"/>
                  <a:pt x="0" y="21600"/>
                </a:cubicBezTo>
                <a:cubicBezTo>
                  <a:pt x="0" y="9670"/>
                  <a:pt x="9670" y="0"/>
                  <a:pt x="21600" y="0"/>
                </a:cubicBezTo>
                <a:cubicBezTo>
                  <a:pt x="21809" y="-1"/>
                  <a:pt x="22019" y="3"/>
                  <a:pt x="22228" y="9"/>
                </a:cubicBezTo>
                <a:lnTo>
                  <a:pt x="21600" y="21600"/>
                </a:lnTo>
                <a:close/>
              </a:path>
            </a:pathLst>
          </a:custGeom>
          <a:noFill/>
          <a:ln w="25400">
            <a:solidFill>
              <a:schemeClr val="tx2"/>
            </a:solidFill>
            <a:prstDash val="dash"/>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b="1">
              <a:latin typeface="+mn-lt"/>
            </a:endParaRPr>
          </a:p>
        </p:txBody>
      </p:sp>
      <p:sp>
        <p:nvSpPr>
          <p:cNvPr id="6" name="Arc 4"/>
          <p:cNvSpPr>
            <a:spLocks noChangeAspect="1"/>
          </p:cNvSpPr>
          <p:nvPr/>
        </p:nvSpPr>
        <p:spPr bwMode="auto">
          <a:xfrm rot="862047" flipH="1">
            <a:off x="1943966" y="2122447"/>
            <a:ext cx="439694" cy="2155363"/>
          </a:xfrm>
          <a:custGeom>
            <a:avLst/>
            <a:gdLst>
              <a:gd name="T0" fmla="*/ 4683303 w 22229"/>
              <a:gd name="T1" fmla="*/ 58330186 h 43200"/>
              <a:gd name="T2" fmla="*/ 4718108 w 22229"/>
              <a:gd name="T3" fmla="*/ 12163 h 43200"/>
              <a:gd name="T4" fmla="*/ 4584600 w 22229"/>
              <a:gd name="T5" fmla="*/ 29168474 h 43200"/>
              <a:gd name="T6" fmla="*/ 0 60000 65536"/>
              <a:gd name="T7" fmla="*/ 0 60000 65536"/>
              <a:gd name="T8" fmla="*/ 0 60000 65536"/>
              <a:gd name="T9" fmla="*/ 0 w 22229"/>
              <a:gd name="T10" fmla="*/ 0 h 43200"/>
              <a:gd name="T11" fmla="*/ 22229 w 22229"/>
              <a:gd name="T12" fmla="*/ 43200 h 43200"/>
            </a:gdLst>
            <a:ahLst/>
            <a:cxnLst>
              <a:cxn ang="T6">
                <a:pos x="T0" y="T1"/>
              </a:cxn>
              <a:cxn ang="T7">
                <a:pos x="T2" y="T3"/>
              </a:cxn>
              <a:cxn ang="T8">
                <a:pos x="T4" y="T5"/>
              </a:cxn>
            </a:cxnLst>
            <a:rect l="T9" t="T10" r="T11" b="T12"/>
            <a:pathLst>
              <a:path w="22229" h="43200" fill="none" extrusionOk="0">
                <a:moveTo>
                  <a:pt x="22064" y="43194"/>
                </a:moveTo>
                <a:cubicBezTo>
                  <a:pt x="21910" y="43198"/>
                  <a:pt x="21755" y="43199"/>
                  <a:pt x="21600" y="43200"/>
                </a:cubicBezTo>
                <a:cubicBezTo>
                  <a:pt x="9670" y="43200"/>
                  <a:pt x="0" y="33529"/>
                  <a:pt x="0" y="21600"/>
                </a:cubicBezTo>
                <a:cubicBezTo>
                  <a:pt x="0" y="9670"/>
                  <a:pt x="9670" y="0"/>
                  <a:pt x="21600" y="0"/>
                </a:cubicBezTo>
                <a:cubicBezTo>
                  <a:pt x="21809" y="-1"/>
                  <a:pt x="22019" y="3"/>
                  <a:pt x="22228" y="9"/>
                </a:cubicBezTo>
              </a:path>
              <a:path w="22229" h="43200" stroke="0" extrusionOk="0">
                <a:moveTo>
                  <a:pt x="22064" y="43194"/>
                </a:moveTo>
                <a:cubicBezTo>
                  <a:pt x="21910" y="43198"/>
                  <a:pt x="21755" y="43199"/>
                  <a:pt x="21600" y="43200"/>
                </a:cubicBezTo>
                <a:cubicBezTo>
                  <a:pt x="9670" y="43200"/>
                  <a:pt x="0" y="33529"/>
                  <a:pt x="0" y="21600"/>
                </a:cubicBezTo>
                <a:cubicBezTo>
                  <a:pt x="0" y="9670"/>
                  <a:pt x="9670" y="0"/>
                  <a:pt x="21600" y="0"/>
                </a:cubicBezTo>
                <a:cubicBezTo>
                  <a:pt x="21809" y="-1"/>
                  <a:pt x="22019" y="3"/>
                  <a:pt x="22228" y="9"/>
                </a:cubicBezTo>
                <a:lnTo>
                  <a:pt x="21600" y="21600"/>
                </a:lnTo>
                <a:close/>
              </a:path>
            </a:pathLst>
          </a:custGeom>
          <a:noFill/>
          <a:ln w="25400">
            <a:solidFill>
              <a:schemeClr val="tx2"/>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b="1">
              <a:latin typeface="+mn-lt"/>
            </a:endParaRPr>
          </a:p>
        </p:txBody>
      </p:sp>
      <p:sp>
        <p:nvSpPr>
          <p:cNvPr id="32" name="Line 33"/>
          <p:cNvSpPr>
            <a:spLocks noChangeAspect="1" noChangeShapeType="1"/>
          </p:cNvSpPr>
          <p:nvPr/>
        </p:nvSpPr>
        <p:spPr bwMode="auto">
          <a:xfrm>
            <a:off x="1954744" y="1407028"/>
            <a:ext cx="0" cy="1741533"/>
          </a:xfrm>
          <a:prstGeom prst="line">
            <a:avLst/>
          </a:prstGeom>
          <a:noFill/>
          <a:ln w="254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sz="2000" b="1">
              <a:latin typeface="+mn-lt"/>
            </a:endParaRPr>
          </a:p>
        </p:txBody>
      </p:sp>
      <p:sp>
        <p:nvSpPr>
          <p:cNvPr id="33" name="Line 34"/>
          <p:cNvSpPr>
            <a:spLocks noChangeAspect="1" noChangeShapeType="1"/>
          </p:cNvSpPr>
          <p:nvPr/>
        </p:nvSpPr>
        <p:spPr bwMode="auto">
          <a:xfrm>
            <a:off x="1954743" y="3148560"/>
            <a:ext cx="1722020" cy="0"/>
          </a:xfrm>
          <a:prstGeom prst="line">
            <a:avLst/>
          </a:prstGeom>
          <a:noFill/>
          <a:ln w="25400">
            <a:solidFill>
              <a:schemeClr val="tx1"/>
            </a:solidFill>
            <a:round/>
            <a:headEnd type="none"/>
            <a:tailEnd type="triangle" w="med" len="med"/>
          </a:ln>
          <a:extLst>
            <a:ext uri="{909E8E84-426E-40DD-AFC4-6F175D3DCCD1}">
              <a14:hiddenFill xmlns:a14="http://schemas.microsoft.com/office/drawing/2010/main">
                <a:noFill/>
              </a14:hiddenFill>
            </a:ext>
          </a:extLst>
        </p:spPr>
        <p:txBody>
          <a:bodyPr/>
          <a:lstStyle/>
          <a:p>
            <a:endParaRPr lang="en-US" sz="2000" b="1">
              <a:latin typeface="+mn-lt"/>
            </a:endParaRPr>
          </a:p>
        </p:txBody>
      </p:sp>
      <p:sp>
        <p:nvSpPr>
          <p:cNvPr id="34" name="Line 35"/>
          <p:cNvSpPr>
            <a:spLocks noChangeAspect="1" noChangeShapeType="1"/>
          </p:cNvSpPr>
          <p:nvPr/>
        </p:nvSpPr>
        <p:spPr bwMode="auto">
          <a:xfrm flipH="1">
            <a:off x="909392" y="3148561"/>
            <a:ext cx="1045352" cy="1217780"/>
          </a:xfrm>
          <a:prstGeom prst="line">
            <a:avLst/>
          </a:prstGeom>
          <a:noFill/>
          <a:ln w="25400">
            <a:solidFill>
              <a:schemeClr val="tx1"/>
            </a:solidFill>
            <a:round/>
            <a:headEnd type="none"/>
            <a:tailEnd type="triangle" w="med" len="med"/>
          </a:ln>
          <a:extLst>
            <a:ext uri="{909E8E84-426E-40DD-AFC4-6F175D3DCCD1}">
              <a14:hiddenFill xmlns:a14="http://schemas.microsoft.com/office/drawing/2010/main">
                <a:noFill/>
              </a14:hiddenFill>
            </a:ext>
          </a:extLst>
        </p:spPr>
        <p:txBody>
          <a:bodyPr/>
          <a:lstStyle/>
          <a:p>
            <a:endParaRPr lang="en-US" sz="2000" b="1">
              <a:latin typeface="+mn-lt"/>
            </a:endParaRPr>
          </a:p>
        </p:txBody>
      </p:sp>
      <p:sp>
        <p:nvSpPr>
          <p:cNvPr id="38" name="Line 39"/>
          <p:cNvSpPr>
            <a:spLocks noChangeAspect="1" noChangeShapeType="1"/>
          </p:cNvSpPr>
          <p:nvPr/>
        </p:nvSpPr>
        <p:spPr bwMode="auto">
          <a:xfrm flipV="1">
            <a:off x="1956900" y="1796815"/>
            <a:ext cx="582001" cy="1351745"/>
          </a:xfrm>
          <a:prstGeom prst="line">
            <a:avLst/>
          </a:prstGeom>
          <a:noFill/>
          <a:ln w="25400">
            <a:solidFill>
              <a:srgbClr val="FFC000"/>
            </a:solidFill>
            <a:round/>
            <a:headEnd type="none"/>
            <a:tailEnd type="triangle" w="lg" len="med"/>
          </a:ln>
          <a:extLst>
            <a:ext uri="{909E8E84-426E-40DD-AFC4-6F175D3DCCD1}">
              <a14:hiddenFill xmlns:a14="http://schemas.microsoft.com/office/drawing/2010/main">
                <a:noFill/>
              </a14:hiddenFill>
            </a:ext>
          </a:extLst>
        </p:spPr>
        <p:txBody>
          <a:bodyPr/>
          <a:lstStyle/>
          <a:p>
            <a:endParaRPr lang="en-US" sz="2000" b="1">
              <a:latin typeface="+mn-lt"/>
            </a:endParaRPr>
          </a:p>
        </p:txBody>
      </p:sp>
      <p:sp>
        <p:nvSpPr>
          <p:cNvPr id="40" name="Line 41"/>
          <p:cNvSpPr>
            <a:spLocks noChangeAspect="1" noChangeShapeType="1"/>
          </p:cNvSpPr>
          <p:nvPr/>
        </p:nvSpPr>
        <p:spPr bwMode="auto">
          <a:xfrm flipH="1" flipV="1">
            <a:off x="1937500" y="3124852"/>
            <a:ext cx="1135876" cy="1138032"/>
          </a:xfrm>
          <a:prstGeom prst="line">
            <a:avLst/>
          </a:prstGeom>
          <a:noFill/>
          <a:ln w="25400" cap="rnd">
            <a:solidFill>
              <a:srgbClr val="FFC000"/>
            </a:solidFill>
            <a:prstDash val="dash"/>
            <a:round/>
            <a:headEnd/>
            <a:tailEnd/>
          </a:ln>
          <a:extLst>
            <a:ext uri="{909E8E84-426E-40DD-AFC4-6F175D3DCCD1}">
              <a14:hiddenFill xmlns:a14="http://schemas.microsoft.com/office/drawing/2010/main">
                <a:noFill/>
              </a14:hiddenFill>
            </a:ext>
          </a:extLst>
        </p:spPr>
        <p:txBody>
          <a:bodyPr/>
          <a:lstStyle/>
          <a:p>
            <a:endParaRPr lang="en-US" sz="2000" b="1">
              <a:latin typeface="+mn-lt"/>
            </a:endParaRPr>
          </a:p>
        </p:txBody>
      </p:sp>
      <p:graphicFrame>
        <p:nvGraphicFramePr>
          <p:cNvPr id="41" name="Object 42"/>
          <p:cNvGraphicFramePr>
            <a:graphicFrameLocks noChangeAspect="1"/>
          </p:cNvGraphicFramePr>
          <p:nvPr>
            <p:extLst>
              <p:ext uri="{D42A27DB-BD31-4B8C-83A1-F6EECF244321}">
                <p14:modId xmlns:p14="http://schemas.microsoft.com/office/powerpoint/2010/main" val="1330422964"/>
              </p:ext>
            </p:extLst>
          </p:nvPr>
        </p:nvGraphicFramePr>
        <p:xfrm>
          <a:off x="2455956" y="4847319"/>
          <a:ext cx="1018114" cy="423039"/>
        </p:xfrm>
        <a:graphic>
          <a:graphicData uri="http://schemas.openxmlformats.org/presentationml/2006/ole">
            <mc:AlternateContent xmlns:mc="http://schemas.openxmlformats.org/markup-compatibility/2006">
              <mc:Choice xmlns:v="urn:schemas-microsoft-com:vml" Requires="v">
                <p:oleObj name="Equation" r:id="rId5" imgW="799920" imgH="330120" progId="Equation.DSMT4">
                  <p:embed/>
                </p:oleObj>
              </mc:Choice>
              <mc:Fallback>
                <p:oleObj name="Equation" r:id="rId5" imgW="799920" imgH="330120" progId="Equation.DSMT4">
                  <p:embed/>
                  <p:pic>
                    <p:nvPicPr>
                      <p:cNvPr id="41" name="Object 42"/>
                      <p:cNvPicPr>
                        <a:picLocks noChangeAspect="1" noChangeArrowheads="1"/>
                      </p:cNvPicPr>
                      <p:nvPr/>
                    </p:nvPicPr>
                    <p:blipFill>
                      <a:blip r:embed="rId6"/>
                      <a:srcRect/>
                      <a:stretch>
                        <a:fillRect/>
                      </a:stretch>
                    </p:blipFill>
                    <p:spPr bwMode="auto">
                      <a:xfrm>
                        <a:off x="2455956" y="4847319"/>
                        <a:ext cx="1018114" cy="4230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2" name="Object 43"/>
          <p:cNvGraphicFramePr>
            <a:graphicFrameLocks noChangeAspect="1"/>
          </p:cNvGraphicFramePr>
          <p:nvPr>
            <p:extLst>
              <p:ext uri="{D42A27DB-BD31-4B8C-83A1-F6EECF244321}">
                <p14:modId xmlns:p14="http://schemas.microsoft.com/office/powerpoint/2010/main" val="3678920618"/>
              </p:ext>
            </p:extLst>
          </p:nvPr>
        </p:nvGraphicFramePr>
        <p:xfrm>
          <a:off x="1820820" y="1030787"/>
          <a:ext cx="308819" cy="449832"/>
        </p:xfrm>
        <a:graphic>
          <a:graphicData uri="http://schemas.openxmlformats.org/presentationml/2006/ole">
            <mc:AlternateContent xmlns:mc="http://schemas.openxmlformats.org/markup-compatibility/2006">
              <mc:Choice xmlns:v="urn:schemas-microsoft-com:vml" Requires="v">
                <p:oleObj name="Equation" r:id="rId7" imgW="228600" imgH="330120" progId="Equation.DSMT4">
                  <p:embed/>
                </p:oleObj>
              </mc:Choice>
              <mc:Fallback>
                <p:oleObj name="Equation" r:id="rId7" imgW="228600" imgH="330120" progId="Equation.DSMT4">
                  <p:embed/>
                  <p:pic>
                    <p:nvPicPr>
                      <p:cNvPr id="42" name="Object 43"/>
                      <p:cNvPicPr>
                        <a:picLocks noChangeAspect="1" noChangeArrowheads="1"/>
                      </p:cNvPicPr>
                      <p:nvPr/>
                    </p:nvPicPr>
                    <p:blipFill>
                      <a:blip r:embed="rId8"/>
                      <a:srcRect/>
                      <a:stretch>
                        <a:fillRect/>
                      </a:stretch>
                    </p:blipFill>
                    <p:spPr bwMode="auto">
                      <a:xfrm>
                        <a:off x="1820820" y="1030787"/>
                        <a:ext cx="308819" cy="4498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 name="Object 44"/>
          <p:cNvGraphicFramePr>
            <a:graphicFrameLocks noChangeAspect="1"/>
          </p:cNvGraphicFramePr>
          <p:nvPr>
            <p:extLst>
              <p:ext uri="{D42A27DB-BD31-4B8C-83A1-F6EECF244321}">
                <p14:modId xmlns:p14="http://schemas.microsoft.com/office/powerpoint/2010/main" val="952262124"/>
              </p:ext>
            </p:extLst>
          </p:nvPr>
        </p:nvGraphicFramePr>
        <p:xfrm>
          <a:off x="677695" y="4233413"/>
          <a:ext cx="291896" cy="447012"/>
        </p:xfrm>
        <a:graphic>
          <a:graphicData uri="http://schemas.openxmlformats.org/presentationml/2006/ole">
            <mc:AlternateContent xmlns:mc="http://schemas.openxmlformats.org/markup-compatibility/2006">
              <mc:Choice xmlns:v="urn:schemas-microsoft-com:vml" Requires="v">
                <p:oleObj name="Equation" r:id="rId9" imgW="215640" imgH="330120" progId="Equation.DSMT4">
                  <p:embed/>
                </p:oleObj>
              </mc:Choice>
              <mc:Fallback>
                <p:oleObj name="Equation" r:id="rId9" imgW="215640" imgH="330120" progId="Equation.DSMT4">
                  <p:embed/>
                  <p:pic>
                    <p:nvPicPr>
                      <p:cNvPr id="43" name="Object 44"/>
                      <p:cNvPicPr>
                        <a:picLocks noChangeAspect="1" noChangeArrowheads="1"/>
                      </p:cNvPicPr>
                      <p:nvPr/>
                    </p:nvPicPr>
                    <p:blipFill>
                      <a:blip r:embed="rId10"/>
                      <a:srcRect/>
                      <a:stretch>
                        <a:fillRect/>
                      </a:stretch>
                    </p:blipFill>
                    <p:spPr bwMode="auto">
                      <a:xfrm>
                        <a:off x="677695" y="4233413"/>
                        <a:ext cx="291896" cy="447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 name="Object 45"/>
          <p:cNvGraphicFramePr>
            <a:graphicFrameLocks noChangeAspect="1"/>
          </p:cNvGraphicFramePr>
          <p:nvPr>
            <p:extLst>
              <p:ext uri="{D42A27DB-BD31-4B8C-83A1-F6EECF244321}">
                <p14:modId xmlns:p14="http://schemas.microsoft.com/office/powerpoint/2010/main" val="1135358573"/>
              </p:ext>
            </p:extLst>
          </p:nvPr>
        </p:nvGraphicFramePr>
        <p:xfrm>
          <a:off x="3699570" y="2914276"/>
          <a:ext cx="329970" cy="447011"/>
        </p:xfrm>
        <a:graphic>
          <a:graphicData uri="http://schemas.openxmlformats.org/presentationml/2006/ole">
            <mc:AlternateContent xmlns:mc="http://schemas.openxmlformats.org/markup-compatibility/2006">
              <mc:Choice xmlns:v="urn:schemas-microsoft-com:vml" Requires="v">
                <p:oleObj name="Equation" r:id="rId11" imgW="241200" imgH="330120" progId="Equation.DSMT4">
                  <p:embed/>
                </p:oleObj>
              </mc:Choice>
              <mc:Fallback>
                <p:oleObj name="Equation" r:id="rId11" imgW="241200" imgH="330120" progId="Equation.DSMT4">
                  <p:embed/>
                  <p:pic>
                    <p:nvPicPr>
                      <p:cNvPr id="44" name="Object 45"/>
                      <p:cNvPicPr>
                        <a:picLocks noChangeAspect="1" noChangeArrowheads="1"/>
                      </p:cNvPicPr>
                      <p:nvPr/>
                    </p:nvPicPr>
                    <p:blipFill>
                      <a:blip r:embed="rId12"/>
                      <a:srcRect/>
                      <a:stretch>
                        <a:fillRect/>
                      </a:stretch>
                    </p:blipFill>
                    <p:spPr bwMode="auto">
                      <a:xfrm>
                        <a:off x="3699570" y="2914276"/>
                        <a:ext cx="329970" cy="4470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 name="Object 46"/>
          <p:cNvGraphicFramePr>
            <a:graphicFrameLocks noChangeAspect="1"/>
          </p:cNvGraphicFramePr>
          <p:nvPr>
            <p:extLst>
              <p:ext uri="{D42A27DB-BD31-4B8C-83A1-F6EECF244321}">
                <p14:modId xmlns:p14="http://schemas.microsoft.com/office/powerpoint/2010/main" val="2059306195"/>
              </p:ext>
            </p:extLst>
          </p:nvPr>
        </p:nvGraphicFramePr>
        <p:xfrm>
          <a:off x="1101301" y="2565744"/>
          <a:ext cx="337020" cy="482265"/>
        </p:xfrm>
        <a:graphic>
          <a:graphicData uri="http://schemas.openxmlformats.org/presentationml/2006/ole">
            <mc:AlternateContent xmlns:mc="http://schemas.openxmlformats.org/markup-compatibility/2006">
              <mc:Choice xmlns:v="urn:schemas-microsoft-com:vml" Requires="v">
                <p:oleObj name="Equation" r:id="rId13" imgW="177480" imgH="253800" progId="Equation.DSMT4">
                  <p:embed/>
                </p:oleObj>
              </mc:Choice>
              <mc:Fallback>
                <p:oleObj name="Equation" r:id="rId13" imgW="177480" imgH="253800" progId="Equation.DSMT4">
                  <p:embed/>
                  <p:pic>
                    <p:nvPicPr>
                      <p:cNvPr id="45" name="Object 46"/>
                      <p:cNvPicPr>
                        <a:picLocks noChangeAspect="1" noChangeArrowheads="1"/>
                      </p:cNvPicPr>
                      <p:nvPr/>
                    </p:nvPicPr>
                    <p:blipFill>
                      <a:blip r:embed="rId14"/>
                      <a:srcRect/>
                      <a:stretch>
                        <a:fillRect/>
                      </a:stretch>
                    </p:blipFill>
                    <p:spPr bwMode="auto">
                      <a:xfrm>
                        <a:off x="1101301" y="2565744"/>
                        <a:ext cx="337020" cy="4822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4" name="Line 55"/>
          <p:cNvSpPr>
            <a:spLocks noChangeAspect="1" noChangeShapeType="1"/>
          </p:cNvSpPr>
          <p:nvPr/>
        </p:nvSpPr>
        <p:spPr bwMode="auto">
          <a:xfrm flipV="1">
            <a:off x="2640483" y="4213807"/>
            <a:ext cx="958063" cy="201332"/>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2000" b="1">
              <a:latin typeface="+mn-lt"/>
            </a:endParaRPr>
          </a:p>
        </p:txBody>
      </p:sp>
      <p:graphicFrame>
        <p:nvGraphicFramePr>
          <p:cNvPr id="63" name="Object 66"/>
          <p:cNvGraphicFramePr>
            <a:graphicFrameLocks noChangeAspect="1"/>
          </p:cNvGraphicFramePr>
          <p:nvPr>
            <p:extLst>
              <p:ext uri="{D42A27DB-BD31-4B8C-83A1-F6EECF244321}">
                <p14:modId xmlns:p14="http://schemas.microsoft.com/office/powerpoint/2010/main" val="3798449791"/>
              </p:ext>
            </p:extLst>
          </p:nvPr>
        </p:nvGraphicFramePr>
        <p:xfrm>
          <a:off x="565094" y="1651612"/>
          <a:ext cx="256643" cy="470983"/>
        </p:xfrm>
        <a:graphic>
          <a:graphicData uri="http://schemas.openxmlformats.org/presentationml/2006/ole">
            <mc:AlternateContent xmlns:mc="http://schemas.openxmlformats.org/markup-compatibility/2006">
              <mc:Choice xmlns:v="urn:schemas-microsoft-com:vml" Requires="v">
                <p:oleObj name="Equation" r:id="rId15" imgW="177480" imgH="330120" progId="Equation.DSMT4">
                  <p:embed/>
                </p:oleObj>
              </mc:Choice>
              <mc:Fallback>
                <p:oleObj name="Equation" r:id="rId15" imgW="177480" imgH="330120" progId="Equation.DSMT4">
                  <p:embed/>
                  <p:pic>
                    <p:nvPicPr>
                      <p:cNvPr id="63" name="Object 66"/>
                      <p:cNvPicPr>
                        <a:picLocks noChangeAspect="1" noChangeArrowheads="1"/>
                      </p:cNvPicPr>
                      <p:nvPr/>
                    </p:nvPicPr>
                    <p:blipFill>
                      <a:blip r:embed="rId16"/>
                      <a:srcRect/>
                      <a:stretch>
                        <a:fillRect/>
                      </a:stretch>
                    </p:blipFill>
                    <p:spPr bwMode="auto">
                      <a:xfrm>
                        <a:off x="565094" y="1651612"/>
                        <a:ext cx="256643" cy="47098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 name="Object 75"/>
          <p:cNvGraphicFramePr>
            <a:graphicFrameLocks noChangeAspect="1"/>
          </p:cNvGraphicFramePr>
          <p:nvPr>
            <p:extLst>
              <p:ext uri="{D42A27DB-BD31-4B8C-83A1-F6EECF244321}">
                <p14:modId xmlns:p14="http://schemas.microsoft.com/office/powerpoint/2010/main" val="3709041378"/>
              </p:ext>
            </p:extLst>
          </p:nvPr>
        </p:nvGraphicFramePr>
        <p:xfrm>
          <a:off x="1354068" y="4181929"/>
          <a:ext cx="775571" cy="513287"/>
        </p:xfrm>
        <a:graphic>
          <a:graphicData uri="http://schemas.openxmlformats.org/presentationml/2006/ole">
            <mc:AlternateContent xmlns:mc="http://schemas.openxmlformats.org/markup-compatibility/2006">
              <mc:Choice xmlns:v="urn:schemas-microsoft-com:vml" Requires="v">
                <p:oleObj name="Equation" r:id="rId17" imgW="558720" imgH="368280" progId="Equation.DSMT4">
                  <p:embed/>
                </p:oleObj>
              </mc:Choice>
              <mc:Fallback>
                <p:oleObj name="Equation" r:id="rId17" imgW="558720" imgH="368280" progId="Equation.DSMT4">
                  <p:embed/>
                  <p:pic>
                    <p:nvPicPr>
                      <p:cNvPr id="72" name="Object 75"/>
                      <p:cNvPicPr>
                        <a:picLocks noChangeAspect="1" noChangeArrowheads="1"/>
                      </p:cNvPicPr>
                      <p:nvPr/>
                    </p:nvPicPr>
                    <p:blipFill>
                      <a:blip r:embed="rId18"/>
                      <a:srcRect/>
                      <a:stretch>
                        <a:fillRect/>
                      </a:stretch>
                    </p:blipFill>
                    <p:spPr bwMode="auto">
                      <a:xfrm>
                        <a:off x="1354068" y="4181929"/>
                        <a:ext cx="775571" cy="513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7" name="Line 90"/>
          <p:cNvSpPr>
            <a:spLocks noChangeAspect="1" noChangeShapeType="1"/>
          </p:cNvSpPr>
          <p:nvPr/>
        </p:nvSpPr>
        <p:spPr bwMode="auto">
          <a:xfrm flipV="1">
            <a:off x="1943967" y="2996905"/>
            <a:ext cx="717477" cy="140876"/>
          </a:xfrm>
          <a:prstGeom prst="line">
            <a:avLst/>
          </a:prstGeom>
          <a:noFill/>
          <a:ln w="25400">
            <a:solidFill>
              <a:srgbClr val="FFC000"/>
            </a:solidFill>
            <a:round/>
            <a:headEnd type="none"/>
            <a:tailEnd type="triangle" w="lg" len="med"/>
          </a:ln>
          <a:extLst>
            <a:ext uri="{909E8E84-426E-40DD-AFC4-6F175D3DCCD1}">
              <a14:hiddenFill xmlns:a14="http://schemas.microsoft.com/office/drawing/2010/main">
                <a:noFill/>
              </a14:hiddenFill>
            </a:ext>
          </a:extLst>
        </p:spPr>
        <p:txBody>
          <a:bodyPr/>
          <a:lstStyle/>
          <a:p>
            <a:endParaRPr lang="en-US" sz="2000" b="1">
              <a:latin typeface="+mn-lt"/>
            </a:endParaRPr>
          </a:p>
        </p:txBody>
      </p:sp>
      <p:graphicFrame>
        <p:nvGraphicFramePr>
          <p:cNvPr id="95" name="Object 98"/>
          <p:cNvGraphicFramePr>
            <a:graphicFrameLocks noChangeAspect="1"/>
          </p:cNvGraphicFramePr>
          <p:nvPr>
            <p:extLst>
              <p:ext uri="{D42A27DB-BD31-4B8C-83A1-F6EECF244321}">
                <p14:modId xmlns:p14="http://schemas.microsoft.com/office/powerpoint/2010/main" val="4188273220"/>
              </p:ext>
            </p:extLst>
          </p:nvPr>
        </p:nvGraphicFramePr>
        <p:xfrm>
          <a:off x="2682182" y="2695857"/>
          <a:ext cx="224211" cy="448421"/>
        </p:xfrm>
        <a:graphic>
          <a:graphicData uri="http://schemas.openxmlformats.org/presentationml/2006/ole">
            <mc:AlternateContent xmlns:mc="http://schemas.openxmlformats.org/markup-compatibility/2006">
              <mc:Choice xmlns:v="urn:schemas-microsoft-com:vml" Requires="v">
                <p:oleObj name="Equation" r:id="rId19" imgW="164880" imgH="330120" progId="Equation.DSMT4">
                  <p:embed/>
                </p:oleObj>
              </mc:Choice>
              <mc:Fallback>
                <p:oleObj name="Equation" r:id="rId19" imgW="164880" imgH="330120" progId="Equation.DSMT4">
                  <p:embed/>
                  <p:pic>
                    <p:nvPicPr>
                      <p:cNvPr id="95" name="Object 98"/>
                      <p:cNvPicPr>
                        <a:picLocks noChangeAspect="1" noChangeArrowheads="1"/>
                      </p:cNvPicPr>
                      <p:nvPr/>
                    </p:nvPicPr>
                    <p:blipFill>
                      <a:blip r:embed="rId20"/>
                      <a:srcRect/>
                      <a:stretch>
                        <a:fillRect/>
                      </a:stretch>
                    </p:blipFill>
                    <p:spPr bwMode="auto">
                      <a:xfrm>
                        <a:off x="2682182" y="2695857"/>
                        <a:ext cx="224211" cy="4484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6" name="Object 99"/>
          <p:cNvGraphicFramePr>
            <a:graphicFrameLocks noChangeAspect="1"/>
          </p:cNvGraphicFramePr>
          <p:nvPr>
            <p:extLst>
              <p:ext uri="{D42A27DB-BD31-4B8C-83A1-F6EECF244321}">
                <p14:modId xmlns:p14="http://schemas.microsoft.com/office/powerpoint/2010/main" val="966571256"/>
              </p:ext>
            </p:extLst>
          </p:nvPr>
        </p:nvGraphicFramePr>
        <p:xfrm>
          <a:off x="2549353" y="1444940"/>
          <a:ext cx="256643" cy="447011"/>
        </p:xfrm>
        <a:graphic>
          <a:graphicData uri="http://schemas.openxmlformats.org/presentationml/2006/ole">
            <mc:AlternateContent xmlns:mc="http://schemas.openxmlformats.org/markup-compatibility/2006">
              <mc:Choice xmlns:v="urn:schemas-microsoft-com:vml" Requires="v">
                <p:oleObj name="Equation" r:id="rId21" imgW="190440" imgH="330120" progId="Equation.DSMT4">
                  <p:embed/>
                </p:oleObj>
              </mc:Choice>
              <mc:Fallback>
                <p:oleObj name="Equation" r:id="rId21" imgW="190440" imgH="330120" progId="Equation.DSMT4">
                  <p:embed/>
                  <p:pic>
                    <p:nvPicPr>
                      <p:cNvPr id="96" name="Object 99"/>
                      <p:cNvPicPr>
                        <a:picLocks noChangeAspect="1" noChangeArrowheads="1"/>
                      </p:cNvPicPr>
                      <p:nvPr/>
                    </p:nvPicPr>
                    <p:blipFill>
                      <a:blip r:embed="rId22"/>
                      <a:srcRect/>
                      <a:stretch>
                        <a:fillRect/>
                      </a:stretch>
                    </p:blipFill>
                    <p:spPr bwMode="auto">
                      <a:xfrm>
                        <a:off x="2549353" y="1444940"/>
                        <a:ext cx="256643" cy="4470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1" name="Oval 100"/>
          <p:cNvSpPr/>
          <p:nvPr/>
        </p:nvSpPr>
        <p:spPr bwMode="auto">
          <a:xfrm rot="17100000">
            <a:off x="2313544" y="4013293"/>
            <a:ext cx="1611940" cy="634558"/>
          </a:xfrm>
          <a:prstGeom prst="ellipse">
            <a:avLst/>
          </a:prstGeom>
          <a:solidFill>
            <a:srgbClr val="FF0000"/>
          </a:solidFill>
          <a:ln w="9525" cap="flat" cmpd="sng" algn="ctr">
            <a:noFill/>
            <a:prstDash val="solid"/>
            <a:round/>
            <a:headEnd type="none" w="med" len="med"/>
            <a:tailEnd type="none" w="med" len="med"/>
          </a:ln>
          <a:effectLst>
            <a:softEdge rad="292100"/>
          </a:effectLst>
        </p:spPr>
        <p:txBody>
          <a:bodyPr vert="horz" wrap="square" lIns="81224" tIns="40611" rIns="81224" bIns="40611" numCol="1" rtlCol="0" anchor="t" anchorCtr="0" compatLnSpc="1">
            <a:prstTxWarp prst="textNoShape">
              <a:avLst/>
            </a:prstTxWarp>
          </a:bodyPr>
          <a:lstStyle/>
          <a:p>
            <a:pPr algn="ctr" defTabSz="812209"/>
            <a:endParaRPr lang="en-US" sz="2000" b="1" dirty="0" err="1">
              <a:latin typeface="+mn-lt"/>
            </a:endParaRPr>
          </a:p>
        </p:txBody>
      </p:sp>
      <p:cxnSp>
        <p:nvCxnSpPr>
          <p:cNvPr id="103" name="Straight Connector 102"/>
          <p:cNvCxnSpPr/>
          <p:nvPr/>
        </p:nvCxnSpPr>
        <p:spPr bwMode="auto">
          <a:xfrm rot="17100000">
            <a:off x="2588239" y="4292352"/>
            <a:ext cx="1094881" cy="0"/>
          </a:xfrm>
          <a:prstGeom prst="line">
            <a:avLst/>
          </a:prstGeom>
          <a:solidFill>
            <a:schemeClr val="accent1"/>
          </a:solidFill>
          <a:ln w="25400" cap="flat" cmpd="sng" algn="ctr">
            <a:solidFill>
              <a:schemeClr val="tx1"/>
            </a:solidFill>
            <a:prstDash val="solid"/>
            <a:round/>
            <a:headEnd type="none" w="med" len="med"/>
            <a:tailEnd type="triangle" w="med" len="med"/>
          </a:ln>
          <a:effectLst/>
        </p:spPr>
      </p:cxnSp>
      <p:sp>
        <p:nvSpPr>
          <p:cNvPr id="62" name="Line 63"/>
          <p:cNvSpPr>
            <a:spLocks noChangeAspect="1" noChangeShapeType="1"/>
          </p:cNvSpPr>
          <p:nvPr/>
        </p:nvSpPr>
        <p:spPr bwMode="auto">
          <a:xfrm flipH="1" flipV="1">
            <a:off x="818057" y="2007564"/>
            <a:ext cx="1134533" cy="1134533"/>
          </a:xfrm>
          <a:prstGeom prst="line">
            <a:avLst/>
          </a:prstGeom>
          <a:noFill/>
          <a:ln w="25400">
            <a:solidFill>
              <a:srgbClr val="FFC000"/>
            </a:solidFill>
            <a:round/>
            <a:headEnd type="none"/>
            <a:tailEnd type="triangle" w="lg" len="med"/>
          </a:ln>
          <a:extLst>
            <a:ext uri="{909E8E84-426E-40DD-AFC4-6F175D3DCCD1}">
              <a14:hiddenFill xmlns:a14="http://schemas.microsoft.com/office/drawing/2010/main">
                <a:noFill/>
              </a14:hiddenFill>
            </a:ext>
          </a:extLst>
        </p:spPr>
        <p:txBody>
          <a:bodyPr/>
          <a:lstStyle/>
          <a:p>
            <a:endParaRPr lang="en-US" sz="2000" b="1">
              <a:latin typeface="+mn-lt"/>
            </a:endParaRPr>
          </a:p>
        </p:txBody>
      </p:sp>
      <p:sp>
        <p:nvSpPr>
          <p:cNvPr id="107" name="Line 86"/>
          <p:cNvSpPr>
            <a:spLocks noChangeAspect="1" noChangeShapeType="1"/>
          </p:cNvSpPr>
          <p:nvPr/>
        </p:nvSpPr>
        <p:spPr bwMode="auto">
          <a:xfrm flipH="1" flipV="1">
            <a:off x="1469841" y="2657854"/>
            <a:ext cx="486424" cy="486424"/>
          </a:xfrm>
          <a:prstGeom prst="line">
            <a:avLst/>
          </a:prstGeom>
          <a:noFill/>
          <a:ln w="63500">
            <a:solidFill>
              <a:schemeClr val="tx1"/>
            </a:solidFill>
            <a:round/>
            <a:headEnd type="none" w="sm" len="sm"/>
            <a:tailEnd type="triangle" w="lg" len="med"/>
          </a:ln>
          <a:extLst>
            <a:ext uri="{909E8E84-426E-40DD-AFC4-6F175D3DCCD1}">
              <a14:hiddenFill xmlns:a14="http://schemas.microsoft.com/office/drawing/2010/main">
                <a:noFill/>
              </a14:hiddenFill>
            </a:ext>
          </a:extLst>
        </p:spPr>
        <p:txBody>
          <a:bodyPr/>
          <a:lstStyle/>
          <a:p>
            <a:endParaRPr lang="en-US" sz="2000" b="1">
              <a:latin typeface="+mn-lt"/>
            </a:endParaRPr>
          </a:p>
        </p:txBody>
      </p:sp>
      <p:graphicFrame>
        <p:nvGraphicFramePr>
          <p:cNvPr id="110" name="Object 42"/>
          <p:cNvGraphicFramePr>
            <a:graphicFrameLocks noChangeAspect="1"/>
          </p:cNvGraphicFramePr>
          <p:nvPr>
            <p:extLst>
              <p:ext uri="{D42A27DB-BD31-4B8C-83A1-F6EECF244321}">
                <p14:modId xmlns:p14="http://schemas.microsoft.com/office/powerpoint/2010/main" val="3058439489"/>
              </p:ext>
            </p:extLst>
          </p:nvPr>
        </p:nvGraphicFramePr>
        <p:xfrm>
          <a:off x="2496288" y="2186348"/>
          <a:ext cx="679683" cy="393426"/>
        </p:xfrm>
        <a:graphic>
          <a:graphicData uri="http://schemas.openxmlformats.org/presentationml/2006/ole">
            <mc:AlternateContent xmlns:mc="http://schemas.openxmlformats.org/markup-compatibility/2006">
              <mc:Choice xmlns:v="urn:schemas-microsoft-com:vml" Requires="v">
                <p:oleObj name="Equation" r:id="rId23" imgW="533160" imgH="304560" progId="Equation.DSMT4">
                  <p:embed/>
                </p:oleObj>
              </mc:Choice>
              <mc:Fallback>
                <p:oleObj name="Equation" r:id="rId23" imgW="533160" imgH="304560" progId="Equation.DSMT4">
                  <p:embed/>
                  <p:pic>
                    <p:nvPicPr>
                      <p:cNvPr id="110" name="Object 42"/>
                      <p:cNvPicPr>
                        <a:picLocks noChangeAspect="1" noChangeArrowheads="1"/>
                      </p:cNvPicPr>
                      <p:nvPr/>
                    </p:nvPicPr>
                    <p:blipFill>
                      <a:blip r:embed="rId24"/>
                      <a:srcRect/>
                      <a:stretch>
                        <a:fillRect/>
                      </a:stretch>
                    </p:blipFill>
                    <p:spPr bwMode="auto">
                      <a:xfrm>
                        <a:off x="2496288" y="2186348"/>
                        <a:ext cx="679683" cy="393426"/>
                      </a:xfrm>
                      <a:prstGeom prst="rect">
                        <a:avLst/>
                      </a:prstGeom>
                      <a:solidFill>
                        <a:schemeClr val="bg1"/>
                      </a:solidFill>
                      <a:ln>
                        <a:noFill/>
                      </a:ln>
                      <a:effectLst/>
                    </p:spPr>
                  </p:pic>
                </p:oleObj>
              </mc:Fallback>
            </mc:AlternateContent>
          </a:graphicData>
        </a:graphic>
      </p:graphicFrame>
      <p:sp>
        <p:nvSpPr>
          <p:cNvPr id="117" name="Oval 2"/>
          <p:cNvSpPr>
            <a:spLocks noChangeAspect="1" noChangeArrowheads="1"/>
          </p:cNvSpPr>
          <p:nvPr/>
        </p:nvSpPr>
        <p:spPr bwMode="auto">
          <a:xfrm>
            <a:off x="4766429" y="2060104"/>
            <a:ext cx="2103633" cy="2176915"/>
          </a:xfrm>
          <a:prstGeom prst="ellipse">
            <a:avLst/>
          </a:prstGeom>
          <a:noFill/>
          <a:ln w="25400">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zh-CN" altLang="en-US" sz="2000" b="1">
              <a:latin typeface="+mn-lt"/>
              <a:ea typeface="SimSun" panose="02010600030101010101" pitchFamily="2" charset="-122"/>
            </a:endParaRPr>
          </a:p>
        </p:txBody>
      </p:sp>
      <p:sp>
        <p:nvSpPr>
          <p:cNvPr id="118" name="Arc 3"/>
          <p:cNvSpPr>
            <a:spLocks noChangeAspect="1"/>
          </p:cNvSpPr>
          <p:nvPr/>
        </p:nvSpPr>
        <p:spPr bwMode="auto">
          <a:xfrm rot="11647623" flipH="1">
            <a:off x="5387173" y="2018991"/>
            <a:ext cx="439694" cy="2155363"/>
          </a:xfrm>
          <a:custGeom>
            <a:avLst/>
            <a:gdLst>
              <a:gd name="T0" fmla="*/ 4683303 w 22229"/>
              <a:gd name="T1" fmla="*/ 58330186 h 43200"/>
              <a:gd name="T2" fmla="*/ 4718108 w 22229"/>
              <a:gd name="T3" fmla="*/ 12163 h 43200"/>
              <a:gd name="T4" fmla="*/ 4584600 w 22229"/>
              <a:gd name="T5" fmla="*/ 29168474 h 43200"/>
              <a:gd name="T6" fmla="*/ 0 60000 65536"/>
              <a:gd name="T7" fmla="*/ 0 60000 65536"/>
              <a:gd name="T8" fmla="*/ 0 60000 65536"/>
              <a:gd name="T9" fmla="*/ 0 w 22229"/>
              <a:gd name="T10" fmla="*/ 0 h 43200"/>
              <a:gd name="T11" fmla="*/ 22229 w 22229"/>
              <a:gd name="T12" fmla="*/ 43200 h 43200"/>
            </a:gdLst>
            <a:ahLst/>
            <a:cxnLst>
              <a:cxn ang="T6">
                <a:pos x="T0" y="T1"/>
              </a:cxn>
              <a:cxn ang="T7">
                <a:pos x="T2" y="T3"/>
              </a:cxn>
              <a:cxn ang="T8">
                <a:pos x="T4" y="T5"/>
              </a:cxn>
            </a:cxnLst>
            <a:rect l="T9" t="T10" r="T11" b="T12"/>
            <a:pathLst>
              <a:path w="22229" h="43200" fill="none" extrusionOk="0">
                <a:moveTo>
                  <a:pt x="22064" y="43194"/>
                </a:moveTo>
                <a:cubicBezTo>
                  <a:pt x="21910" y="43198"/>
                  <a:pt x="21755" y="43199"/>
                  <a:pt x="21600" y="43200"/>
                </a:cubicBezTo>
                <a:cubicBezTo>
                  <a:pt x="9670" y="43200"/>
                  <a:pt x="0" y="33529"/>
                  <a:pt x="0" y="21600"/>
                </a:cubicBezTo>
                <a:cubicBezTo>
                  <a:pt x="0" y="9670"/>
                  <a:pt x="9670" y="0"/>
                  <a:pt x="21600" y="0"/>
                </a:cubicBezTo>
                <a:cubicBezTo>
                  <a:pt x="21809" y="-1"/>
                  <a:pt x="22019" y="3"/>
                  <a:pt x="22228" y="9"/>
                </a:cubicBezTo>
              </a:path>
              <a:path w="22229" h="43200" stroke="0" extrusionOk="0">
                <a:moveTo>
                  <a:pt x="22064" y="43194"/>
                </a:moveTo>
                <a:cubicBezTo>
                  <a:pt x="21910" y="43198"/>
                  <a:pt x="21755" y="43199"/>
                  <a:pt x="21600" y="43200"/>
                </a:cubicBezTo>
                <a:cubicBezTo>
                  <a:pt x="9670" y="43200"/>
                  <a:pt x="0" y="33529"/>
                  <a:pt x="0" y="21600"/>
                </a:cubicBezTo>
                <a:cubicBezTo>
                  <a:pt x="0" y="9670"/>
                  <a:pt x="9670" y="0"/>
                  <a:pt x="21600" y="0"/>
                </a:cubicBezTo>
                <a:cubicBezTo>
                  <a:pt x="21809" y="-1"/>
                  <a:pt x="22019" y="3"/>
                  <a:pt x="22228" y="9"/>
                </a:cubicBezTo>
                <a:lnTo>
                  <a:pt x="21600" y="21600"/>
                </a:lnTo>
                <a:close/>
              </a:path>
            </a:pathLst>
          </a:custGeom>
          <a:noFill/>
          <a:ln w="25400">
            <a:solidFill>
              <a:schemeClr val="tx2"/>
            </a:solidFill>
            <a:prstDash val="dash"/>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b="1">
              <a:latin typeface="+mn-lt"/>
            </a:endParaRPr>
          </a:p>
        </p:txBody>
      </p:sp>
      <p:sp>
        <p:nvSpPr>
          <p:cNvPr id="119" name="Arc 4"/>
          <p:cNvSpPr>
            <a:spLocks noChangeAspect="1"/>
          </p:cNvSpPr>
          <p:nvPr/>
        </p:nvSpPr>
        <p:spPr bwMode="auto">
          <a:xfrm rot="862047" flipH="1">
            <a:off x="5801002" y="2122447"/>
            <a:ext cx="439694" cy="2155363"/>
          </a:xfrm>
          <a:custGeom>
            <a:avLst/>
            <a:gdLst>
              <a:gd name="T0" fmla="*/ 4683303 w 22229"/>
              <a:gd name="T1" fmla="*/ 58330186 h 43200"/>
              <a:gd name="T2" fmla="*/ 4718108 w 22229"/>
              <a:gd name="T3" fmla="*/ 12163 h 43200"/>
              <a:gd name="T4" fmla="*/ 4584600 w 22229"/>
              <a:gd name="T5" fmla="*/ 29168474 h 43200"/>
              <a:gd name="T6" fmla="*/ 0 60000 65536"/>
              <a:gd name="T7" fmla="*/ 0 60000 65536"/>
              <a:gd name="T8" fmla="*/ 0 60000 65536"/>
              <a:gd name="T9" fmla="*/ 0 w 22229"/>
              <a:gd name="T10" fmla="*/ 0 h 43200"/>
              <a:gd name="T11" fmla="*/ 22229 w 22229"/>
              <a:gd name="T12" fmla="*/ 43200 h 43200"/>
            </a:gdLst>
            <a:ahLst/>
            <a:cxnLst>
              <a:cxn ang="T6">
                <a:pos x="T0" y="T1"/>
              </a:cxn>
              <a:cxn ang="T7">
                <a:pos x="T2" y="T3"/>
              </a:cxn>
              <a:cxn ang="T8">
                <a:pos x="T4" y="T5"/>
              </a:cxn>
            </a:cxnLst>
            <a:rect l="T9" t="T10" r="T11" b="T12"/>
            <a:pathLst>
              <a:path w="22229" h="43200" fill="none" extrusionOk="0">
                <a:moveTo>
                  <a:pt x="22064" y="43194"/>
                </a:moveTo>
                <a:cubicBezTo>
                  <a:pt x="21910" y="43198"/>
                  <a:pt x="21755" y="43199"/>
                  <a:pt x="21600" y="43200"/>
                </a:cubicBezTo>
                <a:cubicBezTo>
                  <a:pt x="9670" y="43200"/>
                  <a:pt x="0" y="33529"/>
                  <a:pt x="0" y="21600"/>
                </a:cubicBezTo>
                <a:cubicBezTo>
                  <a:pt x="0" y="9670"/>
                  <a:pt x="9670" y="0"/>
                  <a:pt x="21600" y="0"/>
                </a:cubicBezTo>
                <a:cubicBezTo>
                  <a:pt x="21809" y="-1"/>
                  <a:pt x="22019" y="3"/>
                  <a:pt x="22228" y="9"/>
                </a:cubicBezTo>
              </a:path>
              <a:path w="22229" h="43200" stroke="0" extrusionOk="0">
                <a:moveTo>
                  <a:pt x="22064" y="43194"/>
                </a:moveTo>
                <a:cubicBezTo>
                  <a:pt x="21910" y="43198"/>
                  <a:pt x="21755" y="43199"/>
                  <a:pt x="21600" y="43200"/>
                </a:cubicBezTo>
                <a:cubicBezTo>
                  <a:pt x="9670" y="43200"/>
                  <a:pt x="0" y="33529"/>
                  <a:pt x="0" y="21600"/>
                </a:cubicBezTo>
                <a:cubicBezTo>
                  <a:pt x="0" y="9670"/>
                  <a:pt x="9670" y="0"/>
                  <a:pt x="21600" y="0"/>
                </a:cubicBezTo>
                <a:cubicBezTo>
                  <a:pt x="21809" y="-1"/>
                  <a:pt x="22019" y="3"/>
                  <a:pt x="22228" y="9"/>
                </a:cubicBezTo>
                <a:lnTo>
                  <a:pt x="21600" y="21600"/>
                </a:lnTo>
                <a:close/>
              </a:path>
            </a:pathLst>
          </a:custGeom>
          <a:noFill/>
          <a:ln w="25400">
            <a:solidFill>
              <a:schemeClr val="tx2"/>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b="1">
              <a:latin typeface="+mn-lt"/>
            </a:endParaRPr>
          </a:p>
        </p:txBody>
      </p:sp>
      <p:sp>
        <p:nvSpPr>
          <p:cNvPr id="120" name="Line 33"/>
          <p:cNvSpPr>
            <a:spLocks noChangeAspect="1" noChangeShapeType="1"/>
          </p:cNvSpPr>
          <p:nvPr/>
        </p:nvSpPr>
        <p:spPr bwMode="auto">
          <a:xfrm>
            <a:off x="5811780" y="1407028"/>
            <a:ext cx="0" cy="1741533"/>
          </a:xfrm>
          <a:prstGeom prst="line">
            <a:avLst/>
          </a:prstGeom>
          <a:noFill/>
          <a:ln w="254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sz="2000" b="1">
              <a:latin typeface="+mn-lt"/>
            </a:endParaRPr>
          </a:p>
        </p:txBody>
      </p:sp>
      <p:sp>
        <p:nvSpPr>
          <p:cNvPr id="121" name="Line 34"/>
          <p:cNvSpPr>
            <a:spLocks noChangeAspect="1" noChangeShapeType="1"/>
          </p:cNvSpPr>
          <p:nvPr/>
        </p:nvSpPr>
        <p:spPr bwMode="auto">
          <a:xfrm>
            <a:off x="5811779" y="3148560"/>
            <a:ext cx="1722020" cy="0"/>
          </a:xfrm>
          <a:prstGeom prst="line">
            <a:avLst/>
          </a:prstGeom>
          <a:noFill/>
          <a:ln w="25400">
            <a:solidFill>
              <a:schemeClr val="tx1"/>
            </a:solidFill>
            <a:round/>
            <a:headEnd type="none"/>
            <a:tailEnd type="triangle" w="med" len="med"/>
          </a:ln>
          <a:extLst>
            <a:ext uri="{909E8E84-426E-40DD-AFC4-6F175D3DCCD1}">
              <a14:hiddenFill xmlns:a14="http://schemas.microsoft.com/office/drawing/2010/main">
                <a:noFill/>
              </a14:hiddenFill>
            </a:ext>
          </a:extLst>
        </p:spPr>
        <p:txBody>
          <a:bodyPr/>
          <a:lstStyle/>
          <a:p>
            <a:endParaRPr lang="en-US" sz="2000" b="1">
              <a:latin typeface="+mn-lt"/>
            </a:endParaRPr>
          </a:p>
        </p:txBody>
      </p:sp>
      <p:sp>
        <p:nvSpPr>
          <p:cNvPr id="122" name="Line 35"/>
          <p:cNvSpPr>
            <a:spLocks noChangeAspect="1" noChangeShapeType="1"/>
          </p:cNvSpPr>
          <p:nvPr/>
        </p:nvSpPr>
        <p:spPr bwMode="auto">
          <a:xfrm flipH="1">
            <a:off x="4766428" y="3148561"/>
            <a:ext cx="1045352" cy="1217780"/>
          </a:xfrm>
          <a:prstGeom prst="line">
            <a:avLst/>
          </a:prstGeom>
          <a:noFill/>
          <a:ln w="25400">
            <a:solidFill>
              <a:schemeClr val="tx1"/>
            </a:solidFill>
            <a:round/>
            <a:headEnd type="none"/>
            <a:tailEnd type="triangle" w="med" len="med"/>
          </a:ln>
          <a:extLst>
            <a:ext uri="{909E8E84-426E-40DD-AFC4-6F175D3DCCD1}">
              <a14:hiddenFill xmlns:a14="http://schemas.microsoft.com/office/drawing/2010/main">
                <a:noFill/>
              </a14:hiddenFill>
            </a:ext>
          </a:extLst>
        </p:spPr>
        <p:txBody>
          <a:bodyPr/>
          <a:lstStyle/>
          <a:p>
            <a:endParaRPr lang="en-US" sz="2000" b="1">
              <a:latin typeface="+mn-lt"/>
            </a:endParaRPr>
          </a:p>
        </p:txBody>
      </p:sp>
      <p:sp>
        <p:nvSpPr>
          <p:cNvPr id="123" name="Line 39"/>
          <p:cNvSpPr>
            <a:spLocks noChangeAspect="1" noChangeShapeType="1"/>
          </p:cNvSpPr>
          <p:nvPr/>
        </p:nvSpPr>
        <p:spPr bwMode="auto">
          <a:xfrm flipV="1">
            <a:off x="5813936" y="1796815"/>
            <a:ext cx="582001" cy="1351745"/>
          </a:xfrm>
          <a:prstGeom prst="line">
            <a:avLst/>
          </a:prstGeom>
          <a:noFill/>
          <a:ln w="25400">
            <a:solidFill>
              <a:srgbClr val="FFC000"/>
            </a:solidFill>
            <a:round/>
            <a:headEnd type="none"/>
            <a:tailEnd type="triangle" w="lg" len="med"/>
          </a:ln>
          <a:extLst>
            <a:ext uri="{909E8E84-426E-40DD-AFC4-6F175D3DCCD1}">
              <a14:hiddenFill xmlns:a14="http://schemas.microsoft.com/office/drawing/2010/main">
                <a:noFill/>
              </a14:hiddenFill>
            </a:ext>
          </a:extLst>
        </p:spPr>
        <p:txBody>
          <a:bodyPr/>
          <a:lstStyle/>
          <a:p>
            <a:endParaRPr lang="en-US" sz="2000" b="1">
              <a:latin typeface="+mn-lt"/>
            </a:endParaRPr>
          </a:p>
        </p:txBody>
      </p:sp>
      <p:sp>
        <p:nvSpPr>
          <p:cNvPr id="124" name="Line 41"/>
          <p:cNvSpPr>
            <a:spLocks noChangeAspect="1" noChangeShapeType="1"/>
          </p:cNvSpPr>
          <p:nvPr/>
        </p:nvSpPr>
        <p:spPr bwMode="auto">
          <a:xfrm flipH="1" flipV="1">
            <a:off x="5794536" y="3124852"/>
            <a:ext cx="1135876" cy="1138032"/>
          </a:xfrm>
          <a:prstGeom prst="line">
            <a:avLst/>
          </a:prstGeom>
          <a:noFill/>
          <a:ln w="25400" cap="rnd">
            <a:solidFill>
              <a:srgbClr val="FFC000"/>
            </a:solidFill>
            <a:prstDash val="dash"/>
            <a:round/>
            <a:headEnd/>
            <a:tailEnd/>
          </a:ln>
          <a:extLst>
            <a:ext uri="{909E8E84-426E-40DD-AFC4-6F175D3DCCD1}">
              <a14:hiddenFill xmlns:a14="http://schemas.microsoft.com/office/drawing/2010/main">
                <a:noFill/>
              </a14:hiddenFill>
            </a:ext>
          </a:extLst>
        </p:spPr>
        <p:txBody>
          <a:bodyPr/>
          <a:lstStyle/>
          <a:p>
            <a:endParaRPr lang="en-US" sz="2000" b="1">
              <a:latin typeface="+mn-lt"/>
            </a:endParaRPr>
          </a:p>
        </p:txBody>
      </p:sp>
      <p:graphicFrame>
        <p:nvGraphicFramePr>
          <p:cNvPr id="125" name="Object 42"/>
          <p:cNvGraphicFramePr>
            <a:graphicFrameLocks noChangeAspect="1"/>
          </p:cNvGraphicFramePr>
          <p:nvPr>
            <p:extLst>
              <p:ext uri="{D42A27DB-BD31-4B8C-83A1-F6EECF244321}">
                <p14:modId xmlns:p14="http://schemas.microsoft.com/office/powerpoint/2010/main" val="1044643216"/>
              </p:ext>
            </p:extLst>
          </p:nvPr>
        </p:nvGraphicFramePr>
        <p:xfrm>
          <a:off x="6144491" y="4847319"/>
          <a:ext cx="1291679" cy="423039"/>
        </p:xfrm>
        <a:graphic>
          <a:graphicData uri="http://schemas.openxmlformats.org/presentationml/2006/ole">
            <mc:AlternateContent xmlns:mc="http://schemas.openxmlformats.org/markup-compatibility/2006">
              <mc:Choice xmlns:v="urn:schemas-microsoft-com:vml" Requires="v">
                <p:oleObj name="Equation" r:id="rId25" imgW="1015920" imgH="330120" progId="Equation.DSMT4">
                  <p:embed/>
                </p:oleObj>
              </mc:Choice>
              <mc:Fallback>
                <p:oleObj name="Equation" r:id="rId25" imgW="1015920" imgH="330120" progId="Equation.DSMT4">
                  <p:embed/>
                  <p:pic>
                    <p:nvPicPr>
                      <p:cNvPr id="125" name="Object 42"/>
                      <p:cNvPicPr>
                        <a:picLocks noChangeAspect="1" noChangeArrowheads="1"/>
                      </p:cNvPicPr>
                      <p:nvPr/>
                    </p:nvPicPr>
                    <p:blipFill>
                      <a:blip r:embed="rId26"/>
                      <a:srcRect/>
                      <a:stretch>
                        <a:fillRect/>
                      </a:stretch>
                    </p:blipFill>
                    <p:spPr bwMode="auto">
                      <a:xfrm>
                        <a:off x="6144491" y="4847319"/>
                        <a:ext cx="1291679" cy="4230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6" name="Object 43"/>
          <p:cNvGraphicFramePr>
            <a:graphicFrameLocks noChangeAspect="1"/>
          </p:cNvGraphicFramePr>
          <p:nvPr>
            <p:extLst>
              <p:ext uri="{D42A27DB-BD31-4B8C-83A1-F6EECF244321}">
                <p14:modId xmlns:p14="http://schemas.microsoft.com/office/powerpoint/2010/main" val="3561615907"/>
              </p:ext>
            </p:extLst>
          </p:nvPr>
        </p:nvGraphicFramePr>
        <p:xfrm>
          <a:off x="5663835" y="1023238"/>
          <a:ext cx="308819" cy="449832"/>
        </p:xfrm>
        <a:graphic>
          <a:graphicData uri="http://schemas.openxmlformats.org/presentationml/2006/ole">
            <mc:AlternateContent xmlns:mc="http://schemas.openxmlformats.org/markup-compatibility/2006">
              <mc:Choice xmlns:v="urn:schemas-microsoft-com:vml" Requires="v">
                <p:oleObj name="Equation" r:id="rId27" imgW="228600" imgH="330120" progId="Equation.DSMT4">
                  <p:embed/>
                </p:oleObj>
              </mc:Choice>
              <mc:Fallback>
                <p:oleObj name="Equation" r:id="rId27" imgW="228600" imgH="330120" progId="Equation.DSMT4">
                  <p:embed/>
                  <p:pic>
                    <p:nvPicPr>
                      <p:cNvPr id="126" name="Object 43"/>
                      <p:cNvPicPr>
                        <a:picLocks noChangeAspect="1" noChangeArrowheads="1"/>
                      </p:cNvPicPr>
                      <p:nvPr/>
                    </p:nvPicPr>
                    <p:blipFill>
                      <a:blip r:embed="rId28"/>
                      <a:srcRect/>
                      <a:stretch>
                        <a:fillRect/>
                      </a:stretch>
                    </p:blipFill>
                    <p:spPr bwMode="auto">
                      <a:xfrm>
                        <a:off x="5663835" y="1023238"/>
                        <a:ext cx="308819" cy="4498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7" name="Object 44"/>
          <p:cNvGraphicFramePr>
            <a:graphicFrameLocks noChangeAspect="1"/>
          </p:cNvGraphicFramePr>
          <p:nvPr>
            <p:extLst>
              <p:ext uri="{D42A27DB-BD31-4B8C-83A1-F6EECF244321}">
                <p14:modId xmlns:p14="http://schemas.microsoft.com/office/powerpoint/2010/main" val="503232664"/>
              </p:ext>
            </p:extLst>
          </p:nvPr>
        </p:nvGraphicFramePr>
        <p:xfrm>
          <a:off x="4551069" y="4241301"/>
          <a:ext cx="291897" cy="447012"/>
        </p:xfrm>
        <a:graphic>
          <a:graphicData uri="http://schemas.openxmlformats.org/presentationml/2006/ole">
            <mc:AlternateContent xmlns:mc="http://schemas.openxmlformats.org/markup-compatibility/2006">
              <mc:Choice xmlns:v="urn:schemas-microsoft-com:vml" Requires="v">
                <p:oleObj name="Equation" r:id="rId29" imgW="215640" imgH="330120" progId="Equation.DSMT4">
                  <p:embed/>
                </p:oleObj>
              </mc:Choice>
              <mc:Fallback>
                <p:oleObj name="Equation" r:id="rId29" imgW="215640" imgH="330120" progId="Equation.DSMT4">
                  <p:embed/>
                  <p:pic>
                    <p:nvPicPr>
                      <p:cNvPr id="127" name="Object 44"/>
                      <p:cNvPicPr>
                        <a:picLocks noChangeAspect="1" noChangeArrowheads="1"/>
                      </p:cNvPicPr>
                      <p:nvPr/>
                    </p:nvPicPr>
                    <p:blipFill>
                      <a:blip r:embed="rId30"/>
                      <a:srcRect/>
                      <a:stretch>
                        <a:fillRect/>
                      </a:stretch>
                    </p:blipFill>
                    <p:spPr bwMode="auto">
                      <a:xfrm>
                        <a:off x="4551069" y="4241301"/>
                        <a:ext cx="291897" cy="447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8" name="Object 45"/>
          <p:cNvGraphicFramePr>
            <a:graphicFrameLocks noChangeAspect="1"/>
          </p:cNvGraphicFramePr>
          <p:nvPr>
            <p:extLst>
              <p:ext uri="{D42A27DB-BD31-4B8C-83A1-F6EECF244321}">
                <p14:modId xmlns:p14="http://schemas.microsoft.com/office/powerpoint/2010/main" val="465521108"/>
              </p:ext>
            </p:extLst>
          </p:nvPr>
        </p:nvGraphicFramePr>
        <p:xfrm>
          <a:off x="7572453" y="2976623"/>
          <a:ext cx="331381" cy="447011"/>
        </p:xfrm>
        <a:graphic>
          <a:graphicData uri="http://schemas.openxmlformats.org/presentationml/2006/ole">
            <mc:AlternateContent xmlns:mc="http://schemas.openxmlformats.org/markup-compatibility/2006">
              <mc:Choice xmlns:v="urn:schemas-microsoft-com:vml" Requires="v">
                <p:oleObj name="Equation" r:id="rId31" imgW="241200" imgH="330120" progId="Equation.DSMT4">
                  <p:embed/>
                </p:oleObj>
              </mc:Choice>
              <mc:Fallback>
                <p:oleObj name="Equation" r:id="rId31" imgW="241200" imgH="330120" progId="Equation.DSMT4">
                  <p:embed/>
                  <p:pic>
                    <p:nvPicPr>
                      <p:cNvPr id="128" name="Object 45"/>
                      <p:cNvPicPr>
                        <a:picLocks noChangeAspect="1" noChangeArrowheads="1"/>
                      </p:cNvPicPr>
                      <p:nvPr/>
                    </p:nvPicPr>
                    <p:blipFill>
                      <a:blip r:embed="rId32"/>
                      <a:srcRect/>
                      <a:stretch>
                        <a:fillRect/>
                      </a:stretch>
                    </p:blipFill>
                    <p:spPr bwMode="auto">
                      <a:xfrm>
                        <a:off x="7572453" y="2976623"/>
                        <a:ext cx="331381" cy="4470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0" name="Line 55"/>
          <p:cNvSpPr>
            <a:spLocks noChangeAspect="1" noChangeShapeType="1"/>
          </p:cNvSpPr>
          <p:nvPr/>
        </p:nvSpPr>
        <p:spPr bwMode="auto">
          <a:xfrm flipV="1">
            <a:off x="6497519" y="4213807"/>
            <a:ext cx="958063" cy="201332"/>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2000" b="1">
              <a:latin typeface="+mn-lt"/>
            </a:endParaRPr>
          </a:p>
        </p:txBody>
      </p:sp>
      <p:graphicFrame>
        <p:nvGraphicFramePr>
          <p:cNvPr id="131" name="Object 66"/>
          <p:cNvGraphicFramePr>
            <a:graphicFrameLocks noChangeAspect="1"/>
          </p:cNvGraphicFramePr>
          <p:nvPr>
            <p:extLst>
              <p:ext uri="{D42A27DB-BD31-4B8C-83A1-F6EECF244321}">
                <p14:modId xmlns:p14="http://schemas.microsoft.com/office/powerpoint/2010/main" val="3088451277"/>
              </p:ext>
            </p:extLst>
          </p:nvPr>
        </p:nvGraphicFramePr>
        <p:xfrm>
          <a:off x="4183762" y="1519658"/>
          <a:ext cx="384966" cy="472393"/>
        </p:xfrm>
        <a:graphic>
          <a:graphicData uri="http://schemas.openxmlformats.org/presentationml/2006/ole">
            <mc:AlternateContent xmlns:mc="http://schemas.openxmlformats.org/markup-compatibility/2006">
              <mc:Choice xmlns:v="urn:schemas-microsoft-com:vml" Requires="v">
                <p:oleObj name="Equation" r:id="rId33" imgW="266400" imgH="330120" progId="Equation.DSMT4">
                  <p:embed/>
                </p:oleObj>
              </mc:Choice>
              <mc:Fallback>
                <p:oleObj name="Equation" r:id="rId33" imgW="266400" imgH="330120" progId="Equation.DSMT4">
                  <p:embed/>
                  <p:pic>
                    <p:nvPicPr>
                      <p:cNvPr id="131" name="Object 66"/>
                      <p:cNvPicPr>
                        <a:picLocks noChangeAspect="1" noChangeArrowheads="1"/>
                      </p:cNvPicPr>
                      <p:nvPr/>
                    </p:nvPicPr>
                    <p:blipFill>
                      <a:blip r:embed="rId34"/>
                      <a:srcRect/>
                      <a:stretch>
                        <a:fillRect/>
                      </a:stretch>
                    </p:blipFill>
                    <p:spPr bwMode="auto">
                      <a:xfrm>
                        <a:off x="4183762" y="1519658"/>
                        <a:ext cx="384966" cy="4723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 name="Line 90"/>
          <p:cNvSpPr>
            <a:spLocks noChangeAspect="1" noChangeShapeType="1"/>
          </p:cNvSpPr>
          <p:nvPr/>
        </p:nvSpPr>
        <p:spPr bwMode="auto">
          <a:xfrm flipV="1">
            <a:off x="5801003" y="2864992"/>
            <a:ext cx="1389321" cy="272791"/>
          </a:xfrm>
          <a:prstGeom prst="line">
            <a:avLst/>
          </a:prstGeom>
          <a:noFill/>
          <a:ln w="25400">
            <a:solidFill>
              <a:srgbClr val="FFC000"/>
            </a:solidFill>
            <a:round/>
            <a:headEnd type="none"/>
            <a:tailEnd type="triangle" w="lg" len="med"/>
          </a:ln>
          <a:extLst>
            <a:ext uri="{909E8E84-426E-40DD-AFC4-6F175D3DCCD1}">
              <a14:hiddenFill xmlns:a14="http://schemas.microsoft.com/office/drawing/2010/main">
                <a:noFill/>
              </a14:hiddenFill>
            </a:ext>
          </a:extLst>
        </p:spPr>
        <p:txBody>
          <a:bodyPr/>
          <a:lstStyle/>
          <a:p>
            <a:endParaRPr lang="en-US" sz="2000" b="1">
              <a:latin typeface="+mn-lt"/>
            </a:endParaRPr>
          </a:p>
        </p:txBody>
      </p:sp>
      <p:graphicFrame>
        <p:nvGraphicFramePr>
          <p:cNvPr id="134" name="Object 98"/>
          <p:cNvGraphicFramePr>
            <a:graphicFrameLocks noChangeAspect="1"/>
          </p:cNvGraphicFramePr>
          <p:nvPr>
            <p:extLst>
              <p:ext uri="{D42A27DB-BD31-4B8C-83A1-F6EECF244321}">
                <p14:modId xmlns:p14="http://schemas.microsoft.com/office/powerpoint/2010/main" val="15880976"/>
              </p:ext>
            </p:extLst>
          </p:nvPr>
        </p:nvGraphicFramePr>
        <p:xfrm>
          <a:off x="7198229" y="2587936"/>
          <a:ext cx="345482" cy="449831"/>
        </p:xfrm>
        <a:graphic>
          <a:graphicData uri="http://schemas.openxmlformats.org/presentationml/2006/ole">
            <mc:AlternateContent xmlns:mc="http://schemas.openxmlformats.org/markup-compatibility/2006">
              <mc:Choice xmlns:v="urn:schemas-microsoft-com:vml" Requires="v">
                <p:oleObj name="Equation" r:id="rId35" imgW="253800" imgH="330120" progId="Equation.DSMT4">
                  <p:embed/>
                </p:oleObj>
              </mc:Choice>
              <mc:Fallback>
                <p:oleObj name="Equation" r:id="rId35" imgW="253800" imgH="330120" progId="Equation.DSMT4">
                  <p:embed/>
                  <p:pic>
                    <p:nvPicPr>
                      <p:cNvPr id="134" name="Object 98"/>
                      <p:cNvPicPr>
                        <a:picLocks noChangeAspect="1" noChangeArrowheads="1"/>
                      </p:cNvPicPr>
                      <p:nvPr/>
                    </p:nvPicPr>
                    <p:blipFill>
                      <a:blip r:embed="rId36"/>
                      <a:srcRect/>
                      <a:stretch>
                        <a:fillRect/>
                      </a:stretch>
                    </p:blipFill>
                    <p:spPr bwMode="auto">
                      <a:xfrm>
                        <a:off x="7198229" y="2587936"/>
                        <a:ext cx="345482" cy="4498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5" name="Object 99"/>
          <p:cNvGraphicFramePr>
            <a:graphicFrameLocks noChangeAspect="1"/>
          </p:cNvGraphicFramePr>
          <p:nvPr>
            <p:extLst>
              <p:ext uri="{D42A27DB-BD31-4B8C-83A1-F6EECF244321}">
                <p14:modId xmlns:p14="http://schemas.microsoft.com/office/powerpoint/2010/main" val="1560085644"/>
              </p:ext>
            </p:extLst>
          </p:nvPr>
        </p:nvGraphicFramePr>
        <p:xfrm>
          <a:off x="6274639" y="1424437"/>
          <a:ext cx="373684" cy="447011"/>
        </p:xfrm>
        <a:graphic>
          <a:graphicData uri="http://schemas.openxmlformats.org/presentationml/2006/ole">
            <mc:AlternateContent xmlns:mc="http://schemas.openxmlformats.org/markup-compatibility/2006">
              <mc:Choice xmlns:v="urn:schemas-microsoft-com:vml" Requires="v">
                <p:oleObj name="Equation" r:id="rId37" imgW="279360" imgH="330120" progId="Equation.DSMT4">
                  <p:embed/>
                </p:oleObj>
              </mc:Choice>
              <mc:Fallback>
                <p:oleObj name="Equation" r:id="rId37" imgW="279360" imgH="330120" progId="Equation.DSMT4">
                  <p:embed/>
                  <p:pic>
                    <p:nvPicPr>
                      <p:cNvPr id="135" name="Object 99"/>
                      <p:cNvPicPr>
                        <a:picLocks noChangeAspect="1" noChangeArrowheads="1"/>
                      </p:cNvPicPr>
                      <p:nvPr/>
                    </p:nvPicPr>
                    <p:blipFill>
                      <a:blip r:embed="rId38"/>
                      <a:srcRect/>
                      <a:stretch>
                        <a:fillRect/>
                      </a:stretch>
                    </p:blipFill>
                    <p:spPr bwMode="auto">
                      <a:xfrm>
                        <a:off x="6274639" y="1424437"/>
                        <a:ext cx="373684" cy="4470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6" name="Oval 135"/>
          <p:cNvSpPr/>
          <p:nvPr/>
        </p:nvSpPr>
        <p:spPr bwMode="auto">
          <a:xfrm rot="17100000">
            <a:off x="6170580" y="4013293"/>
            <a:ext cx="1611940" cy="634558"/>
          </a:xfrm>
          <a:prstGeom prst="ellipse">
            <a:avLst/>
          </a:prstGeom>
          <a:solidFill>
            <a:srgbClr val="00B050"/>
          </a:solidFill>
          <a:ln w="9525" cap="flat" cmpd="sng" algn="ctr">
            <a:noFill/>
            <a:prstDash val="solid"/>
            <a:round/>
            <a:headEnd type="none" w="med" len="med"/>
            <a:tailEnd type="none" w="med" len="med"/>
          </a:ln>
          <a:effectLst>
            <a:softEdge rad="292100"/>
          </a:effectLst>
        </p:spPr>
        <p:txBody>
          <a:bodyPr vert="horz" wrap="square" lIns="81224" tIns="40611" rIns="81224" bIns="40611" numCol="1" rtlCol="0" anchor="t" anchorCtr="0" compatLnSpc="1">
            <a:prstTxWarp prst="textNoShape">
              <a:avLst/>
            </a:prstTxWarp>
          </a:bodyPr>
          <a:lstStyle/>
          <a:p>
            <a:pPr algn="ctr" defTabSz="812209"/>
            <a:endParaRPr lang="en-US" sz="2000" b="1" dirty="0" err="1">
              <a:latin typeface="+mn-lt"/>
            </a:endParaRPr>
          </a:p>
        </p:txBody>
      </p:sp>
      <p:cxnSp>
        <p:nvCxnSpPr>
          <p:cNvPr id="137" name="Straight Connector 136"/>
          <p:cNvCxnSpPr/>
          <p:nvPr/>
        </p:nvCxnSpPr>
        <p:spPr bwMode="auto">
          <a:xfrm rot="17100000">
            <a:off x="6445275" y="4292352"/>
            <a:ext cx="1094881" cy="0"/>
          </a:xfrm>
          <a:prstGeom prst="line">
            <a:avLst/>
          </a:prstGeom>
          <a:solidFill>
            <a:schemeClr val="accent1"/>
          </a:solidFill>
          <a:ln w="25400" cap="flat" cmpd="sng" algn="ctr">
            <a:solidFill>
              <a:schemeClr val="tx1"/>
            </a:solidFill>
            <a:prstDash val="solid"/>
            <a:round/>
            <a:headEnd type="none" w="med" len="med"/>
            <a:tailEnd type="triangle" w="med" len="med"/>
          </a:ln>
          <a:effectLst/>
        </p:spPr>
      </p:cxnSp>
      <p:sp>
        <p:nvSpPr>
          <p:cNvPr id="138" name="Line 63"/>
          <p:cNvSpPr>
            <a:spLocks noChangeAspect="1" noChangeShapeType="1"/>
          </p:cNvSpPr>
          <p:nvPr/>
        </p:nvSpPr>
        <p:spPr bwMode="auto">
          <a:xfrm flipH="1" flipV="1">
            <a:off x="4574373" y="1906845"/>
            <a:ext cx="1235251" cy="1235251"/>
          </a:xfrm>
          <a:prstGeom prst="line">
            <a:avLst/>
          </a:prstGeom>
          <a:noFill/>
          <a:ln w="25400">
            <a:solidFill>
              <a:srgbClr val="FFC000"/>
            </a:solidFill>
            <a:round/>
            <a:headEnd type="none"/>
            <a:tailEnd type="triangle" w="lg" len="med"/>
          </a:ln>
          <a:extLst>
            <a:ext uri="{909E8E84-426E-40DD-AFC4-6F175D3DCCD1}">
              <a14:hiddenFill xmlns:a14="http://schemas.microsoft.com/office/drawing/2010/main">
                <a:noFill/>
              </a14:hiddenFill>
            </a:ext>
          </a:extLst>
        </p:spPr>
        <p:txBody>
          <a:bodyPr/>
          <a:lstStyle/>
          <a:p>
            <a:endParaRPr lang="en-US" sz="2000" b="1">
              <a:latin typeface="+mn-lt"/>
            </a:endParaRPr>
          </a:p>
        </p:txBody>
      </p:sp>
      <p:graphicFrame>
        <p:nvGraphicFramePr>
          <p:cNvPr id="142" name="Object 42"/>
          <p:cNvGraphicFramePr>
            <a:graphicFrameLocks noChangeAspect="1"/>
          </p:cNvGraphicFramePr>
          <p:nvPr>
            <p:extLst>
              <p:ext uri="{D42A27DB-BD31-4B8C-83A1-F6EECF244321}">
                <p14:modId xmlns:p14="http://schemas.microsoft.com/office/powerpoint/2010/main" val="267323292"/>
              </p:ext>
            </p:extLst>
          </p:nvPr>
        </p:nvGraphicFramePr>
        <p:xfrm>
          <a:off x="6463519" y="2186348"/>
          <a:ext cx="713526" cy="473804"/>
        </p:xfrm>
        <a:graphic>
          <a:graphicData uri="http://schemas.openxmlformats.org/presentationml/2006/ole">
            <mc:AlternateContent xmlns:mc="http://schemas.openxmlformats.org/markup-compatibility/2006">
              <mc:Choice xmlns:v="urn:schemas-microsoft-com:vml" Requires="v">
                <p:oleObj name="Equation" r:id="rId39" imgW="558720" imgH="368280" progId="Equation.DSMT4">
                  <p:embed/>
                </p:oleObj>
              </mc:Choice>
              <mc:Fallback>
                <p:oleObj name="Equation" r:id="rId39" imgW="558720" imgH="368280" progId="Equation.DSMT4">
                  <p:embed/>
                  <p:pic>
                    <p:nvPicPr>
                      <p:cNvPr id="142" name="Object 42"/>
                      <p:cNvPicPr>
                        <a:picLocks noChangeAspect="1" noChangeArrowheads="1"/>
                      </p:cNvPicPr>
                      <p:nvPr/>
                    </p:nvPicPr>
                    <p:blipFill>
                      <a:blip r:embed="rId40"/>
                      <a:srcRect/>
                      <a:stretch>
                        <a:fillRect/>
                      </a:stretch>
                    </p:blipFill>
                    <p:spPr bwMode="auto">
                      <a:xfrm>
                        <a:off x="6463519" y="2186348"/>
                        <a:ext cx="713526" cy="473804"/>
                      </a:xfrm>
                      <a:prstGeom prst="rect">
                        <a:avLst/>
                      </a:prstGeom>
                      <a:solidFill>
                        <a:schemeClr val="bg1"/>
                      </a:solidFill>
                      <a:ln>
                        <a:noFill/>
                      </a:ln>
                      <a:effectLst/>
                    </p:spPr>
                  </p:pic>
                </p:oleObj>
              </mc:Fallback>
            </mc:AlternateContent>
          </a:graphicData>
        </a:graphic>
      </p:graphicFrame>
      <p:sp>
        <p:nvSpPr>
          <p:cNvPr id="144" name="Title 1"/>
          <p:cNvSpPr txBox="1">
            <a:spLocks/>
          </p:cNvSpPr>
          <p:nvPr/>
        </p:nvSpPr>
        <p:spPr bwMode="auto">
          <a:xfrm>
            <a:off x="3107684" y="3615769"/>
            <a:ext cx="1687964" cy="501580"/>
          </a:xfrm>
          <a:prstGeom prst="rect">
            <a:avLst/>
          </a:prstGeom>
          <a:noFill/>
          <a:ln w="9525">
            <a:noFill/>
            <a:miter lim="800000"/>
            <a:headEnd/>
            <a:tailEnd/>
          </a:ln>
          <a:effectLst>
            <a:outerShdw dist="25399" dir="2700000" algn="ctr" rotWithShape="0">
              <a:schemeClr val="bg2">
                <a:alpha val="31000"/>
              </a:schemeClr>
            </a:outerShdw>
          </a:effectLst>
        </p:spPr>
        <p:txBody>
          <a:bodyPr vert="horz" wrap="square" lIns="81224" tIns="40611" rIns="81224" bIns="40611" numCol="1" anchor="ctr" anchorCtr="0" compatLnSpc="1">
            <a:prstTxWarp prst="textNoShape">
              <a:avLst/>
            </a:prstTxWarp>
          </a:bodyPr>
          <a:lstStyle>
            <a:lvl1pPr algn="l" rtl="0" fontAlgn="base">
              <a:spcBef>
                <a:spcPct val="0"/>
              </a:spcBef>
              <a:spcAft>
                <a:spcPct val="0"/>
              </a:spcAft>
              <a:defRPr sz="36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algn="ctr" eaLnBrk="1" hangingPunct="1"/>
            <a:r>
              <a:rPr lang="en-US" sz="2000" kern="0" dirty="0">
                <a:latin typeface="+mn-lt"/>
              </a:rPr>
              <a:t>3D Fourier Transform</a:t>
            </a:r>
          </a:p>
        </p:txBody>
      </p:sp>
      <p:cxnSp>
        <p:nvCxnSpPr>
          <p:cNvPr id="146" name="Straight Connector 145"/>
          <p:cNvCxnSpPr/>
          <p:nvPr/>
        </p:nvCxnSpPr>
        <p:spPr bwMode="auto">
          <a:xfrm>
            <a:off x="2877100" y="3448903"/>
            <a:ext cx="2153569" cy="0"/>
          </a:xfrm>
          <a:prstGeom prst="line">
            <a:avLst/>
          </a:prstGeom>
          <a:solidFill>
            <a:schemeClr val="accent1"/>
          </a:solidFill>
          <a:ln w="127000" cap="flat" cmpd="sng" algn="ctr">
            <a:solidFill>
              <a:srgbClr val="00B0F0">
                <a:alpha val="50000"/>
              </a:srgbClr>
            </a:solidFill>
            <a:prstDash val="solid"/>
            <a:round/>
            <a:headEnd type="triangle" w="med" len="med"/>
            <a:tailEnd type="triangle" w="med" len="med"/>
          </a:ln>
          <a:effectLst/>
        </p:spPr>
      </p:cxnSp>
      <p:sp>
        <p:nvSpPr>
          <p:cNvPr id="147" name="Title 1"/>
          <p:cNvSpPr>
            <a:spLocks noGrp="1"/>
          </p:cNvSpPr>
          <p:nvPr>
            <p:ph type="title"/>
          </p:nvPr>
        </p:nvSpPr>
        <p:spPr>
          <a:xfrm>
            <a:off x="3890786" y="5240545"/>
            <a:ext cx="1791587" cy="509263"/>
          </a:xfrm>
        </p:spPr>
        <p:txBody>
          <a:bodyPr/>
          <a:lstStyle/>
          <a:p>
            <a:pPr algn="ctr"/>
            <a:r>
              <a:rPr lang="en-US" sz="2000" dirty="0">
                <a:latin typeface="+mn-lt"/>
              </a:rPr>
              <a:t>2D Fourier Transform</a:t>
            </a:r>
          </a:p>
        </p:txBody>
      </p:sp>
      <p:cxnSp>
        <p:nvCxnSpPr>
          <p:cNvPr id="149" name="Straight Connector 148"/>
          <p:cNvCxnSpPr/>
          <p:nvPr/>
        </p:nvCxnSpPr>
        <p:spPr bwMode="auto">
          <a:xfrm>
            <a:off x="3630256" y="5041228"/>
            <a:ext cx="2355750" cy="0"/>
          </a:xfrm>
          <a:prstGeom prst="line">
            <a:avLst/>
          </a:prstGeom>
          <a:solidFill>
            <a:schemeClr val="accent1"/>
          </a:solidFill>
          <a:ln w="127000" cap="flat" cmpd="sng" algn="ctr">
            <a:solidFill>
              <a:srgbClr val="00B0F0">
                <a:alpha val="50000"/>
              </a:srgbClr>
            </a:solidFill>
            <a:prstDash val="solid"/>
            <a:round/>
            <a:headEnd type="triangle" w="med" len="med"/>
            <a:tailEnd type="triangle" w="med" len="med"/>
          </a:ln>
          <a:effectLst/>
        </p:spPr>
      </p:cxnSp>
      <p:sp>
        <p:nvSpPr>
          <p:cNvPr id="153" name="Line 86"/>
          <p:cNvSpPr>
            <a:spLocks noChangeAspect="1" noChangeShapeType="1"/>
          </p:cNvSpPr>
          <p:nvPr/>
        </p:nvSpPr>
        <p:spPr bwMode="auto">
          <a:xfrm flipH="1" flipV="1">
            <a:off x="5319208" y="2657854"/>
            <a:ext cx="486424" cy="486424"/>
          </a:xfrm>
          <a:prstGeom prst="line">
            <a:avLst/>
          </a:prstGeom>
          <a:noFill/>
          <a:ln w="63500">
            <a:solidFill>
              <a:schemeClr val="tx1"/>
            </a:solidFill>
            <a:round/>
            <a:headEnd type="none" w="sm" len="sm"/>
            <a:tailEnd type="triangle" w="lg" len="med"/>
          </a:ln>
          <a:extLst>
            <a:ext uri="{909E8E84-426E-40DD-AFC4-6F175D3DCCD1}">
              <a14:hiddenFill xmlns:a14="http://schemas.microsoft.com/office/drawing/2010/main">
                <a:noFill/>
              </a14:hiddenFill>
            </a:ext>
          </a:extLst>
        </p:spPr>
        <p:txBody>
          <a:bodyPr/>
          <a:lstStyle/>
          <a:p>
            <a:endParaRPr lang="en-US" sz="2000" b="1">
              <a:latin typeface="+mn-lt"/>
            </a:endParaRPr>
          </a:p>
        </p:txBody>
      </p:sp>
      <p:sp>
        <p:nvSpPr>
          <p:cNvPr id="55" name="Title 1"/>
          <p:cNvSpPr txBox="1">
            <a:spLocks/>
          </p:cNvSpPr>
          <p:nvPr/>
        </p:nvSpPr>
        <p:spPr bwMode="auto">
          <a:xfrm>
            <a:off x="1676401" y="174362"/>
            <a:ext cx="8839200" cy="744548"/>
          </a:xfrm>
          <a:prstGeom prst="rect">
            <a:avLst/>
          </a:prstGeom>
          <a:noFill/>
          <a:ln>
            <a:noFill/>
          </a:ln>
          <a:effectLst>
            <a:outerShdw dist="25399" dir="2700000" algn="ctr" rotWithShape="0">
              <a:schemeClr val="bg2">
                <a:alpha val="31000"/>
              </a:scheme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567" tIns="45784" rIns="91567" bIns="45784" numCol="1" anchor="ctr" anchorCtr="0" compatLnSpc="1">
            <a:prstTxWarp prst="textNoShape">
              <a:avLst/>
            </a:prstTxWarp>
          </a:bodyPr>
          <a:lstStyle>
            <a:lvl1pPr algn="ctr" rtl="0" eaLnBrk="0" fontAlgn="base" hangingPunct="0">
              <a:spcBef>
                <a:spcPct val="0"/>
              </a:spcBef>
              <a:spcAft>
                <a:spcPct val="0"/>
              </a:spcAft>
              <a:defRPr sz="3548" b="1">
                <a:solidFill>
                  <a:schemeClr val="tx1"/>
                </a:solidFill>
                <a:latin typeface="+mj-lt"/>
                <a:ea typeface="+mj-ea"/>
                <a:cs typeface="+mj-cs"/>
              </a:defRPr>
            </a:lvl1pPr>
            <a:lvl2pPr algn="l" rtl="0" eaLnBrk="0" fontAlgn="base" hangingPunct="0">
              <a:spcBef>
                <a:spcPct val="0"/>
              </a:spcBef>
              <a:spcAft>
                <a:spcPct val="0"/>
              </a:spcAft>
              <a:defRPr sz="3900">
                <a:solidFill>
                  <a:schemeClr val="tx2"/>
                </a:solidFill>
                <a:latin typeface="Arial" charset="0"/>
                <a:ea typeface="ＭＳ Ｐゴシック" pitchFamily="116" charset="-128"/>
              </a:defRPr>
            </a:lvl2pPr>
            <a:lvl3pPr algn="l" rtl="0" eaLnBrk="0" fontAlgn="base" hangingPunct="0">
              <a:spcBef>
                <a:spcPct val="0"/>
              </a:spcBef>
              <a:spcAft>
                <a:spcPct val="0"/>
              </a:spcAft>
              <a:defRPr sz="3900">
                <a:solidFill>
                  <a:schemeClr val="tx2"/>
                </a:solidFill>
                <a:latin typeface="Arial" charset="0"/>
                <a:ea typeface="ＭＳ Ｐゴシック" pitchFamily="116" charset="-128"/>
              </a:defRPr>
            </a:lvl3pPr>
            <a:lvl4pPr algn="l" rtl="0" eaLnBrk="0" fontAlgn="base" hangingPunct="0">
              <a:spcBef>
                <a:spcPct val="0"/>
              </a:spcBef>
              <a:spcAft>
                <a:spcPct val="0"/>
              </a:spcAft>
              <a:defRPr sz="3900">
                <a:solidFill>
                  <a:schemeClr val="tx2"/>
                </a:solidFill>
                <a:latin typeface="Arial" charset="0"/>
                <a:ea typeface="ＭＳ Ｐゴシック" pitchFamily="116" charset="-128"/>
              </a:defRPr>
            </a:lvl4pPr>
            <a:lvl5pPr algn="l" rtl="0" eaLnBrk="0" fontAlgn="base" hangingPunct="0">
              <a:spcBef>
                <a:spcPct val="0"/>
              </a:spcBef>
              <a:spcAft>
                <a:spcPct val="0"/>
              </a:spcAft>
              <a:defRPr sz="3900">
                <a:solidFill>
                  <a:schemeClr val="tx2"/>
                </a:solidFill>
                <a:latin typeface="Arial" charset="0"/>
                <a:ea typeface="ＭＳ Ｐゴシック" pitchFamily="116" charset="-128"/>
              </a:defRPr>
            </a:lvl5pPr>
            <a:lvl6pPr marL="405536" algn="l" rtl="0" fontAlgn="base">
              <a:spcBef>
                <a:spcPct val="0"/>
              </a:spcBef>
              <a:spcAft>
                <a:spcPct val="0"/>
              </a:spcAft>
              <a:defRPr sz="3903">
                <a:solidFill>
                  <a:srgbClr val="691638"/>
                </a:solidFill>
                <a:latin typeface="Arial" charset="0"/>
                <a:ea typeface="ＭＳ Ｐゴシック" pitchFamily="116" charset="-128"/>
              </a:defRPr>
            </a:lvl6pPr>
            <a:lvl7pPr marL="811073" algn="l" rtl="0" fontAlgn="base">
              <a:spcBef>
                <a:spcPct val="0"/>
              </a:spcBef>
              <a:spcAft>
                <a:spcPct val="0"/>
              </a:spcAft>
              <a:defRPr sz="3903">
                <a:solidFill>
                  <a:srgbClr val="691638"/>
                </a:solidFill>
                <a:latin typeface="Arial" charset="0"/>
                <a:ea typeface="ＭＳ Ｐゴシック" pitchFamily="116" charset="-128"/>
              </a:defRPr>
            </a:lvl7pPr>
            <a:lvl8pPr marL="1216609" algn="l" rtl="0" fontAlgn="base">
              <a:spcBef>
                <a:spcPct val="0"/>
              </a:spcBef>
              <a:spcAft>
                <a:spcPct val="0"/>
              </a:spcAft>
              <a:defRPr sz="3903">
                <a:solidFill>
                  <a:srgbClr val="691638"/>
                </a:solidFill>
                <a:latin typeface="Arial" charset="0"/>
                <a:ea typeface="ＭＳ Ｐゴシック" pitchFamily="116" charset="-128"/>
              </a:defRPr>
            </a:lvl8pPr>
            <a:lvl9pPr marL="1622146" algn="l" rtl="0" fontAlgn="base">
              <a:spcBef>
                <a:spcPct val="0"/>
              </a:spcBef>
              <a:spcAft>
                <a:spcPct val="0"/>
              </a:spcAft>
              <a:defRPr sz="3903">
                <a:solidFill>
                  <a:srgbClr val="691638"/>
                </a:solidFill>
                <a:latin typeface="Arial" charset="0"/>
                <a:ea typeface="ＭＳ Ｐゴシック" pitchFamily="116" charset="-128"/>
              </a:defRPr>
            </a:lvl9pPr>
          </a:lstStyle>
          <a:p>
            <a:r>
              <a:rPr lang="en-US" sz="3553" kern="0" dirty="0"/>
              <a:t>Extended Fourier Slice Theorem</a:t>
            </a:r>
          </a:p>
        </p:txBody>
      </p:sp>
      <p:sp>
        <p:nvSpPr>
          <p:cNvPr id="56" name="Rectangle 1029"/>
          <p:cNvSpPr>
            <a:spLocks noChangeArrowheads="1"/>
          </p:cNvSpPr>
          <p:nvPr/>
        </p:nvSpPr>
        <p:spPr bwMode="auto">
          <a:xfrm>
            <a:off x="175959" y="5928947"/>
            <a:ext cx="8376327" cy="754691"/>
          </a:xfrm>
          <a:prstGeom prst="rect">
            <a:avLst/>
          </a:prstGeom>
          <a:noFill/>
          <a:ln>
            <a:noFill/>
          </a:ln>
          <a:effectLst/>
          <a:extLst>
            <a:ext uri="{909E8E84-426E-40DD-AFC4-6F175D3DCCD1}">
              <a14:hiddenFill xmlns:a14="http://schemas.microsoft.com/office/drawing/2010/main">
                <a:solidFill>
                  <a:srgbClr val="00279F"/>
                </a:solidFill>
              </a14:hiddenFill>
            </a:ext>
            <a:ext uri="{91240B29-F687-4F45-9708-019B960494DF}">
              <a14:hiddenLine xmlns:a14="http://schemas.microsoft.com/office/drawing/2010/main" w="50800">
                <a:solidFill>
                  <a:srgbClr val="FC0128"/>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614" tIns="44512" rIns="90614" bIns="44512">
            <a:spAutoFit/>
          </a:bodyP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nSpc>
                <a:spcPct val="90000"/>
              </a:lnSpc>
              <a:defRPr/>
            </a:pPr>
            <a:r>
              <a:rPr lang="en-US" altLang="en-US" sz="2400" dirty="0">
                <a:solidFill>
                  <a:schemeClr val="tx1"/>
                </a:solidFill>
                <a:cs typeface="Times New Roman" pitchFamily="18" charset="0"/>
              </a:rPr>
              <a:t>Fourier slice theorem can be generalized into other forms… …</a:t>
            </a:r>
          </a:p>
        </p:txBody>
      </p:sp>
      <p:pic>
        <p:nvPicPr>
          <p:cNvPr id="57" name="Picture 4" descr="http://www.wpclipart.com/blanks/buttons/round/button_round_green.png"/>
          <p:cNvPicPr>
            <a:picLocks noChangeAspect="1" noChangeArrowheads="1"/>
          </p:cNvPicPr>
          <p:nvPr/>
        </p:nvPicPr>
        <p:blipFill>
          <a:blip r:embed="rId41" cstate="print">
            <a:extLst>
              <a:ext uri="{28A0092B-C50C-407E-A947-70E740481C1C}">
                <a14:useLocalDpi xmlns:a14="http://schemas.microsoft.com/office/drawing/2010/main" val="0"/>
              </a:ext>
            </a:extLst>
          </a:blip>
          <a:srcRect/>
          <a:stretch>
            <a:fillRect/>
          </a:stretch>
        </p:blipFill>
        <p:spPr bwMode="auto">
          <a:xfrm>
            <a:off x="7205202" y="1041069"/>
            <a:ext cx="1490954" cy="14909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4525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Analytic Approach</a:t>
            </a:r>
          </a:p>
        </p:txBody>
      </p:sp>
      <p:sp>
        <p:nvSpPr>
          <p:cNvPr id="3" name="Content Placeholder 2"/>
          <p:cNvSpPr>
            <a:spLocks noGrp="1"/>
          </p:cNvSpPr>
          <p:nvPr>
            <p:ph idx="1"/>
          </p:nvPr>
        </p:nvSpPr>
        <p:spPr>
          <a:xfrm>
            <a:off x="258286" y="1272483"/>
            <a:ext cx="7502014" cy="3908323"/>
          </a:xfrm>
        </p:spPr>
        <p:txBody>
          <a:bodyPr/>
          <a:lstStyle/>
          <a:p>
            <a:pPr marL="457200" indent="-457200">
              <a:buClrTx/>
              <a:buFont typeface="Arial" panose="020B0604020202020204" pitchFamily="34" charset="0"/>
              <a:buChar char="•"/>
            </a:pPr>
            <a:r>
              <a:rPr lang="en-US" dirty="0"/>
              <a:t>Convert X-ray data into the Fourier/Radon space</a:t>
            </a:r>
          </a:p>
          <a:p>
            <a:pPr marL="457200" indent="-457200">
              <a:buClrTx/>
              <a:buFont typeface="Arial" panose="020B0604020202020204" pitchFamily="34" charset="0"/>
              <a:buChar char="•"/>
            </a:pPr>
            <a:r>
              <a:rPr lang="en-US" dirty="0"/>
              <a:t>Invert the Fourier/Radon transform according to a closed-form formula</a:t>
            </a:r>
          </a:p>
          <a:p>
            <a:pPr marL="457200" indent="-457200">
              <a:buClrTx/>
              <a:buFont typeface="Arial" panose="020B0604020202020204" pitchFamily="34" charset="0"/>
              <a:buChar char="•"/>
            </a:pPr>
            <a:r>
              <a:rPr lang="en-US" dirty="0"/>
              <a:t>In the reconstruction process, some filtering/processing steps may be used</a:t>
            </a:r>
          </a:p>
          <a:p>
            <a:pPr marL="457200" indent="-457200">
              <a:buClrTx/>
              <a:buFont typeface="Arial" panose="020B0604020202020204" pitchFamily="34" charset="0"/>
              <a:buChar char="•"/>
            </a:pPr>
            <a:r>
              <a:rPr lang="en-US" dirty="0"/>
              <a:t>Noise/incompleteness/inconsistency may induce stronger artifacts than iterative reconstruction</a:t>
            </a:r>
          </a:p>
        </p:txBody>
      </p:sp>
      <p:pic>
        <p:nvPicPr>
          <p:cNvPr id="4" name="Picture 12" descr="http://www.magic-emoji.com/emoji/images/83_emoji_iphone_black_diamond_suit.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5453057" y="4889962"/>
            <a:ext cx="2046695" cy="20466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41004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CT Reconstruction</a:t>
            </a:r>
          </a:p>
        </p:txBody>
      </p:sp>
      <p:sp>
        <p:nvSpPr>
          <p:cNvPr id="4" name="TextBox 3"/>
          <p:cNvSpPr txBox="1"/>
          <p:nvPr/>
        </p:nvSpPr>
        <p:spPr>
          <a:xfrm>
            <a:off x="2491433" y="1406635"/>
            <a:ext cx="6080447" cy="4401205"/>
          </a:xfrm>
          <a:prstGeom prst="rect">
            <a:avLst/>
          </a:prstGeom>
          <a:noFill/>
        </p:spPr>
        <p:txBody>
          <a:bodyPr wrap="none" rtlCol="0">
            <a:spAutoFit/>
          </a:bodyPr>
          <a:lstStyle/>
          <a:p>
            <a:pPr marL="342900" indent="-342900">
              <a:buFont typeface="Arial" panose="020B0604020202020204" pitchFamily="34" charset="0"/>
              <a:buChar char="•"/>
            </a:pPr>
            <a:r>
              <a:rPr lang="en-US" sz="2800" b="1" dirty="0"/>
              <a:t>Duality of Information</a:t>
            </a:r>
            <a:endParaRPr lang="en-US" sz="2800" dirty="0"/>
          </a:p>
          <a:p>
            <a:pPr marL="342900" indent="-342900">
              <a:buFont typeface="Arial" panose="020B0604020202020204" pitchFamily="34" charset="0"/>
              <a:buChar char="•"/>
            </a:pPr>
            <a:r>
              <a:rPr lang="en-US" sz="2800" b="1" dirty="0"/>
              <a:t>Algebraic Approach</a:t>
            </a:r>
          </a:p>
          <a:p>
            <a:r>
              <a:rPr lang="en-US" sz="2800" b="1" dirty="0"/>
              <a:t>	</a:t>
            </a:r>
            <a:r>
              <a:rPr lang="en-US" sz="2800" dirty="0"/>
              <a:t>Solution Uniqueness</a:t>
            </a:r>
          </a:p>
          <a:p>
            <a:r>
              <a:rPr lang="en-US" sz="2800" dirty="0"/>
              <a:t>	Data Independence/Sufficiency</a:t>
            </a:r>
            <a:endParaRPr lang="en-US" sz="2000" dirty="0"/>
          </a:p>
          <a:p>
            <a:pPr marL="342900" indent="-342900">
              <a:buFont typeface="Arial" panose="020B0604020202020204" pitchFamily="34" charset="0"/>
              <a:buChar char="•"/>
            </a:pPr>
            <a:r>
              <a:rPr lang="en-US" sz="2800" b="1" dirty="0"/>
              <a:t>Analytic Approach</a:t>
            </a:r>
          </a:p>
          <a:p>
            <a:r>
              <a:rPr lang="en-US" sz="2800" b="1" dirty="0"/>
              <a:t>	</a:t>
            </a:r>
            <a:r>
              <a:rPr lang="en-US" sz="2800" dirty="0"/>
              <a:t>Fourier Slice Theorem</a:t>
            </a:r>
          </a:p>
          <a:p>
            <a:r>
              <a:rPr lang="en-US" sz="2800" dirty="0"/>
              <a:t>	Filtered Backprojection</a:t>
            </a:r>
          </a:p>
          <a:p>
            <a:pPr marL="342900" indent="-342900">
              <a:buFont typeface="Arial" panose="020B0604020202020204" pitchFamily="34" charset="0"/>
              <a:buChar char="•"/>
            </a:pPr>
            <a:r>
              <a:rPr lang="en-US" sz="2800" b="1" dirty="0">
                <a:solidFill>
                  <a:srgbClr val="FF0000"/>
                </a:solidFill>
              </a:rPr>
              <a:t>Examples</a:t>
            </a:r>
          </a:p>
          <a:p>
            <a:r>
              <a:rPr lang="en-US" sz="2800" b="1" dirty="0">
                <a:solidFill>
                  <a:srgbClr val="FF0000"/>
                </a:solidFill>
              </a:rPr>
              <a:t>	</a:t>
            </a:r>
            <a:r>
              <a:rPr lang="en-US" sz="2800" dirty="0">
                <a:solidFill>
                  <a:srgbClr val="FF0000"/>
                </a:solidFill>
              </a:rPr>
              <a:t>Numerical Examples</a:t>
            </a:r>
          </a:p>
          <a:p>
            <a:r>
              <a:rPr lang="en-US" sz="2800" dirty="0">
                <a:solidFill>
                  <a:srgbClr val="FF0000"/>
                </a:solidFill>
              </a:rPr>
              <a:t>	Clinical Images</a:t>
            </a:r>
          </a:p>
        </p:txBody>
      </p:sp>
    </p:spTree>
    <p:extLst>
      <p:ext uri="{BB962C8B-B14F-4D97-AF65-F5344CB8AC3E}">
        <p14:creationId xmlns:p14="http://schemas.microsoft.com/office/powerpoint/2010/main" val="27722310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9" name="Picture 61" descr="C:\AAA\proj.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V="1">
            <a:off x="4408837" y="2920389"/>
            <a:ext cx="3148174" cy="2197214"/>
          </a:xfrm>
          <a:prstGeom prst="rect">
            <a:avLst/>
          </a:prstGeom>
          <a:noFill/>
          <a:ln w="25400">
            <a:noFill/>
            <a:miter lim="800000"/>
            <a:headEnd/>
            <a:tailEnd/>
          </a:ln>
          <a:extLst>
            <a:ext uri="{909E8E84-426E-40DD-AFC4-6F175D3DCCD1}">
              <a14:hiddenFill xmlns:a14="http://schemas.microsoft.com/office/drawing/2010/main">
                <a:solidFill>
                  <a:srgbClr val="FFFFFF"/>
                </a:solidFill>
              </a14:hiddenFill>
            </a:ext>
          </a:extLst>
        </p:spPr>
      </p:pic>
      <p:sp>
        <p:nvSpPr>
          <p:cNvPr id="11285" name="Rectangle 108"/>
          <p:cNvSpPr>
            <a:spLocks noChangeArrowheads="1"/>
          </p:cNvSpPr>
          <p:nvPr/>
        </p:nvSpPr>
        <p:spPr bwMode="auto">
          <a:xfrm>
            <a:off x="4418435" y="5224923"/>
            <a:ext cx="1297086" cy="316471"/>
          </a:xfrm>
          <a:prstGeom prst="rect">
            <a:avLst/>
          </a:prstGeom>
          <a:noFill/>
          <a:ln w="25400">
            <a:noFill/>
            <a:miter lim="800000"/>
            <a:headEnd/>
            <a:tailEnd/>
          </a:ln>
          <a:extLst>
            <a:ext uri="{909E8E84-426E-40DD-AFC4-6F175D3DCCD1}">
              <a14:hiddenFill xmlns:a14="http://schemas.microsoft.com/office/drawing/2010/main">
                <a:solidFill>
                  <a:srgbClr val="FFFFFF"/>
                </a:solidFill>
              </a14:hiddenFill>
            </a:ext>
          </a:extLst>
        </p:spPr>
        <p:txBody>
          <a:bodyPr wrap="none" lIns="56483" tIns="22593" rIns="56483" bIns="22593">
            <a:spAutoFit/>
          </a:bodyP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gn="ctr">
              <a:lnSpc>
                <a:spcPct val="88000"/>
              </a:lnSpc>
            </a:pPr>
            <a:r>
              <a:rPr lang="en-US" altLang="en-US" sz="2000" dirty="0">
                <a:solidFill>
                  <a:schemeClr val="tx1"/>
                </a:solidFill>
              </a:rPr>
              <a:t>Sinogram</a:t>
            </a:r>
          </a:p>
        </p:txBody>
      </p:sp>
      <p:sp>
        <p:nvSpPr>
          <p:cNvPr id="11286" name="Rectangle 109"/>
          <p:cNvSpPr>
            <a:spLocks noChangeArrowheads="1"/>
          </p:cNvSpPr>
          <p:nvPr/>
        </p:nvSpPr>
        <p:spPr bwMode="auto">
          <a:xfrm>
            <a:off x="157971" y="1593145"/>
            <a:ext cx="1367618" cy="316471"/>
          </a:xfrm>
          <a:prstGeom prst="rect">
            <a:avLst/>
          </a:prstGeom>
          <a:noFill/>
          <a:ln w="25400">
            <a:noFill/>
            <a:miter lim="800000"/>
            <a:headEnd/>
            <a:tailEnd/>
          </a:ln>
          <a:extLst>
            <a:ext uri="{909E8E84-426E-40DD-AFC4-6F175D3DCCD1}">
              <a14:hiddenFill xmlns:a14="http://schemas.microsoft.com/office/drawing/2010/main">
                <a:solidFill>
                  <a:srgbClr val="FFFFFF"/>
                </a:solidFill>
              </a14:hiddenFill>
            </a:ext>
          </a:extLst>
        </p:spPr>
        <p:txBody>
          <a:bodyPr wrap="none" lIns="56483" tIns="22593" rIns="56483" bIns="22593">
            <a:spAutoFit/>
          </a:bodyP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gn="ctr">
              <a:lnSpc>
                <a:spcPct val="88000"/>
              </a:lnSpc>
            </a:pPr>
            <a:r>
              <a:rPr lang="en-US" altLang="en-US" sz="2000" dirty="0">
                <a:solidFill>
                  <a:schemeClr val="tx1"/>
                </a:solidFill>
              </a:rPr>
              <a:t>Projection</a:t>
            </a:r>
          </a:p>
        </p:txBody>
      </p:sp>
      <p:graphicFrame>
        <p:nvGraphicFramePr>
          <p:cNvPr id="45" name="对象 28"/>
          <p:cNvGraphicFramePr>
            <a:graphicFrameLocks noChangeAspect="1"/>
          </p:cNvGraphicFramePr>
          <p:nvPr>
            <p:extLst>
              <p:ext uri="{D42A27DB-BD31-4B8C-83A1-F6EECF244321}">
                <p14:modId xmlns:p14="http://schemas.microsoft.com/office/powerpoint/2010/main" val="3799693249"/>
              </p:ext>
            </p:extLst>
          </p:nvPr>
        </p:nvGraphicFramePr>
        <p:xfrm>
          <a:off x="2056097" y="5185594"/>
          <a:ext cx="896843" cy="365223"/>
        </p:xfrm>
        <a:graphic>
          <a:graphicData uri="http://schemas.openxmlformats.org/presentationml/2006/ole">
            <mc:AlternateContent xmlns:mc="http://schemas.openxmlformats.org/markup-compatibility/2006">
              <mc:Choice xmlns:v="urn:schemas-microsoft-com:vml" Requires="v">
                <p:oleObj name="Equation" r:id="rId4" imgW="761760" imgH="304560" progId="Equation.DSMT4">
                  <p:embed/>
                </p:oleObj>
              </mc:Choice>
              <mc:Fallback>
                <p:oleObj name="Equation" r:id="rId4" imgW="761760" imgH="304560" progId="Equation.DSMT4">
                  <p:embed/>
                  <p:pic>
                    <p:nvPicPr>
                      <p:cNvPr id="45" name="对象 28"/>
                      <p:cNvPicPr/>
                      <p:nvPr/>
                    </p:nvPicPr>
                    <p:blipFill>
                      <a:blip r:embed="rId5"/>
                      <a:stretch>
                        <a:fillRect/>
                      </a:stretch>
                    </p:blipFill>
                    <p:spPr>
                      <a:xfrm>
                        <a:off x="2056097" y="5185594"/>
                        <a:ext cx="896843" cy="365223"/>
                      </a:xfrm>
                      <a:prstGeom prst="rect">
                        <a:avLst/>
                      </a:prstGeom>
                    </p:spPr>
                  </p:pic>
                </p:oleObj>
              </mc:Fallback>
            </mc:AlternateContent>
          </a:graphicData>
        </a:graphic>
      </p:graphicFrame>
      <p:graphicFrame>
        <p:nvGraphicFramePr>
          <p:cNvPr id="46" name="对象 28"/>
          <p:cNvGraphicFramePr>
            <a:graphicFrameLocks noChangeAspect="1"/>
          </p:cNvGraphicFramePr>
          <p:nvPr>
            <p:extLst>
              <p:ext uri="{D42A27DB-BD31-4B8C-83A1-F6EECF244321}">
                <p14:modId xmlns:p14="http://schemas.microsoft.com/office/powerpoint/2010/main" val="853906418"/>
              </p:ext>
            </p:extLst>
          </p:nvPr>
        </p:nvGraphicFramePr>
        <p:xfrm>
          <a:off x="5609623" y="5184183"/>
          <a:ext cx="826336" cy="366634"/>
        </p:xfrm>
        <a:graphic>
          <a:graphicData uri="http://schemas.openxmlformats.org/presentationml/2006/ole">
            <mc:AlternateContent xmlns:mc="http://schemas.openxmlformats.org/markup-compatibility/2006">
              <mc:Choice xmlns:v="urn:schemas-microsoft-com:vml" Requires="v">
                <p:oleObj name="Equation" r:id="rId6" imgW="698400" imgH="304560" progId="Equation.DSMT4">
                  <p:embed/>
                </p:oleObj>
              </mc:Choice>
              <mc:Fallback>
                <p:oleObj name="Equation" r:id="rId6" imgW="698400" imgH="304560" progId="Equation.DSMT4">
                  <p:embed/>
                  <p:pic>
                    <p:nvPicPr>
                      <p:cNvPr id="46" name="对象 28"/>
                      <p:cNvPicPr/>
                      <p:nvPr/>
                    </p:nvPicPr>
                    <p:blipFill>
                      <a:blip r:embed="rId7"/>
                      <a:stretch>
                        <a:fillRect/>
                      </a:stretch>
                    </p:blipFill>
                    <p:spPr>
                      <a:xfrm>
                        <a:off x="5609623" y="5184183"/>
                        <a:ext cx="826336" cy="366634"/>
                      </a:xfrm>
                      <a:prstGeom prst="rect">
                        <a:avLst/>
                      </a:prstGeom>
                    </p:spPr>
                  </p:pic>
                </p:oleObj>
              </mc:Fallback>
            </mc:AlternateContent>
          </a:graphicData>
        </a:graphic>
      </p:graphicFrame>
      <p:sp>
        <p:nvSpPr>
          <p:cNvPr id="30" name="Straight Arrow Connector 105"/>
          <p:cNvSpPr>
            <a:spLocks noChangeShapeType="1"/>
          </p:cNvSpPr>
          <p:nvPr/>
        </p:nvSpPr>
        <p:spPr bwMode="auto">
          <a:xfrm flipV="1">
            <a:off x="4177832" y="5117604"/>
            <a:ext cx="3836063" cy="7087"/>
          </a:xfrm>
          <a:prstGeom prst="straightConnector1">
            <a:avLst/>
          </a:prstGeom>
          <a:noFill/>
          <a:ln w="25400">
            <a:solidFill>
              <a:srgbClr val="000000"/>
            </a:solidFill>
            <a:round/>
            <a:headEnd type="none"/>
            <a:tailEnd type="triangle" w="med" len="med"/>
          </a:ln>
          <a:extLst>
            <a:ext uri="{909E8E84-426E-40DD-AFC4-6F175D3DCCD1}">
              <a14:hiddenFill xmlns:a14="http://schemas.microsoft.com/office/drawing/2010/main">
                <a:noFill/>
              </a14:hiddenFill>
            </a:ext>
          </a:extLst>
        </p:spPr>
        <p:txBody>
          <a:bodyPr vert="horz" wrap="square" lIns="81224" tIns="40611" rIns="81224" bIns="40611" numCol="1" anchor="t" anchorCtr="0" compatLnSpc="1">
            <a:prstTxWarp prst="textNoShape">
              <a:avLst/>
            </a:prstTxWarp>
          </a:bodyPr>
          <a:lstStyle/>
          <a:p>
            <a:endParaRPr lang="en-US" sz="2000" b="1"/>
          </a:p>
        </p:txBody>
      </p:sp>
      <p:sp>
        <p:nvSpPr>
          <p:cNvPr id="31" name="Straight Arrow Connector 105"/>
          <p:cNvSpPr>
            <a:spLocks noChangeShapeType="1"/>
          </p:cNvSpPr>
          <p:nvPr/>
        </p:nvSpPr>
        <p:spPr bwMode="auto">
          <a:xfrm rot="16200000" flipV="1">
            <a:off x="4330634" y="3448213"/>
            <a:ext cx="3312758" cy="40196"/>
          </a:xfrm>
          <a:prstGeom prst="straightConnector1">
            <a:avLst/>
          </a:prstGeom>
          <a:noFill/>
          <a:ln w="25400">
            <a:solidFill>
              <a:srgbClr val="000000"/>
            </a:solidFill>
            <a:round/>
            <a:headEnd type="none"/>
            <a:tailEnd type="triangle" w="med" len="med"/>
          </a:ln>
          <a:extLst>
            <a:ext uri="{909E8E84-426E-40DD-AFC4-6F175D3DCCD1}">
              <a14:hiddenFill xmlns:a14="http://schemas.microsoft.com/office/drawing/2010/main">
                <a:noFill/>
              </a14:hiddenFill>
            </a:ext>
          </a:extLst>
        </p:spPr>
        <p:txBody>
          <a:bodyPr vert="horz" wrap="square" lIns="81224" tIns="40611" rIns="81224" bIns="40611" numCol="1" anchor="t" anchorCtr="0" compatLnSpc="1">
            <a:prstTxWarp prst="textNoShape">
              <a:avLst/>
            </a:prstTxWarp>
          </a:bodyPr>
          <a:lstStyle/>
          <a:p>
            <a:endParaRPr lang="en-US" sz="2000" b="1"/>
          </a:p>
        </p:txBody>
      </p:sp>
      <p:graphicFrame>
        <p:nvGraphicFramePr>
          <p:cNvPr id="32" name="对象 28"/>
          <p:cNvGraphicFramePr>
            <a:graphicFrameLocks noChangeAspect="1"/>
          </p:cNvGraphicFramePr>
          <p:nvPr>
            <p:extLst>
              <p:ext uri="{D42A27DB-BD31-4B8C-83A1-F6EECF244321}">
                <p14:modId xmlns:p14="http://schemas.microsoft.com/office/powerpoint/2010/main" val="3129895141"/>
              </p:ext>
            </p:extLst>
          </p:nvPr>
        </p:nvGraphicFramePr>
        <p:xfrm>
          <a:off x="7894033" y="5229307"/>
          <a:ext cx="135372" cy="258054"/>
        </p:xfrm>
        <a:graphic>
          <a:graphicData uri="http://schemas.openxmlformats.org/presentationml/2006/ole">
            <mc:AlternateContent xmlns:mc="http://schemas.openxmlformats.org/markup-compatibility/2006">
              <mc:Choice xmlns:v="urn:schemas-microsoft-com:vml" Requires="v">
                <p:oleObj name="Equation" r:id="rId8" imgW="114120" imgH="215640" progId="Equation.DSMT4">
                  <p:embed/>
                </p:oleObj>
              </mc:Choice>
              <mc:Fallback>
                <p:oleObj name="Equation" r:id="rId8" imgW="114120" imgH="215640" progId="Equation.DSMT4">
                  <p:embed/>
                  <p:pic>
                    <p:nvPicPr>
                      <p:cNvPr id="32" name="对象 28"/>
                      <p:cNvPicPr/>
                      <p:nvPr/>
                    </p:nvPicPr>
                    <p:blipFill>
                      <a:blip r:embed="rId9"/>
                      <a:stretch>
                        <a:fillRect/>
                      </a:stretch>
                    </p:blipFill>
                    <p:spPr>
                      <a:xfrm>
                        <a:off x="7894033" y="5229307"/>
                        <a:ext cx="135372" cy="258054"/>
                      </a:xfrm>
                      <a:prstGeom prst="rect">
                        <a:avLst/>
                      </a:prstGeom>
                    </p:spPr>
                  </p:pic>
                </p:oleObj>
              </mc:Fallback>
            </mc:AlternateContent>
          </a:graphicData>
        </a:graphic>
      </p:graphicFrame>
      <p:graphicFrame>
        <p:nvGraphicFramePr>
          <p:cNvPr id="33" name="对象 28"/>
          <p:cNvGraphicFramePr>
            <a:graphicFrameLocks noChangeAspect="1"/>
          </p:cNvGraphicFramePr>
          <p:nvPr>
            <p:extLst>
              <p:ext uri="{D42A27DB-BD31-4B8C-83A1-F6EECF244321}">
                <p14:modId xmlns:p14="http://schemas.microsoft.com/office/powerpoint/2010/main" val="871566725"/>
              </p:ext>
            </p:extLst>
          </p:nvPr>
        </p:nvGraphicFramePr>
        <p:xfrm>
          <a:off x="6052403" y="1712443"/>
          <a:ext cx="211520" cy="289077"/>
        </p:xfrm>
        <a:graphic>
          <a:graphicData uri="http://schemas.openxmlformats.org/presentationml/2006/ole">
            <mc:AlternateContent xmlns:mc="http://schemas.openxmlformats.org/markup-compatibility/2006">
              <mc:Choice xmlns:v="urn:schemas-microsoft-com:vml" Requires="v">
                <p:oleObj name="Equation" r:id="rId10" imgW="177480" imgH="241200" progId="Equation.DSMT4">
                  <p:embed/>
                </p:oleObj>
              </mc:Choice>
              <mc:Fallback>
                <p:oleObj name="Equation" r:id="rId10" imgW="177480" imgH="241200" progId="Equation.DSMT4">
                  <p:embed/>
                  <p:pic>
                    <p:nvPicPr>
                      <p:cNvPr id="33" name="对象 28"/>
                      <p:cNvPicPr/>
                      <p:nvPr/>
                    </p:nvPicPr>
                    <p:blipFill>
                      <a:blip r:embed="rId11"/>
                      <a:stretch>
                        <a:fillRect/>
                      </a:stretch>
                    </p:blipFill>
                    <p:spPr>
                      <a:xfrm>
                        <a:off x="6052403" y="1712443"/>
                        <a:ext cx="211520" cy="289077"/>
                      </a:xfrm>
                      <a:prstGeom prst="rect">
                        <a:avLst/>
                      </a:prstGeom>
                    </p:spPr>
                  </p:pic>
                </p:oleObj>
              </mc:Fallback>
            </mc:AlternateContent>
          </a:graphicData>
        </a:graphic>
      </p:graphicFrame>
      <p:sp>
        <p:nvSpPr>
          <p:cNvPr id="34" name="Rectangle 108"/>
          <p:cNvSpPr>
            <a:spLocks noChangeArrowheads="1"/>
          </p:cNvSpPr>
          <p:nvPr/>
        </p:nvSpPr>
        <p:spPr bwMode="auto">
          <a:xfrm>
            <a:off x="1306744" y="5224923"/>
            <a:ext cx="854657" cy="316471"/>
          </a:xfrm>
          <a:prstGeom prst="rect">
            <a:avLst/>
          </a:prstGeom>
          <a:noFill/>
          <a:ln w="25400">
            <a:noFill/>
            <a:miter lim="800000"/>
            <a:headEnd/>
            <a:tailEnd/>
          </a:ln>
          <a:extLst>
            <a:ext uri="{909E8E84-426E-40DD-AFC4-6F175D3DCCD1}">
              <a14:hiddenFill xmlns:a14="http://schemas.microsoft.com/office/drawing/2010/main">
                <a:solidFill>
                  <a:srgbClr val="FFFFFF"/>
                </a:solidFill>
              </a14:hiddenFill>
            </a:ext>
          </a:extLst>
        </p:spPr>
        <p:txBody>
          <a:bodyPr wrap="none" lIns="56483" tIns="22593" rIns="56483" bIns="22593">
            <a:spAutoFit/>
          </a:bodyP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gn="ctr">
              <a:lnSpc>
                <a:spcPct val="88000"/>
              </a:lnSpc>
            </a:pPr>
            <a:r>
              <a:rPr lang="en-US" altLang="en-US" sz="2000" dirty="0">
                <a:solidFill>
                  <a:schemeClr val="tx1"/>
                </a:solidFill>
              </a:rPr>
              <a:t>Image</a:t>
            </a:r>
          </a:p>
        </p:txBody>
      </p:sp>
      <p:sp>
        <p:nvSpPr>
          <p:cNvPr id="11288" name="Line 82"/>
          <p:cNvSpPr>
            <a:spLocks noChangeShapeType="1"/>
          </p:cNvSpPr>
          <p:nvPr/>
        </p:nvSpPr>
        <p:spPr bwMode="auto">
          <a:xfrm>
            <a:off x="4221977" y="4597740"/>
            <a:ext cx="3502706" cy="0"/>
          </a:xfrm>
          <a:prstGeom prst="line">
            <a:avLst/>
          </a:prstGeom>
          <a:noFill/>
          <a:ln w="25400">
            <a:solidFill>
              <a:srgbClr val="FFC000"/>
            </a:solidFill>
            <a:round/>
            <a:headEnd/>
            <a:tailEnd/>
          </a:ln>
          <a:extLst>
            <a:ext uri="{909E8E84-426E-40DD-AFC4-6F175D3DCCD1}">
              <a14:hiddenFill xmlns:a14="http://schemas.microsoft.com/office/drawing/2010/main">
                <a:noFill/>
              </a14:hiddenFill>
            </a:ext>
          </a:extLst>
        </p:spPr>
        <p:txBody>
          <a:bodyPr wrap="none" anchor="ctr"/>
          <a:lstStyle/>
          <a:p>
            <a:endParaRPr lang="en-US" sz="2000" b="1">
              <a:solidFill>
                <a:srgbClr val="FFFFFF"/>
              </a:solidFill>
            </a:endParaRPr>
          </a:p>
        </p:txBody>
      </p:sp>
      <p:pic>
        <p:nvPicPr>
          <p:cNvPr id="11268" name="Picture 60" descr="C:\AAA\image.gif"/>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flipH="1">
            <a:off x="1505291" y="3072776"/>
            <a:ext cx="2030587" cy="2030587"/>
          </a:xfrm>
          <a:prstGeom prst="rect">
            <a:avLst/>
          </a:prstGeom>
          <a:noFill/>
          <a:ln w="25400">
            <a:noFill/>
            <a:miter lim="800000"/>
            <a:headEnd/>
            <a:tailEnd/>
          </a:ln>
          <a:extLst>
            <a:ext uri="{909E8E84-426E-40DD-AFC4-6F175D3DCCD1}">
              <a14:hiddenFill xmlns:a14="http://schemas.microsoft.com/office/drawing/2010/main">
                <a:solidFill>
                  <a:srgbClr val="FFFFFF"/>
                </a:solidFill>
              </a14:hiddenFill>
            </a:ext>
          </a:extLst>
        </p:spPr>
      </p:pic>
      <p:sp>
        <p:nvSpPr>
          <p:cNvPr id="11287" name="Line 80"/>
          <p:cNvSpPr>
            <a:spLocks noChangeShapeType="1"/>
          </p:cNvSpPr>
          <p:nvPr/>
        </p:nvSpPr>
        <p:spPr bwMode="auto">
          <a:xfrm flipH="1">
            <a:off x="297006" y="1760672"/>
            <a:ext cx="1965630" cy="1965630"/>
          </a:xfrm>
          <a:prstGeom prst="line">
            <a:avLst/>
          </a:prstGeom>
          <a:noFill/>
          <a:ln w="25400">
            <a:solidFill>
              <a:srgbClr val="FFC000"/>
            </a:solidFill>
            <a:round/>
            <a:headEnd/>
            <a:tailEnd/>
          </a:ln>
          <a:extLst>
            <a:ext uri="{909E8E84-426E-40DD-AFC4-6F175D3DCCD1}">
              <a14:hiddenFill xmlns:a14="http://schemas.microsoft.com/office/drawing/2010/main">
                <a:noFill/>
              </a14:hiddenFill>
            </a:ext>
          </a:extLst>
        </p:spPr>
        <p:txBody>
          <a:bodyPr wrap="none" anchor="ctr"/>
          <a:lstStyle/>
          <a:p>
            <a:endParaRPr lang="en-US" sz="2000" b="1">
              <a:solidFill>
                <a:srgbClr val="FFFFFF"/>
              </a:solidFill>
            </a:endParaRPr>
          </a:p>
        </p:txBody>
      </p:sp>
      <p:sp>
        <p:nvSpPr>
          <p:cNvPr id="11272" name="Line 69"/>
          <p:cNvSpPr>
            <a:spLocks noChangeShapeType="1"/>
          </p:cNvSpPr>
          <p:nvPr/>
        </p:nvSpPr>
        <p:spPr bwMode="auto">
          <a:xfrm flipH="1" flipV="1">
            <a:off x="1838949" y="2189786"/>
            <a:ext cx="1855787" cy="1855787"/>
          </a:xfrm>
          <a:prstGeom prst="line">
            <a:avLst/>
          </a:prstGeom>
          <a:noFill/>
          <a:ln w="25400">
            <a:solidFill>
              <a:srgbClr val="7030A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sz="2000" b="1">
              <a:solidFill>
                <a:srgbClr val="FFFFFF"/>
              </a:solidFill>
            </a:endParaRPr>
          </a:p>
        </p:txBody>
      </p:sp>
      <p:sp>
        <p:nvSpPr>
          <p:cNvPr id="11273" name="Line 70"/>
          <p:cNvSpPr>
            <a:spLocks noChangeShapeType="1"/>
          </p:cNvSpPr>
          <p:nvPr/>
        </p:nvSpPr>
        <p:spPr bwMode="auto">
          <a:xfrm flipH="1" flipV="1">
            <a:off x="1703388" y="2325345"/>
            <a:ext cx="1991348" cy="1991348"/>
          </a:xfrm>
          <a:prstGeom prst="line">
            <a:avLst/>
          </a:prstGeom>
          <a:noFill/>
          <a:ln w="25400">
            <a:solidFill>
              <a:srgbClr val="7030A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sz="2000" b="1">
              <a:solidFill>
                <a:srgbClr val="FFFFFF"/>
              </a:solidFill>
            </a:endParaRPr>
          </a:p>
        </p:txBody>
      </p:sp>
      <p:sp>
        <p:nvSpPr>
          <p:cNvPr id="11274" name="Line 71"/>
          <p:cNvSpPr>
            <a:spLocks noChangeShapeType="1"/>
          </p:cNvSpPr>
          <p:nvPr/>
        </p:nvSpPr>
        <p:spPr bwMode="auto">
          <a:xfrm flipH="1" flipV="1">
            <a:off x="1567828" y="2460909"/>
            <a:ext cx="2126909" cy="2126909"/>
          </a:xfrm>
          <a:prstGeom prst="line">
            <a:avLst/>
          </a:prstGeom>
          <a:noFill/>
          <a:ln w="25400">
            <a:solidFill>
              <a:srgbClr val="7030A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sz="2000" b="1">
              <a:solidFill>
                <a:srgbClr val="FFFFFF"/>
              </a:solidFill>
            </a:endParaRPr>
          </a:p>
        </p:txBody>
      </p:sp>
      <p:sp>
        <p:nvSpPr>
          <p:cNvPr id="11275" name="Line 72"/>
          <p:cNvSpPr>
            <a:spLocks noChangeShapeType="1"/>
          </p:cNvSpPr>
          <p:nvPr/>
        </p:nvSpPr>
        <p:spPr bwMode="auto">
          <a:xfrm flipH="1" flipV="1">
            <a:off x="1432268" y="2596469"/>
            <a:ext cx="2262469" cy="2262469"/>
          </a:xfrm>
          <a:prstGeom prst="line">
            <a:avLst/>
          </a:prstGeom>
          <a:noFill/>
          <a:ln w="25400">
            <a:solidFill>
              <a:srgbClr val="7030A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sz="2000" b="1">
              <a:solidFill>
                <a:srgbClr val="FFFFFF"/>
              </a:solidFill>
            </a:endParaRPr>
          </a:p>
        </p:txBody>
      </p:sp>
      <p:sp>
        <p:nvSpPr>
          <p:cNvPr id="11276" name="Line 73"/>
          <p:cNvSpPr>
            <a:spLocks noChangeShapeType="1"/>
          </p:cNvSpPr>
          <p:nvPr/>
        </p:nvSpPr>
        <p:spPr bwMode="auto">
          <a:xfrm flipH="1" flipV="1">
            <a:off x="1296706" y="2732029"/>
            <a:ext cx="2392661" cy="2392661"/>
          </a:xfrm>
          <a:prstGeom prst="line">
            <a:avLst/>
          </a:prstGeom>
          <a:noFill/>
          <a:ln w="25400">
            <a:solidFill>
              <a:srgbClr val="7030A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sz="2000" b="1">
              <a:solidFill>
                <a:srgbClr val="FFFFFF"/>
              </a:solidFill>
            </a:endParaRPr>
          </a:p>
        </p:txBody>
      </p:sp>
      <p:sp>
        <p:nvSpPr>
          <p:cNvPr id="11277" name="Line 74"/>
          <p:cNvSpPr>
            <a:spLocks noChangeShapeType="1"/>
          </p:cNvSpPr>
          <p:nvPr/>
        </p:nvSpPr>
        <p:spPr bwMode="auto">
          <a:xfrm flipH="1" flipV="1">
            <a:off x="1161144" y="2867590"/>
            <a:ext cx="2290076" cy="2290076"/>
          </a:xfrm>
          <a:prstGeom prst="line">
            <a:avLst/>
          </a:prstGeom>
          <a:noFill/>
          <a:ln w="25400">
            <a:solidFill>
              <a:srgbClr val="7030A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sz="2000" b="1">
              <a:solidFill>
                <a:srgbClr val="FFFFFF"/>
              </a:solidFill>
            </a:endParaRPr>
          </a:p>
        </p:txBody>
      </p:sp>
      <p:sp>
        <p:nvSpPr>
          <p:cNvPr id="11278" name="Line 75"/>
          <p:cNvSpPr>
            <a:spLocks noChangeShapeType="1"/>
          </p:cNvSpPr>
          <p:nvPr/>
        </p:nvSpPr>
        <p:spPr bwMode="auto">
          <a:xfrm flipH="1" flipV="1">
            <a:off x="1025584" y="3003150"/>
            <a:ext cx="2140519" cy="2140519"/>
          </a:xfrm>
          <a:prstGeom prst="line">
            <a:avLst/>
          </a:prstGeom>
          <a:noFill/>
          <a:ln w="25400">
            <a:solidFill>
              <a:srgbClr val="7030A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sz="2000" b="1">
              <a:solidFill>
                <a:srgbClr val="FFFFFF"/>
              </a:solidFill>
            </a:endParaRPr>
          </a:p>
        </p:txBody>
      </p:sp>
      <p:sp>
        <p:nvSpPr>
          <p:cNvPr id="11279" name="Line 76"/>
          <p:cNvSpPr>
            <a:spLocks noChangeShapeType="1"/>
          </p:cNvSpPr>
          <p:nvPr/>
        </p:nvSpPr>
        <p:spPr bwMode="auto">
          <a:xfrm flipH="1" flipV="1">
            <a:off x="890024" y="3138710"/>
            <a:ext cx="2028104" cy="2028104"/>
          </a:xfrm>
          <a:prstGeom prst="line">
            <a:avLst/>
          </a:prstGeom>
          <a:noFill/>
          <a:ln w="25400">
            <a:solidFill>
              <a:srgbClr val="7030A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sz="2000" b="1">
              <a:solidFill>
                <a:srgbClr val="FFFFFF"/>
              </a:solidFill>
            </a:endParaRPr>
          </a:p>
        </p:txBody>
      </p:sp>
      <p:sp>
        <p:nvSpPr>
          <p:cNvPr id="42" name="Line 76"/>
          <p:cNvSpPr>
            <a:spLocks noChangeShapeType="1"/>
          </p:cNvSpPr>
          <p:nvPr/>
        </p:nvSpPr>
        <p:spPr bwMode="auto">
          <a:xfrm flipH="1" flipV="1">
            <a:off x="754650" y="3274085"/>
            <a:ext cx="1869585" cy="1869585"/>
          </a:xfrm>
          <a:prstGeom prst="line">
            <a:avLst/>
          </a:prstGeom>
          <a:noFill/>
          <a:ln w="25400">
            <a:solidFill>
              <a:srgbClr val="7030A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sz="2000" b="1">
              <a:solidFill>
                <a:srgbClr val="FFFFFF"/>
              </a:solidFill>
            </a:endParaRPr>
          </a:p>
        </p:txBody>
      </p:sp>
      <p:sp>
        <p:nvSpPr>
          <p:cNvPr id="43" name="Line 76"/>
          <p:cNvSpPr>
            <a:spLocks noChangeShapeType="1"/>
          </p:cNvSpPr>
          <p:nvPr/>
        </p:nvSpPr>
        <p:spPr bwMode="auto">
          <a:xfrm flipH="1" flipV="1">
            <a:off x="619277" y="3409457"/>
            <a:ext cx="1748208" cy="1748208"/>
          </a:xfrm>
          <a:prstGeom prst="line">
            <a:avLst/>
          </a:prstGeom>
          <a:noFill/>
          <a:ln w="25400">
            <a:solidFill>
              <a:srgbClr val="7030A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sz="2000" b="1">
              <a:solidFill>
                <a:srgbClr val="FFFFFF"/>
              </a:solidFill>
            </a:endParaRPr>
          </a:p>
        </p:txBody>
      </p:sp>
      <p:sp>
        <p:nvSpPr>
          <p:cNvPr id="36" name="Freeform 35"/>
          <p:cNvSpPr/>
          <p:nvPr/>
        </p:nvSpPr>
        <p:spPr bwMode="auto">
          <a:xfrm flipH="1">
            <a:off x="383940" y="1915526"/>
            <a:ext cx="1516203" cy="1542486"/>
          </a:xfrm>
          <a:custGeom>
            <a:avLst/>
            <a:gdLst>
              <a:gd name="connsiteX0" fmla="*/ 0 w 2185988"/>
              <a:gd name="connsiteY0" fmla="*/ 314325 h 2171700"/>
              <a:gd name="connsiteX1" fmla="*/ 157163 w 2185988"/>
              <a:gd name="connsiteY1" fmla="*/ 185737 h 2171700"/>
              <a:gd name="connsiteX2" fmla="*/ 333375 w 2185988"/>
              <a:gd name="connsiteY2" fmla="*/ 95250 h 2171700"/>
              <a:gd name="connsiteX3" fmla="*/ 495300 w 2185988"/>
              <a:gd name="connsiteY3" fmla="*/ 33337 h 2171700"/>
              <a:gd name="connsiteX4" fmla="*/ 690563 w 2185988"/>
              <a:gd name="connsiteY4" fmla="*/ 0 h 2171700"/>
              <a:gd name="connsiteX5" fmla="*/ 871538 w 2185988"/>
              <a:gd name="connsiteY5" fmla="*/ 4762 h 2171700"/>
              <a:gd name="connsiteX6" fmla="*/ 1066800 w 2185988"/>
              <a:gd name="connsiteY6" fmla="*/ 28575 h 2171700"/>
              <a:gd name="connsiteX7" fmla="*/ 1276350 w 2185988"/>
              <a:gd name="connsiteY7" fmla="*/ 104775 h 2171700"/>
              <a:gd name="connsiteX8" fmla="*/ 1428750 w 2185988"/>
              <a:gd name="connsiteY8" fmla="*/ 171450 h 2171700"/>
              <a:gd name="connsiteX9" fmla="*/ 1571625 w 2185988"/>
              <a:gd name="connsiteY9" fmla="*/ 266700 h 2171700"/>
              <a:gd name="connsiteX10" fmla="*/ 1704975 w 2185988"/>
              <a:gd name="connsiteY10" fmla="*/ 385762 h 2171700"/>
              <a:gd name="connsiteX11" fmla="*/ 1824038 w 2185988"/>
              <a:gd name="connsiteY11" fmla="*/ 504825 h 2171700"/>
              <a:gd name="connsiteX12" fmla="*/ 1938338 w 2185988"/>
              <a:gd name="connsiteY12" fmla="*/ 633412 h 2171700"/>
              <a:gd name="connsiteX13" fmla="*/ 2024063 w 2185988"/>
              <a:gd name="connsiteY13" fmla="*/ 781050 h 2171700"/>
              <a:gd name="connsiteX14" fmla="*/ 2085975 w 2185988"/>
              <a:gd name="connsiteY14" fmla="*/ 952500 h 2171700"/>
              <a:gd name="connsiteX15" fmla="*/ 2152650 w 2185988"/>
              <a:gd name="connsiteY15" fmla="*/ 1152525 h 2171700"/>
              <a:gd name="connsiteX16" fmla="*/ 2185988 w 2185988"/>
              <a:gd name="connsiteY16" fmla="*/ 1428750 h 2171700"/>
              <a:gd name="connsiteX17" fmla="*/ 2171700 w 2185988"/>
              <a:gd name="connsiteY17" fmla="*/ 1609725 h 2171700"/>
              <a:gd name="connsiteX18" fmla="*/ 2124075 w 2185988"/>
              <a:gd name="connsiteY18" fmla="*/ 1804987 h 2171700"/>
              <a:gd name="connsiteX19" fmla="*/ 2038350 w 2185988"/>
              <a:gd name="connsiteY19" fmla="*/ 1981200 h 2171700"/>
              <a:gd name="connsiteX20" fmla="*/ 1957388 w 2185988"/>
              <a:gd name="connsiteY20" fmla="*/ 2100262 h 2171700"/>
              <a:gd name="connsiteX21" fmla="*/ 1895475 w 2185988"/>
              <a:gd name="connsiteY21" fmla="*/ 2171700 h 2171700"/>
              <a:gd name="connsiteX0" fmla="*/ 0 w 2185988"/>
              <a:gd name="connsiteY0" fmla="*/ 314325 h 2171700"/>
              <a:gd name="connsiteX1" fmla="*/ 157163 w 2185988"/>
              <a:gd name="connsiteY1" fmla="*/ 185737 h 2171700"/>
              <a:gd name="connsiteX2" fmla="*/ 333375 w 2185988"/>
              <a:gd name="connsiteY2" fmla="*/ 95250 h 2171700"/>
              <a:gd name="connsiteX3" fmla="*/ 495300 w 2185988"/>
              <a:gd name="connsiteY3" fmla="*/ 33337 h 2171700"/>
              <a:gd name="connsiteX4" fmla="*/ 690563 w 2185988"/>
              <a:gd name="connsiteY4" fmla="*/ 0 h 2171700"/>
              <a:gd name="connsiteX5" fmla="*/ 871538 w 2185988"/>
              <a:gd name="connsiteY5" fmla="*/ 4762 h 2171700"/>
              <a:gd name="connsiteX6" fmla="*/ 1066800 w 2185988"/>
              <a:gd name="connsiteY6" fmla="*/ 28575 h 2171700"/>
              <a:gd name="connsiteX7" fmla="*/ 1276350 w 2185988"/>
              <a:gd name="connsiteY7" fmla="*/ 104775 h 2171700"/>
              <a:gd name="connsiteX8" fmla="*/ 1428750 w 2185988"/>
              <a:gd name="connsiteY8" fmla="*/ 171450 h 2171700"/>
              <a:gd name="connsiteX9" fmla="*/ 1571625 w 2185988"/>
              <a:gd name="connsiteY9" fmla="*/ 266700 h 2171700"/>
              <a:gd name="connsiteX10" fmla="*/ 1704975 w 2185988"/>
              <a:gd name="connsiteY10" fmla="*/ 385762 h 2171700"/>
              <a:gd name="connsiteX11" fmla="*/ 2066926 w 2185988"/>
              <a:gd name="connsiteY11" fmla="*/ 361950 h 2171700"/>
              <a:gd name="connsiteX12" fmla="*/ 1938338 w 2185988"/>
              <a:gd name="connsiteY12" fmla="*/ 633412 h 2171700"/>
              <a:gd name="connsiteX13" fmla="*/ 2024063 w 2185988"/>
              <a:gd name="connsiteY13" fmla="*/ 781050 h 2171700"/>
              <a:gd name="connsiteX14" fmla="*/ 2085975 w 2185988"/>
              <a:gd name="connsiteY14" fmla="*/ 952500 h 2171700"/>
              <a:gd name="connsiteX15" fmla="*/ 2152650 w 2185988"/>
              <a:gd name="connsiteY15" fmla="*/ 1152525 h 2171700"/>
              <a:gd name="connsiteX16" fmla="*/ 2185988 w 2185988"/>
              <a:gd name="connsiteY16" fmla="*/ 1428750 h 2171700"/>
              <a:gd name="connsiteX17" fmla="*/ 2171700 w 2185988"/>
              <a:gd name="connsiteY17" fmla="*/ 1609725 h 2171700"/>
              <a:gd name="connsiteX18" fmla="*/ 2124075 w 2185988"/>
              <a:gd name="connsiteY18" fmla="*/ 1804987 h 2171700"/>
              <a:gd name="connsiteX19" fmla="*/ 2038350 w 2185988"/>
              <a:gd name="connsiteY19" fmla="*/ 1981200 h 2171700"/>
              <a:gd name="connsiteX20" fmla="*/ 1957388 w 2185988"/>
              <a:gd name="connsiteY20" fmla="*/ 2100262 h 2171700"/>
              <a:gd name="connsiteX21" fmla="*/ 1895475 w 2185988"/>
              <a:gd name="connsiteY21" fmla="*/ 2171700 h 2171700"/>
              <a:gd name="connsiteX0" fmla="*/ 0 w 2185988"/>
              <a:gd name="connsiteY0" fmla="*/ 314325 h 2171700"/>
              <a:gd name="connsiteX1" fmla="*/ 157163 w 2185988"/>
              <a:gd name="connsiteY1" fmla="*/ 185737 h 2171700"/>
              <a:gd name="connsiteX2" fmla="*/ 333375 w 2185988"/>
              <a:gd name="connsiteY2" fmla="*/ 95250 h 2171700"/>
              <a:gd name="connsiteX3" fmla="*/ 495300 w 2185988"/>
              <a:gd name="connsiteY3" fmla="*/ 33337 h 2171700"/>
              <a:gd name="connsiteX4" fmla="*/ 690563 w 2185988"/>
              <a:gd name="connsiteY4" fmla="*/ 0 h 2171700"/>
              <a:gd name="connsiteX5" fmla="*/ 871538 w 2185988"/>
              <a:gd name="connsiteY5" fmla="*/ 4762 h 2171700"/>
              <a:gd name="connsiteX6" fmla="*/ 1066800 w 2185988"/>
              <a:gd name="connsiteY6" fmla="*/ 28575 h 2171700"/>
              <a:gd name="connsiteX7" fmla="*/ 1276350 w 2185988"/>
              <a:gd name="connsiteY7" fmla="*/ 104775 h 2171700"/>
              <a:gd name="connsiteX8" fmla="*/ 1428750 w 2185988"/>
              <a:gd name="connsiteY8" fmla="*/ 171450 h 2171700"/>
              <a:gd name="connsiteX9" fmla="*/ 1571625 w 2185988"/>
              <a:gd name="connsiteY9" fmla="*/ 266700 h 2171700"/>
              <a:gd name="connsiteX10" fmla="*/ 1704975 w 2185988"/>
              <a:gd name="connsiteY10" fmla="*/ 385762 h 2171700"/>
              <a:gd name="connsiteX11" fmla="*/ 2066926 w 2185988"/>
              <a:gd name="connsiteY11" fmla="*/ 361950 h 2171700"/>
              <a:gd name="connsiteX12" fmla="*/ 2009775 w 2185988"/>
              <a:gd name="connsiteY12" fmla="*/ 590550 h 2171700"/>
              <a:gd name="connsiteX13" fmla="*/ 2024063 w 2185988"/>
              <a:gd name="connsiteY13" fmla="*/ 781050 h 2171700"/>
              <a:gd name="connsiteX14" fmla="*/ 2085975 w 2185988"/>
              <a:gd name="connsiteY14" fmla="*/ 952500 h 2171700"/>
              <a:gd name="connsiteX15" fmla="*/ 2152650 w 2185988"/>
              <a:gd name="connsiteY15" fmla="*/ 1152525 h 2171700"/>
              <a:gd name="connsiteX16" fmla="*/ 2185988 w 2185988"/>
              <a:gd name="connsiteY16" fmla="*/ 1428750 h 2171700"/>
              <a:gd name="connsiteX17" fmla="*/ 2171700 w 2185988"/>
              <a:gd name="connsiteY17" fmla="*/ 1609725 h 2171700"/>
              <a:gd name="connsiteX18" fmla="*/ 2124075 w 2185988"/>
              <a:gd name="connsiteY18" fmla="*/ 1804987 h 2171700"/>
              <a:gd name="connsiteX19" fmla="*/ 2038350 w 2185988"/>
              <a:gd name="connsiteY19" fmla="*/ 1981200 h 2171700"/>
              <a:gd name="connsiteX20" fmla="*/ 1957388 w 2185988"/>
              <a:gd name="connsiteY20" fmla="*/ 2100262 h 2171700"/>
              <a:gd name="connsiteX21" fmla="*/ 1895475 w 2185988"/>
              <a:gd name="connsiteY21" fmla="*/ 2171700 h 2171700"/>
              <a:gd name="connsiteX0" fmla="*/ 0 w 2185988"/>
              <a:gd name="connsiteY0" fmla="*/ 314325 h 2171700"/>
              <a:gd name="connsiteX1" fmla="*/ 157163 w 2185988"/>
              <a:gd name="connsiteY1" fmla="*/ 185737 h 2171700"/>
              <a:gd name="connsiteX2" fmla="*/ 333375 w 2185988"/>
              <a:gd name="connsiteY2" fmla="*/ 95250 h 2171700"/>
              <a:gd name="connsiteX3" fmla="*/ 495300 w 2185988"/>
              <a:gd name="connsiteY3" fmla="*/ 33337 h 2171700"/>
              <a:gd name="connsiteX4" fmla="*/ 690563 w 2185988"/>
              <a:gd name="connsiteY4" fmla="*/ 0 h 2171700"/>
              <a:gd name="connsiteX5" fmla="*/ 871538 w 2185988"/>
              <a:gd name="connsiteY5" fmla="*/ 4762 h 2171700"/>
              <a:gd name="connsiteX6" fmla="*/ 1066800 w 2185988"/>
              <a:gd name="connsiteY6" fmla="*/ 28575 h 2171700"/>
              <a:gd name="connsiteX7" fmla="*/ 1276350 w 2185988"/>
              <a:gd name="connsiteY7" fmla="*/ 104775 h 2171700"/>
              <a:gd name="connsiteX8" fmla="*/ 1428750 w 2185988"/>
              <a:gd name="connsiteY8" fmla="*/ 171450 h 2171700"/>
              <a:gd name="connsiteX9" fmla="*/ 1571625 w 2185988"/>
              <a:gd name="connsiteY9" fmla="*/ 266700 h 2171700"/>
              <a:gd name="connsiteX10" fmla="*/ 1704975 w 2185988"/>
              <a:gd name="connsiteY10" fmla="*/ 385762 h 2171700"/>
              <a:gd name="connsiteX11" fmla="*/ 1885950 w 2185988"/>
              <a:gd name="connsiteY11" fmla="*/ 347662 h 2171700"/>
              <a:gd name="connsiteX12" fmla="*/ 2066926 w 2185988"/>
              <a:gd name="connsiteY12" fmla="*/ 361950 h 2171700"/>
              <a:gd name="connsiteX13" fmla="*/ 2009775 w 2185988"/>
              <a:gd name="connsiteY13" fmla="*/ 590550 h 2171700"/>
              <a:gd name="connsiteX14" fmla="*/ 2024063 w 2185988"/>
              <a:gd name="connsiteY14" fmla="*/ 781050 h 2171700"/>
              <a:gd name="connsiteX15" fmla="*/ 2085975 w 2185988"/>
              <a:gd name="connsiteY15" fmla="*/ 952500 h 2171700"/>
              <a:gd name="connsiteX16" fmla="*/ 2152650 w 2185988"/>
              <a:gd name="connsiteY16" fmla="*/ 1152525 h 2171700"/>
              <a:gd name="connsiteX17" fmla="*/ 2185988 w 2185988"/>
              <a:gd name="connsiteY17" fmla="*/ 1428750 h 2171700"/>
              <a:gd name="connsiteX18" fmla="*/ 2171700 w 2185988"/>
              <a:gd name="connsiteY18" fmla="*/ 1609725 h 2171700"/>
              <a:gd name="connsiteX19" fmla="*/ 2124075 w 2185988"/>
              <a:gd name="connsiteY19" fmla="*/ 1804987 h 2171700"/>
              <a:gd name="connsiteX20" fmla="*/ 2038350 w 2185988"/>
              <a:gd name="connsiteY20" fmla="*/ 1981200 h 2171700"/>
              <a:gd name="connsiteX21" fmla="*/ 1957388 w 2185988"/>
              <a:gd name="connsiteY21" fmla="*/ 2100262 h 2171700"/>
              <a:gd name="connsiteX22" fmla="*/ 1895475 w 2185988"/>
              <a:gd name="connsiteY22" fmla="*/ 2171700 h 2171700"/>
              <a:gd name="connsiteX0" fmla="*/ 0 w 2185988"/>
              <a:gd name="connsiteY0" fmla="*/ 314325 h 2171700"/>
              <a:gd name="connsiteX1" fmla="*/ 157163 w 2185988"/>
              <a:gd name="connsiteY1" fmla="*/ 185737 h 2171700"/>
              <a:gd name="connsiteX2" fmla="*/ 333375 w 2185988"/>
              <a:gd name="connsiteY2" fmla="*/ 95250 h 2171700"/>
              <a:gd name="connsiteX3" fmla="*/ 495300 w 2185988"/>
              <a:gd name="connsiteY3" fmla="*/ 33337 h 2171700"/>
              <a:gd name="connsiteX4" fmla="*/ 690563 w 2185988"/>
              <a:gd name="connsiteY4" fmla="*/ 0 h 2171700"/>
              <a:gd name="connsiteX5" fmla="*/ 871538 w 2185988"/>
              <a:gd name="connsiteY5" fmla="*/ 4762 h 2171700"/>
              <a:gd name="connsiteX6" fmla="*/ 1066800 w 2185988"/>
              <a:gd name="connsiteY6" fmla="*/ 28575 h 2171700"/>
              <a:gd name="connsiteX7" fmla="*/ 1276350 w 2185988"/>
              <a:gd name="connsiteY7" fmla="*/ 104775 h 2171700"/>
              <a:gd name="connsiteX8" fmla="*/ 1428750 w 2185988"/>
              <a:gd name="connsiteY8" fmla="*/ 171450 h 2171700"/>
              <a:gd name="connsiteX9" fmla="*/ 1571625 w 2185988"/>
              <a:gd name="connsiteY9" fmla="*/ 266700 h 2171700"/>
              <a:gd name="connsiteX10" fmla="*/ 1704975 w 2185988"/>
              <a:gd name="connsiteY10" fmla="*/ 385762 h 2171700"/>
              <a:gd name="connsiteX11" fmla="*/ 1914525 w 2185988"/>
              <a:gd name="connsiteY11" fmla="*/ 290512 h 2171700"/>
              <a:gd name="connsiteX12" fmla="*/ 2066926 w 2185988"/>
              <a:gd name="connsiteY12" fmla="*/ 361950 h 2171700"/>
              <a:gd name="connsiteX13" fmla="*/ 2009775 w 2185988"/>
              <a:gd name="connsiteY13" fmla="*/ 590550 h 2171700"/>
              <a:gd name="connsiteX14" fmla="*/ 2024063 w 2185988"/>
              <a:gd name="connsiteY14" fmla="*/ 781050 h 2171700"/>
              <a:gd name="connsiteX15" fmla="*/ 2085975 w 2185988"/>
              <a:gd name="connsiteY15" fmla="*/ 952500 h 2171700"/>
              <a:gd name="connsiteX16" fmla="*/ 2152650 w 2185988"/>
              <a:gd name="connsiteY16" fmla="*/ 1152525 h 2171700"/>
              <a:gd name="connsiteX17" fmla="*/ 2185988 w 2185988"/>
              <a:gd name="connsiteY17" fmla="*/ 1428750 h 2171700"/>
              <a:gd name="connsiteX18" fmla="*/ 2171700 w 2185988"/>
              <a:gd name="connsiteY18" fmla="*/ 1609725 h 2171700"/>
              <a:gd name="connsiteX19" fmla="*/ 2124075 w 2185988"/>
              <a:gd name="connsiteY19" fmla="*/ 1804987 h 2171700"/>
              <a:gd name="connsiteX20" fmla="*/ 2038350 w 2185988"/>
              <a:gd name="connsiteY20" fmla="*/ 1981200 h 2171700"/>
              <a:gd name="connsiteX21" fmla="*/ 1957388 w 2185988"/>
              <a:gd name="connsiteY21" fmla="*/ 2100262 h 2171700"/>
              <a:gd name="connsiteX22" fmla="*/ 1895475 w 2185988"/>
              <a:gd name="connsiteY22" fmla="*/ 2171700 h 2171700"/>
              <a:gd name="connsiteX0" fmla="*/ 0 w 2224088"/>
              <a:gd name="connsiteY0" fmla="*/ 314325 h 2171700"/>
              <a:gd name="connsiteX1" fmla="*/ 157163 w 2224088"/>
              <a:gd name="connsiteY1" fmla="*/ 185737 h 2171700"/>
              <a:gd name="connsiteX2" fmla="*/ 333375 w 2224088"/>
              <a:gd name="connsiteY2" fmla="*/ 95250 h 2171700"/>
              <a:gd name="connsiteX3" fmla="*/ 495300 w 2224088"/>
              <a:gd name="connsiteY3" fmla="*/ 33337 h 2171700"/>
              <a:gd name="connsiteX4" fmla="*/ 690563 w 2224088"/>
              <a:gd name="connsiteY4" fmla="*/ 0 h 2171700"/>
              <a:gd name="connsiteX5" fmla="*/ 871538 w 2224088"/>
              <a:gd name="connsiteY5" fmla="*/ 4762 h 2171700"/>
              <a:gd name="connsiteX6" fmla="*/ 1066800 w 2224088"/>
              <a:gd name="connsiteY6" fmla="*/ 28575 h 2171700"/>
              <a:gd name="connsiteX7" fmla="*/ 1276350 w 2224088"/>
              <a:gd name="connsiteY7" fmla="*/ 104775 h 2171700"/>
              <a:gd name="connsiteX8" fmla="*/ 1428750 w 2224088"/>
              <a:gd name="connsiteY8" fmla="*/ 171450 h 2171700"/>
              <a:gd name="connsiteX9" fmla="*/ 1571625 w 2224088"/>
              <a:gd name="connsiteY9" fmla="*/ 266700 h 2171700"/>
              <a:gd name="connsiteX10" fmla="*/ 1704975 w 2224088"/>
              <a:gd name="connsiteY10" fmla="*/ 385762 h 2171700"/>
              <a:gd name="connsiteX11" fmla="*/ 1914525 w 2224088"/>
              <a:gd name="connsiteY11" fmla="*/ 290512 h 2171700"/>
              <a:gd name="connsiteX12" fmla="*/ 2066926 w 2224088"/>
              <a:gd name="connsiteY12" fmla="*/ 361950 h 2171700"/>
              <a:gd name="connsiteX13" fmla="*/ 2224088 w 2224088"/>
              <a:gd name="connsiteY13" fmla="*/ 604837 h 2171700"/>
              <a:gd name="connsiteX14" fmla="*/ 2024063 w 2224088"/>
              <a:gd name="connsiteY14" fmla="*/ 781050 h 2171700"/>
              <a:gd name="connsiteX15" fmla="*/ 2085975 w 2224088"/>
              <a:gd name="connsiteY15" fmla="*/ 952500 h 2171700"/>
              <a:gd name="connsiteX16" fmla="*/ 2152650 w 2224088"/>
              <a:gd name="connsiteY16" fmla="*/ 1152525 h 2171700"/>
              <a:gd name="connsiteX17" fmla="*/ 2185988 w 2224088"/>
              <a:gd name="connsiteY17" fmla="*/ 1428750 h 2171700"/>
              <a:gd name="connsiteX18" fmla="*/ 2171700 w 2224088"/>
              <a:gd name="connsiteY18" fmla="*/ 1609725 h 2171700"/>
              <a:gd name="connsiteX19" fmla="*/ 2124075 w 2224088"/>
              <a:gd name="connsiteY19" fmla="*/ 1804987 h 2171700"/>
              <a:gd name="connsiteX20" fmla="*/ 2038350 w 2224088"/>
              <a:gd name="connsiteY20" fmla="*/ 1981200 h 2171700"/>
              <a:gd name="connsiteX21" fmla="*/ 1957388 w 2224088"/>
              <a:gd name="connsiteY21" fmla="*/ 2100262 h 2171700"/>
              <a:gd name="connsiteX22" fmla="*/ 1895475 w 2224088"/>
              <a:gd name="connsiteY22" fmla="*/ 2171700 h 2171700"/>
              <a:gd name="connsiteX0" fmla="*/ 0 w 2224088"/>
              <a:gd name="connsiteY0" fmla="*/ 314325 h 2171700"/>
              <a:gd name="connsiteX1" fmla="*/ 157163 w 2224088"/>
              <a:gd name="connsiteY1" fmla="*/ 185737 h 2171700"/>
              <a:gd name="connsiteX2" fmla="*/ 333375 w 2224088"/>
              <a:gd name="connsiteY2" fmla="*/ 95250 h 2171700"/>
              <a:gd name="connsiteX3" fmla="*/ 495300 w 2224088"/>
              <a:gd name="connsiteY3" fmla="*/ 33337 h 2171700"/>
              <a:gd name="connsiteX4" fmla="*/ 690563 w 2224088"/>
              <a:gd name="connsiteY4" fmla="*/ 0 h 2171700"/>
              <a:gd name="connsiteX5" fmla="*/ 871538 w 2224088"/>
              <a:gd name="connsiteY5" fmla="*/ 4762 h 2171700"/>
              <a:gd name="connsiteX6" fmla="*/ 1066800 w 2224088"/>
              <a:gd name="connsiteY6" fmla="*/ 28575 h 2171700"/>
              <a:gd name="connsiteX7" fmla="*/ 1276350 w 2224088"/>
              <a:gd name="connsiteY7" fmla="*/ 104775 h 2171700"/>
              <a:gd name="connsiteX8" fmla="*/ 1428750 w 2224088"/>
              <a:gd name="connsiteY8" fmla="*/ 171450 h 2171700"/>
              <a:gd name="connsiteX9" fmla="*/ 1571625 w 2224088"/>
              <a:gd name="connsiteY9" fmla="*/ 266700 h 2171700"/>
              <a:gd name="connsiteX10" fmla="*/ 1704975 w 2224088"/>
              <a:gd name="connsiteY10" fmla="*/ 385762 h 2171700"/>
              <a:gd name="connsiteX11" fmla="*/ 1838325 w 2224088"/>
              <a:gd name="connsiteY11" fmla="*/ 323850 h 2171700"/>
              <a:gd name="connsiteX12" fmla="*/ 2066926 w 2224088"/>
              <a:gd name="connsiteY12" fmla="*/ 361950 h 2171700"/>
              <a:gd name="connsiteX13" fmla="*/ 2224088 w 2224088"/>
              <a:gd name="connsiteY13" fmla="*/ 604837 h 2171700"/>
              <a:gd name="connsiteX14" fmla="*/ 2024063 w 2224088"/>
              <a:gd name="connsiteY14" fmla="*/ 781050 h 2171700"/>
              <a:gd name="connsiteX15" fmla="*/ 2085975 w 2224088"/>
              <a:gd name="connsiteY15" fmla="*/ 952500 h 2171700"/>
              <a:gd name="connsiteX16" fmla="*/ 2152650 w 2224088"/>
              <a:gd name="connsiteY16" fmla="*/ 1152525 h 2171700"/>
              <a:gd name="connsiteX17" fmla="*/ 2185988 w 2224088"/>
              <a:gd name="connsiteY17" fmla="*/ 1428750 h 2171700"/>
              <a:gd name="connsiteX18" fmla="*/ 2171700 w 2224088"/>
              <a:gd name="connsiteY18" fmla="*/ 1609725 h 2171700"/>
              <a:gd name="connsiteX19" fmla="*/ 2124075 w 2224088"/>
              <a:gd name="connsiteY19" fmla="*/ 1804987 h 2171700"/>
              <a:gd name="connsiteX20" fmla="*/ 2038350 w 2224088"/>
              <a:gd name="connsiteY20" fmla="*/ 1981200 h 2171700"/>
              <a:gd name="connsiteX21" fmla="*/ 1957388 w 2224088"/>
              <a:gd name="connsiteY21" fmla="*/ 2100262 h 2171700"/>
              <a:gd name="connsiteX22" fmla="*/ 1895475 w 2224088"/>
              <a:gd name="connsiteY22" fmla="*/ 2171700 h 2171700"/>
              <a:gd name="connsiteX0" fmla="*/ 0 w 2224088"/>
              <a:gd name="connsiteY0" fmla="*/ 314325 h 2171700"/>
              <a:gd name="connsiteX1" fmla="*/ 157163 w 2224088"/>
              <a:gd name="connsiteY1" fmla="*/ 185737 h 2171700"/>
              <a:gd name="connsiteX2" fmla="*/ 333375 w 2224088"/>
              <a:gd name="connsiteY2" fmla="*/ 95250 h 2171700"/>
              <a:gd name="connsiteX3" fmla="*/ 495300 w 2224088"/>
              <a:gd name="connsiteY3" fmla="*/ 33337 h 2171700"/>
              <a:gd name="connsiteX4" fmla="*/ 690563 w 2224088"/>
              <a:gd name="connsiteY4" fmla="*/ 0 h 2171700"/>
              <a:gd name="connsiteX5" fmla="*/ 871538 w 2224088"/>
              <a:gd name="connsiteY5" fmla="*/ 4762 h 2171700"/>
              <a:gd name="connsiteX6" fmla="*/ 1066800 w 2224088"/>
              <a:gd name="connsiteY6" fmla="*/ 28575 h 2171700"/>
              <a:gd name="connsiteX7" fmla="*/ 1276350 w 2224088"/>
              <a:gd name="connsiteY7" fmla="*/ 104775 h 2171700"/>
              <a:gd name="connsiteX8" fmla="*/ 1428750 w 2224088"/>
              <a:gd name="connsiteY8" fmla="*/ 171450 h 2171700"/>
              <a:gd name="connsiteX9" fmla="*/ 1571625 w 2224088"/>
              <a:gd name="connsiteY9" fmla="*/ 266700 h 2171700"/>
              <a:gd name="connsiteX10" fmla="*/ 1704975 w 2224088"/>
              <a:gd name="connsiteY10" fmla="*/ 385762 h 2171700"/>
              <a:gd name="connsiteX11" fmla="*/ 1838325 w 2224088"/>
              <a:gd name="connsiteY11" fmla="*/ 323850 h 2171700"/>
              <a:gd name="connsiteX12" fmla="*/ 2066926 w 2224088"/>
              <a:gd name="connsiteY12" fmla="*/ 361950 h 2171700"/>
              <a:gd name="connsiteX13" fmla="*/ 2128838 w 2224088"/>
              <a:gd name="connsiteY13" fmla="*/ 452437 h 2171700"/>
              <a:gd name="connsiteX14" fmla="*/ 2224088 w 2224088"/>
              <a:gd name="connsiteY14" fmla="*/ 604837 h 2171700"/>
              <a:gd name="connsiteX15" fmla="*/ 2024063 w 2224088"/>
              <a:gd name="connsiteY15" fmla="*/ 781050 h 2171700"/>
              <a:gd name="connsiteX16" fmla="*/ 2085975 w 2224088"/>
              <a:gd name="connsiteY16" fmla="*/ 952500 h 2171700"/>
              <a:gd name="connsiteX17" fmla="*/ 2152650 w 2224088"/>
              <a:gd name="connsiteY17" fmla="*/ 1152525 h 2171700"/>
              <a:gd name="connsiteX18" fmla="*/ 2185988 w 2224088"/>
              <a:gd name="connsiteY18" fmla="*/ 1428750 h 2171700"/>
              <a:gd name="connsiteX19" fmla="*/ 2171700 w 2224088"/>
              <a:gd name="connsiteY19" fmla="*/ 1609725 h 2171700"/>
              <a:gd name="connsiteX20" fmla="*/ 2124075 w 2224088"/>
              <a:gd name="connsiteY20" fmla="*/ 1804987 h 2171700"/>
              <a:gd name="connsiteX21" fmla="*/ 2038350 w 2224088"/>
              <a:gd name="connsiteY21" fmla="*/ 1981200 h 2171700"/>
              <a:gd name="connsiteX22" fmla="*/ 1957388 w 2224088"/>
              <a:gd name="connsiteY22" fmla="*/ 2100262 h 2171700"/>
              <a:gd name="connsiteX23" fmla="*/ 1895475 w 2224088"/>
              <a:gd name="connsiteY23" fmla="*/ 2171700 h 2171700"/>
              <a:gd name="connsiteX0" fmla="*/ 0 w 2224088"/>
              <a:gd name="connsiteY0" fmla="*/ 314325 h 2171700"/>
              <a:gd name="connsiteX1" fmla="*/ 157163 w 2224088"/>
              <a:gd name="connsiteY1" fmla="*/ 185737 h 2171700"/>
              <a:gd name="connsiteX2" fmla="*/ 333375 w 2224088"/>
              <a:gd name="connsiteY2" fmla="*/ 95250 h 2171700"/>
              <a:gd name="connsiteX3" fmla="*/ 495300 w 2224088"/>
              <a:gd name="connsiteY3" fmla="*/ 33337 h 2171700"/>
              <a:gd name="connsiteX4" fmla="*/ 690563 w 2224088"/>
              <a:gd name="connsiteY4" fmla="*/ 0 h 2171700"/>
              <a:gd name="connsiteX5" fmla="*/ 871538 w 2224088"/>
              <a:gd name="connsiteY5" fmla="*/ 4762 h 2171700"/>
              <a:gd name="connsiteX6" fmla="*/ 1066800 w 2224088"/>
              <a:gd name="connsiteY6" fmla="*/ 28575 h 2171700"/>
              <a:gd name="connsiteX7" fmla="*/ 1276350 w 2224088"/>
              <a:gd name="connsiteY7" fmla="*/ 104775 h 2171700"/>
              <a:gd name="connsiteX8" fmla="*/ 1428750 w 2224088"/>
              <a:gd name="connsiteY8" fmla="*/ 171450 h 2171700"/>
              <a:gd name="connsiteX9" fmla="*/ 1571625 w 2224088"/>
              <a:gd name="connsiteY9" fmla="*/ 266700 h 2171700"/>
              <a:gd name="connsiteX10" fmla="*/ 1704975 w 2224088"/>
              <a:gd name="connsiteY10" fmla="*/ 385762 h 2171700"/>
              <a:gd name="connsiteX11" fmla="*/ 1838325 w 2224088"/>
              <a:gd name="connsiteY11" fmla="*/ 323850 h 2171700"/>
              <a:gd name="connsiteX12" fmla="*/ 2066926 w 2224088"/>
              <a:gd name="connsiteY12" fmla="*/ 361950 h 2171700"/>
              <a:gd name="connsiteX13" fmla="*/ 2128838 w 2224088"/>
              <a:gd name="connsiteY13" fmla="*/ 452437 h 2171700"/>
              <a:gd name="connsiteX14" fmla="*/ 2224088 w 2224088"/>
              <a:gd name="connsiteY14" fmla="*/ 604837 h 2171700"/>
              <a:gd name="connsiteX15" fmla="*/ 2128838 w 2224088"/>
              <a:gd name="connsiteY15" fmla="*/ 671512 h 2171700"/>
              <a:gd name="connsiteX16" fmla="*/ 2024063 w 2224088"/>
              <a:gd name="connsiteY16" fmla="*/ 781050 h 2171700"/>
              <a:gd name="connsiteX17" fmla="*/ 2085975 w 2224088"/>
              <a:gd name="connsiteY17" fmla="*/ 952500 h 2171700"/>
              <a:gd name="connsiteX18" fmla="*/ 2152650 w 2224088"/>
              <a:gd name="connsiteY18" fmla="*/ 1152525 h 2171700"/>
              <a:gd name="connsiteX19" fmla="*/ 2185988 w 2224088"/>
              <a:gd name="connsiteY19" fmla="*/ 1428750 h 2171700"/>
              <a:gd name="connsiteX20" fmla="*/ 2171700 w 2224088"/>
              <a:gd name="connsiteY20" fmla="*/ 1609725 h 2171700"/>
              <a:gd name="connsiteX21" fmla="*/ 2124075 w 2224088"/>
              <a:gd name="connsiteY21" fmla="*/ 1804987 h 2171700"/>
              <a:gd name="connsiteX22" fmla="*/ 2038350 w 2224088"/>
              <a:gd name="connsiteY22" fmla="*/ 1981200 h 2171700"/>
              <a:gd name="connsiteX23" fmla="*/ 1957388 w 2224088"/>
              <a:gd name="connsiteY23" fmla="*/ 2100262 h 2171700"/>
              <a:gd name="connsiteX24" fmla="*/ 1895475 w 2224088"/>
              <a:gd name="connsiteY24" fmla="*/ 2171700 h 2171700"/>
              <a:gd name="connsiteX0" fmla="*/ 0 w 2185988"/>
              <a:gd name="connsiteY0" fmla="*/ 314325 h 2171700"/>
              <a:gd name="connsiteX1" fmla="*/ 157163 w 2185988"/>
              <a:gd name="connsiteY1" fmla="*/ 185737 h 2171700"/>
              <a:gd name="connsiteX2" fmla="*/ 333375 w 2185988"/>
              <a:gd name="connsiteY2" fmla="*/ 95250 h 2171700"/>
              <a:gd name="connsiteX3" fmla="*/ 495300 w 2185988"/>
              <a:gd name="connsiteY3" fmla="*/ 33337 h 2171700"/>
              <a:gd name="connsiteX4" fmla="*/ 690563 w 2185988"/>
              <a:gd name="connsiteY4" fmla="*/ 0 h 2171700"/>
              <a:gd name="connsiteX5" fmla="*/ 871538 w 2185988"/>
              <a:gd name="connsiteY5" fmla="*/ 4762 h 2171700"/>
              <a:gd name="connsiteX6" fmla="*/ 1066800 w 2185988"/>
              <a:gd name="connsiteY6" fmla="*/ 28575 h 2171700"/>
              <a:gd name="connsiteX7" fmla="*/ 1276350 w 2185988"/>
              <a:gd name="connsiteY7" fmla="*/ 104775 h 2171700"/>
              <a:gd name="connsiteX8" fmla="*/ 1428750 w 2185988"/>
              <a:gd name="connsiteY8" fmla="*/ 171450 h 2171700"/>
              <a:gd name="connsiteX9" fmla="*/ 1571625 w 2185988"/>
              <a:gd name="connsiteY9" fmla="*/ 266700 h 2171700"/>
              <a:gd name="connsiteX10" fmla="*/ 1704975 w 2185988"/>
              <a:gd name="connsiteY10" fmla="*/ 385762 h 2171700"/>
              <a:gd name="connsiteX11" fmla="*/ 1838325 w 2185988"/>
              <a:gd name="connsiteY11" fmla="*/ 323850 h 2171700"/>
              <a:gd name="connsiteX12" fmla="*/ 2066926 w 2185988"/>
              <a:gd name="connsiteY12" fmla="*/ 361950 h 2171700"/>
              <a:gd name="connsiteX13" fmla="*/ 2128838 w 2185988"/>
              <a:gd name="connsiteY13" fmla="*/ 452437 h 2171700"/>
              <a:gd name="connsiteX14" fmla="*/ 2138363 w 2185988"/>
              <a:gd name="connsiteY14" fmla="*/ 576262 h 2171700"/>
              <a:gd name="connsiteX15" fmla="*/ 2128838 w 2185988"/>
              <a:gd name="connsiteY15" fmla="*/ 671512 h 2171700"/>
              <a:gd name="connsiteX16" fmla="*/ 2024063 w 2185988"/>
              <a:gd name="connsiteY16" fmla="*/ 781050 h 2171700"/>
              <a:gd name="connsiteX17" fmla="*/ 2085975 w 2185988"/>
              <a:gd name="connsiteY17" fmla="*/ 952500 h 2171700"/>
              <a:gd name="connsiteX18" fmla="*/ 2152650 w 2185988"/>
              <a:gd name="connsiteY18" fmla="*/ 1152525 h 2171700"/>
              <a:gd name="connsiteX19" fmla="*/ 2185988 w 2185988"/>
              <a:gd name="connsiteY19" fmla="*/ 1428750 h 2171700"/>
              <a:gd name="connsiteX20" fmla="*/ 2171700 w 2185988"/>
              <a:gd name="connsiteY20" fmla="*/ 1609725 h 2171700"/>
              <a:gd name="connsiteX21" fmla="*/ 2124075 w 2185988"/>
              <a:gd name="connsiteY21" fmla="*/ 1804987 h 2171700"/>
              <a:gd name="connsiteX22" fmla="*/ 2038350 w 2185988"/>
              <a:gd name="connsiteY22" fmla="*/ 1981200 h 2171700"/>
              <a:gd name="connsiteX23" fmla="*/ 1957388 w 2185988"/>
              <a:gd name="connsiteY23" fmla="*/ 2100262 h 2171700"/>
              <a:gd name="connsiteX24" fmla="*/ 1895475 w 2185988"/>
              <a:gd name="connsiteY24" fmla="*/ 2171700 h 2171700"/>
              <a:gd name="connsiteX0" fmla="*/ 0 w 2185988"/>
              <a:gd name="connsiteY0" fmla="*/ 314325 h 2171700"/>
              <a:gd name="connsiteX1" fmla="*/ 157163 w 2185988"/>
              <a:gd name="connsiteY1" fmla="*/ 185737 h 2171700"/>
              <a:gd name="connsiteX2" fmla="*/ 333375 w 2185988"/>
              <a:gd name="connsiteY2" fmla="*/ 95250 h 2171700"/>
              <a:gd name="connsiteX3" fmla="*/ 495300 w 2185988"/>
              <a:gd name="connsiteY3" fmla="*/ 33337 h 2171700"/>
              <a:gd name="connsiteX4" fmla="*/ 690563 w 2185988"/>
              <a:gd name="connsiteY4" fmla="*/ 0 h 2171700"/>
              <a:gd name="connsiteX5" fmla="*/ 871538 w 2185988"/>
              <a:gd name="connsiteY5" fmla="*/ 4762 h 2171700"/>
              <a:gd name="connsiteX6" fmla="*/ 1066800 w 2185988"/>
              <a:gd name="connsiteY6" fmla="*/ 28575 h 2171700"/>
              <a:gd name="connsiteX7" fmla="*/ 1276350 w 2185988"/>
              <a:gd name="connsiteY7" fmla="*/ 104775 h 2171700"/>
              <a:gd name="connsiteX8" fmla="*/ 1428750 w 2185988"/>
              <a:gd name="connsiteY8" fmla="*/ 171450 h 2171700"/>
              <a:gd name="connsiteX9" fmla="*/ 1571625 w 2185988"/>
              <a:gd name="connsiteY9" fmla="*/ 266700 h 2171700"/>
              <a:gd name="connsiteX10" fmla="*/ 1704975 w 2185988"/>
              <a:gd name="connsiteY10" fmla="*/ 385762 h 2171700"/>
              <a:gd name="connsiteX11" fmla="*/ 1838325 w 2185988"/>
              <a:gd name="connsiteY11" fmla="*/ 323850 h 2171700"/>
              <a:gd name="connsiteX12" fmla="*/ 2066926 w 2185988"/>
              <a:gd name="connsiteY12" fmla="*/ 361950 h 2171700"/>
              <a:gd name="connsiteX13" fmla="*/ 2128838 w 2185988"/>
              <a:gd name="connsiteY13" fmla="*/ 452437 h 2171700"/>
              <a:gd name="connsiteX14" fmla="*/ 2138363 w 2185988"/>
              <a:gd name="connsiteY14" fmla="*/ 576262 h 2171700"/>
              <a:gd name="connsiteX15" fmla="*/ 2095501 w 2185988"/>
              <a:gd name="connsiteY15" fmla="*/ 681037 h 2171700"/>
              <a:gd name="connsiteX16" fmla="*/ 2024063 w 2185988"/>
              <a:gd name="connsiteY16" fmla="*/ 781050 h 2171700"/>
              <a:gd name="connsiteX17" fmla="*/ 2085975 w 2185988"/>
              <a:gd name="connsiteY17" fmla="*/ 952500 h 2171700"/>
              <a:gd name="connsiteX18" fmla="*/ 2152650 w 2185988"/>
              <a:gd name="connsiteY18" fmla="*/ 1152525 h 2171700"/>
              <a:gd name="connsiteX19" fmla="*/ 2185988 w 2185988"/>
              <a:gd name="connsiteY19" fmla="*/ 1428750 h 2171700"/>
              <a:gd name="connsiteX20" fmla="*/ 2171700 w 2185988"/>
              <a:gd name="connsiteY20" fmla="*/ 1609725 h 2171700"/>
              <a:gd name="connsiteX21" fmla="*/ 2124075 w 2185988"/>
              <a:gd name="connsiteY21" fmla="*/ 1804987 h 2171700"/>
              <a:gd name="connsiteX22" fmla="*/ 2038350 w 2185988"/>
              <a:gd name="connsiteY22" fmla="*/ 1981200 h 2171700"/>
              <a:gd name="connsiteX23" fmla="*/ 1957388 w 2185988"/>
              <a:gd name="connsiteY23" fmla="*/ 2100262 h 2171700"/>
              <a:gd name="connsiteX24" fmla="*/ 1895475 w 2185988"/>
              <a:gd name="connsiteY24" fmla="*/ 2171700 h 2171700"/>
              <a:gd name="connsiteX0" fmla="*/ 0 w 2185988"/>
              <a:gd name="connsiteY0" fmla="*/ 314325 h 2171700"/>
              <a:gd name="connsiteX1" fmla="*/ 157163 w 2185988"/>
              <a:gd name="connsiteY1" fmla="*/ 185737 h 2171700"/>
              <a:gd name="connsiteX2" fmla="*/ 333375 w 2185988"/>
              <a:gd name="connsiteY2" fmla="*/ 95250 h 2171700"/>
              <a:gd name="connsiteX3" fmla="*/ 495300 w 2185988"/>
              <a:gd name="connsiteY3" fmla="*/ 33337 h 2171700"/>
              <a:gd name="connsiteX4" fmla="*/ 690563 w 2185988"/>
              <a:gd name="connsiteY4" fmla="*/ 0 h 2171700"/>
              <a:gd name="connsiteX5" fmla="*/ 871538 w 2185988"/>
              <a:gd name="connsiteY5" fmla="*/ 4762 h 2171700"/>
              <a:gd name="connsiteX6" fmla="*/ 1066800 w 2185988"/>
              <a:gd name="connsiteY6" fmla="*/ 28575 h 2171700"/>
              <a:gd name="connsiteX7" fmla="*/ 1276350 w 2185988"/>
              <a:gd name="connsiteY7" fmla="*/ 104775 h 2171700"/>
              <a:gd name="connsiteX8" fmla="*/ 1428750 w 2185988"/>
              <a:gd name="connsiteY8" fmla="*/ 171450 h 2171700"/>
              <a:gd name="connsiteX9" fmla="*/ 1571625 w 2185988"/>
              <a:gd name="connsiteY9" fmla="*/ 266700 h 2171700"/>
              <a:gd name="connsiteX10" fmla="*/ 1704975 w 2185988"/>
              <a:gd name="connsiteY10" fmla="*/ 385762 h 2171700"/>
              <a:gd name="connsiteX11" fmla="*/ 1838325 w 2185988"/>
              <a:gd name="connsiteY11" fmla="*/ 323850 h 2171700"/>
              <a:gd name="connsiteX12" fmla="*/ 2066926 w 2185988"/>
              <a:gd name="connsiteY12" fmla="*/ 361950 h 2171700"/>
              <a:gd name="connsiteX13" fmla="*/ 1962150 w 2185988"/>
              <a:gd name="connsiteY13" fmla="*/ 342900 h 2171700"/>
              <a:gd name="connsiteX14" fmla="*/ 2128838 w 2185988"/>
              <a:gd name="connsiteY14" fmla="*/ 452437 h 2171700"/>
              <a:gd name="connsiteX15" fmla="*/ 2138363 w 2185988"/>
              <a:gd name="connsiteY15" fmla="*/ 576262 h 2171700"/>
              <a:gd name="connsiteX16" fmla="*/ 2095501 w 2185988"/>
              <a:gd name="connsiteY16" fmla="*/ 681037 h 2171700"/>
              <a:gd name="connsiteX17" fmla="*/ 2024063 w 2185988"/>
              <a:gd name="connsiteY17" fmla="*/ 781050 h 2171700"/>
              <a:gd name="connsiteX18" fmla="*/ 2085975 w 2185988"/>
              <a:gd name="connsiteY18" fmla="*/ 952500 h 2171700"/>
              <a:gd name="connsiteX19" fmla="*/ 2152650 w 2185988"/>
              <a:gd name="connsiteY19" fmla="*/ 1152525 h 2171700"/>
              <a:gd name="connsiteX20" fmla="*/ 2185988 w 2185988"/>
              <a:gd name="connsiteY20" fmla="*/ 1428750 h 2171700"/>
              <a:gd name="connsiteX21" fmla="*/ 2171700 w 2185988"/>
              <a:gd name="connsiteY21" fmla="*/ 1609725 h 2171700"/>
              <a:gd name="connsiteX22" fmla="*/ 2124075 w 2185988"/>
              <a:gd name="connsiteY22" fmla="*/ 1804987 h 2171700"/>
              <a:gd name="connsiteX23" fmla="*/ 2038350 w 2185988"/>
              <a:gd name="connsiteY23" fmla="*/ 1981200 h 2171700"/>
              <a:gd name="connsiteX24" fmla="*/ 1957388 w 2185988"/>
              <a:gd name="connsiteY24" fmla="*/ 2100262 h 2171700"/>
              <a:gd name="connsiteX25" fmla="*/ 1895475 w 2185988"/>
              <a:gd name="connsiteY25" fmla="*/ 2171700 h 2171700"/>
              <a:gd name="connsiteX0" fmla="*/ 0 w 2185988"/>
              <a:gd name="connsiteY0" fmla="*/ 314325 h 2171700"/>
              <a:gd name="connsiteX1" fmla="*/ 157163 w 2185988"/>
              <a:gd name="connsiteY1" fmla="*/ 185737 h 2171700"/>
              <a:gd name="connsiteX2" fmla="*/ 333375 w 2185988"/>
              <a:gd name="connsiteY2" fmla="*/ 95250 h 2171700"/>
              <a:gd name="connsiteX3" fmla="*/ 495300 w 2185988"/>
              <a:gd name="connsiteY3" fmla="*/ 33337 h 2171700"/>
              <a:gd name="connsiteX4" fmla="*/ 690563 w 2185988"/>
              <a:gd name="connsiteY4" fmla="*/ 0 h 2171700"/>
              <a:gd name="connsiteX5" fmla="*/ 871538 w 2185988"/>
              <a:gd name="connsiteY5" fmla="*/ 4762 h 2171700"/>
              <a:gd name="connsiteX6" fmla="*/ 1066800 w 2185988"/>
              <a:gd name="connsiteY6" fmla="*/ 28575 h 2171700"/>
              <a:gd name="connsiteX7" fmla="*/ 1276350 w 2185988"/>
              <a:gd name="connsiteY7" fmla="*/ 104775 h 2171700"/>
              <a:gd name="connsiteX8" fmla="*/ 1428750 w 2185988"/>
              <a:gd name="connsiteY8" fmla="*/ 171450 h 2171700"/>
              <a:gd name="connsiteX9" fmla="*/ 1571625 w 2185988"/>
              <a:gd name="connsiteY9" fmla="*/ 266700 h 2171700"/>
              <a:gd name="connsiteX10" fmla="*/ 1704975 w 2185988"/>
              <a:gd name="connsiteY10" fmla="*/ 385762 h 2171700"/>
              <a:gd name="connsiteX11" fmla="*/ 1809750 w 2185988"/>
              <a:gd name="connsiteY11" fmla="*/ 328613 h 2171700"/>
              <a:gd name="connsiteX12" fmla="*/ 2066926 w 2185988"/>
              <a:gd name="connsiteY12" fmla="*/ 361950 h 2171700"/>
              <a:gd name="connsiteX13" fmla="*/ 1962150 w 2185988"/>
              <a:gd name="connsiteY13" fmla="*/ 342900 h 2171700"/>
              <a:gd name="connsiteX14" fmla="*/ 2128838 w 2185988"/>
              <a:gd name="connsiteY14" fmla="*/ 452437 h 2171700"/>
              <a:gd name="connsiteX15" fmla="*/ 2138363 w 2185988"/>
              <a:gd name="connsiteY15" fmla="*/ 576262 h 2171700"/>
              <a:gd name="connsiteX16" fmla="*/ 2095501 w 2185988"/>
              <a:gd name="connsiteY16" fmla="*/ 681037 h 2171700"/>
              <a:gd name="connsiteX17" fmla="*/ 2024063 w 2185988"/>
              <a:gd name="connsiteY17" fmla="*/ 781050 h 2171700"/>
              <a:gd name="connsiteX18" fmla="*/ 2085975 w 2185988"/>
              <a:gd name="connsiteY18" fmla="*/ 952500 h 2171700"/>
              <a:gd name="connsiteX19" fmla="*/ 2152650 w 2185988"/>
              <a:gd name="connsiteY19" fmla="*/ 1152525 h 2171700"/>
              <a:gd name="connsiteX20" fmla="*/ 2185988 w 2185988"/>
              <a:gd name="connsiteY20" fmla="*/ 1428750 h 2171700"/>
              <a:gd name="connsiteX21" fmla="*/ 2171700 w 2185988"/>
              <a:gd name="connsiteY21" fmla="*/ 1609725 h 2171700"/>
              <a:gd name="connsiteX22" fmla="*/ 2124075 w 2185988"/>
              <a:gd name="connsiteY22" fmla="*/ 1804987 h 2171700"/>
              <a:gd name="connsiteX23" fmla="*/ 2038350 w 2185988"/>
              <a:gd name="connsiteY23" fmla="*/ 1981200 h 2171700"/>
              <a:gd name="connsiteX24" fmla="*/ 1957388 w 2185988"/>
              <a:gd name="connsiteY24" fmla="*/ 2100262 h 2171700"/>
              <a:gd name="connsiteX25" fmla="*/ 1895475 w 2185988"/>
              <a:gd name="connsiteY25" fmla="*/ 2171700 h 2171700"/>
              <a:gd name="connsiteX0" fmla="*/ 0 w 2185988"/>
              <a:gd name="connsiteY0" fmla="*/ 314325 h 2171700"/>
              <a:gd name="connsiteX1" fmla="*/ 157163 w 2185988"/>
              <a:gd name="connsiteY1" fmla="*/ 185737 h 2171700"/>
              <a:gd name="connsiteX2" fmla="*/ 333375 w 2185988"/>
              <a:gd name="connsiteY2" fmla="*/ 95250 h 2171700"/>
              <a:gd name="connsiteX3" fmla="*/ 495300 w 2185988"/>
              <a:gd name="connsiteY3" fmla="*/ 33337 h 2171700"/>
              <a:gd name="connsiteX4" fmla="*/ 690563 w 2185988"/>
              <a:gd name="connsiteY4" fmla="*/ 0 h 2171700"/>
              <a:gd name="connsiteX5" fmla="*/ 871538 w 2185988"/>
              <a:gd name="connsiteY5" fmla="*/ 4762 h 2171700"/>
              <a:gd name="connsiteX6" fmla="*/ 1066800 w 2185988"/>
              <a:gd name="connsiteY6" fmla="*/ 28575 h 2171700"/>
              <a:gd name="connsiteX7" fmla="*/ 1276350 w 2185988"/>
              <a:gd name="connsiteY7" fmla="*/ 104775 h 2171700"/>
              <a:gd name="connsiteX8" fmla="*/ 1428750 w 2185988"/>
              <a:gd name="connsiteY8" fmla="*/ 171450 h 2171700"/>
              <a:gd name="connsiteX9" fmla="*/ 1571625 w 2185988"/>
              <a:gd name="connsiteY9" fmla="*/ 266700 h 2171700"/>
              <a:gd name="connsiteX10" fmla="*/ 1704975 w 2185988"/>
              <a:gd name="connsiteY10" fmla="*/ 385762 h 2171700"/>
              <a:gd name="connsiteX11" fmla="*/ 1809750 w 2185988"/>
              <a:gd name="connsiteY11" fmla="*/ 328613 h 2171700"/>
              <a:gd name="connsiteX12" fmla="*/ 2066926 w 2185988"/>
              <a:gd name="connsiteY12" fmla="*/ 361950 h 2171700"/>
              <a:gd name="connsiteX13" fmla="*/ 1933575 w 2185988"/>
              <a:gd name="connsiteY13" fmla="*/ 314325 h 2171700"/>
              <a:gd name="connsiteX14" fmla="*/ 2128838 w 2185988"/>
              <a:gd name="connsiteY14" fmla="*/ 452437 h 2171700"/>
              <a:gd name="connsiteX15" fmla="*/ 2138363 w 2185988"/>
              <a:gd name="connsiteY15" fmla="*/ 576262 h 2171700"/>
              <a:gd name="connsiteX16" fmla="*/ 2095501 w 2185988"/>
              <a:gd name="connsiteY16" fmla="*/ 681037 h 2171700"/>
              <a:gd name="connsiteX17" fmla="*/ 2024063 w 2185988"/>
              <a:gd name="connsiteY17" fmla="*/ 781050 h 2171700"/>
              <a:gd name="connsiteX18" fmla="*/ 2085975 w 2185988"/>
              <a:gd name="connsiteY18" fmla="*/ 952500 h 2171700"/>
              <a:gd name="connsiteX19" fmla="*/ 2152650 w 2185988"/>
              <a:gd name="connsiteY19" fmla="*/ 1152525 h 2171700"/>
              <a:gd name="connsiteX20" fmla="*/ 2185988 w 2185988"/>
              <a:gd name="connsiteY20" fmla="*/ 1428750 h 2171700"/>
              <a:gd name="connsiteX21" fmla="*/ 2171700 w 2185988"/>
              <a:gd name="connsiteY21" fmla="*/ 1609725 h 2171700"/>
              <a:gd name="connsiteX22" fmla="*/ 2124075 w 2185988"/>
              <a:gd name="connsiteY22" fmla="*/ 1804987 h 2171700"/>
              <a:gd name="connsiteX23" fmla="*/ 2038350 w 2185988"/>
              <a:gd name="connsiteY23" fmla="*/ 1981200 h 2171700"/>
              <a:gd name="connsiteX24" fmla="*/ 1957388 w 2185988"/>
              <a:gd name="connsiteY24" fmla="*/ 2100262 h 2171700"/>
              <a:gd name="connsiteX25" fmla="*/ 1895475 w 2185988"/>
              <a:gd name="connsiteY25" fmla="*/ 2171700 h 2171700"/>
              <a:gd name="connsiteX0" fmla="*/ 0 w 2185988"/>
              <a:gd name="connsiteY0" fmla="*/ 314325 h 2171700"/>
              <a:gd name="connsiteX1" fmla="*/ 157163 w 2185988"/>
              <a:gd name="connsiteY1" fmla="*/ 185737 h 2171700"/>
              <a:gd name="connsiteX2" fmla="*/ 333375 w 2185988"/>
              <a:gd name="connsiteY2" fmla="*/ 95250 h 2171700"/>
              <a:gd name="connsiteX3" fmla="*/ 495300 w 2185988"/>
              <a:gd name="connsiteY3" fmla="*/ 33337 h 2171700"/>
              <a:gd name="connsiteX4" fmla="*/ 690563 w 2185988"/>
              <a:gd name="connsiteY4" fmla="*/ 0 h 2171700"/>
              <a:gd name="connsiteX5" fmla="*/ 871538 w 2185988"/>
              <a:gd name="connsiteY5" fmla="*/ 4762 h 2171700"/>
              <a:gd name="connsiteX6" fmla="*/ 1066800 w 2185988"/>
              <a:gd name="connsiteY6" fmla="*/ 28575 h 2171700"/>
              <a:gd name="connsiteX7" fmla="*/ 1276350 w 2185988"/>
              <a:gd name="connsiteY7" fmla="*/ 104775 h 2171700"/>
              <a:gd name="connsiteX8" fmla="*/ 1428750 w 2185988"/>
              <a:gd name="connsiteY8" fmla="*/ 171450 h 2171700"/>
              <a:gd name="connsiteX9" fmla="*/ 1571625 w 2185988"/>
              <a:gd name="connsiteY9" fmla="*/ 266700 h 2171700"/>
              <a:gd name="connsiteX10" fmla="*/ 1704975 w 2185988"/>
              <a:gd name="connsiteY10" fmla="*/ 385762 h 2171700"/>
              <a:gd name="connsiteX11" fmla="*/ 1809750 w 2185988"/>
              <a:gd name="connsiteY11" fmla="*/ 328613 h 2171700"/>
              <a:gd name="connsiteX12" fmla="*/ 2066926 w 2185988"/>
              <a:gd name="connsiteY12" fmla="*/ 361950 h 2171700"/>
              <a:gd name="connsiteX13" fmla="*/ 1933575 w 2185988"/>
              <a:gd name="connsiteY13" fmla="*/ 314325 h 2171700"/>
              <a:gd name="connsiteX14" fmla="*/ 2128838 w 2185988"/>
              <a:gd name="connsiteY14" fmla="*/ 452437 h 2171700"/>
              <a:gd name="connsiteX15" fmla="*/ 2138363 w 2185988"/>
              <a:gd name="connsiteY15" fmla="*/ 576262 h 2171700"/>
              <a:gd name="connsiteX16" fmla="*/ 2095501 w 2185988"/>
              <a:gd name="connsiteY16" fmla="*/ 681037 h 2171700"/>
              <a:gd name="connsiteX17" fmla="*/ 2024063 w 2185988"/>
              <a:gd name="connsiteY17" fmla="*/ 781050 h 2171700"/>
              <a:gd name="connsiteX18" fmla="*/ 2085975 w 2185988"/>
              <a:gd name="connsiteY18" fmla="*/ 952500 h 2171700"/>
              <a:gd name="connsiteX19" fmla="*/ 2152650 w 2185988"/>
              <a:gd name="connsiteY19" fmla="*/ 1152525 h 2171700"/>
              <a:gd name="connsiteX20" fmla="*/ 2185988 w 2185988"/>
              <a:gd name="connsiteY20" fmla="*/ 1428750 h 2171700"/>
              <a:gd name="connsiteX21" fmla="*/ 2171700 w 2185988"/>
              <a:gd name="connsiteY21" fmla="*/ 1609725 h 2171700"/>
              <a:gd name="connsiteX22" fmla="*/ 2124075 w 2185988"/>
              <a:gd name="connsiteY22" fmla="*/ 1804987 h 2171700"/>
              <a:gd name="connsiteX23" fmla="*/ 2038350 w 2185988"/>
              <a:gd name="connsiteY23" fmla="*/ 1981200 h 2171700"/>
              <a:gd name="connsiteX24" fmla="*/ 1957388 w 2185988"/>
              <a:gd name="connsiteY24" fmla="*/ 2100262 h 2171700"/>
              <a:gd name="connsiteX25" fmla="*/ 1895475 w 2185988"/>
              <a:gd name="connsiteY25" fmla="*/ 2171700 h 2171700"/>
              <a:gd name="connsiteX0" fmla="*/ 0 w 2185988"/>
              <a:gd name="connsiteY0" fmla="*/ 314325 h 2171700"/>
              <a:gd name="connsiteX1" fmla="*/ 157163 w 2185988"/>
              <a:gd name="connsiteY1" fmla="*/ 185737 h 2171700"/>
              <a:gd name="connsiteX2" fmla="*/ 333375 w 2185988"/>
              <a:gd name="connsiteY2" fmla="*/ 95250 h 2171700"/>
              <a:gd name="connsiteX3" fmla="*/ 495300 w 2185988"/>
              <a:gd name="connsiteY3" fmla="*/ 33337 h 2171700"/>
              <a:gd name="connsiteX4" fmla="*/ 690563 w 2185988"/>
              <a:gd name="connsiteY4" fmla="*/ 0 h 2171700"/>
              <a:gd name="connsiteX5" fmla="*/ 871538 w 2185988"/>
              <a:gd name="connsiteY5" fmla="*/ 4762 h 2171700"/>
              <a:gd name="connsiteX6" fmla="*/ 1066800 w 2185988"/>
              <a:gd name="connsiteY6" fmla="*/ 28575 h 2171700"/>
              <a:gd name="connsiteX7" fmla="*/ 1276350 w 2185988"/>
              <a:gd name="connsiteY7" fmla="*/ 104775 h 2171700"/>
              <a:gd name="connsiteX8" fmla="*/ 1428750 w 2185988"/>
              <a:gd name="connsiteY8" fmla="*/ 171450 h 2171700"/>
              <a:gd name="connsiteX9" fmla="*/ 1571625 w 2185988"/>
              <a:gd name="connsiteY9" fmla="*/ 266700 h 2171700"/>
              <a:gd name="connsiteX10" fmla="*/ 1704975 w 2185988"/>
              <a:gd name="connsiteY10" fmla="*/ 385762 h 2171700"/>
              <a:gd name="connsiteX11" fmla="*/ 1809750 w 2185988"/>
              <a:gd name="connsiteY11" fmla="*/ 328613 h 2171700"/>
              <a:gd name="connsiteX12" fmla="*/ 1909764 w 2185988"/>
              <a:gd name="connsiteY12" fmla="*/ 290513 h 2171700"/>
              <a:gd name="connsiteX13" fmla="*/ 1933575 w 2185988"/>
              <a:gd name="connsiteY13" fmla="*/ 314325 h 2171700"/>
              <a:gd name="connsiteX14" fmla="*/ 2128838 w 2185988"/>
              <a:gd name="connsiteY14" fmla="*/ 452437 h 2171700"/>
              <a:gd name="connsiteX15" fmla="*/ 2138363 w 2185988"/>
              <a:gd name="connsiteY15" fmla="*/ 576262 h 2171700"/>
              <a:gd name="connsiteX16" fmla="*/ 2095501 w 2185988"/>
              <a:gd name="connsiteY16" fmla="*/ 681037 h 2171700"/>
              <a:gd name="connsiteX17" fmla="*/ 2024063 w 2185988"/>
              <a:gd name="connsiteY17" fmla="*/ 781050 h 2171700"/>
              <a:gd name="connsiteX18" fmla="*/ 2085975 w 2185988"/>
              <a:gd name="connsiteY18" fmla="*/ 952500 h 2171700"/>
              <a:gd name="connsiteX19" fmla="*/ 2152650 w 2185988"/>
              <a:gd name="connsiteY19" fmla="*/ 1152525 h 2171700"/>
              <a:gd name="connsiteX20" fmla="*/ 2185988 w 2185988"/>
              <a:gd name="connsiteY20" fmla="*/ 1428750 h 2171700"/>
              <a:gd name="connsiteX21" fmla="*/ 2171700 w 2185988"/>
              <a:gd name="connsiteY21" fmla="*/ 1609725 h 2171700"/>
              <a:gd name="connsiteX22" fmla="*/ 2124075 w 2185988"/>
              <a:gd name="connsiteY22" fmla="*/ 1804987 h 2171700"/>
              <a:gd name="connsiteX23" fmla="*/ 2038350 w 2185988"/>
              <a:gd name="connsiteY23" fmla="*/ 1981200 h 2171700"/>
              <a:gd name="connsiteX24" fmla="*/ 1957388 w 2185988"/>
              <a:gd name="connsiteY24" fmla="*/ 2100262 h 2171700"/>
              <a:gd name="connsiteX25" fmla="*/ 1895475 w 2185988"/>
              <a:gd name="connsiteY25" fmla="*/ 2171700 h 2171700"/>
              <a:gd name="connsiteX0" fmla="*/ 0 w 2185988"/>
              <a:gd name="connsiteY0" fmla="*/ 314325 h 2171700"/>
              <a:gd name="connsiteX1" fmla="*/ 157163 w 2185988"/>
              <a:gd name="connsiteY1" fmla="*/ 185737 h 2171700"/>
              <a:gd name="connsiteX2" fmla="*/ 333375 w 2185988"/>
              <a:gd name="connsiteY2" fmla="*/ 95250 h 2171700"/>
              <a:gd name="connsiteX3" fmla="*/ 495300 w 2185988"/>
              <a:gd name="connsiteY3" fmla="*/ 33337 h 2171700"/>
              <a:gd name="connsiteX4" fmla="*/ 690563 w 2185988"/>
              <a:gd name="connsiteY4" fmla="*/ 0 h 2171700"/>
              <a:gd name="connsiteX5" fmla="*/ 871538 w 2185988"/>
              <a:gd name="connsiteY5" fmla="*/ 4762 h 2171700"/>
              <a:gd name="connsiteX6" fmla="*/ 1066800 w 2185988"/>
              <a:gd name="connsiteY6" fmla="*/ 28575 h 2171700"/>
              <a:gd name="connsiteX7" fmla="*/ 1276350 w 2185988"/>
              <a:gd name="connsiteY7" fmla="*/ 104775 h 2171700"/>
              <a:gd name="connsiteX8" fmla="*/ 1428750 w 2185988"/>
              <a:gd name="connsiteY8" fmla="*/ 171450 h 2171700"/>
              <a:gd name="connsiteX9" fmla="*/ 1571625 w 2185988"/>
              <a:gd name="connsiteY9" fmla="*/ 266700 h 2171700"/>
              <a:gd name="connsiteX10" fmla="*/ 1704975 w 2185988"/>
              <a:gd name="connsiteY10" fmla="*/ 385762 h 2171700"/>
              <a:gd name="connsiteX11" fmla="*/ 1809750 w 2185988"/>
              <a:gd name="connsiteY11" fmla="*/ 328613 h 2171700"/>
              <a:gd name="connsiteX12" fmla="*/ 1909764 w 2185988"/>
              <a:gd name="connsiteY12" fmla="*/ 290513 h 2171700"/>
              <a:gd name="connsiteX13" fmla="*/ 2071687 w 2185988"/>
              <a:gd name="connsiteY13" fmla="*/ 309562 h 2171700"/>
              <a:gd name="connsiteX14" fmla="*/ 2128838 w 2185988"/>
              <a:gd name="connsiteY14" fmla="*/ 452437 h 2171700"/>
              <a:gd name="connsiteX15" fmla="*/ 2138363 w 2185988"/>
              <a:gd name="connsiteY15" fmla="*/ 576262 h 2171700"/>
              <a:gd name="connsiteX16" fmla="*/ 2095501 w 2185988"/>
              <a:gd name="connsiteY16" fmla="*/ 681037 h 2171700"/>
              <a:gd name="connsiteX17" fmla="*/ 2024063 w 2185988"/>
              <a:gd name="connsiteY17" fmla="*/ 781050 h 2171700"/>
              <a:gd name="connsiteX18" fmla="*/ 2085975 w 2185988"/>
              <a:gd name="connsiteY18" fmla="*/ 952500 h 2171700"/>
              <a:gd name="connsiteX19" fmla="*/ 2152650 w 2185988"/>
              <a:gd name="connsiteY19" fmla="*/ 1152525 h 2171700"/>
              <a:gd name="connsiteX20" fmla="*/ 2185988 w 2185988"/>
              <a:gd name="connsiteY20" fmla="*/ 1428750 h 2171700"/>
              <a:gd name="connsiteX21" fmla="*/ 2171700 w 2185988"/>
              <a:gd name="connsiteY21" fmla="*/ 1609725 h 2171700"/>
              <a:gd name="connsiteX22" fmla="*/ 2124075 w 2185988"/>
              <a:gd name="connsiteY22" fmla="*/ 1804987 h 2171700"/>
              <a:gd name="connsiteX23" fmla="*/ 2038350 w 2185988"/>
              <a:gd name="connsiteY23" fmla="*/ 1981200 h 2171700"/>
              <a:gd name="connsiteX24" fmla="*/ 1957388 w 2185988"/>
              <a:gd name="connsiteY24" fmla="*/ 2100262 h 2171700"/>
              <a:gd name="connsiteX25" fmla="*/ 1895475 w 2185988"/>
              <a:gd name="connsiteY25" fmla="*/ 2171700 h 2171700"/>
              <a:gd name="connsiteX0" fmla="*/ 0 w 2185988"/>
              <a:gd name="connsiteY0" fmla="*/ 314325 h 2171700"/>
              <a:gd name="connsiteX1" fmla="*/ 157163 w 2185988"/>
              <a:gd name="connsiteY1" fmla="*/ 185737 h 2171700"/>
              <a:gd name="connsiteX2" fmla="*/ 333375 w 2185988"/>
              <a:gd name="connsiteY2" fmla="*/ 95250 h 2171700"/>
              <a:gd name="connsiteX3" fmla="*/ 495300 w 2185988"/>
              <a:gd name="connsiteY3" fmla="*/ 33337 h 2171700"/>
              <a:gd name="connsiteX4" fmla="*/ 690563 w 2185988"/>
              <a:gd name="connsiteY4" fmla="*/ 0 h 2171700"/>
              <a:gd name="connsiteX5" fmla="*/ 871538 w 2185988"/>
              <a:gd name="connsiteY5" fmla="*/ 4762 h 2171700"/>
              <a:gd name="connsiteX6" fmla="*/ 1066800 w 2185988"/>
              <a:gd name="connsiteY6" fmla="*/ 28575 h 2171700"/>
              <a:gd name="connsiteX7" fmla="*/ 1276350 w 2185988"/>
              <a:gd name="connsiteY7" fmla="*/ 104775 h 2171700"/>
              <a:gd name="connsiteX8" fmla="*/ 1428750 w 2185988"/>
              <a:gd name="connsiteY8" fmla="*/ 171450 h 2171700"/>
              <a:gd name="connsiteX9" fmla="*/ 1571625 w 2185988"/>
              <a:gd name="connsiteY9" fmla="*/ 266700 h 2171700"/>
              <a:gd name="connsiteX10" fmla="*/ 1704975 w 2185988"/>
              <a:gd name="connsiteY10" fmla="*/ 385762 h 2171700"/>
              <a:gd name="connsiteX11" fmla="*/ 1809750 w 2185988"/>
              <a:gd name="connsiteY11" fmla="*/ 328613 h 2171700"/>
              <a:gd name="connsiteX12" fmla="*/ 1976439 w 2185988"/>
              <a:gd name="connsiteY12" fmla="*/ 300038 h 2171700"/>
              <a:gd name="connsiteX13" fmla="*/ 2071687 w 2185988"/>
              <a:gd name="connsiteY13" fmla="*/ 309562 h 2171700"/>
              <a:gd name="connsiteX14" fmla="*/ 2128838 w 2185988"/>
              <a:gd name="connsiteY14" fmla="*/ 452437 h 2171700"/>
              <a:gd name="connsiteX15" fmla="*/ 2138363 w 2185988"/>
              <a:gd name="connsiteY15" fmla="*/ 576262 h 2171700"/>
              <a:gd name="connsiteX16" fmla="*/ 2095501 w 2185988"/>
              <a:gd name="connsiteY16" fmla="*/ 681037 h 2171700"/>
              <a:gd name="connsiteX17" fmla="*/ 2024063 w 2185988"/>
              <a:gd name="connsiteY17" fmla="*/ 781050 h 2171700"/>
              <a:gd name="connsiteX18" fmla="*/ 2085975 w 2185988"/>
              <a:gd name="connsiteY18" fmla="*/ 952500 h 2171700"/>
              <a:gd name="connsiteX19" fmla="*/ 2152650 w 2185988"/>
              <a:gd name="connsiteY19" fmla="*/ 1152525 h 2171700"/>
              <a:gd name="connsiteX20" fmla="*/ 2185988 w 2185988"/>
              <a:gd name="connsiteY20" fmla="*/ 1428750 h 2171700"/>
              <a:gd name="connsiteX21" fmla="*/ 2171700 w 2185988"/>
              <a:gd name="connsiteY21" fmla="*/ 1609725 h 2171700"/>
              <a:gd name="connsiteX22" fmla="*/ 2124075 w 2185988"/>
              <a:gd name="connsiteY22" fmla="*/ 1804987 h 2171700"/>
              <a:gd name="connsiteX23" fmla="*/ 2038350 w 2185988"/>
              <a:gd name="connsiteY23" fmla="*/ 1981200 h 2171700"/>
              <a:gd name="connsiteX24" fmla="*/ 1957388 w 2185988"/>
              <a:gd name="connsiteY24" fmla="*/ 2100262 h 2171700"/>
              <a:gd name="connsiteX25" fmla="*/ 1895475 w 2185988"/>
              <a:gd name="connsiteY25" fmla="*/ 2171700 h 2171700"/>
              <a:gd name="connsiteX0" fmla="*/ 0 w 2185988"/>
              <a:gd name="connsiteY0" fmla="*/ 314325 h 2171700"/>
              <a:gd name="connsiteX1" fmla="*/ 157163 w 2185988"/>
              <a:gd name="connsiteY1" fmla="*/ 185737 h 2171700"/>
              <a:gd name="connsiteX2" fmla="*/ 333375 w 2185988"/>
              <a:gd name="connsiteY2" fmla="*/ 95250 h 2171700"/>
              <a:gd name="connsiteX3" fmla="*/ 495300 w 2185988"/>
              <a:gd name="connsiteY3" fmla="*/ 33337 h 2171700"/>
              <a:gd name="connsiteX4" fmla="*/ 690563 w 2185988"/>
              <a:gd name="connsiteY4" fmla="*/ 0 h 2171700"/>
              <a:gd name="connsiteX5" fmla="*/ 871538 w 2185988"/>
              <a:gd name="connsiteY5" fmla="*/ 4762 h 2171700"/>
              <a:gd name="connsiteX6" fmla="*/ 1066800 w 2185988"/>
              <a:gd name="connsiteY6" fmla="*/ 28575 h 2171700"/>
              <a:gd name="connsiteX7" fmla="*/ 1276350 w 2185988"/>
              <a:gd name="connsiteY7" fmla="*/ 104775 h 2171700"/>
              <a:gd name="connsiteX8" fmla="*/ 1428750 w 2185988"/>
              <a:gd name="connsiteY8" fmla="*/ 171450 h 2171700"/>
              <a:gd name="connsiteX9" fmla="*/ 1571625 w 2185988"/>
              <a:gd name="connsiteY9" fmla="*/ 266700 h 2171700"/>
              <a:gd name="connsiteX10" fmla="*/ 1704975 w 2185988"/>
              <a:gd name="connsiteY10" fmla="*/ 385762 h 2171700"/>
              <a:gd name="connsiteX11" fmla="*/ 1809750 w 2185988"/>
              <a:gd name="connsiteY11" fmla="*/ 328613 h 2171700"/>
              <a:gd name="connsiteX12" fmla="*/ 1976439 w 2185988"/>
              <a:gd name="connsiteY12" fmla="*/ 300038 h 2171700"/>
              <a:gd name="connsiteX13" fmla="*/ 2128838 w 2185988"/>
              <a:gd name="connsiteY13" fmla="*/ 452437 h 2171700"/>
              <a:gd name="connsiteX14" fmla="*/ 2138363 w 2185988"/>
              <a:gd name="connsiteY14" fmla="*/ 576262 h 2171700"/>
              <a:gd name="connsiteX15" fmla="*/ 2095501 w 2185988"/>
              <a:gd name="connsiteY15" fmla="*/ 681037 h 2171700"/>
              <a:gd name="connsiteX16" fmla="*/ 2024063 w 2185988"/>
              <a:gd name="connsiteY16" fmla="*/ 781050 h 2171700"/>
              <a:gd name="connsiteX17" fmla="*/ 2085975 w 2185988"/>
              <a:gd name="connsiteY17" fmla="*/ 952500 h 2171700"/>
              <a:gd name="connsiteX18" fmla="*/ 2152650 w 2185988"/>
              <a:gd name="connsiteY18" fmla="*/ 1152525 h 2171700"/>
              <a:gd name="connsiteX19" fmla="*/ 2185988 w 2185988"/>
              <a:gd name="connsiteY19" fmla="*/ 1428750 h 2171700"/>
              <a:gd name="connsiteX20" fmla="*/ 2171700 w 2185988"/>
              <a:gd name="connsiteY20" fmla="*/ 1609725 h 2171700"/>
              <a:gd name="connsiteX21" fmla="*/ 2124075 w 2185988"/>
              <a:gd name="connsiteY21" fmla="*/ 1804987 h 2171700"/>
              <a:gd name="connsiteX22" fmla="*/ 2038350 w 2185988"/>
              <a:gd name="connsiteY22" fmla="*/ 1981200 h 2171700"/>
              <a:gd name="connsiteX23" fmla="*/ 1957388 w 2185988"/>
              <a:gd name="connsiteY23" fmla="*/ 2100262 h 2171700"/>
              <a:gd name="connsiteX24" fmla="*/ 1895475 w 2185988"/>
              <a:gd name="connsiteY24" fmla="*/ 2171700 h 2171700"/>
              <a:gd name="connsiteX0" fmla="*/ 0 w 2185988"/>
              <a:gd name="connsiteY0" fmla="*/ 314325 h 2171700"/>
              <a:gd name="connsiteX1" fmla="*/ 157163 w 2185988"/>
              <a:gd name="connsiteY1" fmla="*/ 185737 h 2171700"/>
              <a:gd name="connsiteX2" fmla="*/ 333375 w 2185988"/>
              <a:gd name="connsiteY2" fmla="*/ 95250 h 2171700"/>
              <a:gd name="connsiteX3" fmla="*/ 495300 w 2185988"/>
              <a:gd name="connsiteY3" fmla="*/ 33337 h 2171700"/>
              <a:gd name="connsiteX4" fmla="*/ 690563 w 2185988"/>
              <a:gd name="connsiteY4" fmla="*/ 0 h 2171700"/>
              <a:gd name="connsiteX5" fmla="*/ 871538 w 2185988"/>
              <a:gd name="connsiteY5" fmla="*/ 4762 h 2171700"/>
              <a:gd name="connsiteX6" fmla="*/ 1066800 w 2185988"/>
              <a:gd name="connsiteY6" fmla="*/ 28575 h 2171700"/>
              <a:gd name="connsiteX7" fmla="*/ 1276350 w 2185988"/>
              <a:gd name="connsiteY7" fmla="*/ 104775 h 2171700"/>
              <a:gd name="connsiteX8" fmla="*/ 1428750 w 2185988"/>
              <a:gd name="connsiteY8" fmla="*/ 171450 h 2171700"/>
              <a:gd name="connsiteX9" fmla="*/ 1571625 w 2185988"/>
              <a:gd name="connsiteY9" fmla="*/ 266700 h 2171700"/>
              <a:gd name="connsiteX10" fmla="*/ 1704975 w 2185988"/>
              <a:gd name="connsiteY10" fmla="*/ 385762 h 2171700"/>
              <a:gd name="connsiteX11" fmla="*/ 1809750 w 2185988"/>
              <a:gd name="connsiteY11" fmla="*/ 328613 h 2171700"/>
              <a:gd name="connsiteX12" fmla="*/ 1976439 w 2185988"/>
              <a:gd name="connsiteY12" fmla="*/ 300038 h 2171700"/>
              <a:gd name="connsiteX13" fmla="*/ 2128838 w 2185988"/>
              <a:gd name="connsiteY13" fmla="*/ 452437 h 2171700"/>
              <a:gd name="connsiteX14" fmla="*/ 2138363 w 2185988"/>
              <a:gd name="connsiteY14" fmla="*/ 576262 h 2171700"/>
              <a:gd name="connsiteX15" fmla="*/ 2095501 w 2185988"/>
              <a:gd name="connsiteY15" fmla="*/ 681037 h 2171700"/>
              <a:gd name="connsiteX16" fmla="*/ 2024063 w 2185988"/>
              <a:gd name="connsiteY16" fmla="*/ 781050 h 2171700"/>
              <a:gd name="connsiteX17" fmla="*/ 2105025 w 2185988"/>
              <a:gd name="connsiteY17" fmla="*/ 962025 h 2171700"/>
              <a:gd name="connsiteX18" fmla="*/ 2152650 w 2185988"/>
              <a:gd name="connsiteY18" fmla="*/ 1152525 h 2171700"/>
              <a:gd name="connsiteX19" fmla="*/ 2185988 w 2185988"/>
              <a:gd name="connsiteY19" fmla="*/ 1428750 h 2171700"/>
              <a:gd name="connsiteX20" fmla="*/ 2171700 w 2185988"/>
              <a:gd name="connsiteY20" fmla="*/ 1609725 h 2171700"/>
              <a:gd name="connsiteX21" fmla="*/ 2124075 w 2185988"/>
              <a:gd name="connsiteY21" fmla="*/ 1804987 h 2171700"/>
              <a:gd name="connsiteX22" fmla="*/ 2038350 w 2185988"/>
              <a:gd name="connsiteY22" fmla="*/ 1981200 h 2171700"/>
              <a:gd name="connsiteX23" fmla="*/ 1957388 w 2185988"/>
              <a:gd name="connsiteY23" fmla="*/ 2100262 h 2171700"/>
              <a:gd name="connsiteX24" fmla="*/ 1895475 w 2185988"/>
              <a:gd name="connsiteY24" fmla="*/ 2171700 h 2171700"/>
              <a:gd name="connsiteX0" fmla="*/ 0 w 2185988"/>
              <a:gd name="connsiteY0" fmla="*/ 314325 h 2171700"/>
              <a:gd name="connsiteX1" fmla="*/ 157163 w 2185988"/>
              <a:gd name="connsiteY1" fmla="*/ 185737 h 2171700"/>
              <a:gd name="connsiteX2" fmla="*/ 333375 w 2185988"/>
              <a:gd name="connsiteY2" fmla="*/ 95250 h 2171700"/>
              <a:gd name="connsiteX3" fmla="*/ 495300 w 2185988"/>
              <a:gd name="connsiteY3" fmla="*/ 33337 h 2171700"/>
              <a:gd name="connsiteX4" fmla="*/ 690563 w 2185988"/>
              <a:gd name="connsiteY4" fmla="*/ 0 h 2171700"/>
              <a:gd name="connsiteX5" fmla="*/ 871538 w 2185988"/>
              <a:gd name="connsiteY5" fmla="*/ 4762 h 2171700"/>
              <a:gd name="connsiteX6" fmla="*/ 1066800 w 2185988"/>
              <a:gd name="connsiteY6" fmla="*/ 28575 h 2171700"/>
              <a:gd name="connsiteX7" fmla="*/ 1276350 w 2185988"/>
              <a:gd name="connsiteY7" fmla="*/ 104775 h 2171700"/>
              <a:gd name="connsiteX8" fmla="*/ 1428750 w 2185988"/>
              <a:gd name="connsiteY8" fmla="*/ 171450 h 2171700"/>
              <a:gd name="connsiteX9" fmla="*/ 1571625 w 2185988"/>
              <a:gd name="connsiteY9" fmla="*/ 266700 h 2171700"/>
              <a:gd name="connsiteX10" fmla="*/ 1704975 w 2185988"/>
              <a:gd name="connsiteY10" fmla="*/ 385762 h 2171700"/>
              <a:gd name="connsiteX11" fmla="*/ 1809750 w 2185988"/>
              <a:gd name="connsiteY11" fmla="*/ 328613 h 2171700"/>
              <a:gd name="connsiteX12" fmla="*/ 1976439 w 2185988"/>
              <a:gd name="connsiteY12" fmla="*/ 300038 h 2171700"/>
              <a:gd name="connsiteX13" fmla="*/ 2128838 w 2185988"/>
              <a:gd name="connsiteY13" fmla="*/ 452437 h 2171700"/>
              <a:gd name="connsiteX14" fmla="*/ 2138363 w 2185988"/>
              <a:gd name="connsiteY14" fmla="*/ 576262 h 2171700"/>
              <a:gd name="connsiteX15" fmla="*/ 2095501 w 2185988"/>
              <a:gd name="connsiteY15" fmla="*/ 681037 h 2171700"/>
              <a:gd name="connsiteX16" fmla="*/ 2024063 w 2185988"/>
              <a:gd name="connsiteY16" fmla="*/ 781050 h 2171700"/>
              <a:gd name="connsiteX17" fmla="*/ 2105025 w 2185988"/>
              <a:gd name="connsiteY17" fmla="*/ 962025 h 2171700"/>
              <a:gd name="connsiteX18" fmla="*/ 2176463 w 2185988"/>
              <a:gd name="connsiteY18" fmla="*/ 1214437 h 2171700"/>
              <a:gd name="connsiteX19" fmla="*/ 2185988 w 2185988"/>
              <a:gd name="connsiteY19" fmla="*/ 1428750 h 2171700"/>
              <a:gd name="connsiteX20" fmla="*/ 2171700 w 2185988"/>
              <a:gd name="connsiteY20" fmla="*/ 1609725 h 2171700"/>
              <a:gd name="connsiteX21" fmla="*/ 2124075 w 2185988"/>
              <a:gd name="connsiteY21" fmla="*/ 1804987 h 2171700"/>
              <a:gd name="connsiteX22" fmla="*/ 2038350 w 2185988"/>
              <a:gd name="connsiteY22" fmla="*/ 1981200 h 2171700"/>
              <a:gd name="connsiteX23" fmla="*/ 1957388 w 2185988"/>
              <a:gd name="connsiteY23" fmla="*/ 2100262 h 2171700"/>
              <a:gd name="connsiteX24" fmla="*/ 1895475 w 2185988"/>
              <a:gd name="connsiteY24" fmla="*/ 2171700 h 2171700"/>
              <a:gd name="connsiteX0" fmla="*/ 0 w 2185988"/>
              <a:gd name="connsiteY0" fmla="*/ 314325 h 2262286"/>
              <a:gd name="connsiteX1" fmla="*/ 157163 w 2185988"/>
              <a:gd name="connsiteY1" fmla="*/ 185737 h 2262286"/>
              <a:gd name="connsiteX2" fmla="*/ 333375 w 2185988"/>
              <a:gd name="connsiteY2" fmla="*/ 95250 h 2262286"/>
              <a:gd name="connsiteX3" fmla="*/ 495300 w 2185988"/>
              <a:gd name="connsiteY3" fmla="*/ 33337 h 2262286"/>
              <a:gd name="connsiteX4" fmla="*/ 690563 w 2185988"/>
              <a:gd name="connsiteY4" fmla="*/ 0 h 2262286"/>
              <a:gd name="connsiteX5" fmla="*/ 871538 w 2185988"/>
              <a:gd name="connsiteY5" fmla="*/ 4762 h 2262286"/>
              <a:gd name="connsiteX6" fmla="*/ 1066800 w 2185988"/>
              <a:gd name="connsiteY6" fmla="*/ 28575 h 2262286"/>
              <a:gd name="connsiteX7" fmla="*/ 1276350 w 2185988"/>
              <a:gd name="connsiteY7" fmla="*/ 104775 h 2262286"/>
              <a:gd name="connsiteX8" fmla="*/ 1428750 w 2185988"/>
              <a:gd name="connsiteY8" fmla="*/ 171450 h 2262286"/>
              <a:gd name="connsiteX9" fmla="*/ 1571625 w 2185988"/>
              <a:gd name="connsiteY9" fmla="*/ 266700 h 2262286"/>
              <a:gd name="connsiteX10" fmla="*/ 1704975 w 2185988"/>
              <a:gd name="connsiteY10" fmla="*/ 385762 h 2262286"/>
              <a:gd name="connsiteX11" fmla="*/ 1809750 w 2185988"/>
              <a:gd name="connsiteY11" fmla="*/ 328613 h 2262286"/>
              <a:gd name="connsiteX12" fmla="*/ 1976439 w 2185988"/>
              <a:gd name="connsiteY12" fmla="*/ 300038 h 2262286"/>
              <a:gd name="connsiteX13" fmla="*/ 2128838 w 2185988"/>
              <a:gd name="connsiteY13" fmla="*/ 452437 h 2262286"/>
              <a:gd name="connsiteX14" fmla="*/ 2138363 w 2185988"/>
              <a:gd name="connsiteY14" fmla="*/ 576262 h 2262286"/>
              <a:gd name="connsiteX15" fmla="*/ 2095501 w 2185988"/>
              <a:gd name="connsiteY15" fmla="*/ 681037 h 2262286"/>
              <a:gd name="connsiteX16" fmla="*/ 2024063 w 2185988"/>
              <a:gd name="connsiteY16" fmla="*/ 781050 h 2262286"/>
              <a:gd name="connsiteX17" fmla="*/ 2105025 w 2185988"/>
              <a:gd name="connsiteY17" fmla="*/ 962025 h 2262286"/>
              <a:gd name="connsiteX18" fmla="*/ 2176463 w 2185988"/>
              <a:gd name="connsiteY18" fmla="*/ 1214437 h 2262286"/>
              <a:gd name="connsiteX19" fmla="*/ 2185988 w 2185988"/>
              <a:gd name="connsiteY19" fmla="*/ 1428750 h 2262286"/>
              <a:gd name="connsiteX20" fmla="*/ 2171700 w 2185988"/>
              <a:gd name="connsiteY20" fmla="*/ 1609725 h 2262286"/>
              <a:gd name="connsiteX21" fmla="*/ 2124075 w 2185988"/>
              <a:gd name="connsiteY21" fmla="*/ 1804987 h 2262286"/>
              <a:gd name="connsiteX22" fmla="*/ 2038350 w 2185988"/>
              <a:gd name="connsiteY22" fmla="*/ 1981200 h 2262286"/>
              <a:gd name="connsiteX23" fmla="*/ 1957388 w 2185988"/>
              <a:gd name="connsiteY23" fmla="*/ 2100262 h 2262286"/>
              <a:gd name="connsiteX24" fmla="*/ 1833006 w 2185988"/>
              <a:gd name="connsiteY24" fmla="*/ 2262286 h 2262286"/>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571625 w 2185988"/>
              <a:gd name="connsiteY9" fmla="*/ 266700 h 2231435"/>
              <a:gd name="connsiteX10" fmla="*/ 1704975 w 2185988"/>
              <a:gd name="connsiteY10" fmla="*/ 385762 h 2231435"/>
              <a:gd name="connsiteX11" fmla="*/ 1809750 w 2185988"/>
              <a:gd name="connsiteY11" fmla="*/ 328613 h 2231435"/>
              <a:gd name="connsiteX12" fmla="*/ 1976439 w 2185988"/>
              <a:gd name="connsiteY12" fmla="*/ 300038 h 2231435"/>
              <a:gd name="connsiteX13" fmla="*/ 2128838 w 2185988"/>
              <a:gd name="connsiteY13" fmla="*/ 452437 h 2231435"/>
              <a:gd name="connsiteX14" fmla="*/ 2138363 w 2185988"/>
              <a:gd name="connsiteY14" fmla="*/ 576262 h 2231435"/>
              <a:gd name="connsiteX15" fmla="*/ 2095501 w 2185988"/>
              <a:gd name="connsiteY15" fmla="*/ 681037 h 2231435"/>
              <a:gd name="connsiteX16" fmla="*/ 2024063 w 2185988"/>
              <a:gd name="connsiteY16" fmla="*/ 781050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614283 w 2185988"/>
              <a:gd name="connsiteY9" fmla="*/ 93929 h 2231435"/>
              <a:gd name="connsiteX10" fmla="*/ 1704975 w 2185988"/>
              <a:gd name="connsiteY10" fmla="*/ 385762 h 2231435"/>
              <a:gd name="connsiteX11" fmla="*/ 1809750 w 2185988"/>
              <a:gd name="connsiteY11" fmla="*/ 328613 h 2231435"/>
              <a:gd name="connsiteX12" fmla="*/ 1976439 w 2185988"/>
              <a:gd name="connsiteY12" fmla="*/ 300038 h 2231435"/>
              <a:gd name="connsiteX13" fmla="*/ 2128838 w 2185988"/>
              <a:gd name="connsiteY13" fmla="*/ 452437 h 2231435"/>
              <a:gd name="connsiteX14" fmla="*/ 2138363 w 2185988"/>
              <a:gd name="connsiteY14" fmla="*/ 576262 h 2231435"/>
              <a:gd name="connsiteX15" fmla="*/ 2095501 w 2185988"/>
              <a:gd name="connsiteY15" fmla="*/ 681037 h 2231435"/>
              <a:gd name="connsiteX16" fmla="*/ 2024063 w 2185988"/>
              <a:gd name="connsiteY16" fmla="*/ 781050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614283 w 2185988"/>
              <a:gd name="connsiteY9" fmla="*/ 93929 h 2231435"/>
              <a:gd name="connsiteX10" fmla="*/ 1851230 w 2185988"/>
              <a:gd name="connsiteY10" fmla="*/ 89582 h 2231435"/>
              <a:gd name="connsiteX11" fmla="*/ 1809750 w 2185988"/>
              <a:gd name="connsiteY11" fmla="*/ 328613 h 2231435"/>
              <a:gd name="connsiteX12" fmla="*/ 1976439 w 2185988"/>
              <a:gd name="connsiteY12" fmla="*/ 300038 h 2231435"/>
              <a:gd name="connsiteX13" fmla="*/ 2128838 w 2185988"/>
              <a:gd name="connsiteY13" fmla="*/ 452437 h 2231435"/>
              <a:gd name="connsiteX14" fmla="*/ 2138363 w 2185988"/>
              <a:gd name="connsiteY14" fmla="*/ 576262 h 2231435"/>
              <a:gd name="connsiteX15" fmla="*/ 2095501 w 2185988"/>
              <a:gd name="connsiteY15" fmla="*/ 681037 h 2231435"/>
              <a:gd name="connsiteX16" fmla="*/ 2024063 w 2185988"/>
              <a:gd name="connsiteY16" fmla="*/ 781050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614283 w 2185988"/>
              <a:gd name="connsiteY9" fmla="*/ 93929 h 2231435"/>
              <a:gd name="connsiteX10" fmla="*/ 1851230 w 2185988"/>
              <a:gd name="connsiteY10" fmla="*/ 89582 h 2231435"/>
              <a:gd name="connsiteX11" fmla="*/ 2004758 w 2185988"/>
              <a:gd name="connsiteY11" fmla="*/ 106478 h 2231435"/>
              <a:gd name="connsiteX12" fmla="*/ 1976439 w 2185988"/>
              <a:gd name="connsiteY12" fmla="*/ 300038 h 2231435"/>
              <a:gd name="connsiteX13" fmla="*/ 2128838 w 2185988"/>
              <a:gd name="connsiteY13" fmla="*/ 452437 h 2231435"/>
              <a:gd name="connsiteX14" fmla="*/ 2138363 w 2185988"/>
              <a:gd name="connsiteY14" fmla="*/ 576262 h 2231435"/>
              <a:gd name="connsiteX15" fmla="*/ 2095501 w 2185988"/>
              <a:gd name="connsiteY15" fmla="*/ 681037 h 2231435"/>
              <a:gd name="connsiteX16" fmla="*/ 2024063 w 2185988"/>
              <a:gd name="connsiteY16" fmla="*/ 781050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614283 w 2185988"/>
              <a:gd name="connsiteY9" fmla="*/ 93929 h 2231435"/>
              <a:gd name="connsiteX10" fmla="*/ 1851230 w 2185988"/>
              <a:gd name="connsiteY10" fmla="*/ 89582 h 2231435"/>
              <a:gd name="connsiteX11" fmla="*/ 2004758 w 2185988"/>
              <a:gd name="connsiteY11" fmla="*/ 106478 h 2231435"/>
              <a:gd name="connsiteX12" fmla="*/ 2092224 w 2185988"/>
              <a:gd name="connsiteY12" fmla="*/ 213652 h 2231435"/>
              <a:gd name="connsiteX13" fmla="*/ 2128838 w 2185988"/>
              <a:gd name="connsiteY13" fmla="*/ 452437 h 2231435"/>
              <a:gd name="connsiteX14" fmla="*/ 2138363 w 2185988"/>
              <a:gd name="connsiteY14" fmla="*/ 576262 h 2231435"/>
              <a:gd name="connsiteX15" fmla="*/ 2095501 w 2185988"/>
              <a:gd name="connsiteY15" fmla="*/ 681037 h 2231435"/>
              <a:gd name="connsiteX16" fmla="*/ 2024063 w 2185988"/>
              <a:gd name="connsiteY16" fmla="*/ 781050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614283 w 2185988"/>
              <a:gd name="connsiteY9" fmla="*/ 93929 h 2231435"/>
              <a:gd name="connsiteX10" fmla="*/ 1851230 w 2185988"/>
              <a:gd name="connsiteY10" fmla="*/ 89582 h 2231435"/>
              <a:gd name="connsiteX11" fmla="*/ 2004758 w 2185988"/>
              <a:gd name="connsiteY11" fmla="*/ 106478 h 2231435"/>
              <a:gd name="connsiteX12" fmla="*/ 2092224 w 2185988"/>
              <a:gd name="connsiteY12" fmla="*/ 213652 h 2231435"/>
              <a:gd name="connsiteX13" fmla="*/ 2177590 w 2185988"/>
              <a:gd name="connsiteY13" fmla="*/ 427755 h 2231435"/>
              <a:gd name="connsiteX14" fmla="*/ 2138363 w 2185988"/>
              <a:gd name="connsiteY14" fmla="*/ 576262 h 2231435"/>
              <a:gd name="connsiteX15" fmla="*/ 2095501 w 2185988"/>
              <a:gd name="connsiteY15" fmla="*/ 681037 h 2231435"/>
              <a:gd name="connsiteX16" fmla="*/ 2024063 w 2185988"/>
              <a:gd name="connsiteY16" fmla="*/ 781050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614283 w 2185988"/>
              <a:gd name="connsiteY9" fmla="*/ 93929 h 2231435"/>
              <a:gd name="connsiteX10" fmla="*/ 1851230 w 2185988"/>
              <a:gd name="connsiteY10" fmla="*/ 89582 h 2231435"/>
              <a:gd name="connsiteX11" fmla="*/ 2004758 w 2185988"/>
              <a:gd name="connsiteY11" fmla="*/ 106478 h 2231435"/>
              <a:gd name="connsiteX12" fmla="*/ 2092224 w 2185988"/>
              <a:gd name="connsiteY12" fmla="*/ 213652 h 2231435"/>
              <a:gd name="connsiteX13" fmla="*/ 2177590 w 2185988"/>
              <a:gd name="connsiteY13" fmla="*/ 427755 h 2231435"/>
              <a:gd name="connsiteX14" fmla="*/ 2138363 w 2185988"/>
              <a:gd name="connsiteY14" fmla="*/ 576262 h 2231435"/>
              <a:gd name="connsiteX15" fmla="*/ 2095501 w 2185988"/>
              <a:gd name="connsiteY15" fmla="*/ 681037 h 2231435"/>
              <a:gd name="connsiteX16" fmla="*/ 1987499 w 2185988"/>
              <a:gd name="connsiteY16" fmla="*/ 756368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614283 w 2185988"/>
              <a:gd name="connsiteY9" fmla="*/ 93929 h 2231435"/>
              <a:gd name="connsiteX10" fmla="*/ 1851230 w 2185988"/>
              <a:gd name="connsiteY10" fmla="*/ 89582 h 2231435"/>
              <a:gd name="connsiteX11" fmla="*/ 2004758 w 2185988"/>
              <a:gd name="connsiteY11" fmla="*/ 106478 h 2231435"/>
              <a:gd name="connsiteX12" fmla="*/ 2092224 w 2185988"/>
              <a:gd name="connsiteY12" fmla="*/ 213652 h 2231435"/>
              <a:gd name="connsiteX13" fmla="*/ 2177590 w 2185988"/>
              <a:gd name="connsiteY13" fmla="*/ 427755 h 2231435"/>
              <a:gd name="connsiteX14" fmla="*/ 2138363 w 2185988"/>
              <a:gd name="connsiteY14" fmla="*/ 576262 h 2231435"/>
              <a:gd name="connsiteX15" fmla="*/ 2095501 w 2185988"/>
              <a:gd name="connsiteY15" fmla="*/ 681037 h 2231435"/>
              <a:gd name="connsiteX16" fmla="*/ 2005780 w 2185988"/>
              <a:gd name="connsiteY16" fmla="*/ 737857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614283 w 2185988"/>
              <a:gd name="connsiteY9" fmla="*/ 93929 h 2231435"/>
              <a:gd name="connsiteX10" fmla="*/ 1851230 w 2185988"/>
              <a:gd name="connsiteY10" fmla="*/ 89582 h 2231435"/>
              <a:gd name="connsiteX11" fmla="*/ 2004758 w 2185988"/>
              <a:gd name="connsiteY11" fmla="*/ 106478 h 2231435"/>
              <a:gd name="connsiteX12" fmla="*/ 2092224 w 2185988"/>
              <a:gd name="connsiteY12" fmla="*/ 213652 h 2231435"/>
              <a:gd name="connsiteX13" fmla="*/ 2177590 w 2185988"/>
              <a:gd name="connsiteY13" fmla="*/ 427755 h 2231435"/>
              <a:gd name="connsiteX14" fmla="*/ 2138363 w 2185988"/>
              <a:gd name="connsiteY14" fmla="*/ 576262 h 2231435"/>
              <a:gd name="connsiteX15" fmla="*/ 2101596 w 2185988"/>
              <a:gd name="connsiteY15" fmla="*/ 631674 h 2231435"/>
              <a:gd name="connsiteX16" fmla="*/ 2005780 w 2185988"/>
              <a:gd name="connsiteY16" fmla="*/ 737857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614283 w 2185988"/>
              <a:gd name="connsiteY9" fmla="*/ 93929 h 2231435"/>
              <a:gd name="connsiteX10" fmla="*/ 1851230 w 2185988"/>
              <a:gd name="connsiteY10" fmla="*/ 89582 h 2231435"/>
              <a:gd name="connsiteX11" fmla="*/ 2004758 w 2185988"/>
              <a:gd name="connsiteY11" fmla="*/ 106478 h 2231435"/>
              <a:gd name="connsiteX12" fmla="*/ 2092224 w 2185988"/>
              <a:gd name="connsiteY12" fmla="*/ 213652 h 2231435"/>
              <a:gd name="connsiteX13" fmla="*/ 2177590 w 2185988"/>
              <a:gd name="connsiteY13" fmla="*/ 427755 h 2231435"/>
              <a:gd name="connsiteX14" fmla="*/ 2144457 w 2185988"/>
              <a:gd name="connsiteY14" fmla="*/ 514558 h 2231435"/>
              <a:gd name="connsiteX15" fmla="*/ 2101596 w 2185988"/>
              <a:gd name="connsiteY15" fmla="*/ 631674 h 2231435"/>
              <a:gd name="connsiteX16" fmla="*/ 2005780 w 2185988"/>
              <a:gd name="connsiteY16" fmla="*/ 737857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614283 w 2185988"/>
              <a:gd name="connsiteY9" fmla="*/ 93929 h 2231435"/>
              <a:gd name="connsiteX10" fmla="*/ 1851230 w 2185988"/>
              <a:gd name="connsiteY10" fmla="*/ 89582 h 2231435"/>
              <a:gd name="connsiteX11" fmla="*/ 2004758 w 2185988"/>
              <a:gd name="connsiteY11" fmla="*/ 106478 h 2231435"/>
              <a:gd name="connsiteX12" fmla="*/ 2092224 w 2185988"/>
              <a:gd name="connsiteY12" fmla="*/ 213652 h 2231435"/>
              <a:gd name="connsiteX13" fmla="*/ 2177590 w 2185988"/>
              <a:gd name="connsiteY13" fmla="*/ 335200 h 2231435"/>
              <a:gd name="connsiteX14" fmla="*/ 2144457 w 2185988"/>
              <a:gd name="connsiteY14" fmla="*/ 514558 h 2231435"/>
              <a:gd name="connsiteX15" fmla="*/ 2101596 w 2185988"/>
              <a:gd name="connsiteY15" fmla="*/ 631674 h 2231435"/>
              <a:gd name="connsiteX16" fmla="*/ 2005780 w 2185988"/>
              <a:gd name="connsiteY16" fmla="*/ 737857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614283 w 2185988"/>
              <a:gd name="connsiteY9" fmla="*/ 93929 h 2231435"/>
              <a:gd name="connsiteX10" fmla="*/ 1851230 w 2185988"/>
              <a:gd name="connsiteY10" fmla="*/ 89582 h 2231435"/>
              <a:gd name="connsiteX11" fmla="*/ 2004758 w 2185988"/>
              <a:gd name="connsiteY11" fmla="*/ 106478 h 2231435"/>
              <a:gd name="connsiteX12" fmla="*/ 2086130 w 2185988"/>
              <a:gd name="connsiteY12" fmla="*/ 151948 h 2231435"/>
              <a:gd name="connsiteX13" fmla="*/ 2177590 w 2185988"/>
              <a:gd name="connsiteY13" fmla="*/ 335200 h 2231435"/>
              <a:gd name="connsiteX14" fmla="*/ 2144457 w 2185988"/>
              <a:gd name="connsiteY14" fmla="*/ 514558 h 2231435"/>
              <a:gd name="connsiteX15" fmla="*/ 2101596 w 2185988"/>
              <a:gd name="connsiteY15" fmla="*/ 631674 h 2231435"/>
              <a:gd name="connsiteX16" fmla="*/ 2005780 w 2185988"/>
              <a:gd name="connsiteY16" fmla="*/ 737857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614283 w 2185988"/>
              <a:gd name="connsiteY9" fmla="*/ 93929 h 2231435"/>
              <a:gd name="connsiteX10" fmla="*/ 1820761 w 2185988"/>
              <a:gd name="connsiteY10" fmla="*/ 64900 h 2231435"/>
              <a:gd name="connsiteX11" fmla="*/ 2004758 w 2185988"/>
              <a:gd name="connsiteY11" fmla="*/ 106478 h 2231435"/>
              <a:gd name="connsiteX12" fmla="*/ 2086130 w 2185988"/>
              <a:gd name="connsiteY12" fmla="*/ 151948 h 2231435"/>
              <a:gd name="connsiteX13" fmla="*/ 2177590 w 2185988"/>
              <a:gd name="connsiteY13" fmla="*/ 335200 h 2231435"/>
              <a:gd name="connsiteX14" fmla="*/ 2144457 w 2185988"/>
              <a:gd name="connsiteY14" fmla="*/ 514558 h 2231435"/>
              <a:gd name="connsiteX15" fmla="*/ 2101596 w 2185988"/>
              <a:gd name="connsiteY15" fmla="*/ 631674 h 2231435"/>
              <a:gd name="connsiteX16" fmla="*/ 2005780 w 2185988"/>
              <a:gd name="connsiteY16" fmla="*/ 737857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614283 w 2185988"/>
              <a:gd name="connsiteY9" fmla="*/ 93929 h 2231435"/>
              <a:gd name="connsiteX10" fmla="*/ 1820761 w 2185988"/>
              <a:gd name="connsiteY10" fmla="*/ 64900 h 2231435"/>
              <a:gd name="connsiteX11" fmla="*/ 1980382 w 2185988"/>
              <a:gd name="connsiteY11" fmla="*/ 75626 h 2231435"/>
              <a:gd name="connsiteX12" fmla="*/ 2086130 w 2185988"/>
              <a:gd name="connsiteY12" fmla="*/ 151948 h 2231435"/>
              <a:gd name="connsiteX13" fmla="*/ 2177590 w 2185988"/>
              <a:gd name="connsiteY13" fmla="*/ 335200 h 2231435"/>
              <a:gd name="connsiteX14" fmla="*/ 2144457 w 2185988"/>
              <a:gd name="connsiteY14" fmla="*/ 514558 h 2231435"/>
              <a:gd name="connsiteX15" fmla="*/ 2101596 w 2185988"/>
              <a:gd name="connsiteY15" fmla="*/ 631674 h 2231435"/>
              <a:gd name="connsiteX16" fmla="*/ 2005780 w 2185988"/>
              <a:gd name="connsiteY16" fmla="*/ 737857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614283 w 2185988"/>
              <a:gd name="connsiteY9" fmla="*/ 93929 h 2231435"/>
              <a:gd name="connsiteX10" fmla="*/ 1820761 w 2185988"/>
              <a:gd name="connsiteY10" fmla="*/ 64900 h 2231435"/>
              <a:gd name="connsiteX11" fmla="*/ 1992570 w 2185988"/>
              <a:gd name="connsiteY11" fmla="*/ 81797 h 2231435"/>
              <a:gd name="connsiteX12" fmla="*/ 2086130 w 2185988"/>
              <a:gd name="connsiteY12" fmla="*/ 151948 h 2231435"/>
              <a:gd name="connsiteX13" fmla="*/ 2177590 w 2185988"/>
              <a:gd name="connsiteY13" fmla="*/ 335200 h 2231435"/>
              <a:gd name="connsiteX14" fmla="*/ 2144457 w 2185988"/>
              <a:gd name="connsiteY14" fmla="*/ 514558 h 2231435"/>
              <a:gd name="connsiteX15" fmla="*/ 2101596 w 2185988"/>
              <a:gd name="connsiteY15" fmla="*/ 631674 h 2231435"/>
              <a:gd name="connsiteX16" fmla="*/ 2005780 w 2185988"/>
              <a:gd name="connsiteY16" fmla="*/ 737857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614283 w 2185988"/>
              <a:gd name="connsiteY9" fmla="*/ 93929 h 2231435"/>
              <a:gd name="connsiteX10" fmla="*/ 1820761 w 2185988"/>
              <a:gd name="connsiteY10" fmla="*/ 64900 h 2231435"/>
              <a:gd name="connsiteX11" fmla="*/ 1992570 w 2185988"/>
              <a:gd name="connsiteY11" fmla="*/ 81797 h 2231435"/>
              <a:gd name="connsiteX12" fmla="*/ 2104411 w 2185988"/>
              <a:gd name="connsiteY12" fmla="*/ 176630 h 2231435"/>
              <a:gd name="connsiteX13" fmla="*/ 2177590 w 2185988"/>
              <a:gd name="connsiteY13" fmla="*/ 335200 h 2231435"/>
              <a:gd name="connsiteX14" fmla="*/ 2144457 w 2185988"/>
              <a:gd name="connsiteY14" fmla="*/ 514558 h 2231435"/>
              <a:gd name="connsiteX15" fmla="*/ 2101596 w 2185988"/>
              <a:gd name="connsiteY15" fmla="*/ 631674 h 2231435"/>
              <a:gd name="connsiteX16" fmla="*/ 2005780 w 2185988"/>
              <a:gd name="connsiteY16" fmla="*/ 737857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614283 w 2185988"/>
              <a:gd name="connsiteY9" fmla="*/ 93929 h 2231435"/>
              <a:gd name="connsiteX10" fmla="*/ 1832949 w 2185988"/>
              <a:gd name="connsiteY10" fmla="*/ 15537 h 2231435"/>
              <a:gd name="connsiteX11" fmla="*/ 1992570 w 2185988"/>
              <a:gd name="connsiteY11" fmla="*/ 81797 h 2231435"/>
              <a:gd name="connsiteX12" fmla="*/ 2104411 w 2185988"/>
              <a:gd name="connsiteY12" fmla="*/ 176630 h 2231435"/>
              <a:gd name="connsiteX13" fmla="*/ 2177590 w 2185988"/>
              <a:gd name="connsiteY13" fmla="*/ 335200 h 2231435"/>
              <a:gd name="connsiteX14" fmla="*/ 2144457 w 2185988"/>
              <a:gd name="connsiteY14" fmla="*/ 514558 h 2231435"/>
              <a:gd name="connsiteX15" fmla="*/ 2101596 w 2185988"/>
              <a:gd name="connsiteY15" fmla="*/ 631674 h 2231435"/>
              <a:gd name="connsiteX16" fmla="*/ 2005780 w 2185988"/>
              <a:gd name="connsiteY16" fmla="*/ 737857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614283 w 2185988"/>
              <a:gd name="connsiteY9" fmla="*/ 93929 h 2231435"/>
              <a:gd name="connsiteX10" fmla="*/ 1832949 w 2185988"/>
              <a:gd name="connsiteY10" fmla="*/ 15537 h 2231435"/>
              <a:gd name="connsiteX11" fmla="*/ 1998663 w 2185988"/>
              <a:gd name="connsiteY11" fmla="*/ 44774 h 2231435"/>
              <a:gd name="connsiteX12" fmla="*/ 2104411 w 2185988"/>
              <a:gd name="connsiteY12" fmla="*/ 176630 h 2231435"/>
              <a:gd name="connsiteX13" fmla="*/ 2177590 w 2185988"/>
              <a:gd name="connsiteY13" fmla="*/ 335200 h 2231435"/>
              <a:gd name="connsiteX14" fmla="*/ 2144457 w 2185988"/>
              <a:gd name="connsiteY14" fmla="*/ 514558 h 2231435"/>
              <a:gd name="connsiteX15" fmla="*/ 2101596 w 2185988"/>
              <a:gd name="connsiteY15" fmla="*/ 631674 h 2231435"/>
              <a:gd name="connsiteX16" fmla="*/ 2005780 w 2185988"/>
              <a:gd name="connsiteY16" fmla="*/ 737857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626471 w 2185988"/>
              <a:gd name="connsiteY9" fmla="*/ 69247 h 2231435"/>
              <a:gd name="connsiteX10" fmla="*/ 1832949 w 2185988"/>
              <a:gd name="connsiteY10" fmla="*/ 15537 h 2231435"/>
              <a:gd name="connsiteX11" fmla="*/ 1998663 w 2185988"/>
              <a:gd name="connsiteY11" fmla="*/ 44774 h 2231435"/>
              <a:gd name="connsiteX12" fmla="*/ 2104411 w 2185988"/>
              <a:gd name="connsiteY12" fmla="*/ 176630 h 2231435"/>
              <a:gd name="connsiteX13" fmla="*/ 2177590 w 2185988"/>
              <a:gd name="connsiteY13" fmla="*/ 335200 h 2231435"/>
              <a:gd name="connsiteX14" fmla="*/ 2144457 w 2185988"/>
              <a:gd name="connsiteY14" fmla="*/ 514558 h 2231435"/>
              <a:gd name="connsiteX15" fmla="*/ 2101596 w 2185988"/>
              <a:gd name="connsiteY15" fmla="*/ 631674 h 2231435"/>
              <a:gd name="connsiteX16" fmla="*/ 2005780 w 2185988"/>
              <a:gd name="connsiteY16" fmla="*/ 737857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632566 w 2185988"/>
              <a:gd name="connsiteY9" fmla="*/ 44566 h 2231435"/>
              <a:gd name="connsiteX10" fmla="*/ 1832949 w 2185988"/>
              <a:gd name="connsiteY10" fmla="*/ 15537 h 2231435"/>
              <a:gd name="connsiteX11" fmla="*/ 1998663 w 2185988"/>
              <a:gd name="connsiteY11" fmla="*/ 44774 h 2231435"/>
              <a:gd name="connsiteX12" fmla="*/ 2104411 w 2185988"/>
              <a:gd name="connsiteY12" fmla="*/ 176630 h 2231435"/>
              <a:gd name="connsiteX13" fmla="*/ 2177590 w 2185988"/>
              <a:gd name="connsiteY13" fmla="*/ 335200 h 2231435"/>
              <a:gd name="connsiteX14" fmla="*/ 2144457 w 2185988"/>
              <a:gd name="connsiteY14" fmla="*/ 514558 h 2231435"/>
              <a:gd name="connsiteX15" fmla="*/ 2101596 w 2185988"/>
              <a:gd name="connsiteY15" fmla="*/ 631674 h 2231435"/>
              <a:gd name="connsiteX16" fmla="*/ 2005780 w 2185988"/>
              <a:gd name="connsiteY16" fmla="*/ 737857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632566 w 2185988"/>
              <a:gd name="connsiteY9" fmla="*/ 44566 h 2231435"/>
              <a:gd name="connsiteX10" fmla="*/ 1832949 w 2185988"/>
              <a:gd name="connsiteY10" fmla="*/ 15537 h 2231435"/>
              <a:gd name="connsiteX11" fmla="*/ 1998663 w 2185988"/>
              <a:gd name="connsiteY11" fmla="*/ 44774 h 2231435"/>
              <a:gd name="connsiteX12" fmla="*/ 2104411 w 2185988"/>
              <a:gd name="connsiteY12" fmla="*/ 176630 h 2231435"/>
              <a:gd name="connsiteX13" fmla="*/ 2177590 w 2185988"/>
              <a:gd name="connsiteY13" fmla="*/ 335200 h 2231435"/>
              <a:gd name="connsiteX14" fmla="*/ 2144457 w 2185988"/>
              <a:gd name="connsiteY14" fmla="*/ 514558 h 2231435"/>
              <a:gd name="connsiteX15" fmla="*/ 2107691 w 2185988"/>
              <a:gd name="connsiteY15" fmla="*/ 650184 h 2231435"/>
              <a:gd name="connsiteX16" fmla="*/ 2005780 w 2185988"/>
              <a:gd name="connsiteY16" fmla="*/ 737857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632566 w 2185988"/>
              <a:gd name="connsiteY9" fmla="*/ 44566 h 2231435"/>
              <a:gd name="connsiteX10" fmla="*/ 1832949 w 2185988"/>
              <a:gd name="connsiteY10" fmla="*/ 15537 h 2231435"/>
              <a:gd name="connsiteX11" fmla="*/ 1998663 w 2185988"/>
              <a:gd name="connsiteY11" fmla="*/ 44774 h 2231435"/>
              <a:gd name="connsiteX12" fmla="*/ 2104411 w 2185988"/>
              <a:gd name="connsiteY12" fmla="*/ 176630 h 2231435"/>
              <a:gd name="connsiteX13" fmla="*/ 2177590 w 2185988"/>
              <a:gd name="connsiteY13" fmla="*/ 335200 h 2231435"/>
              <a:gd name="connsiteX14" fmla="*/ 2144457 w 2185988"/>
              <a:gd name="connsiteY14" fmla="*/ 514558 h 2231435"/>
              <a:gd name="connsiteX15" fmla="*/ 2095503 w 2185988"/>
              <a:gd name="connsiteY15" fmla="*/ 625503 h 2231435"/>
              <a:gd name="connsiteX16" fmla="*/ 2005780 w 2185988"/>
              <a:gd name="connsiteY16" fmla="*/ 737857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632566 w 2185988"/>
              <a:gd name="connsiteY9" fmla="*/ 44566 h 2231435"/>
              <a:gd name="connsiteX10" fmla="*/ 1832949 w 2185988"/>
              <a:gd name="connsiteY10" fmla="*/ 15537 h 2231435"/>
              <a:gd name="connsiteX11" fmla="*/ 1998663 w 2185988"/>
              <a:gd name="connsiteY11" fmla="*/ 44774 h 2231435"/>
              <a:gd name="connsiteX12" fmla="*/ 2104411 w 2185988"/>
              <a:gd name="connsiteY12" fmla="*/ 176630 h 2231435"/>
              <a:gd name="connsiteX13" fmla="*/ 2177590 w 2185988"/>
              <a:gd name="connsiteY13" fmla="*/ 335200 h 2231435"/>
              <a:gd name="connsiteX14" fmla="*/ 2168833 w 2185988"/>
              <a:gd name="connsiteY14" fmla="*/ 489877 h 2231435"/>
              <a:gd name="connsiteX15" fmla="*/ 2095503 w 2185988"/>
              <a:gd name="connsiteY15" fmla="*/ 625503 h 2231435"/>
              <a:gd name="connsiteX16" fmla="*/ 2005780 w 2185988"/>
              <a:gd name="connsiteY16" fmla="*/ 737857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608190 w 2185988"/>
              <a:gd name="connsiteY9" fmla="*/ 50735 h 2231435"/>
              <a:gd name="connsiteX10" fmla="*/ 1832949 w 2185988"/>
              <a:gd name="connsiteY10" fmla="*/ 15537 h 2231435"/>
              <a:gd name="connsiteX11" fmla="*/ 1998663 w 2185988"/>
              <a:gd name="connsiteY11" fmla="*/ 44774 h 2231435"/>
              <a:gd name="connsiteX12" fmla="*/ 2104411 w 2185988"/>
              <a:gd name="connsiteY12" fmla="*/ 176630 h 2231435"/>
              <a:gd name="connsiteX13" fmla="*/ 2177590 w 2185988"/>
              <a:gd name="connsiteY13" fmla="*/ 335200 h 2231435"/>
              <a:gd name="connsiteX14" fmla="*/ 2168833 w 2185988"/>
              <a:gd name="connsiteY14" fmla="*/ 489877 h 2231435"/>
              <a:gd name="connsiteX15" fmla="*/ 2095503 w 2185988"/>
              <a:gd name="connsiteY15" fmla="*/ 625503 h 2231435"/>
              <a:gd name="connsiteX16" fmla="*/ 2005780 w 2185988"/>
              <a:gd name="connsiteY16" fmla="*/ 737857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608190 w 2185988"/>
              <a:gd name="connsiteY9" fmla="*/ 50735 h 2231435"/>
              <a:gd name="connsiteX10" fmla="*/ 1832949 w 2185988"/>
              <a:gd name="connsiteY10" fmla="*/ 15537 h 2231435"/>
              <a:gd name="connsiteX11" fmla="*/ 1998663 w 2185988"/>
              <a:gd name="connsiteY11" fmla="*/ 44774 h 2231435"/>
              <a:gd name="connsiteX12" fmla="*/ 2104411 w 2185988"/>
              <a:gd name="connsiteY12" fmla="*/ 176630 h 2231435"/>
              <a:gd name="connsiteX13" fmla="*/ 2177590 w 2185988"/>
              <a:gd name="connsiteY13" fmla="*/ 335200 h 2231435"/>
              <a:gd name="connsiteX14" fmla="*/ 2168833 w 2185988"/>
              <a:gd name="connsiteY14" fmla="*/ 489877 h 2231435"/>
              <a:gd name="connsiteX15" fmla="*/ 2095503 w 2185988"/>
              <a:gd name="connsiteY15" fmla="*/ 625503 h 2231435"/>
              <a:gd name="connsiteX16" fmla="*/ 2005780 w 2185988"/>
              <a:gd name="connsiteY16" fmla="*/ 737857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608190 w 2185988"/>
              <a:gd name="connsiteY9" fmla="*/ 50735 h 2231435"/>
              <a:gd name="connsiteX10" fmla="*/ 1832949 w 2185988"/>
              <a:gd name="connsiteY10" fmla="*/ 15537 h 2231435"/>
              <a:gd name="connsiteX11" fmla="*/ 1998663 w 2185988"/>
              <a:gd name="connsiteY11" fmla="*/ 44774 h 2231435"/>
              <a:gd name="connsiteX12" fmla="*/ 2104411 w 2185988"/>
              <a:gd name="connsiteY12" fmla="*/ 176630 h 2231435"/>
              <a:gd name="connsiteX13" fmla="*/ 2177590 w 2185988"/>
              <a:gd name="connsiteY13" fmla="*/ 335200 h 2231435"/>
              <a:gd name="connsiteX14" fmla="*/ 2168833 w 2185988"/>
              <a:gd name="connsiteY14" fmla="*/ 489877 h 2231435"/>
              <a:gd name="connsiteX15" fmla="*/ 2095503 w 2185988"/>
              <a:gd name="connsiteY15" fmla="*/ 625503 h 2231435"/>
              <a:gd name="connsiteX16" fmla="*/ 2005780 w 2185988"/>
              <a:gd name="connsiteY16" fmla="*/ 737857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608190 w 2185988"/>
              <a:gd name="connsiteY9" fmla="*/ 50735 h 2231435"/>
              <a:gd name="connsiteX10" fmla="*/ 1832949 w 2185988"/>
              <a:gd name="connsiteY10" fmla="*/ 15537 h 2231435"/>
              <a:gd name="connsiteX11" fmla="*/ 1998663 w 2185988"/>
              <a:gd name="connsiteY11" fmla="*/ 44774 h 2231435"/>
              <a:gd name="connsiteX12" fmla="*/ 2104411 w 2185988"/>
              <a:gd name="connsiteY12" fmla="*/ 145777 h 2231435"/>
              <a:gd name="connsiteX13" fmla="*/ 2177590 w 2185988"/>
              <a:gd name="connsiteY13" fmla="*/ 335200 h 2231435"/>
              <a:gd name="connsiteX14" fmla="*/ 2168833 w 2185988"/>
              <a:gd name="connsiteY14" fmla="*/ 489877 h 2231435"/>
              <a:gd name="connsiteX15" fmla="*/ 2095503 w 2185988"/>
              <a:gd name="connsiteY15" fmla="*/ 625503 h 2231435"/>
              <a:gd name="connsiteX16" fmla="*/ 2005780 w 2185988"/>
              <a:gd name="connsiteY16" fmla="*/ 737857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06753"/>
              <a:gd name="connsiteX1" fmla="*/ 157163 w 2185988"/>
              <a:gd name="connsiteY1" fmla="*/ 185737 h 2206753"/>
              <a:gd name="connsiteX2" fmla="*/ 333375 w 2185988"/>
              <a:gd name="connsiteY2" fmla="*/ 95250 h 2206753"/>
              <a:gd name="connsiteX3" fmla="*/ 495300 w 2185988"/>
              <a:gd name="connsiteY3" fmla="*/ 33337 h 2206753"/>
              <a:gd name="connsiteX4" fmla="*/ 690563 w 2185988"/>
              <a:gd name="connsiteY4" fmla="*/ 0 h 2206753"/>
              <a:gd name="connsiteX5" fmla="*/ 871538 w 2185988"/>
              <a:gd name="connsiteY5" fmla="*/ 4762 h 2206753"/>
              <a:gd name="connsiteX6" fmla="*/ 1066800 w 2185988"/>
              <a:gd name="connsiteY6" fmla="*/ 28575 h 2206753"/>
              <a:gd name="connsiteX7" fmla="*/ 1276350 w 2185988"/>
              <a:gd name="connsiteY7" fmla="*/ 104775 h 2206753"/>
              <a:gd name="connsiteX8" fmla="*/ 1428750 w 2185988"/>
              <a:gd name="connsiteY8" fmla="*/ 171450 h 2206753"/>
              <a:gd name="connsiteX9" fmla="*/ 1608190 w 2185988"/>
              <a:gd name="connsiteY9" fmla="*/ 50735 h 2206753"/>
              <a:gd name="connsiteX10" fmla="*/ 1832949 w 2185988"/>
              <a:gd name="connsiteY10" fmla="*/ 15537 h 2206753"/>
              <a:gd name="connsiteX11" fmla="*/ 1998663 w 2185988"/>
              <a:gd name="connsiteY11" fmla="*/ 44774 h 2206753"/>
              <a:gd name="connsiteX12" fmla="*/ 2104411 w 2185988"/>
              <a:gd name="connsiteY12" fmla="*/ 145777 h 2206753"/>
              <a:gd name="connsiteX13" fmla="*/ 2177590 w 2185988"/>
              <a:gd name="connsiteY13" fmla="*/ 335200 h 2206753"/>
              <a:gd name="connsiteX14" fmla="*/ 2168833 w 2185988"/>
              <a:gd name="connsiteY14" fmla="*/ 489877 h 2206753"/>
              <a:gd name="connsiteX15" fmla="*/ 2095503 w 2185988"/>
              <a:gd name="connsiteY15" fmla="*/ 625503 h 2206753"/>
              <a:gd name="connsiteX16" fmla="*/ 2005780 w 2185988"/>
              <a:gd name="connsiteY16" fmla="*/ 737857 h 2206753"/>
              <a:gd name="connsiteX17" fmla="*/ 2105025 w 2185988"/>
              <a:gd name="connsiteY17" fmla="*/ 962025 h 2206753"/>
              <a:gd name="connsiteX18" fmla="*/ 2176463 w 2185988"/>
              <a:gd name="connsiteY18" fmla="*/ 1214437 h 2206753"/>
              <a:gd name="connsiteX19" fmla="*/ 2185988 w 2185988"/>
              <a:gd name="connsiteY19" fmla="*/ 1428750 h 2206753"/>
              <a:gd name="connsiteX20" fmla="*/ 2171700 w 2185988"/>
              <a:gd name="connsiteY20" fmla="*/ 1609725 h 2206753"/>
              <a:gd name="connsiteX21" fmla="*/ 2124075 w 2185988"/>
              <a:gd name="connsiteY21" fmla="*/ 1804987 h 2206753"/>
              <a:gd name="connsiteX22" fmla="*/ 2038350 w 2185988"/>
              <a:gd name="connsiteY22" fmla="*/ 1981200 h 2206753"/>
              <a:gd name="connsiteX23" fmla="*/ 1957388 w 2185988"/>
              <a:gd name="connsiteY23" fmla="*/ 2100262 h 2206753"/>
              <a:gd name="connsiteX24" fmla="*/ 1881757 w 2185988"/>
              <a:gd name="connsiteY24" fmla="*/ 2206753 h 2206753"/>
              <a:gd name="connsiteX0" fmla="*/ 0 w 2185988"/>
              <a:gd name="connsiteY0" fmla="*/ 314325 h 2206753"/>
              <a:gd name="connsiteX1" fmla="*/ 157163 w 2185988"/>
              <a:gd name="connsiteY1" fmla="*/ 185737 h 2206753"/>
              <a:gd name="connsiteX2" fmla="*/ 333375 w 2185988"/>
              <a:gd name="connsiteY2" fmla="*/ 95250 h 2206753"/>
              <a:gd name="connsiteX3" fmla="*/ 495300 w 2185988"/>
              <a:gd name="connsiteY3" fmla="*/ 33337 h 2206753"/>
              <a:gd name="connsiteX4" fmla="*/ 690563 w 2185988"/>
              <a:gd name="connsiteY4" fmla="*/ 0 h 2206753"/>
              <a:gd name="connsiteX5" fmla="*/ 871538 w 2185988"/>
              <a:gd name="connsiteY5" fmla="*/ 4762 h 2206753"/>
              <a:gd name="connsiteX6" fmla="*/ 1066800 w 2185988"/>
              <a:gd name="connsiteY6" fmla="*/ 28575 h 2206753"/>
              <a:gd name="connsiteX7" fmla="*/ 1276350 w 2185988"/>
              <a:gd name="connsiteY7" fmla="*/ 104775 h 2206753"/>
              <a:gd name="connsiteX8" fmla="*/ 1428750 w 2185988"/>
              <a:gd name="connsiteY8" fmla="*/ 171450 h 2206753"/>
              <a:gd name="connsiteX9" fmla="*/ 1608190 w 2185988"/>
              <a:gd name="connsiteY9" fmla="*/ 50735 h 2206753"/>
              <a:gd name="connsiteX10" fmla="*/ 1725998 w 2185988"/>
              <a:gd name="connsiteY10" fmla="*/ 16732 h 2206753"/>
              <a:gd name="connsiteX11" fmla="*/ 1832949 w 2185988"/>
              <a:gd name="connsiteY11" fmla="*/ 15537 h 2206753"/>
              <a:gd name="connsiteX12" fmla="*/ 1998663 w 2185988"/>
              <a:gd name="connsiteY12" fmla="*/ 44774 h 2206753"/>
              <a:gd name="connsiteX13" fmla="*/ 2104411 w 2185988"/>
              <a:gd name="connsiteY13" fmla="*/ 145777 h 2206753"/>
              <a:gd name="connsiteX14" fmla="*/ 2177590 w 2185988"/>
              <a:gd name="connsiteY14" fmla="*/ 335200 h 2206753"/>
              <a:gd name="connsiteX15" fmla="*/ 2168833 w 2185988"/>
              <a:gd name="connsiteY15" fmla="*/ 489877 h 2206753"/>
              <a:gd name="connsiteX16" fmla="*/ 2095503 w 2185988"/>
              <a:gd name="connsiteY16" fmla="*/ 625503 h 2206753"/>
              <a:gd name="connsiteX17" fmla="*/ 2005780 w 2185988"/>
              <a:gd name="connsiteY17" fmla="*/ 737857 h 2206753"/>
              <a:gd name="connsiteX18" fmla="*/ 2105025 w 2185988"/>
              <a:gd name="connsiteY18" fmla="*/ 962025 h 2206753"/>
              <a:gd name="connsiteX19" fmla="*/ 2176463 w 2185988"/>
              <a:gd name="connsiteY19" fmla="*/ 1214437 h 2206753"/>
              <a:gd name="connsiteX20" fmla="*/ 2185988 w 2185988"/>
              <a:gd name="connsiteY20" fmla="*/ 1428750 h 2206753"/>
              <a:gd name="connsiteX21" fmla="*/ 2171700 w 2185988"/>
              <a:gd name="connsiteY21" fmla="*/ 1609725 h 2206753"/>
              <a:gd name="connsiteX22" fmla="*/ 2124075 w 2185988"/>
              <a:gd name="connsiteY22" fmla="*/ 1804987 h 2206753"/>
              <a:gd name="connsiteX23" fmla="*/ 2038350 w 2185988"/>
              <a:gd name="connsiteY23" fmla="*/ 1981200 h 2206753"/>
              <a:gd name="connsiteX24" fmla="*/ 1957388 w 2185988"/>
              <a:gd name="connsiteY24" fmla="*/ 2100262 h 2206753"/>
              <a:gd name="connsiteX25" fmla="*/ 1881757 w 2185988"/>
              <a:gd name="connsiteY25" fmla="*/ 2206753 h 2206753"/>
              <a:gd name="connsiteX0" fmla="*/ 0 w 2185988"/>
              <a:gd name="connsiteY0" fmla="*/ 314325 h 2206753"/>
              <a:gd name="connsiteX1" fmla="*/ 157163 w 2185988"/>
              <a:gd name="connsiteY1" fmla="*/ 185737 h 2206753"/>
              <a:gd name="connsiteX2" fmla="*/ 333375 w 2185988"/>
              <a:gd name="connsiteY2" fmla="*/ 95250 h 2206753"/>
              <a:gd name="connsiteX3" fmla="*/ 495300 w 2185988"/>
              <a:gd name="connsiteY3" fmla="*/ 33337 h 2206753"/>
              <a:gd name="connsiteX4" fmla="*/ 690563 w 2185988"/>
              <a:gd name="connsiteY4" fmla="*/ 0 h 2206753"/>
              <a:gd name="connsiteX5" fmla="*/ 871538 w 2185988"/>
              <a:gd name="connsiteY5" fmla="*/ 4762 h 2206753"/>
              <a:gd name="connsiteX6" fmla="*/ 1066800 w 2185988"/>
              <a:gd name="connsiteY6" fmla="*/ 28575 h 2206753"/>
              <a:gd name="connsiteX7" fmla="*/ 1276350 w 2185988"/>
              <a:gd name="connsiteY7" fmla="*/ 104775 h 2206753"/>
              <a:gd name="connsiteX8" fmla="*/ 1428750 w 2185988"/>
              <a:gd name="connsiteY8" fmla="*/ 171450 h 2206753"/>
              <a:gd name="connsiteX9" fmla="*/ 1512708 w 2185988"/>
              <a:gd name="connsiteY9" fmla="*/ 109288 h 2206753"/>
              <a:gd name="connsiteX10" fmla="*/ 1608190 w 2185988"/>
              <a:gd name="connsiteY10" fmla="*/ 50735 h 2206753"/>
              <a:gd name="connsiteX11" fmla="*/ 1725998 w 2185988"/>
              <a:gd name="connsiteY11" fmla="*/ 16732 h 2206753"/>
              <a:gd name="connsiteX12" fmla="*/ 1832949 w 2185988"/>
              <a:gd name="connsiteY12" fmla="*/ 15537 h 2206753"/>
              <a:gd name="connsiteX13" fmla="*/ 1998663 w 2185988"/>
              <a:gd name="connsiteY13" fmla="*/ 44774 h 2206753"/>
              <a:gd name="connsiteX14" fmla="*/ 2104411 w 2185988"/>
              <a:gd name="connsiteY14" fmla="*/ 145777 h 2206753"/>
              <a:gd name="connsiteX15" fmla="*/ 2177590 w 2185988"/>
              <a:gd name="connsiteY15" fmla="*/ 335200 h 2206753"/>
              <a:gd name="connsiteX16" fmla="*/ 2168833 w 2185988"/>
              <a:gd name="connsiteY16" fmla="*/ 489877 h 2206753"/>
              <a:gd name="connsiteX17" fmla="*/ 2095503 w 2185988"/>
              <a:gd name="connsiteY17" fmla="*/ 625503 h 2206753"/>
              <a:gd name="connsiteX18" fmla="*/ 2005780 w 2185988"/>
              <a:gd name="connsiteY18" fmla="*/ 737857 h 2206753"/>
              <a:gd name="connsiteX19" fmla="*/ 2105025 w 2185988"/>
              <a:gd name="connsiteY19" fmla="*/ 962025 h 2206753"/>
              <a:gd name="connsiteX20" fmla="*/ 2176463 w 2185988"/>
              <a:gd name="connsiteY20" fmla="*/ 1214437 h 2206753"/>
              <a:gd name="connsiteX21" fmla="*/ 2185988 w 2185988"/>
              <a:gd name="connsiteY21" fmla="*/ 1428750 h 2206753"/>
              <a:gd name="connsiteX22" fmla="*/ 2171700 w 2185988"/>
              <a:gd name="connsiteY22" fmla="*/ 1609725 h 2206753"/>
              <a:gd name="connsiteX23" fmla="*/ 2124075 w 2185988"/>
              <a:gd name="connsiteY23" fmla="*/ 1804987 h 2206753"/>
              <a:gd name="connsiteX24" fmla="*/ 2038350 w 2185988"/>
              <a:gd name="connsiteY24" fmla="*/ 1981200 h 2206753"/>
              <a:gd name="connsiteX25" fmla="*/ 1957388 w 2185988"/>
              <a:gd name="connsiteY25" fmla="*/ 2100262 h 2206753"/>
              <a:gd name="connsiteX26" fmla="*/ 1881757 w 2185988"/>
              <a:gd name="connsiteY26" fmla="*/ 2206753 h 2206753"/>
              <a:gd name="connsiteX0" fmla="*/ 0 w 2185988"/>
              <a:gd name="connsiteY0" fmla="*/ 314325 h 2206753"/>
              <a:gd name="connsiteX1" fmla="*/ 157163 w 2185988"/>
              <a:gd name="connsiteY1" fmla="*/ 185737 h 2206753"/>
              <a:gd name="connsiteX2" fmla="*/ 333375 w 2185988"/>
              <a:gd name="connsiteY2" fmla="*/ 95250 h 2206753"/>
              <a:gd name="connsiteX3" fmla="*/ 495300 w 2185988"/>
              <a:gd name="connsiteY3" fmla="*/ 33337 h 2206753"/>
              <a:gd name="connsiteX4" fmla="*/ 690563 w 2185988"/>
              <a:gd name="connsiteY4" fmla="*/ 0 h 2206753"/>
              <a:gd name="connsiteX5" fmla="*/ 871538 w 2185988"/>
              <a:gd name="connsiteY5" fmla="*/ 4762 h 2206753"/>
              <a:gd name="connsiteX6" fmla="*/ 1066800 w 2185988"/>
              <a:gd name="connsiteY6" fmla="*/ 28575 h 2206753"/>
              <a:gd name="connsiteX7" fmla="*/ 1276350 w 2185988"/>
              <a:gd name="connsiteY7" fmla="*/ 104775 h 2206753"/>
              <a:gd name="connsiteX8" fmla="*/ 1428750 w 2185988"/>
              <a:gd name="connsiteY8" fmla="*/ 171450 h 2206753"/>
              <a:gd name="connsiteX9" fmla="*/ 1512708 w 2185988"/>
              <a:gd name="connsiteY9" fmla="*/ 109288 h 2206753"/>
              <a:gd name="connsiteX10" fmla="*/ 1608190 w 2185988"/>
              <a:gd name="connsiteY10" fmla="*/ 50735 h 2206753"/>
              <a:gd name="connsiteX11" fmla="*/ 1725998 w 2185988"/>
              <a:gd name="connsiteY11" fmla="*/ 16732 h 2206753"/>
              <a:gd name="connsiteX12" fmla="*/ 1832949 w 2185988"/>
              <a:gd name="connsiteY12" fmla="*/ 15537 h 2206753"/>
              <a:gd name="connsiteX13" fmla="*/ 1921006 w 2185988"/>
              <a:gd name="connsiteY13" fmla="*/ 25988 h 2206753"/>
              <a:gd name="connsiteX14" fmla="*/ 1998663 w 2185988"/>
              <a:gd name="connsiteY14" fmla="*/ 44774 h 2206753"/>
              <a:gd name="connsiteX15" fmla="*/ 2104411 w 2185988"/>
              <a:gd name="connsiteY15" fmla="*/ 145777 h 2206753"/>
              <a:gd name="connsiteX16" fmla="*/ 2177590 w 2185988"/>
              <a:gd name="connsiteY16" fmla="*/ 335200 h 2206753"/>
              <a:gd name="connsiteX17" fmla="*/ 2168833 w 2185988"/>
              <a:gd name="connsiteY17" fmla="*/ 489877 h 2206753"/>
              <a:gd name="connsiteX18" fmla="*/ 2095503 w 2185988"/>
              <a:gd name="connsiteY18" fmla="*/ 625503 h 2206753"/>
              <a:gd name="connsiteX19" fmla="*/ 2005780 w 2185988"/>
              <a:gd name="connsiteY19" fmla="*/ 737857 h 2206753"/>
              <a:gd name="connsiteX20" fmla="*/ 2105025 w 2185988"/>
              <a:gd name="connsiteY20" fmla="*/ 962025 h 2206753"/>
              <a:gd name="connsiteX21" fmla="*/ 2176463 w 2185988"/>
              <a:gd name="connsiteY21" fmla="*/ 1214437 h 2206753"/>
              <a:gd name="connsiteX22" fmla="*/ 2185988 w 2185988"/>
              <a:gd name="connsiteY22" fmla="*/ 1428750 h 2206753"/>
              <a:gd name="connsiteX23" fmla="*/ 2171700 w 2185988"/>
              <a:gd name="connsiteY23" fmla="*/ 1609725 h 2206753"/>
              <a:gd name="connsiteX24" fmla="*/ 2124075 w 2185988"/>
              <a:gd name="connsiteY24" fmla="*/ 1804987 h 2206753"/>
              <a:gd name="connsiteX25" fmla="*/ 2038350 w 2185988"/>
              <a:gd name="connsiteY25" fmla="*/ 1981200 h 2206753"/>
              <a:gd name="connsiteX26" fmla="*/ 1957388 w 2185988"/>
              <a:gd name="connsiteY26" fmla="*/ 2100262 h 2206753"/>
              <a:gd name="connsiteX27" fmla="*/ 1881757 w 2185988"/>
              <a:gd name="connsiteY27" fmla="*/ 2206753 h 2206753"/>
              <a:gd name="connsiteX0" fmla="*/ 0 w 2185988"/>
              <a:gd name="connsiteY0" fmla="*/ 314325 h 2206753"/>
              <a:gd name="connsiteX1" fmla="*/ 157163 w 2185988"/>
              <a:gd name="connsiteY1" fmla="*/ 185737 h 2206753"/>
              <a:gd name="connsiteX2" fmla="*/ 333375 w 2185988"/>
              <a:gd name="connsiteY2" fmla="*/ 95250 h 2206753"/>
              <a:gd name="connsiteX3" fmla="*/ 495300 w 2185988"/>
              <a:gd name="connsiteY3" fmla="*/ 33337 h 2206753"/>
              <a:gd name="connsiteX4" fmla="*/ 690563 w 2185988"/>
              <a:gd name="connsiteY4" fmla="*/ 0 h 2206753"/>
              <a:gd name="connsiteX5" fmla="*/ 871538 w 2185988"/>
              <a:gd name="connsiteY5" fmla="*/ 4762 h 2206753"/>
              <a:gd name="connsiteX6" fmla="*/ 1066800 w 2185988"/>
              <a:gd name="connsiteY6" fmla="*/ 28575 h 2206753"/>
              <a:gd name="connsiteX7" fmla="*/ 1276350 w 2185988"/>
              <a:gd name="connsiteY7" fmla="*/ 104775 h 2206753"/>
              <a:gd name="connsiteX8" fmla="*/ 1428750 w 2185988"/>
              <a:gd name="connsiteY8" fmla="*/ 171450 h 2206753"/>
              <a:gd name="connsiteX9" fmla="*/ 1512708 w 2185988"/>
              <a:gd name="connsiteY9" fmla="*/ 109288 h 2206753"/>
              <a:gd name="connsiteX10" fmla="*/ 1608190 w 2185988"/>
              <a:gd name="connsiteY10" fmla="*/ 50735 h 2206753"/>
              <a:gd name="connsiteX11" fmla="*/ 1725998 w 2185988"/>
              <a:gd name="connsiteY11" fmla="*/ 16732 h 2206753"/>
              <a:gd name="connsiteX12" fmla="*/ 1832949 w 2185988"/>
              <a:gd name="connsiteY12" fmla="*/ 15537 h 2206753"/>
              <a:gd name="connsiteX13" fmla="*/ 1921006 w 2185988"/>
              <a:gd name="connsiteY13" fmla="*/ 25988 h 2206753"/>
              <a:gd name="connsiteX14" fmla="*/ 1998663 w 2185988"/>
              <a:gd name="connsiteY14" fmla="*/ 44774 h 2206753"/>
              <a:gd name="connsiteX15" fmla="*/ 2052027 w 2185988"/>
              <a:gd name="connsiteY15" fmla="*/ 84607 h 2206753"/>
              <a:gd name="connsiteX16" fmla="*/ 2104411 w 2185988"/>
              <a:gd name="connsiteY16" fmla="*/ 145777 h 2206753"/>
              <a:gd name="connsiteX17" fmla="*/ 2177590 w 2185988"/>
              <a:gd name="connsiteY17" fmla="*/ 335200 h 2206753"/>
              <a:gd name="connsiteX18" fmla="*/ 2168833 w 2185988"/>
              <a:gd name="connsiteY18" fmla="*/ 489877 h 2206753"/>
              <a:gd name="connsiteX19" fmla="*/ 2095503 w 2185988"/>
              <a:gd name="connsiteY19" fmla="*/ 625503 h 2206753"/>
              <a:gd name="connsiteX20" fmla="*/ 2005780 w 2185988"/>
              <a:gd name="connsiteY20" fmla="*/ 737857 h 2206753"/>
              <a:gd name="connsiteX21" fmla="*/ 2105025 w 2185988"/>
              <a:gd name="connsiteY21" fmla="*/ 962025 h 2206753"/>
              <a:gd name="connsiteX22" fmla="*/ 2176463 w 2185988"/>
              <a:gd name="connsiteY22" fmla="*/ 1214437 h 2206753"/>
              <a:gd name="connsiteX23" fmla="*/ 2185988 w 2185988"/>
              <a:gd name="connsiteY23" fmla="*/ 1428750 h 2206753"/>
              <a:gd name="connsiteX24" fmla="*/ 2171700 w 2185988"/>
              <a:gd name="connsiteY24" fmla="*/ 1609725 h 2206753"/>
              <a:gd name="connsiteX25" fmla="*/ 2124075 w 2185988"/>
              <a:gd name="connsiteY25" fmla="*/ 1804987 h 2206753"/>
              <a:gd name="connsiteX26" fmla="*/ 2038350 w 2185988"/>
              <a:gd name="connsiteY26" fmla="*/ 1981200 h 2206753"/>
              <a:gd name="connsiteX27" fmla="*/ 1957388 w 2185988"/>
              <a:gd name="connsiteY27" fmla="*/ 2100262 h 2206753"/>
              <a:gd name="connsiteX28" fmla="*/ 1881757 w 2185988"/>
              <a:gd name="connsiteY28" fmla="*/ 2206753 h 2206753"/>
              <a:gd name="connsiteX0" fmla="*/ 0 w 2185988"/>
              <a:gd name="connsiteY0" fmla="*/ 314325 h 2206753"/>
              <a:gd name="connsiteX1" fmla="*/ 157163 w 2185988"/>
              <a:gd name="connsiteY1" fmla="*/ 185737 h 2206753"/>
              <a:gd name="connsiteX2" fmla="*/ 333375 w 2185988"/>
              <a:gd name="connsiteY2" fmla="*/ 95250 h 2206753"/>
              <a:gd name="connsiteX3" fmla="*/ 495300 w 2185988"/>
              <a:gd name="connsiteY3" fmla="*/ 33337 h 2206753"/>
              <a:gd name="connsiteX4" fmla="*/ 690563 w 2185988"/>
              <a:gd name="connsiteY4" fmla="*/ 0 h 2206753"/>
              <a:gd name="connsiteX5" fmla="*/ 871538 w 2185988"/>
              <a:gd name="connsiteY5" fmla="*/ 4762 h 2206753"/>
              <a:gd name="connsiteX6" fmla="*/ 1066800 w 2185988"/>
              <a:gd name="connsiteY6" fmla="*/ 28575 h 2206753"/>
              <a:gd name="connsiteX7" fmla="*/ 1276350 w 2185988"/>
              <a:gd name="connsiteY7" fmla="*/ 104775 h 2206753"/>
              <a:gd name="connsiteX8" fmla="*/ 1428750 w 2185988"/>
              <a:gd name="connsiteY8" fmla="*/ 171450 h 2206753"/>
              <a:gd name="connsiteX9" fmla="*/ 1512708 w 2185988"/>
              <a:gd name="connsiteY9" fmla="*/ 109288 h 2206753"/>
              <a:gd name="connsiteX10" fmla="*/ 1608190 w 2185988"/>
              <a:gd name="connsiteY10" fmla="*/ 50735 h 2206753"/>
              <a:gd name="connsiteX11" fmla="*/ 1725998 w 2185988"/>
              <a:gd name="connsiteY11" fmla="*/ 16732 h 2206753"/>
              <a:gd name="connsiteX12" fmla="*/ 1832949 w 2185988"/>
              <a:gd name="connsiteY12" fmla="*/ 15537 h 2206753"/>
              <a:gd name="connsiteX13" fmla="*/ 1921006 w 2185988"/>
              <a:gd name="connsiteY13" fmla="*/ 25988 h 2206753"/>
              <a:gd name="connsiteX14" fmla="*/ 1998663 w 2185988"/>
              <a:gd name="connsiteY14" fmla="*/ 44774 h 2206753"/>
              <a:gd name="connsiteX15" fmla="*/ 2052027 w 2185988"/>
              <a:gd name="connsiteY15" fmla="*/ 84607 h 2206753"/>
              <a:gd name="connsiteX16" fmla="*/ 2104411 w 2185988"/>
              <a:gd name="connsiteY16" fmla="*/ 145777 h 2206753"/>
              <a:gd name="connsiteX17" fmla="*/ 2158670 w 2185988"/>
              <a:gd name="connsiteY17" fmla="*/ 235781 h 2206753"/>
              <a:gd name="connsiteX18" fmla="*/ 2177590 w 2185988"/>
              <a:gd name="connsiteY18" fmla="*/ 335200 h 2206753"/>
              <a:gd name="connsiteX19" fmla="*/ 2168833 w 2185988"/>
              <a:gd name="connsiteY19" fmla="*/ 489877 h 2206753"/>
              <a:gd name="connsiteX20" fmla="*/ 2095503 w 2185988"/>
              <a:gd name="connsiteY20" fmla="*/ 625503 h 2206753"/>
              <a:gd name="connsiteX21" fmla="*/ 2005780 w 2185988"/>
              <a:gd name="connsiteY21" fmla="*/ 737857 h 2206753"/>
              <a:gd name="connsiteX22" fmla="*/ 2105025 w 2185988"/>
              <a:gd name="connsiteY22" fmla="*/ 962025 h 2206753"/>
              <a:gd name="connsiteX23" fmla="*/ 2176463 w 2185988"/>
              <a:gd name="connsiteY23" fmla="*/ 1214437 h 2206753"/>
              <a:gd name="connsiteX24" fmla="*/ 2185988 w 2185988"/>
              <a:gd name="connsiteY24" fmla="*/ 1428750 h 2206753"/>
              <a:gd name="connsiteX25" fmla="*/ 2171700 w 2185988"/>
              <a:gd name="connsiteY25" fmla="*/ 1609725 h 2206753"/>
              <a:gd name="connsiteX26" fmla="*/ 2124075 w 2185988"/>
              <a:gd name="connsiteY26" fmla="*/ 1804987 h 2206753"/>
              <a:gd name="connsiteX27" fmla="*/ 2038350 w 2185988"/>
              <a:gd name="connsiteY27" fmla="*/ 1981200 h 2206753"/>
              <a:gd name="connsiteX28" fmla="*/ 1957388 w 2185988"/>
              <a:gd name="connsiteY28" fmla="*/ 2100262 h 2206753"/>
              <a:gd name="connsiteX29" fmla="*/ 1881757 w 2185988"/>
              <a:gd name="connsiteY29" fmla="*/ 2206753 h 2206753"/>
              <a:gd name="connsiteX0" fmla="*/ 0 w 2185988"/>
              <a:gd name="connsiteY0" fmla="*/ 314325 h 2206753"/>
              <a:gd name="connsiteX1" fmla="*/ 157163 w 2185988"/>
              <a:gd name="connsiteY1" fmla="*/ 185737 h 2206753"/>
              <a:gd name="connsiteX2" fmla="*/ 333375 w 2185988"/>
              <a:gd name="connsiteY2" fmla="*/ 95250 h 2206753"/>
              <a:gd name="connsiteX3" fmla="*/ 495300 w 2185988"/>
              <a:gd name="connsiteY3" fmla="*/ 33337 h 2206753"/>
              <a:gd name="connsiteX4" fmla="*/ 690563 w 2185988"/>
              <a:gd name="connsiteY4" fmla="*/ 0 h 2206753"/>
              <a:gd name="connsiteX5" fmla="*/ 871538 w 2185988"/>
              <a:gd name="connsiteY5" fmla="*/ 4762 h 2206753"/>
              <a:gd name="connsiteX6" fmla="*/ 1066800 w 2185988"/>
              <a:gd name="connsiteY6" fmla="*/ 28575 h 2206753"/>
              <a:gd name="connsiteX7" fmla="*/ 1276350 w 2185988"/>
              <a:gd name="connsiteY7" fmla="*/ 104775 h 2206753"/>
              <a:gd name="connsiteX8" fmla="*/ 1428750 w 2185988"/>
              <a:gd name="connsiteY8" fmla="*/ 171450 h 2206753"/>
              <a:gd name="connsiteX9" fmla="*/ 1512708 w 2185988"/>
              <a:gd name="connsiteY9" fmla="*/ 109288 h 2206753"/>
              <a:gd name="connsiteX10" fmla="*/ 1608190 w 2185988"/>
              <a:gd name="connsiteY10" fmla="*/ 50735 h 2206753"/>
              <a:gd name="connsiteX11" fmla="*/ 1725998 w 2185988"/>
              <a:gd name="connsiteY11" fmla="*/ 16732 h 2206753"/>
              <a:gd name="connsiteX12" fmla="*/ 1832949 w 2185988"/>
              <a:gd name="connsiteY12" fmla="*/ 15537 h 2206753"/>
              <a:gd name="connsiteX13" fmla="*/ 1921006 w 2185988"/>
              <a:gd name="connsiteY13" fmla="*/ 25988 h 2206753"/>
              <a:gd name="connsiteX14" fmla="*/ 1998663 w 2185988"/>
              <a:gd name="connsiteY14" fmla="*/ 44774 h 2206753"/>
              <a:gd name="connsiteX15" fmla="*/ 2052027 w 2185988"/>
              <a:gd name="connsiteY15" fmla="*/ 84607 h 2206753"/>
              <a:gd name="connsiteX16" fmla="*/ 2104411 w 2185988"/>
              <a:gd name="connsiteY16" fmla="*/ 145777 h 2206753"/>
              <a:gd name="connsiteX17" fmla="*/ 2158670 w 2185988"/>
              <a:gd name="connsiteY17" fmla="*/ 235781 h 2206753"/>
              <a:gd name="connsiteX18" fmla="*/ 2177590 w 2185988"/>
              <a:gd name="connsiteY18" fmla="*/ 335200 h 2206753"/>
              <a:gd name="connsiteX19" fmla="*/ 2176953 w 2185988"/>
              <a:gd name="connsiteY19" fmla="*/ 405468 h 2206753"/>
              <a:gd name="connsiteX20" fmla="*/ 2168833 w 2185988"/>
              <a:gd name="connsiteY20" fmla="*/ 489877 h 2206753"/>
              <a:gd name="connsiteX21" fmla="*/ 2095503 w 2185988"/>
              <a:gd name="connsiteY21" fmla="*/ 625503 h 2206753"/>
              <a:gd name="connsiteX22" fmla="*/ 2005780 w 2185988"/>
              <a:gd name="connsiteY22" fmla="*/ 737857 h 2206753"/>
              <a:gd name="connsiteX23" fmla="*/ 2105025 w 2185988"/>
              <a:gd name="connsiteY23" fmla="*/ 962025 h 2206753"/>
              <a:gd name="connsiteX24" fmla="*/ 2176463 w 2185988"/>
              <a:gd name="connsiteY24" fmla="*/ 1214437 h 2206753"/>
              <a:gd name="connsiteX25" fmla="*/ 2185988 w 2185988"/>
              <a:gd name="connsiteY25" fmla="*/ 1428750 h 2206753"/>
              <a:gd name="connsiteX26" fmla="*/ 2171700 w 2185988"/>
              <a:gd name="connsiteY26" fmla="*/ 1609725 h 2206753"/>
              <a:gd name="connsiteX27" fmla="*/ 2124075 w 2185988"/>
              <a:gd name="connsiteY27" fmla="*/ 1804987 h 2206753"/>
              <a:gd name="connsiteX28" fmla="*/ 2038350 w 2185988"/>
              <a:gd name="connsiteY28" fmla="*/ 1981200 h 2206753"/>
              <a:gd name="connsiteX29" fmla="*/ 1957388 w 2185988"/>
              <a:gd name="connsiteY29" fmla="*/ 2100262 h 2206753"/>
              <a:gd name="connsiteX30" fmla="*/ 1881757 w 2185988"/>
              <a:gd name="connsiteY30" fmla="*/ 2206753 h 2206753"/>
              <a:gd name="connsiteX0" fmla="*/ 0 w 2185988"/>
              <a:gd name="connsiteY0" fmla="*/ 314325 h 2206753"/>
              <a:gd name="connsiteX1" fmla="*/ 157163 w 2185988"/>
              <a:gd name="connsiteY1" fmla="*/ 185737 h 2206753"/>
              <a:gd name="connsiteX2" fmla="*/ 333375 w 2185988"/>
              <a:gd name="connsiteY2" fmla="*/ 95250 h 2206753"/>
              <a:gd name="connsiteX3" fmla="*/ 495300 w 2185988"/>
              <a:gd name="connsiteY3" fmla="*/ 33337 h 2206753"/>
              <a:gd name="connsiteX4" fmla="*/ 690563 w 2185988"/>
              <a:gd name="connsiteY4" fmla="*/ 0 h 2206753"/>
              <a:gd name="connsiteX5" fmla="*/ 871538 w 2185988"/>
              <a:gd name="connsiteY5" fmla="*/ 4762 h 2206753"/>
              <a:gd name="connsiteX6" fmla="*/ 1066800 w 2185988"/>
              <a:gd name="connsiteY6" fmla="*/ 28575 h 2206753"/>
              <a:gd name="connsiteX7" fmla="*/ 1276350 w 2185988"/>
              <a:gd name="connsiteY7" fmla="*/ 104775 h 2206753"/>
              <a:gd name="connsiteX8" fmla="*/ 1428750 w 2185988"/>
              <a:gd name="connsiteY8" fmla="*/ 171450 h 2206753"/>
              <a:gd name="connsiteX9" fmla="*/ 1512708 w 2185988"/>
              <a:gd name="connsiteY9" fmla="*/ 109288 h 2206753"/>
              <a:gd name="connsiteX10" fmla="*/ 1608190 w 2185988"/>
              <a:gd name="connsiteY10" fmla="*/ 50735 h 2206753"/>
              <a:gd name="connsiteX11" fmla="*/ 1725998 w 2185988"/>
              <a:gd name="connsiteY11" fmla="*/ 16732 h 2206753"/>
              <a:gd name="connsiteX12" fmla="*/ 1832949 w 2185988"/>
              <a:gd name="connsiteY12" fmla="*/ 15537 h 2206753"/>
              <a:gd name="connsiteX13" fmla="*/ 1921006 w 2185988"/>
              <a:gd name="connsiteY13" fmla="*/ 25988 h 2206753"/>
              <a:gd name="connsiteX14" fmla="*/ 1998663 w 2185988"/>
              <a:gd name="connsiteY14" fmla="*/ 44774 h 2206753"/>
              <a:gd name="connsiteX15" fmla="*/ 2052027 w 2185988"/>
              <a:gd name="connsiteY15" fmla="*/ 84607 h 2206753"/>
              <a:gd name="connsiteX16" fmla="*/ 2104411 w 2185988"/>
              <a:gd name="connsiteY16" fmla="*/ 145777 h 2206753"/>
              <a:gd name="connsiteX17" fmla="*/ 2158670 w 2185988"/>
              <a:gd name="connsiteY17" fmla="*/ 235781 h 2206753"/>
              <a:gd name="connsiteX18" fmla="*/ 2177590 w 2185988"/>
              <a:gd name="connsiteY18" fmla="*/ 335200 h 2206753"/>
              <a:gd name="connsiteX19" fmla="*/ 2176953 w 2185988"/>
              <a:gd name="connsiteY19" fmla="*/ 405468 h 2206753"/>
              <a:gd name="connsiteX20" fmla="*/ 2168833 w 2185988"/>
              <a:gd name="connsiteY20" fmla="*/ 489877 h 2206753"/>
              <a:gd name="connsiteX21" fmla="*/ 2134294 w 2185988"/>
              <a:gd name="connsiteY21" fmla="*/ 562812 h 2206753"/>
              <a:gd name="connsiteX22" fmla="*/ 2095503 w 2185988"/>
              <a:gd name="connsiteY22" fmla="*/ 625503 h 2206753"/>
              <a:gd name="connsiteX23" fmla="*/ 2005780 w 2185988"/>
              <a:gd name="connsiteY23" fmla="*/ 737857 h 2206753"/>
              <a:gd name="connsiteX24" fmla="*/ 2105025 w 2185988"/>
              <a:gd name="connsiteY24" fmla="*/ 962025 h 2206753"/>
              <a:gd name="connsiteX25" fmla="*/ 2176463 w 2185988"/>
              <a:gd name="connsiteY25" fmla="*/ 1214437 h 2206753"/>
              <a:gd name="connsiteX26" fmla="*/ 2185988 w 2185988"/>
              <a:gd name="connsiteY26" fmla="*/ 1428750 h 2206753"/>
              <a:gd name="connsiteX27" fmla="*/ 2171700 w 2185988"/>
              <a:gd name="connsiteY27" fmla="*/ 1609725 h 2206753"/>
              <a:gd name="connsiteX28" fmla="*/ 2124075 w 2185988"/>
              <a:gd name="connsiteY28" fmla="*/ 1804987 h 2206753"/>
              <a:gd name="connsiteX29" fmla="*/ 2038350 w 2185988"/>
              <a:gd name="connsiteY29" fmla="*/ 1981200 h 2206753"/>
              <a:gd name="connsiteX30" fmla="*/ 1957388 w 2185988"/>
              <a:gd name="connsiteY30" fmla="*/ 2100262 h 2206753"/>
              <a:gd name="connsiteX31" fmla="*/ 1881757 w 2185988"/>
              <a:gd name="connsiteY31" fmla="*/ 2206753 h 2206753"/>
              <a:gd name="connsiteX0" fmla="*/ 0 w 2185988"/>
              <a:gd name="connsiteY0" fmla="*/ 314325 h 2206753"/>
              <a:gd name="connsiteX1" fmla="*/ 157163 w 2185988"/>
              <a:gd name="connsiteY1" fmla="*/ 185737 h 2206753"/>
              <a:gd name="connsiteX2" fmla="*/ 333375 w 2185988"/>
              <a:gd name="connsiteY2" fmla="*/ 95250 h 2206753"/>
              <a:gd name="connsiteX3" fmla="*/ 495300 w 2185988"/>
              <a:gd name="connsiteY3" fmla="*/ 33337 h 2206753"/>
              <a:gd name="connsiteX4" fmla="*/ 690563 w 2185988"/>
              <a:gd name="connsiteY4" fmla="*/ 0 h 2206753"/>
              <a:gd name="connsiteX5" fmla="*/ 871538 w 2185988"/>
              <a:gd name="connsiteY5" fmla="*/ 4762 h 2206753"/>
              <a:gd name="connsiteX6" fmla="*/ 1066800 w 2185988"/>
              <a:gd name="connsiteY6" fmla="*/ 28575 h 2206753"/>
              <a:gd name="connsiteX7" fmla="*/ 1276350 w 2185988"/>
              <a:gd name="connsiteY7" fmla="*/ 104775 h 2206753"/>
              <a:gd name="connsiteX8" fmla="*/ 1428750 w 2185988"/>
              <a:gd name="connsiteY8" fmla="*/ 171450 h 2206753"/>
              <a:gd name="connsiteX9" fmla="*/ 1512708 w 2185988"/>
              <a:gd name="connsiteY9" fmla="*/ 109288 h 2206753"/>
              <a:gd name="connsiteX10" fmla="*/ 1608190 w 2185988"/>
              <a:gd name="connsiteY10" fmla="*/ 50735 h 2206753"/>
              <a:gd name="connsiteX11" fmla="*/ 1725998 w 2185988"/>
              <a:gd name="connsiteY11" fmla="*/ 16732 h 2206753"/>
              <a:gd name="connsiteX12" fmla="*/ 1832949 w 2185988"/>
              <a:gd name="connsiteY12" fmla="*/ 15537 h 2206753"/>
              <a:gd name="connsiteX13" fmla="*/ 1921004 w 2185988"/>
              <a:gd name="connsiteY13" fmla="*/ 21624 h 2206753"/>
              <a:gd name="connsiteX14" fmla="*/ 1998663 w 2185988"/>
              <a:gd name="connsiteY14" fmla="*/ 44774 h 2206753"/>
              <a:gd name="connsiteX15" fmla="*/ 2052027 w 2185988"/>
              <a:gd name="connsiteY15" fmla="*/ 84607 h 2206753"/>
              <a:gd name="connsiteX16" fmla="*/ 2104411 w 2185988"/>
              <a:gd name="connsiteY16" fmla="*/ 145777 h 2206753"/>
              <a:gd name="connsiteX17" fmla="*/ 2158670 w 2185988"/>
              <a:gd name="connsiteY17" fmla="*/ 235781 h 2206753"/>
              <a:gd name="connsiteX18" fmla="*/ 2177590 w 2185988"/>
              <a:gd name="connsiteY18" fmla="*/ 335200 h 2206753"/>
              <a:gd name="connsiteX19" fmla="*/ 2176953 w 2185988"/>
              <a:gd name="connsiteY19" fmla="*/ 405468 h 2206753"/>
              <a:gd name="connsiteX20" fmla="*/ 2168833 w 2185988"/>
              <a:gd name="connsiteY20" fmla="*/ 489877 h 2206753"/>
              <a:gd name="connsiteX21" fmla="*/ 2134294 w 2185988"/>
              <a:gd name="connsiteY21" fmla="*/ 562812 h 2206753"/>
              <a:gd name="connsiteX22" fmla="*/ 2095503 w 2185988"/>
              <a:gd name="connsiteY22" fmla="*/ 625503 h 2206753"/>
              <a:gd name="connsiteX23" fmla="*/ 2005780 w 2185988"/>
              <a:gd name="connsiteY23" fmla="*/ 737857 h 2206753"/>
              <a:gd name="connsiteX24" fmla="*/ 2105025 w 2185988"/>
              <a:gd name="connsiteY24" fmla="*/ 962025 h 2206753"/>
              <a:gd name="connsiteX25" fmla="*/ 2176463 w 2185988"/>
              <a:gd name="connsiteY25" fmla="*/ 1214437 h 2206753"/>
              <a:gd name="connsiteX26" fmla="*/ 2185988 w 2185988"/>
              <a:gd name="connsiteY26" fmla="*/ 1428750 h 2206753"/>
              <a:gd name="connsiteX27" fmla="*/ 2171700 w 2185988"/>
              <a:gd name="connsiteY27" fmla="*/ 1609725 h 2206753"/>
              <a:gd name="connsiteX28" fmla="*/ 2124075 w 2185988"/>
              <a:gd name="connsiteY28" fmla="*/ 1804987 h 2206753"/>
              <a:gd name="connsiteX29" fmla="*/ 2038350 w 2185988"/>
              <a:gd name="connsiteY29" fmla="*/ 1981200 h 2206753"/>
              <a:gd name="connsiteX30" fmla="*/ 1957388 w 2185988"/>
              <a:gd name="connsiteY30" fmla="*/ 2100262 h 2206753"/>
              <a:gd name="connsiteX31" fmla="*/ 1881757 w 2185988"/>
              <a:gd name="connsiteY31" fmla="*/ 2206753 h 2206753"/>
              <a:gd name="connsiteX0" fmla="*/ 0 w 2185988"/>
              <a:gd name="connsiteY0" fmla="*/ 314325 h 2206753"/>
              <a:gd name="connsiteX1" fmla="*/ 157163 w 2185988"/>
              <a:gd name="connsiteY1" fmla="*/ 185737 h 2206753"/>
              <a:gd name="connsiteX2" fmla="*/ 333375 w 2185988"/>
              <a:gd name="connsiteY2" fmla="*/ 95250 h 2206753"/>
              <a:gd name="connsiteX3" fmla="*/ 495300 w 2185988"/>
              <a:gd name="connsiteY3" fmla="*/ 33337 h 2206753"/>
              <a:gd name="connsiteX4" fmla="*/ 690563 w 2185988"/>
              <a:gd name="connsiteY4" fmla="*/ 0 h 2206753"/>
              <a:gd name="connsiteX5" fmla="*/ 871538 w 2185988"/>
              <a:gd name="connsiteY5" fmla="*/ 4762 h 2206753"/>
              <a:gd name="connsiteX6" fmla="*/ 1066800 w 2185988"/>
              <a:gd name="connsiteY6" fmla="*/ 28575 h 2206753"/>
              <a:gd name="connsiteX7" fmla="*/ 1276350 w 2185988"/>
              <a:gd name="connsiteY7" fmla="*/ 104775 h 2206753"/>
              <a:gd name="connsiteX8" fmla="*/ 1428750 w 2185988"/>
              <a:gd name="connsiteY8" fmla="*/ 171450 h 2206753"/>
              <a:gd name="connsiteX9" fmla="*/ 1512708 w 2185988"/>
              <a:gd name="connsiteY9" fmla="*/ 109288 h 2206753"/>
              <a:gd name="connsiteX10" fmla="*/ 1608190 w 2185988"/>
              <a:gd name="connsiteY10" fmla="*/ 50735 h 2206753"/>
              <a:gd name="connsiteX11" fmla="*/ 1725998 w 2185988"/>
              <a:gd name="connsiteY11" fmla="*/ 16732 h 2206753"/>
              <a:gd name="connsiteX12" fmla="*/ 1832949 w 2185988"/>
              <a:gd name="connsiteY12" fmla="*/ 6811 h 2206753"/>
              <a:gd name="connsiteX13" fmla="*/ 1921004 w 2185988"/>
              <a:gd name="connsiteY13" fmla="*/ 21624 h 2206753"/>
              <a:gd name="connsiteX14" fmla="*/ 1998663 w 2185988"/>
              <a:gd name="connsiteY14" fmla="*/ 44774 h 2206753"/>
              <a:gd name="connsiteX15" fmla="*/ 2052027 w 2185988"/>
              <a:gd name="connsiteY15" fmla="*/ 84607 h 2206753"/>
              <a:gd name="connsiteX16" fmla="*/ 2104411 w 2185988"/>
              <a:gd name="connsiteY16" fmla="*/ 145777 h 2206753"/>
              <a:gd name="connsiteX17" fmla="*/ 2158670 w 2185988"/>
              <a:gd name="connsiteY17" fmla="*/ 235781 h 2206753"/>
              <a:gd name="connsiteX18" fmla="*/ 2177590 w 2185988"/>
              <a:gd name="connsiteY18" fmla="*/ 335200 h 2206753"/>
              <a:gd name="connsiteX19" fmla="*/ 2176953 w 2185988"/>
              <a:gd name="connsiteY19" fmla="*/ 405468 h 2206753"/>
              <a:gd name="connsiteX20" fmla="*/ 2168833 w 2185988"/>
              <a:gd name="connsiteY20" fmla="*/ 489877 h 2206753"/>
              <a:gd name="connsiteX21" fmla="*/ 2134294 w 2185988"/>
              <a:gd name="connsiteY21" fmla="*/ 562812 h 2206753"/>
              <a:gd name="connsiteX22" fmla="*/ 2095503 w 2185988"/>
              <a:gd name="connsiteY22" fmla="*/ 625503 h 2206753"/>
              <a:gd name="connsiteX23" fmla="*/ 2005780 w 2185988"/>
              <a:gd name="connsiteY23" fmla="*/ 737857 h 2206753"/>
              <a:gd name="connsiteX24" fmla="*/ 2105025 w 2185988"/>
              <a:gd name="connsiteY24" fmla="*/ 962025 h 2206753"/>
              <a:gd name="connsiteX25" fmla="*/ 2176463 w 2185988"/>
              <a:gd name="connsiteY25" fmla="*/ 1214437 h 2206753"/>
              <a:gd name="connsiteX26" fmla="*/ 2185988 w 2185988"/>
              <a:gd name="connsiteY26" fmla="*/ 1428750 h 2206753"/>
              <a:gd name="connsiteX27" fmla="*/ 2171700 w 2185988"/>
              <a:gd name="connsiteY27" fmla="*/ 1609725 h 2206753"/>
              <a:gd name="connsiteX28" fmla="*/ 2124075 w 2185988"/>
              <a:gd name="connsiteY28" fmla="*/ 1804987 h 2206753"/>
              <a:gd name="connsiteX29" fmla="*/ 2038350 w 2185988"/>
              <a:gd name="connsiteY29" fmla="*/ 1981200 h 2206753"/>
              <a:gd name="connsiteX30" fmla="*/ 1957388 w 2185988"/>
              <a:gd name="connsiteY30" fmla="*/ 2100262 h 2206753"/>
              <a:gd name="connsiteX31" fmla="*/ 1881757 w 2185988"/>
              <a:gd name="connsiteY31" fmla="*/ 2206753 h 2206753"/>
              <a:gd name="connsiteX0" fmla="*/ 0 w 2185988"/>
              <a:gd name="connsiteY0" fmla="*/ 314325 h 2206753"/>
              <a:gd name="connsiteX1" fmla="*/ 157163 w 2185988"/>
              <a:gd name="connsiteY1" fmla="*/ 185737 h 2206753"/>
              <a:gd name="connsiteX2" fmla="*/ 333375 w 2185988"/>
              <a:gd name="connsiteY2" fmla="*/ 95250 h 2206753"/>
              <a:gd name="connsiteX3" fmla="*/ 495300 w 2185988"/>
              <a:gd name="connsiteY3" fmla="*/ 33337 h 2206753"/>
              <a:gd name="connsiteX4" fmla="*/ 690563 w 2185988"/>
              <a:gd name="connsiteY4" fmla="*/ 0 h 2206753"/>
              <a:gd name="connsiteX5" fmla="*/ 871538 w 2185988"/>
              <a:gd name="connsiteY5" fmla="*/ 4762 h 2206753"/>
              <a:gd name="connsiteX6" fmla="*/ 1066800 w 2185988"/>
              <a:gd name="connsiteY6" fmla="*/ 28575 h 2206753"/>
              <a:gd name="connsiteX7" fmla="*/ 1276350 w 2185988"/>
              <a:gd name="connsiteY7" fmla="*/ 104775 h 2206753"/>
              <a:gd name="connsiteX8" fmla="*/ 1428750 w 2185988"/>
              <a:gd name="connsiteY8" fmla="*/ 171450 h 2206753"/>
              <a:gd name="connsiteX9" fmla="*/ 1512708 w 2185988"/>
              <a:gd name="connsiteY9" fmla="*/ 109288 h 2206753"/>
              <a:gd name="connsiteX10" fmla="*/ 1608190 w 2185988"/>
              <a:gd name="connsiteY10" fmla="*/ 50735 h 2206753"/>
              <a:gd name="connsiteX11" fmla="*/ 1723842 w 2185988"/>
              <a:gd name="connsiteY11" fmla="*/ 10187 h 2206753"/>
              <a:gd name="connsiteX12" fmla="*/ 1832949 w 2185988"/>
              <a:gd name="connsiteY12" fmla="*/ 6811 h 2206753"/>
              <a:gd name="connsiteX13" fmla="*/ 1921004 w 2185988"/>
              <a:gd name="connsiteY13" fmla="*/ 21624 h 2206753"/>
              <a:gd name="connsiteX14" fmla="*/ 1998663 w 2185988"/>
              <a:gd name="connsiteY14" fmla="*/ 44774 h 2206753"/>
              <a:gd name="connsiteX15" fmla="*/ 2052027 w 2185988"/>
              <a:gd name="connsiteY15" fmla="*/ 84607 h 2206753"/>
              <a:gd name="connsiteX16" fmla="*/ 2104411 w 2185988"/>
              <a:gd name="connsiteY16" fmla="*/ 145777 h 2206753"/>
              <a:gd name="connsiteX17" fmla="*/ 2158670 w 2185988"/>
              <a:gd name="connsiteY17" fmla="*/ 235781 h 2206753"/>
              <a:gd name="connsiteX18" fmla="*/ 2177590 w 2185988"/>
              <a:gd name="connsiteY18" fmla="*/ 335200 h 2206753"/>
              <a:gd name="connsiteX19" fmla="*/ 2176953 w 2185988"/>
              <a:gd name="connsiteY19" fmla="*/ 405468 h 2206753"/>
              <a:gd name="connsiteX20" fmla="*/ 2168833 w 2185988"/>
              <a:gd name="connsiteY20" fmla="*/ 489877 h 2206753"/>
              <a:gd name="connsiteX21" fmla="*/ 2134294 w 2185988"/>
              <a:gd name="connsiteY21" fmla="*/ 562812 h 2206753"/>
              <a:gd name="connsiteX22" fmla="*/ 2095503 w 2185988"/>
              <a:gd name="connsiteY22" fmla="*/ 625503 h 2206753"/>
              <a:gd name="connsiteX23" fmla="*/ 2005780 w 2185988"/>
              <a:gd name="connsiteY23" fmla="*/ 737857 h 2206753"/>
              <a:gd name="connsiteX24" fmla="*/ 2105025 w 2185988"/>
              <a:gd name="connsiteY24" fmla="*/ 962025 h 2206753"/>
              <a:gd name="connsiteX25" fmla="*/ 2176463 w 2185988"/>
              <a:gd name="connsiteY25" fmla="*/ 1214437 h 2206753"/>
              <a:gd name="connsiteX26" fmla="*/ 2185988 w 2185988"/>
              <a:gd name="connsiteY26" fmla="*/ 1428750 h 2206753"/>
              <a:gd name="connsiteX27" fmla="*/ 2171700 w 2185988"/>
              <a:gd name="connsiteY27" fmla="*/ 1609725 h 2206753"/>
              <a:gd name="connsiteX28" fmla="*/ 2124075 w 2185988"/>
              <a:gd name="connsiteY28" fmla="*/ 1804987 h 2206753"/>
              <a:gd name="connsiteX29" fmla="*/ 2038350 w 2185988"/>
              <a:gd name="connsiteY29" fmla="*/ 1981200 h 2206753"/>
              <a:gd name="connsiteX30" fmla="*/ 1957388 w 2185988"/>
              <a:gd name="connsiteY30" fmla="*/ 2100262 h 2206753"/>
              <a:gd name="connsiteX31" fmla="*/ 1881757 w 2185988"/>
              <a:gd name="connsiteY31" fmla="*/ 2206753 h 2206753"/>
              <a:gd name="connsiteX0" fmla="*/ 0 w 2185988"/>
              <a:gd name="connsiteY0" fmla="*/ 318582 h 2211010"/>
              <a:gd name="connsiteX1" fmla="*/ 157163 w 2185988"/>
              <a:gd name="connsiteY1" fmla="*/ 189994 h 2211010"/>
              <a:gd name="connsiteX2" fmla="*/ 333375 w 2185988"/>
              <a:gd name="connsiteY2" fmla="*/ 99507 h 2211010"/>
              <a:gd name="connsiteX3" fmla="*/ 495300 w 2185988"/>
              <a:gd name="connsiteY3" fmla="*/ 37594 h 2211010"/>
              <a:gd name="connsiteX4" fmla="*/ 690563 w 2185988"/>
              <a:gd name="connsiteY4" fmla="*/ 4257 h 2211010"/>
              <a:gd name="connsiteX5" fmla="*/ 871538 w 2185988"/>
              <a:gd name="connsiteY5" fmla="*/ 9019 h 2211010"/>
              <a:gd name="connsiteX6" fmla="*/ 1066800 w 2185988"/>
              <a:gd name="connsiteY6" fmla="*/ 32832 h 2211010"/>
              <a:gd name="connsiteX7" fmla="*/ 1276350 w 2185988"/>
              <a:gd name="connsiteY7" fmla="*/ 109032 h 2211010"/>
              <a:gd name="connsiteX8" fmla="*/ 1428750 w 2185988"/>
              <a:gd name="connsiteY8" fmla="*/ 175707 h 2211010"/>
              <a:gd name="connsiteX9" fmla="*/ 1512708 w 2185988"/>
              <a:gd name="connsiteY9" fmla="*/ 113545 h 2211010"/>
              <a:gd name="connsiteX10" fmla="*/ 1608190 w 2185988"/>
              <a:gd name="connsiteY10" fmla="*/ 54992 h 2211010"/>
              <a:gd name="connsiteX11" fmla="*/ 1723842 w 2185988"/>
              <a:gd name="connsiteY11" fmla="*/ 14444 h 2211010"/>
              <a:gd name="connsiteX12" fmla="*/ 1835105 w 2185988"/>
              <a:gd name="connsiteY12" fmla="*/ 160 h 2211010"/>
              <a:gd name="connsiteX13" fmla="*/ 1921004 w 2185988"/>
              <a:gd name="connsiteY13" fmla="*/ 25881 h 2211010"/>
              <a:gd name="connsiteX14" fmla="*/ 1998663 w 2185988"/>
              <a:gd name="connsiteY14" fmla="*/ 49031 h 2211010"/>
              <a:gd name="connsiteX15" fmla="*/ 2052027 w 2185988"/>
              <a:gd name="connsiteY15" fmla="*/ 88864 h 2211010"/>
              <a:gd name="connsiteX16" fmla="*/ 2104411 w 2185988"/>
              <a:gd name="connsiteY16" fmla="*/ 150034 h 2211010"/>
              <a:gd name="connsiteX17" fmla="*/ 2158670 w 2185988"/>
              <a:gd name="connsiteY17" fmla="*/ 240038 h 2211010"/>
              <a:gd name="connsiteX18" fmla="*/ 2177590 w 2185988"/>
              <a:gd name="connsiteY18" fmla="*/ 339457 h 2211010"/>
              <a:gd name="connsiteX19" fmla="*/ 2176953 w 2185988"/>
              <a:gd name="connsiteY19" fmla="*/ 409725 h 2211010"/>
              <a:gd name="connsiteX20" fmla="*/ 2168833 w 2185988"/>
              <a:gd name="connsiteY20" fmla="*/ 494134 h 2211010"/>
              <a:gd name="connsiteX21" fmla="*/ 2134294 w 2185988"/>
              <a:gd name="connsiteY21" fmla="*/ 567069 h 2211010"/>
              <a:gd name="connsiteX22" fmla="*/ 2095503 w 2185988"/>
              <a:gd name="connsiteY22" fmla="*/ 629760 h 2211010"/>
              <a:gd name="connsiteX23" fmla="*/ 2005780 w 2185988"/>
              <a:gd name="connsiteY23" fmla="*/ 742114 h 2211010"/>
              <a:gd name="connsiteX24" fmla="*/ 2105025 w 2185988"/>
              <a:gd name="connsiteY24" fmla="*/ 966282 h 2211010"/>
              <a:gd name="connsiteX25" fmla="*/ 2176463 w 2185988"/>
              <a:gd name="connsiteY25" fmla="*/ 1218694 h 2211010"/>
              <a:gd name="connsiteX26" fmla="*/ 2185988 w 2185988"/>
              <a:gd name="connsiteY26" fmla="*/ 1433007 h 2211010"/>
              <a:gd name="connsiteX27" fmla="*/ 2171700 w 2185988"/>
              <a:gd name="connsiteY27" fmla="*/ 1613982 h 2211010"/>
              <a:gd name="connsiteX28" fmla="*/ 2124075 w 2185988"/>
              <a:gd name="connsiteY28" fmla="*/ 1809244 h 2211010"/>
              <a:gd name="connsiteX29" fmla="*/ 2038350 w 2185988"/>
              <a:gd name="connsiteY29" fmla="*/ 1985457 h 2211010"/>
              <a:gd name="connsiteX30" fmla="*/ 1957388 w 2185988"/>
              <a:gd name="connsiteY30" fmla="*/ 2104519 h 2211010"/>
              <a:gd name="connsiteX31" fmla="*/ 1881757 w 2185988"/>
              <a:gd name="connsiteY31" fmla="*/ 2211010 h 2211010"/>
              <a:gd name="connsiteX0" fmla="*/ 0 w 2185988"/>
              <a:gd name="connsiteY0" fmla="*/ 318582 h 2211010"/>
              <a:gd name="connsiteX1" fmla="*/ 157163 w 2185988"/>
              <a:gd name="connsiteY1" fmla="*/ 189994 h 2211010"/>
              <a:gd name="connsiteX2" fmla="*/ 333375 w 2185988"/>
              <a:gd name="connsiteY2" fmla="*/ 99507 h 2211010"/>
              <a:gd name="connsiteX3" fmla="*/ 495300 w 2185988"/>
              <a:gd name="connsiteY3" fmla="*/ 37594 h 2211010"/>
              <a:gd name="connsiteX4" fmla="*/ 690563 w 2185988"/>
              <a:gd name="connsiteY4" fmla="*/ 4257 h 2211010"/>
              <a:gd name="connsiteX5" fmla="*/ 871538 w 2185988"/>
              <a:gd name="connsiteY5" fmla="*/ 9019 h 2211010"/>
              <a:gd name="connsiteX6" fmla="*/ 1066800 w 2185988"/>
              <a:gd name="connsiteY6" fmla="*/ 32832 h 2211010"/>
              <a:gd name="connsiteX7" fmla="*/ 1276350 w 2185988"/>
              <a:gd name="connsiteY7" fmla="*/ 109032 h 2211010"/>
              <a:gd name="connsiteX8" fmla="*/ 1428750 w 2185988"/>
              <a:gd name="connsiteY8" fmla="*/ 175707 h 2211010"/>
              <a:gd name="connsiteX9" fmla="*/ 1512708 w 2185988"/>
              <a:gd name="connsiteY9" fmla="*/ 113545 h 2211010"/>
              <a:gd name="connsiteX10" fmla="*/ 1608190 w 2185988"/>
              <a:gd name="connsiteY10" fmla="*/ 54992 h 2211010"/>
              <a:gd name="connsiteX11" fmla="*/ 1723842 w 2185988"/>
              <a:gd name="connsiteY11" fmla="*/ 14444 h 2211010"/>
              <a:gd name="connsiteX12" fmla="*/ 1835105 w 2185988"/>
              <a:gd name="connsiteY12" fmla="*/ 160 h 2211010"/>
              <a:gd name="connsiteX13" fmla="*/ 1923158 w 2185988"/>
              <a:gd name="connsiteY13" fmla="*/ 19337 h 2211010"/>
              <a:gd name="connsiteX14" fmla="*/ 1998663 w 2185988"/>
              <a:gd name="connsiteY14" fmla="*/ 49031 h 2211010"/>
              <a:gd name="connsiteX15" fmla="*/ 2052027 w 2185988"/>
              <a:gd name="connsiteY15" fmla="*/ 88864 h 2211010"/>
              <a:gd name="connsiteX16" fmla="*/ 2104411 w 2185988"/>
              <a:gd name="connsiteY16" fmla="*/ 150034 h 2211010"/>
              <a:gd name="connsiteX17" fmla="*/ 2158670 w 2185988"/>
              <a:gd name="connsiteY17" fmla="*/ 240038 h 2211010"/>
              <a:gd name="connsiteX18" fmla="*/ 2177590 w 2185988"/>
              <a:gd name="connsiteY18" fmla="*/ 339457 h 2211010"/>
              <a:gd name="connsiteX19" fmla="*/ 2176953 w 2185988"/>
              <a:gd name="connsiteY19" fmla="*/ 409725 h 2211010"/>
              <a:gd name="connsiteX20" fmla="*/ 2168833 w 2185988"/>
              <a:gd name="connsiteY20" fmla="*/ 494134 h 2211010"/>
              <a:gd name="connsiteX21" fmla="*/ 2134294 w 2185988"/>
              <a:gd name="connsiteY21" fmla="*/ 567069 h 2211010"/>
              <a:gd name="connsiteX22" fmla="*/ 2095503 w 2185988"/>
              <a:gd name="connsiteY22" fmla="*/ 629760 h 2211010"/>
              <a:gd name="connsiteX23" fmla="*/ 2005780 w 2185988"/>
              <a:gd name="connsiteY23" fmla="*/ 742114 h 2211010"/>
              <a:gd name="connsiteX24" fmla="*/ 2105025 w 2185988"/>
              <a:gd name="connsiteY24" fmla="*/ 966282 h 2211010"/>
              <a:gd name="connsiteX25" fmla="*/ 2176463 w 2185988"/>
              <a:gd name="connsiteY25" fmla="*/ 1218694 h 2211010"/>
              <a:gd name="connsiteX26" fmla="*/ 2185988 w 2185988"/>
              <a:gd name="connsiteY26" fmla="*/ 1433007 h 2211010"/>
              <a:gd name="connsiteX27" fmla="*/ 2171700 w 2185988"/>
              <a:gd name="connsiteY27" fmla="*/ 1613982 h 2211010"/>
              <a:gd name="connsiteX28" fmla="*/ 2124075 w 2185988"/>
              <a:gd name="connsiteY28" fmla="*/ 1809244 h 2211010"/>
              <a:gd name="connsiteX29" fmla="*/ 2038350 w 2185988"/>
              <a:gd name="connsiteY29" fmla="*/ 1985457 h 2211010"/>
              <a:gd name="connsiteX30" fmla="*/ 1957388 w 2185988"/>
              <a:gd name="connsiteY30" fmla="*/ 2104519 h 2211010"/>
              <a:gd name="connsiteX31" fmla="*/ 1881757 w 2185988"/>
              <a:gd name="connsiteY31" fmla="*/ 2211010 h 2211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185988" h="2211010">
                <a:moveTo>
                  <a:pt x="0" y="318582"/>
                </a:moveTo>
                <a:lnTo>
                  <a:pt x="157163" y="189994"/>
                </a:lnTo>
                <a:lnTo>
                  <a:pt x="333375" y="99507"/>
                </a:lnTo>
                <a:lnTo>
                  <a:pt x="495300" y="37594"/>
                </a:lnTo>
                <a:lnTo>
                  <a:pt x="690563" y="4257"/>
                </a:lnTo>
                <a:lnTo>
                  <a:pt x="871538" y="9019"/>
                </a:lnTo>
                <a:lnTo>
                  <a:pt x="1066800" y="32832"/>
                </a:lnTo>
                <a:lnTo>
                  <a:pt x="1276350" y="109032"/>
                </a:lnTo>
                <a:lnTo>
                  <a:pt x="1428750" y="175707"/>
                </a:lnTo>
                <a:lnTo>
                  <a:pt x="1512708" y="113545"/>
                </a:lnTo>
                <a:lnTo>
                  <a:pt x="1608190" y="54992"/>
                </a:lnTo>
                <a:cubicBezTo>
                  <a:pt x="1657731" y="29206"/>
                  <a:pt x="1686382" y="20310"/>
                  <a:pt x="1723842" y="14444"/>
                </a:cubicBezTo>
                <a:cubicBezTo>
                  <a:pt x="1761302" y="8578"/>
                  <a:pt x="1802604" y="-1383"/>
                  <a:pt x="1835105" y="160"/>
                </a:cubicBezTo>
                <a:lnTo>
                  <a:pt x="1923158" y="19337"/>
                </a:lnTo>
                <a:lnTo>
                  <a:pt x="1998663" y="49031"/>
                </a:lnTo>
                <a:lnTo>
                  <a:pt x="2052027" y="88864"/>
                </a:lnTo>
                <a:lnTo>
                  <a:pt x="2104411" y="150034"/>
                </a:lnTo>
                <a:cubicBezTo>
                  <a:pt x="2122185" y="175230"/>
                  <a:pt x="2146474" y="208468"/>
                  <a:pt x="2158670" y="240038"/>
                </a:cubicBezTo>
                <a:cubicBezTo>
                  <a:pt x="2170867" y="271609"/>
                  <a:pt x="2174543" y="311176"/>
                  <a:pt x="2177590" y="339457"/>
                </a:cubicBezTo>
                <a:cubicBezTo>
                  <a:pt x="2177378" y="362880"/>
                  <a:pt x="2177165" y="386302"/>
                  <a:pt x="2176953" y="409725"/>
                </a:cubicBezTo>
                <a:lnTo>
                  <a:pt x="2168833" y="494134"/>
                </a:lnTo>
                <a:lnTo>
                  <a:pt x="2134294" y="567069"/>
                </a:lnTo>
                <a:lnTo>
                  <a:pt x="2095503" y="629760"/>
                </a:lnTo>
                <a:lnTo>
                  <a:pt x="2005780" y="742114"/>
                </a:lnTo>
                <a:lnTo>
                  <a:pt x="2105025" y="966282"/>
                </a:lnTo>
                <a:lnTo>
                  <a:pt x="2176463" y="1218694"/>
                </a:lnTo>
                <a:lnTo>
                  <a:pt x="2185988" y="1433007"/>
                </a:lnTo>
                <a:lnTo>
                  <a:pt x="2171700" y="1613982"/>
                </a:lnTo>
                <a:lnTo>
                  <a:pt x="2124075" y="1809244"/>
                </a:lnTo>
                <a:lnTo>
                  <a:pt x="2038350" y="1985457"/>
                </a:lnTo>
                <a:lnTo>
                  <a:pt x="1957388" y="2104519"/>
                </a:lnTo>
                <a:cubicBezTo>
                  <a:pt x="1926084" y="2148243"/>
                  <a:pt x="1913061" y="2167286"/>
                  <a:pt x="1881757" y="2211010"/>
                </a:cubicBezTo>
              </a:path>
            </a:pathLst>
          </a:custGeom>
          <a:solidFill>
            <a:srgbClr val="FF0000">
              <a:alpha val="50000"/>
            </a:srgbClr>
          </a:solidFill>
          <a:ln w="9525" cap="flat" cmpd="sng" algn="ctr">
            <a:noFill/>
            <a:prstDash val="solid"/>
            <a:round/>
            <a:headEnd type="none" w="med" len="med"/>
            <a:tailEnd type="none" w="med" len="med"/>
          </a:ln>
          <a:effectLst/>
        </p:spPr>
        <p:txBody>
          <a:bodyPr vert="horz" wrap="square" lIns="81224" tIns="40611" rIns="81224" bIns="40611" numCol="1" rtlCol="0" anchor="t" anchorCtr="0" compatLnSpc="1">
            <a:prstTxWarp prst="textNoShape">
              <a:avLst/>
            </a:prstTxWarp>
          </a:bodyPr>
          <a:lstStyle/>
          <a:p>
            <a:pPr defTabSz="812209"/>
            <a:endParaRPr lang="en-US" sz="2000" b="1" dirty="0"/>
          </a:p>
        </p:txBody>
      </p:sp>
      <p:sp>
        <p:nvSpPr>
          <p:cNvPr id="27" name="Straight Arrow Connector 105"/>
          <p:cNvSpPr>
            <a:spLocks noChangeShapeType="1"/>
          </p:cNvSpPr>
          <p:nvPr/>
        </p:nvSpPr>
        <p:spPr bwMode="auto">
          <a:xfrm rot="16200000">
            <a:off x="675155" y="3377992"/>
            <a:ext cx="3671368" cy="22493"/>
          </a:xfrm>
          <a:prstGeom prst="straightConnector1">
            <a:avLst/>
          </a:prstGeom>
          <a:noFill/>
          <a:ln w="25400">
            <a:solidFill>
              <a:srgbClr val="000000"/>
            </a:solidFill>
            <a:round/>
            <a:headEnd type="none"/>
            <a:tailEnd type="triangle" w="med" len="med"/>
          </a:ln>
          <a:extLst>
            <a:ext uri="{909E8E84-426E-40DD-AFC4-6F175D3DCCD1}">
              <a14:hiddenFill xmlns:a14="http://schemas.microsoft.com/office/drawing/2010/main">
                <a:noFill/>
              </a14:hiddenFill>
            </a:ext>
          </a:extLst>
        </p:spPr>
        <p:txBody>
          <a:bodyPr vert="horz" wrap="square" lIns="81224" tIns="40611" rIns="81224" bIns="40611" numCol="1" anchor="t" anchorCtr="0" compatLnSpc="1">
            <a:prstTxWarp prst="textNoShape">
              <a:avLst/>
            </a:prstTxWarp>
          </a:bodyPr>
          <a:lstStyle/>
          <a:p>
            <a:endParaRPr lang="en-US" sz="2000" b="1"/>
          </a:p>
        </p:txBody>
      </p:sp>
      <p:graphicFrame>
        <p:nvGraphicFramePr>
          <p:cNvPr id="29" name="对象 28"/>
          <p:cNvGraphicFramePr>
            <a:graphicFrameLocks noChangeAspect="1"/>
          </p:cNvGraphicFramePr>
          <p:nvPr>
            <p:extLst>
              <p:ext uri="{D42A27DB-BD31-4B8C-83A1-F6EECF244321}">
                <p14:modId xmlns:p14="http://schemas.microsoft.com/office/powerpoint/2010/main" val="3063250470"/>
              </p:ext>
            </p:extLst>
          </p:nvPr>
        </p:nvGraphicFramePr>
        <p:xfrm>
          <a:off x="2589125" y="1472721"/>
          <a:ext cx="224210" cy="289077"/>
        </p:xfrm>
        <a:graphic>
          <a:graphicData uri="http://schemas.openxmlformats.org/presentationml/2006/ole">
            <mc:AlternateContent xmlns:mc="http://schemas.openxmlformats.org/markup-compatibility/2006">
              <mc:Choice xmlns:v="urn:schemas-microsoft-com:vml" Requires="v">
                <p:oleObj name="Equation" r:id="rId13" imgW="190440" imgH="241200" progId="Equation.DSMT4">
                  <p:embed/>
                </p:oleObj>
              </mc:Choice>
              <mc:Fallback>
                <p:oleObj name="Equation" r:id="rId13" imgW="190440" imgH="241200" progId="Equation.DSMT4">
                  <p:embed/>
                  <p:pic>
                    <p:nvPicPr>
                      <p:cNvPr id="29" name="对象 28"/>
                      <p:cNvPicPr/>
                      <p:nvPr/>
                    </p:nvPicPr>
                    <p:blipFill>
                      <a:blip r:embed="rId14"/>
                      <a:stretch>
                        <a:fillRect/>
                      </a:stretch>
                    </p:blipFill>
                    <p:spPr>
                      <a:xfrm>
                        <a:off x="2589125" y="1472721"/>
                        <a:ext cx="224210" cy="289077"/>
                      </a:xfrm>
                      <a:prstGeom prst="rect">
                        <a:avLst/>
                      </a:prstGeom>
                    </p:spPr>
                  </p:pic>
                </p:oleObj>
              </mc:Fallback>
            </mc:AlternateContent>
          </a:graphicData>
        </a:graphic>
      </p:graphicFrame>
      <p:sp>
        <p:nvSpPr>
          <p:cNvPr id="26" name="Straight Arrow Connector 105"/>
          <p:cNvSpPr>
            <a:spLocks noChangeShapeType="1"/>
          </p:cNvSpPr>
          <p:nvPr/>
        </p:nvSpPr>
        <p:spPr bwMode="auto">
          <a:xfrm>
            <a:off x="1091924" y="4094422"/>
            <a:ext cx="2922813" cy="7087"/>
          </a:xfrm>
          <a:prstGeom prst="straightConnector1">
            <a:avLst/>
          </a:prstGeom>
          <a:noFill/>
          <a:ln w="25400">
            <a:solidFill>
              <a:srgbClr val="000000"/>
            </a:solidFill>
            <a:round/>
            <a:headEnd type="none"/>
            <a:tailEnd type="triangle" w="med" len="med"/>
          </a:ln>
          <a:extLst>
            <a:ext uri="{909E8E84-426E-40DD-AFC4-6F175D3DCCD1}">
              <a14:hiddenFill xmlns:a14="http://schemas.microsoft.com/office/drawing/2010/main">
                <a:noFill/>
              </a14:hiddenFill>
            </a:ext>
          </a:extLst>
        </p:spPr>
        <p:txBody>
          <a:bodyPr vert="horz" wrap="square" lIns="81224" tIns="40611" rIns="81224" bIns="40611" numCol="1" anchor="t" anchorCtr="0" compatLnSpc="1">
            <a:prstTxWarp prst="textNoShape">
              <a:avLst/>
            </a:prstTxWarp>
          </a:bodyPr>
          <a:lstStyle/>
          <a:p>
            <a:endParaRPr lang="en-US" sz="2000" b="1"/>
          </a:p>
        </p:txBody>
      </p:sp>
      <p:graphicFrame>
        <p:nvGraphicFramePr>
          <p:cNvPr id="28" name="对象 28"/>
          <p:cNvGraphicFramePr>
            <a:graphicFrameLocks noChangeAspect="1"/>
          </p:cNvGraphicFramePr>
          <p:nvPr>
            <p:extLst>
              <p:ext uri="{D42A27DB-BD31-4B8C-83A1-F6EECF244321}">
                <p14:modId xmlns:p14="http://schemas.microsoft.com/office/powerpoint/2010/main" val="131290028"/>
              </p:ext>
            </p:extLst>
          </p:nvPr>
        </p:nvGraphicFramePr>
        <p:xfrm>
          <a:off x="3869586" y="4183218"/>
          <a:ext cx="211584" cy="228441"/>
        </p:xfrm>
        <a:graphic>
          <a:graphicData uri="http://schemas.openxmlformats.org/presentationml/2006/ole">
            <mc:AlternateContent xmlns:mc="http://schemas.openxmlformats.org/markup-compatibility/2006">
              <mc:Choice xmlns:v="urn:schemas-microsoft-com:vml" Requires="v">
                <p:oleObj name="Equation" r:id="rId15" imgW="177480" imgH="190440" progId="Equation.DSMT4">
                  <p:embed/>
                </p:oleObj>
              </mc:Choice>
              <mc:Fallback>
                <p:oleObj name="Equation" r:id="rId15" imgW="177480" imgH="190440" progId="Equation.DSMT4">
                  <p:embed/>
                  <p:pic>
                    <p:nvPicPr>
                      <p:cNvPr id="28" name="对象 28"/>
                      <p:cNvPicPr/>
                      <p:nvPr/>
                    </p:nvPicPr>
                    <p:blipFill>
                      <a:blip r:embed="rId16"/>
                      <a:stretch>
                        <a:fillRect/>
                      </a:stretch>
                    </p:blipFill>
                    <p:spPr>
                      <a:xfrm>
                        <a:off x="3869586" y="4183218"/>
                        <a:ext cx="211584" cy="228441"/>
                      </a:xfrm>
                      <a:prstGeom prst="rect">
                        <a:avLst/>
                      </a:prstGeom>
                    </p:spPr>
                  </p:pic>
                </p:oleObj>
              </mc:Fallback>
            </mc:AlternateContent>
          </a:graphicData>
        </a:graphic>
      </p:graphicFrame>
      <p:cxnSp>
        <p:nvCxnSpPr>
          <p:cNvPr id="11289" name="AutoShape 103"/>
          <p:cNvCxnSpPr>
            <a:cxnSpLocks noChangeShapeType="1"/>
          </p:cNvCxnSpPr>
          <p:nvPr/>
        </p:nvCxnSpPr>
        <p:spPr bwMode="auto">
          <a:xfrm>
            <a:off x="1601994" y="1811932"/>
            <a:ext cx="3586001" cy="2170820"/>
          </a:xfrm>
          <a:prstGeom prst="curvedConnector3">
            <a:avLst>
              <a:gd name="adj1" fmla="val 50000"/>
            </a:avLst>
          </a:prstGeom>
          <a:noFill/>
          <a:ln w="63500">
            <a:solidFill>
              <a:srgbClr val="FFC000"/>
            </a:solidFill>
            <a:round/>
            <a:headEnd type="triangle" w="med" len="med"/>
            <a:tailEnd type="triangle" w="med" len="med"/>
          </a:ln>
          <a:extLst>
            <a:ext uri="{909E8E84-426E-40DD-AFC4-6F175D3DCCD1}">
              <a14:hiddenFill xmlns:a14="http://schemas.microsoft.com/office/drawing/2010/main">
                <a:noFill/>
              </a14:hiddenFill>
            </a:ext>
          </a:extLst>
        </p:spPr>
      </p:cxnSp>
      <p:graphicFrame>
        <p:nvGraphicFramePr>
          <p:cNvPr id="38" name="对象 28"/>
          <p:cNvGraphicFramePr>
            <a:graphicFrameLocks noChangeAspect="1"/>
          </p:cNvGraphicFramePr>
          <p:nvPr>
            <p:extLst>
              <p:ext uri="{D42A27DB-BD31-4B8C-83A1-F6EECF244321}">
                <p14:modId xmlns:p14="http://schemas.microsoft.com/office/powerpoint/2010/main" val="1126910814"/>
              </p:ext>
            </p:extLst>
          </p:nvPr>
        </p:nvGraphicFramePr>
        <p:xfrm>
          <a:off x="3986563" y="2672741"/>
          <a:ext cx="135372" cy="259464"/>
        </p:xfrm>
        <a:graphic>
          <a:graphicData uri="http://schemas.openxmlformats.org/presentationml/2006/ole">
            <mc:AlternateContent xmlns:mc="http://schemas.openxmlformats.org/markup-compatibility/2006">
              <mc:Choice xmlns:v="urn:schemas-microsoft-com:vml" Requires="v">
                <p:oleObj name="Equation" r:id="rId17" imgW="114120" imgH="215640" progId="Equation.DSMT4">
                  <p:embed/>
                </p:oleObj>
              </mc:Choice>
              <mc:Fallback>
                <p:oleObj name="Equation" r:id="rId17" imgW="114120" imgH="215640" progId="Equation.DSMT4">
                  <p:embed/>
                  <p:pic>
                    <p:nvPicPr>
                      <p:cNvPr id="38" name="对象 28"/>
                      <p:cNvPicPr/>
                      <p:nvPr/>
                    </p:nvPicPr>
                    <p:blipFill>
                      <a:blip r:embed="rId18"/>
                      <a:stretch>
                        <a:fillRect/>
                      </a:stretch>
                    </p:blipFill>
                    <p:spPr>
                      <a:xfrm>
                        <a:off x="3986563" y="2672741"/>
                        <a:ext cx="135372" cy="259464"/>
                      </a:xfrm>
                      <a:prstGeom prst="rect">
                        <a:avLst/>
                      </a:prstGeom>
                    </p:spPr>
                  </p:pic>
                </p:oleObj>
              </mc:Fallback>
            </mc:AlternateContent>
          </a:graphicData>
        </a:graphic>
      </p:graphicFrame>
      <p:sp>
        <p:nvSpPr>
          <p:cNvPr id="39" name="Straight Arrow Connector 105"/>
          <p:cNvSpPr>
            <a:spLocks noChangeShapeType="1"/>
          </p:cNvSpPr>
          <p:nvPr/>
        </p:nvSpPr>
        <p:spPr bwMode="auto">
          <a:xfrm rot="18900000">
            <a:off x="860325" y="4001931"/>
            <a:ext cx="3492610" cy="20443"/>
          </a:xfrm>
          <a:prstGeom prst="straightConnector1">
            <a:avLst/>
          </a:prstGeom>
          <a:noFill/>
          <a:ln w="25400">
            <a:solidFill>
              <a:srgbClr val="FFC000"/>
            </a:solidFill>
            <a:round/>
            <a:headEnd type="none"/>
            <a:tailEnd type="triangle" w="med" len="med"/>
          </a:ln>
          <a:extLst>
            <a:ext uri="{909E8E84-426E-40DD-AFC4-6F175D3DCCD1}">
              <a14:hiddenFill xmlns:a14="http://schemas.microsoft.com/office/drawing/2010/main">
                <a:noFill/>
              </a14:hiddenFill>
            </a:ext>
          </a:extLst>
        </p:spPr>
        <p:txBody>
          <a:bodyPr vert="horz" wrap="square" lIns="81224" tIns="40611" rIns="81224" bIns="40611" numCol="1" anchor="t" anchorCtr="0" compatLnSpc="1">
            <a:prstTxWarp prst="textNoShape">
              <a:avLst/>
            </a:prstTxWarp>
          </a:bodyPr>
          <a:lstStyle/>
          <a:p>
            <a:endParaRPr lang="en-US" sz="2000" b="1"/>
          </a:p>
        </p:txBody>
      </p:sp>
      <p:graphicFrame>
        <p:nvGraphicFramePr>
          <p:cNvPr id="40" name="对象 28"/>
          <p:cNvGraphicFramePr>
            <a:graphicFrameLocks noChangeAspect="1"/>
          </p:cNvGraphicFramePr>
          <p:nvPr>
            <p:extLst>
              <p:ext uri="{D42A27DB-BD31-4B8C-83A1-F6EECF244321}">
                <p14:modId xmlns:p14="http://schemas.microsoft.com/office/powerpoint/2010/main" val="3594237056"/>
              </p:ext>
            </p:extLst>
          </p:nvPr>
        </p:nvGraphicFramePr>
        <p:xfrm>
          <a:off x="904019" y="2235603"/>
          <a:ext cx="180497" cy="228441"/>
        </p:xfrm>
        <a:graphic>
          <a:graphicData uri="http://schemas.openxmlformats.org/presentationml/2006/ole">
            <mc:AlternateContent xmlns:mc="http://schemas.openxmlformats.org/markup-compatibility/2006">
              <mc:Choice xmlns:v="urn:schemas-microsoft-com:vml" Requires="v">
                <p:oleObj name="Equation" r:id="rId19" imgW="152280" imgH="190440" progId="Equation.DSMT4">
                  <p:embed/>
                </p:oleObj>
              </mc:Choice>
              <mc:Fallback>
                <p:oleObj name="Equation" r:id="rId19" imgW="152280" imgH="190440" progId="Equation.DSMT4">
                  <p:embed/>
                  <p:pic>
                    <p:nvPicPr>
                      <p:cNvPr id="40" name="对象 28"/>
                      <p:cNvPicPr/>
                      <p:nvPr/>
                    </p:nvPicPr>
                    <p:blipFill>
                      <a:blip r:embed="rId20"/>
                      <a:stretch>
                        <a:fillRect/>
                      </a:stretch>
                    </p:blipFill>
                    <p:spPr>
                      <a:xfrm>
                        <a:off x="904019" y="2235603"/>
                        <a:ext cx="180497" cy="228441"/>
                      </a:xfrm>
                      <a:prstGeom prst="rect">
                        <a:avLst/>
                      </a:prstGeom>
                    </p:spPr>
                  </p:pic>
                </p:oleObj>
              </mc:Fallback>
            </mc:AlternateContent>
          </a:graphicData>
        </a:graphic>
      </p:graphicFrame>
      <p:sp>
        <p:nvSpPr>
          <p:cNvPr id="41" name="Straight Arrow Connector 105"/>
          <p:cNvSpPr>
            <a:spLocks noChangeShapeType="1"/>
          </p:cNvSpPr>
          <p:nvPr/>
        </p:nvSpPr>
        <p:spPr bwMode="auto">
          <a:xfrm rot="13500000" flipV="1">
            <a:off x="226051" y="3841923"/>
            <a:ext cx="4108371" cy="13112"/>
          </a:xfrm>
          <a:prstGeom prst="straightConnector1">
            <a:avLst/>
          </a:prstGeom>
          <a:noFill/>
          <a:ln w="25400">
            <a:solidFill>
              <a:srgbClr val="FFC000"/>
            </a:solidFill>
            <a:round/>
            <a:headEnd type="none"/>
            <a:tailEnd type="triangle" w="med" len="med"/>
          </a:ln>
          <a:extLst>
            <a:ext uri="{909E8E84-426E-40DD-AFC4-6F175D3DCCD1}">
              <a14:hiddenFill xmlns:a14="http://schemas.microsoft.com/office/drawing/2010/main">
                <a:noFill/>
              </a14:hiddenFill>
            </a:ext>
          </a:extLst>
        </p:spPr>
        <p:txBody>
          <a:bodyPr vert="horz" wrap="square" lIns="81224" tIns="40611" rIns="81224" bIns="40611" numCol="1" anchor="t" anchorCtr="0" compatLnSpc="1">
            <a:prstTxWarp prst="textNoShape">
              <a:avLst/>
            </a:prstTxWarp>
          </a:bodyPr>
          <a:lstStyle/>
          <a:p>
            <a:endParaRPr lang="en-US" sz="2000" b="1"/>
          </a:p>
        </p:txBody>
      </p:sp>
      <p:sp>
        <p:nvSpPr>
          <p:cNvPr id="48" name="Freeform 47"/>
          <p:cNvSpPr/>
          <p:nvPr/>
        </p:nvSpPr>
        <p:spPr bwMode="auto">
          <a:xfrm rot="2700000" flipH="1">
            <a:off x="5231679" y="3667143"/>
            <a:ext cx="1516203" cy="1542486"/>
          </a:xfrm>
          <a:custGeom>
            <a:avLst/>
            <a:gdLst>
              <a:gd name="connsiteX0" fmla="*/ 0 w 2185988"/>
              <a:gd name="connsiteY0" fmla="*/ 314325 h 2171700"/>
              <a:gd name="connsiteX1" fmla="*/ 157163 w 2185988"/>
              <a:gd name="connsiteY1" fmla="*/ 185737 h 2171700"/>
              <a:gd name="connsiteX2" fmla="*/ 333375 w 2185988"/>
              <a:gd name="connsiteY2" fmla="*/ 95250 h 2171700"/>
              <a:gd name="connsiteX3" fmla="*/ 495300 w 2185988"/>
              <a:gd name="connsiteY3" fmla="*/ 33337 h 2171700"/>
              <a:gd name="connsiteX4" fmla="*/ 690563 w 2185988"/>
              <a:gd name="connsiteY4" fmla="*/ 0 h 2171700"/>
              <a:gd name="connsiteX5" fmla="*/ 871538 w 2185988"/>
              <a:gd name="connsiteY5" fmla="*/ 4762 h 2171700"/>
              <a:gd name="connsiteX6" fmla="*/ 1066800 w 2185988"/>
              <a:gd name="connsiteY6" fmla="*/ 28575 h 2171700"/>
              <a:gd name="connsiteX7" fmla="*/ 1276350 w 2185988"/>
              <a:gd name="connsiteY7" fmla="*/ 104775 h 2171700"/>
              <a:gd name="connsiteX8" fmla="*/ 1428750 w 2185988"/>
              <a:gd name="connsiteY8" fmla="*/ 171450 h 2171700"/>
              <a:gd name="connsiteX9" fmla="*/ 1571625 w 2185988"/>
              <a:gd name="connsiteY9" fmla="*/ 266700 h 2171700"/>
              <a:gd name="connsiteX10" fmla="*/ 1704975 w 2185988"/>
              <a:gd name="connsiteY10" fmla="*/ 385762 h 2171700"/>
              <a:gd name="connsiteX11" fmla="*/ 1824038 w 2185988"/>
              <a:gd name="connsiteY11" fmla="*/ 504825 h 2171700"/>
              <a:gd name="connsiteX12" fmla="*/ 1938338 w 2185988"/>
              <a:gd name="connsiteY12" fmla="*/ 633412 h 2171700"/>
              <a:gd name="connsiteX13" fmla="*/ 2024063 w 2185988"/>
              <a:gd name="connsiteY13" fmla="*/ 781050 h 2171700"/>
              <a:gd name="connsiteX14" fmla="*/ 2085975 w 2185988"/>
              <a:gd name="connsiteY14" fmla="*/ 952500 h 2171700"/>
              <a:gd name="connsiteX15" fmla="*/ 2152650 w 2185988"/>
              <a:gd name="connsiteY15" fmla="*/ 1152525 h 2171700"/>
              <a:gd name="connsiteX16" fmla="*/ 2185988 w 2185988"/>
              <a:gd name="connsiteY16" fmla="*/ 1428750 h 2171700"/>
              <a:gd name="connsiteX17" fmla="*/ 2171700 w 2185988"/>
              <a:gd name="connsiteY17" fmla="*/ 1609725 h 2171700"/>
              <a:gd name="connsiteX18" fmla="*/ 2124075 w 2185988"/>
              <a:gd name="connsiteY18" fmla="*/ 1804987 h 2171700"/>
              <a:gd name="connsiteX19" fmla="*/ 2038350 w 2185988"/>
              <a:gd name="connsiteY19" fmla="*/ 1981200 h 2171700"/>
              <a:gd name="connsiteX20" fmla="*/ 1957388 w 2185988"/>
              <a:gd name="connsiteY20" fmla="*/ 2100262 h 2171700"/>
              <a:gd name="connsiteX21" fmla="*/ 1895475 w 2185988"/>
              <a:gd name="connsiteY21" fmla="*/ 2171700 h 2171700"/>
              <a:gd name="connsiteX0" fmla="*/ 0 w 2185988"/>
              <a:gd name="connsiteY0" fmla="*/ 314325 h 2171700"/>
              <a:gd name="connsiteX1" fmla="*/ 157163 w 2185988"/>
              <a:gd name="connsiteY1" fmla="*/ 185737 h 2171700"/>
              <a:gd name="connsiteX2" fmla="*/ 333375 w 2185988"/>
              <a:gd name="connsiteY2" fmla="*/ 95250 h 2171700"/>
              <a:gd name="connsiteX3" fmla="*/ 495300 w 2185988"/>
              <a:gd name="connsiteY3" fmla="*/ 33337 h 2171700"/>
              <a:gd name="connsiteX4" fmla="*/ 690563 w 2185988"/>
              <a:gd name="connsiteY4" fmla="*/ 0 h 2171700"/>
              <a:gd name="connsiteX5" fmla="*/ 871538 w 2185988"/>
              <a:gd name="connsiteY5" fmla="*/ 4762 h 2171700"/>
              <a:gd name="connsiteX6" fmla="*/ 1066800 w 2185988"/>
              <a:gd name="connsiteY6" fmla="*/ 28575 h 2171700"/>
              <a:gd name="connsiteX7" fmla="*/ 1276350 w 2185988"/>
              <a:gd name="connsiteY7" fmla="*/ 104775 h 2171700"/>
              <a:gd name="connsiteX8" fmla="*/ 1428750 w 2185988"/>
              <a:gd name="connsiteY8" fmla="*/ 171450 h 2171700"/>
              <a:gd name="connsiteX9" fmla="*/ 1571625 w 2185988"/>
              <a:gd name="connsiteY9" fmla="*/ 266700 h 2171700"/>
              <a:gd name="connsiteX10" fmla="*/ 1704975 w 2185988"/>
              <a:gd name="connsiteY10" fmla="*/ 385762 h 2171700"/>
              <a:gd name="connsiteX11" fmla="*/ 2066926 w 2185988"/>
              <a:gd name="connsiteY11" fmla="*/ 361950 h 2171700"/>
              <a:gd name="connsiteX12" fmla="*/ 1938338 w 2185988"/>
              <a:gd name="connsiteY12" fmla="*/ 633412 h 2171700"/>
              <a:gd name="connsiteX13" fmla="*/ 2024063 w 2185988"/>
              <a:gd name="connsiteY13" fmla="*/ 781050 h 2171700"/>
              <a:gd name="connsiteX14" fmla="*/ 2085975 w 2185988"/>
              <a:gd name="connsiteY14" fmla="*/ 952500 h 2171700"/>
              <a:gd name="connsiteX15" fmla="*/ 2152650 w 2185988"/>
              <a:gd name="connsiteY15" fmla="*/ 1152525 h 2171700"/>
              <a:gd name="connsiteX16" fmla="*/ 2185988 w 2185988"/>
              <a:gd name="connsiteY16" fmla="*/ 1428750 h 2171700"/>
              <a:gd name="connsiteX17" fmla="*/ 2171700 w 2185988"/>
              <a:gd name="connsiteY17" fmla="*/ 1609725 h 2171700"/>
              <a:gd name="connsiteX18" fmla="*/ 2124075 w 2185988"/>
              <a:gd name="connsiteY18" fmla="*/ 1804987 h 2171700"/>
              <a:gd name="connsiteX19" fmla="*/ 2038350 w 2185988"/>
              <a:gd name="connsiteY19" fmla="*/ 1981200 h 2171700"/>
              <a:gd name="connsiteX20" fmla="*/ 1957388 w 2185988"/>
              <a:gd name="connsiteY20" fmla="*/ 2100262 h 2171700"/>
              <a:gd name="connsiteX21" fmla="*/ 1895475 w 2185988"/>
              <a:gd name="connsiteY21" fmla="*/ 2171700 h 2171700"/>
              <a:gd name="connsiteX0" fmla="*/ 0 w 2185988"/>
              <a:gd name="connsiteY0" fmla="*/ 314325 h 2171700"/>
              <a:gd name="connsiteX1" fmla="*/ 157163 w 2185988"/>
              <a:gd name="connsiteY1" fmla="*/ 185737 h 2171700"/>
              <a:gd name="connsiteX2" fmla="*/ 333375 w 2185988"/>
              <a:gd name="connsiteY2" fmla="*/ 95250 h 2171700"/>
              <a:gd name="connsiteX3" fmla="*/ 495300 w 2185988"/>
              <a:gd name="connsiteY3" fmla="*/ 33337 h 2171700"/>
              <a:gd name="connsiteX4" fmla="*/ 690563 w 2185988"/>
              <a:gd name="connsiteY4" fmla="*/ 0 h 2171700"/>
              <a:gd name="connsiteX5" fmla="*/ 871538 w 2185988"/>
              <a:gd name="connsiteY5" fmla="*/ 4762 h 2171700"/>
              <a:gd name="connsiteX6" fmla="*/ 1066800 w 2185988"/>
              <a:gd name="connsiteY6" fmla="*/ 28575 h 2171700"/>
              <a:gd name="connsiteX7" fmla="*/ 1276350 w 2185988"/>
              <a:gd name="connsiteY7" fmla="*/ 104775 h 2171700"/>
              <a:gd name="connsiteX8" fmla="*/ 1428750 w 2185988"/>
              <a:gd name="connsiteY8" fmla="*/ 171450 h 2171700"/>
              <a:gd name="connsiteX9" fmla="*/ 1571625 w 2185988"/>
              <a:gd name="connsiteY9" fmla="*/ 266700 h 2171700"/>
              <a:gd name="connsiteX10" fmla="*/ 1704975 w 2185988"/>
              <a:gd name="connsiteY10" fmla="*/ 385762 h 2171700"/>
              <a:gd name="connsiteX11" fmla="*/ 2066926 w 2185988"/>
              <a:gd name="connsiteY11" fmla="*/ 361950 h 2171700"/>
              <a:gd name="connsiteX12" fmla="*/ 2009775 w 2185988"/>
              <a:gd name="connsiteY12" fmla="*/ 590550 h 2171700"/>
              <a:gd name="connsiteX13" fmla="*/ 2024063 w 2185988"/>
              <a:gd name="connsiteY13" fmla="*/ 781050 h 2171700"/>
              <a:gd name="connsiteX14" fmla="*/ 2085975 w 2185988"/>
              <a:gd name="connsiteY14" fmla="*/ 952500 h 2171700"/>
              <a:gd name="connsiteX15" fmla="*/ 2152650 w 2185988"/>
              <a:gd name="connsiteY15" fmla="*/ 1152525 h 2171700"/>
              <a:gd name="connsiteX16" fmla="*/ 2185988 w 2185988"/>
              <a:gd name="connsiteY16" fmla="*/ 1428750 h 2171700"/>
              <a:gd name="connsiteX17" fmla="*/ 2171700 w 2185988"/>
              <a:gd name="connsiteY17" fmla="*/ 1609725 h 2171700"/>
              <a:gd name="connsiteX18" fmla="*/ 2124075 w 2185988"/>
              <a:gd name="connsiteY18" fmla="*/ 1804987 h 2171700"/>
              <a:gd name="connsiteX19" fmla="*/ 2038350 w 2185988"/>
              <a:gd name="connsiteY19" fmla="*/ 1981200 h 2171700"/>
              <a:gd name="connsiteX20" fmla="*/ 1957388 w 2185988"/>
              <a:gd name="connsiteY20" fmla="*/ 2100262 h 2171700"/>
              <a:gd name="connsiteX21" fmla="*/ 1895475 w 2185988"/>
              <a:gd name="connsiteY21" fmla="*/ 2171700 h 2171700"/>
              <a:gd name="connsiteX0" fmla="*/ 0 w 2185988"/>
              <a:gd name="connsiteY0" fmla="*/ 314325 h 2171700"/>
              <a:gd name="connsiteX1" fmla="*/ 157163 w 2185988"/>
              <a:gd name="connsiteY1" fmla="*/ 185737 h 2171700"/>
              <a:gd name="connsiteX2" fmla="*/ 333375 w 2185988"/>
              <a:gd name="connsiteY2" fmla="*/ 95250 h 2171700"/>
              <a:gd name="connsiteX3" fmla="*/ 495300 w 2185988"/>
              <a:gd name="connsiteY3" fmla="*/ 33337 h 2171700"/>
              <a:gd name="connsiteX4" fmla="*/ 690563 w 2185988"/>
              <a:gd name="connsiteY4" fmla="*/ 0 h 2171700"/>
              <a:gd name="connsiteX5" fmla="*/ 871538 w 2185988"/>
              <a:gd name="connsiteY5" fmla="*/ 4762 h 2171700"/>
              <a:gd name="connsiteX6" fmla="*/ 1066800 w 2185988"/>
              <a:gd name="connsiteY6" fmla="*/ 28575 h 2171700"/>
              <a:gd name="connsiteX7" fmla="*/ 1276350 w 2185988"/>
              <a:gd name="connsiteY7" fmla="*/ 104775 h 2171700"/>
              <a:gd name="connsiteX8" fmla="*/ 1428750 w 2185988"/>
              <a:gd name="connsiteY8" fmla="*/ 171450 h 2171700"/>
              <a:gd name="connsiteX9" fmla="*/ 1571625 w 2185988"/>
              <a:gd name="connsiteY9" fmla="*/ 266700 h 2171700"/>
              <a:gd name="connsiteX10" fmla="*/ 1704975 w 2185988"/>
              <a:gd name="connsiteY10" fmla="*/ 385762 h 2171700"/>
              <a:gd name="connsiteX11" fmla="*/ 1885950 w 2185988"/>
              <a:gd name="connsiteY11" fmla="*/ 347662 h 2171700"/>
              <a:gd name="connsiteX12" fmla="*/ 2066926 w 2185988"/>
              <a:gd name="connsiteY12" fmla="*/ 361950 h 2171700"/>
              <a:gd name="connsiteX13" fmla="*/ 2009775 w 2185988"/>
              <a:gd name="connsiteY13" fmla="*/ 590550 h 2171700"/>
              <a:gd name="connsiteX14" fmla="*/ 2024063 w 2185988"/>
              <a:gd name="connsiteY14" fmla="*/ 781050 h 2171700"/>
              <a:gd name="connsiteX15" fmla="*/ 2085975 w 2185988"/>
              <a:gd name="connsiteY15" fmla="*/ 952500 h 2171700"/>
              <a:gd name="connsiteX16" fmla="*/ 2152650 w 2185988"/>
              <a:gd name="connsiteY16" fmla="*/ 1152525 h 2171700"/>
              <a:gd name="connsiteX17" fmla="*/ 2185988 w 2185988"/>
              <a:gd name="connsiteY17" fmla="*/ 1428750 h 2171700"/>
              <a:gd name="connsiteX18" fmla="*/ 2171700 w 2185988"/>
              <a:gd name="connsiteY18" fmla="*/ 1609725 h 2171700"/>
              <a:gd name="connsiteX19" fmla="*/ 2124075 w 2185988"/>
              <a:gd name="connsiteY19" fmla="*/ 1804987 h 2171700"/>
              <a:gd name="connsiteX20" fmla="*/ 2038350 w 2185988"/>
              <a:gd name="connsiteY20" fmla="*/ 1981200 h 2171700"/>
              <a:gd name="connsiteX21" fmla="*/ 1957388 w 2185988"/>
              <a:gd name="connsiteY21" fmla="*/ 2100262 h 2171700"/>
              <a:gd name="connsiteX22" fmla="*/ 1895475 w 2185988"/>
              <a:gd name="connsiteY22" fmla="*/ 2171700 h 2171700"/>
              <a:gd name="connsiteX0" fmla="*/ 0 w 2185988"/>
              <a:gd name="connsiteY0" fmla="*/ 314325 h 2171700"/>
              <a:gd name="connsiteX1" fmla="*/ 157163 w 2185988"/>
              <a:gd name="connsiteY1" fmla="*/ 185737 h 2171700"/>
              <a:gd name="connsiteX2" fmla="*/ 333375 w 2185988"/>
              <a:gd name="connsiteY2" fmla="*/ 95250 h 2171700"/>
              <a:gd name="connsiteX3" fmla="*/ 495300 w 2185988"/>
              <a:gd name="connsiteY3" fmla="*/ 33337 h 2171700"/>
              <a:gd name="connsiteX4" fmla="*/ 690563 w 2185988"/>
              <a:gd name="connsiteY4" fmla="*/ 0 h 2171700"/>
              <a:gd name="connsiteX5" fmla="*/ 871538 w 2185988"/>
              <a:gd name="connsiteY5" fmla="*/ 4762 h 2171700"/>
              <a:gd name="connsiteX6" fmla="*/ 1066800 w 2185988"/>
              <a:gd name="connsiteY6" fmla="*/ 28575 h 2171700"/>
              <a:gd name="connsiteX7" fmla="*/ 1276350 w 2185988"/>
              <a:gd name="connsiteY7" fmla="*/ 104775 h 2171700"/>
              <a:gd name="connsiteX8" fmla="*/ 1428750 w 2185988"/>
              <a:gd name="connsiteY8" fmla="*/ 171450 h 2171700"/>
              <a:gd name="connsiteX9" fmla="*/ 1571625 w 2185988"/>
              <a:gd name="connsiteY9" fmla="*/ 266700 h 2171700"/>
              <a:gd name="connsiteX10" fmla="*/ 1704975 w 2185988"/>
              <a:gd name="connsiteY10" fmla="*/ 385762 h 2171700"/>
              <a:gd name="connsiteX11" fmla="*/ 1914525 w 2185988"/>
              <a:gd name="connsiteY11" fmla="*/ 290512 h 2171700"/>
              <a:gd name="connsiteX12" fmla="*/ 2066926 w 2185988"/>
              <a:gd name="connsiteY12" fmla="*/ 361950 h 2171700"/>
              <a:gd name="connsiteX13" fmla="*/ 2009775 w 2185988"/>
              <a:gd name="connsiteY13" fmla="*/ 590550 h 2171700"/>
              <a:gd name="connsiteX14" fmla="*/ 2024063 w 2185988"/>
              <a:gd name="connsiteY14" fmla="*/ 781050 h 2171700"/>
              <a:gd name="connsiteX15" fmla="*/ 2085975 w 2185988"/>
              <a:gd name="connsiteY15" fmla="*/ 952500 h 2171700"/>
              <a:gd name="connsiteX16" fmla="*/ 2152650 w 2185988"/>
              <a:gd name="connsiteY16" fmla="*/ 1152525 h 2171700"/>
              <a:gd name="connsiteX17" fmla="*/ 2185988 w 2185988"/>
              <a:gd name="connsiteY17" fmla="*/ 1428750 h 2171700"/>
              <a:gd name="connsiteX18" fmla="*/ 2171700 w 2185988"/>
              <a:gd name="connsiteY18" fmla="*/ 1609725 h 2171700"/>
              <a:gd name="connsiteX19" fmla="*/ 2124075 w 2185988"/>
              <a:gd name="connsiteY19" fmla="*/ 1804987 h 2171700"/>
              <a:gd name="connsiteX20" fmla="*/ 2038350 w 2185988"/>
              <a:gd name="connsiteY20" fmla="*/ 1981200 h 2171700"/>
              <a:gd name="connsiteX21" fmla="*/ 1957388 w 2185988"/>
              <a:gd name="connsiteY21" fmla="*/ 2100262 h 2171700"/>
              <a:gd name="connsiteX22" fmla="*/ 1895475 w 2185988"/>
              <a:gd name="connsiteY22" fmla="*/ 2171700 h 2171700"/>
              <a:gd name="connsiteX0" fmla="*/ 0 w 2224088"/>
              <a:gd name="connsiteY0" fmla="*/ 314325 h 2171700"/>
              <a:gd name="connsiteX1" fmla="*/ 157163 w 2224088"/>
              <a:gd name="connsiteY1" fmla="*/ 185737 h 2171700"/>
              <a:gd name="connsiteX2" fmla="*/ 333375 w 2224088"/>
              <a:gd name="connsiteY2" fmla="*/ 95250 h 2171700"/>
              <a:gd name="connsiteX3" fmla="*/ 495300 w 2224088"/>
              <a:gd name="connsiteY3" fmla="*/ 33337 h 2171700"/>
              <a:gd name="connsiteX4" fmla="*/ 690563 w 2224088"/>
              <a:gd name="connsiteY4" fmla="*/ 0 h 2171700"/>
              <a:gd name="connsiteX5" fmla="*/ 871538 w 2224088"/>
              <a:gd name="connsiteY5" fmla="*/ 4762 h 2171700"/>
              <a:gd name="connsiteX6" fmla="*/ 1066800 w 2224088"/>
              <a:gd name="connsiteY6" fmla="*/ 28575 h 2171700"/>
              <a:gd name="connsiteX7" fmla="*/ 1276350 w 2224088"/>
              <a:gd name="connsiteY7" fmla="*/ 104775 h 2171700"/>
              <a:gd name="connsiteX8" fmla="*/ 1428750 w 2224088"/>
              <a:gd name="connsiteY8" fmla="*/ 171450 h 2171700"/>
              <a:gd name="connsiteX9" fmla="*/ 1571625 w 2224088"/>
              <a:gd name="connsiteY9" fmla="*/ 266700 h 2171700"/>
              <a:gd name="connsiteX10" fmla="*/ 1704975 w 2224088"/>
              <a:gd name="connsiteY10" fmla="*/ 385762 h 2171700"/>
              <a:gd name="connsiteX11" fmla="*/ 1914525 w 2224088"/>
              <a:gd name="connsiteY11" fmla="*/ 290512 h 2171700"/>
              <a:gd name="connsiteX12" fmla="*/ 2066926 w 2224088"/>
              <a:gd name="connsiteY12" fmla="*/ 361950 h 2171700"/>
              <a:gd name="connsiteX13" fmla="*/ 2224088 w 2224088"/>
              <a:gd name="connsiteY13" fmla="*/ 604837 h 2171700"/>
              <a:gd name="connsiteX14" fmla="*/ 2024063 w 2224088"/>
              <a:gd name="connsiteY14" fmla="*/ 781050 h 2171700"/>
              <a:gd name="connsiteX15" fmla="*/ 2085975 w 2224088"/>
              <a:gd name="connsiteY15" fmla="*/ 952500 h 2171700"/>
              <a:gd name="connsiteX16" fmla="*/ 2152650 w 2224088"/>
              <a:gd name="connsiteY16" fmla="*/ 1152525 h 2171700"/>
              <a:gd name="connsiteX17" fmla="*/ 2185988 w 2224088"/>
              <a:gd name="connsiteY17" fmla="*/ 1428750 h 2171700"/>
              <a:gd name="connsiteX18" fmla="*/ 2171700 w 2224088"/>
              <a:gd name="connsiteY18" fmla="*/ 1609725 h 2171700"/>
              <a:gd name="connsiteX19" fmla="*/ 2124075 w 2224088"/>
              <a:gd name="connsiteY19" fmla="*/ 1804987 h 2171700"/>
              <a:gd name="connsiteX20" fmla="*/ 2038350 w 2224088"/>
              <a:gd name="connsiteY20" fmla="*/ 1981200 h 2171700"/>
              <a:gd name="connsiteX21" fmla="*/ 1957388 w 2224088"/>
              <a:gd name="connsiteY21" fmla="*/ 2100262 h 2171700"/>
              <a:gd name="connsiteX22" fmla="*/ 1895475 w 2224088"/>
              <a:gd name="connsiteY22" fmla="*/ 2171700 h 2171700"/>
              <a:gd name="connsiteX0" fmla="*/ 0 w 2224088"/>
              <a:gd name="connsiteY0" fmla="*/ 314325 h 2171700"/>
              <a:gd name="connsiteX1" fmla="*/ 157163 w 2224088"/>
              <a:gd name="connsiteY1" fmla="*/ 185737 h 2171700"/>
              <a:gd name="connsiteX2" fmla="*/ 333375 w 2224088"/>
              <a:gd name="connsiteY2" fmla="*/ 95250 h 2171700"/>
              <a:gd name="connsiteX3" fmla="*/ 495300 w 2224088"/>
              <a:gd name="connsiteY3" fmla="*/ 33337 h 2171700"/>
              <a:gd name="connsiteX4" fmla="*/ 690563 w 2224088"/>
              <a:gd name="connsiteY4" fmla="*/ 0 h 2171700"/>
              <a:gd name="connsiteX5" fmla="*/ 871538 w 2224088"/>
              <a:gd name="connsiteY5" fmla="*/ 4762 h 2171700"/>
              <a:gd name="connsiteX6" fmla="*/ 1066800 w 2224088"/>
              <a:gd name="connsiteY6" fmla="*/ 28575 h 2171700"/>
              <a:gd name="connsiteX7" fmla="*/ 1276350 w 2224088"/>
              <a:gd name="connsiteY7" fmla="*/ 104775 h 2171700"/>
              <a:gd name="connsiteX8" fmla="*/ 1428750 w 2224088"/>
              <a:gd name="connsiteY8" fmla="*/ 171450 h 2171700"/>
              <a:gd name="connsiteX9" fmla="*/ 1571625 w 2224088"/>
              <a:gd name="connsiteY9" fmla="*/ 266700 h 2171700"/>
              <a:gd name="connsiteX10" fmla="*/ 1704975 w 2224088"/>
              <a:gd name="connsiteY10" fmla="*/ 385762 h 2171700"/>
              <a:gd name="connsiteX11" fmla="*/ 1838325 w 2224088"/>
              <a:gd name="connsiteY11" fmla="*/ 323850 h 2171700"/>
              <a:gd name="connsiteX12" fmla="*/ 2066926 w 2224088"/>
              <a:gd name="connsiteY12" fmla="*/ 361950 h 2171700"/>
              <a:gd name="connsiteX13" fmla="*/ 2224088 w 2224088"/>
              <a:gd name="connsiteY13" fmla="*/ 604837 h 2171700"/>
              <a:gd name="connsiteX14" fmla="*/ 2024063 w 2224088"/>
              <a:gd name="connsiteY14" fmla="*/ 781050 h 2171700"/>
              <a:gd name="connsiteX15" fmla="*/ 2085975 w 2224088"/>
              <a:gd name="connsiteY15" fmla="*/ 952500 h 2171700"/>
              <a:gd name="connsiteX16" fmla="*/ 2152650 w 2224088"/>
              <a:gd name="connsiteY16" fmla="*/ 1152525 h 2171700"/>
              <a:gd name="connsiteX17" fmla="*/ 2185988 w 2224088"/>
              <a:gd name="connsiteY17" fmla="*/ 1428750 h 2171700"/>
              <a:gd name="connsiteX18" fmla="*/ 2171700 w 2224088"/>
              <a:gd name="connsiteY18" fmla="*/ 1609725 h 2171700"/>
              <a:gd name="connsiteX19" fmla="*/ 2124075 w 2224088"/>
              <a:gd name="connsiteY19" fmla="*/ 1804987 h 2171700"/>
              <a:gd name="connsiteX20" fmla="*/ 2038350 w 2224088"/>
              <a:gd name="connsiteY20" fmla="*/ 1981200 h 2171700"/>
              <a:gd name="connsiteX21" fmla="*/ 1957388 w 2224088"/>
              <a:gd name="connsiteY21" fmla="*/ 2100262 h 2171700"/>
              <a:gd name="connsiteX22" fmla="*/ 1895475 w 2224088"/>
              <a:gd name="connsiteY22" fmla="*/ 2171700 h 2171700"/>
              <a:gd name="connsiteX0" fmla="*/ 0 w 2224088"/>
              <a:gd name="connsiteY0" fmla="*/ 314325 h 2171700"/>
              <a:gd name="connsiteX1" fmla="*/ 157163 w 2224088"/>
              <a:gd name="connsiteY1" fmla="*/ 185737 h 2171700"/>
              <a:gd name="connsiteX2" fmla="*/ 333375 w 2224088"/>
              <a:gd name="connsiteY2" fmla="*/ 95250 h 2171700"/>
              <a:gd name="connsiteX3" fmla="*/ 495300 w 2224088"/>
              <a:gd name="connsiteY3" fmla="*/ 33337 h 2171700"/>
              <a:gd name="connsiteX4" fmla="*/ 690563 w 2224088"/>
              <a:gd name="connsiteY4" fmla="*/ 0 h 2171700"/>
              <a:gd name="connsiteX5" fmla="*/ 871538 w 2224088"/>
              <a:gd name="connsiteY5" fmla="*/ 4762 h 2171700"/>
              <a:gd name="connsiteX6" fmla="*/ 1066800 w 2224088"/>
              <a:gd name="connsiteY6" fmla="*/ 28575 h 2171700"/>
              <a:gd name="connsiteX7" fmla="*/ 1276350 w 2224088"/>
              <a:gd name="connsiteY7" fmla="*/ 104775 h 2171700"/>
              <a:gd name="connsiteX8" fmla="*/ 1428750 w 2224088"/>
              <a:gd name="connsiteY8" fmla="*/ 171450 h 2171700"/>
              <a:gd name="connsiteX9" fmla="*/ 1571625 w 2224088"/>
              <a:gd name="connsiteY9" fmla="*/ 266700 h 2171700"/>
              <a:gd name="connsiteX10" fmla="*/ 1704975 w 2224088"/>
              <a:gd name="connsiteY10" fmla="*/ 385762 h 2171700"/>
              <a:gd name="connsiteX11" fmla="*/ 1838325 w 2224088"/>
              <a:gd name="connsiteY11" fmla="*/ 323850 h 2171700"/>
              <a:gd name="connsiteX12" fmla="*/ 2066926 w 2224088"/>
              <a:gd name="connsiteY12" fmla="*/ 361950 h 2171700"/>
              <a:gd name="connsiteX13" fmla="*/ 2128838 w 2224088"/>
              <a:gd name="connsiteY13" fmla="*/ 452437 h 2171700"/>
              <a:gd name="connsiteX14" fmla="*/ 2224088 w 2224088"/>
              <a:gd name="connsiteY14" fmla="*/ 604837 h 2171700"/>
              <a:gd name="connsiteX15" fmla="*/ 2024063 w 2224088"/>
              <a:gd name="connsiteY15" fmla="*/ 781050 h 2171700"/>
              <a:gd name="connsiteX16" fmla="*/ 2085975 w 2224088"/>
              <a:gd name="connsiteY16" fmla="*/ 952500 h 2171700"/>
              <a:gd name="connsiteX17" fmla="*/ 2152650 w 2224088"/>
              <a:gd name="connsiteY17" fmla="*/ 1152525 h 2171700"/>
              <a:gd name="connsiteX18" fmla="*/ 2185988 w 2224088"/>
              <a:gd name="connsiteY18" fmla="*/ 1428750 h 2171700"/>
              <a:gd name="connsiteX19" fmla="*/ 2171700 w 2224088"/>
              <a:gd name="connsiteY19" fmla="*/ 1609725 h 2171700"/>
              <a:gd name="connsiteX20" fmla="*/ 2124075 w 2224088"/>
              <a:gd name="connsiteY20" fmla="*/ 1804987 h 2171700"/>
              <a:gd name="connsiteX21" fmla="*/ 2038350 w 2224088"/>
              <a:gd name="connsiteY21" fmla="*/ 1981200 h 2171700"/>
              <a:gd name="connsiteX22" fmla="*/ 1957388 w 2224088"/>
              <a:gd name="connsiteY22" fmla="*/ 2100262 h 2171700"/>
              <a:gd name="connsiteX23" fmla="*/ 1895475 w 2224088"/>
              <a:gd name="connsiteY23" fmla="*/ 2171700 h 2171700"/>
              <a:gd name="connsiteX0" fmla="*/ 0 w 2224088"/>
              <a:gd name="connsiteY0" fmla="*/ 314325 h 2171700"/>
              <a:gd name="connsiteX1" fmla="*/ 157163 w 2224088"/>
              <a:gd name="connsiteY1" fmla="*/ 185737 h 2171700"/>
              <a:gd name="connsiteX2" fmla="*/ 333375 w 2224088"/>
              <a:gd name="connsiteY2" fmla="*/ 95250 h 2171700"/>
              <a:gd name="connsiteX3" fmla="*/ 495300 w 2224088"/>
              <a:gd name="connsiteY3" fmla="*/ 33337 h 2171700"/>
              <a:gd name="connsiteX4" fmla="*/ 690563 w 2224088"/>
              <a:gd name="connsiteY4" fmla="*/ 0 h 2171700"/>
              <a:gd name="connsiteX5" fmla="*/ 871538 w 2224088"/>
              <a:gd name="connsiteY5" fmla="*/ 4762 h 2171700"/>
              <a:gd name="connsiteX6" fmla="*/ 1066800 w 2224088"/>
              <a:gd name="connsiteY6" fmla="*/ 28575 h 2171700"/>
              <a:gd name="connsiteX7" fmla="*/ 1276350 w 2224088"/>
              <a:gd name="connsiteY7" fmla="*/ 104775 h 2171700"/>
              <a:gd name="connsiteX8" fmla="*/ 1428750 w 2224088"/>
              <a:gd name="connsiteY8" fmla="*/ 171450 h 2171700"/>
              <a:gd name="connsiteX9" fmla="*/ 1571625 w 2224088"/>
              <a:gd name="connsiteY9" fmla="*/ 266700 h 2171700"/>
              <a:gd name="connsiteX10" fmla="*/ 1704975 w 2224088"/>
              <a:gd name="connsiteY10" fmla="*/ 385762 h 2171700"/>
              <a:gd name="connsiteX11" fmla="*/ 1838325 w 2224088"/>
              <a:gd name="connsiteY11" fmla="*/ 323850 h 2171700"/>
              <a:gd name="connsiteX12" fmla="*/ 2066926 w 2224088"/>
              <a:gd name="connsiteY12" fmla="*/ 361950 h 2171700"/>
              <a:gd name="connsiteX13" fmla="*/ 2128838 w 2224088"/>
              <a:gd name="connsiteY13" fmla="*/ 452437 h 2171700"/>
              <a:gd name="connsiteX14" fmla="*/ 2224088 w 2224088"/>
              <a:gd name="connsiteY14" fmla="*/ 604837 h 2171700"/>
              <a:gd name="connsiteX15" fmla="*/ 2128838 w 2224088"/>
              <a:gd name="connsiteY15" fmla="*/ 671512 h 2171700"/>
              <a:gd name="connsiteX16" fmla="*/ 2024063 w 2224088"/>
              <a:gd name="connsiteY16" fmla="*/ 781050 h 2171700"/>
              <a:gd name="connsiteX17" fmla="*/ 2085975 w 2224088"/>
              <a:gd name="connsiteY17" fmla="*/ 952500 h 2171700"/>
              <a:gd name="connsiteX18" fmla="*/ 2152650 w 2224088"/>
              <a:gd name="connsiteY18" fmla="*/ 1152525 h 2171700"/>
              <a:gd name="connsiteX19" fmla="*/ 2185988 w 2224088"/>
              <a:gd name="connsiteY19" fmla="*/ 1428750 h 2171700"/>
              <a:gd name="connsiteX20" fmla="*/ 2171700 w 2224088"/>
              <a:gd name="connsiteY20" fmla="*/ 1609725 h 2171700"/>
              <a:gd name="connsiteX21" fmla="*/ 2124075 w 2224088"/>
              <a:gd name="connsiteY21" fmla="*/ 1804987 h 2171700"/>
              <a:gd name="connsiteX22" fmla="*/ 2038350 w 2224088"/>
              <a:gd name="connsiteY22" fmla="*/ 1981200 h 2171700"/>
              <a:gd name="connsiteX23" fmla="*/ 1957388 w 2224088"/>
              <a:gd name="connsiteY23" fmla="*/ 2100262 h 2171700"/>
              <a:gd name="connsiteX24" fmla="*/ 1895475 w 2224088"/>
              <a:gd name="connsiteY24" fmla="*/ 2171700 h 2171700"/>
              <a:gd name="connsiteX0" fmla="*/ 0 w 2185988"/>
              <a:gd name="connsiteY0" fmla="*/ 314325 h 2171700"/>
              <a:gd name="connsiteX1" fmla="*/ 157163 w 2185988"/>
              <a:gd name="connsiteY1" fmla="*/ 185737 h 2171700"/>
              <a:gd name="connsiteX2" fmla="*/ 333375 w 2185988"/>
              <a:gd name="connsiteY2" fmla="*/ 95250 h 2171700"/>
              <a:gd name="connsiteX3" fmla="*/ 495300 w 2185988"/>
              <a:gd name="connsiteY3" fmla="*/ 33337 h 2171700"/>
              <a:gd name="connsiteX4" fmla="*/ 690563 w 2185988"/>
              <a:gd name="connsiteY4" fmla="*/ 0 h 2171700"/>
              <a:gd name="connsiteX5" fmla="*/ 871538 w 2185988"/>
              <a:gd name="connsiteY5" fmla="*/ 4762 h 2171700"/>
              <a:gd name="connsiteX6" fmla="*/ 1066800 w 2185988"/>
              <a:gd name="connsiteY6" fmla="*/ 28575 h 2171700"/>
              <a:gd name="connsiteX7" fmla="*/ 1276350 w 2185988"/>
              <a:gd name="connsiteY7" fmla="*/ 104775 h 2171700"/>
              <a:gd name="connsiteX8" fmla="*/ 1428750 w 2185988"/>
              <a:gd name="connsiteY8" fmla="*/ 171450 h 2171700"/>
              <a:gd name="connsiteX9" fmla="*/ 1571625 w 2185988"/>
              <a:gd name="connsiteY9" fmla="*/ 266700 h 2171700"/>
              <a:gd name="connsiteX10" fmla="*/ 1704975 w 2185988"/>
              <a:gd name="connsiteY10" fmla="*/ 385762 h 2171700"/>
              <a:gd name="connsiteX11" fmla="*/ 1838325 w 2185988"/>
              <a:gd name="connsiteY11" fmla="*/ 323850 h 2171700"/>
              <a:gd name="connsiteX12" fmla="*/ 2066926 w 2185988"/>
              <a:gd name="connsiteY12" fmla="*/ 361950 h 2171700"/>
              <a:gd name="connsiteX13" fmla="*/ 2128838 w 2185988"/>
              <a:gd name="connsiteY13" fmla="*/ 452437 h 2171700"/>
              <a:gd name="connsiteX14" fmla="*/ 2138363 w 2185988"/>
              <a:gd name="connsiteY14" fmla="*/ 576262 h 2171700"/>
              <a:gd name="connsiteX15" fmla="*/ 2128838 w 2185988"/>
              <a:gd name="connsiteY15" fmla="*/ 671512 h 2171700"/>
              <a:gd name="connsiteX16" fmla="*/ 2024063 w 2185988"/>
              <a:gd name="connsiteY16" fmla="*/ 781050 h 2171700"/>
              <a:gd name="connsiteX17" fmla="*/ 2085975 w 2185988"/>
              <a:gd name="connsiteY17" fmla="*/ 952500 h 2171700"/>
              <a:gd name="connsiteX18" fmla="*/ 2152650 w 2185988"/>
              <a:gd name="connsiteY18" fmla="*/ 1152525 h 2171700"/>
              <a:gd name="connsiteX19" fmla="*/ 2185988 w 2185988"/>
              <a:gd name="connsiteY19" fmla="*/ 1428750 h 2171700"/>
              <a:gd name="connsiteX20" fmla="*/ 2171700 w 2185988"/>
              <a:gd name="connsiteY20" fmla="*/ 1609725 h 2171700"/>
              <a:gd name="connsiteX21" fmla="*/ 2124075 w 2185988"/>
              <a:gd name="connsiteY21" fmla="*/ 1804987 h 2171700"/>
              <a:gd name="connsiteX22" fmla="*/ 2038350 w 2185988"/>
              <a:gd name="connsiteY22" fmla="*/ 1981200 h 2171700"/>
              <a:gd name="connsiteX23" fmla="*/ 1957388 w 2185988"/>
              <a:gd name="connsiteY23" fmla="*/ 2100262 h 2171700"/>
              <a:gd name="connsiteX24" fmla="*/ 1895475 w 2185988"/>
              <a:gd name="connsiteY24" fmla="*/ 2171700 h 2171700"/>
              <a:gd name="connsiteX0" fmla="*/ 0 w 2185988"/>
              <a:gd name="connsiteY0" fmla="*/ 314325 h 2171700"/>
              <a:gd name="connsiteX1" fmla="*/ 157163 w 2185988"/>
              <a:gd name="connsiteY1" fmla="*/ 185737 h 2171700"/>
              <a:gd name="connsiteX2" fmla="*/ 333375 w 2185988"/>
              <a:gd name="connsiteY2" fmla="*/ 95250 h 2171700"/>
              <a:gd name="connsiteX3" fmla="*/ 495300 w 2185988"/>
              <a:gd name="connsiteY3" fmla="*/ 33337 h 2171700"/>
              <a:gd name="connsiteX4" fmla="*/ 690563 w 2185988"/>
              <a:gd name="connsiteY4" fmla="*/ 0 h 2171700"/>
              <a:gd name="connsiteX5" fmla="*/ 871538 w 2185988"/>
              <a:gd name="connsiteY5" fmla="*/ 4762 h 2171700"/>
              <a:gd name="connsiteX6" fmla="*/ 1066800 w 2185988"/>
              <a:gd name="connsiteY6" fmla="*/ 28575 h 2171700"/>
              <a:gd name="connsiteX7" fmla="*/ 1276350 w 2185988"/>
              <a:gd name="connsiteY7" fmla="*/ 104775 h 2171700"/>
              <a:gd name="connsiteX8" fmla="*/ 1428750 w 2185988"/>
              <a:gd name="connsiteY8" fmla="*/ 171450 h 2171700"/>
              <a:gd name="connsiteX9" fmla="*/ 1571625 w 2185988"/>
              <a:gd name="connsiteY9" fmla="*/ 266700 h 2171700"/>
              <a:gd name="connsiteX10" fmla="*/ 1704975 w 2185988"/>
              <a:gd name="connsiteY10" fmla="*/ 385762 h 2171700"/>
              <a:gd name="connsiteX11" fmla="*/ 1838325 w 2185988"/>
              <a:gd name="connsiteY11" fmla="*/ 323850 h 2171700"/>
              <a:gd name="connsiteX12" fmla="*/ 2066926 w 2185988"/>
              <a:gd name="connsiteY12" fmla="*/ 361950 h 2171700"/>
              <a:gd name="connsiteX13" fmla="*/ 2128838 w 2185988"/>
              <a:gd name="connsiteY13" fmla="*/ 452437 h 2171700"/>
              <a:gd name="connsiteX14" fmla="*/ 2138363 w 2185988"/>
              <a:gd name="connsiteY14" fmla="*/ 576262 h 2171700"/>
              <a:gd name="connsiteX15" fmla="*/ 2095501 w 2185988"/>
              <a:gd name="connsiteY15" fmla="*/ 681037 h 2171700"/>
              <a:gd name="connsiteX16" fmla="*/ 2024063 w 2185988"/>
              <a:gd name="connsiteY16" fmla="*/ 781050 h 2171700"/>
              <a:gd name="connsiteX17" fmla="*/ 2085975 w 2185988"/>
              <a:gd name="connsiteY17" fmla="*/ 952500 h 2171700"/>
              <a:gd name="connsiteX18" fmla="*/ 2152650 w 2185988"/>
              <a:gd name="connsiteY18" fmla="*/ 1152525 h 2171700"/>
              <a:gd name="connsiteX19" fmla="*/ 2185988 w 2185988"/>
              <a:gd name="connsiteY19" fmla="*/ 1428750 h 2171700"/>
              <a:gd name="connsiteX20" fmla="*/ 2171700 w 2185988"/>
              <a:gd name="connsiteY20" fmla="*/ 1609725 h 2171700"/>
              <a:gd name="connsiteX21" fmla="*/ 2124075 w 2185988"/>
              <a:gd name="connsiteY21" fmla="*/ 1804987 h 2171700"/>
              <a:gd name="connsiteX22" fmla="*/ 2038350 w 2185988"/>
              <a:gd name="connsiteY22" fmla="*/ 1981200 h 2171700"/>
              <a:gd name="connsiteX23" fmla="*/ 1957388 w 2185988"/>
              <a:gd name="connsiteY23" fmla="*/ 2100262 h 2171700"/>
              <a:gd name="connsiteX24" fmla="*/ 1895475 w 2185988"/>
              <a:gd name="connsiteY24" fmla="*/ 2171700 h 2171700"/>
              <a:gd name="connsiteX0" fmla="*/ 0 w 2185988"/>
              <a:gd name="connsiteY0" fmla="*/ 314325 h 2171700"/>
              <a:gd name="connsiteX1" fmla="*/ 157163 w 2185988"/>
              <a:gd name="connsiteY1" fmla="*/ 185737 h 2171700"/>
              <a:gd name="connsiteX2" fmla="*/ 333375 w 2185988"/>
              <a:gd name="connsiteY2" fmla="*/ 95250 h 2171700"/>
              <a:gd name="connsiteX3" fmla="*/ 495300 w 2185988"/>
              <a:gd name="connsiteY3" fmla="*/ 33337 h 2171700"/>
              <a:gd name="connsiteX4" fmla="*/ 690563 w 2185988"/>
              <a:gd name="connsiteY4" fmla="*/ 0 h 2171700"/>
              <a:gd name="connsiteX5" fmla="*/ 871538 w 2185988"/>
              <a:gd name="connsiteY5" fmla="*/ 4762 h 2171700"/>
              <a:gd name="connsiteX6" fmla="*/ 1066800 w 2185988"/>
              <a:gd name="connsiteY6" fmla="*/ 28575 h 2171700"/>
              <a:gd name="connsiteX7" fmla="*/ 1276350 w 2185988"/>
              <a:gd name="connsiteY7" fmla="*/ 104775 h 2171700"/>
              <a:gd name="connsiteX8" fmla="*/ 1428750 w 2185988"/>
              <a:gd name="connsiteY8" fmla="*/ 171450 h 2171700"/>
              <a:gd name="connsiteX9" fmla="*/ 1571625 w 2185988"/>
              <a:gd name="connsiteY9" fmla="*/ 266700 h 2171700"/>
              <a:gd name="connsiteX10" fmla="*/ 1704975 w 2185988"/>
              <a:gd name="connsiteY10" fmla="*/ 385762 h 2171700"/>
              <a:gd name="connsiteX11" fmla="*/ 1838325 w 2185988"/>
              <a:gd name="connsiteY11" fmla="*/ 323850 h 2171700"/>
              <a:gd name="connsiteX12" fmla="*/ 2066926 w 2185988"/>
              <a:gd name="connsiteY12" fmla="*/ 361950 h 2171700"/>
              <a:gd name="connsiteX13" fmla="*/ 1962150 w 2185988"/>
              <a:gd name="connsiteY13" fmla="*/ 342900 h 2171700"/>
              <a:gd name="connsiteX14" fmla="*/ 2128838 w 2185988"/>
              <a:gd name="connsiteY14" fmla="*/ 452437 h 2171700"/>
              <a:gd name="connsiteX15" fmla="*/ 2138363 w 2185988"/>
              <a:gd name="connsiteY15" fmla="*/ 576262 h 2171700"/>
              <a:gd name="connsiteX16" fmla="*/ 2095501 w 2185988"/>
              <a:gd name="connsiteY16" fmla="*/ 681037 h 2171700"/>
              <a:gd name="connsiteX17" fmla="*/ 2024063 w 2185988"/>
              <a:gd name="connsiteY17" fmla="*/ 781050 h 2171700"/>
              <a:gd name="connsiteX18" fmla="*/ 2085975 w 2185988"/>
              <a:gd name="connsiteY18" fmla="*/ 952500 h 2171700"/>
              <a:gd name="connsiteX19" fmla="*/ 2152650 w 2185988"/>
              <a:gd name="connsiteY19" fmla="*/ 1152525 h 2171700"/>
              <a:gd name="connsiteX20" fmla="*/ 2185988 w 2185988"/>
              <a:gd name="connsiteY20" fmla="*/ 1428750 h 2171700"/>
              <a:gd name="connsiteX21" fmla="*/ 2171700 w 2185988"/>
              <a:gd name="connsiteY21" fmla="*/ 1609725 h 2171700"/>
              <a:gd name="connsiteX22" fmla="*/ 2124075 w 2185988"/>
              <a:gd name="connsiteY22" fmla="*/ 1804987 h 2171700"/>
              <a:gd name="connsiteX23" fmla="*/ 2038350 w 2185988"/>
              <a:gd name="connsiteY23" fmla="*/ 1981200 h 2171700"/>
              <a:gd name="connsiteX24" fmla="*/ 1957388 w 2185988"/>
              <a:gd name="connsiteY24" fmla="*/ 2100262 h 2171700"/>
              <a:gd name="connsiteX25" fmla="*/ 1895475 w 2185988"/>
              <a:gd name="connsiteY25" fmla="*/ 2171700 h 2171700"/>
              <a:gd name="connsiteX0" fmla="*/ 0 w 2185988"/>
              <a:gd name="connsiteY0" fmla="*/ 314325 h 2171700"/>
              <a:gd name="connsiteX1" fmla="*/ 157163 w 2185988"/>
              <a:gd name="connsiteY1" fmla="*/ 185737 h 2171700"/>
              <a:gd name="connsiteX2" fmla="*/ 333375 w 2185988"/>
              <a:gd name="connsiteY2" fmla="*/ 95250 h 2171700"/>
              <a:gd name="connsiteX3" fmla="*/ 495300 w 2185988"/>
              <a:gd name="connsiteY3" fmla="*/ 33337 h 2171700"/>
              <a:gd name="connsiteX4" fmla="*/ 690563 w 2185988"/>
              <a:gd name="connsiteY4" fmla="*/ 0 h 2171700"/>
              <a:gd name="connsiteX5" fmla="*/ 871538 w 2185988"/>
              <a:gd name="connsiteY5" fmla="*/ 4762 h 2171700"/>
              <a:gd name="connsiteX6" fmla="*/ 1066800 w 2185988"/>
              <a:gd name="connsiteY6" fmla="*/ 28575 h 2171700"/>
              <a:gd name="connsiteX7" fmla="*/ 1276350 w 2185988"/>
              <a:gd name="connsiteY7" fmla="*/ 104775 h 2171700"/>
              <a:gd name="connsiteX8" fmla="*/ 1428750 w 2185988"/>
              <a:gd name="connsiteY8" fmla="*/ 171450 h 2171700"/>
              <a:gd name="connsiteX9" fmla="*/ 1571625 w 2185988"/>
              <a:gd name="connsiteY9" fmla="*/ 266700 h 2171700"/>
              <a:gd name="connsiteX10" fmla="*/ 1704975 w 2185988"/>
              <a:gd name="connsiteY10" fmla="*/ 385762 h 2171700"/>
              <a:gd name="connsiteX11" fmla="*/ 1809750 w 2185988"/>
              <a:gd name="connsiteY11" fmla="*/ 328613 h 2171700"/>
              <a:gd name="connsiteX12" fmla="*/ 2066926 w 2185988"/>
              <a:gd name="connsiteY12" fmla="*/ 361950 h 2171700"/>
              <a:gd name="connsiteX13" fmla="*/ 1962150 w 2185988"/>
              <a:gd name="connsiteY13" fmla="*/ 342900 h 2171700"/>
              <a:gd name="connsiteX14" fmla="*/ 2128838 w 2185988"/>
              <a:gd name="connsiteY14" fmla="*/ 452437 h 2171700"/>
              <a:gd name="connsiteX15" fmla="*/ 2138363 w 2185988"/>
              <a:gd name="connsiteY15" fmla="*/ 576262 h 2171700"/>
              <a:gd name="connsiteX16" fmla="*/ 2095501 w 2185988"/>
              <a:gd name="connsiteY16" fmla="*/ 681037 h 2171700"/>
              <a:gd name="connsiteX17" fmla="*/ 2024063 w 2185988"/>
              <a:gd name="connsiteY17" fmla="*/ 781050 h 2171700"/>
              <a:gd name="connsiteX18" fmla="*/ 2085975 w 2185988"/>
              <a:gd name="connsiteY18" fmla="*/ 952500 h 2171700"/>
              <a:gd name="connsiteX19" fmla="*/ 2152650 w 2185988"/>
              <a:gd name="connsiteY19" fmla="*/ 1152525 h 2171700"/>
              <a:gd name="connsiteX20" fmla="*/ 2185988 w 2185988"/>
              <a:gd name="connsiteY20" fmla="*/ 1428750 h 2171700"/>
              <a:gd name="connsiteX21" fmla="*/ 2171700 w 2185988"/>
              <a:gd name="connsiteY21" fmla="*/ 1609725 h 2171700"/>
              <a:gd name="connsiteX22" fmla="*/ 2124075 w 2185988"/>
              <a:gd name="connsiteY22" fmla="*/ 1804987 h 2171700"/>
              <a:gd name="connsiteX23" fmla="*/ 2038350 w 2185988"/>
              <a:gd name="connsiteY23" fmla="*/ 1981200 h 2171700"/>
              <a:gd name="connsiteX24" fmla="*/ 1957388 w 2185988"/>
              <a:gd name="connsiteY24" fmla="*/ 2100262 h 2171700"/>
              <a:gd name="connsiteX25" fmla="*/ 1895475 w 2185988"/>
              <a:gd name="connsiteY25" fmla="*/ 2171700 h 2171700"/>
              <a:gd name="connsiteX0" fmla="*/ 0 w 2185988"/>
              <a:gd name="connsiteY0" fmla="*/ 314325 h 2171700"/>
              <a:gd name="connsiteX1" fmla="*/ 157163 w 2185988"/>
              <a:gd name="connsiteY1" fmla="*/ 185737 h 2171700"/>
              <a:gd name="connsiteX2" fmla="*/ 333375 w 2185988"/>
              <a:gd name="connsiteY2" fmla="*/ 95250 h 2171700"/>
              <a:gd name="connsiteX3" fmla="*/ 495300 w 2185988"/>
              <a:gd name="connsiteY3" fmla="*/ 33337 h 2171700"/>
              <a:gd name="connsiteX4" fmla="*/ 690563 w 2185988"/>
              <a:gd name="connsiteY4" fmla="*/ 0 h 2171700"/>
              <a:gd name="connsiteX5" fmla="*/ 871538 w 2185988"/>
              <a:gd name="connsiteY5" fmla="*/ 4762 h 2171700"/>
              <a:gd name="connsiteX6" fmla="*/ 1066800 w 2185988"/>
              <a:gd name="connsiteY6" fmla="*/ 28575 h 2171700"/>
              <a:gd name="connsiteX7" fmla="*/ 1276350 w 2185988"/>
              <a:gd name="connsiteY7" fmla="*/ 104775 h 2171700"/>
              <a:gd name="connsiteX8" fmla="*/ 1428750 w 2185988"/>
              <a:gd name="connsiteY8" fmla="*/ 171450 h 2171700"/>
              <a:gd name="connsiteX9" fmla="*/ 1571625 w 2185988"/>
              <a:gd name="connsiteY9" fmla="*/ 266700 h 2171700"/>
              <a:gd name="connsiteX10" fmla="*/ 1704975 w 2185988"/>
              <a:gd name="connsiteY10" fmla="*/ 385762 h 2171700"/>
              <a:gd name="connsiteX11" fmla="*/ 1809750 w 2185988"/>
              <a:gd name="connsiteY11" fmla="*/ 328613 h 2171700"/>
              <a:gd name="connsiteX12" fmla="*/ 2066926 w 2185988"/>
              <a:gd name="connsiteY12" fmla="*/ 361950 h 2171700"/>
              <a:gd name="connsiteX13" fmla="*/ 1933575 w 2185988"/>
              <a:gd name="connsiteY13" fmla="*/ 314325 h 2171700"/>
              <a:gd name="connsiteX14" fmla="*/ 2128838 w 2185988"/>
              <a:gd name="connsiteY14" fmla="*/ 452437 h 2171700"/>
              <a:gd name="connsiteX15" fmla="*/ 2138363 w 2185988"/>
              <a:gd name="connsiteY15" fmla="*/ 576262 h 2171700"/>
              <a:gd name="connsiteX16" fmla="*/ 2095501 w 2185988"/>
              <a:gd name="connsiteY16" fmla="*/ 681037 h 2171700"/>
              <a:gd name="connsiteX17" fmla="*/ 2024063 w 2185988"/>
              <a:gd name="connsiteY17" fmla="*/ 781050 h 2171700"/>
              <a:gd name="connsiteX18" fmla="*/ 2085975 w 2185988"/>
              <a:gd name="connsiteY18" fmla="*/ 952500 h 2171700"/>
              <a:gd name="connsiteX19" fmla="*/ 2152650 w 2185988"/>
              <a:gd name="connsiteY19" fmla="*/ 1152525 h 2171700"/>
              <a:gd name="connsiteX20" fmla="*/ 2185988 w 2185988"/>
              <a:gd name="connsiteY20" fmla="*/ 1428750 h 2171700"/>
              <a:gd name="connsiteX21" fmla="*/ 2171700 w 2185988"/>
              <a:gd name="connsiteY21" fmla="*/ 1609725 h 2171700"/>
              <a:gd name="connsiteX22" fmla="*/ 2124075 w 2185988"/>
              <a:gd name="connsiteY22" fmla="*/ 1804987 h 2171700"/>
              <a:gd name="connsiteX23" fmla="*/ 2038350 w 2185988"/>
              <a:gd name="connsiteY23" fmla="*/ 1981200 h 2171700"/>
              <a:gd name="connsiteX24" fmla="*/ 1957388 w 2185988"/>
              <a:gd name="connsiteY24" fmla="*/ 2100262 h 2171700"/>
              <a:gd name="connsiteX25" fmla="*/ 1895475 w 2185988"/>
              <a:gd name="connsiteY25" fmla="*/ 2171700 h 2171700"/>
              <a:gd name="connsiteX0" fmla="*/ 0 w 2185988"/>
              <a:gd name="connsiteY0" fmla="*/ 314325 h 2171700"/>
              <a:gd name="connsiteX1" fmla="*/ 157163 w 2185988"/>
              <a:gd name="connsiteY1" fmla="*/ 185737 h 2171700"/>
              <a:gd name="connsiteX2" fmla="*/ 333375 w 2185988"/>
              <a:gd name="connsiteY2" fmla="*/ 95250 h 2171700"/>
              <a:gd name="connsiteX3" fmla="*/ 495300 w 2185988"/>
              <a:gd name="connsiteY3" fmla="*/ 33337 h 2171700"/>
              <a:gd name="connsiteX4" fmla="*/ 690563 w 2185988"/>
              <a:gd name="connsiteY4" fmla="*/ 0 h 2171700"/>
              <a:gd name="connsiteX5" fmla="*/ 871538 w 2185988"/>
              <a:gd name="connsiteY5" fmla="*/ 4762 h 2171700"/>
              <a:gd name="connsiteX6" fmla="*/ 1066800 w 2185988"/>
              <a:gd name="connsiteY6" fmla="*/ 28575 h 2171700"/>
              <a:gd name="connsiteX7" fmla="*/ 1276350 w 2185988"/>
              <a:gd name="connsiteY7" fmla="*/ 104775 h 2171700"/>
              <a:gd name="connsiteX8" fmla="*/ 1428750 w 2185988"/>
              <a:gd name="connsiteY8" fmla="*/ 171450 h 2171700"/>
              <a:gd name="connsiteX9" fmla="*/ 1571625 w 2185988"/>
              <a:gd name="connsiteY9" fmla="*/ 266700 h 2171700"/>
              <a:gd name="connsiteX10" fmla="*/ 1704975 w 2185988"/>
              <a:gd name="connsiteY10" fmla="*/ 385762 h 2171700"/>
              <a:gd name="connsiteX11" fmla="*/ 1809750 w 2185988"/>
              <a:gd name="connsiteY11" fmla="*/ 328613 h 2171700"/>
              <a:gd name="connsiteX12" fmla="*/ 2066926 w 2185988"/>
              <a:gd name="connsiteY12" fmla="*/ 361950 h 2171700"/>
              <a:gd name="connsiteX13" fmla="*/ 1933575 w 2185988"/>
              <a:gd name="connsiteY13" fmla="*/ 314325 h 2171700"/>
              <a:gd name="connsiteX14" fmla="*/ 2128838 w 2185988"/>
              <a:gd name="connsiteY14" fmla="*/ 452437 h 2171700"/>
              <a:gd name="connsiteX15" fmla="*/ 2138363 w 2185988"/>
              <a:gd name="connsiteY15" fmla="*/ 576262 h 2171700"/>
              <a:gd name="connsiteX16" fmla="*/ 2095501 w 2185988"/>
              <a:gd name="connsiteY16" fmla="*/ 681037 h 2171700"/>
              <a:gd name="connsiteX17" fmla="*/ 2024063 w 2185988"/>
              <a:gd name="connsiteY17" fmla="*/ 781050 h 2171700"/>
              <a:gd name="connsiteX18" fmla="*/ 2085975 w 2185988"/>
              <a:gd name="connsiteY18" fmla="*/ 952500 h 2171700"/>
              <a:gd name="connsiteX19" fmla="*/ 2152650 w 2185988"/>
              <a:gd name="connsiteY19" fmla="*/ 1152525 h 2171700"/>
              <a:gd name="connsiteX20" fmla="*/ 2185988 w 2185988"/>
              <a:gd name="connsiteY20" fmla="*/ 1428750 h 2171700"/>
              <a:gd name="connsiteX21" fmla="*/ 2171700 w 2185988"/>
              <a:gd name="connsiteY21" fmla="*/ 1609725 h 2171700"/>
              <a:gd name="connsiteX22" fmla="*/ 2124075 w 2185988"/>
              <a:gd name="connsiteY22" fmla="*/ 1804987 h 2171700"/>
              <a:gd name="connsiteX23" fmla="*/ 2038350 w 2185988"/>
              <a:gd name="connsiteY23" fmla="*/ 1981200 h 2171700"/>
              <a:gd name="connsiteX24" fmla="*/ 1957388 w 2185988"/>
              <a:gd name="connsiteY24" fmla="*/ 2100262 h 2171700"/>
              <a:gd name="connsiteX25" fmla="*/ 1895475 w 2185988"/>
              <a:gd name="connsiteY25" fmla="*/ 2171700 h 2171700"/>
              <a:gd name="connsiteX0" fmla="*/ 0 w 2185988"/>
              <a:gd name="connsiteY0" fmla="*/ 314325 h 2171700"/>
              <a:gd name="connsiteX1" fmla="*/ 157163 w 2185988"/>
              <a:gd name="connsiteY1" fmla="*/ 185737 h 2171700"/>
              <a:gd name="connsiteX2" fmla="*/ 333375 w 2185988"/>
              <a:gd name="connsiteY2" fmla="*/ 95250 h 2171700"/>
              <a:gd name="connsiteX3" fmla="*/ 495300 w 2185988"/>
              <a:gd name="connsiteY3" fmla="*/ 33337 h 2171700"/>
              <a:gd name="connsiteX4" fmla="*/ 690563 w 2185988"/>
              <a:gd name="connsiteY4" fmla="*/ 0 h 2171700"/>
              <a:gd name="connsiteX5" fmla="*/ 871538 w 2185988"/>
              <a:gd name="connsiteY5" fmla="*/ 4762 h 2171700"/>
              <a:gd name="connsiteX6" fmla="*/ 1066800 w 2185988"/>
              <a:gd name="connsiteY6" fmla="*/ 28575 h 2171700"/>
              <a:gd name="connsiteX7" fmla="*/ 1276350 w 2185988"/>
              <a:gd name="connsiteY7" fmla="*/ 104775 h 2171700"/>
              <a:gd name="connsiteX8" fmla="*/ 1428750 w 2185988"/>
              <a:gd name="connsiteY8" fmla="*/ 171450 h 2171700"/>
              <a:gd name="connsiteX9" fmla="*/ 1571625 w 2185988"/>
              <a:gd name="connsiteY9" fmla="*/ 266700 h 2171700"/>
              <a:gd name="connsiteX10" fmla="*/ 1704975 w 2185988"/>
              <a:gd name="connsiteY10" fmla="*/ 385762 h 2171700"/>
              <a:gd name="connsiteX11" fmla="*/ 1809750 w 2185988"/>
              <a:gd name="connsiteY11" fmla="*/ 328613 h 2171700"/>
              <a:gd name="connsiteX12" fmla="*/ 1909764 w 2185988"/>
              <a:gd name="connsiteY12" fmla="*/ 290513 h 2171700"/>
              <a:gd name="connsiteX13" fmla="*/ 1933575 w 2185988"/>
              <a:gd name="connsiteY13" fmla="*/ 314325 h 2171700"/>
              <a:gd name="connsiteX14" fmla="*/ 2128838 w 2185988"/>
              <a:gd name="connsiteY14" fmla="*/ 452437 h 2171700"/>
              <a:gd name="connsiteX15" fmla="*/ 2138363 w 2185988"/>
              <a:gd name="connsiteY15" fmla="*/ 576262 h 2171700"/>
              <a:gd name="connsiteX16" fmla="*/ 2095501 w 2185988"/>
              <a:gd name="connsiteY16" fmla="*/ 681037 h 2171700"/>
              <a:gd name="connsiteX17" fmla="*/ 2024063 w 2185988"/>
              <a:gd name="connsiteY17" fmla="*/ 781050 h 2171700"/>
              <a:gd name="connsiteX18" fmla="*/ 2085975 w 2185988"/>
              <a:gd name="connsiteY18" fmla="*/ 952500 h 2171700"/>
              <a:gd name="connsiteX19" fmla="*/ 2152650 w 2185988"/>
              <a:gd name="connsiteY19" fmla="*/ 1152525 h 2171700"/>
              <a:gd name="connsiteX20" fmla="*/ 2185988 w 2185988"/>
              <a:gd name="connsiteY20" fmla="*/ 1428750 h 2171700"/>
              <a:gd name="connsiteX21" fmla="*/ 2171700 w 2185988"/>
              <a:gd name="connsiteY21" fmla="*/ 1609725 h 2171700"/>
              <a:gd name="connsiteX22" fmla="*/ 2124075 w 2185988"/>
              <a:gd name="connsiteY22" fmla="*/ 1804987 h 2171700"/>
              <a:gd name="connsiteX23" fmla="*/ 2038350 w 2185988"/>
              <a:gd name="connsiteY23" fmla="*/ 1981200 h 2171700"/>
              <a:gd name="connsiteX24" fmla="*/ 1957388 w 2185988"/>
              <a:gd name="connsiteY24" fmla="*/ 2100262 h 2171700"/>
              <a:gd name="connsiteX25" fmla="*/ 1895475 w 2185988"/>
              <a:gd name="connsiteY25" fmla="*/ 2171700 h 2171700"/>
              <a:gd name="connsiteX0" fmla="*/ 0 w 2185988"/>
              <a:gd name="connsiteY0" fmla="*/ 314325 h 2171700"/>
              <a:gd name="connsiteX1" fmla="*/ 157163 w 2185988"/>
              <a:gd name="connsiteY1" fmla="*/ 185737 h 2171700"/>
              <a:gd name="connsiteX2" fmla="*/ 333375 w 2185988"/>
              <a:gd name="connsiteY2" fmla="*/ 95250 h 2171700"/>
              <a:gd name="connsiteX3" fmla="*/ 495300 w 2185988"/>
              <a:gd name="connsiteY3" fmla="*/ 33337 h 2171700"/>
              <a:gd name="connsiteX4" fmla="*/ 690563 w 2185988"/>
              <a:gd name="connsiteY4" fmla="*/ 0 h 2171700"/>
              <a:gd name="connsiteX5" fmla="*/ 871538 w 2185988"/>
              <a:gd name="connsiteY5" fmla="*/ 4762 h 2171700"/>
              <a:gd name="connsiteX6" fmla="*/ 1066800 w 2185988"/>
              <a:gd name="connsiteY6" fmla="*/ 28575 h 2171700"/>
              <a:gd name="connsiteX7" fmla="*/ 1276350 w 2185988"/>
              <a:gd name="connsiteY7" fmla="*/ 104775 h 2171700"/>
              <a:gd name="connsiteX8" fmla="*/ 1428750 w 2185988"/>
              <a:gd name="connsiteY8" fmla="*/ 171450 h 2171700"/>
              <a:gd name="connsiteX9" fmla="*/ 1571625 w 2185988"/>
              <a:gd name="connsiteY9" fmla="*/ 266700 h 2171700"/>
              <a:gd name="connsiteX10" fmla="*/ 1704975 w 2185988"/>
              <a:gd name="connsiteY10" fmla="*/ 385762 h 2171700"/>
              <a:gd name="connsiteX11" fmla="*/ 1809750 w 2185988"/>
              <a:gd name="connsiteY11" fmla="*/ 328613 h 2171700"/>
              <a:gd name="connsiteX12" fmla="*/ 1909764 w 2185988"/>
              <a:gd name="connsiteY12" fmla="*/ 290513 h 2171700"/>
              <a:gd name="connsiteX13" fmla="*/ 2071687 w 2185988"/>
              <a:gd name="connsiteY13" fmla="*/ 309562 h 2171700"/>
              <a:gd name="connsiteX14" fmla="*/ 2128838 w 2185988"/>
              <a:gd name="connsiteY14" fmla="*/ 452437 h 2171700"/>
              <a:gd name="connsiteX15" fmla="*/ 2138363 w 2185988"/>
              <a:gd name="connsiteY15" fmla="*/ 576262 h 2171700"/>
              <a:gd name="connsiteX16" fmla="*/ 2095501 w 2185988"/>
              <a:gd name="connsiteY16" fmla="*/ 681037 h 2171700"/>
              <a:gd name="connsiteX17" fmla="*/ 2024063 w 2185988"/>
              <a:gd name="connsiteY17" fmla="*/ 781050 h 2171700"/>
              <a:gd name="connsiteX18" fmla="*/ 2085975 w 2185988"/>
              <a:gd name="connsiteY18" fmla="*/ 952500 h 2171700"/>
              <a:gd name="connsiteX19" fmla="*/ 2152650 w 2185988"/>
              <a:gd name="connsiteY19" fmla="*/ 1152525 h 2171700"/>
              <a:gd name="connsiteX20" fmla="*/ 2185988 w 2185988"/>
              <a:gd name="connsiteY20" fmla="*/ 1428750 h 2171700"/>
              <a:gd name="connsiteX21" fmla="*/ 2171700 w 2185988"/>
              <a:gd name="connsiteY21" fmla="*/ 1609725 h 2171700"/>
              <a:gd name="connsiteX22" fmla="*/ 2124075 w 2185988"/>
              <a:gd name="connsiteY22" fmla="*/ 1804987 h 2171700"/>
              <a:gd name="connsiteX23" fmla="*/ 2038350 w 2185988"/>
              <a:gd name="connsiteY23" fmla="*/ 1981200 h 2171700"/>
              <a:gd name="connsiteX24" fmla="*/ 1957388 w 2185988"/>
              <a:gd name="connsiteY24" fmla="*/ 2100262 h 2171700"/>
              <a:gd name="connsiteX25" fmla="*/ 1895475 w 2185988"/>
              <a:gd name="connsiteY25" fmla="*/ 2171700 h 2171700"/>
              <a:gd name="connsiteX0" fmla="*/ 0 w 2185988"/>
              <a:gd name="connsiteY0" fmla="*/ 314325 h 2171700"/>
              <a:gd name="connsiteX1" fmla="*/ 157163 w 2185988"/>
              <a:gd name="connsiteY1" fmla="*/ 185737 h 2171700"/>
              <a:gd name="connsiteX2" fmla="*/ 333375 w 2185988"/>
              <a:gd name="connsiteY2" fmla="*/ 95250 h 2171700"/>
              <a:gd name="connsiteX3" fmla="*/ 495300 w 2185988"/>
              <a:gd name="connsiteY3" fmla="*/ 33337 h 2171700"/>
              <a:gd name="connsiteX4" fmla="*/ 690563 w 2185988"/>
              <a:gd name="connsiteY4" fmla="*/ 0 h 2171700"/>
              <a:gd name="connsiteX5" fmla="*/ 871538 w 2185988"/>
              <a:gd name="connsiteY5" fmla="*/ 4762 h 2171700"/>
              <a:gd name="connsiteX6" fmla="*/ 1066800 w 2185988"/>
              <a:gd name="connsiteY6" fmla="*/ 28575 h 2171700"/>
              <a:gd name="connsiteX7" fmla="*/ 1276350 w 2185988"/>
              <a:gd name="connsiteY7" fmla="*/ 104775 h 2171700"/>
              <a:gd name="connsiteX8" fmla="*/ 1428750 w 2185988"/>
              <a:gd name="connsiteY8" fmla="*/ 171450 h 2171700"/>
              <a:gd name="connsiteX9" fmla="*/ 1571625 w 2185988"/>
              <a:gd name="connsiteY9" fmla="*/ 266700 h 2171700"/>
              <a:gd name="connsiteX10" fmla="*/ 1704975 w 2185988"/>
              <a:gd name="connsiteY10" fmla="*/ 385762 h 2171700"/>
              <a:gd name="connsiteX11" fmla="*/ 1809750 w 2185988"/>
              <a:gd name="connsiteY11" fmla="*/ 328613 h 2171700"/>
              <a:gd name="connsiteX12" fmla="*/ 1976439 w 2185988"/>
              <a:gd name="connsiteY12" fmla="*/ 300038 h 2171700"/>
              <a:gd name="connsiteX13" fmla="*/ 2071687 w 2185988"/>
              <a:gd name="connsiteY13" fmla="*/ 309562 h 2171700"/>
              <a:gd name="connsiteX14" fmla="*/ 2128838 w 2185988"/>
              <a:gd name="connsiteY14" fmla="*/ 452437 h 2171700"/>
              <a:gd name="connsiteX15" fmla="*/ 2138363 w 2185988"/>
              <a:gd name="connsiteY15" fmla="*/ 576262 h 2171700"/>
              <a:gd name="connsiteX16" fmla="*/ 2095501 w 2185988"/>
              <a:gd name="connsiteY16" fmla="*/ 681037 h 2171700"/>
              <a:gd name="connsiteX17" fmla="*/ 2024063 w 2185988"/>
              <a:gd name="connsiteY17" fmla="*/ 781050 h 2171700"/>
              <a:gd name="connsiteX18" fmla="*/ 2085975 w 2185988"/>
              <a:gd name="connsiteY18" fmla="*/ 952500 h 2171700"/>
              <a:gd name="connsiteX19" fmla="*/ 2152650 w 2185988"/>
              <a:gd name="connsiteY19" fmla="*/ 1152525 h 2171700"/>
              <a:gd name="connsiteX20" fmla="*/ 2185988 w 2185988"/>
              <a:gd name="connsiteY20" fmla="*/ 1428750 h 2171700"/>
              <a:gd name="connsiteX21" fmla="*/ 2171700 w 2185988"/>
              <a:gd name="connsiteY21" fmla="*/ 1609725 h 2171700"/>
              <a:gd name="connsiteX22" fmla="*/ 2124075 w 2185988"/>
              <a:gd name="connsiteY22" fmla="*/ 1804987 h 2171700"/>
              <a:gd name="connsiteX23" fmla="*/ 2038350 w 2185988"/>
              <a:gd name="connsiteY23" fmla="*/ 1981200 h 2171700"/>
              <a:gd name="connsiteX24" fmla="*/ 1957388 w 2185988"/>
              <a:gd name="connsiteY24" fmla="*/ 2100262 h 2171700"/>
              <a:gd name="connsiteX25" fmla="*/ 1895475 w 2185988"/>
              <a:gd name="connsiteY25" fmla="*/ 2171700 h 2171700"/>
              <a:gd name="connsiteX0" fmla="*/ 0 w 2185988"/>
              <a:gd name="connsiteY0" fmla="*/ 314325 h 2171700"/>
              <a:gd name="connsiteX1" fmla="*/ 157163 w 2185988"/>
              <a:gd name="connsiteY1" fmla="*/ 185737 h 2171700"/>
              <a:gd name="connsiteX2" fmla="*/ 333375 w 2185988"/>
              <a:gd name="connsiteY2" fmla="*/ 95250 h 2171700"/>
              <a:gd name="connsiteX3" fmla="*/ 495300 w 2185988"/>
              <a:gd name="connsiteY3" fmla="*/ 33337 h 2171700"/>
              <a:gd name="connsiteX4" fmla="*/ 690563 w 2185988"/>
              <a:gd name="connsiteY4" fmla="*/ 0 h 2171700"/>
              <a:gd name="connsiteX5" fmla="*/ 871538 w 2185988"/>
              <a:gd name="connsiteY5" fmla="*/ 4762 h 2171700"/>
              <a:gd name="connsiteX6" fmla="*/ 1066800 w 2185988"/>
              <a:gd name="connsiteY6" fmla="*/ 28575 h 2171700"/>
              <a:gd name="connsiteX7" fmla="*/ 1276350 w 2185988"/>
              <a:gd name="connsiteY7" fmla="*/ 104775 h 2171700"/>
              <a:gd name="connsiteX8" fmla="*/ 1428750 w 2185988"/>
              <a:gd name="connsiteY8" fmla="*/ 171450 h 2171700"/>
              <a:gd name="connsiteX9" fmla="*/ 1571625 w 2185988"/>
              <a:gd name="connsiteY9" fmla="*/ 266700 h 2171700"/>
              <a:gd name="connsiteX10" fmla="*/ 1704975 w 2185988"/>
              <a:gd name="connsiteY10" fmla="*/ 385762 h 2171700"/>
              <a:gd name="connsiteX11" fmla="*/ 1809750 w 2185988"/>
              <a:gd name="connsiteY11" fmla="*/ 328613 h 2171700"/>
              <a:gd name="connsiteX12" fmla="*/ 1976439 w 2185988"/>
              <a:gd name="connsiteY12" fmla="*/ 300038 h 2171700"/>
              <a:gd name="connsiteX13" fmla="*/ 2128838 w 2185988"/>
              <a:gd name="connsiteY13" fmla="*/ 452437 h 2171700"/>
              <a:gd name="connsiteX14" fmla="*/ 2138363 w 2185988"/>
              <a:gd name="connsiteY14" fmla="*/ 576262 h 2171700"/>
              <a:gd name="connsiteX15" fmla="*/ 2095501 w 2185988"/>
              <a:gd name="connsiteY15" fmla="*/ 681037 h 2171700"/>
              <a:gd name="connsiteX16" fmla="*/ 2024063 w 2185988"/>
              <a:gd name="connsiteY16" fmla="*/ 781050 h 2171700"/>
              <a:gd name="connsiteX17" fmla="*/ 2085975 w 2185988"/>
              <a:gd name="connsiteY17" fmla="*/ 952500 h 2171700"/>
              <a:gd name="connsiteX18" fmla="*/ 2152650 w 2185988"/>
              <a:gd name="connsiteY18" fmla="*/ 1152525 h 2171700"/>
              <a:gd name="connsiteX19" fmla="*/ 2185988 w 2185988"/>
              <a:gd name="connsiteY19" fmla="*/ 1428750 h 2171700"/>
              <a:gd name="connsiteX20" fmla="*/ 2171700 w 2185988"/>
              <a:gd name="connsiteY20" fmla="*/ 1609725 h 2171700"/>
              <a:gd name="connsiteX21" fmla="*/ 2124075 w 2185988"/>
              <a:gd name="connsiteY21" fmla="*/ 1804987 h 2171700"/>
              <a:gd name="connsiteX22" fmla="*/ 2038350 w 2185988"/>
              <a:gd name="connsiteY22" fmla="*/ 1981200 h 2171700"/>
              <a:gd name="connsiteX23" fmla="*/ 1957388 w 2185988"/>
              <a:gd name="connsiteY23" fmla="*/ 2100262 h 2171700"/>
              <a:gd name="connsiteX24" fmla="*/ 1895475 w 2185988"/>
              <a:gd name="connsiteY24" fmla="*/ 2171700 h 2171700"/>
              <a:gd name="connsiteX0" fmla="*/ 0 w 2185988"/>
              <a:gd name="connsiteY0" fmla="*/ 314325 h 2171700"/>
              <a:gd name="connsiteX1" fmla="*/ 157163 w 2185988"/>
              <a:gd name="connsiteY1" fmla="*/ 185737 h 2171700"/>
              <a:gd name="connsiteX2" fmla="*/ 333375 w 2185988"/>
              <a:gd name="connsiteY2" fmla="*/ 95250 h 2171700"/>
              <a:gd name="connsiteX3" fmla="*/ 495300 w 2185988"/>
              <a:gd name="connsiteY3" fmla="*/ 33337 h 2171700"/>
              <a:gd name="connsiteX4" fmla="*/ 690563 w 2185988"/>
              <a:gd name="connsiteY4" fmla="*/ 0 h 2171700"/>
              <a:gd name="connsiteX5" fmla="*/ 871538 w 2185988"/>
              <a:gd name="connsiteY5" fmla="*/ 4762 h 2171700"/>
              <a:gd name="connsiteX6" fmla="*/ 1066800 w 2185988"/>
              <a:gd name="connsiteY6" fmla="*/ 28575 h 2171700"/>
              <a:gd name="connsiteX7" fmla="*/ 1276350 w 2185988"/>
              <a:gd name="connsiteY7" fmla="*/ 104775 h 2171700"/>
              <a:gd name="connsiteX8" fmla="*/ 1428750 w 2185988"/>
              <a:gd name="connsiteY8" fmla="*/ 171450 h 2171700"/>
              <a:gd name="connsiteX9" fmla="*/ 1571625 w 2185988"/>
              <a:gd name="connsiteY9" fmla="*/ 266700 h 2171700"/>
              <a:gd name="connsiteX10" fmla="*/ 1704975 w 2185988"/>
              <a:gd name="connsiteY10" fmla="*/ 385762 h 2171700"/>
              <a:gd name="connsiteX11" fmla="*/ 1809750 w 2185988"/>
              <a:gd name="connsiteY11" fmla="*/ 328613 h 2171700"/>
              <a:gd name="connsiteX12" fmla="*/ 1976439 w 2185988"/>
              <a:gd name="connsiteY12" fmla="*/ 300038 h 2171700"/>
              <a:gd name="connsiteX13" fmla="*/ 2128838 w 2185988"/>
              <a:gd name="connsiteY13" fmla="*/ 452437 h 2171700"/>
              <a:gd name="connsiteX14" fmla="*/ 2138363 w 2185988"/>
              <a:gd name="connsiteY14" fmla="*/ 576262 h 2171700"/>
              <a:gd name="connsiteX15" fmla="*/ 2095501 w 2185988"/>
              <a:gd name="connsiteY15" fmla="*/ 681037 h 2171700"/>
              <a:gd name="connsiteX16" fmla="*/ 2024063 w 2185988"/>
              <a:gd name="connsiteY16" fmla="*/ 781050 h 2171700"/>
              <a:gd name="connsiteX17" fmla="*/ 2105025 w 2185988"/>
              <a:gd name="connsiteY17" fmla="*/ 962025 h 2171700"/>
              <a:gd name="connsiteX18" fmla="*/ 2152650 w 2185988"/>
              <a:gd name="connsiteY18" fmla="*/ 1152525 h 2171700"/>
              <a:gd name="connsiteX19" fmla="*/ 2185988 w 2185988"/>
              <a:gd name="connsiteY19" fmla="*/ 1428750 h 2171700"/>
              <a:gd name="connsiteX20" fmla="*/ 2171700 w 2185988"/>
              <a:gd name="connsiteY20" fmla="*/ 1609725 h 2171700"/>
              <a:gd name="connsiteX21" fmla="*/ 2124075 w 2185988"/>
              <a:gd name="connsiteY21" fmla="*/ 1804987 h 2171700"/>
              <a:gd name="connsiteX22" fmla="*/ 2038350 w 2185988"/>
              <a:gd name="connsiteY22" fmla="*/ 1981200 h 2171700"/>
              <a:gd name="connsiteX23" fmla="*/ 1957388 w 2185988"/>
              <a:gd name="connsiteY23" fmla="*/ 2100262 h 2171700"/>
              <a:gd name="connsiteX24" fmla="*/ 1895475 w 2185988"/>
              <a:gd name="connsiteY24" fmla="*/ 2171700 h 2171700"/>
              <a:gd name="connsiteX0" fmla="*/ 0 w 2185988"/>
              <a:gd name="connsiteY0" fmla="*/ 314325 h 2171700"/>
              <a:gd name="connsiteX1" fmla="*/ 157163 w 2185988"/>
              <a:gd name="connsiteY1" fmla="*/ 185737 h 2171700"/>
              <a:gd name="connsiteX2" fmla="*/ 333375 w 2185988"/>
              <a:gd name="connsiteY2" fmla="*/ 95250 h 2171700"/>
              <a:gd name="connsiteX3" fmla="*/ 495300 w 2185988"/>
              <a:gd name="connsiteY3" fmla="*/ 33337 h 2171700"/>
              <a:gd name="connsiteX4" fmla="*/ 690563 w 2185988"/>
              <a:gd name="connsiteY4" fmla="*/ 0 h 2171700"/>
              <a:gd name="connsiteX5" fmla="*/ 871538 w 2185988"/>
              <a:gd name="connsiteY5" fmla="*/ 4762 h 2171700"/>
              <a:gd name="connsiteX6" fmla="*/ 1066800 w 2185988"/>
              <a:gd name="connsiteY6" fmla="*/ 28575 h 2171700"/>
              <a:gd name="connsiteX7" fmla="*/ 1276350 w 2185988"/>
              <a:gd name="connsiteY7" fmla="*/ 104775 h 2171700"/>
              <a:gd name="connsiteX8" fmla="*/ 1428750 w 2185988"/>
              <a:gd name="connsiteY8" fmla="*/ 171450 h 2171700"/>
              <a:gd name="connsiteX9" fmla="*/ 1571625 w 2185988"/>
              <a:gd name="connsiteY9" fmla="*/ 266700 h 2171700"/>
              <a:gd name="connsiteX10" fmla="*/ 1704975 w 2185988"/>
              <a:gd name="connsiteY10" fmla="*/ 385762 h 2171700"/>
              <a:gd name="connsiteX11" fmla="*/ 1809750 w 2185988"/>
              <a:gd name="connsiteY11" fmla="*/ 328613 h 2171700"/>
              <a:gd name="connsiteX12" fmla="*/ 1976439 w 2185988"/>
              <a:gd name="connsiteY12" fmla="*/ 300038 h 2171700"/>
              <a:gd name="connsiteX13" fmla="*/ 2128838 w 2185988"/>
              <a:gd name="connsiteY13" fmla="*/ 452437 h 2171700"/>
              <a:gd name="connsiteX14" fmla="*/ 2138363 w 2185988"/>
              <a:gd name="connsiteY14" fmla="*/ 576262 h 2171700"/>
              <a:gd name="connsiteX15" fmla="*/ 2095501 w 2185988"/>
              <a:gd name="connsiteY15" fmla="*/ 681037 h 2171700"/>
              <a:gd name="connsiteX16" fmla="*/ 2024063 w 2185988"/>
              <a:gd name="connsiteY16" fmla="*/ 781050 h 2171700"/>
              <a:gd name="connsiteX17" fmla="*/ 2105025 w 2185988"/>
              <a:gd name="connsiteY17" fmla="*/ 962025 h 2171700"/>
              <a:gd name="connsiteX18" fmla="*/ 2176463 w 2185988"/>
              <a:gd name="connsiteY18" fmla="*/ 1214437 h 2171700"/>
              <a:gd name="connsiteX19" fmla="*/ 2185988 w 2185988"/>
              <a:gd name="connsiteY19" fmla="*/ 1428750 h 2171700"/>
              <a:gd name="connsiteX20" fmla="*/ 2171700 w 2185988"/>
              <a:gd name="connsiteY20" fmla="*/ 1609725 h 2171700"/>
              <a:gd name="connsiteX21" fmla="*/ 2124075 w 2185988"/>
              <a:gd name="connsiteY21" fmla="*/ 1804987 h 2171700"/>
              <a:gd name="connsiteX22" fmla="*/ 2038350 w 2185988"/>
              <a:gd name="connsiteY22" fmla="*/ 1981200 h 2171700"/>
              <a:gd name="connsiteX23" fmla="*/ 1957388 w 2185988"/>
              <a:gd name="connsiteY23" fmla="*/ 2100262 h 2171700"/>
              <a:gd name="connsiteX24" fmla="*/ 1895475 w 2185988"/>
              <a:gd name="connsiteY24" fmla="*/ 2171700 h 2171700"/>
              <a:gd name="connsiteX0" fmla="*/ 0 w 2185988"/>
              <a:gd name="connsiteY0" fmla="*/ 314325 h 2262286"/>
              <a:gd name="connsiteX1" fmla="*/ 157163 w 2185988"/>
              <a:gd name="connsiteY1" fmla="*/ 185737 h 2262286"/>
              <a:gd name="connsiteX2" fmla="*/ 333375 w 2185988"/>
              <a:gd name="connsiteY2" fmla="*/ 95250 h 2262286"/>
              <a:gd name="connsiteX3" fmla="*/ 495300 w 2185988"/>
              <a:gd name="connsiteY3" fmla="*/ 33337 h 2262286"/>
              <a:gd name="connsiteX4" fmla="*/ 690563 w 2185988"/>
              <a:gd name="connsiteY4" fmla="*/ 0 h 2262286"/>
              <a:gd name="connsiteX5" fmla="*/ 871538 w 2185988"/>
              <a:gd name="connsiteY5" fmla="*/ 4762 h 2262286"/>
              <a:gd name="connsiteX6" fmla="*/ 1066800 w 2185988"/>
              <a:gd name="connsiteY6" fmla="*/ 28575 h 2262286"/>
              <a:gd name="connsiteX7" fmla="*/ 1276350 w 2185988"/>
              <a:gd name="connsiteY7" fmla="*/ 104775 h 2262286"/>
              <a:gd name="connsiteX8" fmla="*/ 1428750 w 2185988"/>
              <a:gd name="connsiteY8" fmla="*/ 171450 h 2262286"/>
              <a:gd name="connsiteX9" fmla="*/ 1571625 w 2185988"/>
              <a:gd name="connsiteY9" fmla="*/ 266700 h 2262286"/>
              <a:gd name="connsiteX10" fmla="*/ 1704975 w 2185988"/>
              <a:gd name="connsiteY10" fmla="*/ 385762 h 2262286"/>
              <a:gd name="connsiteX11" fmla="*/ 1809750 w 2185988"/>
              <a:gd name="connsiteY11" fmla="*/ 328613 h 2262286"/>
              <a:gd name="connsiteX12" fmla="*/ 1976439 w 2185988"/>
              <a:gd name="connsiteY12" fmla="*/ 300038 h 2262286"/>
              <a:gd name="connsiteX13" fmla="*/ 2128838 w 2185988"/>
              <a:gd name="connsiteY13" fmla="*/ 452437 h 2262286"/>
              <a:gd name="connsiteX14" fmla="*/ 2138363 w 2185988"/>
              <a:gd name="connsiteY14" fmla="*/ 576262 h 2262286"/>
              <a:gd name="connsiteX15" fmla="*/ 2095501 w 2185988"/>
              <a:gd name="connsiteY15" fmla="*/ 681037 h 2262286"/>
              <a:gd name="connsiteX16" fmla="*/ 2024063 w 2185988"/>
              <a:gd name="connsiteY16" fmla="*/ 781050 h 2262286"/>
              <a:gd name="connsiteX17" fmla="*/ 2105025 w 2185988"/>
              <a:gd name="connsiteY17" fmla="*/ 962025 h 2262286"/>
              <a:gd name="connsiteX18" fmla="*/ 2176463 w 2185988"/>
              <a:gd name="connsiteY18" fmla="*/ 1214437 h 2262286"/>
              <a:gd name="connsiteX19" fmla="*/ 2185988 w 2185988"/>
              <a:gd name="connsiteY19" fmla="*/ 1428750 h 2262286"/>
              <a:gd name="connsiteX20" fmla="*/ 2171700 w 2185988"/>
              <a:gd name="connsiteY20" fmla="*/ 1609725 h 2262286"/>
              <a:gd name="connsiteX21" fmla="*/ 2124075 w 2185988"/>
              <a:gd name="connsiteY21" fmla="*/ 1804987 h 2262286"/>
              <a:gd name="connsiteX22" fmla="*/ 2038350 w 2185988"/>
              <a:gd name="connsiteY22" fmla="*/ 1981200 h 2262286"/>
              <a:gd name="connsiteX23" fmla="*/ 1957388 w 2185988"/>
              <a:gd name="connsiteY23" fmla="*/ 2100262 h 2262286"/>
              <a:gd name="connsiteX24" fmla="*/ 1833006 w 2185988"/>
              <a:gd name="connsiteY24" fmla="*/ 2262286 h 2262286"/>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571625 w 2185988"/>
              <a:gd name="connsiteY9" fmla="*/ 266700 h 2231435"/>
              <a:gd name="connsiteX10" fmla="*/ 1704975 w 2185988"/>
              <a:gd name="connsiteY10" fmla="*/ 385762 h 2231435"/>
              <a:gd name="connsiteX11" fmla="*/ 1809750 w 2185988"/>
              <a:gd name="connsiteY11" fmla="*/ 328613 h 2231435"/>
              <a:gd name="connsiteX12" fmla="*/ 1976439 w 2185988"/>
              <a:gd name="connsiteY12" fmla="*/ 300038 h 2231435"/>
              <a:gd name="connsiteX13" fmla="*/ 2128838 w 2185988"/>
              <a:gd name="connsiteY13" fmla="*/ 452437 h 2231435"/>
              <a:gd name="connsiteX14" fmla="*/ 2138363 w 2185988"/>
              <a:gd name="connsiteY14" fmla="*/ 576262 h 2231435"/>
              <a:gd name="connsiteX15" fmla="*/ 2095501 w 2185988"/>
              <a:gd name="connsiteY15" fmla="*/ 681037 h 2231435"/>
              <a:gd name="connsiteX16" fmla="*/ 2024063 w 2185988"/>
              <a:gd name="connsiteY16" fmla="*/ 781050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614283 w 2185988"/>
              <a:gd name="connsiteY9" fmla="*/ 93929 h 2231435"/>
              <a:gd name="connsiteX10" fmla="*/ 1704975 w 2185988"/>
              <a:gd name="connsiteY10" fmla="*/ 385762 h 2231435"/>
              <a:gd name="connsiteX11" fmla="*/ 1809750 w 2185988"/>
              <a:gd name="connsiteY11" fmla="*/ 328613 h 2231435"/>
              <a:gd name="connsiteX12" fmla="*/ 1976439 w 2185988"/>
              <a:gd name="connsiteY12" fmla="*/ 300038 h 2231435"/>
              <a:gd name="connsiteX13" fmla="*/ 2128838 w 2185988"/>
              <a:gd name="connsiteY13" fmla="*/ 452437 h 2231435"/>
              <a:gd name="connsiteX14" fmla="*/ 2138363 w 2185988"/>
              <a:gd name="connsiteY14" fmla="*/ 576262 h 2231435"/>
              <a:gd name="connsiteX15" fmla="*/ 2095501 w 2185988"/>
              <a:gd name="connsiteY15" fmla="*/ 681037 h 2231435"/>
              <a:gd name="connsiteX16" fmla="*/ 2024063 w 2185988"/>
              <a:gd name="connsiteY16" fmla="*/ 781050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614283 w 2185988"/>
              <a:gd name="connsiteY9" fmla="*/ 93929 h 2231435"/>
              <a:gd name="connsiteX10" fmla="*/ 1851230 w 2185988"/>
              <a:gd name="connsiteY10" fmla="*/ 89582 h 2231435"/>
              <a:gd name="connsiteX11" fmla="*/ 1809750 w 2185988"/>
              <a:gd name="connsiteY11" fmla="*/ 328613 h 2231435"/>
              <a:gd name="connsiteX12" fmla="*/ 1976439 w 2185988"/>
              <a:gd name="connsiteY12" fmla="*/ 300038 h 2231435"/>
              <a:gd name="connsiteX13" fmla="*/ 2128838 w 2185988"/>
              <a:gd name="connsiteY13" fmla="*/ 452437 h 2231435"/>
              <a:gd name="connsiteX14" fmla="*/ 2138363 w 2185988"/>
              <a:gd name="connsiteY14" fmla="*/ 576262 h 2231435"/>
              <a:gd name="connsiteX15" fmla="*/ 2095501 w 2185988"/>
              <a:gd name="connsiteY15" fmla="*/ 681037 h 2231435"/>
              <a:gd name="connsiteX16" fmla="*/ 2024063 w 2185988"/>
              <a:gd name="connsiteY16" fmla="*/ 781050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614283 w 2185988"/>
              <a:gd name="connsiteY9" fmla="*/ 93929 h 2231435"/>
              <a:gd name="connsiteX10" fmla="*/ 1851230 w 2185988"/>
              <a:gd name="connsiteY10" fmla="*/ 89582 h 2231435"/>
              <a:gd name="connsiteX11" fmla="*/ 2004758 w 2185988"/>
              <a:gd name="connsiteY11" fmla="*/ 106478 h 2231435"/>
              <a:gd name="connsiteX12" fmla="*/ 1976439 w 2185988"/>
              <a:gd name="connsiteY12" fmla="*/ 300038 h 2231435"/>
              <a:gd name="connsiteX13" fmla="*/ 2128838 w 2185988"/>
              <a:gd name="connsiteY13" fmla="*/ 452437 h 2231435"/>
              <a:gd name="connsiteX14" fmla="*/ 2138363 w 2185988"/>
              <a:gd name="connsiteY14" fmla="*/ 576262 h 2231435"/>
              <a:gd name="connsiteX15" fmla="*/ 2095501 w 2185988"/>
              <a:gd name="connsiteY15" fmla="*/ 681037 h 2231435"/>
              <a:gd name="connsiteX16" fmla="*/ 2024063 w 2185988"/>
              <a:gd name="connsiteY16" fmla="*/ 781050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614283 w 2185988"/>
              <a:gd name="connsiteY9" fmla="*/ 93929 h 2231435"/>
              <a:gd name="connsiteX10" fmla="*/ 1851230 w 2185988"/>
              <a:gd name="connsiteY10" fmla="*/ 89582 h 2231435"/>
              <a:gd name="connsiteX11" fmla="*/ 2004758 w 2185988"/>
              <a:gd name="connsiteY11" fmla="*/ 106478 h 2231435"/>
              <a:gd name="connsiteX12" fmla="*/ 2092224 w 2185988"/>
              <a:gd name="connsiteY12" fmla="*/ 213652 h 2231435"/>
              <a:gd name="connsiteX13" fmla="*/ 2128838 w 2185988"/>
              <a:gd name="connsiteY13" fmla="*/ 452437 h 2231435"/>
              <a:gd name="connsiteX14" fmla="*/ 2138363 w 2185988"/>
              <a:gd name="connsiteY14" fmla="*/ 576262 h 2231435"/>
              <a:gd name="connsiteX15" fmla="*/ 2095501 w 2185988"/>
              <a:gd name="connsiteY15" fmla="*/ 681037 h 2231435"/>
              <a:gd name="connsiteX16" fmla="*/ 2024063 w 2185988"/>
              <a:gd name="connsiteY16" fmla="*/ 781050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614283 w 2185988"/>
              <a:gd name="connsiteY9" fmla="*/ 93929 h 2231435"/>
              <a:gd name="connsiteX10" fmla="*/ 1851230 w 2185988"/>
              <a:gd name="connsiteY10" fmla="*/ 89582 h 2231435"/>
              <a:gd name="connsiteX11" fmla="*/ 2004758 w 2185988"/>
              <a:gd name="connsiteY11" fmla="*/ 106478 h 2231435"/>
              <a:gd name="connsiteX12" fmla="*/ 2092224 w 2185988"/>
              <a:gd name="connsiteY12" fmla="*/ 213652 h 2231435"/>
              <a:gd name="connsiteX13" fmla="*/ 2177590 w 2185988"/>
              <a:gd name="connsiteY13" fmla="*/ 427755 h 2231435"/>
              <a:gd name="connsiteX14" fmla="*/ 2138363 w 2185988"/>
              <a:gd name="connsiteY14" fmla="*/ 576262 h 2231435"/>
              <a:gd name="connsiteX15" fmla="*/ 2095501 w 2185988"/>
              <a:gd name="connsiteY15" fmla="*/ 681037 h 2231435"/>
              <a:gd name="connsiteX16" fmla="*/ 2024063 w 2185988"/>
              <a:gd name="connsiteY16" fmla="*/ 781050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614283 w 2185988"/>
              <a:gd name="connsiteY9" fmla="*/ 93929 h 2231435"/>
              <a:gd name="connsiteX10" fmla="*/ 1851230 w 2185988"/>
              <a:gd name="connsiteY10" fmla="*/ 89582 h 2231435"/>
              <a:gd name="connsiteX11" fmla="*/ 2004758 w 2185988"/>
              <a:gd name="connsiteY11" fmla="*/ 106478 h 2231435"/>
              <a:gd name="connsiteX12" fmla="*/ 2092224 w 2185988"/>
              <a:gd name="connsiteY12" fmla="*/ 213652 h 2231435"/>
              <a:gd name="connsiteX13" fmla="*/ 2177590 w 2185988"/>
              <a:gd name="connsiteY13" fmla="*/ 427755 h 2231435"/>
              <a:gd name="connsiteX14" fmla="*/ 2138363 w 2185988"/>
              <a:gd name="connsiteY14" fmla="*/ 576262 h 2231435"/>
              <a:gd name="connsiteX15" fmla="*/ 2095501 w 2185988"/>
              <a:gd name="connsiteY15" fmla="*/ 681037 h 2231435"/>
              <a:gd name="connsiteX16" fmla="*/ 1987499 w 2185988"/>
              <a:gd name="connsiteY16" fmla="*/ 756368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614283 w 2185988"/>
              <a:gd name="connsiteY9" fmla="*/ 93929 h 2231435"/>
              <a:gd name="connsiteX10" fmla="*/ 1851230 w 2185988"/>
              <a:gd name="connsiteY10" fmla="*/ 89582 h 2231435"/>
              <a:gd name="connsiteX11" fmla="*/ 2004758 w 2185988"/>
              <a:gd name="connsiteY11" fmla="*/ 106478 h 2231435"/>
              <a:gd name="connsiteX12" fmla="*/ 2092224 w 2185988"/>
              <a:gd name="connsiteY12" fmla="*/ 213652 h 2231435"/>
              <a:gd name="connsiteX13" fmla="*/ 2177590 w 2185988"/>
              <a:gd name="connsiteY13" fmla="*/ 427755 h 2231435"/>
              <a:gd name="connsiteX14" fmla="*/ 2138363 w 2185988"/>
              <a:gd name="connsiteY14" fmla="*/ 576262 h 2231435"/>
              <a:gd name="connsiteX15" fmla="*/ 2095501 w 2185988"/>
              <a:gd name="connsiteY15" fmla="*/ 681037 h 2231435"/>
              <a:gd name="connsiteX16" fmla="*/ 2005780 w 2185988"/>
              <a:gd name="connsiteY16" fmla="*/ 737857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614283 w 2185988"/>
              <a:gd name="connsiteY9" fmla="*/ 93929 h 2231435"/>
              <a:gd name="connsiteX10" fmla="*/ 1851230 w 2185988"/>
              <a:gd name="connsiteY10" fmla="*/ 89582 h 2231435"/>
              <a:gd name="connsiteX11" fmla="*/ 2004758 w 2185988"/>
              <a:gd name="connsiteY11" fmla="*/ 106478 h 2231435"/>
              <a:gd name="connsiteX12" fmla="*/ 2092224 w 2185988"/>
              <a:gd name="connsiteY12" fmla="*/ 213652 h 2231435"/>
              <a:gd name="connsiteX13" fmla="*/ 2177590 w 2185988"/>
              <a:gd name="connsiteY13" fmla="*/ 427755 h 2231435"/>
              <a:gd name="connsiteX14" fmla="*/ 2138363 w 2185988"/>
              <a:gd name="connsiteY14" fmla="*/ 576262 h 2231435"/>
              <a:gd name="connsiteX15" fmla="*/ 2101596 w 2185988"/>
              <a:gd name="connsiteY15" fmla="*/ 631674 h 2231435"/>
              <a:gd name="connsiteX16" fmla="*/ 2005780 w 2185988"/>
              <a:gd name="connsiteY16" fmla="*/ 737857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614283 w 2185988"/>
              <a:gd name="connsiteY9" fmla="*/ 93929 h 2231435"/>
              <a:gd name="connsiteX10" fmla="*/ 1851230 w 2185988"/>
              <a:gd name="connsiteY10" fmla="*/ 89582 h 2231435"/>
              <a:gd name="connsiteX11" fmla="*/ 2004758 w 2185988"/>
              <a:gd name="connsiteY11" fmla="*/ 106478 h 2231435"/>
              <a:gd name="connsiteX12" fmla="*/ 2092224 w 2185988"/>
              <a:gd name="connsiteY12" fmla="*/ 213652 h 2231435"/>
              <a:gd name="connsiteX13" fmla="*/ 2177590 w 2185988"/>
              <a:gd name="connsiteY13" fmla="*/ 427755 h 2231435"/>
              <a:gd name="connsiteX14" fmla="*/ 2144457 w 2185988"/>
              <a:gd name="connsiteY14" fmla="*/ 514558 h 2231435"/>
              <a:gd name="connsiteX15" fmla="*/ 2101596 w 2185988"/>
              <a:gd name="connsiteY15" fmla="*/ 631674 h 2231435"/>
              <a:gd name="connsiteX16" fmla="*/ 2005780 w 2185988"/>
              <a:gd name="connsiteY16" fmla="*/ 737857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614283 w 2185988"/>
              <a:gd name="connsiteY9" fmla="*/ 93929 h 2231435"/>
              <a:gd name="connsiteX10" fmla="*/ 1851230 w 2185988"/>
              <a:gd name="connsiteY10" fmla="*/ 89582 h 2231435"/>
              <a:gd name="connsiteX11" fmla="*/ 2004758 w 2185988"/>
              <a:gd name="connsiteY11" fmla="*/ 106478 h 2231435"/>
              <a:gd name="connsiteX12" fmla="*/ 2092224 w 2185988"/>
              <a:gd name="connsiteY12" fmla="*/ 213652 h 2231435"/>
              <a:gd name="connsiteX13" fmla="*/ 2177590 w 2185988"/>
              <a:gd name="connsiteY13" fmla="*/ 335200 h 2231435"/>
              <a:gd name="connsiteX14" fmla="*/ 2144457 w 2185988"/>
              <a:gd name="connsiteY14" fmla="*/ 514558 h 2231435"/>
              <a:gd name="connsiteX15" fmla="*/ 2101596 w 2185988"/>
              <a:gd name="connsiteY15" fmla="*/ 631674 h 2231435"/>
              <a:gd name="connsiteX16" fmla="*/ 2005780 w 2185988"/>
              <a:gd name="connsiteY16" fmla="*/ 737857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614283 w 2185988"/>
              <a:gd name="connsiteY9" fmla="*/ 93929 h 2231435"/>
              <a:gd name="connsiteX10" fmla="*/ 1851230 w 2185988"/>
              <a:gd name="connsiteY10" fmla="*/ 89582 h 2231435"/>
              <a:gd name="connsiteX11" fmla="*/ 2004758 w 2185988"/>
              <a:gd name="connsiteY11" fmla="*/ 106478 h 2231435"/>
              <a:gd name="connsiteX12" fmla="*/ 2086130 w 2185988"/>
              <a:gd name="connsiteY12" fmla="*/ 151948 h 2231435"/>
              <a:gd name="connsiteX13" fmla="*/ 2177590 w 2185988"/>
              <a:gd name="connsiteY13" fmla="*/ 335200 h 2231435"/>
              <a:gd name="connsiteX14" fmla="*/ 2144457 w 2185988"/>
              <a:gd name="connsiteY14" fmla="*/ 514558 h 2231435"/>
              <a:gd name="connsiteX15" fmla="*/ 2101596 w 2185988"/>
              <a:gd name="connsiteY15" fmla="*/ 631674 h 2231435"/>
              <a:gd name="connsiteX16" fmla="*/ 2005780 w 2185988"/>
              <a:gd name="connsiteY16" fmla="*/ 737857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614283 w 2185988"/>
              <a:gd name="connsiteY9" fmla="*/ 93929 h 2231435"/>
              <a:gd name="connsiteX10" fmla="*/ 1820761 w 2185988"/>
              <a:gd name="connsiteY10" fmla="*/ 64900 h 2231435"/>
              <a:gd name="connsiteX11" fmla="*/ 2004758 w 2185988"/>
              <a:gd name="connsiteY11" fmla="*/ 106478 h 2231435"/>
              <a:gd name="connsiteX12" fmla="*/ 2086130 w 2185988"/>
              <a:gd name="connsiteY12" fmla="*/ 151948 h 2231435"/>
              <a:gd name="connsiteX13" fmla="*/ 2177590 w 2185988"/>
              <a:gd name="connsiteY13" fmla="*/ 335200 h 2231435"/>
              <a:gd name="connsiteX14" fmla="*/ 2144457 w 2185988"/>
              <a:gd name="connsiteY14" fmla="*/ 514558 h 2231435"/>
              <a:gd name="connsiteX15" fmla="*/ 2101596 w 2185988"/>
              <a:gd name="connsiteY15" fmla="*/ 631674 h 2231435"/>
              <a:gd name="connsiteX16" fmla="*/ 2005780 w 2185988"/>
              <a:gd name="connsiteY16" fmla="*/ 737857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614283 w 2185988"/>
              <a:gd name="connsiteY9" fmla="*/ 93929 h 2231435"/>
              <a:gd name="connsiteX10" fmla="*/ 1820761 w 2185988"/>
              <a:gd name="connsiteY10" fmla="*/ 64900 h 2231435"/>
              <a:gd name="connsiteX11" fmla="*/ 1980382 w 2185988"/>
              <a:gd name="connsiteY11" fmla="*/ 75626 h 2231435"/>
              <a:gd name="connsiteX12" fmla="*/ 2086130 w 2185988"/>
              <a:gd name="connsiteY12" fmla="*/ 151948 h 2231435"/>
              <a:gd name="connsiteX13" fmla="*/ 2177590 w 2185988"/>
              <a:gd name="connsiteY13" fmla="*/ 335200 h 2231435"/>
              <a:gd name="connsiteX14" fmla="*/ 2144457 w 2185988"/>
              <a:gd name="connsiteY14" fmla="*/ 514558 h 2231435"/>
              <a:gd name="connsiteX15" fmla="*/ 2101596 w 2185988"/>
              <a:gd name="connsiteY15" fmla="*/ 631674 h 2231435"/>
              <a:gd name="connsiteX16" fmla="*/ 2005780 w 2185988"/>
              <a:gd name="connsiteY16" fmla="*/ 737857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614283 w 2185988"/>
              <a:gd name="connsiteY9" fmla="*/ 93929 h 2231435"/>
              <a:gd name="connsiteX10" fmla="*/ 1820761 w 2185988"/>
              <a:gd name="connsiteY10" fmla="*/ 64900 h 2231435"/>
              <a:gd name="connsiteX11" fmla="*/ 1992570 w 2185988"/>
              <a:gd name="connsiteY11" fmla="*/ 81797 h 2231435"/>
              <a:gd name="connsiteX12" fmla="*/ 2086130 w 2185988"/>
              <a:gd name="connsiteY12" fmla="*/ 151948 h 2231435"/>
              <a:gd name="connsiteX13" fmla="*/ 2177590 w 2185988"/>
              <a:gd name="connsiteY13" fmla="*/ 335200 h 2231435"/>
              <a:gd name="connsiteX14" fmla="*/ 2144457 w 2185988"/>
              <a:gd name="connsiteY14" fmla="*/ 514558 h 2231435"/>
              <a:gd name="connsiteX15" fmla="*/ 2101596 w 2185988"/>
              <a:gd name="connsiteY15" fmla="*/ 631674 h 2231435"/>
              <a:gd name="connsiteX16" fmla="*/ 2005780 w 2185988"/>
              <a:gd name="connsiteY16" fmla="*/ 737857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614283 w 2185988"/>
              <a:gd name="connsiteY9" fmla="*/ 93929 h 2231435"/>
              <a:gd name="connsiteX10" fmla="*/ 1820761 w 2185988"/>
              <a:gd name="connsiteY10" fmla="*/ 64900 h 2231435"/>
              <a:gd name="connsiteX11" fmla="*/ 1992570 w 2185988"/>
              <a:gd name="connsiteY11" fmla="*/ 81797 h 2231435"/>
              <a:gd name="connsiteX12" fmla="*/ 2104411 w 2185988"/>
              <a:gd name="connsiteY12" fmla="*/ 176630 h 2231435"/>
              <a:gd name="connsiteX13" fmla="*/ 2177590 w 2185988"/>
              <a:gd name="connsiteY13" fmla="*/ 335200 h 2231435"/>
              <a:gd name="connsiteX14" fmla="*/ 2144457 w 2185988"/>
              <a:gd name="connsiteY14" fmla="*/ 514558 h 2231435"/>
              <a:gd name="connsiteX15" fmla="*/ 2101596 w 2185988"/>
              <a:gd name="connsiteY15" fmla="*/ 631674 h 2231435"/>
              <a:gd name="connsiteX16" fmla="*/ 2005780 w 2185988"/>
              <a:gd name="connsiteY16" fmla="*/ 737857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614283 w 2185988"/>
              <a:gd name="connsiteY9" fmla="*/ 93929 h 2231435"/>
              <a:gd name="connsiteX10" fmla="*/ 1832949 w 2185988"/>
              <a:gd name="connsiteY10" fmla="*/ 15537 h 2231435"/>
              <a:gd name="connsiteX11" fmla="*/ 1992570 w 2185988"/>
              <a:gd name="connsiteY11" fmla="*/ 81797 h 2231435"/>
              <a:gd name="connsiteX12" fmla="*/ 2104411 w 2185988"/>
              <a:gd name="connsiteY12" fmla="*/ 176630 h 2231435"/>
              <a:gd name="connsiteX13" fmla="*/ 2177590 w 2185988"/>
              <a:gd name="connsiteY13" fmla="*/ 335200 h 2231435"/>
              <a:gd name="connsiteX14" fmla="*/ 2144457 w 2185988"/>
              <a:gd name="connsiteY14" fmla="*/ 514558 h 2231435"/>
              <a:gd name="connsiteX15" fmla="*/ 2101596 w 2185988"/>
              <a:gd name="connsiteY15" fmla="*/ 631674 h 2231435"/>
              <a:gd name="connsiteX16" fmla="*/ 2005780 w 2185988"/>
              <a:gd name="connsiteY16" fmla="*/ 737857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614283 w 2185988"/>
              <a:gd name="connsiteY9" fmla="*/ 93929 h 2231435"/>
              <a:gd name="connsiteX10" fmla="*/ 1832949 w 2185988"/>
              <a:gd name="connsiteY10" fmla="*/ 15537 h 2231435"/>
              <a:gd name="connsiteX11" fmla="*/ 1998663 w 2185988"/>
              <a:gd name="connsiteY11" fmla="*/ 44774 h 2231435"/>
              <a:gd name="connsiteX12" fmla="*/ 2104411 w 2185988"/>
              <a:gd name="connsiteY12" fmla="*/ 176630 h 2231435"/>
              <a:gd name="connsiteX13" fmla="*/ 2177590 w 2185988"/>
              <a:gd name="connsiteY13" fmla="*/ 335200 h 2231435"/>
              <a:gd name="connsiteX14" fmla="*/ 2144457 w 2185988"/>
              <a:gd name="connsiteY14" fmla="*/ 514558 h 2231435"/>
              <a:gd name="connsiteX15" fmla="*/ 2101596 w 2185988"/>
              <a:gd name="connsiteY15" fmla="*/ 631674 h 2231435"/>
              <a:gd name="connsiteX16" fmla="*/ 2005780 w 2185988"/>
              <a:gd name="connsiteY16" fmla="*/ 737857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626471 w 2185988"/>
              <a:gd name="connsiteY9" fmla="*/ 69247 h 2231435"/>
              <a:gd name="connsiteX10" fmla="*/ 1832949 w 2185988"/>
              <a:gd name="connsiteY10" fmla="*/ 15537 h 2231435"/>
              <a:gd name="connsiteX11" fmla="*/ 1998663 w 2185988"/>
              <a:gd name="connsiteY11" fmla="*/ 44774 h 2231435"/>
              <a:gd name="connsiteX12" fmla="*/ 2104411 w 2185988"/>
              <a:gd name="connsiteY12" fmla="*/ 176630 h 2231435"/>
              <a:gd name="connsiteX13" fmla="*/ 2177590 w 2185988"/>
              <a:gd name="connsiteY13" fmla="*/ 335200 h 2231435"/>
              <a:gd name="connsiteX14" fmla="*/ 2144457 w 2185988"/>
              <a:gd name="connsiteY14" fmla="*/ 514558 h 2231435"/>
              <a:gd name="connsiteX15" fmla="*/ 2101596 w 2185988"/>
              <a:gd name="connsiteY15" fmla="*/ 631674 h 2231435"/>
              <a:gd name="connsiteX16" fmla="*/ 2005780 w 2185988"/>
              <a:gd name="connsiteY16" fmla="*/ 737857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632566 w 2185988"/>
              <a:gd name="connsiteY9" fmla="*/ 44566 h 2231435"/>
              <a:gd name="connsiteX10" fmla="*/ 1832949 w 2185988"/>
              <a:gd name="connsiteY10" fmla="*/ 15537 h 2231435"/>
              <a:gd name="connsiteX11" fmla="*/ 1998663 w 2185988"/>
              <a:gd name="connsiteY11" fmla="*/ 44774 h 2231435"/>
              <a:gd name="connsiteX12" fmla="*/ 2104411 w 2185988"/>
              <a:gd name="connsiteY12" fmla="*/ 176630 h 2231435"/>
              <a:gd name="connsiteX13" fmla="*/ 2177590 w 2185988"/>
              <a:gd name="connsiteY13" fmla="*/ 335200 h 2231435"/>
              <a:gd name="connsiteX14" fmla="*/ 2144457 w 2185988"/>
              <a:gd name="connsiteY14" fmla="*/ 514558 h 2231435"/>
              <a:gd name="connsiteX15" fmla="*/ 2101596 w 2185988"/>
              <a:gd name="connsiteY15" fmla="*/ 631674 h 2231435"/>
              <a:gd name="connsiteX16" fmla="*/ 2005780 w 2185988"/>
              <a:gd name="connsiteY16" fmla="*/ 737857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632566 w 2185988"/>
              <a:gd name="connsiteY9" fmla="*/ 44566 h 2231435"/>
              <a:gd name="connsiteX10" fmla="*/ 1832949 w 2185988"/>
              <a:gd name="connsiteY10" fmla="*/ 15537 h 2231435"/>
              <a:gd name="connsiteX11" fmla="*/ 1998663 w 2185988"/>
              <a:gd name="connsiteY11" fmla="*/ 44774 h 2231435"/>
              <a:gd name="connsiteX12" fmla="*/ 2104411 w 2185988"/>
              <a:gd name="connsiteY12" fmla="*/ 176630 h 2231435"/>
              <a:gd name="connsiteX13" fmla="*/ 2177590 w 2185988"/>
              <a:gd name="connsiteY13" fmla="*/ 335200 h 2231435"/>
              <a:gd name="connsiteX14" fmla="*/ 2144457 w 2185988"/>
              <a:gd name="connsiteY14" fmla="*/ 514558 h 2231435"/>
              <a:gd name="connsiteX15" fmla="*/ 2107691 w 2185988"/>
              <a:gd name="connsiteY15" fmla="*/ 650184 h 2231435"/>
              <a:gd name="connsiteX16" fmla="*/ 2005780 w 2185988"/>
              <a:gd name="connsiteY16" fmla="*/ 737857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632566 w 2185988"/>
              <a:gd name="connsiteY9" fmla="*/ 44566 h 2231435"/>
              <a:gd name="connsiteX10" fmla="*/ 1832949 w 2185988"/>
              <a:gd name="connsiteY10" fmla="*/ 15537 h 2231435"/>
              <a:gd name="connsiteX11" fmla="*/ 1998663 w 2185988"/>
              <a:gd name="connsiteY11" fmla="*/ 44774 h 2231435"/>
              <a:gd name="connsiteX12" fmla="*/ 2104411 w 2185988"/>
              <a:gd name="connsiteY12" fmla="*/ 176630 h 2231435"/>
              <a:gd name="connsiteX13" fmla="*/ 2177590 w 2185988"/>
              <a:gd name="connsiteY13" fmla="*/ 335200 h 2231435"/>
              <a:gd name="connsiteX14" fmla="*/ 2144457 w 2185988"/>
              <a:gd name="connsiteY14" fmla="*/ 514558 h 2231435"/>
              <a:gd name="connsiteX15" fmla="*/ 2095503 w 2185988"/>
              <a:gd name="connsiteY15" fmla="*/ 625503 h 2231435"/>
              <a:gd name="connsiteX16" fmla="*/ 2005780 w 2185988"/>
              <a:gd name="connsiteY16" fmla="*/ 737857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632566 w 2185988"/>
              <a:gd name="connsiteY9" fmla="*/ 44566 h 2231435"/>
              <a:gd name="connsiteX10" fmla="*/ 1832949 w 2185988"/>
              <a:gd name="connsiteY10" fmla="*/ 15537 h 2231435"/>
              <a:gd name="connsiteX11" fmla="*/ 1998663 w 2185988"/>
              <a:gd name="connsiteY11" fmla="*/ 44774 h 2231435"/>
              <a:gd name="connsiteX12" fmla="*/ 2104411 w 2185988"/>
              <a:gd name="connsiteY12" fmla="*/ 176630 h 2231435"/>
              <a:gd name="connsiteX13" fmla="*/ 2177590 w 2185988"/>
              <a:gd name="connsiteY13" fmla="*/ 335200 h 2231435"/>
              <a:gd name="connsiteX14" fmla="*/ 2168833 w 2185988"/>
              <a:gd name="connsiteY14" fmla="*/ 489877 h 2231435"/>
              <a:gd name="connsiteX15" fmla="*/ 2095503 w 2185988"/>
              <a:gd name="connsiteY15" fmla="*/ 625503 h 2231435"/>
              <a:gd name="connsiteX16" fmla="*/ 2005780 w 2185988"/>
              <a:gd name="connsiteY16" fmla="*/ 737857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608190 w 2185988"/>
              <a:gd name="connsiteY9" fmla="*/ 50735 h 2231435"/>
              <a:gd name="connsiteX10" fmla="*/ 1832949 w 2185988"/>
              <a:gd name="connsiteY10" fmla="*/ 15537 h 2231435"/>
              <a:gd name="connsiteX11" fmla="*/ 1998663 w 2185988"/>
              <a:gd name="connsiteY11" fmla="*/ 44774 h 2231435"/>
              <a:gd name="connsiteX12" fmla="*/ 2104411 w 2185988"/>
              <a:gd name="connsiteY12" fmla="*/ 176630 h 2231435"/>
              <a:gd name="connsiteX13" fmla="*/ 2177590 w 2185988"/>
              <a:gd name="connsiteY13" fmla="*/ 335200 h 2231435"/>
              <a:gd name="connsiteX14" fmla="*/ 2168833 w 2185988"/>
              <a:gd name="connsiteY14" fmla="*/ 489877 h 2231435"/>
              <a:gd name="connsiteX15" fmla="*/ 2095503 w 2185988"/>
              <a:gd name="connsiteY15" fmla="*/ 625503 h 2231435"/>
              <a:gd name="connsiteX16" fmla="*/ 2005780 w 2185988"/>
              <a:gd name="connsiteY16" fmla="*/ 737857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608190 w 2185988"/>
              <a:gd name="connsiteY9" fmla="*/ 50735 h 2231435"/>
              <a:gd name="connsiteX10" fmla="*/ 1832949 w 2185988"/>
              <a:gd name="connsiteY10" fmla="*/ 15537 h 2231435"/>
              <a:gd name="connsiteX11" fmla="*/ 1998663 w 2185988"/>
              <a:gd name="connsiteY11" fmla="*/ 44774 h 2231435"/>
              <a:gd name="connsiteX12" fmla="*/ 2104411 w 2185988"/>
              <a:gd name="connsiteY12" fmla="*/ 176630 h 2231435"/>
              <a:gd name="connsiteX13" fmla="*/ 2177590 w 2185988"/>
              <a:gd name="connsiteY13" fmla="*/ 335200 h 2231435"/>
              <a:gd name="connsiteX14" fmla="*/ 2168833 w 2185988"/>
              <a:gd name="connsiteY14" fmla="*/ 489877 h 2231435"/>
              <a:gd name="connsiteX15" fmla="*/ 2095503 w 2185988"/>
              <a:gd name="connsiteY15" fmla="*/ 625503 h 2231435"/>
              <a:gd name="connsiteX16" fmla="*/ 2005780 w 2185988"/>
              <a:gd name="connsiteY16" fmla="*/ 737857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608190 w 2185988"/>
              <a:gd name="connsiteY9" fmla="*/ 50735 h 2231435"/>
              <a:gd name="connsiteX10" fmla="*/ 1832949 w 2185988"/>
              <a:gd name="connsiteY10" fmla="*/ 15537 h 2231435"/>
              <a:gd name="connsiteX11" fmla="*/ 1998663 w 2185988"/>
              <a:gd name="connsiteY11" fmla="*/ 44774 h 2231435"/>
              <a:gd name="connsiteX12" fmla="*/ 2104411 w 2185988"/>
              <a:gd name="connsiteY12" fmla="*/ 176630 h 2231435"/>
              <a:gd name="connsiteX13" fmla="*/ 2177590 w 2185988"/>
              <a:gd name="connsiteY13" fmla="*/ 335200 h 2231435"/>
              <a:gd name="connsiteX14" fmla="*/ 2168833 w 2185988"/>
              <a:gd name="connsiteY14" fmla="*/ 489877 h 2231435"/>
              <a:gd name="connsiteX15" fmla="*/ 2095503 w 2185988"/>
              <a:gd name="connsiteY15" fmla="*/ 625503 h 2231435"/>
              <a:gd name="connsiteX16" fmla="*/ 2005780 w 2185988"/>
              <a:gd name="connsiteY16" fmla="*/ 737857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31435"/>
              <a:gd name="connsiteX1" fmla="*/ 157163 w 2185988"/>
              <a:gd name="connsiteY1" fmla="*/ 185737 h 2231435"/>
              <a:gd name="connsiteX2" fmla="*/ 333375 w 2185988"/>
              <a:gd name="connsiteY2" fmla="*/ 95250 h 2231435"/>
              <a:gd name="connsiteX3" fmla="*/ 495300 w 2185988"/>
              <a:gd name="connsiteY3" fmla="*/ 33337 h 2231435"/>
              <a:gd name="connsiteX4" fmla="*/ 690563 w 2185988"/>
              <a:gd name="connsiteY4" fmla="*/ 0 h 2231435"/>
              <a:gd name="connsiteX5" fmla="*/ 871538 w 2185988"/>
              <a:gd name="connsiteY5" fmla="*/ 4762 h 2231435"/>
              <a:gd name="connsiteX6" fmla="*/ 1066800 w 2185988"/>
              <a:gd name="connsiteY6" fmla="*/ 28575 h 2231435"/>
              <a:gd name="connsiteX7" fmla="*/ 1276350 w 2185988"/>
              <a:gd name="connsiteY7" fmla="*/ 104775 h 2231435"/>
              <a:gd name="connsiteX8" fmla="*/ 1428750 w 2185988"/>
              <a:gd name="connsiteY8" fmla="*/ 171450 h 2231435"/>
              <a:gd name="connsiteX9" fmla="*/ 1608190 w 2185988"/>
              <a:gd name="connsiteY9" fmla="*/ 50735 h 2231435"/>
              <a:gd name="connsiteX10" fmla="*/ 1832949 w 2185988"/>
              <a:gd name="connsiteY10" fmla="*/ 15537 h 2231435"/>
              <a:gd name="connsiteX11" fmla="*/ 1998663 w 2185988"/>
              <a:gd name="connsiteY11" fmla="*/ 44774 h 2231435"/>
              <a:gd name="connsiteX12" fmla="*/ 2104411 w 2185988"/>
              <a:gd name="connsiteY12" fmla="*/ 145777 h 2231435"/>
              <a:gd name="connsiteX13" fmla="*/ 2177590 w 2185988"/>
              <a:gd name="connsiteY13" fmla="*/ 335200 h 2231435"/>
              <a:gd name="connsiteX14" fmla="*/ 2168833 w 2185988"/>
              <a:gd name="connsiteY14" fmla="*/ 489877 h 2231435"/>
              <a:gd name="connsiteX15" fmla="*/ 2095503 w 2185988"/>
              <a:gd name="connsiteY15" fmla="*/ 625503 h 2231435"/>
              <a:gd name="connsiteX16" fmla="*/ 2005780 w 2185988"/>
              <a:gd name="connsiteY16" fmla="*/ 737857 h 2231435"/>
              <a:gd name="connsiteX17" fmla="*/ 2105025 w 2185988"/>
              <a:gd name="connsiteY17" fmla="*/ 962025 h 2231435"/>
              <a:gd name="connsiteX18" fmla="*/ 2176463 w 2185988"/>
              <a:gd name="connsiteY18" fmla="*/ 1214437 h 2231435"/>
              <a:gd name="connsiteX19" fmla="*/ 2185988 w 2185988"/>
              <a:gd name="connsiteY19" fmla="*/ 1428750 h 2231435"/>
              <a:gd name="connsiteX20" fmla="*/ 2171700 w 2185988"/>
              <a:gd name="connsiteY20" fmla="*/ 1609725 h 2231435"/>
              <a:gd name="connsiteX21" fmla="*/ 2124075 w 2185988"/>
              <a:gd name="connsiteY21" fmla="*/ 1804987 h 2231435"/>
              <a:gd name="connsiteX22" fmla="*/ 2038350 w 2185988"/>
              <a:gd name="connsiteY22" fmla="*/ 1981200 h 2231435"/>
              <a:gd name="connsiteX23" fmla="*/ 1957388 w 2185988"/>
              <a:gd name="connsiteY23" fmla="*/ 2100262 h 2231435"/>
              <a:gd name="connsiteX24" fmla="*/ 1863476 w 2185988"/>
              <a:gd name="connsiteY24" fmla="*/ 2231435 h 2231435"/>
              <a:gd name="connsiteX0" fmla="*/ 0 w 2185988"/>
              <a:gd name="connsiteY0" fmla="*/ 314325 h 2206753"/>
              <a:gd name="connsiteX1" fmla="*/ 157163 w 2185988"/>
              <a:gd name="connsiteY1" fmla="*/ 185737 h 2206753"/>
              <a:gd name="connsiteX2" fmla="*/ 333375 w 2185988"/>
              <a:gd name="connsiteY2" fmla="*/ 95250 h 2206753"/>
              <a:gd name="connsiteX3" fmla="*/ 495300 w 2185988"/>
              <a:gd name="connsiteY3" fmla="*/ 33337 h 2206753"/>
              <a:gd name="connsiteX4" fmla="*/ 690563 w 2185988"/>
              <a:gd name="connsiteY4" fmla="*/ 0 h 2206753"/>
              <a:gd name="connsiteX5" fmla="*/ 871538 w 2185988"/>
              <a:gd name="connsiteY5" fmla="*/ 4762 h 2206753"/>
              <a:gd name="connsiteX6" fmla="*/ 1066800 w 2185988"/>
              <a:gd name="connsiteY6" fmla="*/ 28575 h 2206753"/>
              <a:gd name="connsiteX7" fmla="*/ 1276350 w 2185988"/>
              <a:gd name="connsiteY7" fmla="*/ 104775 h 2206753"/>
              <a:gd name="connsiteX8" fmla="*/ 1428750 w 2185988"/>
              <a:gd name="connsiteY8" fmla="*/ 171450 h 2206753"/>
              <a:gd name="connsiteX9" fmla="*/ 1608190 w 2185988"/>
              <a:gd name="connsiteY9" fmla="*/ 50735 h 2206753"/>
              <a:gd name="connsiteX10" fmla="*/ 1832949 w 2185988"/>
              <a:gd name="connsiteY10" fmla="*/ 15537 h 2206753"/>
              <a:gd name="connsiteX11" fmla="*/ 1998663 w 2185988"/>
              <a:gd name="connsiteY11" fmla="*/ 44774 h 2206753"/>
              <a:gd name="connsiteX12" fmla="*/ 2104411 w 2185988"/>
              <a:gd name="connsiteY12" fmla="*/ 145777 h 2206753"/>
              <a:gd name="connsiteX13" fmla="*/ 2177590 w 2185988"/>
              <a:gd name="connsiteY13" fmla="*/ 335200 h 2206753"/>
              <a:gd name="connsiteX14" fmla="*/ 2168833 w 2185988"/>
              <a:gd name="connsiteY14" fmla="*/ 489877 h 2206753"/>
              <a:gd name="connsiteX15" fmla="*/ 2095503 w 2185988"/>
              <a:gd name="connsiteY15" fmla="*/ 625503 h 2206753"/>
              <a:gd name="connsiteX16" fmla="*/ 2005780 w 2185988"/>
              <a:gd name="connsiteY16" fmla="*/ 737857 h 2206753"/>
              <a:gd name="connsiteX17" fmla="*/ 2105025 w 2185988"/>
              <a:gd name="connsiteY17" fmla="*/ 962025 h 2206753"/>
              <a:gd name="connsiteX18" fmla="*/ 2176463 w 2185988"/>
              <a:gd name="connsiteY18" fmla="*/ 1214437 h 2206753"/>
              <a:gd name="connsiteX19" fmla="*/ 2185988 w 2185988"/>
              <a:gd name="connsiteY19" fmla="*/ 1428750 h 2206753"/>
              <a:gd name="connsiteX20" fmla="*/ 2171700 w 2185988"/>
              <a:gd name="connsiteY20" fmla="*/ 1609725 h 2206753"/>
              <a:gd name="connsiteX21" fmla="*/ 2124075 w 2185988"/>
              <a:gd name="connsiteY21" fmla="*/ 1804987 h 2206753"/>
              <a:gd name="connsiteX22" fmla="*/ 2038350 w 2185988"/>
              <a:gd name="connsiteY22" fmla="*/ 1981200 h 2206753"/>
              <a:gd name="connsiteX23" fmla="*/ 1957388 w 2185988"/>
              <a:gd name="connsiteY23" fmla="*/ 2100262 h 2206753"/>
              <a:gd name="connsiteX24" fmla="*/ 1881757 w 2185988"/>
              <a:gd name="connsiteY24" fmla="*/ 2206753 h 2206753"/>
              <a:gd name="connsiteX0" fmla="*/ 0 w 2185988"/>
              <a:gd name="connsiteY0" fmla="*/ 314325 h 2206753"/>
              <a:gd name="connsiteX1" fmla="*/ 157163 w 2185988"/>
              <a:gd name="connsiteY1" fmla="*/ 185737 h 2206753"/>
              <a:gd name="connsiteX2" fmla="*/ 333375 w 2185988"/>
              <a:gd name="connsiteY2" fmla="*/ 95250 h 2206753"/>
              <a:gd name="connsiteX3" fmla="*/ 495300 w 2185988"/>
              <a:gd name="connsiteY3" fmla="*/ 33337 h 2206753"/>
              <a:gd name="connsiteX4" fmla="*/ 690563 w 2185988"/>
              <a:gd name="connsiteY4" fmla="*/ 0 h 2206753"/>
              <a:gd name="connsiteX5" fmla="*/ 871538 w 2185988"/>
              <a:gd name="connsiteY5" fmla="*/ 4762 h 2206753"/>
              <a:gd name="connsiteX6" fmla="*/ 1066800 w 2185988"/>
              <a:gd name="connsiteY6" fmla="*/ 28575 h 2206753"/>
              <a:gd name="connsiteX7" fmla="*/ 1276350 w 2185988"/>
              <a:gd name="connsiteY7" fmla="*/ 104775 h 2206753"/>
              <a:gd name="connsiteX8" fmla="*/ 1428750 w 2185988"/>
              <a:gd name="connsiteY8" fmla="*/ 171450 h 2206753"/>
              <a:gd name="connsiteX9" fmla="*/ 1608190 w 2185988"/>
              <a:gd name="connsiteY9" fmla="*/ 50735 h 2206753"/>
              <a:gd name="connsiteX10" fmla="*/ 1725998 w 2185988"/>
              <a:gd name="connsiteY10" fmla="*/ 16732 h 2206753"/>
              <a:gd name="connsiteX11" fmla="*/ 1832949 w 2185988"/>
              <a:gd name="connsiteY11" fmla="*/ 15537 h 2206753"/>
              <a:gd name="connsiteX12" fmla="*/ 1998663 w 2185988"/>
              <a:gd name="connsiteY12" fmla="*/ 44774 h 2206753"/>
              <a:gd name="connsiteX13" fmla="*/ 2104411 w 2185988"/>
              <a:gd name="connsiteY13" fmla="*/ 145777 h 2206753"/>
              <a:gd name="connsiteX14" fmla="*/ 2177590 w 2185988"/>
              <a:gd name="connsiteY14" fmla="*/ 335200 h 2206753"/>
              <a:gd name="connsiteX15" fmla="*/ 2168833 w 2185988"/>
              <a:gd name="connsiteY15" fmla="*/ 489877 h 2206753"/>
              <a:gd name="connsiteX16" fmla="*/ 2095503 w 2185988"/>
              <a:gd name="connsiteY16" fmla="*/ 625503 h 2206753"/>
              <a:gd name="connsiteX17" fmla="*/ 2005780 w 2185988"/>
              <a:gd name="connsiteY17" fmla="*/ 737857 h 2206753"/>
              <a:gd name="connsiteX18" fmla="*/ 2105025 w 2185988"/>
              <a:gd name="connsiteY18" fmla="*/ 962025 h 2206753"/>
              <a:gd name="connsiteX19" fmla="*/ 2176463 w 2185988"/>
              <a:gd name="connsiteY19" fmla="*/ 1214437 h 2206753"/>
              <a:gd name="connsiteX20" fmla="*/ 2185988 w 2185988"/>
              <a:gd name="connsiteY20" fmla="*/ 1428750 h 2206753"/>
              <a:gd name="connsiteX21" fmla="*/ 2171700 w 2185988"/>
              <a:gd name="connsiteY21" fmla="*/ 1609725 h 2206753"/>
              <a:gd name="connsiteX22" fmla="*/ 2124075 w 2185988"/>
              <a:gd name="connsiteY22" fmla="*/ 1804987 h 2206753"/>
              <a:gd name="connsiteX23" fmla="*/ 2038350 w 2185988"/>
              <a:gd name="connsiteY23" fmla="*/ 1981200 h 2206753"/>
              <a:gd name="connsiteX24" fmla="*/ 1957388 w 2185988"/>
              <a:gd name="connsiteY24" fmla="*/ 2100262 h 2206753"/>
              <a:gd name="connsiteX25" fmla="*/ 1881757 w 2185988"/>
              <a:gd name="connsiteY25" fmla="*/ 2206753 h 2206753"/>
              <a:gd name="connsiteX0" fmla="*/ 0 w 2185988"/>
              <a:gd name="connsiteY0" fmla="*/ 314325 h 2206753"/>
              <a:gd name="connsiteX1" fmla="*/ 157163 w 2185988"/>
              <a:gd name="connsiteY1" fmla="*/ 185737 h 2206753"/>
              <a:gd name="connsiteX2" fmla="*/ 333375 w 2185988"/>
              <a:gd name="connsiteY2" fmla="*/ 95250 h 2206753"/>
              <a:gd name="connsiteX3" fmla="*/ 495300 w 2185988"/>
              <a:gd name="connsiteY3" fmla="*/ 33337 h 2206753"/>
              <a:gd name="connsiteX4" fmla="*/ 690563 w 2185988"/>
              <a:gd name="connsiteY4" fmla="*/ 0 h 2206753"/>
              <a:gd name="connsiteX5" fmla="*/ 871538 w 2185988"/>
              <a:gd name="connsiteY5" fmla="*/ 4762 h 2206753"/>
              <a:gd name="connsiteX6" fmla="*/ 1066800 w 2185988"/>
              <a:gd name="connsiteY6" fmla="*/ 28575 h 2206753"/>
              <a:gd name="connsiteX7" fmla="*/ 1276350 w 2185988"/>
              <a:gd name="connsiteY7" fmla="*/ 104775 h 2206753"/>
              <a:gd name="connsiteX8" fmla="*/ 1428750 w 2185988"/>
              <a:gd name="connsiteY8" fmla="*/ 171450 h 2206753"/>
              <a:gd name="connsiteX9" fmla="*/ 1512708 w 2185988"/>
              <a:gd name="connsiteY9" fmla="*/ 109288 h 2206753"/>
              <a:gd name="connsiteX10" fmla="*/ 1608190 w 2185988"/>
              <a:gd name="connsiteY10" fmla="*/ 50735 h 2206753"/>
              <a:gd name="connsiteX11" fmla="*/ 1725998 w 2185988"/>
              <a:gd name="connsiteY11" fmla="*/ 16732 h 2206753"/>
              <a:gd name="connsiteX12" fmla="*/ 1832949 w 2185988"/>
              <a:gd name="connsiteY12" fmla="*/ 15537 h 2206753"/>
              <a:gd name="connsiteX13" fmla="*/ 1998663 w 2185988"/>
              <a:gd name="connsiteY13" fmla="*/ 44774 h 2206753"/>
              <a:gd name="connsiteX14" fmla="*/ 2104411 w 2185988"/>
              <a:gd name="connsiteY14" fmla="*/ 145777 h 2206753"/>
              <a:gd name="connsiteX15" fmla="*/ 2177590 w 2185988"/>
              <a:gd name="connsiteY15" fmla="*/ 335200 h 2206753"/>
              <a:gd name="connsiteX16" fmla="*/ 2168833 w 2185988"/>
              <a:gd name="connsiteY16" fmla="*/ 489877 h 2206753"/>
              <a:gd name="connsiteX17" fmla="*/ 2095503 w 2185988"/>
              <a:gd name="connsiteY17" fmla="*/ 625503 h 2206753"/>
              <a:gd name="connsiteX18" fmla="*/ 2005780 w 2185988"/>
              <a:gd name="connsiteY18" fmla="*/ 737857 h 2206753"/>
              <a:gd name="connsiteX19" fmla="*/ 2105025 w 2185988"/>
              <a:gd name="connsiteY19" fmla="*/ 962025 h 2206753"/>
              <a:gd name="connsiteX20" fmla="*/ 2176463 w 2185988"/>
              <a:gd name="connsiteY20" fmla="*/ 1214437 h 2206753"/>
              <a:gd name="connsiteX21" fmla="*/ 2185988 w 2185988"/>
              <a:gd name="connsiteY21" fmla="*/ 1428750 h 2206753"/>
              <a:gd name="connsiteX22" fmla="*/ 2171700 w 2185988"/>
              <a:gd name="connsiteY22" fmla="*/ 1609725 h 2206753"/>
              <a:gd name="connsiteX23" fmla="*/ 2124075 w 2185988"/>
              <a:gd name="connsiteY23" fmla="*/ 1804987 h 2206753"/>
              <a:gd name="connsiteX24" fmla="*/ 2038350 w 2185988"/>
              <a:gd name="connsiteY24" fmla="*/ 1981200 h 2206753"/>
              <a:gd name="connsiteX25" fmla="*/ 1957388 w 2185988"/>
              <a:gd name="connsiteY25" fmla="*/ 2100262 h 2206753"/>
              <a:gd name="connsiteX26" fmla="*/ 1881757 w 2185988"/>
              <a:gd name="connsiteY26" fmla="*/ 2206753 h 2206753"/>
              <a:gd name="connsiteX0" fmla="*/ 0 w 2185988"/>
              <a:gd name="connsiteY0" fmla="*/ 314325 h 2206753"/>
              <a:gd name="connsiteX1" fmla="*/ 157163 w 2185988"/>
              <a:gd name="connsiteY1" fmla="*/ 185737 h 2206753"/>
              <a:gd name="connsiteX2" fmla="*/ 333375 w 2185988"/>
              <a:gd name="connsiteY2" fmla="*/ 95250 h 2206753"/>
              <a:gd name="connsiteX3" fmla="*/ 495300 w 2185988"/>
              <a:gd name="connsiteY3" fmla="*/ 33337 h 2206753"/>
              <a:gd name="connsiteX4" fmla="*/ 690563 w 2185988"/>
              <a:gd name="connsiteY4" fmla="*/ 0 h 2206753"/>
              <a:gd name="connsiteX5" fmla="*/ 871538 w 2185988"/>
              <a:gd name="connsiteY5" fmla="*/ 4762 h 2206753"/>
              <a:gd name="connsiteX6" fmla="*/ 1066800 w 2185988"/>
              <a:gd name="connsiteY6" fmla="*/ 28575 h 2206753"/>
              <a:gd name="connsiteX7" fmla="*/ 1276350 w 2185988"/>
              <a:gd name="connsiteY7" fmla="*/ 104775 h 2206753"/>
              <a:gd name="connsiteX8" fmla="*/ 1428750 w 2185988"/>
              <a:gd name="connsiteY8" fmla="*/ 171450 h 2206753"/>
              <a:gd name="connsiteX9" fmla="*/ 1512708 w 2185988"/>
              <a:gd name="connsiteY9" fmla="*/ 109288 h 2206753"/>
              <a:gd name="connsiteX10" fmla="*/ 1608190 w 2185988"/>
              <a:gd name="connsiteY10" fmla="*/ 50735 h 2206753"/>
              <a:gd name="connsiteX11" fmla="*/ 1725998 w 2185988"/>
              <a:gd name="connsiteY11" fmla="*/ 16732 h 2206753"/>
              <a:gd name="connsiteX12" fmla="*/ 1832949 w 2185988"/>
              <a:gd name="connsiteY12" fmla="*/ 15537 h 2206753"/>
              <a:gd name="connsiteX13" fmla="*/ 1921006 w 2185988"/>
              <a:gd name="connsiteY13" fmla="*/ 25988 h 2206753"/>
              <a:gd name="connsiteX14" fmla="*/ 1998663 w 2185988"/>
              <a:gd name="connsiteY14" fmla="*/ 44774 h 2206753"/>
              <a:gd name="connsiteX15" fmla="*/ 2104411 w 2185988"/>
              <a:gd name="connsiteY15" fmla="*/ 145777 h 2206753"/>
              <a:gd name="connsiteX16" fmla="*/ 2177590 w 2185988"/>
              <a:gd name="connsiteY16" fmla="*/ 335200 h 2206753"/>
              <a:gd name="connsiteX17" fmla="*/ 2168833 w 2185988"/>
              <a:gd name="connsiteY17" fmla="*/ 489877 h 2206753"/>
              <a:gd name="connsiteX18" fmla="*/ 2095503 w 2185988"/>
              <a:gd name="connsiteY18" fmla="*/ 625503 h 2206753"/>
              <a:gd name="connsiteX19" fmla="*/ 2005780 w 2185988"/>
              <a:gd name="connsiteY19" fmla="*/ 737857 h 2206753"/>
              <a:gd name="connsiteX20" fmla="*/ 2105025 w 2185988"/>
              <a:gd name="connsiteY20" fmla="*/ 962025 h 2206753"/>
              <a:gd name="connsiteX21" fmla="*/ 2176463 w 2185988"/>
              <a:gd name="connsiteY21" fmla="*/ 1214437 h 2206753"/>
              <a:gd name="connsiteX22" fmla="*/ 2185988 w 2185988"/>
              <a:gd name="connsiteY22" fmla="*/ 1428750 h 2206753"/>
              <a:gd name="connsiteX23" fmla="*/ 2171700 w 2185988"/>
              <a:gd name="connsiteY23" fmla="*/ 1609725 h 2206753"/>
              <a:gd name="connsiteX24" fmla="*/ 2124075 w 2185988"/>
              <a:gd name="connsiteY24" fmla="*/ 1804987 h 2206753"/>
              <a:gd name="connsiteX25" fmla="*/ 2038350 w 2185988"/>
              <a:gd name="connsiteY25" fmla="*/ 1981200 h 2206753"/>
              <a:gd name="connsiteX26" fmla="*/ 1957388 w 2185988"/>
              <a:gd name="connsiteY26" fmla="*/ 2100262 h 2206753"/>
              <a:gd name="connsiteX27" fmla="*/ 1881757 w 2185988"/>
              <a:gd name="connsiteY27" fmla="*/ 2206753 h 2206753"/>
              <a:gd name="connsiteX0" fmla="*/ 0 w 2185988"/>
              <a:gd name="connsiteY0" fmla="*/ 314325 h 2206753"/>
              <a:gd name="connsiteX1" fmla="*/ 157163 w 2185988"/>
              <a:gd name="connsiteY1" fmla="*/ 185737 h 2206753"/>
              <a:gd name="connsiteX2" fmla="*/ 333375 w 2185988"/>
              <a:gd name="connsiteY2" fmla="*/ 95250 h 2206753"/>
              <a:gd name="connsiteX3" fmla="*/ 495300 w 2185988"/>
              <a:gd name="connsiteY3" fmla="*/ 33337 h 2206753"/>
              <a:gd name="connsiteX4" fmla="*/ 690563 w 2185988"/>
              <a:gd name="connsiteY4" fmla="*/ 0 h 2206753"/>
              <a:gd name="connsiteX5" fmla="*/ 871538 w 2185988"/>
              <a:gd name="connsiteY5" fmla="*/ 4762 h 2206753"/>
              <a:gd name="connsiteX6" fmla="*/ 1066800 w 2185988"/>
              <a:gd name="connsiteY6" fmla="*/ 28575 h 2206753"/>
              <a:gd name="connsiteX7" fmla="*/ 1276350 w 2185988"/>
              <a:gd name="connsiteY7" fmla="*/ 104775 h 2206753"/>
              <a:gd name="connsiteX8" fmla="*/ 1428750 w 2185988"/>
              <a:gd name="connsiteY8" fmla="*/ 171450 h 2206753"/>
              <a:gd name="connsiteX9" fmla="*/ 1512708 w 2185988"/>
              <a:gd name="connsiteY9" fmla="*/ 109288 h 2206753"/>
              <a:gd name="connsiteX10" fmla="*/ 1608190 w 2185988"/>
              <a:gd name="connsiteY10" fmla="*/ 50735 h 2206753"/>
              <a:gd name="connsiteX11" fmla="*/ 1725998 w 2185988"/>
              <a:gd name="connsiteY11" fmla="*/ 16732 h 2206753"/>
              <a:gd name="connsiteX12" fmla="*/ 1832949 w 2185988"/>
              <a:gd name="connsiteY12" fmla="*/ 15537 h 2206753"/>
              <a:gd name="connsiteX13" fmla="*/ 1921006 w 2185988"/>
              <a:gd name="connsiteY13" fmla="*/ 25988 h 2206753"/>
              <a:gd name="connsiteX14" fmla="*/ 1998663 w 2185988"/>
              <a:gd name="connsiteY14" fmla="*/ 44774 h 2206753"/>
              <a:gd name="connsiteX15" fmla="*/ 2052027 w 2185988"/>
              <a:gd name="connsiteY15" fmla="*/ 84607 h 2206753"/>
              <a:gd name="connsiteX16" fmla="*/ 2104411 w 2185988"/>
              <a:gd name="connsiteY16" fmla="*/ 145777 h 2206753"/>
              <a:gd name="connsiteX17" fmla="*/ 2177590 w 2185988"/>
              <a:gd name="connsiteY17" fmla="*/ 335200 h 2206753"/>
              <a:gd name="connsiteX18" fmla="*/ 2168833 w 2185988"/>
              <a:gd name="connsiteY18" fmla="*/ 489877 h 2206753"/>
              <a:gd name="connsiteX19" fmla="*/ 2095503 w 2185988"/>
              <a:gd name="connsiteY19" fmla="*/ 625503 h 2206753"/>
              <a:gd name="connsiteX20" fmla="*/ 2005780 w 2185988"/>
              <a:gd name="connsiteY20" fmla="*/ 737857 h 2206753"/>
              <a:gd name="connsiteX21" fmla="*/ 2105025 w 2185988"/>
              <a:gd name="connsiteY21" fmla="*/ 962025 h 2206753"/>
              <a:gd name="connsiteX22" fmla="*/ 2176463 w 2185988"/>
              <a:gd name="connsiteY22" fmla="*/ 1214437 h 2206753"/>
              <a:gd name="connsiteX23" fmla="*/ 2185988 w 2185988"/>
              <a:gd name="connsiteY23" fmla="*/ 1428750 h 2206753"/>
              <a:gd name="connsiteX24" fmla="*/ 2171700 w 2185988"/>
              <a:gd name="connsiteY24" fmla="*/ 1609725 h 2206753"/>
              <a:gd name="connsiteX25" fmla="*/ 2124075 w 2185988"/>
              <a:gd name="connsiteY25" fmla="*/ 1804987 h 2206753"/>
              <a:gd name="connsiteX26" fmla="*/ 2038350 w 2185988"/>
              <a:gd name="connsiteY26" fmla="*/ 1981200 h 2206753"/>
              <a:gd name="connsiteX27" fmla="*/ 1957388 w 2185988"/>
              <a:gd name="connsiteY27" fmla="*/ 2100262 h 2206753"/>
              <a:gd name="connsiteX28" fmla="*/ 1881757 w 2185988"/>
              <a:gd name="connsiteY28" fmla="*/ 2206753 h 2206753"/>
              <a:gd name="connsiteX0" fmla="*/ 0 w 2185988"/>
              <a:gd name="connsiteY0" fmla="*/ 314325 h 2206753"/>
              <a:gd name="connsiteX1" fmla="*/ 157163 w 2185988"/>
              <a:gd name="connsiteY1" fmla="*/ 185737 h 2206753"/>
              <a:gd name="connsiteX2" fmla="*/ 333375 w 2185988"/>
              <a:gd name="connsiteY2" fmla="*/ 95250 h 2206753"/>
              <a:gd name="connsiteX3" fmla="*/ 495300 w 2185988"/>
              <a:gd name="connsiteY3" fmla="*/ 33337 h 2206753"/>
              <a:gd name="connsiteX4" fmla="*/ 690563 w 2185988"/>
              <a:gd name="connsiteY4" fmla="*/ 0 h 2206753"/>
              <a:gd name="connsiteX5" fmla="*/ 871538 w 2185988"/>
              <a:gd name="connsiteY5" fmla="*/ 4762 h 2206753"/>
              <a:gd name="connsiteX6" fmla="*/ 1066800 w 2185988"/>
              <a:gd name="connsiteY6" fmla="*/ 28575 h 2206753"/>
              <a:gd name="connsiteX7" fmla="*/ 1276350 w 2185988"/>
              <a:gd name="connsiteY7" fmla="*/ 104775 h 2206753"/>
              <a:gd name="connsiteX8" fmla="*/ 1428750 w 2185988"/>
              <a:gd name="connsiteY8" fmla="*/ 171450 h 2206753"/>
              <a:gd name="connsiteX9" fmla="*/ 1512708 w 2185988"/>
              <a:gd name="connsiteY9" fmla="*/ 109288 h 2206753"/>
              <a:gd name="connsiteX10" fmla="*/ 1608190 w 2185988"/>
              <a:gd name="connsiteY10" fmla="*/ 50735 h 2206753"/>
              <a:gd name="connsiteX11" fmla="*/ 1725998 w 2185988"/>
              <a:gd name="connsiteY11" fmla="*/ 16732 h 2206753"/>
              <a:gd name="connsiteX12" fmla="*/ 1832949 w 2185988"/>
              <a:gd name="connsiteY12" fmla="*/ 15537 h 2206753"/>
              <a:gd name="connsiteX13" fmla="*/ 1921006 w 2185988"/>
              <a:gd name="connsiteY13" fmla="*/ 25988 h 2206753"/>
              <a:gd name="connsiteX14" fmla="*/ 1998663 w 2185988"/>
              <a:gd name="connsiteY14" fmla="*/ 44774 h 2206753"/>
              <a:gd name="connsiteX15" fmla="*/ 2052027 w 2185988"/>
              <a:gd name="connsiteY15" fmla="*/ 84607 h 2206753"/>
              <a:gd name="connsiteX16" fmla="*/ 2104411 w 2185988"/>
              <a:gd name="connsiteY16" fmla="*/ 145777 h 2206753"/>
              <a:gd name="connsiteX17" fmla="*/ 2158670 w 2185988"/>
              <a:gd name="connsiteY17" fmla="*/ 235781 h 2206753"/>
              <a:gd name="connsiteX18" fmla="*/ 2177590 w 2185988"/>
              <a:gd name="connsiteY18" fmla="*/ 335200 h 2206753"/>
              <a:gd name="connsiteX19" fmla="*/ 2168833 w 2185988"/>
              <a:gd name="connsiteY19" fmla="*/ 489877 h 2206753"/>
              <a:gd name="connsiteX20" fmla="*/ 2095503 w 2185988"/>
              <a:gd name="connsiteY20" fmla="*/ 625503 h 2206753"/>
              <a:gd name="connsiteX21" fmla="*/ 2005780 w 2185988"/>
              <a:gd name="connsiteY21" fmla="*/ 737857 h 2206753"/>
              <a:gd name="connsiteX22" fmla="*/ 2105025 w 2185988"/>
              <a:gd name="connsiteY22" fmla="*/ 962025 h 2206753"/>
              <a:gd name="connsiteX23" fmla="*/ 2176463 w 2185988"/>
              <a:gd name="connsiteY23" fmla="*/ 1214437 h 2206753"/>
              <a:gd name="connsiteX24" fmla="*/ 2185988 w 2185988"/>
              <a:gd name="connsiteY24" fmla="*/ 1428750 h 2206753"/>
              <a:gd name="connsiteX25" fmla="*/ 2171700 w 2185988"/>
              <a:gd name="connsiteY25" fmla="*/ 1609725 h 2206753"/>
              <a:gd name="connsiteX26" fmla="*/ 2124075 w 2185988"/>
              <a:gd name="connsiteY26" fmla="*/ 1804987 h 2206753"/>
              <a:gd name="connsiteX27" fmla="*/ 2038350 w 2185988"/>
              <a:gd name="connsiteY27" fmla="*/ 1981200 h 2206753"/>
              <a:gd name="connsiteX28" fmla="*/ 1957388 w 2185988"/>
              <a:gd name="connsiteY28" fmla="*/ 2100262 h 2206753"/>
              <a:gd name="connsiteX29" fmla="*/ 1881757 w 2185988"/>
              <a:gd name="connsiteY29" fmla="*/ 2206753 h 2206753"/>
              <a:gd name="connsiteX0" fmla="*/ 0 w 2185988"/>
              <a:gd name="connsiteY0" fmla="*/ 314325 h 2206753"/>
              <a:gd name="connsiteX1" fmla="*/ 157163 w 2185988"/>
              <a:gd name="connsiteY1" fmla="*/ 185737 h 2206753"/>
              <a:gd name="connsiteX2" fmla="*/ 333375 w 2185988"/>
              <a:gd name="connsiteY2" fmla="*/ 95250 h 2206753"/>
              <a:gd name="connsiteX3" fmla="*/ 495300 w 2185988"/>
              <a:gd name="connsiteY3" fmla="*/ 33337 h 2206753"/>
              <a:gd name="connsiteX4" fmla="*/ 690563 w 2185988"/>
              <a:gd name="connsiteY4" fmla="*/ 0 h 2206753"/>
              <a:gd name="connsiteX5" fmla="*/ 871538 w 2185988"/>
              <a:gd name="connsiteY5" fmla="*/ 4762 h 2206753"/>
              <a:gd name="connsiteX6" fmla="*/ 1066800 w 2185988"/>
              <a:gd name="connsiteY6" fmla="*/ 28575 h 2206753"/>
              <a:gd name="connsiteX7" fmla="*/ 1276350 w 2185988"/>
              <a:gd name="connsiteY7" fmla="*/ 104775 h 2206753"/>
              <a:gd name="connsiteX8" fmla="*/ 1428750 w 2185988"/>
              <a:gd name="connsiteY8" fmla="*/ 171450 h 2206753"/>
              <a:gd name="connsiteX9" fmla="*/ 1512708 w 2185988"/>
              <a:gd name="connsiteY9" fmla="*/ 109288 h 2206753"/>
              <a:gd name="connsiteX10" fmla="*/ 1608190 w 2185988"/>
              <a:gd name="connsiteY10" fmla="*/ 50735 h 2206753"/>
              <a:gd name="connsiteX11" fmla="*/ 1725998 w 2185988"/>
              <a:gd name="connsiteY11" fmla="*/ 16732 h 2206753"/>
              <a:gd name="connsiteX12" fmla="*/ 1832949 w 2185988"/>
              <a:gd name="connsiteY12" fmla="*/ 15537 h 2206753"/>
              <a:gd name="connsiteX13" fmla="*/ 1921006 w 2185988"/>
              <a:gd name="connsiteY13" fmla="*/ 25988 h 2206753"/>
              <a:gd name="connsiteX14" fmla="*/ 1998663 w 2185988"/>
              <a:gd name="connsiteY14" fmla="*/ 44774 h 2206753"/>
              <a:gd name="connsiteX15" fmla="*/ 2052027 w 2185988"/>
              <a:gd name="connsiteY15" fmla="*/ 84607 h 2206753"/>
              <a:gd name="connsiteX16" fmla="*/ 2104411 w 2185988"/>
              <a:gd name="connsiteY16" fmla="*/ 145777 h 2206753"/>
              <a:gd name="connsiteX17" fmla="*/ 2158670 w 2185988"/>
              <a:gd name="connsiteY17" fmla="*/ 235781 h 2206753"/>
              <a:gd name="connsiteX18" fmla="*/ 2177590 w 2185988"/>
              <a:gd name="connsiteY18" fmla="*/ 335200 h 2206753"/>
              <a:gd name="connsiteX19" fmla="*/ 2176953 w 2185988"/>
              <a:gd name="connsiteY19" fmla="*/ 405468 h 2206753"/>
              <a:gd name="connsiteX20" fmla="*/ 2168833 w 2185988"/>
              <a:gd name="connsiteY20" fmla="*/ 489877 h 2206753"/>
              <a:gd name="connsiteX21" fmla="*/ 2095503 w 2185988"/>
              <a:gd name="connsiteY21" fmla="*/ 625503 h 2206753"/>
              <a:gd name="connsiteX22" fmla="*/ 2005780 w 2185988"/>
              <a:gd name="connsiteY22" fmla="*/ 737857 h 2206753"/>
              <a:gd name="connsiteX23" fmla="*/ 2105025 w 2185988"/>
              <a:gd name="connsiteY23" fmla="*/ 962025 h 2206753"/>
              <a:gd name="connsiteX24" fmla="*/ 2176463 w 2185988"/>
              <a:gd name="connsiteY24" fmla="*/ 1214437 h 2206753"/>
              <a:gd name="connsiteX25" fmla="*/ 2185988 w 2185988"/>
              <a:gd name="connsiteY25" fmla="*/ 1428750 h 2206753"/>
              <a:gd name="connsiteX26" fmla="*/ 2171700 w 2185988"/>
              <a:gd name="connsiteY26" fmla="*/ 1609725 h 2206753"/>
              <a:gd name="connsiteX27" fmla="*/ 2124075 w 2185988"/>
              <a:gd name="connsiteY27" fmla="*/ 1804987 h 2206753"/>
              <a:gd name="connsiteX28" fmla="*/ 2038350 w 2185988"/>
              <a:gd name="connsiteY28" fmla="*/ 1981200 h 2206753"/>
              <a:gd name="connsiteX29" fmla="*/ 1957388 w 2185988"/>
              <a:gd name="connsiteY29" fmla="*/ 2100262 h 2206753"/>
              <a:gd name="connsiteX30" fmla="*/ 1881757 w 2185988"/>
              <a:gd name="connsiteY30" fmla="*/ 2206753 h 2206753"/>
              <a:gd name="connsiteX0" fmla="*/ 0 w 2185988"/>
              <a:gd name="connsiteY0" fmla="*/ 314325 h 2206753"/>
              <a:gd name="connsiteX1" fmla="*/ 157163 w 2185988"/>
              <a:gd name="connsiteY1" fmla="*/ 185737 h 2206753"/>
              <a:gd name="connsiteX2" fmla="*/ 333375 w 2185988"/>
              <a:gd name="connsiteY2" fmla="*/ 95250 h 2206753"/>
              <a:gd name="connsiteX3" fmla="*/ 495300 w 2185988"/>
              <a:gd name="connsiteY3" fmla="*/ 33337 h 2206753"/>
              <a:gd name="connsiteX4" fmla="*/ 690563 w 2185988"/>
              <a:gd name="connsiteY4" fmla="*/ 0 h 2206753"/>
              <a:gd name="connsiteX5" fmla="*/ 871538 w 2185988"/>
              <a:gd name="connsiteY5" fmla="*/ 4762 h 2206753"/>
              <a:gd name="connsiteX6" fmla="*/ 1066800 w 2185988"/>
              <a:gd name="connsiteY6" fmla="*/ 28575 h 2206753"/>
              <a:gd name="connsiteX7" fmla="*/ 1276350 w 2185988"/>
              <a:gd name="connsiteY7" fmla="*/ 104775 h 2206753"/>
              <a:gd name="connsiteX8" fmla="*/ 1428750 w 2185988"/>
              <a:gd name="connsiteY8" fmla="*/ 171450 h 2206753"/>
              <a:gd name="connsiteX9" fmla="*/ 1512708 w 2185988"/>
              <a:gd name="connsiteY9" fmla="*/ 109288 h 2206753"/>
              <a:gd name="connsiteX10" fmla="*/ 1608190 w 2185988"/>
              <a:gd name="connsiteY10" fmla="*/ 50735 h 2206753"/>
              <a:gd name="connsiteX11" fmla="*/ 1725998 w 2185988"/>
              <a:gd name="connsiteY11" fmla="*/ 16732 h 2206753"/>
              <a:gd name="connsiteX12" fmla="*/ 1832949 w 2185988"/>
              <a:gd name="connsiteY12" fmla="*/ 15537 h 2206753"/>
              <a:gd name="connsiteX13" fmla="*/ 1921006 w 2185988"/>
              <a:gd name="connsiteY13" fmla="*/ 25988 h 2206753"/>
              <a:gd name="connsiteX14" fmla="*/ 1998663 w 2185988"/>
              <a:gd name="connsiteY14" fmla="*/ 44774 h 2206753"/>
              <a:gd name="connsiteX15" fmla="*/ 2052027 w 2185988"/>
              <a:gd name="connsiteY15" fmla="*/ 84607 h 2206753"/>
              <a:gd name="connsiteX16" fmla="*/ 2104411 w 2185988"/>
              <a:gd name="connsiteY16" fmla="*/ 145777 h 2206753"/>
              <a:gd name="connsiteX17" fmla="*/ 2158670 w 2185988"/>
              <a:gd name="connsiteY17" fmla="*/ 235781 h 2206753"/>
              <a:gd name="connsiteX18" fmla="*/ 2177590 w 2185988"/>
              <a:gd name="connsiteY18" fmla="*/ 335200 h 2206753"/>
              <a:gd name="connsiteX19" fmla="*/ 2176953 w 2185988"/>
              <a:gd name="connsiteY19" fmla="*/ 405468 h 2206753"/>
              <a:gd name="connsiteX20" fmla="*/ 2168833 w 2185988"/>
              <a:gd name="connsiteY20" fmla="*/ 489877 h 2206753"/>
              <a:gd name="connsiteX21" fmla="*/ 2134294 w 2185988"/>
              <a:gd name="connsiteY21" fmla="*/ 562812 h 2206753"/>
              <a:gd name="connsiteX22" fmla="*/ 2095503 w 2185988"/>
              <a:gd name="connsiteY22" fmla="*/ 625503 h 2206753"/>
              <a:gd name="connsiteX23" fmla="*/ 2005780 w 2185988"/>
              <a:gd name="connsiteY23" fmla="*/ 737857 h 2206753"/>
              <a:gd name="connsiteX24" fmla="*/ 2105025 w 2185988"/>
              <a:gd name="connsiteY24" fmla="*/ 962025 h 2206753"/>
              <a:gd name="connsiteX25" fmla="*/ 2176463 w 2185988"/>
              <a:gd name="connsiteY25" fmla="*/ 1214437 h 2206753"/>
              <a:gd name="connsiteX26" fmla="*/ 2185988 w 2185988"/>
              <a:gd name="connsiteY26" fmla="*/ 1428750 h 2206753"/>
              <a:gd name="connsiteX27" fmla="*/ 2171700 w 2185988"/>
              <a:gd name="connsiteY27" fmla="*/ 1609725 h 2206753"/>
              <a:gd name="connsiteX28" fmla="*/ 2124075 w 2185988"/>
              <a:gd name="connsiteY28" fmla="*/ 1804987 h 2206753"/>
              <a:gd name="connsiteX29" fmla="*/ 2038350 w 2185988"/>
              <a:gd name="connsiteY29" fmla="*/ 1981200 h 2206753"/>
              <a:gd name="connsiteX30" fmla="*/ 1957388 w 2185988"/>
              <a:gd name="connsiteY30" fmla="*/ 2100262 h 2206753"/>
              <a:gd name="connsiteX31" fmla="*/ 1881757 w 2185988"/>
              <a:gd name="connsiteY31" fmla="*/ 2206753 h 2206753"/>
              <a:gd name="connsiteX0" fmla="*/ 0 w 2185988"/>
              <a:gd name="connsiteY0" fmla="*/ 314325 h 2206753"/>
              <a:gd name="connsiteX1" fmla="*/ 157163 w 2185988"/>
              <a:gd name="connsiteY1" fmla="*/ 185737 h 2206753"/>
              <a:gd name="connsiteX2" fmla="*/ 333375 w 2185988"/>
              <a:gd name="connsiteY2" fmla="*/ 95250 h 2206753"/>
              <a:gd name="connsiteX3" fmla="*/ 495300 w 2185988"/>
              <a:gd name="connsiteY3" fmla="*/ 33337 h 2206753"/>
              <a:gd name="connsiteX4" fmla="*/ 690563 w 2185988"/>
              <a:gd name="connsiteY4" fmla="*/ 0 h 2206753"/>
              <a:gd name="connsiteX5" fmla="*/ 871538 w 2185988"/>
              <a:gd name="connsiteY5" fmla="*/ 4762 h 2206753"/>
              <a:gd name="connsiteX6" fmla="*/ 1066800 w 2185988"/>
              <a:gd name="connsiteY6" fmla="*/ 28575 h 2206753"/>
              <a:gd name="connsiteX7" fmla="*/ 1276350 w 2185988"/>
              <a:gd name="connsiteY7" fmla="*/ 104775 h 2206753"/>
              <a:gd name="connsiteX8" fmla="*/ 1428750 w 2185988"/>
              <a:gd name="connsiteY8" fmla="*/ 171450 h 2206753"/>
              <a:gd name="connsiteX9" fmla="*/ 1512708 w 2185988"/>
              <a:gd name="connsiteY9" fmla="*/ 109288 h 2206753"/>
              <a:gd name="connsiteX10" fmla="*/ 1608190 w 2185988"/>
              <a:gd name="connsiteY10" fmla="*/ 50735 h 2206753"/>
              <a:gd name="connsiteX11" fmla="*/ 1725998 w 2185988"/>
              <a:gd name="connsiteY11" fmla="*/ 16732 h 2206753"/>
              <a:gd name="connsiteX12" fmla="*/ 1832949 w 2185988"/>
              <a:gd name="connsiteY12" fmla="*/ 15537 h 2206753"/>
              <a:gd name="connsiteX13" fmla="*/ 1921004 w 2185988"/>
              <a:gd name="connsiteY13" fmla="*/ 21624 h 2206753"/>
              <a:gd name="connsiteX14" fmla="*/ 1998663 w 2185988"/>
              <a:gd name="connsiteY14" fmla="*/ 44774 h 2206753"/>
              <a:gd name="connsiteX15" fmla="*/ 2052027 w 2185988"/>
              <a:gd name="connsiteY15" fmla="*/ 84607 h 2206753"/>
              <a:gd name="connsiteX16" fmla="*/ 2104411 w 2185988"/>
              <a:gd name="connsiteY16" fmla="*/ 145777 h 2206753"/>
              <a:gd name="connsiteX17" fmla="*/ 2158670 w 2185988"/>
              <a:gd name="connsiteY17" fmla="*/ 235781 h 2206753"/>
              <a:gd name="connsiteX18" fmla="*/ 2177590 w 2185988"/>
              <a:gd name="connsiteY18" fmla="*/ 335200 h 2206753"/>
              <a:gd name="connsiteX19" fmla="*/ 2176953 w 2185988"/>
              <a:gd name="connsiteY19" fmla="*/ 405468 h 2206753"/>
              <a:gd name="connsiteX20" fmla="*/ 2168833 w 2185988"/>
              <a:gd name="connsiteY20" fmla="*/ 489877 h 2206753"/>
              <a:gd name="connsiteX21" fmla="*/ 2134294 w 2185988"/>
              <a:gd name="connsiteY21" fmla="*/ 562812 h 2206753"/>
              <a:gd name="connsiteX22" fmla="*/ 2095503 w 2185988"/>
              <a:gd name="connsiteY22" fmla="*/ 625503 h 2206753"/>
              <a:gd name="connsiteX23" fmla="*/ 2005780 w 2185988"/>
              <a:gd name="connsiteY23" fmla="*/ 737857 h 2206753"/>
              <a:gd name="connsiteX24" fmla="*/ 2105025 w 2185988"/>
              <a:gd name="connsiteY24" fmla="*/ 962025 h 2206753"/>
              <a:gd name="connsiteX25" fmla="*/ 2176463 w 2185988"/>
              <a:gd name="connsiteY25" fmla="*/ 1214437 h 2206753"/>
              <a:gd name="connsiteX26" fmla="*/ 2185988 w 2185988"/>
              <a:gd name="connsiteY26" fmla="*/ 1428750 h 2206753"/>
              <a:gd name="connsiteX27" fmla="*/ 2171700 w 2185988"/>
              <a:gd name="connsiteY27" fmla="*/ 1609725 h 2206753"/>
              <a:gd name="connsiteX28" fmla="*/ 2124075 w 2185988"/>
              <a:gd name="connsiteY28" fmla="*/ 1804987 h 2206753"/>
              <a:gd name="connsiteX29" fmla="*/ 2038350 w 2185988"/>
              <a:gd name="connsiteY29" fmla="*/ 1981200 h 2206753"/>
              <a:gd name="connsiteX30" fmla="*/ 1957388 w 2185988"/>
              <a:gd name="connsiteY30" fmla="*/ 2100262 h 2206753"/>
              <a:gd name="connsiteX31" fmla="*/ 1881757 w 2185988"/>
              <a:gd name="connsiteY31" fmla="*/ 2206753 h 2206753"/>
              <a:gd name="connsiteX0" fmla="*/ 0 w 2185988"/>
              <a:gd name="connsiteY0" fmla="*/ 314325 h 2206753"/>
              <a:gd name="connsiteX1" fmla="*/ 157163 w 2185988"/>
              <a:gd name="connsiteY1" fmla="*/ 185737 h 2206753"/>
              <a:gd name="connsiteX2" fmla="*/ 333375 w 2185988"/>
              <a:gd name="connsiteY2" fmla="*/ 95250 h 2206753"/>
              <a:gd name="connsiteX3" fmla="*/ 495300 w 2185988"/>
              <a:gd name="connsiteY3" fmla="*/ 33337 h 2206753"/>
              <a:gd name="connsiteX4" fmla="*/ 690563 w 2185988"/>
              <a:gd name="connsiteY4" fmla="*/ 0 h 2206753"/>
              <a:gd name="connsiteX5" fmla="*/ 871538 w 2185988"/>
              <a:gd name="connsiteY5" fmla="*/ 4762 h 2206753"/>
              <a:gd name="connsiteX6" fmla="*/ 1066800 w 2185988"/>
              <a:gd name="connsiteY6" fmla="*/ 28575 h 2206753"/>
              <a:gd name="connsiteX7" fmla="*/ 1276350 w 2185988"/>
              <a:gd name="connsiteY7" fmla="*/ 104775 h 2206753"/>
              <a:gd name="connsiteX8" fmla="*/ 1428750 w 2185988"/>
              <a:gd name="connsiteY8" fmla="*/ 171450 h 2206753"/>
              <a:gd name="connsiteX9" fmla="*/ 1512708 w 2185988"/>
              <a:gd name="connsiteY9" fmla="*/ 109288 h 2206753"/>
              <a:gd name="connsiteX10" fmla="*/ 1608190 w 2185988"/>
              <a:gd name="connsiteY10" fmla="*/ 50735 h 2206753"/>
              <a:gd name="connsiteX11" fmla="*/ 1725998 w 2185988"/>
              <a:gd name="connsiteY11" fmla="*/ 16732 h 2206753"/>
              <a:gd name="connsiteX12" fmla="*/ 1832949 w 2185988"/>
              <a:gd name="connsiteY12" fmla="*/ 6811 h 2206753"/>
              <a:gd name="connsiteX13" fmla="*/ 1921004 w 2185988"/>
              <a:gd name="connsiteY13" fmla="*/ 21624 h 2206753"/>
              <a:gd name="connsiteX14" fmla="*/ 1998663 w 2185988"/>
              <a:gd name="connsiteY14" fmla="*/ 44774 h 2206753"/>
              <a:gd name="connsiteX15" fmla="*/ 2052027 w 2185988"/>
              <a:gd name="connsiteY15" fmla="*/ 84607 h 2206753"/>
              <a:gd name="connsiteX16" fmla="*/ 2104411 w 2185988"/>
              <a:gd name="connsiteY16" fmla="*/ 145777 h 2206753"/>
              <a:gd name="connsiteX17" fmla="*/ 2158670 w 2185988"/>
              <a:gd name="connsiteY17" fmla="*/ 235781 h 2206753"/>
              <a:gd name="connsiteX18" fmla="*/ 2177590 w 2185988"/>
              <a:gd name="connsiteY18" fmla="*/ 335200 h 2206753"/>
              <a:gd name="connsiteX19" fmla="*/ 2176953 w 2185988"/>
              <a:gd name="connsiteY19" fmla="*/ 405468 h 2206753"/>
              <a:gd name="connsiteX20" fmla="*/ 2168833 w 2185988"/>
              <a:gd name="connsiteY20" fmla="*/ 489877 h 2206753"/>
              <a:gd name="connsiteX21" fmla="*/ 2134294 w 2185988"/>
              <a:gd name="connsiteY21" fmla="*/ 562812 h 2206753"/>
              <a:gd name="connsiteX22" fmla="*/ 2095503 w 2185988"/>
              <a:gd name="connsiteY22" fmla="*/ 625503 h 2206753"/>
              <a:gd name="connsiteX23" fmla="*/ 2005780 w 2185988"/>
              <a:gd name="connsiteY23" fmla="*/ 737857 h 2206753"/>
              <a:gd name="connsiteX24" fmla="*/ 2105025 w 2185988"/>
              <a:gd name="connsiteY24" fmla="*/ 962025 h 2206753"/>
              <a:gd name="connsiteX25" fmla="*/ 2176463 w 2185988"/>
              <a:gd name="connsiteY25" fmla="*/ 1214437 h 2206753"/>
              <a:gd name="connsiteX26" fmla="*/ 2185988 w 2185988"/>
              <a:gd name="connsiteY26" fmla="*/ 1428750 h 2206753"/>
              <a:gd name="connsiteX27" fmla="*/ 2171700 w 2185988"/>
              <a:gd name="connsiteY27" fmla="*/ 1609725 h 2206753"/>
              <a:gd name="connsiteX28" fmla="*/ 2124075 w 2185988"/>
              <a:gd name="connsiteY28" fmla="*/ 1804987 h 2206753"/>
              <a:gd name="connsiteX29" fmla="*/ 2038350 w 2185988"/>
              <a:gd name="connsiteY29" fmla="*/ 1981200 h 2206753"/>
              <a:gd name="connsiteX30" fmla="*/ 1957388 w 2185988"/>
              <a:gd name="connsiteY30" fmla="*/ 2100262 h 2206753"/>
              <a:gd name="connsiteX31" fmla="*/ 1881757 w 2185988"/>
              <a:gd name="connsiteY31" fmla="*/ 2206753 h 2206753"/>
              <a:gd name="connsiteX0" fmla="*/ 0 w 2185988"/>
              <a:gd name="connsiteY0" fmla="*/ 314325 h 2206753"/>
              <a:gd name="connsiteX1" fmla="*/ 157163 w 2185988"/>
              <a:gd name="connsiteY1" fmla="*/ 185737 h 2206753"/>
              <a:gd name="connsiteX2" fmla="*/ 333375 w 2185988"/>
              <a:gd name="connsiteY2" fmla="*/ 95250 h 2206753"/>
              <a:gd name="connsiteX3" fmla="*/ 495300 w 2185988"/>
              <a:gd name="connsiteY3" fmla="*/ 33337 h 2206753"/>
              <a:gd name="connsiteX4" fmla="*/ 690563 w 2185988"/>
              <a:gd name="connsiteY4" fmla="*/ 0 h 2206753"/>
              <a:gd name="connsiteX5" fmla="*/ 871538 w 2185988"/>
              <a:gd name="connsiteY5" fmla="*/ 4762 h 2206753"/>
              <a:gd name="connsiteX6" fmla="*/ 1066800 w 2185988"/>
              <a:gd name="connsiteY6" fmla="*/ 28575 h 2206753"/>
              <a:gd name="connsiteX7" fmla="*/ 1276350 w 2185988"/>
              <a:gd name="connsiteY7" fmla="*/ 104775 h 2206753"/>
              <a:gd name="connsiteX8" fmla="*/ 1428750 w 2185988"/>
              <a:gd name="connsiteY8" fmla="*/ 171450 h 2206753"/>
              <a:gd name="connsiteX9" fmla="*/ 1512708 w 2185988"/>
              <a:gd name="connsiteY9" fmla="*/ 109288 h 2206753"/>
              <a:gd name="connsiteX10" fmla="*/ 1608190 w 2185988"/>
              <a:gd name="connsiteY10" fmla="*/ 50735 h 2206753"/>
              <a:gd name="connsiteX11" fmla="*/ 1723842 w 2185988"/>
              <a:gd name="connsiteY11" fmla="*/ 10187 h 2206753"/>
              <a:gd name="connsiteX12" fmla="*/ 1832949 w 2185988"/>
              <a:gd name="connsiteY12" fmla="*/ 6811 h 2206753"/>
              <a:gd name="connsiteX13" fmla="*/ 1921004 w 2185988"/>
              <a:gd name="connsiteY13" fmla="*/ 21624 h 2206753"/>
              <a:gd name="connsiteX14" fmla="*/ 1998663 w 2185988"/>
              <a:gd name="connsiteY14" fmla="*/ 44774 h 2206753"/>
              <a:gd name="connsiteX15" fmla="*/ 2052027 w 2185988"/>
              <a:gd name="connsiteY15" fmla="*/ 84607 h 2206753"/>
              <a:gd name="connsiteX16" fmla="*/ 2104411 w 2185988"/>
              <a:gd name="connsiteY16" fmla="*/ 145777 h 2206753"/>
              <a:gd name="connsiteX17" fmla="*/ 2158670 w 2185988"/>
              <a:gd name="connsiteY17" fmla="*/ 235781 h 2206753"/>
              <a:gd name="connsiteX18" fmla="*/ 2177590 w 2185988"/>
              <a:gd name="connsiteY18" fmla="*/ 335200 h 2206753"/>
              <a:gd name="connsiteX19" fmla="*/ 2176953 w 2185988"/>
              <a:gd name="connsiteY19" fmla="*/ 405468 h 2206753"/>
              <a:gd name="connsiteX20" fmla="*/ 2168833 w 2185988"/>
              <a:gd name="connsiteY20" fmla="*/ 489877 h 2206753"/>
              <a:gd name="connsiteX21" fmla="*/ 2134294 w 2185988"/>
              <a:gd name="connsiteY21" fmla="*/ 562812 h 2206753"/>
              <a:gd name="connsiteX22" fmla="*/ 2095503 w 2185988"/>
              <a:gd name="connsiteY22" fmla="*/ 625503 h 2206753"/>
              <a:gd name="connsiteX23" fmla="*/ 2005780 w 2185988"/>
              <a:gd name="connsiteY23" fmla="*/ 737857 h 2206753"/>
              <a:gd name="connsiteX24" fmla="*/ 2105025 w 2185988"/>
              <a:gd name="connsiteY24" fmla="*/ 962025 h 2206753"/>
              <a:gd name="connsiteX25" fmla="*/ 2176463 w 2185988"/>
              <a:gd name="connsiteY25" fmla="*/ 1214437 h 2206753"/>
              <a:gd name="connsiteX26" fmla="*/ 2185988 w 2185988"/>
              <a:gd name="connsiteY26" fmla="*/ 1428750 h 2206753"/>
              <a:gd name="connsiteX27" fmla="*/ 2171700 w 2185988"/>
              <a:gd name="connsiteY27" fmla="*/ 1609725 h 2206753"/>
              <a:gd name="connsiteX28" fmla="*/ 2124075 w 2185988"/>
              <a:gd name="connsiteY28" fmla="*/ 1804987 h 2206753"/>
              <a:gd name="connsiteX29" fmla="*/ 2038350 w 2185988"/>
              <a:gd name="connsiteY29" fmla="*/ 1981200 h 2206753"/>
              <a:gd name="connsiteX30" fmla="*/ 1957388 w 2185988"/>
              <a:gd name="connsiteY30" fmla="*/ 2100262 h 2206753"/>
              <a:gd name="connsiteX31" fmla="*/ 1881757 w 2185988"/>
              <a:gd name="connsiteY31" fmla="*/ 2206753 h 2206753"/>
              <a:gd name="connsiteX0" fmla="*/ 0 w 2185988"/>
              <a:gd name="connsiteY0" fmla="*/ 318582 h 2211010"/>
              <a:gd name="connsiteX1" fmla="*/ 157163 w 2185988"/>
              <a:gd name="connsiteY1" fmla="*/ 189994 h 2211010"/>
              <a:gd name="connsiteX2" fmla="*/ 333375 w 2185988"/>
              <a:gd name="connsiteY2" fmla="*/ 99507 h 2211010"/>
              <a:gd name="connsiteX3" fmla="*/ 495300 w 2185988"/>
              <a:gd name="connsiteY3" fmla="*/ 37594 h 2211010"/>
              <a:gd name="connsiteX4" fmla="*/ 690563 w 2185988"/>
              <a:gd name="connsiteY4" fmla="*/ 4257 h 2211010"/>
              <a:gd name="connsiteX5" fmla="*/ 871538 w 2185988"/>
              <a:gd name="connsiteY5" fmla="*/ 9019 h 2211010"/>
              <a:gd name="connsiteX6" fmla="*/ 1066800 w 2185988"/>
              <a:gd name="connsiteY6" fmla="*/ 32832 h 2211010"/>
              <a:gd name="connsiteX7" fmla="*/ 1276350 w 2185988"/>
              <a:gd name="connsiteY7" fmla="*/ 109032 h 2211010"/>
              <a:gd name="connsiteX8" fmla="*/ 1428750 w 2185988"/>
              <a:gd name="connsiteY8" fmla="*/ 175707 h 2211010"/>
              <a:gd name="connsiteX9" fmla="*/ 1512708 w 2185988"/>
              <a:gd name="connsiteY9" fmla="*/ 113545 h 2211010"/>
              <a:gd name="connsiteX10" fmla="*/ 1608190 w 2185988"/>
              <a:gd name="connsiteY10" fmla="*/ 54992 h 2211010"/>
              <a:gd name="connsiteX11" fmla="*/ 1723842 w 2185988"/>
              <a:gd name="connsiteY11" fmla="*/ 14444 h 2211010"/>
              <a:gd name="connsiteX12" fmla="*/ 1835105 w 2185988"/>
              <a:gd name="connsiteY12" fmla="*/ 160 h 2211010"/>
              <a:gd name="connsiteX13" fmla="*/ 1921004 w 2185988"/>
              <a:gd name="connsiteY13" fmla="*/ 25881 h 2211010"/>
              <a:gd name="connsiteX14" fmla="*/ 1998663 w 2185988"/>
              <a:gd name="connsiteY14" fmla="*/ 49031 h 2211010"/>
              <a:gd name="connsiteX15" fmla="*/ 2052027 w 2185988"/>
              <a:gd name="connsiteY15" fmla="*/ 88864 h 2211010"/>
              <a:gd name="connsiteX16" fmla="*/ 2104411 w 2185988"/>
              <a:gd name="connsiteY16" fmla="*/ 150034 h 2211010"/>
              <a:gd name="connsiteX17" fmla="*/ 2158670 w 2185988"/>
              <a:gd name="connsiteY17" fmla="*/ 240038 h 2211010"/>
              <a:gd name="connsiteX18" fmla="*/ 2177590 w 2185988"/>
              <a:gd name="connsiteY18" fmla="*/ 339457 h 2211010"/>
              <a:gd name="connsiteX19" fmla="*/ 2176953 w 2185988"/>
              <a:gd name="connsiteY19" fmla="*/ 409725 h 2211010"/>
              <a:gd name="connsiteX20" fmla="*/ 2168833 w 2185988"/>
              <a:gd name="connsiteY20" fmla="*/ 494134 h 2211010"/>
              <a:gd name="connsiteX21" fmla="*/ 2134294 w 2185988"/>
              <a:gd name="connsiteY21" fmla="*/ 567069 h 2211010"/>
              <a:gd name="connsiteX22" fmla="*/ 2095503 w 2185988"/>
              <a:gd name="connsiteY22" fmla="*/ 629760 h 2211010"/>
              <a:gd name="connsiteX23" fmla="*/ 2005780 w 2185988"/>
              <a:gd name="connsiteY23" fmla="*/ 742114 h 2211010"/>
              <a:gd name="connsiteX24" fmla="*/ 2105025 w 2185988"/>
              <a:gd name="connsiteY24" fmla="*/ 966282 h 2211010"/>
              <a:gd name="connsiteX25" fmla="*/ 2176463 w 2185988"/>
              <a:gd name="connsiteY25" fmla="*/ 1218694 h 2211010"/>
              <a:gd name="connsiteX26" fmla="*/ 2185988 w 2185988"/>
              <a:gd name="connsiteY26" fmla="*/ 1433007 h 2211010"/>
              <a:gd name="connsiteX27" fmla="*/ 2171700 w 2185988"/>
              <a:gd name="connsiteY27" fmla="*/ 1613982 h 2211010"/>
              <a:gd name="connsiteX28" fmla="*/ 2124075 w 2185988"/>
              <a:gd name="connsiteY28" fmla="*/ 1809244 h 2211010"/>
              <a:gd name="connsiteX29" fmla="*/ 2038350 w 2185988"/>
              <a:gd name="connsiteY29" fmla="*/ 1985457 h 2211010"/>
              <a:gd name="connsiteX30" fmla="*/ 1957388 w 2185988"/>
              <a:gd name="connsiteY30" fmla="*/ 2104519 h 2211010"/>
              <a:gd name="connsiteX31" fmla="*/ 1881757 w 2185988"/>
              <a:gd name="connsiteY31" fmla="*/ 2211010 h 2211010"/>
              <a:gd name="connsiteX0" fmla="*/ 0 w 2185988"/>
              <a:gd name="connsiteY0" fmla="*/ 318582 h 2211010"/>
              <a:gd name="connsiteX1" fmla="*/ 157163 w 2185988"/>
              <a:gd name="connsiteY1" fmla="*/ 189994 h 2211010"/>
              <a:gd name="connsiteX2" fmla="*/ 333375 w 2185988"/>
              <a:gd name="connsiteY2" fmla="*/ 99507 h 2211010"/>
              <a:gd name="connsiteX3" fmla="*/ 495300 w 2185988"/>
              <a:gd name="connsiteY3" fmla="*/ 37594 h 2211010"/>
              <a:gd name="connsiteX4" fmla="*/ 690563 w 2185988"/>
              <a:gd name="connsiteY4" fmla="*/ 4257 h 2211010"/>
              <a:gd name="connsiteX5" fmla="*/ 871538 w 2185988"/>
              <a:gd name="connsiteY5" fmla="*/ 9019 h 2211010"/>
              <a:gd name="connsiteX6" fmla="*/ 1066800 w 2185988"/>
              <a:gd name="connsiteY6" fmla="*/ 32832 h 2211010"/>
              <a:gd name="connsiteX7" fmla="*/ 1276350 w 2185988"/>
              <a:gd name="connsiteY7" fmla="*/ 109032 h 2211010"/>
              <a:gd name="connsiteX8" fmla="*/ 1428750 w 2185988"/>
              <a:gd name="connsiteY8" fmla="*/ 175707 h 2211010"/>
              <a:gd name="connsiteX9" fmla="*/ 1512708 w 2185988"/>
              <a:gd name="connsiteY9" fmla="*/ 113545 h 2211010"/>
              <a:gd name="connsiteX10" fmla="*/ 1608190 w 2185988"/>
              <a:gd name="connsiteY10" fmla="*/ 54992 h 2211010"/>
              <a:gd name="connsiteX11" fmla="*/ 1723842 w 2185988"/>
              <a:gd name="connsiteY11" fmla="*/ 14444 h 2211010"/>
              <a:gd name="connsiteX12" fmla="*/ 1835105 w 2185988"/>
              <a:gd name="connsiteY12" fmla="*/ 160 h 2211010"/>
              <a:gd name="connsiteX13" fmla="*/ 1923158 w 2185988"/>
              <a:gd name="connsiteY13" fmla="*/ 19337 h 2211010"/>
              <a:gd name="connsiteX14" fmla="*/ 1998663 w 2185988"/>
              <a:gd name="connsiteY14" fmla="*/ 49031 h 2211010"/>
              <a:gd name="connsiteX15" fmla="*/ 2052027 w 2185988"/>
              <a:gd name="connsiteY15" fmla="*/ 88864 h 2211010"/>
              <a:gd name="connsiteX16" fmla="*/ 2104411 w 2185988"/>
              <a:gd name="connsiteY16" fmla="*/ 150034 h 2211010"/>
              <a:gd name="connsiteX17" fmla="*/ 2158670 w 2185988"/>
              <a:gd name="connsiteY17" fmla="*/ 240038 h 2211010"/>
              <a:gd name="connsiteX18" fmla="*/ 2177590 w 2185988"/>
              <a:gd name="connsiteY18" fmla="*/ 339457 h 2211010"/>
              <a:gd name="connsiteX19" fmla="*/ 2176953 w 2185988"/>
              <a:gd name="connsiteY19" fmla="*/ 409725 h 2211010"/>
              <a:gd name="connsiteX20" fmla="*/ 2168833 w 2185988"/>
              <a:gd name="connsiteY20" fmla="*/ 494134 h 2211010"/>
              <a:gd name="connsiteX21" fmla="*/ 2134294 w 2185988"/>
              <a:gd name="connsiteY21" fmla="*/ 567069 h 2211010"/>
              <a:gd name="connsiteX22" fmla="*/ 2095503 w 2185988"/>
              <a:gd name="connsiteY22" fmla="*/ 629760 h 2211010"/>
              <a:gd name="connsiteX23" fmla="*/ 2005780 w 2185988"/>
              <a:gd name="connsiteY23" fmla="*/ 742114 h 2211010"/>
              <a:gd name="connsiteX24" fmla="*/ 2105025 w 2185988"/>
              <a:gd name="connsiteY24" fmla="*/ 966282 h 2211010"/>
              <a:gd name="connsiteX25" fmla="*/ 2176463 w 2185988"/>
              <a:gd name="connsiteY25" fmla="*/ 1218694 h 2211010"/>
              <a:gd name="connsiteX26" fmla="*/ 2185988 w 2185988"/>
              <a:gd name="connsiteY26" fmla="*/ 1433007 h 2211010"/>
              <a:gd name="connsiteX27" fmla="*/ 2171700 w 2185988"/>
              <a:gd name="connsiteY27" fmla="*/ 1613982 h 2211010"/>
              <a:gd name="connsiteX28" fmla="*/ 2124075 w 2185988"/>
              <a:gd name="connsiteY28" fmla="*/ 1809244 h 2211010"/>
              <a:gd name="connsiteX29" fmla="*/ 2038350 w 2185988"/>
              <a:gd name="connsiteY29" fmla="*/ 1985457 h 2211010"/>
              <a:gd name="connsiteX30" fmla="*/ 1957388 w 2185988"/>
              <a:gd name="connsiteY30" fmla="*/ 2104519 h 2211010"/>
              <a:gd name="connsiteX31" fmla="*/ 1881757 w 2185988"/>
              <a:gd name="connsiteY31" fmla="*/ 2211010 h 2211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185988" h="2211010">
                <a:moveTo>
                  <a:pt x="0" y="318582"/>
                </a:moveTo>
                <a:lnTo>
                  <a:pt x="157163" y="189994"/>
                </a:lnTo>
                <a:lnTo>
                  <a:pt x="333375" y="99507"/>
                </a:lnTo>
                <a:lnTo>
                  <a:pt x="495300" y="37594"/>
                </a:lnTo>
                <a:lnTo>
                  <a:pt x="690563" y="4257"/>
                </a:lnTo>
                <a:lnTo>
                  <a:pt x="871538" y="9019"/>
                </a:lnTo>
                <a:lnTo>
                  <a:pt x="1066800" y="32832"/>
                </a:lnTo>
                <a:lnTo>
                  <a:pt x="1276350" y="109032"/>
                </a:lnTo>
                <a:lnTo>
                  <a:pt x="1428750" y="175707"/>
                </a:lnTo>
                <a:lnTo>
                  <a:pt x="1512708" y="113545"/>
                </a:lnTo>
                <a:lnTo>
                  <a:pt x="1608190" y="54992"/>
                </a:lnTo>
                <a:cubicBezTo>
                  <a:pt x="1657731" y="29206"/>
                  <a:pt x="1686382" y="20310"/>
                  <a:pt x="1723842" y="14444"/>
                </a:cubicBezTo>
                <a:cubicBezTo>
                  <a:pt x="1761302" y="8578"/>
                  <a:pt x="1802604" y="-1383"/>
                  <a:pt x="1835105" y="160"/>
                </a:cubicBezTo>
                <a:lnTo>
                  <a:pt x="1923158" y="19337"/>
                </a:lnTo>
                <a:lnTo>
                  <a:pt x="1998663" y="49031"/>
                </a:lnTo>
                <a:lnTo>
                  <a:pt x="2052027" y="88864"/>
                </a:lnTo>
                <a:lnTo>
                  <a:pt x="2104411" y="150034"/>
                </a:lnTo>
                <a:cubicBezTo>
                  <a:pt x="2122185" y="175230"/>
                  <a:pt x="2146474" y="208468"/>
                  <a:pt x="2158670" y="240038"/>
                </a:cubicBezTo>
                <a:cubicBezTo>
                  <a:pt x="2170867" y="271609"/>
                  <a:pt x="2174543" y="311176"/>
                  <a:pt x="2177590" y="339457"/>
                </a:cubicBezTo>
                <a:cubicBezTo>
                  <a:pt x="2177378" y="362880"/>
                  <a:pt x="2177165" y="386302"/>
                  <a:pt x="2176953" y="409725"/>
                </a:cubicBezTo>
                <a:lnTo>
                  <a:pt x="2168833" y="494134"/>
                </a:lnTo>
                <a:lnTo>
                  <a:pt x="2134294" y="567069"/>
                </a:lnTo>
                <a:lnTo>
                  <a:pt x="2095503" y="629760"/>
                </a:lnTo>
                <a:lnTo>
                  <a:pt x="2005780" y="742114"/>
                </a:lnTo>
                <a:lnTo>
                  <a:pt x="2105025" y="966282"/>
                </a:lnTo>
                <a:lnTo>
                  <a:pt x="2176463" y="1218694"/>
                </a:lnTo>
                <a:lnTo>
                  <a:pt x="2185988" y="1433007"/>
                </a:lnTo>
                <a:lnTo>
                  <a:pt x="2171700" y="1613982"/>
                </a:lnTo>
                <a:lnTo>
                  <a:pt x="2124075" y="1809244"/>
                </a:lnTo>
                <a:lnTo>
                  <a:pt x="2038350" y="1985457"/>
                </a:lnTo>
                <a:lnTo>
                  <a:pt x="1957388" y="2104519"/>
                </a:lnTo>
                <a:cubicBezTo>
                  <a:pt x="1926084" y="2148243"/>
                  <a:pt x="1913061" y="2167286"/>
                  <a:pt x="1881757" y="2211010"/>
                </a:cubicBezTo>
              </a:path>
            </a:pathLst>
          </a:custGeom>
          <a:solidFill>
            <a:srgbClr val="FF0000">
              <a:alpha val="50000"/>
            </a:srgbClr>
          </a:solidFill>
          <a:ln w="9525" cap="flat" cmpd="sng" algn="ctr">
            <a:noFill/>
            <a:prstDash val="solid"/>
            <a:round/>
            <a:headEnd type="none" w="med" len="med"/>
            <a:tailEnd type="none" w="med" len="med"/>
          </a:ln>
          <a:effectLst/>
        </p:spPr>
        <p:txBody>
          <a:bodyPr vert="horz" wrap="square" lIns="81224" tIns="40611" rIns="81224" bIns="40611" numCol="1" rtlCol="0" anchor="t" anchorCtr="0" compatLnSpc="1">
            <a:prstTxWarp prst="textNoShape">
              <a:avLst/>
            </a:prstTxWarp>
          </a:bodyPr>
          <a:lstStyle/>
          <a:p>
            <a:pPr defTabSz="812209"/>
            <a:endParaRPr lang="en-US" sz="2000" b="1" dirty="0"/>
          </a:p>
        </p:txBody>
      </p:sp>
      <p:sp>
        <p:nvSpPr>
          <p:cNvPr id="49" name="Arc 48"/>
          <p:cNvSpPr/>
          <p:nvPr/>
        </p:nvSpPr>
        <p:spPr bwMode="auto">
          <a:xfrm>
            <a:off x="2489064" y="3399931"/>
            <a:ext cx="1119312" cy="1421656"/>
          </a:xfrm>
          <a:prstGeom prst="arc">
            <a:avLst>
              <a:gd name="adj1" fmla="val 16909222"/>
              <a:gd name="adj2" fmla="val 21533365"/>
            </a:avLst>
          </a:prstGeom>
          <a:noFill/>
          <a:ln w="25400" cap="flat" cmpd="sng" algn="ctr">
            <a:solidFill>
              <a:srgbClr val="FFC000"/>
            </a:solidFill>
            <a:prstDash val="solid"/>
            <a:round/>
            <a:headEnd type="triangle" w="med" len="med"/>
            <a:tailEnd type="none" w="med" len="med"/>
          </a:ln>
          <a:effectLst/>
        </p:spPr>
        <p:txBody>
          <a:bodyPr vert="horz" wrap="square" lIns="81224" tIns="40611" rIns="81224" bIns="40611" numCol="1" rtlCol="0" anchor="t" anchorCtr="0" compatLnSpc="1">
            <a:prstTxWarp prst="textNoShape">
              <a:avLst/>
            </a:prstTxWarp>
          </a:bodyPr>
          <a:lstStyle/>
          <a:p>
            <a:pPr defTabSz="812209"/>
            <a:endParaRPr lang="en-US" sz="2000" b="1"/>
          </a:p>
        </p:txBody>
      </p:sp>
      <p:graphicFrame>
        <p:nvGraphicFramePr>
          <p:cNvPr id="50" name="对象 28"/>
          <p:cNvGraphicFramePr>
            <a:graphicFrameLocks noChangeAspect="1"/>
          </p:cNvGraphicFramePr>
          <p:nvPr>
            <p:extLst>
              <p:ext uri="{D42A27DB-BD31-4B8C-83A1-F6EECF244321}">
                <p14:modId xmlns:p14="http://schemas.microsoft.com/office/powerpoint/2010/main" val="841931727"/>
              </p:ext>
            </p:extLst>
          </p:nvPr>
        </p:nvGraphicFramePr>
        <p:xfrm>
          <a:off x="3595959" y="3592148"/>
          <a:ext cx="210109" cy="290486"/>
        </p:xfrm>
        <a:graphic>
          <a:graphicData uri="http://schemas.openxmlformats.org/presentationml/2006/ole">
            <mc:AlternateContent xmlns:mc="http://schemas.openxmlformats.org/markup-compatibility/2006">
              <mc:Choice xmlns:v="urn:schemas-microsoft-com:vml" Requires="v">
                <p:oleObj name="Equation" r:id="rId21" imgW="177480" imgH="241200" progId="Equation.DSMT4">
                  <p:embed/>
                </p:oleObj>
              </mc:Choice>
              <mc:Fallback>
                <p:oleObj name="Equation" r:id="rId21" imgW="177480" imgH="241200" progId="Equation.DSMT4">
                  <p:embed/>
                  <p:pic>
                    <p:nvPicPr>
                      <p:cNvPr id="50" name="对象 28"/>
                      <p:cNvPicPr/>
                      <p:nvPr/>
                    </p:nvPicPr>
                    <p:blipFill>
                      <a:blip r:embed="rId22"/>
                      <a:stretch>
                        <a:fillRect/>
                      </a:stretch>
                    </p:blipFill>
                    <p:spPr>
                      <a:xfrm>
                        <a:off x="3595959" y="3592148"/>
                        <a:ext cx="210109" cy="290486"/>
                      </a:xfrm>
                      <a:prstGeom prst="rect">
                        <a:avLst/>
                      </a:prstGeom>
                    </p:spPr>
                  </p:pic>
                </p:oleObj>
              </mc:Fallback>
            </mc:AlternateContent>
          </a:graphicData>
        </a:graphic>
      </p:graphicFrame>
      <p:sp>
        <p:nvSpPr>
          <p:cNvPr id="44" name="Title 1"/>
          <p:cNvSpPr>
            <a:spLocks noGrp="1"/>
          </p:cNvSpPr>
          <p:nvPr>
            <p:ph type="title"/>
          </p:nvPr>
        </p:nvSpPr>
        <p:spPr>
          <a:xfrm>
            <a:off x="1676401" y="518493"/>
            <a:ext cx="8839200" cy="744548"/>
          </a:xfrm>
        </p:spPr>
        <p:txBody>
          <a:bodyPr/>
          <a:lstStyle/>
          <a:p>
            <a:r>
              <a:rPr lang="en-US" dirty="0"/>
              <a:t>Image to Projection</a:t>
            </a:r>
          </a:p>
        </p:txBody>
      </p:sp>
    </p:spTree>
    <p:extLst>
      <p:ext uri="{BB962C8B-B14F-4D97-AF65-F5344CB8AC3E}">
        <p14:creationId xmlns:p14="http://schemas.microsoft.com/office/powerpoint/2010/main" val="386702853"/>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Backprojection</a:t>
            </a:r>
          </a:p>
        </p:txBody>
      </p:sp>
      <p:pic>
        <p:nvPicPr>
          <p:cNvPr id="4" name="Picture 37" descr="C:\AAA\bp.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24095" y="2602244"/>
            <a:ext cx="2441791" cy="24417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Line 6"/>
          <p:cNvSpPr>
            <a:spLocks noChangeShapeType="1"/>
          </p:cNvSpPr>
          <p:nvPr/>
        </p:nvSpPr>
        <p:spPr bwMode="auto">
          <a:xfrm flipV="1">
            <a:off x="1758158" y="1901183"/>
            <a:ext cx="1812267" cy="1812267"/>
          </a:xfrm>
          <a:prstGeom prst="line">
            <a:avLst/>
          </a:prstGeom>
          <a:noFill/>
          <a:ln w="50800">
            <a:solidFill>
              <a:srgbClr val="FF0000"/>
            </a:solidFill>
            <a:round/>
            <a:headEnd type="triangle" w="med" len="med"/>
            <a:tailEnd/>
          </a:ln>
          <a:extLst>
            <a:ext uri="{909E8E84-426E-40DD-AFC4-6F175D3DCCD1}">
              <a14:hiddenFill xmlns:a14="http://schemas.microsoft.com/office/drawing/2010/main">
                <a:noFill/>
              </a14:hiddenFill>
            </a:ext>
          </a:extLst>
        </p:spPr>
        <p:txBody>
          <a:bodyPr wrap="none" anchor="ctr"/>
          <a:lstStyle/>
          <a:p>
            <a:pPr eaLnBrk="1" hangingPunct="1">
              <a:defRPr/>
            </a:pPr>
            <a:endParaRPr lang="en-US" sz="2403">
              <a:latin typeface="+mn-lt"/>
              <a:cs typeface="Times New Roman" pitchFamily="18" charset="0"/>
            </a:endParaRPr>
          </a:p>
        </p:txBody>
      </p:sp>
      <p:sp>
        <p:nvSpPr>
          <p:cNvPr id="6" name="Line 7"/>
          <p:cNvSpPr>
            <a:spLocks noChangeShapeType="1"/>
          </p:cNvSpPr>
          <p:nvPr/>
        </p:nvSpPr>
        <p:spPr bwMode="auto">
          <a:xfrm flipV="1">
            <a:off x="1910770" y="2053795"/>
            <a:ext cx="1812267" cy="1812267"/>
          </a:xfrm>
          <a:prstGeom prst="line">
            <a:avLst/>
          </a:prstGeom>
          <a:noFill/>
          <a:ln w="50800">
            <a:solidFill>
              <a:srgbClr val="FF0000"/>
            </a:solidFill>
            <a:round/>
            <a:headEnd type="triangle" w="med" len="med"/>
            <a:tailEnd/>
          </a:ln>
          <a:extLst>
            <a:ext uri="{909E8E84-426E-40DD-AFC4-6F175D3DCCD1}">
              <a14:hiddenFill xmlns:a14="http://schemas.microsoft.com/office/drawing/2010/main">
                <a:noFill/>
              </a14:hiddenFill>
            </a:ext>
          </a:extLst>
        </p:spPr>
        <p:txBody>
          <a:bodyPr wrap="none" anchor="ctr"/>
          <a:lstStyle/>
          <a:p>
            <a:pPr eaLnBrk="1" hangingPunct="1">
              <a:defRPr/>
            </a:pPr>
            <a:endParaRPr lang="en-US" sz="2403">
              <a:latin typeface="+mn-lt"/>
              <a:cs typeface="Times New Roman" pitchFamily="18" charset="0"/>
            </a:endParaRPr>
          </a:p>
        </p:txBody>
      </p:sp>
      <p:sp>
        <p:nvSpPr>
          <p:cNvPr id="7" name="Line 8"/>
          <p:cNvSpPr>
            <a:spLocks noChangeShapeType="1"/>
          </p:cNvSpPr>
          <p:nvPr/>
        </p:nvSpPr>
        <p:spPr bwMode="auto">
          <a:xfrm flipV="1">
            <a:off x="2063382" y="2206407"/>
            <a:ext cx="1812267" cy="1812267"/>
          </a:xfrm>
          <a:prstGeom prst="line">
            <a:avLst/>
          </a:prstGeom>
          <a:noFill/>
          <a:ln w="50800">
            <a:solidFill>
              <a:srgbClr val="FF0000"/>
            </a:solidFill>
            <a:round/>
            <a:headEnd type="triangle" w="med" len="med"/>
            <a:tailEnd/>
          </a:ln>
          <a:extLst>
            <a:ext uri="{909E8E84-426E-40DD-AFC4-6F175D3DCCD1}">
              <a14:hiddenFill xmlns:a14="http://schemas.microsoft.com/office/drawing/2010/main">
                <a:noFill/>
              </a14:hiddenFill>
            </a:ext>
          </a:extLst>
        </p:spPr>
        <p:txBody>
          <a:bodyPr wrap="none" anchor="ctr"/>
          <a:lstStyle/>
          <a:p>
            <a:pPr eaLnBrk="1" hangingPunct="1">
              <a:defRPr/>
            </a:pPr>
            <a:endParaRPr lang="en-US" sz="2403">
              <a:latin typeface="+mn-lt"/>
              <a:cs typeface="Times New Roman" pitchFamily="18" charset="0"/>
            </a:endParaRPr>
          </a:p>
        </p:txBody>
      </p:sp>
      <p:sp>
        <p:nvSpPr>
          <p:cNvPr id="8" name="Line 9"/>
          <p:cNvSpPr>
            <a:spLocks noChangeShapeType="1"/>
          </p:cNvSpPr>
          <p:nvPr/>
        </p:nvSpPr>
        <p:spPr bwMode="auto">
          <a:xfrm flipV="1">
            <a:off x="2215994" y="2359019"/>
            <a:ext cx="1812267" cy="1812267"/>
          </a:xfrm>
          <a:prstGeom prst="line">
            <a:avLst/>
          </a:prstGeom>
          <a:noFill/>
          <a:ln w="50800">
            <a:solidFill>
              <a:srgbClr val="FF0000"/>
            </a:solidFill>
            <a:round/>
            <a:headEnd type="triangle" w="med" len="med"/>
            <a:tailEnd/>
          </a:ln>
          <a:extLst>
            <a:ext uri="{909E8E84-426E-40DD-AFC4-6F175D3DCCD1}">
              <a14:hiddenFill xmlns:a14="http://schemas.microsoft.com/office/drawing/2010/main">
                <a:noFill/>
              </a14:hiddenFill>
            </a:ext>
          </a:extLst>
        </p:spPr>
        <p:txBody>
          <a:bodyPr wrap="none" anchor="ctr"/>
          <a:lstStyle/>
          <a:p>
            <a:pPr eaLnBrk="1" hangingPunct="1">
              <a:defRPr/>
            </a:pPr>
            <a:endParaRPr lang="en-US" sz="2403">
              <a:latin typeface="+mn-lt"/>
              <a:cs typeface="Times New Roman" pitchFamily="18" charset="0"/>
            </a:endParaRPr>
          </a:p>
        </p:txBody>
      </p:sp>
      <p:sp>
        <p:nvSpPr>
          <p:cNvPr id="9" name="Line 10"/>
          <p:cNvSpPr>
            <a:spLocks noChangeShapeType="1"/>
          </p:cNvSpPr>
          <p:nvPr/>
        </p:nvSpPr>
        <p:spPr bwMode="auto">
          <a:xfrm flipV="1">
            <a:off x="2368606" y="2511631"/>
            <a:ext cx="1812267" cy="1812267"/>
          </a:xfrm>
          <a:prstGeom prst="line">
            <a:avLst/>
          </a:prstGeom>
          <a:noFill/>
          <a:ln w="50800">
            <a:solidFill>
              <a:srgbClr val="FF0000"/>
            </a:solidFill>
            <a:round/>
            <a:headEnd type="triangle" w="med" len="med"/>
            <a:tailEnd/>
          </a:ln>
          <a:extLst>
            <a:ext uri="{909E8E84-426E-40DD-AFC4-6F175D3DCCD1}">
              <a14:hiddenFill xmlns:a14="http://schemas.microsoft.com/office/drawing/2010/main">
                <a:noFill/>
              </a14:hiddenFill>
            </a:ext>
          </a:extLst>
        </p:spPr>
        <p:txBody>
          <a:bodyPr wrap="none" anchor="ctr"/>
          <a:lstStyle/>
          <a:p>
            <a:pPr eaLnBrk="1" hangingPunct="1">
              <a:defRPr/>
            </a:pPr>
            <a:endParaRPr lang="en-US" sz="2403">
              <a:latin typeface="+mn-lt"/>
              <a:cs typeface="Times New Roman" pitchFamily="18" charset="0"/>
            </a:endParaRPr>
          </a:p>
        </p:txBody>
      </p:sp>
      <p:sp>
        <p:nvSpPr>
          <p:cNvPr id="10" name="Line 11"/>
          <p:cNvSpPr>
            <a:spLocks noChangeShapeType="1"/>
          </p:cNvSpPr>
          <p:nvPr/>
        </p:nvSpPr>
        <p:spPr bwMode="auto">
          <a:xfrm flipV="1">
            <a:off x="2521218" y="2664243"/>
            <a:ext cx="1812267" cy="1812267"/>
          </a:xfrm>
          <a:prstGeom prst="line">
            <a:avLst/>
          </a:prstGeom>
          <a:noFill/>
          <a:ln w="50800">
            <a:solidFill>
              <a:srgbClr val="FF0000"/>
            </a:solidFill>
            <a:round/>
            <a:headEnd type="triangle" w="med" len="med"/>
            <a:tailEnd/>
          </a:ln>
          <a:extLst>
            <a:ext uri="{909E8E84-426E-40DD-AFC4-6F175D3DCCD1}">
              <a14:hiddenFill xmlns:a14="http://schemas.microsoft.com/office/drawing/2010/main">
                <a:noFill/>
              </a14:hiddenFill>
            </a:ext>
          </a:extLst>
        </p:spPr>
        <p:txBody>
          <a:bodyPr wrap="none" anchor="ctr"/>
          <a:lstStyle/>
          <a:p>
            <a:pPr eaLnBrk="1" hangingPunct="1">
              <a:defRPr/>
            </a:pPr>
            <a:endParaRPr lang="en-US" sz="2403">
              <a:latin typeface="+mn-lt"/>
              <a:cs typeface="Times New Roman" pitchFamily="18" charset="0"/>
            </a:endParaRPr>
          </a:p>
        </p:txBody>
      </p:sp>
      <p:sp>
        <p:nvSpPr>
          <p:cNvPr id="11" name="Line 12"/>
          <p:cNvSpPr>
            <a:spLocks noChangeShapeType="1"/>
          </p:cNvSpPr>
          <p:nvPr/>
        </p:nvSpPr>
        <p:spPr bwMode="auto">
          <a:xfrm flipV="1">
            <a:off x="2673830" y="2816855"/>
            <a:ext cx="1812267" cy="1812267"/>
          </a:xfrm>
          <a:prstGeom prst="line">
            <a:avLst/>
          </a:prstGeom>
          <a:noFill/>
          <a:ln w="50800">
            <a:solidFill>
              <a:srgbClr val="FF0000"/>
            </a:solidFill>
            <a:round/>
            <a:headEnd type="triangle" w="med" len="med"/>
            <a:tailEnd/>
          </a:ln>
          <a:extLst>
            <a:ext uri="{909E8E84-426E-40DD-AFC4-6F175D3DCCD1}">
              <a14:hiddenFill xmlns:a14="http://schemas.microsoft.com/office/drawing/2010/main">
                <a:noFill/>
              </a14:hiddenFill>
            </a:ext>
          </a:extLst>
        </p:spPr>
        <p:txBody>
          <a:bodyPr wrap="none" anchor="ctr"/>
          <a:lstStyle/>
          <a:p>
            <a:pPr eaLnBrk="1" hangingPunct="1">
              <a:defRPr/>
            </a:pPr>
            <a:endParaRPr lang="en-US" sz="2403">
              <a:latin typeface="+mn-lt"/>
              <a:cs typeface="Times New Roman" pitchFamily="18" charset="0"/>
            </a:endParaRPr>
          </a:p>
        </p:txBody>
      </p:sp>
      <p:sp>
        <p:nvSpPr>
          <p:cNvPr id="12" name="Line 13"/>
          <p:cNvSpPr>
            <a:spLocks noChangeShapeType="1"/>
          </p:cNvSpPr>
          <p:nvPr/>
        </p:nvSpPr>
        <p:spPr bwMode="auto">
          <a:xfrm flipV="1">
            <a:off x="2826442" y="2969467"/>
            <a:ext cx="1812267" cy="1812267"/>
          </a:xfrm>
          <a:prstGeom prst="line">
            <a:avLst/>
          </a:prstGeom>
          <a:noFill/>
          <a:ln w="50800">
            <a:solidFill>
              <a:srgbClr val="FF0000"/>
            </a:solidFill>
            <a:round/>
            <a:headEnd type="triangle" w="med" len="med"/>
            <a:tailEnd/>
          </a:ln>
          <a:extLst>
            <a:ext uri="{909E8E84-426E-40DD-AFC4-6F175D3DCCD1}">
              <a14:hiddenFill xmlns:a14="http://schemas.microsoft.com/office/drawing/2010/main">
                <a:noFill/>
              </a14:hiddenFill>
            </a:ext>
          </a:extLst>
        </p:spPr>
        <p:txBody>
          <a:bodyPr wrap="none" anchor="ctr"/>
          <a:lstStyle/>
          <a:p>
            <a:pPr eaLnBrk="1" hangingPunct="1">
              <a:defRPr/>
            </a:pPr>
            <a:endParaRPr lang="en-US" sz="2403">
              <a:latin typeface="+mn-lt"/>
              <a:cs typeface="Times New Roman" pitchFamily="18" charset="0"/>
            </a:endParaRPr>
          </a:p>
        </p:txBody>
      </p:sp>
      <p:sp>
        <p:nvSpPr>
          <p:cNvPr id="13" name="Line 14"/>
          <p:cNvSpPr>
            <a:spLocks noChangeShapeType="1"/>
          </p:cNvSpPr>
          <p:nvPr/>
        </p:nvSpPr>
        <p:spPr bwMode="auto">
          <a:xfrm flipV="1">
            <a:off x="2979054" y="3122079"/>
            <a:ext cx="1812267" cy="1812267"/>
          </a:xfrm>
          <a:prstGeom prst="line">
            <a:avLst/>
          </a:prstGeom>
          <a:noFill/>
          <a:ln w="50800">
            <a:solidFill>
              <a:srgbClr val="FF0000"/>
            </a:solidFill>
            <a:round/>
            <a:headEnd type="triangle" w="med" len="med"/>
            <a:tailEnd/>
          </a:ln>
          <a:extLst>
            <a:ext uri="{909E8E84-426E-40DD-AFC4-6F175D3DCCD1}">
              <a14:hiddenFill xmlns:a14="http://schemas.microsoft.com/office/drawing/2010/main">
                <a:noFill/>
              </a14:hiddenFill>
            </a:ext>
          </a:extLst>
        </p:spPr>
        <p:txBody>
          <a:bodyPr wrap="none" anchor="ctr"/>
          <a:lstStyle/>
          <a:p>
            <a:pPr eaLnBrk="1" hangingPunct="1">
              <a:defRPr/>
            </a:pPr>
            <a:endParaRPr lang="en-US" sz="2403">
              <a:latin typeface="+mn-lt"/>
              <a:cs typeface="Times New Roman" pitchFamily="18" charset="0"/>
            </a:endParaRPr>
          </a:p>
        </p:txBody>
      </p:sp>
      <p:sp>
        <p:nvSpPr>
          <p:cNvPr id="14" name="Line 15"/>
          <p:cNvSpPr>
            <a:spLocks noChangeShapeType="1"/>
          </p:cNvSpPr>
          <p:nvPr/>
        </p:nvSpPr>
        <p:spPr bwMode="auto">
          <a:xfrm flipV="1">
            <a:off x="3131666" y="3274691"/>
            <a:ext cx="1812267" cy="1812267"/>
          </a:xfrm>
          <a:prstGeom prst="line">
            <a:avLst/>
          </a:prstGeom>
          <a:noFill/>
          <a:ln w="50800">
            <a:solidFill>
              <a:srgbClr val="FF0000"/>
            </a:solidFill>
            <a:round/>
            <a:headEnd type="triangle" w="med" len="med"/>
            <a:tailEnd/>
          </a:ln>
          <a:extLst>
            <a:ext uri="{909E8E84-426E-40DD-AFC4-6F175D3DCCD1}">
              <a14:hiddenFill xmlns:a14="http://schemas.microsoft.com/office/drawing/2010/main">
                <a:noFill/>
              </a14:hiddenFill>
            </a:ext>
          </a:extLst>
        </p:spPr>
        <p:txBody>
          <a:bodyPr wrap="none" anchor="ctr"/>
          <a:lstStyle/>
          <a:p>
            <a:pPr eaLnBrk="1" hangingPunct="1">
              <a:defRPr/>
            </a:pPr>
            <a:endParaRPr lang="en-US" sz="2403">
              <a:latin typeface="+mn-lt"/>
              <a:cs typeface="Times New Roman" pitchFamily="18" charset="0"/>
            </a:endParaRPr>
          </a:p>
        </p:txBody>
      </p:sp>
      <p:sp>
        <p:nvSpPr>
          <p:cNvPr id="15" name="Line 16"/>
          <p:cNvSpPr>
            <a:spLocks noChangeShapeType="1"/>
          </p:cNvSpPr>
          <p:nvPr/>
        </p:nvSpPr>
        <p:spPr bwMode="auto">
          <a:xfrm flipV="1">
            <a:off x="3284278" y="3427303"/>
            <a:ext cx="1812267" cy="1812267"/>
          </a:xfrm>
          <a:prstGeom prst="line">
            <a:avLst/>
          </a:prstGeom>
          <a:noFill/>
          <a:ln w="50800">
            <a:solidFill>
              <a:srgbClr val="FF0000"/>
            </a:solidFill>
            <a:round/>
            <a:headEnd type="triangle" w="med" len="med"/>
            <a:tailEnd/>
          </a:ln>
          <a:extLst>
            <a:ext uri="{909E8E84-426E-40DD-AFC4-6F175D3DCCD1}">
              <a14:hiddenFill xmlns:a14="http://schemas.microsoft.com/office/drawing/2010/main">
                <a:noFill/>
              </a14:hiddenFill>
            </a:ext>
          </a:extLst>
        </p:spPr>
        <p:txBody>
          <a:bodyPr wrap="none" anchor="ctr"/>
          <a:lstStyle/>
          <a:p>
            <a:pPr eaLnBrk="1" hangingPunct="1">
              <a:defRPr/>
            </a:pPr>
            <a:endParaRPr lang="en-US" sz="2403">
              <a:latin typeface="+mn-lt"/>
              <a:cs typeface="Times New Roman" pitchFamily="18" charset="0"/>
            </a:endParaRPr>
          </a:p>
        </p:txBody>
      </p:sp>
      <p:sp>
        <p:nvSpPr>
          <p:cNvPr id="16" name="Line 17"/>
          <p:cNvSpPr>
            <a:spLocks noChangeShapeType="1"/>
          </p:cNvSpPr>
          <p:nvPr/>
        </p:nvSpPr>
        <p:spPr bwMode="auto">
          <a:xfrm flipV="1">
            <a:off x="3436890" y="3579915"/>
            <a:ext cx="1812267" cy="1812267"/>
          </a:xfrm>
          <a:prstGeom prst="line">
            <a:avLst/>
          </a:prstGeom>
          <a:noFill/>
          <a:ln w="50800">
            <a:solidFill>
              <a:srgbClr val="FF0000"/>
            </a:solidFill>
            <a:round/>
            <a:headEnd type="triangle" w="med" len="med"/>
            <a:tailEnd/>
          </a:ln>
          <a:extLst>
            <a:ext uri="{909E8E84-426E-40DD-AFC4-6F175D3DCCD1}">
              <a14:hiddenFill xmlns:a14="http://schemas.microsoft.com/office/drawing/2010/main">
                <a:noFill/>
              </a14:hiddenFill>
            </a:ext>
          </a:extLst>
        </p:spPr>
        <p:txBody>
          <a:bodyPr wrap="none" anchor="ctr"/>
          <a:lstStyle/>
          <a:p>
            <a:pPr eaLnBrk="1" hangingPunct="1">
              <a:defRPr/>
            </a:pPr>
            <a:endParaRPr lang="en-US" sz="2403">
              <a:latin typeface="+mn-lt"/>
              <a:cs typeface="Times New Roman" pitchFamily="18" charset="0"/>
            </a:endParaRPr>
          </a:p>
        </p:txBody>
      </p:sp>
      <p:sp>
        <p:nvSpPr>
          <p:cNvPr id="17" name="Line 18"/>
          <p:cNvSpPr>
            <a:spLocks noChangeShapeType="1"/>
          </p:cNvSpPr>
          <p:nvPr/>
        </p:nvSpPr>
        <p:spPr bwMode="auto">
          <a:xfrm flipV="1">
            <a:off x="3589502" y="3732526"/>
            <a:ext cx="1812267" cy="1812267"/>
          </a:xfrm>
          <a:prstGeom prst="line">
            <a:avLst/>
          </a:prstGeom>
          <a:noFill/>
          <a:ln w="50800">
            <a:solidFill>
              <a:srgbClr val="FF0000"/>
            </a:solidFill>
            <a:round/>
            <a:headEnd type="triangle" w="med" len="med"/>
            <a:tailEnd/>
          </a:ln>
          <a:extLst>
            <a:ext uri="{909E8E84-426E-40DD-AFC4-6F175D3DCCD1}">
              <a14:hiddenFill xmlns:a14="http://schemas.microsoft.com/office/drawing/2010/main">
                <a:noFill/>
              </a14:hiddenFill>
            </a:ext>
          </a:extLst>
        </p:spPr>
        <p:txBody>
          <a:bodyPr wrap="none" anchor="ctr"/>
          <a:lstStyle/>
          <a:p>
            <a:pPr eaLnBrk="1" hangingPunct="1">
              <a:defRPr/>
            </a:pPr>
            <a:endParaRPr lang="en-US" sz="2403">
              <a:latin typeface="+mn-lt"/>
              <a:cs typeface="Times New Roman" pitchFamily="18" charset="0"/>
            </a:endParaRPr>
          </a:p>
        </p:txBody>
      </p:sp>
      <p:grpSp>
        <p:nvGrpSpPr>
          <p:cNvPr id="18" name="Group 22"/>
          <p:cNvGrpSpPr>
            <a:grpSpLocks/>
          </p:cNvGrpSpPr>
          <p:nvPr/>
        </p:nvGrpSpPr>
        <p:grpSpPr bwMode="auto">
          <a:xfrm>
            <a:off x="3783447" y="1886874"/>
            <a:ext cx="1770935" cy="1712116"/>
            <a:chOff x="1838" y="1010"/>
            <a:chExt cx="1114" cy="1077"/>
          </a:xfrm>
        </p:grpSpPr>
        <p:grpSp>
          <p:nvGrpSpPr>
            <p:cNvPr id="19" name="Group 23"/>
            <p:cNvGrpSpPr>
              <a:grpSpLocks/>
            </p:cNvGrpSpPr>
            <p:nvPr/>
          </p:nvGrpSpPr>
          <p:grpSpPr bwMode="auto">
            <a:xfrm rot="16253419" flipH="1">
              <a:off x="2232" y="616"/>
              <a:ext cx="184" cy="972"/>
              <a:chOff x="368" y="2484"/>
              <a:chExt cx="172" cy="924"/>
            </a:xfrm>
          </p:grpSpPr>
          <p:sp>
            <p:nvSpPr>
              <p:cNvPr id="23" name="Freeform 24"/>
              <p:cNvSpPr>
                <a:spLocks/>
              </p:cNvSpPr>
              <p:nvPr/>
            </p:nvSpPr>
            <p:spPr bwMode="auto">
              <a:xfrm>
                <a:off x="476" y="3180"/>
                <a:ext cx="64" cy="228"/>
              </a:xfrm>
              <a:custGeom>
                <a:avLst/>
                <a:gdLst>
                  <a:gd name="T0" fmla="*/ 40 w 64"/>
                  <a:gd name="T1" fmla="*/ 0 h 228"/>
                  <a:gd name="T2" fmla="*/ 4 w 64"/>
                  <a:gd name="T3" fmla="*/ 132 h 228"/>
                  <a:gd name="T4" fmla="*/ 64 w 64"/>
                  <a:gd name="T5" fmla="*/ 228 h 228"/>
                  <a:gd name="T6" fmla="*/ 0 60000 65536"/>
                  <a:gd name="T7" fmla="*/ 0 60000 65536"/>
                  <a:gd name="T8" fmla="*/ 0 60000 65536"/>
                  <a:gd name="T9" fmla="*/ 0 w 64"/>
                  <a:gd name="T10" fmla="*/ 0 h 228"/>
                  <a:gd name="T11" fmla="*/ 64 w 64"/>
                  <a:gd name="T12" fmla="*/ 228 h 228"/>
                </a:gdLst>
                <a:ahLst/>
                <a:cxnLst>
                  <a:cxn ang="T6">
                    <a:pos x="T0" y="T1"/>
                  </a:cxn>
                  <a:cxn ang="T7">
                    <a:pos x="T2" y="T3"/>
                  </a:cxn>
                  <a:cxn ang="T8">
                    <a:pos x="T4" y="T5"/>
                  </a:cxn>
                </a:cxnLst>
                <a:rect l="T9" t="T10" r="T11" b="T12"/>
                <a:pathLst>
                  <a:path w="64" h="228">
                    <a:moveTo>
                      <a:pt x="40" y="0"/>
                    </a:moveTo>
                    <a:cubicBezTo>
                      <a:pt x="20" y="47"/>
                      <a:pt x="0" y="94"/>
                      <a:pt x="4" y="132"/>
                    </a:cubicBezTo>
                    <a:cubicBezTo>
                      <a:pt x="8" y="170"/>
                      <a:pt x="36" y="199"/>
                      <a:pt x="64" y="228"/>
                    </a:cubicBezTo>
                  </a:path>
                </a:pathLst>
              </a:custGeom>
              <a:noFill/>
              <a:ln w="50800" cap="flat" cmpd="sng">
                <a:solidFill>
                  <a:srgbClr val="FF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pPr eaLnBrk="1" hangingPunct="1">
                  <a:defRPr/>
                </a:pPr>
                <a:endParaRPr lang="en-US" sz="2403">
                  <a:latin typeface="+mn-lt"/>
                  <a:cs typeface="Times New Roman" pitchFamily="18" charset="0"/>
                </a:endParaRPr>
              </a:p>
            </p:txBody>
          </p:sp>
          <p:sp>
            <p:nvSpPr>
              <p:cNvPr id="24" name="Freeform 25"/>
              <p:cNvSpPr>
                <a:spLocks/>
              </p:cNvSpPr>
              <p:nvPr/>
            </p:nvSpPr>
            <p:spPr bwMode="auto">
              <a:xfrm>
                <a:off x="368" y="2484"/>
                <a:ext cx="172" cy="720"/>
              </a:xfrm>
              <a:custGeom>
                <a:avLst/>
                <a:gdLst>
                  <a:gd name="T0" fmla="*/ 148 w 172"/>
                  <a:gd name="T1" fmla="*/ 0 h 720"/>
                  <a:gd name="T2" fmla="*/ 16 w 172"/>
                  <a:gd name="T3" fmla="*/ 264 h 720"/>
                  <a:gd name="T4" fmla="*/ 52 w 172"/>
                  <a:gd name="T5" fmla="*/ 552 h 720"/>
                  <a:gd name="T6" fmla="*/ 172 w 172"/>
                  <a:gd name="T7" fmla="*/ 720 h 720"/>
                  <a:gd name="T8" fmla="*/ 0 60000 65536"/>
                  <a:gd name="T9" fmla="*/ 0 60000 65536"/>
                  <a:gd name="T10" fmla="*/ 0 60000 65536"/>
                  <a:gd name="T11" fmla="*/ 0 60000 65536"/>
                  <a:gd name="T12" fmla="*/ 0 w 172"/>
                  <a:gd name="T13" fmla="*/ 0 h 720"/>
                  <a:gd name="T14" fmla="*/ 172 w 172"/>
                  <a:gd name="T15" fmla="*/ 720 h 720"/>
                </a:gdLst>
                <a:ahLst/>
                <a:cxnLst>
                  <a:cxn ang="T8">
                    <a:pos x="T0" y="T1"/>
                  </a:cxn>
                  <a:cxn ang="T9">
                    <a:pos x="T2" y="T3"/>
                  </a:cxn>
                  <a:cxn ang="T10">
                    <a:pos x="T4" y="T5"/>
                  </a:cxn>
                  <a:cxn ang="T11">
                    <a:pos x="T6" y="T7"/>
                  </a:cxn>
                </a:cxnLst>
                <a:rect l="T12" t="T13" r="T14" b="T15"/>
                <a:pathLst>
                  <a:path w="172" h="720">
                    <a:moveTo>
                      <a:pt x="148" y="0"/>
                    </a:moveTo>
                    <a:cubicBezTo>
                      <a:pt x="90" y="86"/>
                      <a:pt x="32" y="172"/>
                      <a:pt x="16" y="264"/>
                    </a:cubicBezTo>
                    <a:cubicBezTo>
                      <a:pt x="0" y="356"/>
                      <a:pt x="26" y="476"/>
                      <a:pt x="52" y="552"/>
                    </a:cubicBezTo>
                    <a:cubicBezTo>
                      <a:pt x="78" y="628"/>
                      <a:pt x="125" y="674"/>
                      <a:pt x="172" y="720"/>
                    </a:cubicBezTo>
                  </a:path>
                </a:pathLst>
              </a:custGeom>
              <a:noFill/>
              <a:ln w="50800" cap="flat" cmpd="sng">
                <a:solidFill>
                  <a:srgbClr val="FF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pPr eaLnBrk="1" hangingPunct="1">
                  <a:defRPr/>
                </a:pPr>
                <a:endParaRPr lang="en-US" sz="2403">
                  <a:latin typeface="+mn-lt"/>
                  <a:cs typeface="Times New Roman" pitchFamily="18" charset="0"/>
                </a:endParaRPr>
              </a:p>
            </p:txBody>
          </p:sp>
        </p:grpSp>
        <p:grpSp>
          <p:nvGrpSpPr>
            <p:cNvPr id="20" name="Group 26"/>
            <p:cNvGrpSpPr>
              <a:grpSpLocks/>
            </p:cNvGrpSpPr>
            <p:nvPr/>
          </p:nvGrpSpPr>
          <p:grpSpPr bwMode="auto">
            <a:xfrm rot="-10709558">
              <a:off x="2756" y="1163"/>
              <a:ext cx="196" cy="924"/>
              <a:chOff x="368" y="2484"/>
              <a:chExt cx="172" cy="924"/>
            </a:xfrm>
          </p:grpSpPr>
          <p:sp>
            <p:nvSpPr>
              <p:cNvPr id="21" name="Freeform 27"/>
              <p:cNvSpPr>
                <a:spLocks/>
              </p:cNvSpPr>
              <p:nvPr/>
            </p:nvSpPr>
            <p:spPr bwMode="auto">
              <a:xfrm>
                <a:off x="476" y="3180"/>
                <a:ext cx="64" cy="228"/>
              </a:xfrm>
              <a:custGeom>
                <a:avLst/>
                <a:gdLst>
                  <a:gd name="T0" fmla="*/ 40 w 64"/>
                  <a:gd name="T1" fmla="*/ 0 h 228"/>
                  <a:gd name="T2" fmla="*/ 4 w 64"/>
                  <a:gd name="T3" fmla="*/ 132 h 228"/>
                  <a:gd name="T4" fmla="*/ 64 w 64"/>
                  <a:gd name="T5" fmla="*/ 228 h 228"/>
                  <a:gd name="T6" fmla="*/ 0 60000 65536"/>
                  <a:gd name="T7" fmla="*/ 0 60000 65536"/>
                  <a:gd name="T8" fmla="*/ 0 60000 65536"/>
                  <a:gd name="T9" fmla="*/ 0 w 64"/>
                  <a:gd name="T10" fmla="*/ 0 h 228"/>
                  <a:gd name="T11" fmla="*/ 64 w 64"/>
                  <a:gd name="T12" fmla="*/ 228 h 228"/>
                </a:gdLst>
                <a:ahLst/>
                <a:cxnLst>
                  <a:cxn ang="T6">
                    <a:pos x="T0" y="T1"/>
                  </a:cxn>
                  <a:cxn ang="T7">
                    <a:pos x="T2" y="T3"/>
                  </a:cxn>
                  <a:cxn ang="T8">
                    <a:pos x="T4" y="T5"/>
                  </a:cxn>
                </a:cxnLst>
                <a:rect l="T9" t="T10" r="T11" b="T12"/>
                <a:pathLst>
                  <a:path w="64" h="228">
                    <a:moveTo>
                      <a:pt x="40" y="0"/>
                    </a:moveTo>
                    <a:cubicBezTo>
                      <a:pt x="20" y="47"/>
                      <a:pt x="0" y="94"/>
                      <a:pt x="4" y="132"/>
                    </a:cubicBezTo>
                    <a:cubicBezTo>
                      <a:pt x="8" y="170"/>
                      <a:pt x="36" y="199"/>
                      <a:pt x="64" y="228"/>
                    </a:cubicBezTo>
                  </a:path>
                </a:pathLst>
              </a:custGeom>
              <a:noFill/>
              <a:ln w="50800" cap="flat" cmpd="sng">
                <a:solidFill>
                  <a:srgbClr val="FF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pPr eaLnBrk="1" hangingPunct="1">
                  <a:defRPr/>
                </a:pPr>
                <a:endParaRPr lang="en-US" sz="2403">
                  <a:latin typeface="+mn-lt"/>
                  <a:cs typeface="Times New Roman" pitchFamily="18" charset="0"/>
                </a:endParaRPr>
              </a:p>
            </p:txBody>
          </p:sp>
          <p:sp>
            <p:nvSpPr>
              <p:cNvPr id="22" name="Freeform 28"/>
              <p:cNvSpPr>
                <a:spLocks/>
              </p:cNvSpPr>
              <p:nvPr/>
            </p:nvSpPr>
            <p:spPr bwMode="auto">
              <a:xfrm>
                <a:off x="368" y="2484"/>
                <a:ext cx="172" cy="720"/>
              </a:xfrm>
              <a:custGeom>
                <a:avLst/>
                <a:gdLst>
                  <a:gd name="T0" fmla="*/ 148 w 172"/>
                  <a:gd name="T1" fmla="*/ 0 h 720"/>
                  <a:gd name="T2" fmla="*/ 16 w 172"/>
                  <a:gd name="T3" fmla="*/ 264 h 720"/>
                  <a:gd name="T4" fmla="*/ 52 w 172"/>
                  <a:gd name="T5" fmla="*/ 552 h 720"/>
                  <a:gd name="T6" fmla="*/ 172 w 172"/>
                  <a:gd name="T7" fmla="*/ 720 h 720"/>
                  <a:gd name="T8" fmla="*/ 0 60000 65536"/>
                  <a:gd name="T9" fmla="*/ 0 60000 65536"/>
                  <a:gd name="T10" fmla="*/ 0 60000 65536"/>
                  <a:gd name="T11" fmla="*/ 0 60000 65536"/>
                  <a:gd name="T12" fmla="*/ 0 w 172"/>
                  <a:gd name="T13" fmla="*/ 0 h 720"/>
                  <a:gd name="T14" fmla="*/ 172 w 172"/>
                  <a:gd name="T15" fmla="*/ 720 h 720"/>
                </a:gdLst>
                <a:ahLst/>
                <a:cxnLst>
                  <a:cxn ang="T8">
                    <a:pos x="T0" y="T1"/>
                  </a:cxn>
                  <a:cxn ang="T9">
                    <a:pos x="T2" y="T3"/>
                  </a:cxn>
                  <a:cxn ang="T10">
                    <a:pos x="T4" y="T5"/>
                  </a:cxn>
                  <a:cxn ang="T11">
                    <a:pos x="T6" y="T7"/>
                  </a:cxn>
                </a:cxnLst>
                <a:rect l="T12" t="T13" r="T14" b="T15"/>
                <a:pathLst>
                  <a:path w="172" h="720">
                    <a:moveTo>
                      <a:pt x="148" y="0"/>
                    </a:moveTo>
                    <a:cubicBezTo>
                      <a:pt x="90" y="86"/>
                      <a:pt x="32" y="172"/>
                      <a:pt x="16" y="264"/>
                    </a:cubicBezTo>
                    <a:cubicBezTo>
                      <a:pt x="0" y="356"/>
                      <a:pt x="26" y="476"/>
                      <a:pt x="52" y="552"/>
                    </a:cubicBezTo>
                    <a:cubicBezTo>
                      <a:pt x="78" y="628"/>
                      <a:pt x="125" y="674"/>
                      <a:pt x="172" y="720"/>
                    </a:cubicBezTo>
                  </a:path>
                </a:pathLst>
              </a:custGeom>
              <a:noFill/>
              <a:ln w="50800" cap="flat" cmpd="sng">
                <a:solidFill>
                  <a:srgbClr val="FF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pPr eaLnBrk="1" hangingPunct="1">
                  <a:defRPr/>
                </a:pPr>
                <a:endParaRPr lang="en-US" sz="2403">
                  <a:latin typeface="+mn-lt"/>
                  <a:cs typeface="Times New Roman" pitchFamily="18" charset="0"/>
                </a:endParaRPr>
              </a:p>
            </p:txBody>
          </p:sp>
        </p:grpSp>
      </p:grpSp>
      <p:sp>
        <p:nvSpPr>
          <p:cNvPr id="25" name="Rectangle 38"/>
          <p:cNvSpPr>
            <a:spLocks noChangeArrowheads="1"/>
          </p:cNvSpPr>
          <p:nvPr/>
        </p:nvSpPr>
        <p:spPr bwMode="auto">
          <a:xfrm>
            <a:off x="5457060" y="2276354"/>
            <a:ext cx="1386922" cy="322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88" tIns="25435" rIns="63588" bIns="25435">
            <a:spAutoFit/>
          </a:bodyP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gn="ctr" eaLnBrk="1" hangingPunct="1">
              <a:lnSpc>
                <a:spcPct val="88000"/>
              </a:lnSpc>
              <a:defRPr/>
            </a:pPr>
            <a:r>
              <a:rPr lang="en-US" altLang="en-US" sz="2003">
                <a:solidFill>
                  <a:schemeClr val="tx1"/>
                </a:solidFill>
                <a:latin typeface="+mn-lt"/>
                <a:cs typeface="Times New Roman" pitchFamily="18" charset="0"/>
              </a:rPr>
              <a:t>Projection</a:t>
            </a:r>
          </a:p>
        </p:txBody>
      </p:sp>
      <p:sp>
        <p:nvSpPr>
          <p:cNvPr id="26" name="Line 19"/>
          <p:cNvSpPr>
            <a:spLocks noChangeShapeType="1"/>
          </p:cNvSpPr>
          <p:nvPr/>
        </p:nvSpPr>
        <p:spPr bwMode="auto">
          <a:xfrm>
            <a:off x="3379661" y="1731084"/>
            <a:ext cx="2212873" cy="2212873"/>
          </a:xfrm>
          <a:prstGeom prst="line">
            <a:avLst/>
          </a:prstGeom>
          <a:noFill/>
          <a:ln w="76200">
            <a:solidFill>
              <a:schemeClr val="tx2"/>
            </a:solidFill>
            <a:round/>
            <a:headEnd/>
            <a:tailEnd/>
          </a:ln>
          <a:extLst>
            <a:ext uri="{909E8E84-426E-40DD-AFC4-6F175D3DCCD1}">
              <a14:hiddenFill xmlns:a14="http://schemas.microsoft.com/office/drawing/2010/main">
                <a:noFill/>
              </a14:hiddenFill>
            </a:ext>
          </a:extLst>
        </p:spPr>
        <p:txBody>
          <a:bodyPr wrap="none" anchor="ctr"/>
          <a:lstStyle/>
          <a:p>
            <a:pPr eaLnBrk="1" hangingPunct="1">
              <a:defRPr/>
            </a:pPr>
            <a:endParaRPr lang="en-US" sz="2403">
              <a:latin typeface="+mn-lt"/>
              <a:cs typeface="Times New Roman" pitchFamily="18" charset="0"/>
            </a:endParaRPr>
          </a:p>
        </p:txBody>
      </p:sp>
    </p:spTree>
    <p:extLst>
      <p:ext uri="{BB962C8B-B14F-4D97-AF65-F5344CB8AC3E}">
        <p14:creationId xmlns:p14="http://schemas.microsoft.com/office/powerpoint/2010/main" val="262296193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11" descr="C:\AAA\proj.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08584" y="2583505"/>
            <a:ext cx="2934955" cy="203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6" name="Picture 4" descr="C:\AAA\back.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1515" y="2583505"/>
            <a:ext cx="2030587" cy="203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8" name="Rectangle 12"/>
          <p:cNvSpPr>
            <a:spLocks noChangeArrowheads="1"/>
          </p:cNvSpPr>
          <p:nvPr/>
        </p:nvSpPr>
        <p:spPr bwMode="auto">
          <a:xfrm>
            <a:off x="2808582" y="2284412"/>
            <a:ext cx="2934954" cy="316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56483" tIns="22593" rIns="56483" bIns="22593">
            <a:spAutoFit/>
          </a:bodyP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gn="ctr">
              <a:lnSpc>
                <a:spcPct val="88000"/>
              </a:lnSpc>
            </a:pPr>
            <a:r>
              <a:rPr lang="en-US" altLang="en-US" sz="2000" dirty="0">
                <a:solidFill>
                  <a:schemeClr val="tx1"/>
                </a:solidFill>
              </a:rPr>
              <a:t>Sinogram</a:t>
            </a:r>
          </a:p>
        </p:txBody>
      </p:sp>
      <p:sp>
        <p:nvSpPr>
          <p:cNvPr id="13319" name="Rectangle 13"/>
          <p:cNvSpPr>
            <a:spLocks noChangeArrowheads="1"/>
          </p:cNvSpPr>
          <p:nvPr/>
        </p:nvSpPr>
        <p:spPr bwMode="auto">
          <a:xfrm>
            <a:off x="6506746" y="2284412"/>
            <a:ext cx="2693301" cy="316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56483" tIns="22593" rIns="56483" bIns="22593">
            <a:spAutoFit/>
          </a:bodyP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gn="ctr">
              <a:lnSpc>
                <a:spcPct val="88000"/>
              </a:lnSpc>
            </a:pPr>
            <a:r>
              <a:rPr lang="en-US" altLang="en-US" sz="2000">
                <a:solidFill>
                  <a:schemeClr val="tx1"/>
                </a:solidFill>
              </a:rPr>
              <a:t>Backprojected Image</a:t>
            </a:r>
          </a:p>
        </p:txBody>
      </p:sp>
      <p:sp>
        <p:nvSpPr>
          <p:cNvPr id="8" name="Right Arrow 7"/>
          <p:cNvSpPr/>
          <p:nvPr/>
        </p:nvSpPr>
        <p:spPr bwMode="auto">
          <a:xfrm>
            <a:off x="5746028" y="3336513"/>
            <a:ext cx="1087309" cy="524569"/>
          </a:xfrm>
          <a:prstGeom prst="rightArrow">
            <a:avLst/>
          </a:prstGeom>
          <a:solidFill>
            <a:srgbClr val="FFC000"/>
          </a:solidFill>
          <a:ln w="9525" cap="flat" cmpd="sng" algn="ctr">
            <a:noFill/>
            <a:prstDash val="solid"/>
            <a:round/>
            <a:headEnd type="none" w="med" len="med"/>
            <a:tailEnd type="none" w="med" len="med"/>
          </a:ln>
          <a:effectLst/>
        </p:spPr>
        <p:txBody>
          <a:bodyPr vert="horz" wrap="square" lIns="81224" tIns="40611" rIns="81224" bIns="40611" numCol="1" rtlCol="0" anchor="t" anchorCtr="0" compatLnSpc="1">
            <a:prstTxWarp prst="textNoShape">
              <a:avLst/>
            </a:prstTxWarp>
          </a:bodyPr>
          <a:lstStyle/>
          <a:p>
            <a:pPr algn="ctr" defTabSz="812209"/>
            <a:endParaRPr lang="en-US" sz="1776" dirty="0" err="1"/>
          </a:p>
        </p:txBody>
      </p:sp>
      <p:sp>
        <p:nvSpPr>
          <p:cNvPr id="7" name="Title 1"/>
          <p:cNvSpPr>
            <a:spLocks noGrp="1"/>
          </p:cNvSpPr>
          <p:nvPr>
            <p:ph type="title"/>
          </p:nvPr>
        </p:nvSpPr>
        <p:spPr>
          <a:xfrm>
            <a:off x="1676401" y="518493"/>
            <a:ext cx="8839200" cy="744548"/>
          </a:xfrm>
        </p:spPr>
        <p:txBody>
          <a:bodyPr/>
          <a:lstStyle/>
          <a:p>
            <a:r>
              <a:rPr lang="en-US" dirty="0"/>
              <a:t>Backprojection to Image</a:t>
            </a:r>
          </a:p>
        </p:txBody>
      </p:sp>
    </p:spTree>
    <p:extLst>
      <p:ext uri="{BB962C8B-B14F-4D97-AF65-F5344CB8AC3E}">
        <p14:creationId xmlns:p14="http://schemas.microsoft.com/office/powerpoint/2010/main" val="21683455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Filtered Backprojection</a:t>
            </a:r>
          </a:p>
        </p:txBody>
      </p:sp>
      <p:sp>
        <p:nvSpPr>
          <p:cNvPr id="5" name="Arc 3"/>
          <p:cNvSpPr>
            <a:spLocks/>
          </p:cNvSpPr>
          <p:nvPr/>
        </p:nvSpPr>
        <p:spPr bwMode="auto">
          <a:xfrm>
            <a:off x="7379855" y="2445471"/>
            <a:ext cx="297266" cy="689830"/>
          </a:xfrm>
          <a:custGeom>
            <a:avLst/>
            <a:gdLst>
              <a:gd name="T0" fmla="*/ 0 w 21709"/>
              <a:gd name="T1" fmla="*/ 0 h 21600"/>
              <a:gd name="T2" fmla="*/ 0 w 21709"/>
              <a:gd name="T3" fmla="*/ 0 h 21600"/>
              <a:gd name="T4" fmla="*/ 0 w 21709"/>
              <a:gd name="T5" fmla="*/ 0 h 21600"/>
              <a:gd name="T6" fmla="*/ 0 60000 65536"/>
              <a:gd name="T7" fmla="*/ 0 60000 65536"/>
              <a:gd name="T8" fmla="*/ 0 60000 65536"/>
              <a:gd name="T9" fmla="*/ 0 w 21709"/>
              <a:gd name="T10" fmla="*/ 0 h 21600"/>
              <a:gd name="T11" fmla="*/ 21709 w 21709"/>
              <a:gd name="T12" fmla="*/ 21600 h 21600"/>
            </a:gdLst>
            <a:ahLst/>
            <a:cxnLst>
              <a:cxn ang="T6">
                <a:pos x="T0" y="T1"/>
              </a:cxn>
              <a:cxn ang="T7">
                <a:pos x="T2" y="T3"/>
              </a:cxn>
              <a:cxn ang="T8">
                <a:pos x="T4" y="T5"/>
              </a:cxn>
            </a:cxnLst>
            <a:rect l="T9" t="T10" r="T11" b="T12"/>
            <a:pathLst>
              <a:path w="21709" h="21600" fill="none" extrusionOk="0">
                <a:moveTo>
                  <a:pt x="0" y="0"/>
                </a:moveTo>
                <a:cubicBezTo>
                  <a:pt x="36" y="0"/>
                  <a:pt x="72" y="0"/>
                  <a:pt x="109" y="0"/>
                </a:cubicBezTo>
                <a:cubicBezTo>
                  <a:pt x="12019" y="0"/>
                  <a:pt x="21682" y="9641"/>
                  <a:pt x="21708" y="21552"/>
                </a:cubicBezTo>
              </a:path>
              <a:path w="21709" h="21600" stroke="0" extrusionOk="0">
                <a:moveTo>
                  <a:pt x="0" y="0"/>
                </a:moveTo>
                <a:cubicBezTo>
                  <a:pt x="36" y="0"/>
                  <a:pt x="72" y="0"/>
                  <a:pt x="109" y="0"/>
                </a:cubicBezTo>
                <a:cubicBezTo>
                  <a:pt x="12019" y="0"/>
                  <a:pt x="21682" y="9641"/>
                  <a:pt x="21708" y="21552"/>
                </a:cubicBezTo>
                <a:lnTo>
                  <a:pt x="109" y="21600"/>
                </a:lnTo>
                <a:lnTo>
                  <a:pt x="0" y="0"/>
                </a:lnTo>
                <a:close/>
              </a:path>
            </a:pathLst>
          </a:custGeom>
          <a:noFill/>
          <a:ln w="50800" cap="rnd">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defRPr/>
            </a:pPr>
            <a:endParaRPr lang="en-US" sz="2403">
              <a:latin typeface="Garamond" pitchFamily="18" charset="0"/>
              <a:cs typeface="Times New Roman" pitchFamily="18" charset="0"/>
            </a:endParaRPr>
          </a:p>
        </p:txBody>
      </p:sp>
      <p:sp>
        <p:nvSpPr>
          <p:cNvPr id="6" name="Arc 4"/>
          <p:cNvSpPr>
            <a:spLocks/>
          </p:cNvSpPr>
          <p:nvPr/>
        </p:nvSpPr>
        <p:spPr bwMode="auto">
          <a:xfrm>
            <a:off x="7379855" y="3153615"/>
            <a:ext cx="297266" cy="731036"/>
          </a:xfrm>
          <a:custGeom>
            <a:avLst/>
            <a:gdLst>
              <a:gd name="T0" fmla="*/ 0 w 21709"/>
              <a:gd name="T1" fmla="*/ 0 h 21600"/>
              <a:gd name="T2" fmla="*/ 0 w 21709"/>
              <a:gd name="T3" fmla="*/ 0 h 21600"/>
              <a:gd name="T4" fmla="*/ 0 w 21709"/>
              <a:gd name="T5" fmla="*/ 0 h 21600"/>
              <a:gd name="T6" fmla="*/ 0 60000 65536"/>
              <a:gd name="T7" fmla="*/ 0 60000 65536"/>
              <a:gd name="T8" fmla="*/ 0 60000 65536"/>
              <a:gd name="T9" fmla="*/ 0 w 21709"/>
              <a:gd name="T10" fmla="*/ 0 h 21600"/>
              <a:gd name="T11" fmla="*/ 21709 w 21709"/>
              <a:gd name="T12" fmla="*/ 21600 h 21600"/>
            </a:gdLst>
            <a:ahLst/>
            <a:cxnLst>
              <a:cxn ang="T6">
                <a:pos x="T0" y="T1"/>
              </a:cxn>
              <a:cxn ang="T7">
                <a:pos x="T2" y="T3"/>
              </a:cxn>
              <a:cxn ang="T8">
                <a:pos x="T4" y="T5"/>
              </a:cxn>
            </a:cxnLst>
            <a:rect l="T9" t="T10" r="T11" b="T12"/>
            <a:pathLst>
              <a:path w="21709" h="21600" fill="none" extrusionOk="0">
                <a:moveTo>
                  <a:pt x="21709" y="0"/>
                </a:moveTo>
                <a:cubicBezTo>
                  <a:pt x="21709" y="11929"/>
                  <a:pt x="12038" y="21600"/>
                  <a:pt x="109" y="21600"/>
                </a:cubicBezTo>
                <a:cubicBezTo>
                  <a:pt x="72" y="21600"/>
                  <a:pt x="36" y="21599"/>
                  <a:pt x="0" y="21599"/>
                </a:cubicBezTo>
              </a:path>
              <a:path w="21709" h="21600" stroke="0" extrusionOk="0">
                <a:moveTo>
                  <a:pt x="21709" y="0"/>
                </a:moveTo>
                <a:cubicBezTo>
                  <a:pt x="21709" y="11929"/>
                  <a:pt x="12038" y="21600"/>
                  <a:pt x="109" y="21600"/>
                </a:cubicBezTo>
                <a:cubicBezTo>
                  <a:pt x="72" y="21600"/>
                  <a:pt x="36" y="21599"/>
                  <a:pt x="0" y="21599"/>
                </a:cubicBezTo>
                <a:lnTo>
                  <a:pt x="109" y="0"/>
                </a:lnTo>
                <a:lnTo>
                  <a:pt x="21709" y="0"/>
                </a:lnTo>
                <a:close/>
              </a:path>
            </a:pathLst>
          </a:custGeom>
          <a:noFill/>
          <a:ln w="50800" cap="rnd">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defRPr/>
            </a:pPr>
            <a:endParaRPr lang="en-US" sz="2403">
              <a:latin typeface="Garamond" pitchFamily="18" charset="0"/>
              <a:cs typeface="Times New Roman" pitchFamily="18" charset="0"/>
            </a:endParaRPr>
          </a:p>
        </p:txBody>
      </p:sp>
      <p:sp>
        <p:nvSpPr>
          <p:cNvPr id="7" name="Arc 5"/>
          <p:cNvSpPr>
            <a:spLocks/>
          </p:cNvSpPr>
          <p:nvPr/>
        </p:nvSpPr>
        <p:spPr bwMode="auto">
          <a:xfrm>
            <a:off x="3468862" y="2482100"/>
            <a:ext cx="436890" cy="738667"/>
          </a:xfrm>
          <a:custGeom>
            <a:avLst/>
            <a:gdLst>
              <a:gd name="T0" fmla="*/ 0 w 21675"/>
              <a:gd name="T1" fmla="*/ 0 h 21600"/>
              <a:gd name="T2" fmla="*/ 0 w 21675"/>
              <a:gd name="T3" fmla="*/ 0 h 21600"/>
              <a:gd name="T4" fmla="*/ 0 w 21675"/>
              <a:gd name="T5" fmla="*/ 0 h 21600"/>
              <a:gd name="T6" fmla="*/ 0 60000 65536"/>
              <a:gd name="T7" fmla="*/ 0 60000 65536"/>
              <a:gd name="T8" fmla="*/ 0 60000 65536"/>
              <a:gd name="T9" fmla="*/ 0 w 21675"/>
              <a:gd name="T10" fmla="*/ 0 h 21600"/>
              <a:gd name="T11" fmla="*/ 21675 w 21675"/>
              <a:gd name="T12" fmla="*/ 21600 h 21600"/>
            </a:gdLst>
            <a:ahLst/>
            <a:cxnLst>
              <a:cxn ang="T6">
                <a:pos x="T0" y="T1"/>
              </a:cxn>
              <a:cxn ang="T7">
                <a:pos x="T2" y="T3"/>
              </a:cxn>
              <a:cxn ang="T8">
                <a:pos x="T4" y="T5"/>
              </a:cxn>
            </a:cxnLst>
            <a:rect l="T9" t="T10" r="T11" b="T12"/>
            <a:pathLst>
              <a:path w="21675" h="21600" fill="none" extrusionOk="0">
                <a:moveTo>
                  <a:pt x="0" y="0"/>
                </a:moveTo>
                <a:cubicBezTo>
                  <a:pt x="25" y="0"/>
                  <a:pt x="50" y="0"/>
                  <a:pt x="75" y="0"/>
                </a:cubicBezTo>
                <a:cubicBezTo>
                  <a:pt x="11986" y="0"/>
                  <a:pt x="21650" y="9643"/>
                  <a:pt x="21674" y="21555"/>
                </a:cubicBezTo>
              </a:path>
              <a:path w="21675" h="21600" stroke="0" extrusionOk="0">
                <a:moveTo>
                  <a:pt x="0" y="0"/>
                </a:moveTo>
                <a:cubicBezTo>
                  <a:pt x="25" y="0"/>
                  <a:pt x="50" y="0"/>
                  <a:pt x="75" y="0"/>
                </a:cubicBezTo>
                <a:cubicBezTo>
                  <a:pt x="11986" y="0"/>
                  <a:pt x="21650" y="9643"/>
                  <a:pt x="21674" y="21555"/>
                </a:cubicBezTo>
                <a:lnTo>
                  <a:pt x="75" y="21600"/>
                </a:lnTo>
                <a:lnTo>
                  <a:pt x="0" y="0"/>
                </a:lnTo>
                <a:close/>
              </a:path>
            </a:pathLst>
          </a:custGeom>
          <a:noFill/>
          <a:ln w="50800" cap="rnd">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defRPr/>
            </a:pPr>
            <a:endParaRPr lang="en-US" sz="2403">
              <a:latin typeface="Garamond" pitchFamily="18" charset="0"/>
              <a:cs typeface="Times New Roman" pitchFamily="18" charset="0"/>
            </a:endParaRPr>
          </a:p>
        </p:txBody>
      </p:sp>
      <p:sp>
        <p:nvSpPr>
          <p:cNvPr id="8" name="Arc 6"/>
          <p:cNvSpPr>
            <a:spLocks/>
          </p:cNvSpPr>
          <p:nvPr/>
        </p:nvSpPr>
        <p:spPr bwMode="auto">
          <a:xfrm>
            <a:off x="3486878" y="3165825"/>
            <a:ext cx="418874" cy="700513"/>
          </a:xfrm>
          <a:custGeom>
            <a:avLst/>
            <a:gdLst>
              <a:gd name="T0" fmla="*/ 0 w 21678"/>
              <a:gd name="T1" fmla="*/ 0 h 21600"/>
              <a:gd name="T2" fmla="*/ 0 w 21678"/>
              <a:gd name="T3" fmla="*/ 0 h 21600"/>
              <a:gd name="T4" fmla="*/ 0 w 21678"/>
              <a:gd name="T5" fmla="*/ 0 h 21600"/>
              <a:gd name="T6" fmla="*/ 0 60000 65536"/>
              <a:gd name="T7" fmla="*/ 0 60000 65536"/>
              <a:gd name="T8" fmla="*/ 0 60000 65536"/>
              <a:gd name="T9" fmla="*/ 0 w 21678"/>
              <a:gd name="T10" fmla="*/ 0 h 21600"/>
              <a:gd name="T11" fmla="*/ 21678 w 21678"/>
              <a:gd name="T12" fmla="*/ 21600 h 21600"/>
            </a:gdLst>
            <a:ahLst/>
            <a:cxnLst>
              <a:cxn ang="T6">
                <a:pos x="T0" y="T1"/>
              </a:cxn>
              <a:cxn ang="T7">
                <a:pos x="T2" y="T3"/>
              </a:cxn>
              <a:cxn ang="T8">
                <a:pos x="T4" y="T5"/>
              </a:cxn>
            </a:cxnLst>
            <a:rect l="T9" t="T10" r="T11" b="T12"/>
            <a:pathLst>
              <a:path w="21678" h="21600" fill="none" extrusionOk="0">
                <a:moveTo>
                  <a:pt x="21678" y="0"/>
                </a:moveTo>
                <a:cubicBezTo>
                  <a:pt x="21678" y="11929"/>
                  <a:pt x="12007" y="21600"/>
                  <a:pt x="78" y="21600"/>
                </a:cubicBezTo>
                <a:cubicBezTo>
                  <a:pt x="52" y="21600"/>
                  <a:pt x="26" y="21599"/>
                  <a:pt x="0" y="21599"/>
                </a:cubicBezTo>
              </a:path>
              <a:path w="21678" h="21600" stroke="0" extrusionOk="0">
                <a:moveTo>
                  <a:pt x="21678" y="0"/>
                </a:moveTo>
                <a:cubicBezTo>
                  <a:pt x="21678" y="11929"/>
                  <a:pt x="12007" y="21600"/>
                  <a:pt x="78" y="21600"/>
                </a:cubicBezTo>
                <a:cubicBezTo>
                  <a:pt x="52" y="21600"/>
                  <a:pt x="26" y="21599"/>
                  <a:pt x="0" y="21599"/>
                </a:cubicBezTo>
                <a:lnTo>
                  <a:pt x="78" y="0"/>
                </a:lnTo>
                <a:lnTo>
                  <a:pt x="21678" y="0"/>
                </a:lnTo>
                <a:close/>
              </a:path>
            </a:pathLst>
          </a:custGeom>
          <a:noFill/>
          <a:ln w="50800" cap="rnd">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defRPr/>
            </a:pPr>
            <a:endParaRPr lang="en-US" sz="2403">
              <a:latin typeface="Garamond" pitchFamily="18" charset="0"/>
              <a:cs typeface="Times New Roman" pitchFamily="18" charset="0"/>
            </a:endParaRPr>
          </a:p>
        </p:txBody>
      </p:sp>
      <p:sp>
        <p:nvSpPr>
          <p:cNvPr id="9" name="Oval 7"/>
          <p:cNvSpPr>
            <a:spLocks noChangeArrowheads="1"/>
          </p:cNvSpPr>
          <p:nvPr/>
        </p:nvSpPr>
        <p:spPr bwMode="auto">
          <a:xfrm>
            <a:off x="1502105" y="2421053"/>
            <a:ext cx="1484826" cy="1494122"/>
          </a:xfrm>
          <a:prstGeom prst="ellipse">
            <a:avLst/>
          </a:prstGeom>
          <a:solidFill>
            <a:srgbClr val="00B0F0"/>
          </a:solidFill>
          <a:ln w="50800">
            <a:solidFill>
              <a:srgbClr val="0070C0"/>
            </a:solidFill>
            <a:round/>
            <a:headEnd/>
            <a:tailEnd/>
          </a:ln>
        </p:spPr>
        <p:txBody>
          <a:bodyPr wrap="none" anchor="ct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eaLnBrk="1" hangingPunct="1">
              <a:lnSpc>
                <a:spcPct val="90000"/>
              </a:lnSpc>
              <a:defRPr/>
            </a:pPr>
            <a:endParaRPr lang="en-US" altLang="en-US" sz="3204">
              <a:solidFill>
                <a:schemeClr val="tx1"/>
              </a:solidFill>
              <a:cs typeface="Times New Roman" pitchFamily="18" charset="0"/>
            </a:endParaRPr>
          </a:p>
        </p:txBody>
      </p:sp>
      <p:sp>
        <p:nvSpPr>
          <p:cNvPr id="10" name="Line 8"/>
          <p:cNvSpPr>
            <a:spLocks noChangeShapeType="1"/>
          </p:cNvSpPr>
          <p:nvPr/>
        </p:nvSpPr>
        <p:spPr bwMode="auto">
          <a:xfrm>
            <a:off x="894062" y="3147510"/>
            <a:ext cx="2532762" cy="0"/>
          </a:xfrm>
          <a:prstGeom prst="line">
            <a:avLst/>
          </a:prstGeom>
          <a:noFill/>
          <a:ln w="508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eaLnBrk="1" hangingPunct="1">
              <a:defRPr/>
            </a:pPr>
            <a:endParaRPr lang="en-US" sz="2403">
              <a:latin typeface="Garamond" pitchFamily="18" charset="0"/>
              <a:cs typeface="Times New Roman" pitchFamily="18" charset="0"/>
            </a:endParaRPr>
          </a:p>
        </p:txBody>
      </p:sp>
      <p:sp>
        <p:nvSpPr>
          <p:cNvPr id="11" name="Line 9"/>
          <p:cNvSpPr>
            <a:spLocks noChangeShapeType="1"/>
          </p:cNvSpPr>
          <p:nvPr/>
        </p:nvSpPr>
        <p:spPr bwMode="auto">
          <a:xfrm>
            <a:off x="889558" y="2424105"/>
            <a:ext cx="2532762" cy="0"/>
          </a:xfrm>
          <a:prstGeom prst="line">
            <a:avLst/>
          </a:prstGeom>
          <a:noFill/>
          <a:ln w="508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eaLnBrk="1" hangingPunct="1">
              <a:defRPr/>
            </a:pPr>
            <a:endParaRPr lang="en-US" sz="2403">
              <a:latin typeface="Garamond" pitchFamily="18" charset="0"/>
              <a:cs typeface="Times New Roman" pitchFamily="18" charset="0"/>
            </a:endParaRPr>
          </a:p>
        </p:txBody>
      </p:sp>
      <p:sp>
        <p:nvSpPr>
          <p:cNvPr id="12" name="Line 10"/>
          <p:cNvSpPr>
            <a:spLocks noChangeShapeType="1"/>
          </p:cNvSpPr>
          <p:nvPr/>
        </p:nvSpPr>
        <p:spPr bwMode="auto">
          <a:xfrm>
            <a:off x="894062" y="2738496"/>
            <a:ext cx="2532762" cy="0"/>
          </a:xfrm>
          <a:prstGeom prst="line">
            <a:avLst/>
          </a:prstGeom>
          <a:noFill/>
          <a:ln w="508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eaLnBrk="1" hangingPunct="1">
              <a:defRPr/>
            </a:pPr>
            <a:endParaRPr lang="en-US" sz="2403">
              <a:latin typeface="Garamond" pitchFamily="18" charset="0"/>
              <a:cs typeface="Times New Roman" pitchFamily="18" charset="0"/>
            </a:endParaRPr>
          </a:p>
        </p:txBody>
      </p:sp>
      <p:sp>
        <p:nvSpPr>
          <p:cNvPr id="13" name="Line 11"/>
          <p:cNvSpPr>
            <a:spLocks noChangeShapeType="1"/>
          </p:cNvSpPr>
          <p:nvPr/>
        </p:nvSpPr>
        <p:spPr bwMode="auto">
          <a:xfrm>
            <a:off x="907574" y="3570260"/>
            <a:ext cx="2532762" cy="0"/>
          </a:xfrm>
          <a:prstGeom prst="line">
            <a:avLst/>
          </a:prstGeom>
          <a:noFill/>
          <a:ln w="508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eaLnBrk="1" hangingPunct="1">
              <a:defRPr/>
            </a:pPr>
            <a:endParaRPr lang="en-US" sz="2403">
              <a:latin typeface="Garamond" pitchFamily="18" charset="0"/>
              <a:cs typeface="Times New Roman" pitchFamily="18" charset="0"/>
            </a:endParaRPr>
          </a:p>
        </p:txBody>
      </p:sp>
      <p:sp>
        <p:nvSpPr>
          <p:cNvPr id="14" name="Line 12"/>
          <p:cNvSpPr>
            <a:spLocks noChangeShapeType="1"/>
          </p:cNvSpPr>
          <p:nvPr/>
        </p:nvSpPr>
        <p:spPr bwMode="auto">
          <a:xfrm>
            <a:off x="844519" y="3916701"/>
            <a:ext cx="2534263" cy="0"/>
          </a:xfrm>
          <a:prstGeom prst="line">
            <a:avLst/>
          </a:prstGeom>
          <a:noFill/>
          <a:ln w="508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eaLnBrk="1" hangingPunct="1">
              <a:defRPr/>
            </a:pPr>
            <a:endParaRPr lang="en-US" sz="2403">
              <a:latin typeface="Garamond" pitchFamily="18" charset="0"/>
              <a:cs typeface="Times New Roman" pitchFamily="18" charset="0"/>
            </a:endParaRPr>
          </a:p>
        </p:txBody>
      </p:sp>
      <p:sp>
        <p:nvSpPr>
          <p:cNvPr id="15" name="Oval 14"/>
          <p:cNvSpPr>
            <a:spLocks noChangeArrowheads="1"/>
          </p:cNvSpPr>
          <p:nvPr/>
        </p:nvSpPr>
        <p:spPr bwMode="auto">
          <a:xfrm>
            <a:off x="5447629" y="2421053"/>
            <a:ext cx="1484826" cy="1494122"/>
          </a:xfrm>
          <a:prstGeom prst="ellipse">
            <a:avLst/>
          </a:prstGeom>
          <a:solidFill>
            <a:srgbClr val="00B0F0"/>
          </a:solidFill>
          <a:ln w="50800">
            <a:solidFill>
              <a:srgbClr val="0070C0"/>
            </a:solidFill>
            <a:round/>
            <a:headEnd/>
            <a:tailEnd/>
          </a:ln>
        </p:spPr>
        <p:txBody>
          <a:bodyPr wrap="none" anchor="ct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eaLnBrk="1" hangingPunct="1">
              <a:lnSpc>
                <a:spcPct val="90000"/>
              </a:lnSpc>
              <a:defRPr/>
            </a:pPr>
            <a:endParaRPr lang="en-US" altLang="en-US" sz="3204">
              <a:solidFill>
                <a:schemeClr val="tx1"/>
              </a:solidFill>
              <a:cs typeface="Times New Roman" pitchFamily="18" charset="0"/>
            </a:endParaRPr>
          </a:p>
        </p:txBody>
      </p:sp>
      <p:sp>
        <p:nvSpPr>
          <p:cNvPr id="16" name="Line 15"/>
          <p:cNvSpPr>
            <a:spLocks noChangeShapeType="1"/>
          </p:cNvSpPr>
          <p:nvPr/>
        </p:nvSpPr>
        <p:spPr bwMode="auto">
          <a:xfrm>
            <a:off x="4839586" y="3147510"/>
            <a:ext cx="2532762" cy="0"/>
          </a:xfrm>
          <a:prstGeom prst="line">
            <a:avLst/>
          </a:prstGeom>
          <a:noFill/>
          <a:ln w="50800">
            <a:solidFill>
              <a:srgbClr val="FF0000"/>
            </a:solidFill>
            <a:round/>
            <a:headEnd type="triangle" w="med" len="med"/>
            <a:tailEnd/>
          </a:ln>
          <a:extLst>
            <a:ext uri="{909E8E84-426E-40DD-AFC4-6F175D3DCCD1}">
              <a14:hiddenFill xmlns:a14="http://schemas.microsoft.com/office/drawing/2010/main">
                <a:noFill/>
              </a14:hiddenFill>
            </a:ext>
          </a:extLst>
        </p:spPr>
        <p:txBody>
          <a:bodyPr wrap="none" anchor="ctr"/>
          <a:lstStyle/>
          <a:p>
            <a:pPr eaLnBrk="1" hangingPunct="1">
              <a:defRPr/>
            </a:pPr>
            <a:endParaRPr lang="en-US" sz="2403">
              <a:latin typeface="Garamond" pitchFamily="18" charset="0"/>
              <a:cs typeface="Times New Roman" pitchFamily="18" charset="0"/>
            </a:endParaRPr>
          </a:p>
        </p:txBody>
      </p:sp>
      <p:sp>
        <p:nvSpPr>
          <p:cNvPr id="17" name="Line 16"/>
          <p:cNvSpPr>
            <a:spLocks noChangeShapeType="1"/>
          </p:cNvSpPr>
          <p:nvPr/>
        </p:nvSpPr>
        <p:spPr bwMode="auto">
          <a:xfrm>
            <a:off x="4817066" y="2405791"/>
            <a:ext cx="2532762" cy="0"/>
          </a:xfrm>
          <a:prstGeom prst="line">
            <a:avLst/>
          </a:prstGeom>
          <a:noFill/>
          <a:ln w="50800">
            <a:solidFill>
              <a:srgbClr val="FF0000"/>
            </a:solidFill>
            <a:round/>
            <a:headEnd type="triangle" w="med" len="med"/>
            <a:tailEnd/>
          </a:ln>
          <a:extLst>
            <a:ext uri="{909E8E84-426E-40DD-AFC4-6F175D3DCCD1}">
              <a14:hiddenFill xmlns:a14="http://schemas.microsoft.com/office/drawing/2010/main">
                <a:noFill/>
              </a14:hiddenFill>
            </a:ext>
          </a:extLst>
        </p:spPr>
        <p:txBody>
          <a:bodyPr wrap="none" anchor="ctr"/>
          <a:lstStyle/>
          <a:p>
            <a:pPr eaLnBrk="1" hangingPunct="1">
              <a:defRPr/>
            </a:pPr>
            <a:endParaRPr lang="en-US" sz="2403">
              <a:latin typeface="Garamond" pitchFamily="18" charset="0"/>
              <a:cs typeface="Times New Roman" pitchFamily="18" charset="0"/>
            </a:endParaRPr>
          </a:p>
        </p:txBody>
      </p:sp>
      <p:sp>
        <p:nvSpPr>
          <p:cNvPr id="18" name="Line 17"/>
          <p:cNvSpPr>
            <a:spLocks noChangeShapeType="1"/>
          </p:cNvSpPr>
          <p:nvPr/>
        </p:nvSpPr>
        <p:spPr bwMode="auto">
          <a:xfrm>
            <a:off x="4839586" y="2738496"/>
            <a:ext cx="2532762" cy="0"/>
          </a:xfrm>
          <a:prstGeom prst="line">
            <a:avLst/>
          </a:prstGeom>
          <a:noFill/>
          <a:ln w="50800">
            <a:solidFill>
              <a:srgbClr val="FF0000"/>
            </a:solidFill>
            <a:round/>
            <a:headEnd type="triangle" w="med" len="med"/>
            <a:tailEnd/>
          </a:ln>
          <a:extLst>
            <a:ext uri="{909E8E84-426E-40DD-AFC4-6F175D3DCCD1}">
              <a14:hiddenFill xmlns:a14="http://schemas.microsoft.com/office/drawing/2010/main">
                <a:noFill/>
              </a14:hiddenFill>
            </a:ext>
          </a:extLst>
        </p:spPr>
        <p:txBody>
          <a:bodyPr wrap="none" anchor="ctr"/>
          <a:lstStyle/>
          <a:p>
            <a:pPr eaLnBrk="1" hangingPunct="1">
              <a:defRPr/>
            </a:pPr>
            <a:endParaRPr lang="en-US" sz="2403">
              <a:latin typeface="Garamond" pitchFamily="18" charset="0"/>
              <a:cs typeface="Times New Roman" pitchFamily="18" charset="0"/>
            </a:endParaRPr>
          </a:p>
        </p:txBody>
      </p:sp>
      <p:sp>
        <p:nvSpPr>
          <p:cNvPr id="19" name="Line 18"/>
          <p:cNvSpPr>
            <a:spLocks noChangeShapeType="1"/>
          </p:cNvSpPr>
          <p:nvPr/>
        </p:nvSpPr>
        <p:spPr bwMode="auto">
          <a:xfrm>
            <a:off x="4853098" y="3570260"/>
            <a:ext cx="2532762" cy="0"/>
          </a:xfrm>
          <a:prstGeom prst="line">
            <a:avLst/>
          </a:prstGeom>
          <a:noFill/>
          <a:ln w="50800">
            <a:solidFill>
              <a:srgbClr val="FF0000"/>
            </a:solidFill>
            <a:round/>
            <a:headEnd type="triangle" w="med" len="med"/>
            <a:tailEnd/>
          </a:ln>
          <a:extLst>
            <a:ext uri="{909E8E84-426E-40DD-AFC4-6F175D3DCCD1}">
              <a14:hiddenFill xmlns:a14="http://schemas.microsoft.com/office/drawing/2010/main">
                <a:noFill/>
              </a14:hiddenFill>
            </a:ext>
          </a:extLst>
        </p:spPr>
        <p:txBody>
          <a:bodyPr wrap="none" anchor="ctr"/>
          <a:lstStyle/>
          <a:p>
            <a:pPr eaLnBrk="1" hangingPunct="1">
              <a:defRPr/>
            </a:pPr>
            <a:endParaRPr lang="en-US" sz="2403">
              <a:latin typeface="Garamond" pitchFamily="18" charset="0"/>
              <a:cs typeface="Times New Roman" pitchFamily="18" charset="0"/>
            </a:endParaRPr>
          </a:p>
        </p:txBody>
      </p:sp>
      <p:sp>
        <p:nvSpPr>
          <p:cNvPr id="20" name="Line 19"/>
          <p:cNvSpPr>
            <a:spLocks noChangeShapeType="1"/>
          </p:cNvSpPr>
          <p:nvPr/>
        </p:nvSpPr>
        <p:spPr bwMode="auto">
          <a:xfrm>
            <a:off x="4808059" y="3935015"/>
            <a:ext cx="2534263" cy="0"/>
          </a:xfrm>
          <a:prstGeom prst="line">
            <a:avLst/>
          </a:prstGeom>
          <a:noFill/>
          <a:ln w="50800">
            <a:solidFill>
              <a:srgbClr val="FF0000"/>
            </a:solidFill>
            <a:round/>
            <a:headEnd type="triangle" w="med" len="med"/>
            <a:tailEnd/>
          </a:ln>
          <a:extLst>
            <a:ext uri="{909E8E84-426E-40DD-AFC4-6F175D3DCCD1}">
              <a14:hiddenFill xmlns:a14="http://schemas.microsoft.com/office/drawing/2010/main">
                <a:noFill/>
              </a14:hiddenFill>
            </a:ext>
          </a:extLst>
        </p:spPr>
        <p:txBody>
          <a:bodyPr wrap="none" anchor="ctr"/>
          <a:lstStyle/>
          <a:p>
            <a:pPr eaLnBrk="1" hangingPunct="1">
              <a:defRPr/>
            </a:pPr>
            <a:endParaRPr lang="en-US" sz="2403">
              <a:latin typeface="Garamond" pitchFamily="18" charset="0"/>
              <a:cs typeface="Times New Roman" pitchFamily="18" charset="0"/>
            </a:endParaRPr>
          </a:p>
        </p:txBody>
      </p:sp>
      <p:sp>
        <p:nvSpPr>
          <p:cNvPr id="21" name="Rectangle 21"/>
          <p:cNvSpPr>
            <a:spLocks noChangeArrowheads="1"/>
          </p:cNvSpPr>
          <p:nvPr/>
        </p:nvSpPr>
        <p:spPr bwMode="auto">
          <a:xfrm>
            <a:off x="1623715" y="4076949"/>
            <a:ext cx="1165041" cy="534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wrap="none" lIns="90614" tIns="44512" rIns="90614" bIns="44512">
            <a:spAutoFit/>
          </a:bodyP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eaLnBrk="1" hangingPunct="1">
              <a:lnSpc>
                <a:spcPct val="90000"/>
              </a:lnSpc>
              <a:defRPr/>
            </a:pPr>
            <a:r>
              <a:rPr lang="en-US" altLang="en-US" sz="3204">
                <a:solidFill>
                  <a:schemeClr val="tx1"/>
                </a:solidFill>
                <a:cs typeface="Times New Roman" pitchFamily="18" charset="0"/>
              </a:rPr>
              <a:t>f(x,y)</a:t>
            </a:r>
          </a:p>
        </p:txBody>
      </p:sp>
      <p:sp>
        <p:nvSpPr>
          <p:cNvPr id="22" name="Rectangle 22"/>
          <p:cNvSpPr>
            <a:spLocks noChangeArrowheads="1"/>
          </p:cNvSpPr>
          <p:nvPr/>
        </p:nvSpPr>
        <p:spPr bwMode="auto">
          <a:xfrm>
            <a:off x="5534708" y="4080001"/>
            <a:ext cx="1165041" cy="534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wrap="none" lIns="90614" tIns="44512" rIns="90614" bIns="44512">
            <a:spAutoFit/>
          </a:bodyP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eaLnBrk="1" hangingPunct="1">
              <a:lnSpc>
                <a:spcPct val="90000"/>
              </a:lnSpc>
              <a:defRPr/>
            </a:pPr>
            <a:r>
              <a:rPr lang="en-US" altLang="en-US" sz="3204">
                <a:solidFill>
                  <a:schemeClr val="tx1"/>
                </a:solidFill>
                <a:cs typeface="Times New Roman" pitchFamily="18" charset="0"/>
              </a:rPr>
              <a:t>f(x,y)</a:t>
            </a:r>
          </a:p>
        </p:txBody>
      </p:sp>
      <p:sp>
        <p:nvSpPr>
          <p:cNvPr id="23" name="Arc 23"/>
          <p:cNvSpPr>
            <a:spLocks/>
          </p:cNvSpPr>
          <p:nvPr/>
        </p:nvSpPr>
        <p:spPr bwMode="auto">
          <a:xfrm>
            <a:off x="7232724" y="3959435"/>
            <a:ext cx="177158" cy="224347"/>
          </a:xfrm>
          <a:custGeom>
            <a:avLst/>
            <a:gdLst>
              <a:gd name="T0" fmla="*/ 0 w 21600"/>
              <a:gd name="T1" fmla="*/ 0 h 21599"/>
              <a:gd name="T2" fmla="*/ 0 w 21600"/>
              <a:gd name="T3" fmla="*/ 0 h 21599"/>
              <a:gd name="T4" fmla="*/ 0 w 21600"/>
              <a:gd name="T5" fmla="*/ 0 h 21599"/>
              <a:gd name="T6" fmla="*/ 0 60000 65536"/>
              <a:gd name="T7" fmla="*/ 0 60000 65536"/>
              <a:gd name="T8" fmla="*/ 0 60000 65536"/>
              <a:gd name="T9" fmla="*/ 0 w 21600"/>
              <a:gd name="T10" fmla="*/ 0 h 21599"/>
              <a:gd name="T11" fmla="*/ 21600 w 21600"/>
              <a:gd name="T12" fmla="*/ 21599 h 21599"/>
            </a:gdLst>
            <a:ahLst/>
            <a:cxnLst>
              <a:cxn ang="T6">
                <a:pos x="T0" y="T1"/>
              </a:cxn>
              <a:cxn ang="T7">
                <a:pos x="T2" y="T3"/>
              </a:cxn>
              <a:cxn ang="T8">
                <a:pos x="T4" y="T5"/>
              </a:cxn>
            </a:cxnLst>
            <a:rect l="T9" t="T10" r="T11" b="T12"/>
            <a:pathLst>
              <a:path w="21600" h="21599" fill="none" extrusionOk="0">
                <a:moveTo>
                  <a:pt x="0" y="21599"/>
                </a:moveTo>
                <a:cubicBezTo>
                  <a:pt x="0" y="9741"/>
                  <a:pt x="9558" y="100"/>
                  <a:pt x="21415" y="-1"/>
                </a:cubicBezTo>
              </a:path>
              <a:path w="21600" h="21599" stroke="0" extrusionOk="0">
                <a:moveTo>
                  <a:pt x="0" y="21599"/>
                </a:moveTo>
                <a:cubicBezTo>
                  <a:pt x="0" y="9741"/>
                  <a:pt x="9558" y="100"/>
                  <a:pt x="21415" y="-1"/>
                </a:cubicBezTo>
                <a:lnTo>
                  <a:pt x="21600" y="21599"/>
                </a:lnTo>
                <a:lnTo>
                  <a:pt x="0" y="21599"/>
                </a:lnTo>
                <a:close/>
              </a:path>
            </a:pathLst>
          </a:custGeom>
          <a:noFill/>
          <a:ln w="50800" cap="rnd">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defRPr/>
            </a:pPr>
            <a:endParaRPr lang="en-US" sz="2403">
              <a:latin typeface="Garamond" pitchFamily="18" charset="0"/>
              <a:cs typeface="Times New Roman" pitchFamily="18" charset="0"/>
            </a:endParaRPr>
          </a:p>
        </p:txBody>
      </p:sp>
      <p:sp>
        <p:nvSpPr>
          <p:cNvPr id="24" name="Arc 24"/>
          <p:cNvSpPr>
            <a:spLocks/>
          </p:cNvSpPr>
          <p:nvPr/>
        </p:nvSpPr>
        <p:spPr bwMode="auto">
          <a:xfrm>
            <a:off x="7256746" y="2128029"/>
            <a:ext cx="129115" cy="218243"/>
          </a:xfrm>
          <a:custGeom>
            <a:avLst/>
            <a:gdLst>
              <a:gd name="T0" fmla="*/ 0 w 21600"/>
              <a:gd name="T1" fmla="*/ 0 h 21599"/>
              <a:gd name="T2" fmla="*/ 0 w 21600"/>
              <a:gd name="T3" fmla="*/ 0 h 21599"/>
              <a:gd name="T4" fmla="*/ 0 w 21600"/>
              <a:gd name="T5" fmla="*/ 0 h 21599"/>
              <a:gd name="T6" fmla="*/ 0 60000 65536"/>
              <a:gd name="T7" fmla="*/ 0 60000 65536"/>
              <a:gd name="T8" fmla="*/ 0 60000 65536"/>
              <a:gd name="T9" fmla="*/ 0 w 21600"/>
              <a:gd name="T10" fmla="*/ 0 h 21599"/>
              <a:gd name="T11" fmla="*/ 21600 w 21600"/>
              <a:gd name="T12" fmla="*/ 21599 h 21599"/>
            </a:gdLst>
            <a:ahLst/>
            <a:cxnLst>
              <a:cxn ang="T6">
                <a:pos x="T0" y="T1"/>
              </a:cxn>
              <a:cxn ang="T7">
                <a:pos x="T2" y="T3"/>
              </a:cxn>
              <a:cxn ang="T8">
                <a:pos x="T4" y="T5"/>
              </a:cxn>
            </a:cxnLst>
            <a:rect l="T9" t="T10" r="T11" b="T12"/>
            <a:pathLst>
              <a:path w="21600" h="21599" fill="none" extrusionOk="0">
                <a:moveTo>
                  <a:pt x="21347" y="21598"/>
                </a:moveTo>
                <a:cubicBezTo>
                  <a:pt x="9517" y="21459"/>
                  <a:pt x="0" y="11830"/>
                  <a:pt x="0" y="0"/>
                </a:cubicBezTo>
              </a:path>
              <a:path w="21600" h="21599" stroke="0" extrusionOk="0">
                <a:moveTo>
                  <a:pt x="21347" y="21598"/>
                </a:moveTo>
                <a:cubicBezTo>
                  <a:pt x="9517" y="21459"/>
                  <a:pt x="0" y="11830"/>
                  <a:pt x="0" y="0"/>
                </a:cubicBezTo>
                <a:lnTo>
                  <a:pt x="21600" y="0"/>
                </a:lnTo>
                <a:lnTo>
                  <a:pt x="21347" y="21598"/>
                </a:lnTo>
                <a:close/>
              </a:path>
            </a:pathLst>
          </a:custGeom>
          <a:noFill/>
          <a:ln w="50800" cap="rnd">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defRPr/>
            </a:pPr>
            <a:endParaRPr lang="en-US" sz="2403">
              <a:latin typeface="Garamond" pitchFamily="18" charset="0"/>
              <a:cs typeface="Times New Roman" pitchFamily="18" charset="0"/>
            </a:endParaRPr>
          </a:p>
        </p:txBody>
      </p:sp>
      <p:sp>
        <p:nvSpPr>
          <p:cNvPr id="25" name="Rectangle 25"/>
          <p:cNvSpPr>
            <a:spLocks noChangeArrowheads="1"/>
          </p:cNvSpPr>
          <p:nvPr/>
        </p:nvSpPr>
        <p:spPr bwMode="auto">
          <a:xfrm>
            <a:off x="3569452" y="2028826"/>
            <a:ext cx="1184558" cy="534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wrap="none" lIns="90614" tIns="44512" rIns="90614" bIns="44512">
            <a:spAutoFit/>
          </a:bodyP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eaLnBrk="1" hangingPunct="1">
              <a:lnSpc>
                <a:spcPct val="90000"/>
              </a:lnSpc>
              <a:defRPr/>
            </a:pPr>
            <a:r>
              <a:rPr lang="en-US" altLang="en-US" sz="3204">
                <a:solidFill>
                  <a:schemeClr val="tx1"/>
                </a:solidFill>
                <a:cs typeface="Times New Roman" pitchFamily="18" charset="0"/>
              </a:rPr>
              <a:t>P(</a:t>
            </a:r>
            <a:r>
              <a:rPr lang="en-US" altLang="en-US" sz="3204">
                <a:solidFill>
                  <a:schemeClr val="tx1"/>
                </a:solidFill>
                <a:latin typeface="Symbol" panose="05050102010706020507" pitchFamily="18" charset="2"/>
                <a:cs typeface="Times New Roman" pitchFamily="18" charset="0"/>
              </a:rPr>
              <a:t></a:t>
            </a:r>
            <a:r>
              <a:rPr lang="en-US" altLang="en-US" sz="3204">
                <a:solidFill>
                  <a:schemeClr val="tx1"/>
                </a:solidFill>
                <a:cs typeface="Times New Roman" pitchFamily="18" charset="0"/>
              </a:rPr>
              <a:t>t)</a:t>
            </a:r>
          </a:p>
        </p:txBody>
      </p:sp>
      <p:sp>
        <p:nvSpPr>
          <p:cNvPr id="26" name="Rectangle 26"/>
          <p:cNvSpPr>
            <a:spLocks noChangeArrowheads="1"/>
          </p:cNvSpPr>
          <p:nvPr/>
        </p:nvSpPr>
        <p:spPr bwMode="auto">
          <a:xfrm>
            <a:off x="7525485" y="2028826"/>
            <a:ext cx="1298660" cy="534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wrap="none" lIns="90614" tIns="44512" rIns="90614" bIns="44512">
            <a:spAutoFit/>
          </a:bodyP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eaLnBrk="1" hangingPunct="1">
              <a:lnSpc>
                <a:spcPct val="90000"/>
              </a:lnSpc>
              <a:defRPr/>
            </a:pPr>
            <a:r>
              <a:rPr lang="en-US" altLang="en-US" sz="3204">
                <a:solidFill>
                  <a:schemeClr val="tx1"/>
                </a:solidFill>
                <a:cs typeface="Times New Roman" pitchFamily="18" charset="0"/>
              </a:rPr>
              <a:t>P’(</a:t>
            </a:r>
            <a:r>
              <a:rPr lang="en-US" altLang="en-US" sz="3204">
                <a:solidFill>
                  <a:schemeClr val="tx1"/>
                </a:solidFill>
                <a:latin typeface="Symbol" panose="05050102010706020507" pitchFamily="18" charset="2"/>
                <a:cs typeface="Times New Roman" pitchFamily="18" charset="0"/>
              </a:rPr>
              <a:t></a:t>
            </a:r>
            <a:r>
              <a:rPr lang="en-US" altLang="en-US" sz="3204">
                <a:solidFill>
                  <a:schemeClr val="tx1"/>
                </a:solidFill>
                <a:cs typeface="Times New Roman" pitchFamily="18" charset="0"/>
              </a:rPr>
              <a:t>t)</a:t>
            </a:r>
          </a:p>
        </p:txBody>
      </p:sp>
      <p:sp>
        <p:nvSpPr>
          <p:cNvPr id="27" name="Rectangle 27"/>
          <p:cNvSpPr>
            <a:spLocks noChangeArrowheads="1"/>
          </p:cNvSpPr>
          <p:nvPr/>
        </p:nvSpPr>
        <p:spPr bwMode="auto">
          <a:xfrm>
            <a:off x="981140" y="4791197"/>
            <a:ext cx="6263594" cy="868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wrap="none" lIns="90614" tIns="44512" rIns="90614" bIns="44512">
            <a:spAutoFit/>
          </a:bodyP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eaLnBrk="1" hangingPunct="1">
              <a:lnSpc>
                <a:spcPct val="90000"/>
              </a:lnSpc>
              <a:defRPr/>
            </a:pPr>
            <a:r>
              <a:rPr lang="en-US" altLang="en-US" sz="2804">
                <a:solidFill>
                  <a:schemeClr val="tx1"/>
                </a:solidFill>
                <a:cs typeface="Times New Roman" pitchFamily="18" charset="0"/>
              </a:rPr>
              <a:t>1) Convolve projections with a filter</a:t>
            </a:r>
          </a:p>
          <a:p>
            <a:pPr eaLnBrk="1" hangingPunct="1">
              <a:lnSpc>
                <a:spcPct val="90000"/>
              </a:lnSpc>
              <a:defRPr/>
            </a:pPr>
            <a:r>
              <a:rPr lang="en-US" altLang="en-US" sz="2804">
                <a:solidFill>
                  <a:schemeClr val="tx1"/>
                </a:solidFill>
                <a:cs typeface="Times New Roman" pitchFamily="18" charset="0"/>
              </a:rPr>
              <a:t>2) Backproject filtered projections</a:t>
            </a:r>
          </a:p>
        </p:txBody>
      </p:sp>
      <p:sp>
        <p:nvSpPr>
          <p:cNvPr id="28" name="Line 13"/>
          <p:cNvSpPr>
            <a:spLocks noChangeShapeType="1"/>
          </p:cNvSpPr>
          <p:nvPr/>
        </p:nvSpPr>
        <p:spPr bwMode="auto">
          <a:xfrm>
            <a:off x="3464358" y="1944888"/>
            <a:ext cx="0" cy="2603649"/>
          </a:xfrm>
          <a:prstGeom prst="line">
            <a:avLst/>
          </a:prstGeom>
          <a:noFill/>
          <a:ln w="76200">
            <a:solidFill>
              <a:schemeClr val="tx2"/>
            </a:solidFill>
            <a:round/>
            <a:headEnd/>
            <a:tailEnd/>
          </a:ln>
          <a:extLst>
            <a:ext uri="{909E8E84-426E-40DD-AFC4-6F175D3DCCD1}">
              <a14:hiddenFill xmlns:a14="http://schemas.microsoft.com/office/drawing/2010/main">
                <a:noFill/>
              </a14:hiddenFill>
            </a:ext>
          </a:extLst>
        </p:spPr>
        <p:txBody>
          <a:bodyPr wrap="none" anchor="ctr"/>
          <a:lstStyle/>
          <a:p>
            <a:pPr eaLnBrk="1" hangingPunct="1">
              <a:defRPr/>
            </a:pPr>
            <a:endParaRPr lang="en-US" sz="2403">
              <a:latin typeface="Garamond" pitchFamily="18" charset="0"/>
              <a:cs typeface="Times New Roman" pitchFamily="18" charset="0"/>
            </a:endParaRPr>
          </a:p>
        </p:txBody>
      </p:sp>
      <p:sp>
        <p:nvSpPr>
          <p:cNvPr id="29" name="Line 20"/>
          <p:cNvSpPr>
            <a:spLocks noChangeShapeType="1"/>
          </p:cNvSpPr>
          <p:nvPr/>
        </p:nvSpPr>
        <p:spPr bwMode="auto">
          <a:xfrm>
            <a:off x="7409882" y="1944888"/>
            <a:ext cx="0" cy="2603649"/>
          </a:xfrm>
          <a:prstGeom prst="line">
            <a:avLst/>
          </a:prstGeom>
          <a:noFill/>
          <a:ln w="76200">
            <a:solidFill>
              <a:schemeClr val="tx2"/>
            </a:solidFill>
            <a:round/>
            <a:headEnd/>
            <a:tailEnd/>
          </a:ln>
          <a:extLst>
            <a:ext uri="{909E8E84-426E-40DD-AFC4-6F175D3DCCD1}">
              <a14:hiddenFill xmlns:a14="http://schemas.microsoft.com/office/drawing/2010/main">
                <a:noFill/>
              </a14:hiddenFill>
            </a:ext>
          </a:extLst>
        </p:spPr>
        <p:txBody>
          <a:bodyPr wrap="none" anchor="ctr"/>
          <a:lstStyle/>
          <a:p>
            <a:pPr eaLnBrk="1" hangingPunct="1">
              <a:defRPr/>
            </a:pPr>
            <a:endParaRPr lang="en-US" sz="2403">
              <a:latin typeface="Garamond" pitchFamily="18" charset="0"/>
              <a:cs typeface="Times New Roman" pitchFamily="18" charset="0"/>
            </a:endParaRPr>
          </a:p>
        </p:txBody>
      </p:sp>
    </p:spTree>
    <p:extLst>
      <p:ext uri="{BB962C8B-B14F-4D97-AF65-F5344CB8AC3E}">
        <p14:creationId xmlns:p14="http://schemas.microsoft.com/office/powerpoint/2010/main" val="20244541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0" descr="C:\AAA\fproj.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41226" y="2437641"/>
            <a:ext cx="2925198" cy="203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0" name="Picture 15" descr="C:\AAA\proj.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5711" y="2437641"/>
            <a:ext cx="2934955" cy="203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1" name="Rectangle 17"/>
          <p:cNvSpPr>
            <a:spLocks noChangeArrowheads="1"/>
          </p:cNvSpPr>
          <p:nvPr/>
        </p:nvSpPr>
        <p:spPr bwMode="auto">
          <a:xfrm>
            <a:off x="6069390" y="2128104"/>
            <a:ext cx="1913536" cy="28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56483" tIns="22593" rIns="56483" bIns="22593">
            <a:spAutoFit/>
          </a:bodyP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gn="ctr">
              <a:lnSpc>
                <a:spcPct val="88000"/>
              </a:lnSpc>
            </a:pPr>
            <a:r>
              <a:rPr lang="en-US" altLang="en-US" sz="1776" b="0" i="1" dirty="0">
                <a:solidFill>
                  <a:schemeClr val="tx1"/>
                </a:solidFill>
              </a:rPr>
              <a:t>Filtered Sinogram</a:t>
            </a:r>
          </a:p>
        </p:txBody>
      </p:sp>
      <p:sp>
        <p:nvSpPr>
          <p:cNvPr id="14342" name="Rectangle 18"/>
          <p:cNvSpPr>
            <a:spLocks noChangeArrowheads="1"/>
          </p:cNvSpPr>
          <p:nvPr/>
        </p:nvSpPr>
        <p:spPr bwMode="auto">
          <a:xfrm>
            <a:off x="2412661" y="2128104"/>
            <a:ext cx="1090052" cy="28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56483" tIns="22593" rIns="56483" bIns="22593">
            <a:spAutoFit/>
          </a:bodyP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gn="ctr">
              <a:lnSpc>
                <a:spcPct val="88000"/>
              </a:lnSpc>
            </a:pPr>
            <a:r>
              <a:rPr lang="en-US" altLang="en-US" sz="1776" b="0" i="1" dirty="0">
                <a:solidFill>
                  <a:schemeClr val="tx1"/>
                </a:solidFill>
              </a:rPr>
              <a:t>Sinogram</a:t>
            </a:r>
          </a:p>
        </p:txBody>
      </p:sp>
      <p:sp>
        <p:nvSpPr>
          <p:cNvPr id="8" name="Right Arrow 7"/>
          <p:cNvSpPr/>
          <p:nvPr/>
        </p:nvSpPr>
        <p:spPr bwMode="auto">
          <a:xfrm>
            <a:off x="4454694" y="3190650"/>
            <a:ext cx="1087309" cy="524569"/>
          </a:xfrm>
          <a:prstGeom prst="rightArrow">
            <a:avLst/>
          </a:prstGeom>
          <a:solidFill>
            <a:srgbClr val="FFC000"/>
          </a:solidFill>
          <a:ln w="9525" cap="flat" cmpd="sng" algn="ctr">
            <a:noFill/>
            <a:prstDash val="solid"/>
            <a:round/>
            <a:headEnd type="none" w="med" len="med"/>
            <a:tailEnd type="none" w="med" len="med"/>
          </a:ln>
          <a:effectLst/>
        </p:spPr>
        <p:txBody>
          <a:bodyPr vert="horz" wrap="square" lIns="81224" tIns="40611" rIns="81224" bIns="40611" numCol="1" rtlCol="0" anchor="t" anchorCtr="0" compatLnSpc="1">
            <a:prstTxWarp prst="textNoShape">
              <a:avLst/>
            </a:prstTxWarp>
          </a:bodyPr>
          <a:lstStyle/>
          <a:p>
            <a:pPr algn="ctr" defTabSz="812209"/>
            <a:endParaRPr lang="en-US" sz="1776" dirty="0" err="1"/>
          </a:p>
        </p:txBody>
      </p:sp>
      <p:sp>
        <p:nvSpPr>
          <p:cNvPr id="7" name="Title 1"/>
          <p:cNvSpPr>
            <a:spLocks noGrp="1"/>
          </p:cNvSpPr>
          <p:nvPr>
            <p:ph type="title"/>
          </p:nvPr>
        </p:nvSpPr>
        <p:spPr>
          <a:xfrm>
            <a:off x="1676401" y="518493"/>
            <a:ext cx="8839200" cy="744548"/>
          </a:xfrm>
        </p:spPr>
        <p:txBody>
          <a:bodyPr/>
          <a:lstStyle/>
          <a:p>
            <a:r>
              <a:rPr lang="en-US" dirty="0"/>
              <a:t>Projection to Filtered Projection</a:t>
            </a:r>
          </a:p>
        </p:txBody>
      </p:sp>
    </p:spTree>
    <p:extLst>
      <p:ext uri="{BB962C8B-B14F-4D97-AF65-F5344CB8AC3E}">
        <p14:creationId xmlns:p14="http://schemas.microsoft.com/office/powerpoint/2010/main" val="217282520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8" descr="C:\AAA\fproj.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1888" y="2598638"/>
            <a:ext cx="2902700" cy="203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5" name="Picture 7" descr="C:\AAA\filtback.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51260" y="2598638"/>
            <a:ext cx="2030587" cy="203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6" name="Rectangle 9"/>
          <p:cNvSpPr>
            <a:spLocks noChangeArrowheads="1"/>
          </p:cNvSpPr>
          <p:nvPr/>
        </p:nvSpPr>
        <p:spPr bwMode="auto">
          <a:xfrm>
            <a:off x="1763131" y="2292228"/>
            <a:ext cx="1913536" cy="28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56483" tIns="22593" rIns="56483" bIns="22593">
            <a:spAutoFit/>
          </a:bodyP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gn="ctr">
              <a:lnSpc>
                <a:spcPct val="88000"/>
              </a:lnSpc>
            </a:pPr>
            <a:r>
              <a:rPr lang="en-US" altLang="en-US" sz="1776" b="0" i="1" dirty="0">
                <a:solidFill>
                  <a:schemeClr val="tx1"/>
                </a:solidFill>
              </a:rPr>
              <a:t>Filtered Sinogram</a:t>
            </a:r>
          </a:p>
        </p:txBody>
      </p:sp>
      <p:sp>
        <p:nvSpPr>
          <p:cNvPr id="15367" name="Rectangle 10"/>
          <p:cNvSpPr>
            <a:spLocks noChangeArrowheads="1"/>
          </p:cNvSpPr>
          <p:nvPr/>
        </p:nvSpPr>
        <p:spPr bwMode="auto">
          <a:xfrm>
            <a:off x="5120686" y="2309172"/>
            <a:ext cx="2276319" cy="28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56483" tIns="22593" rIns="56483" bIns="22593">
            <a:spAutoFit/>
          </a:bodyPr>
          <a:lstStyle>
            <a:lvl1pPr>
              <a:defRPr sz="3200" b="1">
                <a:solidFill>
                  <a:srgbClr val="FAFD00"/>
                </a:solidFill>
                <a:latin typeface="Arial" panose="020B0604020202020204" pitchFamily="34" charset="0"/>
              </a:defRPr>
            </a:lvl1pPr>
            <a:lvl2pPr marL="742950" indent="-285750">
              <a:defRPr sz="3200" b="1">
                <a:solidFill>
                  <a:srgbClr val="FAFD00"/>
                </a:solidFill>
                <a:latin typeface="Arial" panose="020B0604020202020204" pitchFamily="34" charset="0"/>
              </a:defRPr>
            </a:lvl2pPr>
            <a:lvl3pPr marL="1143000" indent="-228600">
              <a:defRPr sz="3200" b="1">
                <a:solidFill>
                  <a:srgbClr val="FAFD00"/>
                </a:solidFill>
                <a:latin typeface="Arial" panose="020B0604020202020204" pitchFamily="34" charset="0"/>
              </a:defRPr>
            </a:lvl3pPr>
            <a:lvl4pPr marL="1600200" indent="-228600">
              <a:defRPr sz="3200" b="1">
                <a:solidFill>
                  <a:srgbClr val="FAFD00"/>
                </a:solidFill>
                <a:latin typeface="Arial" panose="020B0604020202020204" pitchFamily="34" charset="0"/>
              </a:defRPr>
            </a:lvl4pPr>
            <a:lvl5pPr marL="2057400" indent="-228600">
              <a:defRPr sz="3200" b="1">
                <a:solidFill>
                  <a:srgbClr val="FAFD00"/>
                </a:solidFill>
                <a:latin typeface="Arial" panose="020B0604020202020204" pitchFamily="34" charset="0"/>
              </a:defRPr>
            </a:lvl5pPr>
            <a:lvl6pPr marL="2514600" indent="-228600" eaLnBrk="0" fontAlgn="base" hangingPunct="0">
              <a:spcBef>
                <a:spcPct val="0"/>
              </a:spcBef>
              <a:spcAft>
                <a:spcPct val="0"/>
              </a:spcAft>
              <a:defRPr sz="3200" b="1">
                <a:solidFill>
                  <a:srgbClr val="FAFD00"/>
                </a:solidFill>
                <a:latin typeface="Arial" panose="020B0604020202020204" pitchFamily="34" charset="0"/>
              </a:defRPr>
            </a:lvl6pPr>
            <a:lvl7pPr marL="2971800" indent="-228600" eaLnBrk="0" fontAlgn="base" hangingPunct="0">
              <a:spcBef>
                <a:spcPct val="0"/>
              </a:spcBef>
              <a:spcAft>
                <a:spcPct val="0"/>
              </a:spcAft>
              <a:defRPr sz="3200" b="1">
                <a:solidFill>
                  <a:srgbClr val="FAFD00"/>
                </a:solidFill>
                <a:latin typeface="Arial" panose="020B0604020202020204" pitchFamily="34" charset="0"/>
              </a:defRPr>
            </a:lvl7pPr>
            <a:lvl8pPr marL="3429000" indent="-228600" eaLnBrk="0" fontAlgn="base" hangingPunct="0">
              <a:spcBef>
                <a:spcPct val="0"/>
              </a:spcBef>
              <a:spcAft>
                <a:spcPct val="0"/>
              </a:spcAft>
              <a:defRPr sz="3200" b="1">
                <a:solidFill>
                  <a:srgbClr val="FAFD00"/>
                </a:solidFill>
                <a:latin typeface="Arial" panose="020B0604020202020204" pitchFamily="34" charset="0"/>
              </a:defRPr>
            </a:lvl8pPr>
            <a:lvl9pPr marL="3886200" indent="-228600" eaLnBrk="0" fontAlgn="base" hangingPunct="0">
              <a:spcBef>
                <a:spcPct val="0"/>
              </a:spcBef>
              <a:spcAft>
                <a:spcPct val="0"/>
              </a:spcAft>
              <a:defRPr sz="3200" b="1">
                <a:solidFill>
                  <a:srgbClr val="FAFD00"/>
                </a:solidFill>
                <a:latin typeface="Arial" panose="020B0604020202020204" pitchFamily="34" charset="0"/>
              </a:defRPr>
            </a:lvl9pPr>
          </a:lstStyle>
          <a:p>
            <a:pPr algn="ctr">
              <a:lnSpc>
                <a:spcPct val="88000"/>
              </a:lnSpc>
            </a:pPr>
            <a:r>
              <a:rPr lang="en-US" altLang="en-US" sz="1776" b="0" i="1">
                <a:solidFill>
                  <a:schemeClr val="tx1"/>
                </a:solidFill>
              </a:rPr>
              <a:t>Reconstructed Image</a:t>
            </a:r>
          </a:p>
        </p:txBody>
      </p:sp>
      <p:sp>
        <p:nvSpPr>
          <p:cNvPr id="2" name="Right Arrow 1"/>
          <p:cNvSpPr/>
          <p:nvPr/>
        </p:nvSpPr>
        <p:spPr bwMode="auto">
          <a:xfrm>
            <a:off x="4159270" y="3351647"/>
            <a:ext cx="1087309" cy="524569"/>
          </a:xfrm>
          <a:prstGeom prst="rightArrow">
            <a:avLst/>
          </a:prstGeom>
          <a:solidFill>
            <a:srgbClr val="FFC000"/>
          </a:solidFill>
          <a:ln w="9525" cap="flat" cmpd="sng" algn="ctr">
            <a:noFill/>
            <a:prstDash val="solid"/>
            <a:round/>
            <a:headEnd type="none" w="med" len="med"/>
            <a:tailEnd type="none" w="med" len="med"/>
          </a:ln>
          <a:effectLst/>
        </p:spPr>
        <p:txBody>
          <a:bodyPr vert="horz" wrap="square" lIns="81224" tIns="40611" rIns="81224" bIns="40611" numCol="1" rtlCol="0" anchor="t" anchorCtr="0" compatLnSpc="1">
            <a:prstTxWarp prst="textNoShape">
              <a:avLst/>
            </a:prstTxWarp>
          </a:bodyPr>
          <a:lstStyle/>
          <a:p>
            <a:pPr algn="ctr" defTabSz="812209"/>
            <a:endParaRPr lang="en-US" sz="1776" dirty="0" err="1"/>
          </a:p>
        </p:txBody>
      </p:sp>
      <p:sp>
        <p:nvSpPr>
          <p:cNvPr id="7" name="Title 1"/>
          <p:cNvSpPr>
            <a:spLocks noGrp="1"/>
          </p:cNvSpPr>
          <p:nvPr>
            <p:ph type="title"/>
          </p:nvPr>
        </p:nvSpPr>
        <p:spPr>
          <a:xfrm>
            <a:off x="1676401" y="518493"/>
            <a:ext cx="8839200" cy="744548"/>
          </a:xfrm>
        </p:spPr>
        <p:txBody>
          <a:bodyPr/>
          <a:lstStyle/>
          <a:p>
            <a:r>
              <a:rPr lang="en-US" dirty="0"/>
              <a:t>Filtered Backprojection to Image</a:t>
            </a:r>
          </a:p>
        </p:txBody>
      </p:sp>
    </p:spTree>
    <p:extLst>
      <p:ext uri="{BB962C8B-B14F-4D97-AF65-F5344CB8AC3E}">
        <p14:creationId xmlns:p14="http://schemas.microsoft.com/office/powerpoint/2010/main" val="9256729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Radon Transform</a:t>
            </a:r>
          </a:p>
        </p:txBody>
      </p:sp>
      <p:pic>
        <p:nvPicPr>
          <p:cNvPr id="4" name="Picture 3"/>
          <p:cNvPicPr>
            <a:picLocks noChangeAspect="1"/>
          </p:cNvPicPr>
          <p:nvPr/>
        </p:nvPicPr>
        <p:blipFill>
          <a:blip r:embed="rId3"/>
          <a:stretch>
            <a:fillRect/>
          </a:stretch>
        </p:blipFill>
        <p:spPr>
          <a:xfrm>
            <a:off x="785447" y="990600"/>
            <a:ext cx="8509525" cy="4534215"/>
          </a:xfrm>
          <a:prstGeom prst="rect">
            <a:avLst/>
          </a:prstGeom>
        </p:spPr>
      </p:pic>
    </p:spTree>
    <p:extLst>
      <p:ext uri="{BB962C8B-B14F-4D97-AF65-F5344CB8AC3E}">
        <p14:creationId xmlns:p14="http://schemas.microsoft.com/office/powerpoint/2010/main" val="318748571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Radon Parameters</a:t>
            </a:r>
          </a:p>
        </p:txBody>
      </p:sp>
      <p:pic>
        <p:nvPicPr>
          <p:cNvPr id="6" name="Picture 5"/>
          <p:cNvPicPr>
            <a:picLocks noChangeAspect="1"/>
          </p:cNvPicPr>
          <p:nvPr/>
        </p:nvPicPr>
        <p:blipFill>
          <a:blip r:embed="rId3"/>
          <a:stretch>
            <a:fillRect/>
          </a:stretch>
        </p:blipFill>
        <p:spPr>
          <a:xfrm>
            <a:off x="144961" y="1115647"/>
            <a:ext cx="8603987" cy="4117005"/>
          </a:xfrm>
          <a:prstGeom prst="rect">
            <a:avLst/>
          </a:prstGeom>
        </p:spPr>
      </p:pic>
      <p:sp>
        <p:nvSpPr>
          <p:cNvPr id="4" name="Rectangle 3"/>
          <p:cNvSpPr/>
          <p:nvPr/>
        </p:nvSpPr>
        <p:spPr bwMode="auto">
          <a:xfrm>
            <a:off x="6285587" y="4202041"/>
            <a:ext cx="2261419" cy="268864"/>
          </a:xfrm>
          <a:prstGeom prst="rect">
            <a:avLst/>
          </a:prstGeom>
          <a:solidFill>
            <a:srgbClr val="FF0000">
              <a:alpha val="50000"/>
            </a:srgbClr>
          </a:solidFill>
          <a:ln w="50800">
            <a:noFill/>
            <a:round/>
            <a:headEnd type="triangle" w="med" len="med"/>
            <a:tailEnd/>
          </a:ln>
          <a:effectLst/>
        </p:spPr>
        <p:txBody>
          <a:bodyPr wrap="none" rtlCol="0" anchor="ctr"/>
          <a:lstStyle/>
          <a:p>
            <a:endParaRPr lang="en-US" sz="3204" b="1">
              <a:latin typeface="+mn-lt"/>
              <a:cs typeface="Times New Roman" pitchFamily="18" charset="0"/>
            </a:endParaRPr>
          </a:p>
        </p:txBody>
      </p:sp>
      <p:sp>
        <p:nvSpPr>
          <p:cNvPr id="5" name="Rectangle 4"/>
          <p:cNvSpPr/>
          <p:nvPr/>
        </p:nvSpPr>
        <p:spPr bwMode="auto">
          <a:xfrm>
            <a:off x="243664" y="4441409"/>
            <a:ext cx="850491" cy="268864"/>
          </a:xfrm>
          <a:prstGeom prst="rect">
            <a:avLst/>
          </a:prstGeom>
          <a:solidFill>
            <a:srgbClr val="FF0000">
              <a:alpha val="50000"/>
            </a:srgbClr>
          </a:solidFill>
          <a:ln w="50800">
            <a:noFill/>
            <a:round/>
            <a:headEnd type="triangle" w="med" len="med"/>
            <a:tailEnd/>
          </a:ln>
          <a:effectLst/>
        </p:spPr>
        <p:txBody>
          <a:bodyPr wrap="none" rtlCol="0" anchor="ctr"/>
          <a:lstStyle/>
          <a:p>
            <a:endParaRPr lang="en-US" sz="3204" b="1">
              <a:latin typeface="+mn-lt"/>
              <a:cs typeface="Times New Roman" pitchFamily="18" charset="0"/>
            </a:endParaRPr>
          </a:p>
        </p:txBody>
      </p:sp>
    </p:spTree>
    <p:extLst>
      <p:ext uri="{BB962C8B-B14F-4D97-AF65-F5344CB8AC3E}">
        <p14:creationId xmlns:p14="http://schemas.microsoft.com/office/powerpoint/2010/main" val="12016666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Parallel Beam Geometry</a:t>
            </a:r>
          </a:p>
        </p:txBody>
      </p:sp>
      <p:pic>
        <p:nvPicPr>
          <p:cNvPr id="4" name="Picture 3"/>
          <p:cNvPicPr>
            <a:picLocks noChangeAspect="1"/>
          </p:cNvPicPr>
          <p:nvPr/>
        </p:nvPicPr>
        <p:blipFill>
          <a:blip r:embed="rId3"/>
          <a:stretch>
            <a:fillRect/>
          </a:stretch>
        </p:blipFill>
        <p:spPr>
          <a:xfrm>
            <a:off x="1042022" y="924845"/>
            <a:ext cx="7778970" cy="5720327"/>
          </a:xfrm>
          <a:prstGeom prst="rect">
            <a:avLst/>
          </a:prstGeom>
        </p:spPr>
      </p:pic>
    </p:spTree>
    <p:extLst>
      <p:ext uri="{BB962C8B-B14F-4D97-AF65-F5344CB8AC3E}">
        <p14:creationId xmlns:p14="http://schemas.microsoft.com/office/powerpoint/2010/main" val="340203694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Projection Algorithm</a:t>
            </a:r>
          </a:p>
        </p:txBody>
      </p:sp>
      <p:pic>
        <p:nvPicPr>
          <p:cNvPr id="4" name="Picture 3"/>
          <p:cNvPicPr>
            <a:picLocks noChangeAspect="1"/>
          </p:cNvPicPr>
          <p:nvPr/>
        </p:nvPicPr>
        <p:blipFill>
          <a:blip r:embed="rId3"/>
          <a:stretch>
            <a:fillRect/>
          </a:stretch>
        </p:blipFill>
        <p:spPr>
          <a:xfrm>
            <a:off x="2253761" y="1645750"/>
            <a:ext cx="5105400" cy="4543425"/>
          </a:xfrm>
          <a:prstGeom prst="rect">
            <a:avLst/>
          </a:prstGeom>
        </p:spPr>
      </p:pic>
    </p:spTree>
    <p:extLst>
      <p:ext uri="{BB962C8B-B14F-4D97-AF65-F5344CB8AC3E}">
        <p14:creationId xmlns:p14="http://schemas.microsoft.com/office/powerpoint/2010/main" val="10374714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Sample Radon Code</a:t>
            </a:r>
          </a:p>
        </p:txBody>
      </p:sp>
      <p:sp>
        <p:nvSpPr>
          <p:cNvPr id="3" name="Content Placeholder 2"/>
          <p:cNvSpPr>
            <a:spLocks noGrp="1"/>
          </p:cNvSpPr>
          <p:nvPr>
            <p:ph idx="1"/>
          </p:nvPr>
        </p:nvSpPr>
        <p:spPr>
          <a:xfrm>
            <a:off x="565255" y="1225393"/>
            <a:ext cx="3762703" cy="4987159"/>
          </a:xfrm>
        </p:spPr>
        <p:txBody>
          <a:bodyPr/>
          <a:lstStyle/>
          <a:p>
            <a:r>
              <a:rPr lang="en-US" sz="2000" dirty="0"/>
              <a:t>I = zeros(100,100);</a:t>
            </a:r>
          </a:p>
          <a:p>
            <a:r>
              <a:rPr lang="en-US" sz="2000" dirty="0"/>
              <a:t>I(25:75,25:75) = 1;</a:t>
            </a:r>
          </a:p>
          <a:p>
            <a:r>
              <a:rPr lang="en-US" sz="2000" dirty="0" err="1"/>
              <a:t>imshow</a:t>
            </a:r>
            <a:r>
              <a:rPr lang="en-US" sz="2000" dirty="0"/>
              <a:t>(I)</a:t>
            </a:r>
          </a:p>
          <a:p>
            <a:endParaRPr lang="en-US" sz="2000" dirty="0"/>
          </a:p>
          <a:p>
            <a:r>
              <a:rPr lang="en-US" sz="2000" dirty="0"/>
              <a:t>theta = 0:180;</a:t>
            </a:r>
          </a:p>
          <a:p>
            <a:r>
              <a:rPr lang="en-US" sz="2000" dirty="0"/>
              <a:t>[</a:t>
            </a:r>
            <a:r>
              <a:rPr lang="en-US" sz="2000" dirty="0" err="1"/>
              <a:t>R,xp</a:t>
            </a:r>
            <a:r>
              <a:rPr lang="en-US" sz="2000" dirty="0"/>
              <a:t>] = radon(</a:t>
            </a:r>
            <a:r>
              <a:rPr lang="en-US" sz="2000" dirty="0" err="1"/>
              <a:t>I,theta</a:t>
            </a:r>
            <a:r>
              <a:rPr lang="en-US" sz="2000" dirty="0"/>
              <a:t>);</a:t>
            </a:r>
          </a:p>
          <a:p>
            <a:r>
              <a:rPr lang="en-US" sz="2000" dirty="0" err="1"/>
              <a:t>imagesc</a:t>
            </a:r>
            <a:r>
              <a:rPr lang="en-US" sz="2000" dirty="0"/>
              <a:t>(</a:t>
            </a:r>
            <a:r>
              <a:rPr lang="en-US" sz="2000" dirty="0" err="1"/>
              <a:t>theta,xp,R</a:t>
            </a:r>
            <a:r>
              <a:rPr lang="en-US" sz="2000" dirty="0"/>
              <a:t>);</a:t>
            </a:r>
          </a:p>
          <a:p>
            <a:r>
              <a:rPr lang="en-US" sz="2000" dirty="0"/>
              <a:t>title('R_{\theta} (X\prime)');</a:t>
            </a:r>
          </a:p>
          <a:p>
            <a:r>
              <a:rPr lang="en-US" sz="2000" dirty="0" err="1"/>
              <a:t>xlabel</a:t>
            </a:r>
            <a:r>
              <a:rPr lang="en-US" sz="2000" dirty="0"/>
              <a:t>('\theta (degrees)');</a:t>
            </a:r>
          </a:p>
          <a:p>
            <a:r>
              <a:rPr lang="en-US" sz="2000" dirty="0" err="1"/>
              <a:t>ylabel</a:t>
            </a:r>
            <a:r>
              <a:rPr lang="en-US" sz="2000" dirty="0"/>
              <a:t>('X\prime');</a:t>
            </a:r>
          </a:p>
          <a:p>
            <a:r>
              <a:rPr lang="en-US" sz="2000" dirty="0"/>
              <a:t>set(gca,'XTick',0:20:180);</a:t>
            </a:r>
          </a:p>
          <a:p>
            <a:r>
              <a:rPr lang="en-US" sz="2000" dirty="0" err="1"/>
              <a:t>colormap</a:t>
            </a:r>
            <a:r>
              <a:rPr lang="en-US" sz="2000" dirty="0"/>
              <a:t>(hot);</a:t>
            </a:r>
          </a:p>
          <a:p>
            <a:r>
              <a:rPr lang="en-US" sz="2000" dirty="0" err="1"/>
              <a:t>colorbar</a:t>
            </a:r>
            <a:endParaRPr lang="en-US" sz="2000" dirty="0"/>
          </a:p>
        </p:txBody>
      </p:sp>
      <p:pic>
        <p:nvPicPr>
          <p:cNvPr id="4" name="Picture 3"/>
          <p:cNvPicPr>
            <a:picLocks noChangeAspect="1"/>
          </p:cNvPicPr>
          <p:nvPr/>
        </p:nvPicPr>
        <p:blipFill>
          <a:blip r:embed="rId3"/>
          <a:stretch>
            <a:fillRect/>
          </a:stretch>
        </p:blipFill>
        <p:spPr>
          <a:xfrm>
            <a:off x="4327958" y="1733497"/>
            <a:ext cx="3879139" cy="3970953"/>
          </a:xfrm>
          <a:prstGeom prst="rect">
            <a:avLst/>
          </a:prstGeom>
        </p:spPr>
      </p:pic>
      <p:cxnSp>
        <p:nvCxnSpPr>
          <p:cNvPr id="6" name="Straight Arrow Connector 5"/>
          <p:cNvCxnSpPr/>
          <p:nvPr/>
        </p:nvCxnSpPr>
        <p:spPr bwMode="auto">
          <a:xfrm>
            <a:off x="1931913" y="2208961"/>
            <a:ext cx="2487561" cy="1209367"/>
          </a:xfrm>
          <a:prstGeom prst="straightConnector1">
            <a:avLst/>
          </a:prstGeom>
          <a:solidFill>
            <a:schemeClr val="accent1"/>
          </a:solidFill>
          <a:ln w="63500" cap="flat" cmpd="sng" algn="ctr">
            <a:solidFill>
              <a:srgbClr val="FF0000"/>
            </a:solidFill>
            <a:prstDash val="solid"/>
            <a:round/>
            <a:headEnd type="none" w="med" len="med"/>
            <a:tailEnd type="triangle"/>
          </a:ln>
          <a:effectLst/>
        </p:spPr>
      </p:cxnSp>
      <p:cxnSp>
        <p:nvCxnSpPr>
          <p:cNvPr id="7" name="Straight Arrow Connector 6"/>
          <p:cNvCxnSpPr/>
          <p:nvPr/>
        </p:nvCxnSpPr>
        <p:spPr bwMode="auto">
          <a:xfrm>
            <a:off x="2123642" y="3797211"/>
            <a:ext cx="2315497" cy="2890804"/>
          </a:xfrm>
          <a:prstGeom prst="straightConnector1">
            <a:avLst/>
          </a:prstGeom>
          <a:solidFill>
            <a:schemeClr val="accent1"/>
          </a:solidFill>
          <a:ln w="63500" cap="flat" cmpd="sng" algn="ctr">
            <a:solidFill>
              <a:srgbClr val="FF0000"/>
            </a:solidFill>
            <a:prstDash val="solid"/>
            <a:round/>
            <a:headEnd type="none" w="med" len="med"/>
            <a:tailEnd type="triangle"/>
          </a:ln>
          <a:effectLst/>
        </p:spPr>
      </p:cxnSp>
      <p:cxnSp>
        <p:nvCxnSpPr>
          <p:cNvPr id="9" name="Straight Arrow Connector 8"/>
          <p:cNvCxnSpPr/>
          <p:nvPr/>
        </p:nvCxnSpPr>
        <p:spPr bwMode="auto">
          <a:xfrm>
            <a:off x="2146493" y="5630585"/>
            <a:ext cx="846988" cy="1057430"/>
          </a:xfrm>
          <a:prstGeom prst="straightConnector1">
            <a:avLst/>
          </a:prstGeom>
          <a:solidFill>
            <a:schemeClr val="accent1"/>
          </a:solidFill>
          <a:ln w="63500" cap="flat" cmpd="sng" algn="ctr">
            <a:solidFill>
              <a:srgbClr val="FF0000"/>
            </a:solidFill>
            <a:prstDash val="solid"/>
            <a:round/>
            <a:headEnd type="none" w="med" len="med"/>
            <a:tailEnd type="triangle"/>
          </a:ln>
          <a:effectLst/>
        </p:spPr>
      </p:cxnSp>
    </p:spTree>
    <p:extLst>
      <p:ext uri="{BB962C8B-B14F-4D97-AF65-F5344CB8AC3E}">
        <p14:creationId xmlns:p14="http://schemas.microsoft.com/office/powerpoint/2010/main" val="100050944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Sinogram Display</a:t>
            </a:r>
          </a:p>
        </p:txBody>
      </p:sp>
      <p:pic>
        <p:nvPicPr>
          <p:cNvPr id="3" name="Picture 2"/>
          <p:cNvPicPr>
            <a:picLocks noChangeAspect="1"/>
          </p:cNvPicPr>
          <p:nvPr/>
        </p:nvPicPr>
        <p:blipFill>
          <a:blip r:embed="rId3"/>
          <a:stretch>
            <a:fillRect/>
          </a:stretch>
        </p:blipFill>
        <p:spPr>
          <a:xfrm>
            <a:off x="97729" y="921800"/>
            <a:ext cx="7483194" cy="4313842"/>
          </a:xfrm>
          <a:prstGeom prst="rect">
            <a:avLst/>
          </a:prstGeom>
        </p:spPr>
      </p:pic>
    </p:spTree>
    <p:extLst>
      <p:ext uri="{BB962C8B-B14F-4D97-AF65-F5344CB8AC3E}">
        <p14:creationId xmlns:p14="http://schemas.microsoft.com/office/powerpoint/2010/main" val="220746961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Sample </a:t>
            </a:r>
            <a:r>
              <a:rPr lang="en-US" dirty="0" err="1"/>
              <a:t>iRadon</a:t>
            </a:r>
            <a:r>
              <a:rPr lang="en-US" dirty="0"/>
              <a:t> Code</a:t>
            </a:r>
          </a:p>
        </p:txBody>
      </p:sp>
      <p:sp>
        <p:nvSpPr>
          <p:cNvPr id="3" name="Content Placeholder 2"/>
          <p:cNvSpPr>
            <a:spLocks noGrp="1"/>
          </p:cNvSpPr>
          <p:nvPr>
            <p:ph idx="1"/>
          </p:nvPr>
        </p:nvSpPr>
        <p:spPr>
          <a:xfrm>
            <a:off x="1136466" y="1884620"/>
            <a:ext cx="7777655" cy="2758965"/>
          </a:xfrm>
        </p:spPr>
        <p:txBody>
          <a:bodyPr/>
          <a:lstStyle/>
          <a:p>
            <a:r>
              <a:rPr lang="en-US" sz="2000" dirty="0"/>
              <a:t>P = phantom(128); </a:t>
            </a:r>
          </a:p>
          <a:p>
            <a:r>
              <a:rPr lang="en-US" sz="2000" dirty="0"/>
              <a:t>R = radon(P,0:179);</a:t>
            </a:r>
          </a:p>
          <a:p>
            <a:r>
              <a:rPr lang="en-US" sz="2000" dirty="0"/>
              <a:t>I1 = </a:t>
            </a:r>
            <a:r>
              <a:rPr lang="en-US" sz="2000" dirty="0" err="1"/>
              <a:t>iradon</a:t>
            </a:r>
            <a:r>
              <a:rPr lang="en-US" sz="2000" dirty="0"/>
              <a:t>(R,0:179);</a:t>
            </a:r>
          </a:p>
          <a:p>
            <a:r>
              <a:rPr lang="en-US" sz="2000" dirty="0"/>
              <a:t>I2 = </a:t>
            </a:r>
            <a:r>
              <a:rPr lang="en-US" sz="2000" dirty="0" err="1"/>
              <a:t>iradon</a:t>
            </a:r>
            <a:r>
              <a:rPr lang="en-US" sz="2000" dirty="0"/>
              <a:t>(R,0:179,'linear','none');</a:t>
            </a:r>
          </a:p>
          <a:p>
            <a:r>
              <a:rPr lang="en-US" sz="2000" dirty="0"/>
              <a:t>subplot(1,3,1), </a:t>
            </a:r>
            <a:r>
              <a:rPr lang="en-US" sz="2000" dirty="0" err="1"/>
              <a:t>imshow</a:t>
            </a:r>
            <a:r>
              <a:rPr lang="en-US" sz="2000" dirty="0"/>
              <a:t>(P), title('Original')</a:t>
            </a:r>
          </a:p>
          <a:p>
            <a:r>
              <a:rPr lang="en-US" sz="2000" dirty="0"/>
              <a:t>subplot(1,3,2), </a:t>
            </a:r>
            <a:r>
              <a:rPr lang="en-US" sz="2000" dirty="0" err="1"/>
              <a:t>imshow</a:t>
            </a:r>
            <a:r>
              <a:rPr lang="en-US" sz="2000" dirty="0"/>
              <a:t>(I1), title('Filtered </a:t>
            </a:r>
            <a:r>
              <a:rPr lang="en-US" sz="2000" dirty="0" err="1"/>
              <a:t>backprojection</a:t>
            </a:r>
            <a:r>
              <a:rPr lang="en-US" sz="2000" dirty="0"/>
              <a:t>')</a:t>
            </a:r>
          </a:p>
          <a:p>
            <a:r>
              <a:rPr lang="en-US" sz="2000" dirty="0"/>
              <a:t>subplot(1,3,3), </a:t>
            </a:r>
            <a:r>
              <a:rPr lang="en-US" sz="2000" dirty="0" err="1"/>
              <a:t>imshow</a:t>
            </a:r>
            <a:r>
              <a:rPr lang="en-US" sz="2000" dirty="0"/>
              <a:t>(I2,[]), title('Unfiltered </a:t>
            </a:r>
            <a:r>
              <a:rPr lang="en-US" sz="2000" dirty="0" err="1"/>
              <a:t>backprojection</a:t>
            </a:r>
            <a:r>
              <a:rPr lang="en-US" sz="2000" dirty="0"/>
              <a:t>')</a:t>
            </a:r>
          </a:p>
        </p:txBody>
      </p:sp>
      <p:cxnSp>
        <p:nvCxnSpPr>
          <p:cNvPr id="4" name="Straight Arrow Connector 3"/>
          <p:cNvCxnSpPr/>
          <p:nvPr/>
        </p:nvCxnSpPr>
        <p:spPr bwMode="auto">
          <a:xfrm>
            <a:off x="1877300" y="4586287"/>
            <a:ext cx="1697543" cy="2119313"/>
          </a:xfrm>
          <a:prstGeom prst="straightConnector1">
            <a:avLst/>
          </a:prstGeom>
          <a:solidFill>
            <a:schemeClr val="accent1"/>
          </a:solidFill>
          <a:ln w="63500" cap="flat" cmpd="sng" algn="ctr">
            <a:solidFill>
              <a:srgbClr val="FF0000"/>
            </a:solidFill>
            <a:prstDash val="solid"/>
            <a:round/>
            <a:headEnd type="none" w="med" len="med"/>
            <a:tailEnd type="triangle"/>
          </a:ln>
          <a:effectLst/>
        </p:spPr>
      </p:cxnSp>
      <p:cxnSp>
        <p:nvCxnSpPr>
          <p:cNvPr id="6" name="Straight Arrow Connector 5"/>
          <p:cNvCxnSpPr/>
          <p:nvPr/>
        </p:nvCxnSpPr>
        <p:spPr bwMode="auto">
          <a:xfrm>
            <a:off x="1877300" y="4096369"/>
            <a:ext cx="2089961" cy="2609231"/>
          </a:xfrm>
          <a:prstGeom prst="straightConnector1">
            <a:avLst/>
          </a:prstGeom>
          <a:solidFill>
            <a:schemeClr val="accent1"/>
          </a:solidFill>
          <a:ln w="63500" cap="flat" cmpd="sng" algn="ctr">
            <a:solidFill>
              <a:srgbClr val="FF0000"/>
            </a:solidFill>
            <a:prstDash val="solid"/>
            <a:round/>
            <a:headEnd type="none" w="med" len="med"/>
            <a:tailEnd type="triangle"/>
          </a:ln>
          <a:effectLst/>
        </p:spPr>
      </p:cxnSp>
      <p:cxnSp>
        <p:nvCxnSpPr>
          <p:cNvPr id="8" name="Straight Arrow Connector 7"/>
          <p:cNvCxnSpPr/>
          <p:nvPr/>
        </p:nvCxnSpPr>
        <p:spPr bwMode="auto">
          <a:xfrm>
            <a:off x="1877300" y="3693247"/>
            <a:ext cx="2412857" cy="3012353"/>
          </a:xfrm>
          <a:prstGeom prst="straightConnector1">
            <a:avLst/>
          </a:prstGeom>
          <a:solidFill>
            <a:schemeClr val="accent1"/>
          </a:solidFill>
          <a:ln w="63500" cap="flat" cmpd="sng" algn="ctr">
            <a:solidFill>
              <a:srgbClr val="FF0000"/>
            </a:solidFill>
            <a:prstDash val="solid"/>
            <a:round/>
            <a:headEnd type="none" w="med" len="med"/>
            <a:tailEnd type="triangle"/>
          </a:ln>
          <a:effectLst/>
        </p:spPr>
      </p:cxnSp>
    </p:spTree>
    <p:extLst>
      <p:ext uri="{BB962C8B-B14F-4D97-AF65-F5344CB8AC3E}">
        <p14:creationId xmlns:p14="http://schemas.microsoft.com/office/powerpoint/2010/main" val="152195887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a:stretch>
            <a:fillRect/>
          </a:stretch>
        </p:blipFill>
        <p:spPr>
          <a:xfrm>
            <a:off x="2226886" y="2537976"/>
            <a:ext cx="4777028" cy="4085304"/>
          </a:xfrm>
          <a:prstGeom prst="rect">
            <a:avLst/>
          </a:prstGeom>
        </p:spPr>
      </p:pic>
      <p:sp>
        <p:nvSpPr>
          <p:cNvPr id="2" name="Title 1"/>
          <p:cNvSpPr>
            <a:spLocks noGrp="1"/>
          </p:cNvSpPr>
          <p:nvPr>
            <p:ph type="title"/>
          </p:nvPr>
        </p:nvSpPr>
        <p:spPr/>
        <p:txBody>
          <a:bodyPr/>
          <a:lstStyle/>
          <a:p>
            <a:r>
              <a:rPr lang="en-US" dirty="0"/>
              <a:t>Reconstructed Results</a:t>
            </a:r>
          </a:p>
        </p:txBody>
      </p:sp>
      <p:pic>
        <p:nvPicPr>
          <p:cNvPr id="5" name="Picture 4"/>
          <p:cNvPicPr>
            <a:picLocks noChangeAspect="1"/>
          </p:cNvPicPr>
          <p:nvPr/>
        </p:nvPicPr>
        <p:blipFill>
          <a:blip r:embed="rId4"/>
          <a:stretch>
            <a:fillRect/>
          </a:stretch>
        </p:blipFill>
        <p:spPr>
          <a:xfrm>
            <a:off x="203200" y="1049124"/>
            <a:ext cx="8824401" cy="2928347"/>
          </a:xfrm>
          <a:prstGeom prst="rect">
            <a:avLst/>
          </a:prstGeom>
        </p:spPr>
      </p:pic>
    </p:spTree>
    <p:extLst>
      <p:ext uri="{BB962C8B-B14F-4D97-AF65-F5344CB8AC3E}">
        <p14:creationId xmlns:p14="http://schemas.microsoft.com/office/powerpoint/2010/main" val="14712995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1676400" y="152400"/>
            <a:ext cx="8839200" cy="838200"/>
          </a:xfrm>
          <a:prstGeom prst="rect">
            <a:avLst/>
          </a:prstGeom>
        </p:spPr>
        <p:txBody>
          <a:bodyPr/>
          <a:lstStyle>
            <a:lvl1pPr algn="l" rtl="0" fontAlgn="base">
              <a:spcBef>
                <a:spcPct val="0"/>
              </a:spcBef>
              <a:spcAft>
                <a:spcPct val="0"/>
              </a:spcAft>
              <a:defRPr sz="4400">
                <a:solidFill>
                  <a:schemeClr val="tx2"/>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algn="ctr" eaLnBrk="1" hangingPunct="1"/>
            <a:r>
              <a:rPr lang="en-US" sz="4000" b="1" kern="0" dirty="0"/>
              <a:t>Homework</a:t>
            </a:r>
          </a:p>
        </p:txBody>
      </p:sp>
      <p:sp>
        <p:nvSpPr>
          <p:cNvPr id="9" name="Content Placeholder 2"/>
          <p:cNvSpPr txBox="1">
            <a:spLocks/>
          </p:cNvSpPr>
          <p:nvPr/>
        </p:nvSpPr>
        <p:spPr>
          <a:xfrm>
            <a:off x="1676400" y="1325290"/>
            <a:ext cx="8839200" cy="2947165"/>
          </a:xfrm>
          <a:prstGeom prst="rect">
            <a:avLst/>
          </a:prstGeom>
        </p:spPr>
        <p:txBody>
          <a:bodyPr/>
          <a:lstStyle>
            <a:lvl1pPr marL="0" indent="0" algn="l" rtl="0" fontAlgn="base">
              <a:spcBef>
                <a:spcPct val="20000"/>
              </a:spcBef>
              <a:spcAft>
                <a:spcPct val="0"/>
              </a:spcAft>
              <a:buClr>
                <a:srgbClr val="691638"/>
              </a:buClr>
              <a:buNone/>
              <a:defRPr sz="2800">
                <a:solidFill>
                  <a:schemeClr val="tx2"/>
                </a:solidFill>
                <a:latin typeface="+mn-lt"/>
                <a:ea typeface="+mn-ea"/>
                <a:cs typeface="+mn-cs"/>
              </a:defRPr>
            </a:lvl1pPr>
            <a:lvl2pPr marL="742950" indent="-285750" algn="l" rtl="0" fontAlgn="base">
              <a:spcBef>
                <a:spcPct val="20000"/>
              </a:spcBef>
              <a:spcAft>
                <a:spcPct val="0"/>
              </a:spcAft>
              <a:buClr>
                <a:srgbClr val="DC5A21"/>
              </a:buClr>
              <a:buFont typeface="Times" pitchFamily="18" charset="0"/>
              <a:buChar char="•"/>
              <a:defRPr sz="2400">
                <a:solidFill>
                  <a:schemeClr val="tx2"/>
                </a:solidFill>
                <a:latin typeface="+mn-lt"/>
                <a:ea typeface="+mn-ea"/>
              </a:defRPr>
            </a:lvl2pPr>
            <a:lvl3pPr marL="1143000" indent="-228600" algn="l" rtl="0" fontAlgn="base">
              <a:spcBef>
                <a:spcPct val="20000"/>
              </a:spcBef>
              <a:spcAft>
                <a:spcPct val="0"/>
              </a:spcAft>
              <a:buClr>
                <a:srgbClr val="87ADB0"/>
              </a:buClr>
              <a:buChar char="•"/>
              <a:defRPr sz="2000">
                <a:solidFill>
                  <a:schemeClr val="tx2"/>
                </a:solidFill>
                <a:latin typeface="+mn-lt"/>
                <a:ea typeface="+mn-ea"/>
              </a:defRPr>
            </a:lvl3pPr>
            <a:lvl4pPr marL="1600200" indent="-228600" algn="l" rtl="0" fontAlgn="base">
              <a:spcBef>
                <a:spcPct val="20000"/>
              </a:spcBef>
              <a:spcAft>
                <a:spcPct val="0"/>
              </a:spcAft>
              <a:buChar char="–"/>
              <a:defRPr>
                <a:solidFill>
                  <a:schemeClr val="tx2"/>
                </a:solidFill>
                <a:latin typeface="+mn-lt"/>
                <a:ea typeface="+mn-ea"/>
              </a:defRPr>
            </a:lvl4pPr>
            <a:lvl5pPr marL="2057400" indent="-228600" algn="l" rtl="0" fontAlgn="base">
              <a:spcBef>
                <a:spcPct val="20000"/>
              </a:spcBef>
              <a:spcAft>
                <a:spcPct val="0"/>
              </a:spcAft>
              <a:buChar char="»"/>
              <a:defRPr sz="1600">
                <a:solidFill>
                  <a:schemeClr val="tx2"/>
                </a:solidFill>
                <a:latin typeface="+mn-lt"/>
                <a:ea typeface="+mn-ea"/>
              </a:defRPr>
            </a:lvl5pPr>
            <a:lvl6pPr marL="2514600" indent="-228600" algn="l" rtl="0" fontAlgn="base">
              <a:spcBef>
                <a:spcPct val="20000"/>
              </a:spcBef>
              <a:spcAft>
                <a:spcPct val="0"/>
              </a:spcAft>
              <a:buChar char="»"/>
              <a:defRPr sz="1600">
                <a:solidFill>
                  <a:schemeClr val="tx1"/>
                </a:solidFill>
                <a:latin typeface="+mn-lt"/>
                <a:ea typeface="+mn-ea"/>
              </a:defRPr>
            </a:lvl6pPr>
            <a:lvl7pPr marL="2971800" indent="-228600" algn="l" rtl="0" fontAlgn="base">
              <a:spcBef>
                <a:spcPct val="20000"/>
              </a:spcBef>
              <a:spcAft>
                <a:spcPct val="0"/>
              </a:spcAft>
              <a:buChar char="»"/>
              <a:defRPr sz="1600">
                <a:solidFill>
                  <a:schemeClr val="tx1"/>
                </a:solidFill>
                <a:latin typeface="+mn-lt"/>
                <a:ea typeface="+mn-ea"/>
              </a:defRPr>
            </a:lvl7pPr>
            <a:lvl8pPr marL="3429000" indent="-228600" algn="l" rtl="0" fontAlgn="base">
              <a:spcBef>
                <a:spcPct val="20000"/>
              </a:spcBef>
              <a:spcAft>
                <a:spcPct val="0"/>
              </a:spcAft>
              <a:buChar char="»"/>
              <a:defRPr sz="1600">
                <a:solidFill>
                  <a:schemeClr val="tx1"/>
                </a:solidFill>
                <a:latin typeface="+mn-lt"/>
                <a:ea typeface="+mn-ea"/>
              </a:defRPr>
            </a:lvl8pPr>
            <a:lvl9pPr marL="3886200" indent="-228600" algn="l" rtl="0" fontAlgn="base">
              <a:spcBef>
                <a:spcPct val="20000"/>
              </a:spcBef>
              <a:spcAft>
                <a:spcPct val="0"/>
              </a:spcAft>
              <a:buChar char="»"/>
              <a:defRPr sz="1600">
                <a:solidFill>
                  <a:schemeClr val="tx1"/>
                </a:solidFill>
                <a:latin typeface="+mn-lt"/>
                <a:ea typeface="+mn-ea"/>
              </a:defRPr>
            </a:lvl9pPr>
          </a:lstStyle>
          <a:p>
            <a:pPr eaLnBrk="1" hangingPunct="1">
              <a:buClrTx/>
            </a:pPr>
            <a:r>
              <a:rPr lang="en-US" sz="2400" kern="0" dirty="0"/>
              <a:t>Read the web page carefully and run the codes on your PC:</a:t>
            </a:r>
          </a:p>
          <a:p>
            <a:pPr eaLnBrk="1" hangingPunct="1">
              <a:buClrTx/>
            </a:pPr>
            <a:r>
              <a:rPr lang="en-US" sz="2400" kern="0" dirty="0">
                <a:hlinkClick r:id="rId3"/>
              </a:rPr>
              <a:t>http://www.mathworks.com/help/images/radon-transform.html?refresh=true</a:t>
            </a:r>
            <a:endParaRPr lang="en-US" sz="2400" kern="0" dirty="0"/>
          </a:p>
          <a:p>
            <a:pPr eaLnBrk="1" hangingPunct="1">
              <a:buClrTx/>
            </a:pPr>
            <a:r>
              <a:rPr lang="en-US" sz="2400" kern="0" dirty="0"/>
              <a:t>Then write a similar page with an ellipse as your object (instead of the square).</a:t>
            </a:r>
          </a:p>
          <a:p>
            <a:pPr eaLnBrk="1" hangingPunct="1">
              <a:buClrTx/>
            </a:pPr>
            <a:endParaRPr lang="en-US" sz="2400" kern="0" dirty="0"/>
          </a:p>
          <a:p>
            <a:pPr eaLnBrk="1" hangingPunct="1">
              <a:buClrTx/>
            </a:pPr>
            <a:r>
              <a:rPr lang="en-US" sz="2400" kern="0" dirty="0"/>
              <a:t>Use the </a:t>
            </a:r>
            <a:r>
              <a:rPr lang="en-US" sz="2400" kern="0" dirty="0" err="1"/>
              <a:t>iradon</a:t>
            </a:r>
            <a:r>
              <a:rPr lang="en-US" sz="2400" kern="0" dirty="0"/>
              <a:t> function to reconstruct your ellipse.</a:t>
            </a:r>
          </a:p>
        </p:txBody>
      </p:sp>
    </p:spTree>
    <p:extLst>
      <p:ext uri="{BB962C8B-B14F-4D97-AF65-F5344CB8AC3E}">
        <p14:creationId xmlns:p14="http://schemas.microsoft.com/office/powerpoint/2010/main" val="1045689346"/>
      </p:ext>
    </p:extLst>
  </p:cSld>
  <p:clrMapOvr>
    <a:masterClrMapping/>
  </p:clrMapOvr>
</p:sld>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50800">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wrap="none" anchor="ctr"/>
      <a:lstStyle>
        <a:defPPr marL="0" marR="0" indent="0" algn="l" defTabSz="914400" rtl="0" eaLnBrk="0" fontAlgn="base" latinLnBrk="0" hangingPunct="0">
          <a:lnSpc>
            <a:spcPct val="100000"/>
          </a:lnSpc>
          <a:spcBef>
            <a:spcPct val="0"/>
          </a:spcBef>
          <a:spcAft>
            <a:spcPct val="0"/>
          </a:spcAft>
          <a:buClrTx/>
          <a:buSzTx/>
          <a:buFontTx/>
          <a:buNone/>
          <a:tabLst/>
          <a:defRPr kumimoji="0" sz="3204" b="1" i="0" u="none" strike="noStrike" kern="1200" cap="none" spc="0" normalizeH="0" baseline="0" noProof="0">
            <a:ln>
              <a:noFill/>
            </a:ln>
            <a:effectLst/>
            <a:uLnTx/>
            <a:uFillTx/>
            <a:latin typeface="+mn-lt"/>
            <a:ea typeface="ＭＳ Ｐゴシック" pitchFamily="116" charset="-128"/>
            <a:cs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ＭＳ Ｐゴシック" pitchFamily="116"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9525" cap="flat" cmpd="sng" algn="ctr">
          <a:solidFill>
            <a:schemeClr val="tx1"/>
          </a:solidFill>
          <a:prstDash val="solid"/>
          <a:round/>
          <a:headEnd type="none" w="med" len="med"/>
          <a:tailEnd type="none" w="med" len="med"/>
        </a:ln>
        <a:effectLst/>
      </a:spPr>
      <a:bodyPr vert="horz" wrap="square" lIns="91440" tIns="45720" rIns="91440" bIns="45720" numCol="1" rtlCol="0"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sz="1800" dirty="0" err="1" smtClean="0"/>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ＭＳ Ｐゴシック" pitchFamily="116"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10950</TotalTime>
  <Words>11811</Words>
  <Application>Microsoft Office PowerPoint</Application>
  <PresentationFormat>Widescreen</PresentationFormat>
  <Paragraphs>563</Paragraphs>
  <Slides>50</Slides>
  <Notes>50</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50</vt:i4>
      </vt:variant>
    </vt:vector>
  </HeadingPairs>
  <TitlesOfParts>
    <vt:vector size="59" baseType="lpstr">
      <vt:lpstr>ＭＳ Ｐゴシック</vt:lpstr>
      <vt:lpstr>Arial</vt:lpstr>
      <vt:lpstr>Garamond</vt:lpstr>
      <vt:lpstr>Symbol</vt:lpstr>
      <vt:lpstr>Times</vt:lpstr>
      <vt:lpstr>Times New Roman</vt:lpstr>
      <vt:lpstr>Blank Presentation</vt:lpstr>
      <vt:lpstr>2_Blank Presentation</vt:lpstr>
      <vt:lpstr>Equation</vt:lpstr>
      <vt:lpstr>PowerPoint Presentation</vt:lpstr>
      <vt:lpstr>PowerPoint Presentation</vt:lpstr>
      <vt:lpstr>Some Tips</vt:lpstr>
      <vt:lpstr>CT Reconstruction</vt:lpstr>
      <vt:lpstr>Duality of Information</vt:lpstr>
      <vt:lpstr>Pixel: Picture Element</vt:lpstr>
      <vt:lpstr>Fourier Analysis</vt:lpstr>
      <vt:lpstr>CT Reconstruction</vt:lpstr>
      <vt:lpstr>Linear Equation</vt:lpstr>
      <vt:lpstr>Data Independence</vt:lpstr>
      <vt:lpstr>Data Sufficiency</vt:lpstr>
      <vt:lpstr>Projection &amp; Sinogram</vt:lpstr>
      <vt:lpstr>Computed Tomography</vt:lpstr>
      <vt:lpstr>Sum Game</vt:lpstr>
      <vt:lpstr>Trial &amp; Error</vt:lpstr>
      <vt:lpstr>Algebraic Approach</vt:lpstr>
      <vt:lpstr>CT Reconstruction</vt:lpstr>
      <vt:lpstr>Probing Waves</vt:lpstr>
      <vt:lpstr>Fourier Slice Theorem</vt:lpstr>
      <vt:lpstr>Kak’s Book Chapter 3</vt:lpstr>
      <vt:lpstr>Simplest Example</vt:lpstr>
      <vt:lpstr>Along Vertical Direction</vt:lpstr>
      <vt:lpstr>Along Any Direction</vt:lpstr>
      <vt:lpstr>Fourier Slice Theorem</vt:lpstr>
      <vt:lpstr>Fourier Slice Theorem</vt:lpstr>
      <vt:lpstr>From Projections to Image</vt:lpstr>
      <vt:lpstr>Filtered Backprojection</vt:lpstr>
      <vt:lpstr>Filtered Backprojection</vt:lpstr>
      <vt:lpstr>Filtered Backprojection</vt:lpstr>
      <vt:lpstr>Ramp Filter</vt:lpstr>
      <vt:lpstr>Bandlimited Expression</vt:lpstr>
      <vt:lpstr>Digital Filtration</vt:lpstr>
      <vt:lpstr>2D Fourier Transform</vt:lpstr>
      <vt:lpstr>Analytic Approach</vt:lpstr>
      <vt:lpstr>CT Reconstruction</vt:lpstr>
      <vt:lpstr>Image to Projection</vt:lpstr>
      <vt:lpstr>Backprojection</vt:lpstr>
      <vt:lpstr>Backprojection to Image</vt:lpstr>
      <vt:lpstr>Filtered Backprojection</vt:lpstr>
      <vt:lpstr>Projection to Filtered Projection</vt:lpstr>
      <vt:lpstr>Filtered Backprojection to Image</vt:lpstr>
      <vt:lpstr>Radon Transform</vt:lpstr>
      <vt:lpstr>Radon Parameters</vt:lpstr>
      <vt:lpstr>Parallel Beam Geometry</vt:lpstr>
      <vt:lpstr>Projection Algorithm</vt:lpstr>
      <vt:lpstr>Sample Radon Code</vt:lpstr>
      <vt:lpstr>Sinogram Display</vt:lpstr>
      <vt:lpstr>Sample iRadon Code</vt:lpstr>
      <vt:lpstr>Reconstructed Results</vt:lpstr>
      <vt:lpstr>PowerPoint Presentation</vt:lpstr>
    </vt:vector>
  </TitlesOfParts>
  <Company>Virginia Tech</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VT PowerPoint Template2</dc:title>
  <dc:creator>David Stanley</dc:creator>
  <cp:lastModifiedBy>Manik, Md Motaleb Hossen</cp:lastModifiedBy>
  <cp:revision>2747</cp:revision>
  <cp:lastPrinted>2012-03-08T21:40:16Z</cp:lastPrinted>
  <dcterms:created xsi:type="dcterms:W3CDTF">2006-10-23T16:36:06Z</dcterms:created>
  <dcterms:modified xsi:type="dcterms:W3CDTF">2025-09-04T13:08:21Z</dcterms:modified>
</cp:coreProperties>
</file>