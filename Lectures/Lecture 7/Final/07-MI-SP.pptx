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9"/>
  </p:notesMasterIdLst>
  <p:sldIdLst>
    <p:sldId id="603" r:id="rId2"/>
    <p:sldId id="1235" r:id="rId3"/>
    <p:sldId id="1191" r:id="rId4"/>
    <p:sldId id="1045" r:id="rId5"/>
    <p:sldId id="1262" r:id="rId6"/>
    <p:sldId id="1261" r:id="rId7"/>
    <p:sldId id="1263" r:id="rId8"/>
    <p:sldId id="1267" r:id="rId9"/>
    <p:sldId id="1258" r:id="rId10"/>
    <p:sldId id="1259" r:id="rId11"/>
    <p:sldId id="1264" r:id="rId12"/>
    <p:sldId id="1194" r:id="rId13"/>
    <p:sldId id="1120" r:id="rId14"/>
    <p:sldId id="1196" r:id="rId15"/>
    <p:sldId id="1195" r:id="rId16"/>
    <p:sldId id="1246" r:id="rId17"/>
    <p:sldId id="1247" r:id="rId18"/>
    <p:sldId id="1248" r:id="rId19"/>
    <p:sldId id="1249" r:id="rId20"/>
    <p:sldId id="1250" r:id="rId21"/>
    <p:sldId id="1251" r:id="rId22"/>
    <p:sldId id="1252" r:id="rId23"/>
    <p:sldId id="1253" r:id="rId24"/>
    <p:sldId id="1254" r:id="rId25"/>
    <p:sldId id="1255" r:id="rId26"/>
    <p:sldId id="1256" r:id="rId27"/>
    <p:sldId id="1257" r:id="rId28"/>
    <p:sldId id="1225" r:id="rId29"/>
    <p:sldId id="1230" r:id="rId30"/>
    <p:sldId id="1231" r:id="rId31"/>
    <p:sldId id="1236" r:id="rId32"/>
    <p:sldId id="1233" r:id="rId33"/>
    <p:sldId id="1183" r:id="rId34"/>
    <p:sldId id="1207" r:id="rId35"/>
    <p:sldId id="1199" r:id="rId36"/>
    <p:sldId id="1184" r:id="rId37"/>
    <p:sldId id="1234" r:id="rId38"/>
    <p:sldId id="1239" r:id="rId39"/>
    <p:sldId id="1241" r:id="rId40"/>
    <p:sldId id="1265" r:id="rId41"/>
    <p:sldId id="1266" r:id="rId42"/>
    <p:sldId id="1243" r:id="rId43"/>
    <p:sldId id="1245" r:id="rId44"/>
    <p:sldId id="1244" r:id="rId45"/>
    <p:sldId id="1208" r:id="rId46"/>
    <p:sldId id="1209" r:id="rId47"/>
    <p:sldId id="1237" r:id="rId48"/>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5pPr>
    <a:lvl6pPr marL="2286000" algn="l" defTabSz="914400" rtl="0" eaLnBrk="1" latinLnBrk="0" hangingPunct="1">
      <a:defRPr sz="2400" kern="1200">
        <a:solidFill>
          <a:schemeClr val="tx1"/>
        </a:solidFill>
        <a:latin typeface="Arial" charset="0"/>
        <a:ea typeface="ＭＳ Ｐゴシック" pitchFamily="116" charset="-128"/>
        <a:cs typeface="+mn-cs"/>
      </a:defRPr>
    </a:lvl6pPr>
    <a:lvl7pPr marL="2743200" algn="l" defTabSz="914400" rtl="0" eaLnBrk="1" latinLnBrk="0" hangingPunct="1">
      <a:defRPr sz="2400" kern="1200">
        <a:solidFill>
          <a:schemeClr val="tx1"/>
        </a:solidFill>
        <a:latin typeface="Arial" charset="0"/>
        <a:ea typeface="ＭＳ Ｐゴシック" pitchFamily="116" charset="-128"/>
        <a:cs typeface="+mn-cs"/>
      </a:defRPr>
    </a:lvl7pPr>
    <a:lvl8pPr marL="3200400" algn="l" defTabSz="914400" rtl="0" eaLnBrk="1" latinLnBrk="0" hangingPunct="1">
      <a:defRPr sz="2400" kern="1200">
        <a:solidFill>
          <a:schemeClr val="tx1"/>
        </a:solidFill>
        <a:latin typeface="Arial" charset="0"/>
        <a:ea typeface="ＭＳ Ｐゴシック" pitchFamily="116" charset="-128"/>
        <a:cs typeface="+mn-cs"/>
      </a:defRPr>
    </a:lvl8pPr>
    <a:lvl9pPr marL="3657600" algn="l" defTabSz="914400" rtl="0" eaLnBrk="1" latinLnBrk="0" hangingPunct="1">
      <a:defRPr sz="2400" kern="1200">
        <a:solidFill>
          <a:schemeClr val="tx1"/>
        </a:solidFill>
        <a:latin typeface="Arial" charset="0"/>
        <a:ea typeface="ＭＳ Ｐゴシック" pitchFamily="116"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0000FF"/>
    <a:srgbClr val="009900"/>
    <a:srgbClr val="3399FF"/>
    <a:srgbClr val="0066FF"/>
    <a:srgbClr val="33CC33"/>
    <a:srgbClr val="993366"/>
    <a:srgbClr val="003399"/>
    <a:srgbClr val="CCCC00"/>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5" autoAdjust="0"/>
    <p:restoredTop sz="70096" autoAdjust="0"/>
  </p:normalViewPr>
  <p:slideViewPr>
    <p:cSldViewPr snapToGrid="0">
      <p:cViewPr varScale="1">
        <p:scale>
          <a:sx n="80" d="100"/>
          <a:sy n="80" d="100"/>
        </p:scale>
        <p:origin x="126" y="780"/>
      </p:cViewPr>
      <p:guideLst>
        <p:guide orient="horz" pos="2160"/>
        <p:guide pos="3840"/>
      </p:guideLst>
    </p:cSldViewPr>
  </p:slideViewPr>
  <p:outlineViewPr>
    <p:cViewPr>
      <p:scale>
        <a:sx n="33" d="100"/>
        <a:sy n="33" d="100"/>
      </p:scale>
      <p:origin x="0" y="-4392"/>
    </p:cViewPr>
  </p:outlineViewPr>
  <p:notesTextViewPr>
    <p:cViewPr>
      <p:scale>
        <a:sx n="150" d="100"/>
        <a:sy n="150" d="100"/>
      </p:scale>
      <p:origin x="0" y="-654"/>
    </p:cViewPr>
  </p:notesTextViewPr>
  <p:sorterViewPr>
    <p:cViewPr varScale="1">
      <p:scale>
        <a:sx n="1" d="1"/>
        <a:sy n="1" d="1"/>
      </p:scale>
      <p:origin x="0" y="-5668"/>
    </p:cViewPr>
  </p:sorterViewPr>
  <p:notesViewPr>
    <p:cSldViewPr snapToGrid="0">
      <p:cViewPr varScale="1">
        <p:scale>
          <a:sx n="88" d="100"/>
          <a:sy n="88" d="100"/>
        </p:scale>
        <p:origin x="3822"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F30534E-9FB8-46AE-8E3B-5675B268AE6A}" type="slidenum">
              <a:rPr lang="en-US"/>
              <a:pPr/>
              <a:t>‹#›</a:t>
            </a:fld>
            <a:endParaRPr lang="en-US"/>
          </a:p>
        </p:txBody>
      </p:sp>
    </p:spTree>
    <p:extLst>
      <p:ext uri="{BB962C8B-B14F-4D97-AF65-F5344CB8AC3E}">
        <p14:creationId xmlns:p14="http://schemas.microsoft.com/office/powerpoint/2010/main" val="39136188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6"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6"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6"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6"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381000" y="685800"/>
            <a:ext cx="6096000" cy="3429000"/>
          </a:xfrm>
          <a:ln/>
        </p:spPr>
      </p:sp>
      <p:sp>
        <p:nvSpPr>
          <p:cNvPr id="6147" name="Rectangle 3"/>
          <p:cNvSpPr>
            <a:spLocks noGrp="1" noChangeArrowheads="1"/>
          </p:cNvSpPr>
          <p:nvPr>
            <p:ph type="body" idx="1"/>
          </p:nvPr>
        </p:nvSpPr>
        <p:spPr/>
        <p:txBody>
          <a:bodyPr/>
          <a:lstStyle/>
          <a:p>
            <a:r>
              <a:rPr lang="en-US" dirty="0"/>
              <a:t>Welcome, everyone. Today, we’re diving into the topic of </a:t>
            </a:r>
            <a:r>
              <a:rPr lang="en-US" b="1" dirty="0"/>
              <a:t>signal processing</a:t>
            </a:r>
            <a:r>
              <a:rPr lang="en-US" dirty="0"/>
              <a:t>, which is a key concept in this course and incredibly important in the field of biomedical imaging.</a:t>
            </a:r>
          </a:p>
          <a:p>
            <a:endParaRPr lang="en-US" dirty="0"/>
          </a:p>
          <a:p>
            <a:r>
              <a:rPr lang="en-US" dirty="0"/>
              <a:t>Some of you may have already gone through the chapter in the textbook — and that’s a great start. But as I’ve mentioned before, the draft versions of these chapters may still contain a few typos or unclear steps. That’s why it’s important not just to read, but also to listen carefully during the lecture.</a:t>
            </a:r>
          </a:p>
          <a:p>
            <a:endParaRPr lang="en-US" dirty="0"/>
          </a:p>
          <a:p>
            <a:r>
              <a:rPr lang="en-US" dirty="0"/>
              <a:t>I’ve reviewed and corrected the derivations we’ll go over today, so what you see here should be more accurate and easier to follow than the original draft. This is also a good example of why attending the lecture — or in this case, watching this video — is still valuable, even if you’ve read the chapter. I’ll walk you through the ideas step by step, explain the reasoning behind each move, and help you build a stronger intuition than what the written text alone might offer.</a:t>
            </a:r>
          </a:p>
          <a:p>
            <a:endParaRPr lang="en-US" dirty="0"/>
          </a:p>
          <a:p>
            <a:r>
              <a:rPr lang="en-US" dirty="0"/>
              <a:t>So after this session, I encourage you to review both the lecture and the textbook. With both perspectives, your understanding will be much deeper — and that’s the goal.</a:t>
            </a:r>
          </a:p>
          <a:p>
            <a:r>
              <a:rPr lang="en-US" dirty="0"/>
              <a:t>Let’s get started.</a:t>
            </a:r>
          </a:p>
          <a:p>
            <a:endParaRPr lang="en-US" dirty="0"/>
          </a:p>
        </p:txBody>
      </p:sp>
    </p:spTree>
    <p:extLst>
      <p:ext uri="{BB962C8B-B14F-4D97-AF65-F5344CB8AC3E}">
        <p14:creationId xmlns:p14="http://schemas.microsoft.com/office/powerpoint/2010/main" val="37455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again, we are on schedule. And so far, we have learned the linear systems and learned the Fourier analysis.</a:t>
            </a:r>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1324547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a logo I designed to help you understand the foundation of signal processing in a visual way.</a:t>
            </a:r>
          </a:p>
          <a:p>
            <a:r>
              <a:rPr lang="en-US" dirty="0"/>
              <a:t>Inside the circle, you’ll see the expression: </a:t>
            </a:r>
            <a:r>
              <a:rPr lang="en-US" b="1" dirty="0"/>
              <a:t>delta multiplied by e to the power </a:t>
            </a:r>
            <a:r>
              <a:rPr lang="en-US" b="1" dirty="0" err="1"/>
              <a:t>i</a:t>
            </a:r>
            <a:r>
              <a:rPr lang="en-US" b="1" dirty="0"/>
              <a:t> theta</a:t>
            </a:r>
            <a:r>
              <a:rPr lang="en-US" dirty="0"/>
              <a:t>.</a:t>
            </a:r>
            <a:br>
              <a:rPr lang="en-US" dirty="0"/>
            </a:br>
            <a:r>
              <a:rPr lang="en-US" dirty="0"/>
              <a:t>That’s </a:t>
            </a:r>
            <a:r>
              <a:rPr lang="en-US" b="1" dirty="0"/>
              <a:t>delta times e to the </a:t>
            </a:r>
            <a:r>
              <a:rPr lang="en-US" b="1" dirty="0" err="1"/>
              <a:t>i</a:t>
            </a:r>
            <a:r>
              <a:rPr lang="en-US" b="1" dirty="0"/>
              <a:t> theta</a:t>
            </a:r>
            <a:r>
              <a:rPr lang="en-US" dirty="0"/>
              <a:t>.</a:t>
            </a:r>
          </a:p>
          <a:p>
            <a:r>
              <a:rPr lang="en-US" dirty="0"/>
              <a:t>This might remind you of Euler’s formula, where </a:t>
            </a:r>
            <a:r>
              <a:rPr lang="en-US" b="1" dirty="0"/>
              <a:t>e to the power </a:t>
            </a:r>
            <a:r>
              <a:rPr lang="en-US" b="1" dirty="0" err="1"/>
              <a:t>i</a:t>
            </a:r>
            <a:r>
              <a:rPr lang="en-US" b="1" dirty="0"/>
              <a:t> theta</a:t>
            </a:r>
            <a:r>
              <a:rPr lang="en-US" dirty="0"/>
              <a:t> equals </a:t>
            </a:r>
            <a:r>
              <a:rPr lang="en-US" b="1" dirty="0"/>
              <a:t>cosine theta plus </a:t>
            </a:r>
            <a:r>
              <a:rPr lang="en-US" b="1" dirty="0" err="1"/>
              <a:t>i</a:t>
            </a:r>
            <a:r>
              <a:rPr lang="en-US" b="1" dirty="0"/>
              <a:t> times sine theta</a:t>
            </a:r>
            <a:r>
              <a:rPr lang="en-US" dirty="0"/>
              <a:t>.</a:t>
            </a:r>
          </a:p>
          <a:p>
            <a:br>
              <a:rPr lang="en-US" dirty="0"/>
            </a:br>
            <a:r>
              <a:rPr lang="en-US" dirty="0"/>
              <a:t>So this single term includes both a real part — the cosine — and an imaginary part — the sine.</a:t>
            </a:r>
          </a:p>
          <a:p>
            <a:r>
              <a:rPr lang="en-US" dirty="0"/>
              <a:t>Now, the </a:t>
            </a:r>
            <a:r>
              <a:rPr lang="en-US" b="1" dirty="0"/>
              <a:t>delta function</a:t>
            </a:r>
            <a:r>
              <a:rPr lang="en-US" dirty="0"/>
              <a:t> here stands for an impulse — something that happens instantly, at a single point in time.</a:t>
            </a:r>
          </a:p>
          <a:p>
            <a:r>
              <a:rPr lang="en-US" dirty="0"/>
              <a:t>Together, the delta and the exponential show us two building blocks we’ll come back to again and again: sharp spikes and smooth waves.</a:t>
            </a:r>
          </a:p>
          <a:p>
            <a:r>
              <a:rPr lang="en-US" dirty="0"/>
              <a:t>But that’s not enough to build real-world signals.</a:t>
            </a:r>
          </a:p>
          <a:p>
            <a:endParaRPr lang="en-US" dirty="0"/>
          </a:p>
          <a:p>
            <a:r>
              <a:rPr lang="en-US" dirty="0"/>
              <a:t>To represent a general signal, we also need to be able to </a:t>
            </a:r>
            <a:r>
              <a:rPr lang="en-US" b="1" dirty="0"/>
              <a:t>shift</a:t>
            </a:r>
            <a:r>
              <a:rPr lang="en-US" dirty="0"/>
              <a:t> and </a:t>
            </a:r>
            <a:r>
              <a:rPr lang="en-US" b="1" dirty="0"/>
              <a:t>scale</a:t>
            </a:r>
            <a:r>
              <a:rPr lang="en-US" dirty="0"/>
              <a:t> these building blocks.</a:t>
            </a:r>
          </a:p>
          <a:p>
            <a:r>
              <a:rPr lang="en-US" dirty="0"/>
              <a:t>Shifting means moving a function left or right in time.</a:t>
            </a:r>
            <a:br>
              <a:rPr lang="en-US" dirty="0"/>
            </a:br>
            <a:r>
              <a:rPr lang="en-US" dirty="0"/>
              <a:t>Scaling means stretching or compressing it, or changing its amplitude.</a:t>
            </a:r>
          </a:p>
          <a:p>
            <a:r>
              <a:rPr lang="en-US" dirty="0"/>
              <a:t>For example, with sine waves, we can change the frequency — making them faster or slower.</a:t>
            </a:r>
            <a:br>
              <a:rPr lang="en-US" dirty="0"/>
            </a:br>
            <a:r>
              <a:rPr lang="en-US" dirty="0"/>
              <a:t>We can also shift them in time — or scale the height — to make them louder or softer.</a:t>
            </a:r>
          </a:p>
          <a:p>
            <a:endParaRPr lang="en-US" dirty="0"/>
          </a:p>
          <a:p>
            <a:r>
              <a:rPr lang="en-US" dirty="0"/>
              <a:t>So when we say </a:t>
            </a:r>
            <a:r>
              <a:rPr lang="en-US" b="1" dirty="0"/>
              <a:t>“operators need to shift and scale,”</a:t>
            </a:r>
            <a:r>
              <a:rPr lang="en-US" dirty="0"/>
              <a:t> we mean we need to move and adjust these basic functions — the delta and the sine wave — to create more complex signals.</a:t>
            </a:r>
          </a:p>
          <a:p>
            <a:r>
              <a:rPr lang="en-US" dirty="0"/>
              <a:t>And with that power, we can build up any continuous or piecewise continuous function.</a:t>
            </a:r>
          </a:p>
          <a:p>
            <a:r>
              <a:rPr lang="en-US" dirty="0"/>
              <a:t>That’s the big idea behind this logo — a visual summary of how signal processing works at its core.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a:t>
            </a:fld>
            <a:endParaRPr lang="en-US"/>
          </a:p>
        </p:txBody>
      </p:sp>
    </p:spTree>
    <p:extLst>
      <p:ext uri="{BB962C8B-B14F-4D97-AF65-F5344CB8AC3E}">
        <p14:creationId xmlns:p14="http://schemas.microsoft.com/office/powerpoint/2010/main" val="2005384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more specifically about how a function can be represented using the </a:t>
            </a:r>
            <a:r>
              <a:rPr lang="en-US" b="1" dirty="0"/>
              <a:t>Fourier series</a:t>
            </a:r>
            <a:r>
              <a:rPr lang="en-US" dirty="0"/>
              <a:t> or the </a:t>
            </a:r>
            <a:r>
              <a:rPr lang="en-US" b="1" dirty="0"/>
              <a:t>Fourier transform</a:t>
            </a:r>
            <a:r>
              <a:rPr lang="en-US" dirty="0"/>
              <a:t>.</a:t>
            </a:r>
          </a:p>
          <a:p>
            <a:endParaRPr lang="en-US" dirty="0"/>
          </a:p>
          <a:p>
            <a:r>
              <a:rPr lang="en-US" dirty="0"/>
              <a:t>At the top, we see a Fourier series representation. It tells us that a function of t — written as </a:t>
            </a:r>
            <a:r>
              <a:rPr lang="en-US" b="1" dirty="0"/>
              <a:t>f of t</a:t>
            </a:r>
            <a:r>
              <a:rPr lang="en-US" dirty="0"/>
              <a:t> — can be expressed as a sum over many terms.</a:t>
            </a:r>
          </a:p>
          <a:p>
            <a:r>
              <a:rPr lang="en-US" dirty="0"/>
              <a:t>Mathematically, this is written as:</a:t>
            </a:r>
          </a:p>
          <a:p>
            <a:r>
              <a:rPr lang="en-US" b="1" dirty="0"/>
              <a:t>f of t equals the sum from n equals negative infinity to positive infinity, of c  n times e to the power 2 pi </a:t>
            </a:r>
            <a:r>
              <a:rPr lang="en-US" b="1" dirty="0" err="1"/>
              <a:t>i</a:t>
            </a:r>
            <a:r>
              <a:rPr lang="en-US" b="1" dirty="0"/>
              <a:t> n t over capital T</a:t>
            </a:r>
            <a:r>
              <a:rPr lang="en-US" dirty="0"/>
              <a:t>.</a:t>
            </a:r>
          </a:p>
          <a:p>
            <a:r>
              <a:rPr lang="en-US" dirty="0"/>
              <a:t>Each term in the sum is a complex exponential — and each coefficient, </a:t>
            </a:r>
            <a:r>
              <a:rPr lang="en-US" b="1" dirty="0"/>
              <a:t>c  n</a:t>
            </a:r>
            <a:r>
              <a:rPr lang="en-US" dirty="0"/>
              <a:t>, tells us how much of that particular frequency component is present in the signal.</a:t>
            </a:r>
          </a:p>
          <a:p>
            <a:endParaRPr lang="en-US" dirty="0"/>
          </a:p>
          <a:p>
            <a:r>
              <a:rPr lang="en-US" dirty="0"/>
              <a:t>Now how do we calculate these coefficients?</a:t>
            </a:r>
          </a:p>
          <a:p>
            <a:r>
              <a:rPr lang="en-US" dirty="0"/>
              <a:t>We use the formula:</a:t>
            </a:r>
          </a:p>
          <a:p>
            <a:r>
              <a:rPr lang="en-US" b="1" dirty="0"/>
              <a:t>c  n equals 1 over capital T, times the integral from 0 to capital T, of f of t multiplied by e to the power negative 2 pi </a:t>
            </a:r>
            <a:r>
              <a:rPr lang="en-US" b="1" dirty="0" err="1"/>
              <a:t>i</a:t>
            </a:r>
            <a:r>
              <a:rPr lang="en-US" b="1" dirty="0"/>
              <a:t> n t over capital T, d t</a:t>
            </a:r>
            <a:r>
              <a:rPr lang="en-US" dirty="0"/>
              <a:t>.</a:t>
            </a:r>
          </a:p>
          <a:p>
            <a:r>
              <a:rPr lang="en-US" dirty="0"/>
              <a:t>So what we’re doing here is projecting the function f of t onto a basis function — that basis is the complex exponential. This is very much like taking an inner product between vectors.</a:t>
            </a:r>
          </a:p>
          <a:p>
            <a:endParaRPr lang="en-US" dirty="0"/>
          </a:p>
          <a:p>
            <a:r>
              <a:rPr lang="en-US" dirty="0"/>
              <a:t>You can think of the function as living in a high-dimensional space — in fact, infinitely many dimensions. Each basis function spans one of those directions. So when we compute </a:t>
            </a:r>
            <a:r>
              <a:rPr lang="en-US" b="1" dirty="0"/>
              <a:t>c  n</a:t>
            </a:r>
            <a:r>
              <a:rPr lang="en-US" dirty="0"/>
              <a:t>, we’re measuring how much f of t points in the direction of that basis function.</a:t>
            </a:r>
          </a:p>
          <a:p>
            <a:r>
              <a:rPr lang="en-US" dirty="0"/>
              <a:t>Now, what if the function isn’t periodic, or the period becomes very large?</a:t>
            </a:r>
          </a:p>
          <a:p>
            <a:r>
              <a:rPr lang="en-US" dirty="0"/>
              <a:t>That’s where the </a:t>
            </a:r>
            <a:r>
              <a:rPr lang="en-US" b="1" dirty="0"/>
              <a:t>Fourier transform</a:t>
            </a:r>
            <a:r>
              <a:rPr lang="en-US" dirty="0"/>
              <a:t> comes in.</a:t>
            </a:r>
          </a:p>
          <a:p>
            <a:endParaRPr lang="en-US" dirty="0"/>
          </a:p>
          <a:p>
            <a:r>
              <a:rPr lang="en-US" dirty="0"/>
              <a:t>Instead of summing over discrete frequencies, we move to a continuous frequency variable, often called </a:t>
            </a:r>
            <a:r>
              <a:rPr lang="en-US" b="1" dirty="0"/>
              <a:t>s</a:t>
            </a:r>
            <a:r>
              <a:rPr lang="en-US" dirty="0"/>
              <a:t>.</a:t>
            </a:r>
          </a:p>
          <a:p>
            <a:r>
              <a:rPr lang="en-US" dirty="0"/>
              <a:t>The Fourier transform of f of t is written as </a:t>
            </a:r>
            <a:r>
              <a:rPr lang="en-US" b="1" dirty="0"/>
              <a:t>f hat of s</a:t>
            </a:r>
            <a:r>
              <a:rPr lang="en-US" dirty="0"/>
              <a:t>, and it’s defined as:</a:t>
            </a:r>
          </a:p>
          <a:p>
            <a:r>
              <a:rPr lang="en-US" b="1" dirty="0"/>
              <a:t>The integral from negative infinity to positive infinity, of f of t times e to the power negative 2 pi </a:t>
            </a:r>
            <a:r>
              <a:rPr lang="en-US" b="1" dirty="0" err="1"/>
              <a:t>i</a:t>
            </a:r>
            <a:r>
              <a:rPr lang="en-US" b="1" dirty="0"/>
              <a:t> s t, d t</a:t>
            </a:r>
            <a:r>
              <a:rPr lang="en-US" dirty="0"/>
              <a:t>.</a:t>
            </a:r>
          </a:p>
          <a:p>
            <a:r>
              <a:rPr lang="en-US" dirty="0"/>
              <a:t>To recover the original function, we use the </a:t>
            </a:r>
            <a:r>
              <a:rPr lang="en-US" b="1" dirty="0"/>
              <a:t>inverse Fourier transform</a:t>
            </a:r>
            <a:r>
              <a:rPr lang="en-US" dirty="0"/>
              <a:t>, which is:</a:t>
            </a:r>
          </a:p>
          <a:p>
            <a:r>
              <a:rPr lang="en-US" b="1" dirty="0"/>
              <a:t>f of t equals the integral from negative infinity to positive infinity, of f hat of s times e to the power 2 pi </a:t>
            </a:r>
            <a:r>
              <a:rPr lang="en-US" b="1" dirty="0" err="1"/>
              <a:t>i</a:t>
            </a:r>
            <a:r>
              <a:rPr lang="en-US" b="1" dirty="0"/>
              <a:t> s t, d s</a:t>
            </a:r>
            <a:r>
              <a:rPr lang="en-US" dirty="0"/>
              <a:t>.</a:t>
            </a:r>
          </a:p>
          <a:p>
            <a:endParaRPr lang="en-US" dirty="0"/>
          </a:p>
          <a:p>
            <a:r>
              <a:rPr lang="en-US" dirty="0"/>
              <a:t>So you can see — when we move from a periodic function with period capital T, to a general function as T approaches infinity, the Fourier series becomes the Fourier transform.</a:t>
            </a:r>
          </a:p>
          <a:p>
            <a:r>
              <a:rPr lang="en-US" dirty="0"/>
              <a:t>This is a very elegant transition — from a discrete sum to a continuous integral — and it forms the basis of much of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a:t>
            </a:fld>
            <a:endParaRPr lang="en-US"/>
          </a:p>
        </p:txBody>
      </p:sp>
    </p:spTree>
    <p:extLst>
      <p:ext uri="{BB962C8B-B14F-4D97-AF65-F5344CB8AC3E}">
        <p14:creationId xmlns:p14="http://schemas.microsoft.com/office/powerpoint/2010/main" val="2057944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the basics of the Fourier series and transform, let’s talk about a very important result: the </a:t>
            </a:r>
            <a:r>
              <a:rPr lang="en-US" b="1" dirty="0"/>
              <a:t>Convolution Theorem</a:t>
            </a:r>
            <a:r>
              <a:rPr lang="en-US" dirty="0"/>
              <a:t>.</a:t>
            </a:r>
          </a:p>
          <a:p>
            <a:r>
              <a:rPr lang="en-US" dirty="0"/>
              <a:t>This theorem creates a beautiful bridge between two worlds — the time domain and the frequency domain.</a:t>
            </a:r>
          </a:p>
          <a:p>
            <a:endParaRPr lang="en-US" dirty="0"/>
          </a:p>
          <a:p>
            <a:r>
              <a:rPr lang="en-US" dirty="0"/>
              <a:t>Here’s what it says:</a:t>
            </a:r>
            <a:br>
              <a:rPr lang="en-US" dirty="0"/>
            </a:br>
            <a:r>
              <a:rPr lang="en-US" b="1" dirty="0"/>
              <a:t>Convolution in the time domain becomes multiplication in the frequency domain.</a:t>
            </a:r>
            <a:endParaRPr lang="en-US" dirty="0"/>
          </a:p>
          <a:p>
            <a:r>
              <a:rPr lang="en-US" dirty="0"/>
              <a:t>In simple terms, if you have a linear, time-invariant system, the output is the </a:t>
            </a:r>
            <a:r>
              <a:rPr lang="en-US" b="1" dirty="0"/>
              <a:t>convolution</a:t>
            </a:r>
            <a:r>
              <a:rPr lang="en-US" dirty="0"/>
              <a:t> of the input signal with the system’s </a:t>
            </a:r>
            <a:r>
              <a:rPr lang="en-US" b="1" dirty="0"/>
              <a:t>impulse response</a:t>
            </a:r>
            <a:r>
              <a:rPr lang="en-US" dirty="0"/>
              <a:t>.</a:t>
            </a:r>
            <a:br>
              <a:rPr lang="en-US" dirty="0"/>
            </a:br>
            <a:r>
              <a:rPr lang="en-US" dirty="0"/>
              <a:t>But instead of computing that convolution directly — which can be messy — you can switch to the frequency domain, where it becomes much easier.</a:t>
            </a:r>
          </a:p>
          <a:p>
            <a:endParaRPr lang="en-US" dirty="0"/>
          </a:p>
          <a:p>
            <a:r>
              <a:rPr lang="en-US" dirty="0"/>
              <a:t>So, let’s say:</a:t>
            </a:r>
          </a:p>
          <a:p>
            <a:r>
              <a:rPr lang="en-US" b="1" dirty="0"/>
              <a:t>f of t</a:t>
            </a:r>
            <a:r>
              <a:rPr lang="en-US" dirty="0"/>
              <a:t> is your input signal,</a:t>
            </a:r>
          </a:p>
          <a:p>
            <a:r>
              <a:rPr lang="en-US" b="1" dirty="0"/>
              <a:t>g of t</a:t>
            </a:r>
            <a:r>
              <a:rPr lang="en-US" dirty="0"/>
              <a:t> is the system’s impulse response,</a:t>
            </a:r>
          </a:p>
          <a:p>
            <a:r>
              <a:rPr lang="en-US" dirty="0"/>
              <a:t>and </a:t>
            </a:r>
            <a:r>
              <a:rPr lang="en-US" b="1" dirty="0"/>
              <a:t>f star g</a:t>
            </a:r>
            <a:r>
              <a:rPr lang="en-US" dirty="0"/>
              <a:t> means the convolution of f and g.</a:t>
            </a:r>
          </a:p>
          <a:p>
            <a:r>
              <a:rPr lang="en-US" dirty="0"/>
              <a:t>Then, in the frequency domain, their Fourier transforms — call them </a:t>
            </a:r>
            <a:r>
              <a:rPr lang="en-US" b="1" dirty="0"/>
              <a:t>F of s</a:t>
            </a:r>
            <a:r>
              <a:rPr lang="en-US" dirty="0"/>
              <a:t> and </a:t>
            </a:r>
            <a:r>
              <a:rPr lang="en-US" b="1" dirty="0"/>
              <a:t>G of s</a:t>
            </a:r>
            <a:r>
              <a:rPr lang="en-US" dirty="0"/>
              <a:t> — satisfy this simple rule:</a:t>
            </a:r>
          </a:p>
          <a:p>
            <a:r>
              <a:rPr lang="en-US" b="1" dirty="0"/>
              <a:t>The Fourier transform of the convolution equals the product of the individual Fourier transforms.</a:t>
            </a:r>
            <a:endParaRPr lang="en-US" dirty="0"/>
          </a:p>
          <a:p>
            <a:endParaRPr lang="en-US" dirty="0"/>
          </a:p>
          <a:p>
            <a:r>
              <a:rPr lang="en-US" dirty="0"/>
              <a:t>Or in math:</a:t>
            </a:r>
            <a:br>
              <a:rPr lang="en-US" dirty="0"/>
            </a:br>
            <a:r>
              <a:rPr lang="en-US" b="1" dirty="0"/>
              <a:t>Fourier of f star g equals F of s times G of s.</a:t>
            </a:r>
            <a:endParaRPr lang="en-US" dirty="0"/>
          </a:p>
          <a:p>
            <a:r>
              <a:rPr lang="en-US" dirty="0"/>
              <a:t>That means you now have </a:t>
            </a:r>
            <a:r>
              <a:rPr lang="en-US" b="1" dirty="0"/>
              <a:t>two ways</a:t>
            </a:r>
            <a:r>
              <a:rPr lang="en-US" dirty="0"/>
              <a:t> to compute the system’s output:</a:t>
            </a:r>
          </a:p>
          <a:p>
            <a:r>
              <a:rPr lang="en-US" dirty="0"/>
              <a:t>You can do convolution in the time domain.</a:t>
            </a:r>
          </a:p>
          <a:p>
            <a:r>
              <a:rPr lang="en-US" dirty="0"/>
              <a:t>Or — you can transform both the input and the impulse response into the frequency domain, multiply them there, and then take the </a:t>
            </a:r>
            <a:r>
              <a:rPr lang="en-US" b="1" dirty="0"/>
              <a:t>inverse Fourier transform</a:t>
            </a:r>
            <a:r>
              <a:rPr lang="en-US" dirty="0"/>
              <a:t> to go back to the time domain.</a:t>
            </a:r>
          </a:p>
          <a:p>
            <a:r>
              <a:rPr lang="en-US" dirty="0"/>
              <a:t>Now, let’s look at a simple example.</a:t>
            </a:r>
          </a:p>
          <a:p>
            <a:endParaRPr lang="en-US" dirty="0"/>
          </a:p>
          <a:p>
            <a:r>
              <a:rPr lang="en-US" dirty="0"/>
              <a:t>Suppose you convolve two </a:t>
            </a:r>
            <a:r>
              <a:rPr lang="en-US" b="1" dirty="0"/>
              <a:t>rectangular functions</a:t>
            </a:r>
            <a:r>
              <a:rPr lang="en-US" dirty="0"/>
              <a:t>, also called </a:t>
            </a:r>
            <a:r>
              <a:rPr lang="en-US" b="1" dirty="0"/>
              <a:t>gate functions</a:t>
            </a:r>
            <a:r>
              <a:rPr lang="en-US" dirty="0"/>
              <a:t>. Each one looks like a block or a box.</a:t>
            </a:r>
          </a:p>
          <a:p>
            <a:r>
              <a:rPr lang="en-US" dirty="0"/>
              <a:t>To compute the convolution, you flip one function, shift it, multiply the overlapping parts, and add the result.</a:t>
            </a:r>
          </a:p>
          <a:p>
            <a:r>
              <a:rPr lang="en-US" dirty="0"/>
              <a:t>When the two rectangles perfectly overlap, the area under the curve reaches its maximum. As they move apart, the overlapping area decreases linearly — and what you get is a </a:t>
            </a:r>
            <a:r>
              <a:rPr lang="en-US" b="1" dirty="0"/>
              <a:t>triangle-shaped function</a:t>
            </a:r>
            <a:r>
              <a:rPr lang="en-US" dirty="0"/>
              <a:t>.</a:t>
            </a:r>
          </a:p>
          <a:p>
            <a:r>
              <a:rPr lang="en-US" dirty="0"/>
              <a:t>So, two rectangles convolved give you a triangle.</a:t>
            </a:r>
          </a:p>
          <a:p>
            <a:endParaRPr lang="en-US" dirty="0"/>
          </a:p>
          <a:p>
            <a:r>
              <a:rPr lang="en-US" dirty="0"/>
              <a:t>Now let’s look at this in the frequency domain.</a:t>
            </a:r>
          </a:p>
          <a:p>
            <a:r>
              <a:rPr lang="en-US" dirty="0"/>
              <a:t>We know the Fourier transform of a rectangular function is a </a:t>
            </a:r>
            <a:r>
              <a:rPr lang="en-US" b="1" dirty="0" err="1"/>
              <a:t>sinc</a:t>
            </a:r>
            <a:r>
              <a:rPr lang="en-US" b="1" dirty="0"/>
              <a:t> function</a:t>
            </a:r>
            <a:r>
              <a:rPr lang="en-US" dirty="0"/>
              <a:t> — that’s </a:t>
            </a:r>
            <a:r>
              <a:rPr lang="en-US" b="1" dirty="0" err="1"/>
              <a:t>sinc</a:t>
            </a:r>
            <a:r>
              <a:rPr lang="en-US" b="1" dirty="0"/>
              <a:t> of s</a:t>
            </a:r>
            <a:r>
              <a:rPr lang="en-US" dirty="0"/>
              <a:t>, which comes from </a:t>
            </a:r>
            <a:r>
              <a:rPr lang="en-US" b="1" dirty="0"/>
              <a:t>sine of pi s over pi s</a:t>
            </a:r>
            <a:r>
              <a:rPr lang="en-US" dirty="0"/>
              <a:t>.</a:t>
            </a:r>
          </a:p>
          <a:p>
            <a:r>
              <a:rPr lang="en-US" dirty="0"/>
              <a:t>So when we convolve two rectangles in the time domain, we get a triangle. That means, in the frequency domain, we multiply two </a:t>
            </a:r>
            <a:r>
              <a:rPr lang="en-US" dirty="0" err="1"/>
              <a:t>sinc</a:t>
            </a:r>
            <a:r>
              <a:rPr lang="en-US" dirty="0"/>
              <a:t> functions — and we get </a:t>
            </a:r>
            <a:r>
              <a:rPr lang="en-US" b="1" dirty="0" err="1"/>
              <a:t>sinc</a:t>
            </a:r>
            <a:r>
              <a:rPr lang="en-US" b="1" dirty="0"/>
              <a:t> squared</a:t>
            </a:r>
            <a:r>
              <a:rPr lang="en-US" dirty="0"/>
              <a:t>.</a:t>
            </a:r>
          </a:p>
          <a:p>
            <a:r>
              <a:rPr lang="en-US" dirty="0"/>
              <a:t>So: Triangle in time domain means </a:t>
            </a:r>
            <a:r>
              <a:rPr lang="en-US" dirty="0" err="1"/>
              <a:t>sinc</a:t>
            </a:r>
            <a:r>
              <a:rPr lang="en-US" dirty="0"/>
              <a:t> squared in frequency domain.</a:t>
            </a:r>
          </a:p>
          <a:p>
            <a:endParaRPr lang="en-US" dirty="0"/>
          </a:p>
          <a:p>
            <a:r>
              <a:rPr lang="en-US" dirty="0"/>
              <a:t>This is a powerful example that helps you visualize the </a:t>
            </a:r>
            <a:r>
              <a:rPr lang="en-US" b="1" dirty="0"/>
              <a:t>convolution theorem</a:t>
            </a:r>
            <a:r>
              <a:rPr lang="en-US" dirty="0"/>
              <a:t> in action. It shows how the shapes in time relate to the shapes in frequency — and why this theorem is such a key tool for signal processing and systems analysis.</a:t>
            </a:r>
          </a:p>
          <a:p>
            <a:r>
              <a:rPr lang="en-US" dirty="0"/>
              <a:t>Keep this visual and mathematical link in mind — it will come up again and again.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5</a:t>
            </a:fld>
            <a:endParaRPr lang="en-US"/>
          </a:p>
        </p:txBody>
      </p:sp>
    </p:spTree>
    <p:extLst>
      <p:ext uri="{BB962C8B-B14F-4D97-AF65-F5344CB8AC3E}">
        <p14:creationId xmlns:p14="http://schemas.microsoft.com/office/powerpoint/2010/main" val="1754098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step back for a moment and ask a deeper question: </a:t>
            </a:r>
            <a:r>
              <a:rPr lang="en-US" b="1" dirty="0"/>
              <a:t>Why does the convolution theorem work the way it does?</a:t>
            </a:r>
            <a:r>
              <a:rPr lang="en-US" dirty="0"/>
              <a:t> What makes it so special?</a:t>
            </a:r>
          </a:p>
          <a:p>
            <a:endParaRPr lang="en-US" dirty="0"/>
          </a:p>
          <a:p>
            <a:r>
              <a:rPr lang="en-US" dirty="0"/>
              <a:t>In the last lecture, I mentioned something that gives us a clue.</a:t>
            </a:r>
            <a:br>
              <a:rPr lang="en-US" dirty="0"/>
            </a:br>
            <a:r>
              <a:rPr lang="en-US" dirty="0"/>
              <a:t>If you have a </a:t>
            </a:r>
            <a:r>
              <a:rPr lang="en-US" b="1" dirty="0"/>
              <a:t>shift-invariant linear system</a:t>
            </a:r>
            <a:r>
              <a:rPr lang="en-US" dirty="0"/>
              <a:t>, and you input a </a:t>
            </a:r>
            <a:r>
              <a:rPr lang="en-US" b="1" dirty="0"/>
              <a:t>sinusoidal signal</a:t>
            </a:r>
            <a:r>
              <a:rPr lang="en-US" dirty="0"/>
              <a:t>, what comes out is </a:t>
            </a:r>
            <a:r>
              <a:rPr lang="en-US" b="1" dirty="0"/>
              <a:t>also a sinusoid</a:t>
            </a:r>
            <a:r>
              <a:rPr lang="en-US" dirty="0"/>
              <a:t>, and — importantly — at </a:t>
            </a:r>
            <a:r>
              <a:rPr lang="en-US" b="1" dirty="0"/>
              <a:t>the same frequency</a:t>
            </a:r>
            <a:r>
              <a:rPr lang="en-US" dirty="0"/>
              <a:t>.</a:t>
            </a:r>
          </a:p>
          <a:p>
            <a:r>
              <a:rPr lang="en-US" dirty="0"/>
              <a:t>That’s a big deal.</a:t>
            </a:r>
          </a:p>
          <a:p>
            <a:r>
              <a:rPr lang="en-US" dirty="0"/>
              <a:t>It means the system doesn't generate any new frequencies. It doesn’t distort the sinusoid into some other shape. It simply scales it or shifts its phase — but the frequency stays the same.</a:t>
            </a:r>
          </a:p>
          <a:p>
            <a:r>
              <a:rPr lang="en-US" dirty="0"/>
              <a:t>This is a unique and powerful property of sinusoids.</a:t>
            </a:r>
          </a:p>
          <a:p>
            <a:endParaRPr lang="en-US" dirty="0"/>
          </a:p>
          <a:p>
            <a:r>
              <a:rPr lang="en-US" dirty="0"/>
              <a:t>Now let’s think about what that means for convolution and Fourier analysis.</a:t>
            </a:r>
          </a:p>
          <a:p>
            <a:r>
              <a:rPr lang="en-US" dirty="0"/>
              <a:t>In time-domain analysis, </a:t>
            </a:r>
            <a:r>
              <a:rPr lang="en-US" b="1" dirty="0"/>
              <a:t>convolution</a:t>
            </a:r>
            <a:r>
              <a:rPr lang="en-US" dirty="0"/>
              <a:t> is the operation that describes how a system responds to an input.</a:t>
            </a:r>
          </a:p>
          <a:p>
            <a:r>
              <a:rPr lang="en-US" dirty="0"/>
              <a:t>But if your input and your system are both described using sinusoids, and those sinusoids </a:t>
            </a:r>
            <a:r>
              <a:rPr lang="en-US" b="1" dirty="0"/>
              <a:t>don’t change frequency</a:t>
            </a:r>
            <a:r>
              <a:rPr lang="en-US" dirty="0"/>
              <a:t>, then it turns out convolution becomes </a:t>
            </a:r>
            <a:r>
              <a:rPr lang="en-US" b="1" dirty="0"/>
              <a:t>multiplication</a:t>
            </a:r>
            <a:r>
              <a:rPr lang="en-US" dirty="0"/>
              <a:t> in the Fourier domain.</a:t>
            </a:r>
          </a:p>
          <a:p>
            <a:endParaRPr lang="en-US" dirty="0"/>
          </a:p>
          <a:p>
            <a:r>
              <a:rPr lang="en-US" dirty="0"/>
              <a:t>Why?</a:t>
            </a:r>
          </a:p>
          <a:p>
            <a:r>
              <a:rPr lang="en-US" dirty="0"/>
              <a:t>Because in the Fourier domain, every signal is broken into sinusoids. And if each one stays intact — same frequency in, same frequency out — then multiplying their responses is all you need to compute the system output.</a:t>
            </a:r>
          </a:p>
          <a:p>
            <a:r>
              <a:rPr lang="en-US" dirty="0"/>
              <a:t>That’s exactly what the convolution theorem says:</a:t>
            </a:r>
            <a:br>
              <a:rPr lang="en-US" dirty="0"/>
            </a:br>
            <a:r>
              <a:rPr lang="en-US" b="1" dirty="0"/>
              <a:t>Convolution in time equals multiplication in frequency.</a:t>
            </a:r>
            <a:endParaRPr lang="en-US" dirty="0"/>
          </a:p>
          <a:p>
            <a:r>
              <a:rPr lang="en-US" dirty="0"/>
              <a:t>But — and this is important — this beautiful relationship only works </a:t>
            </a:r>
            <a:r>
              <a:rPr lang="en-US" b="1" dirty="0"/>
              <a:t>because</a:t>
            </a:r>
            <a:r>
              <a:rPr lang="en-US" dirty="0"/>
              <a:t> of the special behavior of sinusoids.</a:t>
            </a:r>
          </a:p>
          <a:p>
            <a:r>
              <a:rPr lang="en-US" dirty="0"/>
              <a:t>If your input signal isn’t made of sinusoids, or your system doesn’t treat them nicely, this property breaks down.</a:t>
            </a:r>
          </a:p>
          <a:p>
            <a:r>
              <a:rPr lang="en-US" dirty="0"/>
              <a:t>That’s why this theorem only exists for the </a:t>
            </a:r>
            <a:r>
              <a:rPr lang="en-US" b="1" dirty="0"/>
              <a:t>Fourier transform</a:t>
            </a:r>
            <a:r>
              <a:rPr lang="en-US" dirty="0"/>
              <a:t>, which is based entirely on sinusoids.</a:t>
            </a:r>
            <a:br>
              <a:rPr lang="en-US" dirty="0"/>
            </a:br>
            <a:r>
              <a:rPr lang="en-US" dirty="0"/>
              <a:t>Other transforms — like wavelets or polynomials — don’t have this same "in equals out" behavior, and so they don’t give us a convolution theorem in the same way.</a:t>
            </a:r>
          </a:p>
          <a:p>
            <a:endParaRPr lang="en-US" dirty="0"/>
          </a:p>
          <a:p>
            <a:r>
              <a:rPr lang="en-US" dirty="0"/>
              <a:t>If you’re curious, I actually encourage you to think about this more. You could even write a short paper or a reflection on it.</a:t>
            </a:r>
          </a:p>
          <a:p>
            <a:r>
              <a:rPr lang="en-US" dirty="0"/>
              <a:t>Here’s something to try:</a:t>
            </a:r>
          </a:p>
          <a:p>
            <a:r>
              <a:rPr lang="en-US" dirty="0"/>
              <a:t>Try proving that if a function goes into a system and the same </a:t>
            </a:r>
            <a:r>
              <a:rPr lang="en-US" b="1" dirty="0"/>
              <a:t>form</a:t>
            </a:r>
            <a:r>
              <a:rPr lang="en-US" dirty="0"/>
              <a:t> comes out — unchanged except for amplitude and phase — then that function must be a sinusoid.</a:t>
            </a:r>
          </a:p>
          <a:p>
            <a:endParaRPr lang="en-US" dirty="0"/>
          </a:p>
          <a:p>
            <a:r>
              <a:rPr lang="en-US" dirty="0"/>
              <a:t>And also prove the related idea:</a:t>
            </a:r>
            <a:br>
              <a:rPr lang="en-US" dirty="0"/>
            </a:br>
            <a:r>
              <a:rPr lang="en-US" dirty="0"/>
              <a:t>If sinusoids go in and come out with the </a:t>
            </a:r>
            <a:r>
              <a:rPr lang="en-US" b="1" dirty="0"/>
              <a:t>same frequency</a:t>
            </a:r>
            <a:r>
              <a:rPr lang="en-US" dirty="0"/>
              <a:t>, then convolution in time must match multiplication in frequency.</a:t>
            </a:r>
          </a:p>
          <a:p>
            <a:r>
              <a:rPr lang="en-US" dirty="0"/>
              <a:t>These are two different ideas — but together, they give us the </a:t>
            </a:r>
            <a:r>
              <a:rPr lang="en-US" b="1" dirty="0"/>
              <a:t>foundation</a:t>
            </a:r>
            <a:r>
              <a:rPr lang="en-US" dirty="0"/>
              <a:t> for the convolution theorem and explain </a:t>
            </a:r>
            <a:r>
              <a:rPr lang="en-US" b="1" dirty="0"/>
              <a:t>why</a:t>
            </a:r>
            <a:r>
              <a:rPr lang="en-US" dirty="0"/>
              <a:t> Fourier analysis is so powerful for linear systems.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6</a:t>
            </a:fld>
            <a:endParaRPr lang="en-US"/>
          </a:p>
        </p:txBody>
      </p:sp>
    </p:spTree>
    <p:extLst>
      <p:ext uri="{BB962C8B-B14F-4D97-AF65-F5344CB8AC3E}">
        <p14:creationId xmlns:p14="http://schemas.microsoft.com/office/powerpoint/2010/main" val="2257962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walk through an example to help us better understand why the </a:t>
            </a:r>
            <a:r>
              <a:rPr lang="en-US" b="1" dirty="0"/>
              <a:t>convolution theorem</a:t>
            </a:r>
            <a:r>
              <a:rPr lang="en-US" dirty="0"/>
              <a:t> works — especially when sinusoids are involved.</a:t>
            </a:r>
          </a:p>
          <a:p>
            <a:endParaRPr lang="en-US" dirty="0"/>
          </a:p>
          <a:p>
            <a:r>
              <a:rPr lang="en-US" dirty="0"/>
              <a:t>We’ll use a </a:t>
            </a:r>
            <a:r>
              <a:rPr lang="en-US" b="1" dirty="0"/>
              <a:t>one-dimensional, shift-invariant linear system</a:t>
            </a:r>
            <a:r>
              <a:rPr lang="en-US" dirty="0"/>
              <a:t>.</a:t>
            </a:r>
            <a:br>
              <a:rPr lang="en-US" dirty="0"/>
            </a:br>
            <a:r>
              <a:rPr lang="en-US" dirty="0"/>
              <a:t>In such a system, the output — which we’ll call </a:t>
            </a:r>
            <a:r>
              <a:rPr lang="en-US" b="1" dirty="0"/>
              <a:t>o of t</a:t>
            </a:r>
            <a:r>
              <a:rPr lang="en-US" dirty="0"/>
              <a:t> — is the </a:t>
            </a:r>
            <a:r>
              <a:rPr lang="en-US" b="1" dirty="0"/>
              <a:t>convolution</a:t>
            </a:r>
            <a:r>
              <a:rPr lang="en-US" dirty="0"/>
              <a:t> of the system’s </a:t>
            </a:r>
            <a:r>
              <a:rPr lang="en-US" b="1" dirty="0"/>
              <a:t>impulse response h of t</a:t>
            </a:r>
            <a:r>
              <a:rPr lang="en-US" dirty="0"/>
              <a:t> with the input signal, </a:t>
            </a:r>
            <a:r>
              <a:rPr lang="en-US" b="1" dirty="0" err="1"/>
              <a:t>i</a:t>
            </a:r>
            <a:r>
              <a:rPr lang="en-US" b="1" dirty="0"/>
              <a:t> of t</a:t>
            </a:r>
            <a:r>
              <a:rPr lang="en-US" dirty="0"/>
              <a:t>.</a:t>
            </a:r>
          </a:p>
          <a:p>
            <a:r>
              <a:rPr lang="en-US" dirty="0"/>
              <a:t>So we write:</a:t>
            </a:r>
          </a:p>
          <a:p>
            <a:r>
              <a:rPr lang="en-US" b="1" dirty="0"/>
              <a:t>o of t equals h of t convolved with </a:t>
            </a:r>
            <a:r>
              <a:rPr lang="en-US" b="1" dirty="0" err="1"/>
              <a:t>i</a:t>
            </a:r>
            <a:r>
              <a:rPr lang="en-US" b="1" dirty="0"/>
              <a:t> of t.</a:t>
            </a:r>
            <a:endParaRPr lang="en-US" dirty="0"/>
          </a:p>
          <a:p>
            <a:r>
              <a:rPr lang="en-US" dirty="0"/>
              <a:t>According to the </a:t>
            </a:r>
            <a:r>
              <a:rPr lang="en-US" b="1" dirty="0"/>
              <a:t>convolution theorem</a:t>
            </a:r>
            <a:r>
              <a:rPr lang="en-US" dirty="0"/>
              <a:t>, when we take the Fourier transform of both sides, this convolution becomes multiplication.</a:t>
            </a:r>
          </a:p>
          <a:p>
            <a:r>
              <a:rPr lang="en-US" dirty="0"/>
              <a:t>So we have:</a:t>
            </a:r>
          </a:p>
          <a:p>
            <a:r>
              <a:rPr lang="en-US" b="1" dirty="0"/>
              <a:t>capital O of u equals capital H of u times capital I of u</a:t>
            </a:r>
            <a:r>
              <a:rPr lang="en-US" dirty="0"/>
              <a:t>,</a:t>
            </a:r>
            <a:br>
              <a:rPr lang="en-US" dirty="0"/>
            </a:br>
            <a:r>
              <a:rPr lang="en-US" dirty="0"/>
              <a:t>where capital O, H, and I are the Fourier transforms of the output, impulse response, and input, respectively, and </a:t>
            </a:r>
            <a:r>
              <a:rPr lang="en-US" b="1" dirty="0"/>
              <a:t>u</a:t>
            </a:r>
            <a:r>
              <a:rPr lang="en-US" dirty="0"/>
              <a:t> is the frequency variable.</a:t>
            </a:r>
          </a:p>
          <a:p>
            <a:endParaRPr lang="en-US" dirty="0"/>
          </a:p>
          <a:p>
            <a:r>
              <a:rPr lang="en-US" dirty="0"/>
              <a:t>Now, let’s suppose we feed the system a </a:t>
            </a:r>
            <a:r>
              <a:rPr lang="en-US" b="1" dirty="0"/>
              <a:t>complex sinusoidal input</a:t>
            </a:r>
            <a:r>
              <a:rPr lang="en-US" dirty="0"/>
              <a:t>.</a:t>
            </a:r>
            <a:br>
              <a:rPr lang="en-US" dirty="0"/>
            </a:br>
            <a:r>
              <a:rPr lang="en-US" dirty="0"/>
              <a:t>That is:</a:t>
            </a:r>
            <a:br>
              <a:rPr lang="en-US" dirty="0"/>
            </a:br>
            <a:r>
              <a:rPr lang="en-US" b="1" dirty="0" err="1"/>
              <a:t>i</a:t>
            </a:r>
            <a:r>
              <a:rPr lang="en-US" b="1" dirty="0"/>
              <a:t> of t equals e to the power </a:t>
            </a:r>
            <a:r>
              <a:rPr lang="en-US" b="1" dirty="0" err="1"/>
              <a:t>i</a:t>
            </a:r>
            <a:r>
              <a:rPr lang="en-US" b="1" dirty="0"/>
              <a:t> 2 pi u naught t</a:t>
            </a:r>
            <a:r>
              <a:rPr lang="en-US" dirty="0"/>
              <a:t>,</a:t>
            </a:r>
            <a:br>
              <a:rPr lang="en-US" dirty="0"/>
            </a:br>
            <a:r>
              <a:rPr lang="en-US" dirty="0"/>
              <a:t>where </a:t>
            </a:r>
            <a:r>
              <a:rPr lang="en-US" b="1" dirty="0"/>
              <a:t>u naught</a:t>
            </a:r>
            <a:r>
              <a:rPr lang="en-US" dirty="0"/>
              <a:t> is the frequency of the sinusoid.</a:t>
            </a:r>
          </a:p>
          <a:p>
            <a:r>
              <a:rPr lang="en-US" dirty="0"/>
              <a:t>As we learned earlier, the </a:t>
            </a:r>
            <a:r>
              <a:rPr lang="en-US" b="1" dirty="0"/>
              <a:t>Fourier transform</a:t>
            </a:r>
            <a:r>
              <a:rPr lang="en-US" dirty="0"/>
              <a:t> of a pure sinusoidal signal is a </a:t>
            </a:r>
            <a:r>
              <a:rPr lang="en-US" b="1" dirty="0"/>
              <a:t>delta function</a:t>
            </a:r>
            <a:r>
              <a:rPr lang="en-US" dirty="0"/>
              <a:t>.</a:t>
            </a:r>
            <a:br>
              <a:rPr lang="en-US" dirty="0"/>
            </a:br>
            <a:r>
              <a:rPr lang="en-US" dirty="0"/>
              <a:t>So, in the frequency domain:</a:t>
            </a:r>
          </a:p>
          <a:p>
            <a:r>
              <a:rPr lang="en-US" b="1" dirty="0"/>
              <a:t>capital I of u equals delta of u minus u naught.</a:t>
            </a:r>
            <a:endParaRPr lang="en-US" dirty="0"/>
          </a:p>
          <a:p>
            <a:r>
              <a:rPr lang="en-US" dirty="0"/>
              <a:t>This delta function tells us the signal contains only one frequency — </a:t>
            </a:r>
            <a:r>
              <a:rPr lang="en-US" b="1" dirty="0"/>
              <a:t>u naught</a:t>
            </a:r>
            <a:r>
              <a:rPr lang="en-US" dirty="0"/>
              <a:t> — and no others.</a:t>
            </a:r>
          </a:p>
          <a:p>
            <a:endParaRPr lang="en-US" dirty="0"/>
          </a:p>
          <a:p>
            <a:r>
              <a:rPr lang="en-US" dirty="0"/>
              <a:t>Now, using the convolution theorem:</a:t>
            </a:r>
          </a:p>
          <a:p>
            <a:r>
              <a:rPr lang="en-US" b="1" dirty="0"/>
              <a:t>capital O of u equals capital H of u times delta of u minus u naught.</a:t>
            </a:r>
            <a:endParaRPr lang="en-US" dirty="0"/>
          </a:p>
          <a:p>
            <a:r>
              <a:rPr lang="en-US" dirty="0"/>
              <a:t>Multiplying anything by a delta function simply picks out the value at that point.</a:t>
            </a:r>
            <a:br>
              <a:rPr lang="en-US" dirty="0"/>
            </a:br>
            <a:r>
              <a:rPr lang="en-US" dirty="0"/>
              <a:t>So this simplifies to:</a:t>
            </a:r>
          </a:p>
          <a:p>
            <a:r>
              <a:rPr lang="en-US" b="1" dirty="0"/>
              <a:t>capital O of u equals H of u naught times delta of u minus u naught.</a:t>
            </a:r>
            <a:endParaRPr lang="en-US" dirty="0"/>
          </a:p>
          <a:p>
            <a:r>
              <a:rPr lang="en-US" dirty="0"/>
              <a:t>This tells us that the output, in the frequency domain, also consists of </a:t>
            </a:r>
            <a:r>
              <a:rPr lang="en-US" b="1" dirty="0"/>
              <a:t>a single frequency</a:t>
            </a:r>
            <a:r>
              <a:rPr lang="en-US" dirty="0"/>
              <a:t> — the same one as the input — and it’s just scaled by the system’s </a:t>
            </a:r>
            <a:r>
              <a:rPr lang="en-US" b="1" dirty="0"/>
              <a:t>transfer function</a:t>
            </a:r>
            <a:r>
              <a:rPr lang="en-US" dirty="0"/>
              <a:t> at that frequency, which is </a:t>
            </a:r>
            <a:r>
              <a:rPr lang="en-US" b="1" dirty="0"/>
              <a:t>H of u naught</a:t>
            </a:r>
            <a:r>
              <a:rPr lang="en-US" dirty="0"/>
              <a:t>.</a:t>
            </a:r>
          </a:p>
          <a:p>
            <a:r>
              <a:rPr lang="en-US" dirty="0"/>
              <a:t>Now we go back to the time domain.</a:t>
            </a:r>
          </a:p>
          <a:p>
            <a:endParaRPr lang="en-US" dirty="0"/>
          </a:p>
          <a:p>
            <a:r>
              <a:rPr lang="en-US" dirty="0"/>
              <a:t>If the Fourier transform of the output is a scaled delta function in frequency, then the time-domain output must also be a sinusoid — at the same frequency.</a:t>
            </a:r>
          </a:p>
          <a:p>
            <a:r>
              <a:rPr lang="en-US" dirty="0"/>
              <a:t>So, we have:</a:t>
            </a:r>
          </a:p>
          <a:p>
            <a:r>
              <a:rPr lang="en-US" b="1" dirty="0"/>
              <a:t>o of t equals H of u naught times e to the power </a:t>
            </a:r>
            <a:r>
              <a:rPr lang="en-US" b="1" dirty="0" err="1"/>
              <a:t>i</a:t>
            </a:r>
            <a:r>
              <a:rPr lang="en-US" b="1" dirty="0"/>
              <a:t> 2 pi u naught t.</a:t>
            </a:r>
            <a:endParaRPr lang="en-US" dirty="0"/>
          </a:p>
          <a:p>
            <a:r>
              <a:rPr lang="en-US" dirty="0"/>
              <a:t>This shows that the output is still a </a:t>
            </a:r>
            <a:r>
              <a:rPr lang="en-US" b="1" dirty="0"/>
              <a:t>complex sinusoid</a:t>
            </a:r>
            <a:r>
              <a:rPr lang="en-US" dirty="0"/>
              <a:t> — same frequency as the input — but scaled by a factor, </a:t>
            </a:r>
            <a:r>
              <a:rPr lang="en-US" b="1" dirty="0"/>
              <a:t>H of u naught</a:t>
            </a:r>
            <a:r>
              <a:rPr lang="en-US" dirty="0"/>
              <a:t>, which may include amplitude and phase changes.</a:t>
            </a:r>
          </a:p>
          <a:p>
            <a:r>
              <a:rPr lang="en-US" dirty="0"/>
              <a:t>The key idea here is:</a:t>
            </a:r>
          </a:p>
          <a:p>
            <a:r>
              <a:rPr lang="en-US" dirty="0"/>
              <a:t>The </a:t>
            </a:r>
            <a:r>
              <a:rPr lang="en-US" b="1" dirty="0"/>
              <a:t>frequency doesn't change.</a:t>
            </a:r>
            <a:endParaRPr lang="en-US" dirty="0"/>
          </a:p>
          <a:p>
            <a:r>
              <a:rPr lang="en-US" dirty="0"/>
              <a:t>No new frequencies are generated.</a:t>
            </a:r>
          </a:p>
          <a:p>
            <a:r>
              <a:rPr lang="en-US" dirty="0"/>
              <a:t>The output stays sinusoidal if the input was sinusoidal.</a:t>
            </a:r>
          </a:p>
          <a:p>
            <a:endParaRPr lang="en-US" dirty="0"/>
          </a:p>
          <a:p>
            <a:r>
              <a:rPr lang="en-US" dirty="0"/>
              <a:t>This confirms that </a:t>
            </a:r>
            <a:r>
              <a:rPr lang="en-US" b="1" dirty="0"/>
              <a:t>a shift-invariant linear system preserves frequency</a:t>
            </a:r>
            <a:r>
              <a:rPr lang="en-US" dirty="0"/>
              <a:t> when the input is a pure sinusoid.</a:t>
            </a:r>
          </a:p>
          <a:p>
            <a:r>
              <a:rPr lang="en-US" dirty="0"/>
              <a:t>And we were able to demonstrate this clearly and quickly — thanks to the </a:t>
            </a:r>
            <a:r>
              <a:rPr lang="en-US" b="1" dirty="0"/>
              <a:t>convolution theorem</a:t>
            </a:r>
            <a:r>
              <a:rPr lang="en-US" dirty="0"/>
              <a:t> and the properties of the Fourier transform.</a:t>
            </a:r>
          </a:p>
          <a:p>
            <a:r>
              <a:rPr lang="en-US" dirty="0"/>
              <a:t>It’s a great example of how math gives us not just a result, but deep insight into how signals behave in systems.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7</a:t>
            </a:fld>
            <a:endParaRPr lang="en-US"/>
          </a:p>
        </p:txBody>
      </p:sp>
    </p:spTree>
    <p:extLst>
      <p:ext uri="{BB962C8B-B14F-4D97-AF65-F5344CB8AC3E}">
        <p14:creationId xmlns:p14="http://schemas.microsoft.com/office/powerpoint/2010/main" val="4265780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7F59-3850-FF8D-4132-4C4D91B0D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AAC82-D945-5019-098C-BEEDA18B5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3BA49-E881-99F5-B8BE-10B4C1732B78}"/>
              </a:ext>
            </a:extLst>
          </p:cNvPr>
          <p:cNvSpPr>
            <a:spLocks noGrp="1"/>
          </p:cNvSpPr>
          <p:nvPr>
            <p:ph type="body" idx="1"/>
          </p:nvPr>
        </p:nvSpPr>
        <p:spPr/>
        <p:txBody>
          <a:bodyPr/>
          <a:lstStyle/>
          <a:p>
            <a:r>
              <a:rPr lang="en-US" dirty="0"/>
              <a:t>Let me now show you the other direction of this idea — and this time, we’re not going to rely on the convolution theorem directly.</a:t>
            </a:r>
          </a:p>
          <a:p>
            <a:endParaRPr lang="en-US" dirty="0"/>
          </a:p>
          <a:p>
            <a:r>
              <a:rPr lang="en-US" dirty="0"/>
              <a:t>We’ll start with a simple question:</a:t>
            </a:r>
            <a:br>
              <a:rPr lang="en-US" dirty="0"/>
            </a:br>
            <a:r>
              <a:rPr lang="en-US" b="1" dirty="0"/>
              <a:t>Can any function other than a sinusoid go into a system and come out unchanged in shape — just scaled by a constant?</a:t>
            </a:r>
            <a:endParaRPr lang="en-US" dirty="0"/>
          </a:p>
          <a:p>
            <a:r>
              <a:rPr lang="en-US" dirty="0"/>
              <a:t>Let’s think about that.</a:t>
            </a:r>
          </a:p>
          <a:p>
            <a:endParaRPr lang="en-US" dirty="0"/>
          </a:p>
          <a:p>
            <a:r>
              <a:rPr lang="en-US" dirty="0"/>
              <a:t>Suppose the </a:t>
            </a:r>
            <a:r>
              <a:rPr lang="en-US" b="1" dirty="0"/>
              <a:t>impulse response</a:t>
            </a:r>
            <a:r>
              <a:rPr lang="en-US" dirty="0"/>
              <a:t> of the system is a </a:t>
            </a:r>
            <a:r>
              <a:rPr lang="en-US" b="1" dirty="0"/>
              <a:t>delta function</a:t>
            </a:r>
            <a:r>
              <a:rPr lang="en-US" dirty="0"/>
              <a:t>. Then, any signal you put into that system just passes through exactly as it is — unchanged. The system does nothing.</a:t>
            </a:r>
            <a:br>
              <a:rPr lang="en-US" dirty="0"/>
            </a:br>
            <a:r>
              <a:rPr lang="en-US" dirty="0"/>
              <a:t>This is an ideal system — it responds instantly and perfectly.</a:t>
            </a:r>
          </a:p>
          <a:p>
            <a:endParaRPr lang="en-US" dirty="0"/>
          </a:p>
          <a:p>
            <a:r>
              <a:rPr lang="en-US" dirty="0"/>
              <a:t>For example, if a camera had a perfect delta-function impulse response, every point in the scene would be captured exactly — with perfect sharpness, no blur at all.</a:t>
            </a:r>
          </a:p>
          <a:p>
            <a:r>
              <a:rPr lang="en-US" dirty="0"/>
              <a:t>But in real life, that doesn’t happen. No camera has a true delta response.</a:t>
            </a:r>
          </a:p>
          <a:p>
            <a:endParaRPr lang="en-US" dirty="0"/>
          </a:p>
          <a:p>
            <a:r>
              <a:rPr lang="en-US" dirty="0"/>
              <a:t>In practical systems, the impulse response is </a:t>
            </a:r>
            <a:r>
              <a:rPr lang="en-US" b="1" dirty="0"/>
              <a:t>not</a:t>
            </a:r>
            <a:r>
              <a:rPr lang="en-US" dirty="0"/>
              <a:t> a delta function — it’s more spread out. That means the system blurs things.</a:t>
            </a:r>
            <a:br>
              <a:rPr lang="en-US" dirty="0"/>
            </a:br>
            <a:r>
              <a:rPr lang="en-US" dirty="0"/>
              <a:t>Even if you feed it a sharp impulse, the output will be a wider, smeared version — not the same as the input.</a:t>
            </a:r>
          </a:p>
          <a:p>
            <a:r>
              <a:rPr lang="en-US" dirty="0"/>
              <a:t>So what does that mean in the </a:t>
            </a:r>
            <a:r>
              <a:rPr lang="en-US" b="1" dirty="0"/>
              <a:t>frequency domain</a:t>
            </a:r>
            <a:r>
              <a:rPr lang="en-US" dirty="0"/>
              <a:t>?</a:t>
            </a:r>
          </a:p>
          <a:p>
            <a:endParaRPr lang="en-US" dirty="0"/>
          </a:p>
          <a:p>
            <a:r>
              <a:rPr lang="en-US" dirty="0"/>
              <a:t>Well, we know that the </a:t>
            </a:r>
            <a:r>
              <a:rPr lang="en-US" b="1" dirty="0"/>
              <a:t>Fourier transform</a:t>
            </a:r>
            <a:r>
              <a:rPr lang="en-US" dirty="0"/>
              <a:t> of a delta function is a </a:t>
            </a:r>
            <a:r>
              <a:rPr lang="en-US" b="1" dirty="0"/>
              <a:t>constant</a:t>
            </a:r>
            <a:r>
              <a:rPr lang="en-US" dirty="0"/>
              <a:t> — it's just one everywhere.</a:t>
            </a:r>
            <a:br>
              <a:rPr lang="en-US" dirty="0"/>
            </a:br>
            <a:r>
              <a:rPr lang="en-US" dirty="0"/>
              <a:t>That’s because a delta contains </a:t>
            </a:r>
            <a:r>
              <a:rPr lang="en-US" b="1" dirty="0"/>
              <a:t>all frequencies</a:t>
            </a:r>
            <a:r>
              <a:rPr lang="en-US" dirty="0"/>
              <a:t> equally.</a:t>
            </a:r>
          </a:p>
          <a:p>
            <a:r>
              <a:rPr lang="en-US" dirty="0"/>
              <a:t>But if your impulse response is </a:t>
            </a:r>
            <a:r>
              <a:rPr lang="en-US" b="1" dirty="0"/>
              <a:t>not</a:t>
            </a:r>
            <a:r>
              <a:rPr lang="en-US" dirty="0"/>
              <a:t> a delta — if it’s more spread out — then its Fourier transform won’t be constant.</a:t>
            </a:r>
            <a:br>
              <a:rPr lang="en-US" dirty="0"/>
            </a:br>
            <a:r>
              <a:rPr lang="en-US" dirty="0"/>
              <a:t>It will vary in frequency. That’s key.</a:t>
            </a:r>
          </a:p>
          <a:p>
            <a:endParaRPr lang="en-US" dirty="0"/>
          </a:p>
          <a:p>
            <a:r>
              <a:rPr lang="en-US" dirty="0"/>
              <a:t>Now, let’s suppose you have some input signal — let’s call it </a:t>
            </a:r>
            <a:r>
              <a:rPr lang="en-US" b="1" dirty="0" err="1"/>
              <a:t>i</a:t>
            </a:r>
            <a:r>
              <a:rPr lang="en-US" b="1" dirty="0"/>
              <a:t> of t</a:t>
            </a:r>
            <a:r>
              <a:rPr lang="en-US" dirty="0"/>
              <a:t> — and this signal goes into the system.</a:t>
            </a:r>
            <a:br>
              <a:rPr lang="en-US" dirty="0"/>
            </a:br>
            <a:r>
              <a:rPr lang="en-US" dirty="0"/>
              <a:t>You get an output </a:t>
            </a:r>
            <a:r>
              <a:rPr lang="en-US" b="1" dirty="0"/>
              <a:t>o of t</a:t>
            </a:r>
            <a:r>
              <a:rPr lang="en-US" dirty="0"/>
              <a:t>, and let’s say the output has the exact same shape as the input, just scaled by some number </a:t>
            </a:r>
            <a:r>
              <a:rPr lang="en-US" b="1" dirty="0"/>
              <a:t>alpha</a:t>
            </a:r>
            <a:r>
              <a:rPr lang="en-US" dirty="0"/>
              <a:t>.</a:t>
            </a:r>
          </a:p>
          <a:p>
            <a:endParaRPr lang="en-US" dirty="0"/>
          </a:p>
          <a:p>
            <a:r>
              <a:rPr lang="en-US" dirty="0"/>
              <a:t>That is:</a:t>
            </a:r>
          </a:p>
          <a:p>
            <a:r>
              <a:rPr lang="en-US" b="1" dirty="0"/>
              <a:t>o of t equals alpha times </a:t>
            </a:r>
            <a:r>
              <a:rPr lang="en-US" b="1" dirty="0" err="1"/>
              <a:t>i</a:t>
            </a:r>
            <a:r>
              <a:rPr lang="en-US" b="1" dirty="0"/>
              <a:t> of t</a:t>
            </a:r>
            <a:r>
              <a:rPr lang="en-US" dirty="0"/>
              <a:t>.</a:t>
            </a:r>
          </a:p>
          <a:p>
            <a:r>
              <a:rPr lang="en-US" dirty="0"/>
              <a:t>That sounds simple, but let’s look at what it means in the frequency domain.</a:t>
            </a:r>
          </a:p>
          <a:p>
            <a:r>
              <a:rPr lang="en-US" dirty="0"/>
              <a:t>If we take the Fourier transform of both sides, we get:</a:t>
            </a:r>
          </a:p>
          <a:p>
            <a:r>
              <a:rPr lang="en-US" b="1" dirty="0"/>
              <a:t>Capital O of u equals alpha times capital I of u.</a:t>
            </a:r>
            <a:endParaRPr lang="en-US" dirty="0"/>
          </a:p>
          <a:p>
            <a:r>
              <a:rPr lang="en-US" dirty="0"/>
              <a:t>But from the convolution theorem, we also know:</a:t>
            </a:r>
          </a:p>
          <a:p>
            <a:r>
              <a:rPr lang="en-US" b="1" dirty="0"/>
              <a:t>Capital O of u equals capital H of u times capital I of u.</a:t>
            </a:r>
            <a:endParaRPr lang="en-US" dirty="0"/>
          </a:p>
          <a:p>
            <a:r>
              <a:rPr lang="en-US" dirty="0"/>
              <a:t>If we compare those two expressions, we find:</a:t>
            </a:r>
          </a:p>
          <a:p>
            <a:r>
              <a:rPr lang="en-US" b="1" dirty="0"/>
              <a:t>Capital H of u must equal alpha</a:t>
            </a:r>
            <a:r>
              <a:rPr lang="en-US" dirty="0"/>
              <a:t> — a constant.</a:t>
            </a:r>
          </a:p>
          <a:p>
            <a:r>
              <a:rPr lang="en-US" dirty="0"/>
              <a:t>But as we just said, that would only be possible if </a:t>
            </a:r>
            <a:r>
              <a:rPr lang="en-US" b="1" dirty="0"/>
              <a:t>h of t</a:t>
            </a:r>
            <a:r>
              <a:rPr lang="en-US" dirty="0"/>
              <a:t> — the impulse response — is a delta function.</a:t>
            </a:r>
            <a:br>
              <a:rPr lang="en-US" dirty="0"/>
            </a:br>
            <a:r>
              <a:rPr lang="en-US" dirty="0"/>
              <a:t>And we assumed it's not.</a:t>
            </a:r>
          </a:p>
          <a:p>
            <a:r>
              <a:rPr lang="en-US" dirty="0"/>
              <a:t>So we have a contradiction.</a:t>
            </a:r>
          </a:p>
          <a:p>
            <a:endParaRPr lang="en-US" dirty="0"/>
          </a:p>
          <a:p>
            <a:r>
              <a:rPr lang="en-US" dirty="0"/>
              <a:t>That tells us:</a:t>
            </a:r>
            <a:br>
              <a:rPr lang="en-US" dirty="0"/>
            </a:br>
            <a:r>
              <a:rPr lang="en-US" b="1" dirty="0"/>
              <a:t>No function other than a sinusoid</a:t>
            </a:r>
            <a:r>
              <a:rPr lang="en-US" dirty="0"/>
              <a:t> can go through a general shift-invariant linear system and come out with the same shape — unless the system is trivial, like an ideal delta.</a:t>
            </a:r>
          </a:p>
          <a:p>
            <a:r>
              <a:rPr lang="en-US" dirty="0"/>
              <a:t>Only sinusoids have this amazing property:</a:t>
            </a:r>
            <a:br>
              <a:rPr lang="en-US" dirty="0"/>
            </a:br>
            <a:r>
              <a:rPr lang="en-US" b="1" dirty="0"/>
              <a:t>Sinusoid in, sinusoid out — same frequency, just scaled and shifted in phase.</a:t>
            </a:r>
            <a:endParaRPr lang="en-US" dirty="0"/>
          </a:p>
          <a:p>
            <a:r>
              <a:rPr lang="en-US" dirty="0"/>
              <a:t>That’s what makes them so special in Fourier analysis.</a:t>
            </a:r>
            <a:br>
              <a:rPr lang="en-US" dirty="0"/>
            </a:br>
            <a:r>
              <a:rPr lang="en-US" dirty="0"/>
              <a:t>That’s why convolution in the time domain becomes multiplication in the frequency domain — because the system affects each sinusoidal component independently and proportionally.</a:t>
            </a:r>
          </a:p>
          <a:p>
            <a:endParaRPr lang="en-US" dirty="0"/>
          </a:p>
          <a:p>
            <a:r>
              <a:rPr lang="en-US" dirty="0"/>
              <a:t>So what you see here is not just a bunch of equations — it’s a deeper logic behind the theorem.</a:t>
            </a:r>
            <a:br>
              <a:rPr lang="en-US" dirty="0"/>
            </a:br>
            <a:r>
              <a:rPr lang="en-US" dirty="0"/>
              <a:t>Understanding this helps you move beyond just memorizing formulas — it helps you truly </a:t>
            </a:r>
            <a:r>
              <a:rPr lang="en-US" b="1" dirty="0"/>
              <a:t>see why</a:t>
            </a:r>
            <a:r>
              <a:rPr lang="en-US" dirty="0"/>
              <a:t> Fourier analysis works the way it does.</a:t>
            </a:r>
          </a:p>
          <a:p>
            <a:endParaRPr lang="en-US" dirty="0"/>
          </a:p>
        </p:txBody>
      </p:sp>
      <p:sp>
        <p:nvSpPr>
          <p:cNvPr id="4" name="Slide Number Placeholder 3">
            <a:extLst>
              <a:ext uri="{FF2B5EF4-FFF2-40B4-BE49-F238E27FC236}">
                <a16:creationId xmlns:a16="http://schemas.microsoft.com/office/drawing/2014/main" id="{1DF87439-503B-C4BB-8E75-5852F9E1731B}"/>
              </a:ext>
            </a:extLst>
          </p:cNvPr>
          <p:cNvSpPr>
            <a:spLocks noGrp="1"/>
          </p:cNvSpPr>
          <p:nvPr>
            <p:ph type="sldNum" sz="quarter" idx="5"/>
          </p:nvPr>
        </p:nvSpPr>
        <p:spPr/>
        <p:txBody>
          <a:bodyPr/>
          <a:lstStyle/>
          <a:p>
            <a:fld id="{9F30534E-9FB8-46AE-8E3B-5675B268AE6A}" type="slidenum">
              <a:rPr lang="en-US" smtClean="0"/>
              <a:pPr/>
              <a:t>8</a:t>
            </a:fld>
            <a:endParaRPr lang="en-US"/>
          </a:p>
        </p:txBody>
      </p:sp>
    </p:spTree>
    <p:extLst>
      <p:ext uri="{BB962C8B-B14F-4D97-AF65-F5344CB8AC3E}">
        <p14:creationId xmlns:p14="http://schemas.microsoft.com/office/powerpoint/2010/main" val="4089878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turn to a beautiful result in Fourier analysis called </a:t>
            </a:r>
            <a:r>
              <a:rPr lang="en-US" b="1" dirty="0"/>
              <a:t>Parseval’s Identity</a:t>
            </a:r>
            <a:r>
              <a:rPr lang="en-US" dirty="0"/>
              <a:t>.</a:t>
            </a:r>
          </a:p>
          <a:p>
            <a:r>
              <a:rPr lang="en-US" dirty="0"/>
              <a:t>This identity tells us that the total energy of a signal — measured in the time domain — is exactly equal to the total energy in the frequency domain.</a:t>
            </a:r>
          </a:p>
          <a:p>
            <a:endParaRPr lang="en-US" dirty="0"/>
          </a:p>
          <a:p>
            <a:r>
              <a:rPr lang="en-US" dirty="0"/>
              <a:t>Mathematically, it says:</a:t>
            </a:r>
          </a:p>
          <a:p>
            <a:r>
              <a:rPr lang="en-US" b="1" dirty="0"/>
              <a:t>The integral of the absolute value squared of f of t, over all time, equals the integral of the absolute value squared of f hat of s, over all frequencies.</a:t>
            </a:r>
            <a:endParaRPr lang="en-US" dirty="0"/>
          </a:p>
          <a:p>
            <a:endParaRPr lang="en-US" dirty="0"/>
          </a:p>
          <a:p>
            <a:r>
              <a:rPr lang="en-US" dirty="0"/>
              <a:t>In simpler words:</a:t>
            </a:r>
            <a:br>
              <a:rPr lang="en-US" dirty="0"/>
            </a:br>
            <a:r>
              <a:rPr lang="en-US" dirty="0"/>
              <a:t>If you take a signal and square its amplitude at each point in time, then add up all those values — you get the total energy of the signal in the time domain.</a:t>
            </a:r>
          </a:p>
          <a:p>
            <a:r>
              <a:rPr lang="en-US" dirty="0"/>
              <a:t>Now do the same thing in the frequency domain:</a:t>
            </a:r>
            <a:br>
              <a:rPr lang="en-US" dirty="0"/>
            </a:br>
            <a:r>
              <a:rPr lang="en-US" dirty="0"/>
              <a:t>Take the Fourier transform of the signal, square the magnitude of each frequency component, and integrate — and you get the same total.</a:t>
            </a:r>
          </a:p>
          <a:p>
            <a:endParaRPr lang="en-US" dirty="0"/>
          </a:p>
          <a:p>
            <a:r>
              <a:rPr lang="en-US" dirty="0"/>
              <a:t>This is not just a coincidence. It’s a direct consequence of the fact that the </a:t>
            </a:r>
            <a:r>
              <a:rPr lang="en-US" b="1" dirty="0"/>
              <a:t>Fourier transform is a unitary operator</a:t>
            </a:r>
            <a:r>
              <a:rPr lang="en-US" dirty="0"/>
              <a:t> — it preserves the “length” of the function, just like a rotation in vector space.</a:t>
            </a:r>
          </a:p>
          <a:p>
            <a:r>
              <a:rPr lang="en-US" dirty="0"/>
              <a:t>Think of </a:t>
            </a:r>
            <a:r>
              <a:rPr lang="en-US" b="1" dirty="0"/>
              <a:t>f of t</a:t>
            </a:r>
            <a:r>
              <a:rPr lang="en-US" dirty="0"/>
              <a:t> and </a:t>
            </a:r>
            <a:r>
              <a:rPr lang="en-US" b="1" dirty="0"/>
              <a:t>f hat of s</a:t>
            </a:r>
            <a:r>
              <a:rPr lang="en-US" dirty="0"/>
              <a:t> as infinite-dimensional vectors.</a:t>
            </a:r>
            <a:br>
              <a:rPr lang="en-US" dirty="0"/>
            </a:br>
            <a:r>
              <a:rPr lang="en-US" dirty="0"/>
              <a:t>Then, this identity is telling you that their </a:t>
            </a:r>
            <a:r>
              <a:rPr lang="en-US" b="1" dirty="0"/>
              <a:t>norms</a:t>
            </a:r>
            <a:r>
              <a:rPr lang="en-US" dirty="0"/>
              <a:t> — or their lengths — are the same.</a:t>
            </a:r>
            <a:br>
              <a:rPr lang="en-US" dirty="0"/>
            </a:br>
            <a:r>
              <a:rPr lang="en-US" dirty="0"/>
              <a:t>So, the energy stays the same when you move from one domain to the other.</a:t>
            </a:r>
          </a:p>
          <a:p>
            <a:r>
              <a:rPr lang="en-US" dirty="0"/>
              <a:t>This is why we sometimes say that the Fourier transform </a:t>
            </a:r>
            <a:r>
              <a:rPr lang="en-US" b="1" dirty="0"/>
              <a:t>conserves energy</a:t>
            </a:r>
            <a:r>
              <a:rPr lang="en-US" dirty="0"/>
              <a:t>.</a:t>
            </a:r>
          </a:p>
          <a:p>
            <a:endParaRPr lang="en-US" dirty="0"/>
          </a:p>
          <a:p>
            <a:r>
              <a:rPr lang="en-US" dirty="0"/>
              <a:t>The bottom part of the slide walks through the proof. Let me summarize the key steps:</a:t>
            </a:r>
          </a:p>
          <a:p>
            <a:r>
              <a:rPr lang="en-US" dirty="0"/>
              <a:t>We start with the inner product:</a:t>
            </a:r>
          </a:p>
          <a:p>
            <a:r>
              <a:rPr lang="en-US" b="1" dirty="0"/>
              <a:t>Integral of f of t times the complex conjugate of g of t.</a:t>
            </a:r>
            <a:endParaRPr lang="en-US" dirty="0"/>
          </a:p>
          <a:p>
            <a:r>
              <a:rPr lang="en-US" dirty="0"/>
              <a:t>Then, we apply the </a:t>
            </a:r>
            <a:r>
              <a:rPr lang="en-US" b="1" dirty="0"/>
              <a:t>inverse Fourier transform</a:t>
            </a:r>
            <a:r>
              <a:rPr lang="en-US" dirty="0"/>
              <a:t> to g of t.</a:t>
            </a:r>
            <a:br>
              <a:rPr lang="en-US" dirty="0"/>
            </a:br>
            <a:r>
              <a:rPr lang="en-US" dirty="0"/>
              <a:t>This gives us an expression involving </a:t>
            </a:r>
            <a:r>
              <a:rPr lang="en-US" b="1" dirty="0"/>
              <a:t>f of t</a:t>
            </a:r>
            <a:r>
              <a:rPr lang="en-US" dirty="0"/>
              <a:t> and the Fourier transform of g, which we call </a:t>
            </a:r>
            <a:r>
              <a:rPr lang="en-US" b="1" dirty="0"/>
              <a:t>F g of s</a:t>
            </a:r>
            <a:r>
              <a:rPr lang="en-US" dirty="0"/>
              <a:t>.</a:t>
            </a:r>
          </a:p>
          <a:p>
            <a:r>
              <a:rPr lang="en-US" dirty="0"/>
              <a:t>Then we do some algebra — using properties of complex conjugation, and switching the order of integration — until we end up with:</a:t>
            </a:r>
          </a:p>
          <a:p>
            <a:r>
              <a:rPr lang="en-US" b="1" dirty="0"/>
              <a:t>The integral of f of s times the complex conjugate of g of s.</a:t>
            </a:r>
            <a:endParaRPr lang="en-US" dirty="0"/>
          </a:p>
          <a:p>
            <a:r>
              <a:rPr lang="en-US" dirty="0"/>
              <a:t>So in the end, the inner product in the time domain equals the inner product in the frequency domain.</a:t>
            </a:r>
          </a:p>
          <a:p>
            <a:endParaRPr lang="en-US" dirty="0"/>
          </a:p>
          <a:p>
            <a:r>
              <a:rPr lang="en-US" dirty="0"/>
              <a:t>That’s Parseval’s Identity in action — and it works for all functions in an inner product space, not just in signal processing.</a:t>
            </a:r>
          </a:p>
          <a:p>
            <a:r>
              <a:rPr lang="en-US" dirty="0"/>
              <a:t>It’s one more reason why the Fourier transform is not just a clever trick — it’s a deep and powerful tool grounded in geometry and physics.</a:t>
            </a:r>
          </a:p>
          <a:p>
            <a:r>
              <a:rPr lang="en-US" dirty="0"/>
              <a:t>If you’re interested, you can think of it this way:</a:t>
            </a:r>
            <a:br>
              <a:rPr lang="en-US" dirty="0"/>
            </a:br>
            <a:r>
              <a:rPr lang="en-US" dirty="0"/>
              <a:t>Every time you transform a signal into the frequency domain, you’re rotating it into a new basis — and the energy stays exactly the same.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9</a:t>
            </a:fld>
            <a:endParaRPr lang="en-US"/>
          </a:p>
        </p:txBody>
      </p:sp>
    </p:spTree>
    <p:extLst>
      <p:ext uri="{BB962C8B-B14F-4D97-AF65-F5344CB8AC3E}">
        <p14:creationId xmlns:p14="http://schemas.microsoft.com/office/powerpoint/2010/main" val="4264630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apply Parseval’s theorem to a practical example — the average power of a periodic signal.</a:t>
            </a:r>
          </a:p>
          <a:p>
            <a:endParaRPr lang="en-US" dirty="0"/>
          </a:p>
          <a:p>
            <a:r>
              <a:rPr lang="en-US" dirty="0"/>
              <a:t>Here we’re working with a </a:t>
            </a:r>
            <a:r>
              <a:rPr lang="en-US" b="1" dirty="0"/>
              <a:t>power signal</a:t>
            </a:r>
            <a:r>
              <a:rPr lang="en-US" dirty="0"/>
              <a:t>, which is a signal that keeps oscillating over time, like a sine wave.</a:t>
            </a:r>
          </a:p>
          <a:p>
            <a:r>
              <a:rPr lang="en-US" dirty="0"/>
              <a:t>The average power </a:t>
            </a:r>
            <a:r>
              <a:rPr lang="en-US" b="1" dirty="0"/>
              <a:t>P</a:t>
            </a:r>
            <a:r>
              <a:rPr lang="en-US" dirty="0"/>
              <a:t> of such a signal over one period — from minus capital T over 2 to plus capital T over 2 — is given by:</a:t>
            </a:r>
          </a:p>
          <a:p>
            <a:r>
              <a:rPr lang="en-US" b="1" dirty="0"/>
              <a:t>P equals 1 over T, times the integral of the absolute value of x of t squared, d t.</a:t>
            </a:r>
            <a:endParaRPr lang="en-US" dirty="0"/>
          </a:p>
          <a:p>
            <a:r>
              <a:rPr lang="en-US" dirty="0"/>
              <a:t>According to </a:t>
            </a:r>
            <a:r>
              <a:rPr lang="en-US" b="1" dirty="0"/>
              <a:t>Parseval’s theorem for power signals</a:t>
            </a:r>
            <a:r>
              <a:rPr lang="en-US" dirty="0"/>
              <a:t>, we can also express this using the </a:t>
            </a:r>
            <a:r>
              <a:rPr lang="en-US" b="1" dirty="0"/>
              <a:t>Fourier series coefficients</a:t>
            </a:r>
            <a:r>
              <a:rPr lang="en-US" dirty="0"/>
              <a:t>.</a:t>
            </a:r>
            <a:br>
              <a:rPr lang="en-US" dirty="0"/>
            </a:br>
            <a:r>
              <a:rPr lang="en-US" dirty="0"/>
              <a:t>So, power equals the </a:t>
            </a:r>
            <a:r>
              <a:rPr lang="en-US" b="1" dirty="0"/>
              <a:t>sum of the absolute value squared of all c  n</a:t>
            </a:r>
            <a:r>
              <a:rPr lang="en-US" dirty="0"/>
              <a:t> — the Fourier coefficients — from n equals minus infinity to infinity.</a:t>
            </a:r>
          </a:p>
          <a:p>
            <a:endParaRPr lang="en-US" dirty="0"/>
          </a:p>
          <a:p>
            <a:r>
              <a:rPr lang="en-US" dirty="0"/>
              <a:t>Let’s go through the example.</a:t>
            </a:r>
          </a:p>
          <a:p>
            <a:r>
              <a:rPr lang="en-US" dirty="0"/>
              <a:t>Suppose we have this signal:</a:t>
            </a:r>
          </a:p>
          <a:p>
            <a:r>
              <a:rPr lang="en-US" b="1" dirty="0"/>
              <a:t>x of t equals 2 times sine of 100 t.</a:t>
            </a:r>
            <a:endParaRPr lang="en-US" dirty="0"/>
          </a:p>
          <a:p>
            <a:r>
              <a:rPr lang="en-US" dirty="0"/>
              <a:t>That’s just a sinusoidal wave with amplitude 2 and frequency 100.</a:t>
            </a:r>
          </a:p>
          <a:p>
            <a:r>
              <a:rPr lang="en-US" dirty="0"/>
              <a:t>Now, suppose this signal is the voltage across a </a:t>
            </a:r>
            <a:r>
              <a:rPr lang="en-US" b="1" dirty="0"/>
              <a:t>unit resistor</a:t>
            </a:r>
            <a:r>
              <a:rPr lang="en-US" dirty="0"/>
              <a:t> — that is, a resistor with resistance equal to 1 ohm.</a:t>
            </a:r>
          </a:p>
          <a:p>
            <a:r>
              <a:rPr lang="en-US" dirty="0"/>
              <a:t>Then the </a:t>
            </a:r>
            <a:r>
              <a:rPr lang="en-US" b="1" dirty="0"/>
              <a:t>instantaneous power</a:t>
            </a:r>
            <a:r>
              <a:rPr lang="en-US" dirty="0"/>
              <a:t> is just the voltage squared, and the </a:t>
            </a:r>
            <a:r>
              <a:rPr lang="en-US" b="1" dirty="0"/>
              <a:t>average power</a:t>
            </a:r>
            <a:r>
              <a:rPr lang="en-US" dirty="0"/>
              <a:t> is the integral of the squared signal over one period, divided by T.</a:t>
            </a:r>
          </a:p>
          <a:p>
            <a:endParaRPr lang="en-US" dirty="0"/>
          </a:p>
          <a:p>
            <a:r>
              <a:rPr lang="en-US" dirty="0"/>
              <a:t>Let’s calculate it first in the </a:t>
            </a:r>
            <a:r>
              <a:rPr lang="en-US" b="1" dirty="0"/>
              <a:t>time domain</a:t>
            </a:r>
            <a:r>
              <a:rPr lang="en-US" dirty="0"/>
              <a:t>:</a:t>
            </a:r>
          </a:p>
          <a:p>
            <a:r>
              <a:rPr lang="en-US" dirty="0"/>
              <a:t>We square the signal:</a:t>
            </a:r>
            <a:br>
              <a:rPr lang="en-US" dirty="0"/>
            </a:br>
            <a:r>
              <a:rPr lang="en-US" b="1" dirty="0"/>
              <a:t>2 times sine of 100 t</a:t>
            </a:r>
            <a:r>
              <a:rPr lang="en-US" dirty="0"/>
              <a:t> becomes </a:t>
            </a:r>
            <a:r>
              <a:rPr lang="en-US" b="1" dirty="0"/>
              <a:t>4 times sine squared of 100 t</a:t>
            </a:r>
            <a:r>
              <a:rPr lang="en-US" dirty="0"/>
              <a:t>.</a:t>
            </a:r>
          </a:p>
          <a:p>
            <a:r>
              <a:rPr lang="en-US" dirty="0"/>
              <a:t>When we compute the average of that over one period, we get:</a:t>
            </a:r>
          </a:p>
          <a:p>
            <a:r>
              <a:rPr lang="en-US" b="1" dirty="0"/>
              <a:t>P equals 2.</a:t>
            </a:r>
          </a:p>
          <a:p>
            <a:endParaRPr lang="en-US" dirty="0"/>
          </a:p>
          <a:p>
            <a:r>
              <a:rPr lang="en-US" dirty="0"/>
              <a:t>Now let’s do it in the </a:t>
            </a:r>
            <a:r>
              <a:rPr lang="en-US" b="1" dirty="0"/>
              <a:t>frequency domain</a:t>
            </a:r>
            <a:r>
              <a:rPr lang="en-US" dirty="0"/>
              <a:t>, using the Fourier series.</a:t>
            </a:r>
          </a:p>
          <a:p>
            <a:r>
              <a:rPr lang="en-US" dirty="0"/>
              <a:t>We rewrite the sine wave using Euler’s formula:</a:t>
            </a:r>
          </a:p>
          <a:p>
            <a:r>
              <a:rPr lang="en-US" b="1" dirty="0"/>
              <a:t>sine of 100 t</a:t>
            </a:r>
            <a:r>
              <a:rPr lang="en-US" dirty="0"/>
              <a:t> equals </a:t>
            </a:r>
            <a:r>
              <a:rPr lang="en-US" b="1" dirty="0"/>
              <a:t>e to the j 100 t minus e to the minus j 100 t, over 2 j.</a:t>
            </a:r>
            <a:endParaRPr lang="en-US" dirty="0"/>
          </a:p>
          <a:p>
            <a:r>
              <a:rPr lang="en-US" dirty="0"/>
              <a:t>So our signal becomes:</a:t>
            </a:r>
          </a:p>
          <a:p>
            <a:r>
              <a:rPr lang="en-US" b="1" dirty="0"/>
              <a:t>x of t equals 2 times that expression</a:t>
            </a:r>
            <a:r>
              <a:rPr lang="en-US" dirty="0"/>
              <a:t>, which simplifies to:</a:t>
            </a:r>
          </a:p>
          <a:p>
            <a:r>
              <a:rPr lang="en-US" b="1" dirty="0"/>
              <a:t>minus j e to the j 100 t, plus j e to the minus j 100 t.</a:t>
            </a:r>
            <a:endParaRPr lang="en-US" dirty="0"/>
          </a:p>
          <a:p>
            <a:r>
              <a:rPr lang="en-US" dirty="0"/>
              <a:t>Comparing this to the general form of a Fourier series:</a:t>
            </a:r>
          </a:p>
          <a:p>
            <a:r>
              <a:rPr lang="en-US" b="1" dirty="0"/>
              <a:t>x of t equals the sum of c  n times e to the j n omega naught t</a:t>
            </a:r>
            <a:r>
              <a:rPr lang="en-US" dirty="0"/>
              <a:t>,</a:t>
            </a:r>
            <a:br>
              <a:rPr lang="en-US" dirty="0"/>
            </a:br>
            <a:r>
              <a:rPr lang="en-US" dirty="0"/>
              <a:t>we can identify the coefficients:</a:t>
            </a:r>
          </a:p>
          <a:p>
            <a:r>
              <a:rPr lang="en-US" b="1" dirty="0"/>
              <a:t>c  1 equals minus j</a:t>
            </a:r>
            <a:r>
              <a:rPr lang="en-US" dirty="0"/>
              <a:t>, and</a:t>
            </a:r>
            <a:br>
              <a:rPr lang="en-US" dirty="0"/>
            </a:br>
            <a:r>
              <a:rPr lang="en-US" b="1" dirty="0"/>
              <a:t>c  minus 1 equals plus j.</a:t>
            </a:r>
            <a:endParaRPr lang="en-US" dirty="0"/>
          </a:p>
          <a:p>
            <a:endParaRPr lang="en-US" dirty="0"/>
          </a:p>
          <a:p>
            <a:r>
              <a:rPr lang="en-US" dirty="0"/>
              <a:t>Now we apply Parseval’s theorem:</a:t>
            </a:r>
          </a:p>
          <a:p>
            <a:r>
              <a:rPr lang="en-US" dirty="0"/>
              <a:t>The total power is the </a:t>
            </a:r>
            <a:r>
              <a:rPr lang="en-US" b="1" dirty="0"/>
              <a:t>sum of the squares of the magnitudes</a:t>
            </a:r>
            <a:r>
              <a:rPr lang="en-US" dirty="0"/>
              <a:t> of these coefficients.</a:t>
            </a:r>
          </a:p>
          <a:p>
            <a:r>
              <a:rPr lang="en-US" dirty="0"/>
              <a:t>So we compute:</a:t>
            </a:r>
          </a:p>
          <a:p>
            <a:r>
              <a:rPr lang="en-US" b="1" dirty="0"/>
              <a:t>absolute value of c one squared</a:t>
            </a:r>
            <a:r>
              <a:rPr lang="en-US" dirty="0"/>
              <a:t>, which is 1,</a:t>
            </a:r>
            <a:br>
              <a:rPr lang="en-US" dirty="0"/>
            </a:br>
            <a:r>
              <a:rPr lang="en-US" dirty="0"/>
              <a:t>plus </a:t>
            </a:r>
            <a:r>
              <a:rPr lang="en-US" b="1" dirty="0"/>
              <a:t>absolute value of c minus one squared</a:t>
            </a:r>
            <a:r>
              <a:rPr lang="en-US" dirty="0"/>
              <a:t>, also 1.</a:t>
            </a:r>
          </a:p>
          <a:p>
            <a:r>
              <a:rPr lang="en-US" dirty="0"/>
              <a:t>Adding them gives us </a:t>
            </a:r>
            <a:r>
              <a:rPr lang="en-US" b="1" dirty="0"/>
              <a:t>2</a:t>
            </a:r>
            <a:r>
              <a:rPr lang="en-US" dirty="0"/>
              <a:t> — the same result we got in the time domain.</a:t>
            </a:r>
          </a:p>
          <a:p>
            <a:endParaRPr lang="en-US" dirty="0"/>
          </a:p>
          <a:p>
            <a:r>
              <a:rPr lang="en-US" dirty="0"/>
              <a:t>This example shows how Parseval’s theorem works in practice.</a:t>
            </a:r>
          </a:p>
          <a:p>
            <a:r>
              <a:rPr lang="en-US" dirty="0"/>
              <a:t>You can either:</a:t>
            </a:r>
          </a:p>
          <a:p>
            <a:r>
              <a:rPr lang="en-US" dirty="0"/>
              <a:t>Square the signal and average it over time,</a:t>
            </a:r>
            <a:br>
              <a:rPr lang="en-US" dirty="0"/>
            </a:br>
            <a:r>
              <a:rPr lang="en-US" b="1" dirty="0"/>
              <a:t>or </a:t>
            </a:r>
            <a:r>
              <a:rPr lang="en-US" dirty="0"/>
              <a:t>Decompose the signal into its sinusoidal components, square their coefficients, and sum them up.</a:t>
            </a:r>
          </a:p>
          <a:p>
            <a:endParaRPr lang="en-US" dirty="0"/>
          </a:p>
          <a:p>
            <a:r>
              <a:rPr lang="en-US" dirty="0"/>
              <a:t>Either way, you’ll get the </a:t>
            </a:r>
            <a:r>
              <a:rPr lang="en-US" b="1" dirty="0"/>
              <a:t>same result</a:t>
            </a:r>
            <a:r>
              <a:rPr lang="en-US" dirty="0"/>
              <a:t>. That’s the beauty of Fourier analysis — it gives you two consistent views of the same signal.</a:t>
            </a:r>
          </a:p>
          <a:p>
            <a:r>
              <a:rPr lang="en-US" dirty="0"/>
              <a:t>And this works not just for simple sine waves — it holds even when a signal is made up of many frequencies, including very high ones.</a:t>
            </a:r>
            <a:br>
              <a:rPr lang="en-US" dirty="0"/>
            </a:br>
            <a:r>
              <a:rPr lang="en-US" dirty="0"/>
              <a:t>Just square each coefficient, add them up, and you’ll know the total power of the signal.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10</a:t>
            </a:fld>
            <a:endParaRPr lang="en-US"/>
          </a:p>
        </p:txBody>
      </p:sp>
    </p:spTree>
    <p:extLst>
      <p:ext uri="{BB962C8B-B14F-4D97-AF65-F5344CB8AC3E}">
        <p14:creationId xmlns:p14="http://schemas.microsoft.com/office/powerpoint/2010/main" val="2012840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moment to review this important concept — how a continuous function can be represented using </a:t>
            </a:r>
            <a:r>
              <a:rPr lang="en-US" b="1" dirty="0"/>
              <a:t>delta functions</a:t>
            </a:r>
            <a:r>
              <a:rPr lang="en-US" dirty="0"/>
              <a:t>.</a:t>
            </a:r>
          </a:p>
          <a:p>
            <a:r>
              <a:rPr lang="en-US" dirty="0"/>
              <a:t>You may remember that the </a:t>
            </a:r>
            <a:r>
              <a:rPr lang="en-US" b="1" dirty="0"/>
              <a:t>delta function</a:t>
            </a:r>
            <a:r>
              <a:rPr lang="en-US" dirty="0"/>
              <a:t> plays a central role in signal processing.</a:t>
            </a:r>
            <a:br>
              <a:rPr lang="en-US" dirty="0"/>
            </a:br>
            <a:endParaRPr lang="en-US" dirty="0"/>
          </a:p>
          <a:p>
            <a:r>
              <a:rPr lang="en-US" dirty="0"/>
              <a:t>And here's the key idea:</a:t>
            </a:r>
            <a:br>
              <a:rPr lang="en-US" dirty="0"/>
            </a:br>
            <a:r>
              <a:rPr lang="en-US" dirty="0"/>
              <a:t>When you multiply a delta function with a continuous function </a:t>
            </a:r>
            <a:r>
              <a:rPr lang="en-US" b="1" dirty="0"/>
              <a:t>f of t</a:t>
            </a:r>
            <a:r>
              <a:rPr lang="en-US" dirty="0"/>
              <a:t>, and integrate over all time, the result is just the value of </a:t>
            </a:r>
            <a:r>
              <a:rPr lang="en-US" b="1" dirty="0"/>
              <a:t>f</a:t>
            </a:r>
            <a:r>
              <a:rPr lang="en-US" dirty="0"/>
              <a:t> at the point where the delta is centered.</a:t>
            </a:r>
          </a:p>
          <a:p>
            <a:endParaRPr lang="en-US" dirty="0"/>
          </a:p>
          <a:p>
            <a:r>
              <a:rPr lang="en-US" dirty="0"/>
              <a:t>Mathematically, we write:</a:t>
            </a:r>
          </a:p>
          <a:p>
            <a:r>
              <a:rPr lang="en-US" b="1" dirty="0"/>
              <a:t>The integral from minus infinity to infinity of delta of t minus t naught, times f of t, d t — equals f of t naught.</a:t>
            </a:r>
            <a:endParaRPr lang="en-US" dirty="0"/>
          </a:p>
          <a:p>
            <a:r>
              <a:rPr lang="en-US" dirty="0"/>
              <a:t>This tells us that the delta function </a:t>
            </a:r>
            <a:r>
              <a:rPr lang="en-US" b="1" dirty="0"/>
              <a:t>samples</a:t>
            </a:r>
            <a:r>
              <a:rPr lang="en-US" dirty="0"/>
              <a:t> the value of f at t naught.</a:t>
            </a:r>
            <a:br>
              <a:rPr lang="en-US" dirty="0"/>
            </a:br>
            <a:r>
              <a:rPr lang="en-US" dirty="0"/>
              <a:t>It picks out that one value and ignores everything else.</a:t>
            </a:r>
          </a:p>
          <a:p>
            <a:endParaRPr lang="en-US" dirty="0"/>
          </a:p>
          <a:p>
            <a:r>
              <a:rPr lang="en-US" dirty="0"/>
              <a:t>Now, you might wonder how this works — so here’s an intuitive explanation.</a:t>
            </a:r>
          </a:p>
          <a:p>
            <a:r>
              <a:rPr lang="en-US" dirty="0"/>
              <a:t>Think of the delta function as the limit of a very narrow and very tall pulse — getting narrower and taller, but always keeping the same area, which is 1.</a:t>
            </a:r>
          </a:p>
          <a:p>
            <a:endParaRPr lang="en-US" dirty="0"/>
          </a:p>
          <a:p>
            <a:r>
              <a:rPr lang="en-US" dirty="0"/>
              <a:t>So if we take that narrow pulse, center it at </a:t>
            </a:r>
            <a:r>
              <a:rPr lang="en-US" b="1" dirty="0"/>
              <a:t>t naught</a:t>
            </a:r>
            <a:r>
              <a:rPr lang="en-US" dirty="0"/>
              <a:t>, and multiply it with </a:t>
            </a:r>
            <a:r>
              <a:rPr lang="en-US" b="1" dirty="0"/>
              <a:t>f of t</a:t>
            </a:r>
            <a:r>
              <a:rPr lang="en-US" dirty="0"/>
              <a:t>, we get a tiny slice of the function near t naught.</a:t>
            </a:r>
          </a:p>
          <a:p>
            <a:r>
              <a:rPr lang="en-US" dirty="0"/>
              <a:t>When we integrate over that narrow region, the result becomes:</a:t>
            </a:r>
          </a:p>
          <a:p>
            <a:r>
              <a:rPr lang="en-US" b="1" dirty="0"/>
              <a:t>f of t star</a:t>
            </a:r>
            <a:r>
              <a:rPr lang="en-US" dirty="0"/>
              <a:t>, where </a:t>
            </a:r>
            <a:r>
              <a:rPr lang="en-US" b="1" dirty="0"/>
              <a:t>t star</a:t>
            </a:r>
            <a:r>
              <a:rPr lang="en-US" dirty="0"/>
              <a:t> is some point very close to t naught.</a:t>
            </a:r>
          </a:p>
          <a:p>
            <a:r>
              <a:rPr lang="en-US" dirty="0"/>
              <a:t>And in the limit — as the width goes to zero — that becomes exactly:</a:t>
            </a:r>
          </a:p>
          <a:p>
            <a:r>
              <a:rPr lang="en-US" b="1" dirty="0"/>
              <a:t>f of t naught.</a:t>
            </a:r>
            <a:endParaRPr lang="en-US" dirty="0"/>
          </a:p>
          <a:p>
            <a:r>
              <a:rPr lang="en-US" dirty="0"/>
              <a:t>So this is how we </a:t>
            </a:r>
            <a:r>
              <a:rPr lang="en-US" b="1" dirty="0"/>
              <a:t>record a sample</a:t>
            </a:r>
            <a:r>
              <a:rPr lang="en-US" dirty="0"/>
              <a:t>.</a:t>
            </a:r>
          </a:p>
          <a:p>
            <a:endParaRPr lang="en-US" dirty="0"/>
          </a:p>
          <a:p>
            <a:r>
              <a:rPr lang="en-US" dirty="0"/>
              <a:t>It also leads us to a deeper interpretation:</a:t>
            </a:r>
          </a:p>
          <a:p>
            <a:r>
              <a:rPr lang="en-US" dirty="0"/>
              <a:t>We can reconstruct the entire function f of t by </a:t>
            </a:r>
            <a:r>
              <a:rPr lang="en-US" b="1" dirty="0"/>
              <a:t>summing up</a:t>
            </a:r>
            <a:r>
              <a:rPr lang="en-US" dirty="0"/>
              <a:t> all these infinitesimal slices — each one represented by a delta function, placed at the right location, and </a:t>
            </a:r>
            <a:r>
              <a:rPr lang="en-US" b="1" dirty="0"/>
              <a:t>scaled by</a:t>
            </a:r>
            <a:r>
              <a:rPr lang="en-US" dirty="0"/>
              <a:t> the value of the function at that point.</a:t>
            </a:r>
          </a:p>
          <a:p>
            <a:endParaRPr lang="en-US" dirty="0"/>
          </a:p>
          <a:p>
            <a:r>
              <a:rPr lang="en-US" dirty="0"/>
              <a:t>That’s what this second formula is saying:</a:t>
            </a:r>
          </a:p>
          <a:p>
            <a:r>
              <a:rPr lang="en-US" b="1" dirty="0"/>
              <a:t>f of t equals the integral from minus infinity to infinity of delta of tau minus t, times f of tau, d tau.</a:t>
            </a:r>
            <a:endParaRPr lang="en-US" dirty="0"/>
          </a:p>
          <a:p>
            <a:r>
              <a:rPr lang="en-US" dirty="0"/>
              <a:t>It’s a kind of </a:t>
            </a:r>
            <a:r>
              <a:rPr lang="en-US" b="1" dirty="0"/>
              <a:t>weighted sum of deltas</a:t>
            </a:r>
            <a:r>
              <a:rPr lang="en-US" dirty="0"/>
              <a:t> — where the weights are just the values of the function itself.</a:t>
            </a:r>
          </a:p>
          <a:p>
            <a:endParaRPr lang="en-US" dirty="0"/>
          </a:p>
          <a:p>
            <a:r>
              <a:rPr lang="en-US" dirty="0"/>
              <a:t>You can think of this as a very fine-grained, </a:t>
            </a:r>
            <a:r>
              <a:rPr lang="en-US" b="1" dirty="0"/>
              <a:t>particle-like</a:t>
            </a:r>
            <a:r>
              <a:rPr lang="en-US" dirty="0"/>
              <a:t> view of a continuous function.</a:t>
            </a:r>
            <a:br>
              <a:rPr lang="en-US" dirty="0"/>
            </a:br>
            <a:r>
              <a:rPr lang="en-US" dirty="0"/>
              <a:t>Each point — each “particle” — contributes through a delta function, and together, they rebuild the original signal.</a:t>
            </a:r>
          </a:p>
          <a:p>
            <a:r>
              <a:rPr lang="en-US" dirty="0"/>
              <a:t>This is not just a mathematical trick — it connects deeply with how we </a:t>
            </a:r>
            <a:r>
              <a:rPr lang="en-US" b="1" dirty="0"/>
              <a:t>sample, record, and reconstruct</a:t>
            </a:r>
            <a:r>
              <a:rPr lang="en-US" dirty="0"/>
              <a:t> signals in the real world.</a:t>
            </a:r>
          </a:p>
          <a:p>
            <a:r>
              <a:rPr lang="en-US" dirty="0"/>
              <a:t>And once again, it highlights why the delta function is so important — both in theory and in practice.</a:t>
            </a:r>
          </a:p>
          <a:p>
            <a:endParaRPr lang="en-US" dirty="0"/>
          </a:p>
        </p:txBody>
      </p:sp>
      <p:sp>
        <p:nvSpPr>
          <p:cNvPr id="4" name="Slide Number Placeholder 3"/>
          <p:cNvSpPr>
            <a:spLocks noGrp="1"/>
          </p:cNvSpPr>
          <p:nvPr>
            <p:ph type="sldNum" sz="quarter" idx="10"/>
          </p:nvPr>
        </p:nvSpPr>
        <p:spPr/>
        <p:txBody>
          <a:bodyPr/>
          <a:lstStyle/>
          <a:p>
            <a:fld id="{16362E68-66C4-4B01-8D1F-712CF75BFD43}" type="slidenum">
              <a:rPr lang="en-US" smtClean="0"/>
              <a:pPr/>
              <a:t>11</a:t>
            </a:fld>
            <a:endParaRPr lang="en-US"/>
          </a:p>
        </p:txBody>
      </p:sp>
    </p:spTree>
    <p:extLst>
      <p:ext uri="{BB962C8B-B14F-4D97-AF65-F5344CB8AC3E}">
        <p14:creationId xmlns:p14="http://schemas.microsoft.com/office/powerpoint/2010/main" val="1694027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revisit the </a:t>
            </a:r>
            <a:r>
              <a:rPr lang="en-US" b="1" dirty="0"/>
              <a:t>convolution theorem</a:t>
            </a:r>
            <a:r>
              <a:rPr lang="en-US" dirty="0"/>
              <a:t> — this time with a concrete visual example to help reinforce the idea.</a:t>
            </a:r>
          </a:p>
          <a:p>
            <a:r>
              <a:rPr lang="en-US" dirty="0"/>
              <a:t>This theorem is incredibly important, and we’ll keep coming back to it.</a:t>
            </a:r>
            <a:br>
              <a:rPr lang="en-US" dirty="0"/>
            </a:br>
            <a:r>
              <a:rPr lang="en-US" dirty="0"/>
              <a:t>So it's essential to get comfortable with how it works — both </a:t>
            </a:r>
            <a:r>
              <a:rPr lang="en-US" b="1" dirty="0"/>
              <a:t>mathematically</a:t>
            </a:r>
            <a:r>
              <a:rPr lang="en-US" dirty="0"/>
              <a:t> and </a:t>
            </a:r>
            <a:r>
              <a:rPr lang="en-US" b="1" dirty="0"/>
              <a:t>visually</a:t>
            </a:r>
            <a:r>
              <a:rPr lang="en-US" dirty="0"/>
              <a:t>.</a:t>
            </a:r>
          </a:p>
          <a:p>
            <a:endParaRPr lang="en-US" dirty="0"/>
          </a:p>
          <a:p>
            <a:r>
              <a:rPr lang="en-US" dirty="0"/>
              <a:t>Let’s look at what we have here.</a:t>
            </a:r>
          </a:p>
          <a:p>
            <a:r>
              <a:rPr lang="en-US" dirty="0"/>
              <a:t>In the </a:t>
            </a:r>
            <a:r>
              <a:rPr lang="en-US" b="1" dirty="0"/>
              <a:t>top row</a:t>
            </a:r>
            <a:r>
              <a:rPr lang="en-US" dirty="0"/>
              <a:t>, we see three time-domain signals:</a:t>
            </a:r>
          </a:p>
          <a:p>
            <a:r>
              <a:rPr lang="en-US" dirty="0"/>
              <a:t>On the left is </a:t>
            </a:r>
            <a:r>
              <a:rPr lang="en-US" b="1" dirty="0"/>
              <a:t>f of x</a:t>
            </a:r>
            <a:r>
              <a:rPr lang="en-US" dirty="0"/>
              <a:t>, a simple </a:t>
            </a:r>
            <a:r>
              <a:rPr lang="en-US" b="1" dirty="0"/>
              <a:t>rectangular function</a:t>
            </a:r>
            <a:r>
              <a:rPr lang="en-US" dirty="0"/>
              <a:t>, also known as a </a:t>
            </a:r>
            <a:r>
              <a:rPr lang="en-US" b="1" dirty="0"/>
              <a:t>gate function</a:t>
            </a:r>
            <a:r>
              <a:rPr lang="en-US" dirty="0"/>
              <a:t>, centered at zero and extending from minus b over 2 to plus b over 2.</a:t>
            </a:r>
          </a:p>
          <a:p>
            <a:r>
              <a:rPr lang="en-US" dirty="0"/>
              <a:t>In the middle is </a:t>
            </a:r>
            <a:r>
              <a:rPr lang="en-US" b="1" dirty="0"/>
              <a:t>h of x</a:t>
            </a:r>
            <a:r>
              <a:rPr lang="en-US" dirty="0"/>
              <a:t>, which consists of </a:t>
            </a:r>
            <a:r>
              <a:rPr lang="en-US" b="1" dirty="0"/>
              <a:t>two delta functions</a:t>
            </a:r>
            <a:r>
              <a:rPr lang="en-US" dirty="0"/>
              <a:t> — located symmetrically around zero at minus a over 2 and plus a over 2.</a:t>
            </a:r>
          </a:p>
          <a:p>
            <a:r>
              <a:rPr lang="en-US" dirty="0"/>
              <a:t>On the right is the result of the </a:t>
            </a:r>
            <a:r>
              <a:rPr lang="en-US" b="1" dirty="0"/>
              <a:t>convolution</a:t>
            </a:r>
            <a:r>
              <a:rPr lang="en-US" dirty="0"/>
              <a:t> of f and h — which we’ll call </a:t>
            </a:r>
            <a:r>
              <a:rPr lang="en-US" b="1" dirty="0"/>
              <a:t>g of x</a:t>
            </a:r>
            <a:r>
              <a:rPr lang="en-US" dirty="0"/>
              <a:t>.</a:t>
            </a:r>
          </a:p>
          <a:p>
            <a:endParaRPr lang="en-US" dirty="0"/>
          </a:p>
          <a:p>
            <a:r>
              <a:rPr lang="en-US" dirty="0"/>
              <a:t>Now remember:</a:t>
            </a:r>
            <a:br>
              <a:rPr lang="en-US" dirty="0"/>
            </a:br>
            <a:r>
              <a:rPr lang="en-US" dirty="0"/>
              <a:t>When you </a:t>
            </a:r>
            <a:r>
              <a:rPr lang="en-US" b="1" dirty="0"/>
              <a:t>convolve a function with a delta</a:t>
            </a:r>
            <a:r>
              <a:rPr lang="en-US" dirty="0"/>
              <a:t>, the result is simply a </a:t>
            </a:r>
            <a:r>
              <a:rPr lang="en-US" b="1" dirty="0"/>
              <a:t>shifted version</a:t>
            </a:r>
            <a:r>
              <a:rPr lang="en-US" dirty="0"/>
              <a:t> of that function.</a:t>
            </a:r>
          </a:p>
          <a:p>
            <a:r>
              <a:rPr lang="en-US" dirty="0"/>
              <a:t>So here, convolving the gate function </a:t>
            </a:r>
            <a:r>
              <a:rPr lang="en-US" b="1" dirty="0"/>
              <a:t>f of x</a:t>
            </a:r>
            <a:r>
              <a:rPr lang="en-US" dirty="0"/>
              <a:t> with each of the two deltas in </a:t>
            </a:r>
            <a:r>
              <a:rPr lang="en-US" b="1" dirty="0"/>
              <a:t>h of x</a:t>
            </a:r>
            <a:r>
              <a:rPr lang="en-US" dirty="0"/>
              <a:t> gives us </a:t>
            </a:r>
            <a:r>
              <a:rPr lang="en-US" b="1" dirty="0"/>
              <a:t>two shifted gate functions</a:t>
            </a:r>
            <a:r>
              <a:rPr lang="en-US" dirty="0"/>
              <a:t> — one shifted left and one shifted right.</a:t>
            </a:r>
            <a:br>
              <a:rPr lang="en-US" dirty="0"/>
            </a:br>
            <a:endParaRPr lang="en-US" dirty="0"/>
          </a:p>
          <a:p>
            <a:r>
              <a:rPr lang="en-US" dirty="0"/>
              <a:t>When we add them together, we get </a:t>
            </a:r>
            <a:r>
              <a:rPr lang="en-US" b="1" dirty="0"/>
              <a:t>g of x</a:t>
            </a:r>
            <a:r>
              <a:rPr lang="en-US" dirty="0"/>
              <a:t> — a pair of rectangular pulses.</a:t>
            </a:r>
          </a:p>
          <a:p>
            <a:r>
              <a:rPr lang="en-US" dirty="0"/>
              <a:t>Now let’s look at the </a:t>
            </a:r>
            <a:r>
              <a:rPr lang="en-US" b="1" dirty="0"/>
              <a:t>bottom row</a:t>
            </a:r>
            <a:r>
              <a:rPr lang="en-US" dirty="0"/>
              <a:t> — this is the frequency domain.</a:t>
            </a:r>
          </a:p>
          <a:p>
            <a:r>
              <a:rPr lang="en-US" dirty="0"/>
              <a:t>Here’s where the </a:t>
            </a:r>
            <a:r>
              <a:rPr lang="en-US" b="1" dirty="0"/>
              <a:t>convolution theorem</a:t>
            </a:r>
            <a:r>
              <a:rPr lang="en-US" dirty="0"/>
              <a:t> comes in.</a:t>
            </a:r>
          </a:p>
          <a:p>
            <a:endParaRPr lang="en-US" dirty="0"/>
          </a:p>
          <a:p>
            <a:r>
              <a:rPr lang="en-US" dirty="0"/>
              <a:t>According to the theorem:</a:t>
            </a:r>
          </a:p>
          <a:p>
            <a:r>
              <a:rPr lang="en-US" b="1" dirty="0"/>
              <a:t>Convolution in the time domain becomes multiplication in the frequency domain.</a:t>
            </a:r>
            <a:endParaRPr lang="en-US" dirty="0"/>
          </a:p>
          <a:p>
            <a:r>
              <a:rPr lang="en-US" dirty="0"/>
              <a:t>So we take the </a:t>
            </a:r>
            <a:r>
              <a:rPr lang="en-US" b="1" dirty="0"/>
              <a:t>Fourier transforms</a:t>
            </a:r>
            <a:r>
              <a:rPr lang="en-US" dirty="0"/>
              <a:t> of the three signals:</a:t>
            </a:r>
          </a:p>
          <a:p>
            <a:r>
              <a:rPr lang="en-US" b="1" dirty="0"/>
              <a:t>f of x</a:t>
            </a:r>
            <a:r>
              <a:rPr lang="en-US" dirty="0"/>
              <a:t> becomes capital </a:t>
            </a:r>
            <a:r>
              <a:rPr lang="en-US" b="1" dirty="0"/>
              <a:t>F of k</a:t>
            </a:r>
            <a:r>
              <a:rPr lang="en-US" dirty="0"/>
              <a:t>, which is a </a:t>
            </a:r>
            <a:r>
              <a:rPr lang="en-US" b="1" dirty="0" err="1"/>
              <a:t>sinc</a:t>
            </a:r>
            <a:r>
              <a:rPr lang="en-US" b="1" dirty="0"/>
              <a:t>-shaped curve</a:t>
            </a:r>
            <a:r>
              <a:rPr lang="en-US" dirty="0"/>
              <a:t> — smooth and localized in frequency.</a:t>
            </a:r>
          </a:p>
          <a:p>
            <a:r>
              <a:rPr lang="en-US" b="1" dirty="0"/>
              <a:t>h of x</a:t>
            </a:r>
            <a:r>
              <a:rPr lang="en-US" dirty="0"/>
              <a:t>, which had two deltas in time, becomes a </a:t>
            </a:r>
            <a:r>
              <a:rPr lang="en-US" b="1" dirty="0"/>
              <a:t>cosine wave</a:t>
            </a:r>
            <a:r>
              <a:rPr lang="en-US" dirty="0"/>
              <a:t> in the frequency domain — that’s capital </a:t>
            </a:r>
            <a:r>
              <a:rPr lang="en-US" b="1" dirty="0"/>
              <a:t>H of k</a:t>
            </a:r>
            <a:r>
              <a:rPr lang="en-US" dirty="0"/>
              <a:t>, centered at zero, with oscillations depending on the spacing of the deltas.</a:t>
            </a:r>
          </a:p>
          <a:p>
            <a:endParaRPr lang="en-US" dirty="0"/>
          </a:p>
          <a:p>
            <a:r>
              <a:rPr lang="en-US" dirty="0"/>
              <a:t>Now, to get capital </a:t>
            </a:r>
            <a:r>
              <a:rPr lang="en-US" b="1" dirty="0"/>
              <a:t>G of k</a:t>
            </a:r>
            <a:r>
              <a:rPr lang="en-US" dirty="0"/>
              <a:t>, we multiply the two frequency-domain functions:</a:t>
            </a:r>
          </a:p>
          <a:p>
            <a:r>
              <a:rPr lang="en-US" b="1" dirty="0"/>
              <a:t>Capital F of k times capital H of k</a:t>
            </a:r>
            <a:r>
              <a:rPr lang="en-US" dirty="0"/>
              <a:t> equals capital </a:t>
            </a:r>
            <a:r>
              <a:rPr lang="en-US" b="1" dirty="0"/>
              <a:t>G of k</a:t>
            </a:r>
            <a:r>
              <a:rPr lang="en-US" dirty="0"/>
              <a:t>.</a:t>
            </a:r>
          </a:p>
          <a:p>
            <a:r>
              <a:rPr lang="en-US" dirty="0"/>
              <a:t>And the result, shown on the right, is a </a:t>
            </a:r>
            <a:r>
              <a:rPr lang="en-US" b="1" dirty="0"/>
              <a:t>modulated </a:t>
            </a:r>
            <a:r>
              <a:rPr lang="en-US" b="1" dirty="0" err="1"/>
              <a:t>sinc</a:t>
            </a:r>
            <a:r>
              <a:rPr lang="en-US" dirty="0"/>
              <a:t> — essentially the original </a:t>
            </a:r>
            <a:r>
              <a:rPr lang="en-US" dirty="0" err="1"/>
              <a:t>sinc</a:t>
            </a:r>
            <a:r>
              <a:rPr lang="en-US" dirty="0"/>
              <a:t> shape, but with oscillations introduced by the cosine multiplier.</a:t>
            </a:r>
          </a:p>
          <a:p>
            <a:endParaRPr lang="en-US" dirty="0"/>
          </a:p>
          <a:p>
            <a:r>
              <a:rPr lang="en-US" dirty="0"/>
              <a:t>So the key takeaway is this:</a:t>
            </a:r>
          </a:p>
          <a:p>
            <a:r>
              <a:rPr lang="en-US" b="1" dirty="0"/>
              <a:t>In time</a:t>
            </a:r>
            <a:r>
              <a:rPr lang="en-US" dirty="0"/>
              <a:t>, the convolution added and shifted the pulses.</a:t>
            </a:r>
          </a:p>
          <a:p>
            <a:r>
              <a:rPr lang="en-US" b="1" dirty="0"/>
              <a:t>In frequency</a:t>
            </a:r>
            <a:r>
              <a:rPr lang="en-US" dirty="0"/>
              <a:t>, the multiplication mixed the smooth </a:t>
            </a:r>
            <a:r>
              <a:rPr lang="en-US" dirty="0" err="1"/>
              <a:t>sinc</a:t>
            </a:r>
            <a:r>
              <a:rPr lang="en-US" dirty="0"/>
              <a:t> shape with oscillations.</a:t>
            </a:r>
          </a:p>
          <a:p>
            <a:r>
              <a:rPr lang="en-US" dirty="0"/>
              <a:t>This is a perfect visual illustration of what the convolution theorem does:</a:t>
            </a:r>
          </a:p>
          <a:p>
            <a:r>
              <a:rPr lang="en-US" dirty="0"/>
              <a:t>It transforms an operation that involves </a:t>
            </a:r>
            <a:r>
              <a:rPr lang="en-US" b="1" dirty="0"/>
              <a:t>sliding and summing</a:t>
            </a:r>
            <a:r>
              <a:rPr lang="en-US" dirty="0"/>
              <a:t> in time into a much simpler </a:t>
            </a:r>
            <a:r>
              <a:rPr lang="en-US" b="1" dirty="0"/>
              <a:t>pointwise multiplication</a:t>
            </a:r>
            <a:r>
              <a:rPr lang="en-US" dirty="0"/>
              <a:t> in the frequency domain.</a:t>
            </a:r>
          </a:p>
          <a:p>
            <a:r>
              <a:rPr lang="en-US" dirty="0"/>
              <a:t>Understanding this duality will help you immensely when working with signals — whether in analysis, filtering, or system design.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12</a:t>
            </a:fld>
            <a:endParaRPr lang="en-US"/>
          </a:p>
        </p:txBody>
      </p:sp>
    </p:spTree>
    <p:extLst>
      <p:ext uri="{BB962C8B-B14F-4D97-AF65-F5344CB8AC3E}">
        <p14:creationId xmlns:p14="http://schemas.microsoft.com/office/powerpoint/2010/main" val="3188161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now come to a natural turning point in our discussion.</a:t>
            </a:r>
          </a:p>
          <a:p>
            <a:r>
              <a:rPr lang="en-US" dirty="0"/>
              <a:t>So far, everything we’ve studied — from Fourier series and Fourier transforms, to convolution and delta functions — has been in the </a:t>
            </a:r>
            <a:r>
              <a:rPr lang="en-US" b="1" dirty="0"/>
              <a:t>continuous domain</a:t>
            </a:r>
            <a:r>
              <a:rPr lang="en-US" dirty="0"/>
              <a:t>.</a:t>
            </a:r>
          </a:p>
          <a:p>
            <a:endParaRPr lang="en-US" dirty="0"/>
          </a:p>
          <a:p>
            <a:r>
              <a:rPr lang="en-US" dirty="0"/>
              <a:t>But now we need to ask a very important question:</a:t>
            </a:r>
            <a:br>
              <a:rPr lang="en-US" dirty="0"/>
            </a:br>
            <a:r>
              <a:rPr lang="en-US" b="1" dirty="0"/>
              <a:t>Why do we work with digital signals? Why go digital?</a:t>
            </a:r>
          </a:p>
          <a:p>
            <a:endParaRPr lang="en-US" dirty="0"/>
          </a:p>
          <a:p>
            <a:r>
              <a:rPr lang="en-US" dirty="0"/>
              <a:t>Well, here are some good reasons.</a:t>
            </a:r>
          </a:p>
          <a:p>
            <a:r>
              <a:rPr lang="en-US" dirty="0"/>
              <a:t>First — </a:t>
            </a:r>
            <a:r>
              <a:rPr lang="en-US" b="1" dirty="0"/>
              <a:t>digital signals are exact</a:t>
            </a:r>
            <a:r>
              <a:rPr lang="en-US" dirty="0"/>
              <a:t>.</a:t>
            </a:r>
            <a:br>
              <a:rPr lang="en-US" dirty="0"/>
            </a:br>
            <a:r>
              <a:rPr lang="en-US" dirty="0"/>
              <a:t>They’re stored as numbers, so they don’t degrade over time the way analog signals do.</a:t>
            </a:r>
          </a:p>
          <a:p>
            <a:endParaRPr lang="en-US" dirty="0"/>
          </a:p>
          <a:p>
            <a:r>
              <a:rPr lang="en-US" dirty="0"/>
              <a:t>Second — </a:t>
            </a:r>
            <a:r>
              <a:rPr lang="en-US" b="1" dirty="0"/>
              <a:t>errors can be detected and corrected</a:t>
            </a:r>
            <a:r>
              <a:rPr lang="en-US" dirty="0"/>
              <a:t>.</a:t>
            </a:r>
            <a:br>
              <a:rPr lang="en-US" dirty="0"/>
            </a:br>
            <a:r>
              <a:rPr lang="en-US" dirty="0"/>
              <a:t>Digital systems can automatically check for mistakes during transmission or storage — and even fix them.</a:t>
            </a:r>
          </a:p>
          <a:p>
            <a:endParaRPr lang="en-US" dirty="0"/>
          </a:p>
          <a:p>
            <a:r>
              <a:rPr lang="en-US" dirty="0"/>
              <a:t>Third — </a:t>
            </a:r>
            <a:r>
              <a:rPr lang="en-US" b="1" dirty="0"/>
              <a:t>noise and interference can be filtered out more easily</a:t>
            </a:r>
            <a:r>
              <a:rPr lang="en-US" dirty="0"/>
              <a:t>.</a:t>
            </a:r>
            <a:br>
              <a:rPr lang="en-US" dirty="0"/>
            </a:br>
            <a:r>
              <a:rPr lang="en-US" dirty="0"/>
              <a:t>In a digital system, it's much simpler to distinguish real data from unwanted signals.</a:t>
            </a:r>
          </a:p>
          <a:p>
            <a:endParaRPr lang="en-US" dirty="0"/>
          </a:p>
          <a:p>
            <a:r>
              <a:rPr lang="en-US" dirty="0"/>
              <a:t>Fourth — with digital transmission, we can send </a:t>
            </a:r>
            <a:r>
              <a:rPr lang="en-US" b="1" dirty="0"/>
              <a:t>multiple types of information over the same line</a:t>
            </a:r>
            <a:r>
              <a:rPr lang="en-US" dirty="0"/>
              <a:t> — audio, video, text — all bundled together efficiently.</a:t>
            </a:r>
          </a:p>
          <a:p>
            <a:endParaRPr lang="en-US" dirty="0"/>
          </a:p>
          <a:p>
            <a:r>
              <a:rPr lang="en-US" dirty="0"/>
              <a:t>And finally — digital systems support </a:t>
            </a:r>
            <a:r>
              <a:rPr lang="en-US" b="1" dirty="0"/>
              <a:t>data compression</a:t>
            </a:r>
            <a:r>
              <a:rPr lang="en-US" dirty="0"/>
              <a:t>, which lets us send more information using less bandwidth.</a:t>
            </a:r>
          </a:p>
          <a:p>
            <a:endParaRPr lang="en-US" dirty="0"/>
          </a:p>
          <a:p>
            <a:r>
              <a:rPr lang="en-US" dirty="0"/>
              <a:t>All of this is why most modern communication, computation, and imaging systems have moved to the digital domain.</a:t>
            </a:r>
          </a:p>
          <a:p>
            <a:r>
              <a:rPr lang="en-US" dirty="0"/>
              <a:t>And that brings us to the next part of our journey.</a:t>
            </a:r>
          </a:p>
          <a:p>
            <a:r>
              <a:rPr lang="en-US" b="1" dirty="0"/>
              <a:t>Let’s study how to process digital signals next.</a:t>
            </a:r>
            <a:endParaRPr lang="en-US" dirty="0"/>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13</a:t>
            </a:fld>
            <a:endParaRPr lang="en-US"/>
          </a:p>
        </p:txBody>
      </p:sp>
    </p:spTree>
    <p:extLst>
      <p:ext uri="{BB962C8B-B14F-4D97-AF65-F5344CB8AC3E}">
        <p14:creationId xmlns:p14="http://schemas.microsoft.com/office/powerpoint/2010/main" val="3229614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seen why digital signals are so useful, let’s take a look at how real-world signals actually make their way </a:t>
            </a:r>
            <a:r>
              <a:rPr lang="en-US" b="1" dirty="0"/>
              <a:t>into a computer</a:t>
            </a:r>
            <a:r>
              <a:rPr lang="en-US" dirty="0"/>
              <a:t>.</a:t>
            </a:r>
          </a:p>
          <a:p>
            <a:r>
              <a:rPr lang="en-US" dirty="0"/>
              <a:t>This diagram shows the full journey — from a physical system to digital data inside your laptop.</a:t>
            </a:r>
          </a:p>
          <a:p>
            <a:endParaRPr lang="en-US" dirty="0"/>
          </a:p>
          <a:p>
            <a:r>
              <a:rPr lang="en-US" dirty="0"/>
              <a:t>Let’s walk through it step by step.</a:t>
            </a:r>
          </a:p>
          <a:p>
            <a:r>
              <a:rPr lang="en-US" dirty="0"/>
              <a:t>It all starts with the </a:t>
            </a:r>
            <a:r>
              <a:rPr lang="en-US" b="1" dirty="0"/>
              <a:t>physical world</a:t>
            </a:r>
            <a:r>
              <a:rPr lang="en-US" dirty="0"/>
              <a:t> — maybe we’re measuring temperature, pressure, light intensity, motion, or some other physical quantity.</a:t>
            </a:r>
          </a:p>
          <a:p>
            <a:endParaRPr lang="en-US" dirty="0"/>
          </a:p>
          <a:p>
            <a:r>
              <a:rPr lang="en-US" dirty="0"/>
              <a:t>To capture this, we need a </a:t>
            </a:r>
            <a:r>
              <a:rPr lang="en-US" b="1" dirty="0"/>
              <a:t>sensor</a:t>
            </a:r>
            <a:r>
              <a:rPr lang="en-US" dirty="0"/>
              <a:t> — or more specifically, a </a:t>
            </a:r>
            <a:r>
              <a:rPr lang="en-US" b="1" dirty="0"/>
              <a:t>transducer</a:t>
            </a:r>
            <a:r>
              <a:rPr lang="en-US" dirty="0"/>
              <a:t>.</a:t>
            </a:r>
            <a:br>
              <a:rPr lang="en-US" dirty="0"/>
            </a:br>
            <a:r>
              <a:rPr lang="en-US" dirty="0"/>
              <a:t>A transducer converts the physical phenomenon into an </a:t>
            </a:r>
            <a:r>
              <a:rPr lang="en-US" b="1" dirty="0"/>
              <a:t>electrical signal</a:t>
            </a:r>
            <a:r>
              <a:rPr lang="en-US" dirty="0"/>
              <a:t> — usually an analog one.</a:t>
            </a:r>
            <a:br>
              <a:rPr lang="en-US" dirty="0"/>
            </a:br>
            <a:r>
              <a:rPr lang="en-US" dirty="0"/>
              <a:t>This analog signal may be noisy, or it may contain extra fluctuations we don’t want.</a:t>
            </a:r>
          </a:p>
          <a:p>
            <a:endParaRPr lang="en-US" dirty="0"/>
          </a:p>
          <a:p>
            <a:r>
              <a:rPr lang="en-US" dirty="0"/>
              <a:t>So the next step is called </a:t>
            </a:r>
            <a:r>
              <a:rPr lang="en-US" b="1" dirty="0"/>
              <a:t>signal conditioning</a:t>
            </a:r>
            <a:r>
              <a:rPr lang="en-US" dirty="0"/>
              <a:t>.</a:t>
            </a:r>
            <a:br>
              <a:rPr lang="en-US" dirty="0"/>
            </a:br>
            <a:r>
              <a:rPr lang="en-US" dirty="0"/>
              <a:t>Here we might filter the signal, smooth it, amplify it, or perform other adjustments to get it into a clean, usable form.</a:t>
            </a:r>
            <a:br>
              <a:rPr lang="en-US" dirty="0"/>
            </a:br>
            <a:r>
              <a:rPr lang="en-US" dirty="0"/>
              <a:t>This step helps us reduce noise and make sure the signal is suitable for the next stage.</a:t>
            </a:r>
          </a:p>
          <a:p>
            <a:endParaRPr lang="en-US" dirty="0"/>
          </a:p>
          <a:p>
            <a:r>
              <a:rPr lang="en-US" dirty="0"/>
              <a:t>Now comes the critical component — the </a:t>
            </a:r>
            <a:r>
              <a:rPr lang="en-US" b="1" dirty="0"/>
              <a:t>Analog-to-Digital Converter</a:t>
            </a:r>
            <a:r>
              <a:rPr lang="en-US" dirty="0"/>
              <a:t>, or </a:t>
            </a:r>
            <a:r>
              <a:rPr lang="en-US" b="1" dirty="0"/>
              <a:t>A-D converter</a:t>
            </a:r>
            <a:r>
              <a:rPr lang="en-US" dirty="0"/>
              <a:t> for short.</a:t>
            </a:r>
          </a:p>
          <a:p>
            <a:r>
              <a:rPr lang="en-US" dirty="0"/>
              <a:t>This is where the </a:t>
            </a:r>
            <a:r>
              <a:rPr lang="en-US" b="1" dirty="0"/>
              <a:t>continuous analog signal</a:t>
            </a:r>
            <a:r>
              <a:rPr lang="en-US" dirty="0"/>
              <a:t> gets sampled and turned into a </a:t>
            </a:r>
            <a:r>
              <a:rPr lang="en-US" b="1" dirty="0"/>
              <a:t>digital signal</a:t>
            </a:r>
            <a:r>
              <a:rPr lang="en-US" dirty="0"/>
              <a:t> — a sequence of numbers the computer can store and process.</a:t>
            </a:r>
          </a:p>
          <a:p>
            <a:endParaRPr lang="en-US" dirty="0"/>
          </a:p>
          <a:p>
            <a:r>
              <a:rPr lang="en-US" dirty="0"/>
              <a:t>More specifically, to get a analog signal into the computer, let’s break down </a:t>
            </a:r>
            <a:r>
              <a:rPr lang="en-US" b="1" dirty="0"/>
              <a:t>what happens during digitization with an A/D converter</a:t>
            </a:r>
            <a:r>
              <a:rPr lang="en-US" dirty="0"/>
              <a:t> — using this visual example.</a:t>
            </a:r>
          </a:p>
          <a:p>
            <a:endParaRPr lang="en-US" dirty="0"/>
          </a:p>
          <a:p>
            <a:r>
              <a:rPr lang="en-US" dirty="0"/>
              <a:t>Here you see an analog signal, represented here as a </a:t>
            </a:r>
            <a:r>
              <a:rPr lang="en-US" b="1" dirty="0"/>
              <a:t>smooth, continuous wave</a:t>
            </a:r>
            <a:r>
              <a:rPr lang="en-US" dirty="0"/>
              <a:t> — like a sound wave moving across time.</a:t>
            </a:r>
            <a:br>
              <a:rPr lang="en-US" dirty="0"/>
            </a:br>
            <a:r>
              <a:rPr lang="en-US" dirty="0"/>
              <a:t>Actually, a digital computer can’t store this continuous curve directly.</a:t>
            </a:r>
            <a:br>
              <a:rPr lang="en-US" dirty="0"/>
            </a:br>
            <a:r>
              <a:rPr lang="en-US" dirty="0"/>
              <a:t>Instead, it must </a:t>
            </a:r>
            <a:r>
              <a:rPr lang="en-US" b="1" dirty="0"/>
              <a:t>sample</a:t>
            </a:r>
            <a:r>
              <a:rPr lang="en-US" dirty="0"/>
              <a:t> the signal at specific time points.</a:t>
            </a:r>
          </a:p>
          <a:p>
            <a:endParaRPr lang="en-US" dirty="0"/>
          </a:p>
          <a:p>
            <a:r>
              <a:rPr lang="en-US" dirty="0"/>
              <a:t>At each of these time points, we ask:</a:t>
            </a:r>
            <a:br>
              <a:rPr lang="en-US" dirty="0"/>
            </a:br>
            <a:r>
              <a:rPr lang="en-US" b="1" dirty="0"/>
              <a:t>What is the value of the signal right here?</a:t>
            </a:r>
            <a:br>
              <a:rPr lang="en-US" dirty="0"/>
            </a:br>
            <a:r>
              <a:rPr lang="en-US" dirty="0"/>
              <a:t>And that gives us a sequence of numbers.</a:t>
            </a:r>
          </a:p>
          <a:p>
            <a:r>
              <a:rPr lang="en-US" dirty="0"/>
              <a:t>In the rightmost illustration, you can see vertical bars that “catch” the wave at regular intervals.</a:t>
            </a:r>
            <a:br>
              <a:rPr lang="en-US" dirty="0"/>
            </a:br>
            <a:r>
              <a:rPr lang="en-US" dirty="0"/>
              <a:t>These bars represent </a:t>
            </a:r>
            <a:r>
              <a:rPr lang="en-US" b="1" dirty="0"/>
              <a:t>sampling operations</a:t>
            </a:r>
            <a:r>
              <a:rPr lang="en-US" dirty="0"/>
              <a:t> — and the </a:t>
            </a:r>
            <a:r>
              <a:rPr lang="en-US" b="1" dirty="0"/>
              <a:t>height of each bar</a:t>
            </a:r>
            <a:r>
              <a:rPr lang="en-US" dirty="0"/>
              <a:t> shows the value of the signal at that point in time.</a:t>
            </a:r>
          </a:p>
          <a:p>
            <a:endParaRPr lang="en-US" dirty="0"/>
          </a:p>
          <a:p>
            <a:r>
              <a:rPr lang="en-US" dirty="0"/>
              <a:t>Now, here's something important:</a:t>
            </a:r>
            <a:br>
              <a:rPr lang="en-US" dirty="0"/>
            </a:br>
            <a:r>
              <a:rPr lang="en-US" dirty="0"/>
              <a:t>The computer can’t store every possible value — like pi=3.14159 etc. or e=2.71828 etc. with infinite precision.</a:t>
            </a:r>
            <a:br>
              <a:rPr lang="en-US" dirty="0"/>
            </a:br>
            <a:r>
              <a:rPr lang="en-US" dirty="0"/>
              <a:t>Instead, it must </a:t>
            </a:r>
            <a:r>
              <a:rPr lang="en-US" b="1" dirty="0"/>
              <a:t>round</a:t>
            </a:r>
            <a:r>
              <a:rPr lang="en-US" dirty="0"/>
              <a:t> the values to the nearest available level.</a:t>
            </a:r>
          </a:p>
          <a:p>
            <a:r>
              <a:rPr lang="en-US" dirty="0"/>
              <a:t>This process is called </a:t>
            </a:r>
            <a:r>
              <a:rPr lang="en-US" b="1" dirty="0"/>
              <a:t>quantization</a:t>
            </a:r>
            <a:r>
              <a:rPr lang="en-US" dirty="0"/>
              <a:t>.</a:t>
            </a:r>
            <a:br>
              <a:rPr lang="en-US" dirty="0"/>
            </a:br>
            <a:r>
              <a:rPr lang="en-US" dirty="0"/>
              <a:t>It means converting a smooth, continuous range of amplitudes into a set of fixed, discrete values — often represented by </a:t>
            </a:r>
            <a:r>
              <a:rPr lang="en-US" b="1" dirty="0"/>
              <a:t>whole numbers</a:t>
            </a:r>
            <a:r>
              <a:rPr lang="en-US" dirty="0"/>
              <a:t>.</a:t>
            </a:r>
          </a:p>
          <a:p>
            <a:endParaRPr lang="en-US" dirty="0"/>
          </a:p>
          <a:p>
            <a:r>
              <a:rPr lang="en-US" dirty="0"/>
              <a:t>So here, we get a string of numbers like:</a:t>
            </a:r>
            <a:br>
              <a:rPr lang="en-US" dirty="0"/>
            </a:br>
            <a:r>
              <a:rPr lang="en-US" b="1" dirty="0"/>
              <a:t>3, 5, 6, 6, 4, 2, 1, 2.</a:t>
            </a:r>
            <a:endParaRPr lang="en-US" dirty="0"/>
          </a:p>
          <a:p>
            <a:r>
              <a:rPr lang="en-US" dirty="0"/>
              <a:t>And these numbers are what the computer stores.</a:t>
            </a:r>
          </a:p>
          <a:p>
            <a:r>
              <a:rPr lang="en-US" dirty="0"/>
              <a:t>But even these whole numbers aren’t stored in decimal form.</a:t>
            </a:r>
            <a:br>
              <a:rPr lang="en-US" dirty="0"/>
            </a:br>
            <a:r>
              <a:rPr lang="en-US" dirty="0"/>
              <a:t>Computers use </a:t>
            </a:r>
            <a:r>
              <a:rPr lang="en-US" b="1" dirty="0"/>
              <a:t>binary</a:t>
            </a:r>
            <a:r>
              <a:rPr lang="en-US" dirty="0"/>
              <a:t> — just zeros and ones to represent either an integral or a decimal number.</a:t>
            </a:r>
          </a:p>
          <a:p>
            <a:endParaRPr lang="en-US" dirty="0"/>
          </a:p>
          <a:p>
            <a:r>
              <a:rPr lang="en-US" dirty="0"/>
              <a:t>So each number gets translated into binary. For example:</a:t>
            </a:r>
          </a:p>
          <a:p>
            <a:r>
              <a:rPr lang="en-US" dirty="0"/>
              <a:t>1 becomes </a:t>
            </a:r>
            <a:r>
              <a:rPr lang="en-US" b="1" dirty="0"/>
              <a:t>zero one</a:t>
            </a:r>
            <a:r>
              <a:rPr lang="en-US" dirty="0"/>
              <a:t>,</a:t>
            </a:r>
          </a:p>
          <a:p>
            <a:r>
              <a:rPr lang="en-US" dirty="0"/>
              <a:t>2 becomes </a:t>
            </a:r>
            <a:r>
              <a:rPr lang="en-US" b="1" dirty="0"/>
              <a:t>one zero</a:t>
            </a:r>
            <a:r>
              <a:rPr lang="en-US" dirty="0"/>
              <a:t>,</a:t>
            </a:r>
          </a:p>
          <a:p>
            <a:r>
              <a:rPr lang="en-US" dirty="0"/>
              <a:t>3 becomes </a:t>
            </a:r>
            <a:r>
              <a:rPr lang="en-US" b="1" dirty="0"/>
              <a:t>one </a:t>
            </a:r>
            <a:r>
              <a:rPr lang="en-US" b="1" dirty="0" err="1"/>
              <a:t>one</a:t>
            </a:r>
            <a:r>
              <a:rPr lang="en-US" dirty="0"/>
              <a:t>,</a:t>
            </a:r>
          </a:p>
          <a:p>
            <a:r>
              <a:rPr lang="en-US" dirty="0"/>
              <a:t>and so on.</a:t>
            </a:r>
          </a:p>
          <a:p>
            <a:r>
              <a:rPr lang="en-US" dirty="0"/>
              <a:t>This is how a </a:t>
            </a:r>
            <a:r>
              <a:rPr lang="en-US" b="1" dirty="0"/>
              <a:t>continuous analog signal</a:t>
            </a:r>
            <a:r>
              <a:rPr lang="en-US" dirty="0"/>
              <a:t> — like sound or temperature — becomes a </a:t>
            </a:r>
            <a:r>
              <a:rPr lang="en-US" b="1" dirty="0"/>
              <a:t>digital signal</a:t>
            </a:r>
            <a:r>
              <a:rPr lang="en-US" dirty="0"/>
              <a:t> inside a computer:</a:t>
            </a:r>
            <a:br>
              <a:rPr lang="en-US" dirty="0"/>
            </a:br>
            <a:r>
              <a:rPr lang="en-US" dirty="0"/>
              <a:t>First through </a:t>
            </a:r>
            <a:r>
              <a:rPr lang="en-US" b="1" dirty="0"/>
              <a:t>sampling</a:t>
            </a:r>
            <a:r>
              <a:rPr lang="en-US" dirty="0"/>
              <a:t> across time, then through </a:t>
            </a:r>
            <a:r>
              <a:rPr lang="en-US" b="1" dirty="0"/>
              <a:t>quantization</a:t>
            </a:r>
            <a:r>
              <a:rPr lang="en-US" dirty="0"/>
              <a:t> of amplitude, and finally through </a:t>
            </a:r>
            <a:r>
              <a:rPr lang="en-US" b="1" dirty="0"/>
              <a:t>binary encoding</a:t>
            </a:r>
            <a:r>
              <a:rPr lang="en-US" dirty="0"/>
              <a:t>.</a:t>
            </a:r>
          </a:p>
          <a:p>
            <a:endParaRPr lang="en-US" dirty="0"/>
          </a:p>
          <a:p>
            <a:r>
              <a:rPr lang="en-US" dirty="0"/>
              <a:t>Each step introduces a tradeoff:</a:t>
            </a:r>
          </a:p>
          <a:p>
            <a:r>
              <a:rPr lang="en-US" dirty="0"/>
              <a:t>More sampling points give better resolution in time.</a:t>
            </a:r>
          </a:p>
          <a:p>
            <a:r>
              <a:rPr lang="en-US" dirty="0"/>
              <a:t>More quantization levels give better precision in amplitude.</a:t>
            </a:r>
          </a:p>
          <a:p>
            <a:r>
              <a:rPr lang="en-US" dirty="0"/>
              <a:t>But more of both means more data to store and process.</a:t>
            </a:r>
          </a:p>
          <a:p>
            <a:r>
              <a:rPr lang="en-US" dirty="0"/>
              <a:t>This is the foundation of digital signal processing — and now you’ve seen how it all begins.</a:t>
            </a:r>
          </a:p>
          <a:p>
            <a:endParaRPr lang="en-US" dirty="0"/>
          </a:p>
          <a:p>
            <a:r>
              <a:rPr lang="en-US" dirty="0"/>
              <a:t>And finally, that digital data — made up of zeros and ones — enters the </a:t>
            </a:r>
            <a:r>
              <a:rPr lang="en-US" b="1" dirty="0"/>
              <a:t>computer</a:t>
            </a:r>
            <a:r>
              <a:rPr lang="en-US" dirty="0"/>
              <a:t>, where it can be displayed, analyzed, stored, or transmitted.</a:t>
            </a:r>
          </a:p>
          <a:p>
            <a:endParaRPr lang="en-US" dirty="0"/>
          </a:p>
          <a:p>
            <a:r>
              <a:rPr lang="en-US" dirty="0"/>
              <a:t>So again, the pipeline goes like this:</a:t>
            </a:r>
          </a:p>
          <a:p>
            <a:r>
              <a:rPr lang="en-US" b="1" dirty="0"/>
              <a:t>Physical system → transducer → signal conditioning → analog-to-digital conversion → computer.</a:t>
            </a:r>
            <a:endParaRPr lang="en-US" dirty="0"/>
          </a:p>
          <a:p>
            <a:r>
              <a:rPr lang="en-US" dirty="0"/>
              <a:t>This entire process happens in almost every modern system — from medical devices to smart homes to autonomous vehicles.</a:t>
            </a:r>
          </a:p>
          <a:p>
            <a:r>
              <a:rPr lang="en-US" dirty="0"/>
              <a:t>And the better we understand this chain, the better we can design systems that are accurate, efficient, and reliable.</a:t>
            </a:r>
          </a:p>
        </p:txBody>
      </p:sp>
      <p:sp>
        <p:nvSpPr>
          <p:cNvPr id="4" name="Slide Number Placeholder 3"/>
          <p:cNvSpPr>
            <a:spLocks noGrp="1"/>
          </p:cNvSpPr>
          <p:nvPr>
            <p:ph type="sldNum" sz="quarter" idx="5"/>
          </p:nvPr>
        </p:nvSpPr>
        <p:spPr/>
        <p:txBody>
          <a:bodyPr/>
          <a:lstStyle/>
          <a:p>
            <a:fld id="{9F30534E-9FB8-46AE-8E3B-5675B268AE6A}" type="slidenum">
              <a:rPr lang="en-US" smtClean="0"/>
              <a:pPr/>
              <a:t>14</a:t>
            </a:fld>
            <a:endParaRPr lang="en-US"/>
          </a:p>
        </p:txBody>
      </p:sp>
    </p:spTree>
    <p:extLst>
      <p:ext uri="{BB962C8B-B14F-4D97-AF65-F5344CB8AC3E}">
        <p14:creationId xmlns:p14="http://schemas.microsoft.com/office/powerpoint/2010/main" val="2042647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that we’ve brought our signal into the computer, let’s take a closer look at what’s really happening during </a:t>
            </a:r>
            <a:r>
              <a:rPr lang="en-US" b="1" dirty="0"/>
              <a:t>analog-to-digital conversion</a:t>
            </a:r>
            <a:r>
              <a:rPr lang="en-US" dirty="0"/>
              <a:t>.</a:t>
            </a:r>
          </a:p>
          <a:p>
            <a:endParaRPr lang="en-US" dirty="0"/>
          </a:p>
          <a:p>
            <a:r>
              <a:rPr lang="en-US" dirty="0"/>
              <a:t>As you can see in the top plot, we start with a smooth, continuous signal — </a:t>
            </a:r>
            <a:r>
              <a:rPr lang="en-US" b="1" dirty="0"/>
              <a:t>x of t</a:t>
            </a:r>
            <a:r>
              <a:rPr lang="en-US" dirty="0"/>
              <a:t> — defined for all time and with continuous amplitude.</a:t>
            </a:r>
          </a:p>
          <a:p>
            <a:r>
              <a:rPr lang="en-US" dirty="0"/>
              <a:t>But the computer can’t store that continuous curve — it needs </a:t>
            </a:r>
            <a:r>
              <a:rPr lang="en-US" b="1" dirty="0"/>
              <a:t>discrete data</a:t>
            </a:r>
            <a:r>
              <a:rPr lang="en-US" dirty="0"/>
              <a:t>.</a:t>
            </a:r>
          </a:p>
          <a:p>
            <a:r>
              <a:rPr lang="en-US" dirty="0"/>
              <a:t>So we begin with the first major step: </a:t>
            </a:r>
            <a:r>
              <a:rPr lang="en-US" b="1" dirty="0"/>
              <a:t>sampling</a:t>
            </a:r>
            <a:r>
              <a:rPr lang="en-US" dirty="0"/>
              <a:t>, also called </a:t>
            </a:r>
            <a:r>
              <a:rPr lang="en-US" b="1" dirty="0"/>
              <a:t>discretization in time</a:t>
            </a:r>
            <a:r>
              <a:rPr lang="en-US" dirty="0"/>
              <a:t>.</a:t>
            </a:r>
          </a:p>
          <a:p>
            <a:r>
              <a:rPr lang="en-US" dirty="0"/>
              <a:t>This means we only record the value of the signal at selected time points — evenly spaced along the horizontal axis.</a:t>
            </a:r>
            <a:br>
              <a:rPr lang="en-US" dirty="0"/>
            </a:br>
            <a:r>
              <a:rPr lang="en-US" dirty="0"/>
              <a:t>At each of these points, we “catch” the value of the signal, just like placing a pin at that instant.</a:t>
            </a:r>
          </a:p>
          <a:p>
            <a:r>
              <a:rPr lang="en-US" dirty="0"/>
              <a:t>‘</a:t>
            </a:r>
          </a:p>
          <a:p>
            <a:r>
              <a:rPr lang="en-US" dirty="0"/>
              <a:t>Now, the second step is </a:t>
            </a:r>
            <a:r>
              <a:rPr lang="en-US" b="1" dirty="0"/>
              <a:t>quantization</a:t>
            </a:r>
            <a:r>
              <a:rPr lang="en-US" dirty="0"/>
              <a:t> — converting the amplitude of each sample into a </a:t>
            </a:r>
            <a:r>
              <a:rPr lang="en-US" b="1" dirty="0"/>
              <a:t>finite-precision value</a:t>
            </a:r>
            <a:r>
              <a:rPr lang="en-US" dirty="0"/>
              <a:t>.</a:t>
            </a:r>
          </a:p>
          <a:p>
            <a:r>
              <a:rPr lang="en-US" dirty="0"/>
              <a:t>We can’t store irrational numbers like pi or e with infinite precision.</a:t>
            </a:r>
            <a:br>
              <a:rPr lang="en-US" dirty="0"/>
            </a:br>
            <a:r>
              <a:rPr lang="en-US" dirty="0"/>
              <a:t>Instead, we round them to a reasonable approximation — say, 3.14 for pi.</a:t>
            </a:r>
            <a:br>
              <a:rPr lang="en-US" dirty="0"/>
            </a:br>
            <a:r>
              <a:rPr lang="en-US" dirty="0"/>
              <a:t>And for our purposes, we assume this rounding is accurate enough to not affect the result significantly.</a:t>
            </a:r>
          </a:p>
          <a:p>
            <a:r>
              <a:rPr lang="en-US" dirty="0"/>
              <a:t>So in our analysis, we mostly </a:t>
            </a:r>
            <a:r>
              <a:rPr lang="en-US" b="1" dirty="0"/>
              <a:t>ignore the quantization error</a:t>
            </a:r>
            <a:r>
              <a:rPr lang="en-US" dirty="0"/>
              <a:t> and focus on </a:t>
            </a:r>
            <a:r>
              <a:rPr lang="en-US" b="1" dirty="0"/>
              <a:t>sampling</a:t>
            </a:r>
            <a:r>
              <a:rPr lang="en-US" dirty="0"/>
              <a:t> — the time discretization.</a:t>
            </a:r>
          </a:p>
          <a:p>
            <a:endParaRPr lang="en-US" dirty="0"/>
          </a:p>
          <a:p>
            <a:r>
              <a:rPr lang="en-US" dirty="0"/>
              <a:t>The bottom diagram shows how the sampled signal looks:</a:t>
            </a:r>
            <a:br>
              <a:rPr lang="en-US" dirty="0"/>
            </a:br>
            <a:r>
              <a:rPr lang="en-US" dirty="0"/>
              <a:t>It’s now a series of impulses — each one located at a sample time and scaled to the value of the original signal at that moment.</a:t>
            </a:r>
          </a:p>
          <a:p>
            <a:r>
              <a:rPr lang="en-US" dirty="0"/>
              <a:t>This sequence of impulses is what we work with in digital signal processing.</a:t>
            </a:r>
          </a:p>
          <a:p>
            <a:endParaRPr lang="en-US" dirty="0"/>
          </a:p>
          <a:p>
            <a:r>
              <a:rPr lang="en-US" dirty="0"/>
              <a:t>But here’s something important to remember:</a:t>
            </a:r>
          </a:p>
          <a:p>
            <a:r>
              <a:rPr lang="en-US" dirty="0"/>
              <a:t>The </a:t>
            </a:r>
            <a:r>
              <a:rPr lang="en-US" b="1" dirty="0"/>
              <a:t>real signal</a:t>
            </a:r>
            <a:r>
              <a:rPr lang="en-US" dirty="0"/>
              <a:t> — the one that matters in the physical world — is still continuous.</a:t>
            </a:r>
          </a:p>
          <a:p>
            <a:r>
              <a:rPr lang="en-US" dirty="0"/>
              <a:t>What we do with computers is a </a:t>
            </a:r>
            <a:r>
              <a:rPr lang="en-US" b="1" dirty="0"/>
              <a:t>second-best approximation</a:t>
            </a:r>
            <a:r>
              <a:rPr lang="en-US" dirty="0"/>
              <a:t>, based on discrete samples.</a:t>
            </a:r>
          </a:p>
          <a:p>
            <a:endParaRPr lang="en-US" dirty="0"/>
          </a:p>
          <a:p>
            <a:r>
              <a:rPr lang="en-US" dirty="0"/>
              <a:t>So the key question becomes:</a:t>
            </a:r>
          </a:p>
          <a:p>
            <a:r>
              <a:rPr lang="en-US" b="1" dirty="0"/>
              <a:t>Can we process these sampled values in a way that still lets us understand or recover the original continuous signal?</a:t>
            </a:r>
            <a:endParaRPr lang="en-US" dirty="0"/>
          </a:p>
          <a:p>
            <a:r>
              <a:rPr lang="en-US" dirty="0"/>
              <a:t>This is the challenge at the heart of signal processing — bridging the gap between </a:t>
            </a:r>
            <a:r>
              <a:rPr lang="en-US" b="1" dirty="0"/>
              <a:t>discrete computation</a:t>
            </a:r>
            <a:r>
              <a:rPr lang="en-US" dirty="0"/>
              <a:t> and </a:t>
            </a:r>
            <a:r>
              <a:rPr lang="en-US" b="1" dirty="0"/>
              <a:t>continuous reality</a:t>
            </a:r>
            <a:r>
              <a:rPr lang="en-US" dirty="0"/>
              <a:t>.</a:t>
            </a:r>
          </a:p>
          <a:p>
            <a:r>
              <a:rPr lang="en-US" dirty="0"/>
              <a:t>And that’s what we’ll be exploring in the next steps of our journey.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15</a:t>
            </a:fld>
            <a:endParaRPr lang="en-US"/>
          </a:p>
        </p:txBody>
      </p:sp>
    </p:spTree>
    <p:extLst>
      <p:ext uri="{BB962C8B-B14F-4D97-AF65-F5344CB8AC3E}">
        <p14:creationId xmlns:p14="http://schemas.microsoft.com/office/powerpoint/2010/main" val="1033469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back and revisit the question we just posed:</a:t>
            </a:r>
            <a:br>
              <a:rPr lang="en-US" dirty="0"/>
            </a:br>
            <a:r>
              <a:rPr lang="en-US" dirty="0"/>
              <a:t>If we take a continuous signal and convert it into discrete samples, can we still reconstruct the original signal?</a:t>
            </a:r>
          </a:p>
          <a:p>
            <a:r>
              <a:rPr lang="en-US" dirty="0"/>
              <a:t>To explore that, let’s start with this example — a </a:t>
            </a:r>
            <a:r>
              <a:rPr lang="en-US" b="1" dirty="0"/>
              <a:t>pure continuous wave</a:t>
            </a:r>
            <a:r>
              <a:rPr lang="en-US" dirty="0"/>
              <a:t>.</a:t>
            </a:r>
          </a:p>
          <a:p>
            <a:endParaRPr lang="en-US" dirty="0"/>
          </a:p>
          <a:p>
            <a:r>
              <a:rPr lang="en-US" dirty="0"/>
              <a:t>Here, we’ve plotted the function</a:t>
            </a:r>
            <a:br>
              <a:rPr lang="en-US" dirty="0"/>
            </a:br>
            <a:r>
              <a:rPr lang="en-US" b="1" dirty="0"/>
              <a:t>5 times sine of 2 pi 4 t</a:t>
            </a:r>
            <a:br>
              <a:rPr lang="en-US" dirty="0"/>
            </a:br>
            <a:r>
              <a:rPr lang="en-US" dirty="0"/>
              <a:t>That’s a simple sine wave with amplitude 5 and frequency 4 cycles per second — or 4 hertz.</a:t>
            </a:r>
          </a:p>
          <a:p>
            <a:r>
              <a:rPr lang="en-US" dirty="0"/>
              <a:t>And this signal is completely </a:t>
            </a:r>
            <a:r>
              <a:rPr lang="en-US" b="1" dirty="0"/>
              <a:t>continuous</a:t>
            </a:r>
            <a:r>
              <a:rPr lang="en-US" dirty="0"/>
              <a:t> in both time and amplitude.</a:t>
            </a:r>
            <a:br>
              <a:rPr lang="en-US" dirty="0"/>
            </a:br>
            <a:endParaRPr lang="en-US" dirty="0"/>
          </a:p>
          <a:p>
            <a:r>
              <a:rPr lang="en-US" dirty="0"/>
              <a:t>That means it's defined for every instant in time, not just selected points, and the values can take on </a:t>
            </a:r>
            <a:r>
              <a:rPr lang="en-US" b="1" dirty="0"/>
              <a:t>any number</a:t>
            </a:r>
            <a:r>
              <a:rPr lang="en-US" dirty="0"/>
              <a:t>, not just a limited set.</a:t>
            </a:r>
          </a:p>
          <a:p>
            <a:r>
              <a:rPr lang="en-US" dirty="0"/>
              <a:t>This is the kind of signal you might get from an ideal microphone or sensor measuring vibration, sound, or light — in the real world, before any digital conversion takes place.</a:t>
            </a:r>
          </a:p>
          <a:p>
            <a:endParaRPr lang="en-US" dirty="0"/>
          </a:p>
          <a:p>
            <a:r>
              <a:rPr lang="en-US" dirty="0"/>
              <a:t>But here’s the key point:</a:t>
            </a:r>
          </a:p>
          <a:p>
            <a:r>
              <a:rPr lang="en-US" dirty="0"/>
              <a:t>The computer can’t store this curve as it is.</a:t>
            </a:r>
            <a:br>
              <a:rPr lang="en-US" dirty="0"/>
            </a:br>
            <a:r>
              <a:rPr lang="en-US" dirty="0"/>
              <a:t>So we need to figure out: </a:t>
            </a:r>
            <a:r>
              <a:rPr lang="en-US" b="1" dirty="0"/>
              <a:t>How often do we need to sample this signal</a:t>
            </a:r>
            <a:r>
              <a:rPr lang="en-US" dirty="0"/>
              <a:t> to capture all the important information?</a:t>
            </a:r>
            <a:br>
              <a:rPr lang="en-US" dirty="0"/>
            </a:br>
            <a:endParaRPr lang="en-US" dirty="0"/>
          </a:p>
          <a:p>
            <a:r>
              <a:rPr lang="en-US" dirty="0"/>
              <a:t>How dense should our sampling be, so that we don’t lose critical features?</a:t>
            </a:r>
          </a:p>
          <a:p>
            <a:r>
              <a:rPr lang="en-US" dirty="0"/>
              <a:t>And that question brings us right to the </a:t>
            </a:r>
            <a:r>
              <a:rPr lang="en-US" b="1" dirty="0"/>
              <a:t>Sampling Theorem</a:t>
            </a:r>
            <a:r>
              <a:rPr lang="en-US" dirty="0"/>
              <a:t> — the mathematical foundation for how we digitize continuous signals without losing information.</a:t>
            </a:r>
          </a:p>
          <a:p>
            <a:r>
              <a:rPr lang="en-US" dirty="0"/>
              <a:t>That’s exactly what we’ll examine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16</a:t>
            </a:fld>
            <a:endParaRPr lang="en-US"/>
          </a:p>
        </p:txBody>
      </p:sp>
    </p:spTree>
    <p:extLst>
      <p:ext uri="{BB962C8B-B14F-4D97-AF65-F5344CB8AC3E}">
        <p14:creationId xmlns:p14="http://schemas.microsoft.com/office/powerpoint/2010/main" val="2742914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another view of that same example.</a:t>
            </a:r>
          </a:p>
          <a:p>
            <a:r>
              <a:rPr lang="en-US" dirty="0"/>
              <a:t>This wave has a frequency of 4 hertz — meaning it completes 4 full cycles per second.</a:t>
            </a:r>
          </a:p>
          <a:p>
            <a:endParaRPr lang="en-US" dirty="0"/>
          </a:p>
          <a:p>
            <a:r>
              <a:rPr lang="en-US" dirty="0"/>
              <a:t>Now we’re sampling it with a very small interval, or in other words, at a very high rate: 256 samples per second. That’s far more frequent than the wave itself changes.</a:t>
            </a:r>
          </a:p>
          <a:p>
            <a:r>
              <a:rPr lang="en-US" dirty="0"/>
              <a:t>And the result is what we call </a:t>
            </a:r>
            <a:r>
              <a:rPr lang="en-US" b="1" dirty="0"/>
              <a:t>well-sampled</a:t>
            </a:r>
            <a:r>
              <a:rPr lang="en-US" dirty="0"/>
              <a:t> data.</a:t>
            </a:r>
          </a:p>
          <a:p>
            <a:endParaRPr lang="en-US" dirty="0"/>
          </a:p>
          <a:p>
            <a:r>
              <a:rPr lang="en-US" dirty="0"/>
              <a:t>As you can see, the discrete dots — the sampling points — follow the shape of the original wave very closely.</a:t>
            </a:r>
            <a:br>
              <a:rPr lang="en-US" dirty="0"/>
            </a:br>
            <a:r>
              <a:rPr lang="en-US" dirty="0"/>
              <a:t>There’s no confusion. No ambiguity. No major information is lost.</a:t>
            </a:r>
          </a:p>
          <a:p>
            <a:r>
              <a:rPr lang="en-US" dirty="0"/>
              <a:t>This is exactly what we want when digitizing a signal — the samples capture the behavior of the original continuous signal with high accuracy.</a:t>
            </a:r>
          </a:p>
          <a:p>
            <a:endParaRPr lang="en-US" dirty="0"/>
          </a:p>
          <a:p>
            <a:r>
              <a:rPr lang="en-US" dirty="0"/>
              <a:t>Heuristically, you can just look at the plot and say: yes, these samples preserve the essence of the original wave.</a:t>
            </a:r>
          </a:p>
          <a:p>
            <a:r>
              <a:rPr lang="en-US" dirty="0"/>
              <a:t>So, in this case, we can confidently say: the sampling was successful.</a:t>
            </a:r>
          </a:p>
          <a:p>
            <a:r>
              <a:rPr lang="en-US" dirty="0"/>
              <a:t>But what if we sample too slowly?</a:t>
            </a:r>
          </a:p>
          <a:p>
            <a:r>
              <a:rPr lang="en-US" dirty="0"/>
              <a:t>Let’s take a look at that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17</a:t>
            </a:fld>
            <a:endParaRPr lang="en-US"/>
          </a:p>
        </p:txBody>
      </p:sp>
    </p:spTree>
    <p:extLst>
      <p:ext uri="{BB962C8B-B14F-4D97-AF65-F5344CB8AC3E}">
        <p14:creationId xmlns:p14="http://schemas.microsoft.com/office/powerpoint/2010/main" val="1813794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what happens when the sampling is </a:t>
            </a:r>
            <a:r>
              <a:rPr lang="en-US" b="1" dirty="0"/>
              <a:t>too slow</a:t>
            </a:r>
            <a:r>
              <a:rPr lang="en-US" dirty="0"/>
              <a:t>.</a:t>
            </a:r>
          </a:p>
          <a:p>
            <a:r>
              <a:rPr lang="en-US" dirty="0"/>
              <a:t>This plot shows a rapidly oscillating signal — it's a sine wave with a high frequency. But look at those red dots. Those are the actual points we sampled, and as you can see, there are only a few of them.</a:t>
            </a:r>
          </a:p>
          <a:p>
            <a:r>
              <a:rPr lang="en-US" dirty="0"/>
              <a:t>This is a classic case of </a:t>
            </a:r>
            <a:r>
              <a:rPr lang="en-US" b="1" dirty="0"/>
              <a:t>under-sampling</a:t>
            </a:r>
            <a:r>
              <a:rPr lang="en-US" dirty="0"/>
              <a:t>.</a:t>
            </a:r>
          </a:p>
          <a:p>
            <a:endParaRPr lang="en-US" dirty="0"/>
          </a:p>
          <a:p>
            <a:r>
              <a:rPr lang="en-US" dirty="0"/>
              <a:t>In this case, the original signal — that fine blue waveform — is oscillating at a frequency of 8 hertz. But the sampling rate is just 8.5 samples per second, which is not high enough to capture the details of the wave.</a:t>
            </a:r>
          </a:p>
          <a:p>
            <a:endParaRPr lang="en-US" dirty="0"/>
          </a:p>
          <a:p>
            <a:r>
              <a:rPr lang="en-US" dirty="0"/>
              <a:t>So what’s the problem?</a:t>
            </a:r>
          </a:p>
          <a:p>
            <a:r>
              <a:rPr lang="en-US" dirty="0"/>
              <a:t>Well, based on just the red dots, it might look like the wave is slowly rising and falling — as if it’s a </a:t>
            </a:r>
            <a:r>
              <a:rPr lang="en-US" b="1" dirty="0"/>
              <a:t>low-frequency signal</a:t>
            </a:r>
            <a:r>
              <a:rPr lang="en-US" dirty="0"/>
              <a:t>. But that’s not true at all.</a:t>
            </a:r>
          </a:p>
          <a:p>
            <a:r>
              <a:rPr lang="en-US" dirty="0"/>
              <a:t>This is known as </a:t>
            </a:r>
            <a:r>
              <a:rPr lang="en-US" b="1" dirty="0"/>
              <a:t>aliasing</a:t>
            </a:r>
            <a:r>
              <a:rPr lang="en-US" dirty="0"/>
              <a:t> — when a high-frequency signal gets misinterpreted as something much lower in frequency, simply because it was sampled too slowly.</a:t>
            </a:r>
          </a:p>
          <a:p>
            <a:r>
              <a:rPr lang="en-US" dirty="0"/>
              <a:t>So even though you're doing regular sampling — evenly spaced in time — the result can be very misleading if your sampling rate is too low.</a:t>
            </a:r>
          </a:p>
          <a:p>
            <a:endParaRPr lang="en-US" dirty="0"/>
          </a:p>
          <a:p>
            <a:r>
              <a:rPr lang="en-US" dirty="0"/>
              <a:t>This example shows why choosing the </a:t>
            </a:r>
            <a:r>
              <a:rPr lang="en-US" b="1" dirty="0"/>
              <a:t>right sampling rate</a:t>
            </a:r>
            <a:r>
              <a:rPr lang="en-US" dirty="0"/>
              <a:t> is critical.</a:t>
            </a:r>
            <a:br>
              <a:rPr lang="en-US" dirty="0"/>
            </a:br>
            <a:r>
              <a:rPr lang="en-US" dirty="0"/>
              <a:t>Too slow, and you could end up completely misrepresenting your signal.</a:t>
            </a:r>
          </a:p>
          <a:p>
            <a:r>
              <a:rPr lang="en-US" dirty="0"/>
              <a:t>Next, let’s talk about the theoretical limit — the </a:t>
            </a:r>
            <a:r>
              <a:rPr lang="en-US" b="1" dirty="0"/>
              <a:t>Nyquist rate</a:t>
            </a:r>
            <a:r>
              <a:rPr lang="en-US" dirty="0"/>
              <a:t> — and how it protects us from this problem.</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18</a:t>
            </a:fld>
            <a:endParaRPr lang="en-US"/>
          </a:p>
        </p:txBody>
      </p:sp>
    </p:spTree>
    <p:extLst>
      <p:ext uri="{BB962C8B-B14F-4D97-AF65-F5344CB8AC3E}">
        <p14:creationId xmlns:p14="http://schemas.microsoft.com/office/powerpoint/2010/main" val="31709840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we’re looking at the difference between a </a:t>
            </a:r>
            <a:r>
              <a:rPr lang="en-US" b="1" dirty="0"/>
              <a:t>continuous signal</a:t>
            </a:r>
            <a:r>
              <a:rPr lang="en-US" dirty="0"/>
              <a:t> and its </a:t>
            </a:r>
            <a:r>
              <a:rPr lang="en-US" b="1" dirty="0"/>
              <a:t>discrete version</a:t>
            </a:r>
            <a:r>
              <a:rPr lang="en-US" dirty="0"/>
              <a:t>.</a:t>
            </a:r>
          </a:p>
          <a:p>
            <a:endParaRPr lang="en-US" dirty="0"/>
          </a:p>
          <a:p>
            <a:r>
              <a:rPr lang="en-US" dirty="0"/>
              <a:t>On the left, we have a smooth, continuous function — like something you might see in the physical world, such as a sound wave or a voltage signal. It's defined at every instant in time.</a:t>
            </a:r>
          </a:p>
          <a:p>
            <a:endParaRPr lang="en-US" dirty="0"/>
          </a:p>
          <a:p>
            <a:r>
              <a:rPr lang="en-US" dirty="0"/>
              <a:t>But to work with this signal on a computer, we can't use all those infinite points. Instead, we select only a </a:t>
            </a:r>
            <a:r>
              <a:rPr lang="en-US" b="1" dirty="0"/>
              <a:t>finite number of values</a:t>
            </a:r>
            <a:r>
              <a:rPr lang="en-US" dirty="0"/>
              <a:t>, spaced out at regular intervals. That's what's shown on the right.</a:t>
            </a:r>
          </a:p>
          <a:p>
            <a:r>
              <a:rPr lang="en-US" dirty="0"/>
              <a:t>This process is called </a:t>
            </a:r>
            <a:r>
              <a:rPr lang="en-US" b="1" dirty="0"/>
              <a:t>sampling</a:t>
            </a:r>
            <a:r>
              <a:rPr lang="en-US" dirty="0"/>
              <a:t>.</a:t>
            </a:r>
          </a:p>
          <a:p>
            <a:endParaRPr lang="en-US" dirty="0"/>
          </a:p>
          <a:p>
            <a:r>
              <a:rPr lang="en-US" dirty="0"/>
              <a:t>If we sample densely enough — meaning, if the points are close together — then the discrete version can represent the continuous signal </a:t>
            </a:r>
            <a:r>
              <a:rPr lang="en-US" b="1" dirty="0"/>
              <a:t>fairly accurately</a:t>
            </a:r>
            <a:r>
              <a:rPr lang="en-US" dirty="0"/>
              <a:t>. The more samples we take, the more detail we preserve from the original waveform.</a:t>
            </a:r>
          </a:p>
          <a:p>
            <a:endParaRPr lang="en-US" dirty="0"/>
          </a:p>
          <a:p>
            <a:r>
              <a:rPr lang="en-US" dirty="0"/>
              <a:t>So the idea is: start with a smooth, continuous signal and convert it into a sequence of numbers that still captures the shape and behavior of the original. That's what makes signal processing on computers possible.</a:t>
            </a:r>
          </a:p>
          <a:p>
            <a:r>
              <a:rPr lang="en-US" dirty="0"/>
              <a:t>Up next, we’ll explore how often we need to sample to preserve that accuracy — and what happens if we don't.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19</a:t>
            </a:fld>
            <a:endParaRPr lang="en-US"/>
          </a:p>
        </p:txBody>
      </p:sp>
    </p:spTree>
    <p:extLst>
      <p:ext uri="{BB962C8B-B14F-4D97-AF65-F5344CB8AC3E}">
        <p14:creationId xmlns:p14="http://schemas.microsoft.com/office/powerpoint/2010/main" val="2579634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really important idea — something we call the </a:t>
            </a:r>
            <a:r>
              <a:rPr lang="en-US" b="1" dirty="0"/>
              <a:t>aliasing problem</a:t>
            </a:r>
            <a:r>
              <a:rPr lang="en-US" dirty="0"/>
              <a:t>.</a:t>
            </a:r>
          </a:p>
          <a:p>
            <a:endParaRPr lang="en-US" dirty="0"/>
          </a:p>
          <a:p>
            <a:r>
              <a:rPr lang="en-US" dirty="0"/>
              <a:t>Remember, we just said that sampling needs to be dense enough? But what does that mean?</a:t>
            </a:r>
          </a:p>
          <a:p>
            <a:r>
              <a:rPr lang="en-US" dirty="0"/>
              <a:t>Take a look at the curve on the left. It’s a complex, high-frequency signal — lots of rapid changes and fine details. If we don’t sample it frequently enough — meaning, we don’t take enough points per second — we miss those small peaks and dips.</a:t>
            </a:r>
          </a:p>
          <a:p>
            <a:r>
              <a:rPr lang="en-US" dirty="0"/>
              <a:t>In the middle, you see the result of sparse sampling. We’re only picking up a few values. And when we try to reconstruct the signal, shown on the right, we get something much smoother and simpler than the original. It might even look okay at first glance, but it’s actually </a:t>
            </a:r>
            <a:r>
              <a:rPr lang="en-US" b="1" dirty="0"/>
              <a:t>wrong</a:t>
            </a:r>
            <a:r>
              <a:rPr lang="en-US" dirty="0"/>
              <a:t>.</a:t>
            </a:r>
          </a:p>
          <a:p>
            <a:endParaRPr lang="en-US" dirty="0"/>
          </a:p>
          <a:p>
            <a:r>
              <a:rPr lang="en-US" dirty="0"/>
              <a:t>All that detail — all the fast oscillations — is lost. Even worse, the reconstructed version can look like a completely different signal, with a </a:t>
            </a:r>
            <a:r>
              <a:rPr lang="en-US" b="1" dirty="0"/>
              <a:t>false shape</a:t>
            </a:r>
            <a:r>
              <a:rPr lang="en-US" dirty="0"/>
              <a:t> or even </a:t>
            </a:r>
            <a:r>
              <a:rPr lang="en-US" b="1" dirty="0"/>
              <a:t>the wrong frequency</a:t>
            </a:r>
            <a:r>
              <a:rPr lang="en-US" dirty="0"/>
              <a:t>.</a:t>
            </a:r>
          </a:p>
          <a:p>
            <a:r>
              <a:rPr lang="en-US" dirty="0"/>
              <a:t>This is what we call </a:t>
            </a:r>
            <a:r>
              <a:rPr lang="en-US" b="1" dirty="0"/>
              <a:t>aliasing</a:t>
            </a:r>
            <a:r>
              <a:rPr lang="en-US" dirty="0"/>
              <a:t>. It happens when the sampling rate is too low to capture the higher-frequency components. And once they’re lost, you can’t recover them from the sampled data.</a:t>
            </a:r>
          </a:p>
          <a:p>
            <a:r>
              <a:rPr lang="en-US" dirty="0"/>
              <a:t>That’s why choosing the right sampling rate is so critical in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20</a:t>
            </a:fld>
            <a:endParaRPr lang="en-US"/>
          </a:p>
        </p:txBody>
      </p:sp>
    </p:spTree>
    <p:extLst>
      <p:ext uri="{BB962C8B-B14F-4D97-AF65-F5344CB8AC3E}">
        <p14:creationId xmlns:p14="http://schemas.microsoft.com/office/powerpoint/2010/main" val="2147626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look at what’s happening in the </a:t>
            </a:r>
            <a:r>
              <a:rPr lang="en-US" b="1" dirty="0"/>
              <a:t>spatial domain</a:t>
            </a:r>
            <a:r>
              <a:rPr lang="en-US" dirty="0"/>
              <a:t> when we sample a signal.</a:t>
            </a:r>
          </a:p>
          <a:p>
            <a:endParaRPr lang="en-US" dirty="0"/>
          </a:p>
          <a:p>
            <a:r>
              <a:rPr lang="en-US" dirty="0"/>
              <a:t>Imagine you have a continuous signal — shown on the left. To sample this signal, what we’re really doing is multiplying it by a train of impulses. That’s the middle figure.</a:t>
            </a:r>
          </a:p>
          <a:p>
            <a:r>
              <a:rPr lang="en-US" dirty="0"/>
              <a:t>These impulses are spaced evenly along the axis, representing fixed sampling intervals. And when you multiply the continuous signal by this impulse train, the result is a set of discrete values. That’s what you see on the right: only the values of the signal at those impulse positions are preserved — the rest are discarded.</a:t>
            </a:r>
          </a:p>
          <a:p>
            <a:endParaRPr lang="en-US" dirty="0"/>
          </a:p>
          <a:p>
            <a:r>
              <a:rPr lang="en-US" dirty="0"/>
              <a:t>In the </a:t>
            </a:r>
            <a:r>
              <a:rPr lang="en-US" b="1" dirty="0"/>
              <a:t>spatial domain</a:t>
            </a:r>
            <a:r>
              <a:rPr lang="en-US" dirty="0"/>
              <a:t>, sampling is essentially a </a:t>
            </a:r>
            <a:r>
              <a:rPr lang="en-US" b="1" dirty="0"/>
              <a:t>point-wise multiplication</a:t>
            </a:r>
            <a:r>
              <a:rPr lang="en-US" dirty="0"/>
              <a:t> of the signal with an impulse train.</a:t>
            </a:r>
          </a:p>
          <a:p>
            <a:r>
              <a:rPr lang="en-US" dirty="0"/>
              <a:t>And here’s the key idea: this operation in the spatial domain has a direct consequence in the </a:t>
            </a:r>
            <a:r>
              <a:rPr lang="en-US" b="1" dirty="0"/>
              <a:t>frequency domain</a:t>
            </a:r>
            <a:r>
              <a:rPr lang="en-US" dirty="0"/>
              <a:t>. Multiplying by an impulse train in space corresponds to </a:t>
            </a:r>
            <a:r>
              <a:rPr lang="en-US" b="1" dirty="0"/>
              <a:t>replicating the spectrum</a:t>
            </a:r>
            <a:r>
              <a:rPr lang="en-US" dirty="0"/>
              <a:t> of the signal — creating a periodic train of delta functions in the frequency domain.</a:t>
            </a:r>
          </a:p>
          <a:p>
            <a:r>
              <a:rPr lang="en-US" dirty="0"/>
              <a:t>Just as we observe periodicity in time or space due to regular sampling, we also obtain periodicity in frequency. This connection — between operations in the spatial domain and their effects in the frequency domain — is fundamental in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21</a:t>
            </a:fld>
            <a:endParaRPr lang="en-US"/>
          </a:p>
        </p:txBody>
      </p:sp>
    </p:spTree>
    <p:extLst>
      <p:ext uri="{BB962C8B-B14F-4D97-AF65-F5344CB8AC3E}">
        <p14:creationId xmlns:p14="http://schemas.microsoft.com/office/powerpoint/2010/main" val="1305539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to the </a:t>
            </a:r>
            <a:r>
              <a:rPr lang="en-US" b="1" dirty="0"/>
              <a:t>frequency domain</a:t>
            </a:r>
            <a:r>
              <a:rPr lang="en-US" dirty="0"/>
              <a:t> and see what sampling looks like there.</a:t>
            </a:r>
          </a:p>
          <a:p>
            <a:r>
              <a:rPr lang="en-US" dirty="0"/>
              <a:t>Earlier, we saw that sampling in the spatial or time domain means multiplying the signal by an impulse train. In the frequency domain, that multiplication becomes a </a:t>
            </a:r>
            <a:r>
              <a:rPr lang="en-US" b="1" dirty="0"/>
              <a:t>convolution</a:t>
            </a:r>
            <a:r>
              <a:rPr lang="en-US" dirty="0"/>
              <a:t>.</a:t>
            </a:r>
          </a:p>
          <a:p>
            <a:endParaRPr lang="en-US" dirty="0"/>
          </a:p>
          <a:p>
            <a:r>
              <a:rPr lang="en-US" dirty="0"/>
              <a:t>Here’s what happens:</a:t>
            </a:r>
          </a:p>
          <a:p>
            <a:r>
              <a:rPr lang="en-US" dirty="0"/>
              <a:t>On the left, we have the original signal’s spectrum — a smooth curve that shows how the energy is spread across different frequencies.</a:t>
            </a:r>
          </a:p>
          <a:p>
            <a:r>
              <a:rPr lang="en-US" dirty="0"/>
              <a:t>In the center, we see a train of delta functions. These represent the periodic sampling pattern in the time domain.</a:t>
            </a:r>
          </a:p>
          <a:p>
            <a:r>
              <a:rPr lang="en-US" dirty="0"/>
              <a:t>When we convolve the original spectrum with this delta train, what we get is shown on the right: multiple shifted copies of the original spectrum. One in the center, and others repeated at regular intervals to the left and right. These are called </a:t>
            </a:r>
            <a:r>
              <a:rPr lang="en-US" b="1" dirty="0"/>
              <a:t>spectral replicas</a:t>
            </a:r>
            <a:r>
              <a:rPr lang="en-US" dirty="0"/>
              <a:t>.</a:t>
            </a:r>
          </a:p>
          <a:p>
            <a:endParaRPr lang="en-US" dirty="0"/>
          </a:p>
          <a:p>
            <a:r>
              <a:rPr lang="en-US" dirty="0"/>
              <a:t>Now, this setup is fine </a:t>
            </a:r>
            <a:r>
              <a:rPr lang="en-US" b="1" dirty="0"/>
              <a:t>if</a:t>
            </a:r>
            <a:r>
              <a:rPr lang="en-US" dirty="0"/>
              <a:t> the copies don’t overlap. But in the case shown here, the original spectrum is wide — it spreads across many frequencies — and the spacing between these delta peaks is not large enough. So the replicas </a:t>
            </a:r>
            <a:r>
              <a:rPr lang="en-US" b="1" dirty="0"/>
              <a:t>overlap</a:t>
            </a:r>
            <a:r>
              <a:rPr lang="en-US" dirty="0"/>
              <a:t>, and this overlap is what causes </a:t>
            </a:r>
            <a:r>
              <a:rPr lang="en-US" b="1" dirty="0"/>
              <a:t>aliasing</a:t>
            </a:r>
            <a:r>
              <a:rPr lang="en-US" dirty="0"/>
              <a:t>.</a:t>
            </a:r>
          </a:p>
          <a:p>
            <a:endParaRPr lang="en-US" dirty="0"/>
          </a:p>
          <a:p>
            <a:r>
              <a:rPr lang="en-US" dirty="0"/>
              <a:t>Aliasing is when different frequency components get mixed together. It’s like solving the equation </a:t>
            </a:r>
            <a:r>
              <a:rPr lang="en-US" i="1" dirty="0"/>
              <a:t>x plus y equals 10,</a:t>
            </a:r>
            <a:r>
              <a:rPr lang="en-US" dirty="0"/>
              <a:t>  you can't tell how much is x and how much is y. Similarly, when spectra overlap, you lose the ability to tell which part of the signal came from which frequency. That’s a problem.</a:t>
            </a:r>
          </a:p>
          <a:p>
            <a:endParaRPr lang="en-US" dirty="0"/>
          </a:p>
          <a:p>
            <a:r>
              <a:rPr lang="en-US" dirty="0"/>
              <a:t>So to avoid aliasing, we need to space those spectral copies far enough apart — which means we need a high enough sampling rate in the time domain. That ensures each frequency copy stays separate, and the original signal can be recovered accurately.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22</a:t>
            </a:fld>
            <a:endParaRPr lang="en-US"/>
          </a:p>
        </p:txBody>
      </p:sp>
    </p:spTree>
    <p:extLst>
      <p:ext uri="{BB962C8B-B14F-4D97-AF65-F5344CB8AC3E}">
        <p14:creationId xmlns:p14="http://schemas.microsoft.com/office/powerpoint/2010/main" val="3033812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gears and talk about </a:t>
            </a:r>
            <a:r>
              <a:rPr lang="en-US" b="1" dirty="0"/>
              <a:t>conditioning</a:t>
            </a:r>
            <a:r>
              <a:rPr lang="en-US" dirty="0"/>
              <a:t> in the spatial domain.</a:t>
            </a:r>
          </a:p>
          <a:p>
            <a:endParaRPr lang="en-US" dirty="0"/>
          </a:p>
          <a:p>
            <a:r>
              <a:rPr lang="en-US" dirty="0"/>
              <a:t>Suppose you start with a signal that has a lot of sharp changes — a noisy or high-frequency function, like the one shown on the left. Before sampling or further processing, we often want to smooth out the extremes. This helps avoid issues like aliasing or instability in reconstruction.</a:t>
            </a:r>
          </a:p>
          <a:p>
            <a:endParaRPr lang="en-US" dirty="0"/>
          </a:p>
          <a:p>
            <a:r>
              <a:rPr lang="en-US" dirty="0"/>
              <a:t>So what do we do?</a:t>
            </a:r>
          </a:p>
          <a:p>
            <a:r>
              <a:rPr lang="en-US" dirty="0"/>
              <a:t>We multiply the signal by a smooth, bell-shaped function — something like a </a:t>
            </a:r>
            <a:r>
              <a:rPr lang="en-US" b="1" dirty="0"/>
              <a:t>Gaussian</a:t>
            </a:r>
            <a:r>
              <a:rPr lang="en-US" dirty="0"/>
              <a:t>. That’s the curve shown in the middle. This operation acts like a soft window. It suppresses the values at the edges and emphasizes the center part of the signal.</a:t>
            </a:r>
          </a:p>
          <a:p>
            <a:r>
              <a:rPr lang="en-US" dirty="0"/>
              <a:t>The result, shown on the right, is a conditioned signal. It’s still based on the original data, but now it’s more concentrated, more stable, and less prone to causing problems downstream.</a:t>
            </a:r>
          </a:p>
          <a:p>
            <a:endParaRPr lang="en-US" dirty="0"/>
          </a:p>
          <a:p>
            <a:r>
              <a:rPr lang="en-US" dirty="0"/>
              <a:t>This process is called </a:t>
            </a:r>
            <a:r>
              <a:rPr lang="en-US" b="1" dirty="0"/>
              <a:t>conditioning</a:t>
            </a:r>
            <a:r>
              <a:rPr lang="en-US" dirty="0"/>
              <a:t> — and in the spatial domain, it’s done by pointwise multiplication. We’re not changing the signal globally — just shaping it locally to make it behave better.</a:t>
            </a:r>
          </a:p>
          <a:p>
            <a:r>
              <a:rPr lang="en-US" dirty="0"/>
              <a:t>This idea becomes even more powerful when we look at its effect in the frequency domain — and that’s where we’re headed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23</a:t>
            </a:fld>
            <a:endParaRPr lang="en-US"/>
          </a:p>
        </p:txBody>
      </p:sp>
    </p:spTree>
    <p:extLst>
      <p:ext uri="{BB962C8B-B14F-4D97-AF65-F5344CB8AC3E}">
        <p14:creationId xmlns:p14="http://schemas.microsoft.com/office/powerpoint/2010/main" val="290498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why we’re often better off working in the </a:t>
            </a:r>
            <a:r>
              <a:rPr lang="en-US" b="1" dirty="0"/>
              <a:t>frequency domain</a:t>
            </a:r>
            <a:r>
              <a:rPr lang="en-US" dirty="0"/>
              <a:t>.</a:t>
            </a:r>
          </a:p>
          <a:p>
            <a:r>
              <a:rPr lang="en-US" dirty="0"/>
              <a:t>Suppose we start with a nicely </a:t>
            </a:r>
            <a:r>
              <a:rPr lang="en-US" b="1" dirty="0"/>
              <a:t>concentrated spectrum</a:t>
            </a:r>
            <a:r>
              <a:rPr lang="en-US" dirty="0"/>
              <a:t> — something like the narrow peak shown on the left. This means our signal in the spatial domain is smooth and well-behaved.</a:t>
            </a:r>
          </a:p>
          <a:p>
            <a:endParaRPr lang="en-US" dirty="0"/>
          </a:p>
          <a:p>
            <a:r>
              <a:rPr lang="en-US" dirty="0"/>
              <a:t>Now, when we </a:t>
            </a:r>
            <a:r>
              <a:rPr lang="en-US" b="1" dirty="0"/>
              <a:t>sample</a:t>
            </a:r>
            <a:r>
              <a:rPr lang="en-US" dirty="0"/>
              <a:t> the signal — which, in the frequency domain, corresponds to a </a:t>
            </a:r>
            <a:r>
              <a:rPr lang="en-US" b="1" dirty="0"/>
              <a:t>convolution</a:t>
            </a:r>
            <a:r>
              <a:rPr lang="en-US" dirty="0"/>
              <a:t> with a delta train — we generate </a:t>
            </a:r>
            <a:r>
              <a:rPr lang="en-US" b="1" dirty="0"/>
              <a:t>copies</a:t>
            </a:r>
            <a:r>
              <a:rPr lang="en-US" dirty="0"/>
              <a:t> of this spectrum. These appear periodically across the frequency axis. You can see a central copy and two others on either side.</a:t>
            </a:r>
          </a:p>
          <a:p>
            <a:r>
              <a:rPr lang="en-US" dirty="0"/>
              <a:t>If the original spectrum is narrow enough, these copies won’t overlap — and that’s a key idea. No overlap means </a:t>
            </a:r>
            <a:r>
              <a:rPr lang="en-US" b="1" dirty="0"/>
              <a:t>no aliasing</a:t>
            </a:r>
            <a:r>
              <a:rPr lang="en-US" dirty="0"/>
              <a:t>. That’s good news.</a:t>
            </a:r>
          </a:p>
          <a:p>
            <a:endParaRPr lang="en-US" dirty="0"/>
          </a:p>
          <a:p>
            <a:r>
              <a:rPr lang="en-US" dirty="0"/>
              <a:t>In this case, we can use a </a:t>
            </a:r>
            <a:r>
              <a:rPr lang="en-US" b="1" dirty="0"/>
              <a:t>low-pass filter</a:t>
            </a:r>
            <a:r>
              <a:rPr lang="en-US" dirty="0"/>
              <a:t> to isolate the central copy and discard the rest. This makes it possible to </a:t>
            </a:r>
            <a:r>
              <a:rPr lang="en-US" b="1" dirty="0"/>
              <a:t>perfectly reconstruct</a:t>
            </a:r>
            <a:r>
              <a:rPr lang="en-US" dirty="0"/>
              <a:t> the original signal from its samples.</a:t>
            </a:r>
          </a:p>
          <a:p>
            <a:endParaRPr lang="en-US" dirty="0"/>
          </a:p>
          <a:p>
            <a:r>
              <a:rPr lang="en-US" dirty="0"/>
              <a:t>That’s why frequency domain analysis is so powerful — it gives us a clear way to understand, diagnose, and even fix sampling-related problems. And it’s where the idea of an </a:t>
            </a:r>
            <a:r>
              <a:rPr lang="en-US" b="1" dirty="0"/>
              <a:t>ideal sampling filter</a:t>
            </a:r>
            <a:r>
              <a:rPr lang="en-US" dirty="0"/>
              <a:t> comes in. This filter selects only what we need and suppresses what we don’t.</a:t>
            </a:r>
          </a:p>
          <a:p>
            <a:r>
              <a:rPr lang="en-US" dirty="0"/>
              <a:t>We’ll explore this concept even further as we continue.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24</a:t>
            </a:fld>
            <a:endParaRPr lang="en-US"/>
          </a:p>
        </p:txBody>
      </p:sp>
    </p:spTree>
    <p:extLst>
      <p:ext uri="{BB962C8B-B14F-4D97-AF65-F5344CB8AC3E}">
        <p14:creationId xmlns:p14="http://schemas.microsoft.com/office/powerpoint/2010/main" val="23519406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an </a:t>
            </a:r>
            <a:r>
              <a:rPr lang="en-US" b="1" dirty="0"/>
              <a:t>ideal sampling filter</a:t>
            </a:r>
            <a:r>
              <a:rPr lang="en-US" dirty="0"/>
              <a:t> look like?</a:t>
            </a:r>
          </a:p>
          <a:p>
            <a:endParaRPr lang="en-US" dirty="0"/>
          </a:p>
          <a:p>
            <a:r>
              <a:rPr lang="en-US" dirty="0"/>
              <a:t>Let’s start in the frequency domain. If we want to keep only the part of the spectrum we care about, we can apply a </a:t>
            </a:r>
            <a:r>
              <a:rPr lang="en-US" b="1" dirty="0"/>
              <a:t>rectangular window</a:t>
            </a:r>
            <a:r>
              <a:rPr lang="en-US" dirty="0"/>
              <a:t> — often called a </a:t>
            </a:r>
            <a:r>
              <a:rPr lang="en-US" b="1" dirty="0"/>
              <a:t>gate function</a:t>
            </a:r>
            <a:r>
              <a:rPr lang="en-US" dirty="0"/>
              <a:t>. This simply means we multiply the spectrum by a box that passes certain frequencies and zeros out the rest. Everything outside the band is eliminated.</a:t>
            </a:r>
          </a:p>
          <a:p>
            <a:endParaRPr lang="en-US" dirty="0"/>
          </a:p>
          <a:p>
            <a:r>
              <a:rPr lang="en-US" dirty="0"/>
              <a:t>Now here’s the important part: multiplication in the frequency domain corresponds to </a:t>
            </a:r>
            <a:r>
              <a:rPr lang="en-US" b="1" dirty="0"/>
              <a:t>convolution</a:t>
            </a:r>
            <a:r>
              <a:rPr lang="en-US" dirty="0"/>
              <a:t> in the spatial or time domain. So when we apply this gate in Fourier space, the corresponding operation in the spatial domain is convolution with the </a:t>
            </a:r>
            <a:r>
              <a:rPr lang="en-US" b="1" dirty="0"/>
              <a:t>inverse Fourier transform</a:t>
            </a:r>
            <a:r>
              <a:rPr lang="en-US" dirty="0"/>
              <a:t> of the rectangle. And that inverse transform is something we’ve seen before — it’s the </a:t>
            </a:r>
            <a:r>
              <a:rPr lang="en-US" b="1" dirty="0" err="1"/>
              <a:t>sinc</a:t>
            </a:r>
            <a:r>
              <a:rPr lang="en-US" b="1" dirty="0"/>
              <a:t> function</a:t>
            </a:r>
            <a:r>
              <a:rPr lang="en-US" dirty="0"/>
              <a:t>.</a:t>
            </a:r>
          </a:p>
          <a:p>
            <a:endParaRPr lang="en-US" dirty="0"/>
          </a:p>
          <a:p>
            <a:r>
              <a:rPr lang="en-US" dirty="0"/>
              <a:t>This </a:t>
            </a:r>
            <a:r>
              <a:rPr lang="en-US" dirty="0" err="1"/>
              <a:t>sinc</a:t>
            </a:r>
            <a:r>
              <a:rPr lang="en-US" dirty="0"/>
              <a:t> function has a sharp central peak and extends out forever with oscillating ripples. We say it has </a:t>
            </a:r>
            <a:r>
              <a:rPr lang="en-US" b="1" dirty="0"/>
              <a:t>infinite support</a:t>
            </a:r>
            <a:r>
              <a:rPr lang="en-US" dirty="0"/>
              <a:t>, and those ripples are often called </a:t>
            </a:r>
            <a:r>
              <a:rPr lang="en-US" b="1" dirty="0"/>
              <a:t>ringing</a:t>
            </a:r>
            <a:r>
              <a:rPr lang="en-US" dirty="0"/>
              <a:t>. So while the ideal filter works perfectly in theory, it’s not so practical in real applications. Why? Because we can’t build something with infinite extent. But conceptually, it’s extremely valuable — it helps us understand the limits of what’s possible in signal reconstruction.</a:t>
            </a:r>
          </a:p>
          <a:p>
            <a:endParaRPr lang="en-US" dirty="0"/>
          </a:p>
          <a:p>
            <a:r>
              <a:rPr lang="en-US" dirty="0"/>
              <a:t>We’ll next look at what happens when we approximate this ideal.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25</a:t>
            </a:fld>
            <a:endParaRPr lang="en-US"/>
          </a:p>
        </p:txBody>
      </p:sp>
    </p:spTree>
    <p:extLst>
      <p:ext uri="{BB962C8B-B14F-4D97-AF65-F5344CB8AC3E}">
        <p14:creationId xmlns:p14="http://schemas.microsoft.com/office/powerpoint/2010/main" val="38509978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a more practical — but less perfect — alternative: the </a:t>
            </a:r>
            <a:r>
              <a:rPr lang="en-US" b="1" dirty="0"/>
              <a:t>cheap sampling filter</a:t>
            </a:r>
            <a:r>
              <a:rPr lang="en-US" dirty="0"/>
              <a:t>.</a:t>
            </a:r>
          </a:p>
          <a:p>
            <a:endParaRPr lang="en-US" dirty="0"/>
          </a:p>
          <a:p>
            <a:r>
              <a:rPr lang="en-US" dirty="0"/>
              <a:t>Suppose we switch things around. Instead of applying a gate function in the frequency domain, we use a </a:t>
            </a:r>
            <a:r>
              <a:rPr lang="en-US" b="1" dirty="0" err="1"/>
              <a:t>sinc</a:t>
            </a:r>
            <a:r>
              <a:rPr lang="en-US" b="1" dirty="0"/>
              <a:t> function</a:t>
            </a:r>
            <a:r>
              <a:rPr lang="en-US" dirty="0"/>
              <a:t> there. In that case, its counterpart in the time domain is a </a:t>
            </a:r>
            <a:r>
              <a:rPr lang="en-US" b="1" dirty="0"/>
              <a:t>rectangular function</a:t>
            </a:r>
            <a:r>
              <a:rPr lang="en-US" dirty="0"/>
              <a:t>.</a:t>
            </a:r>
          </a:p>
          <a:p>
            <a:endParaRPr lang="en-US" dirty="0"/>
          </a:p>
          <a:p>
            <a:r>
              <a:rPr lang="en-US" dirty="0"/>
              <a:t>This rectangle acts like a </a:t>
            </a:r>
            <a:r>
              <a:rPr lang="en-US" b="1" dirty="0"/>
              <a:t>local averaging window</a:t>
            </a:r>
            <a:r>
              <a:rPr lang="en-US" dirty="0"/>
              <a:t> — it smooths the signal by averaging values over a small time interval. You can think of it as performing a </a:t>
            </a:r>
            <a:r>
              <a:rPr lang="en-US" b="1" dirty="0"/>
              <a:t>moving average</a:t>
            </a:r>
            <a:r>
              <a:rPr lang="en-US" dirty="0"/>
              <a:t> across discrete sample points to approximate the original continuous signal.</a:t>
            </a:r>
          </a:p>
          <a:p>
            <a:endParaRPr lang="en-US" dirty="0"/>
          </a:p>
          <a:p>
            <a:r>
              <a:rPr lang="en-US" dirty="0"/>
              <a:t>It’s a simple, easy-to-implement method — and that’s why we call it "cheap." But here's the tradeoff: it’s far from ideal.</a:t>
            </a:r>
          </a:p>
          <a:p>
            <a:r>
              <a:rPr lang="en-US" dirty="0"/>
              <a:t>In the frequency domain, we’re no longer cleanly cutting off frequencies beyond a certain band. The </a:t>
            </a:r>
            <a:r>
              <a:rPr lang="en-US" dirty="0" err="1"/>
              <a:t>sinc</a:t>
            </a:r>
            <a:r>
              <a:rPr lang="en-US" dirty="0"/>
              <a:t> function doesn’t have sharp boundaries, so it doesn’t isolate frequencies as cleanly as the gate function would. That means the resulting reconstruction may lose some fidelity or allow unwanted frequency components to leak in.</a:t>
            </a:r>
          </a:p>
          <a:p>
            <a:endParaRPr lang="en-US" dirty="0"/>
          </a:p>
          <a:p>
            <a:r>
              <a:rPr lang="en-US" dirty="0"/>
              <a:t>So yes — this filter is convenient and fast, but it comes at the cost of precision.</a:t>
            </a:r>
          </a:p>
          <a:p>
            <a:r>
              <a:rPr lang="en-US" dirty="0"/>
              <a:t>Next, we’ll explore how filtering in the spatial domain can help improve this.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26</a:t>
            </a:fld>
            <a:endParaRPr lang="en-US"/>
          </a:p>
        </p:txBody>
      </p:sp>
    </p:spTree>
    <p:extLst>
      <p:ext uri="{BB962C8B-B14F-4D97-AF65-F5344CB8AC3E}">
        <p14:creationId xmlns:p14="http://schemas.microsoft.com/office/powerpoint/2010/main" val="3368263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want a practical alternative to the ideal or cheap sampling filters, a Gaussian filter offers a great compromise.</a:t>
            </a:r>
          </a:p>
          <a:p>
            <a:endParaRPr lang="en-US" dirty="0"/>
          </a:p>
          <a:p>
            <a:r>
              <a:rPr lang="en-US" dirty="0"/>
              <a:t>Now, what makes the Gaussian special is this: its Fourier transform is also a Gaussian. That’s quite rare — most functions change significantly when transformed between the spatial and frequency domains. But the Gaussian stays in the same form, just scaled differently.</a:t>
            </a:r>
          </a:p>
          <a:p>
            <a:r>
              <a:rPr lang="en-US" dirty="0"/>
              <a:t>So, if you multiply by a Gaussian in the frequency domain, that corresponds to convolving with a Gaussian in the spatial or time domain — and vice versa.</a:t>
            </a:r>
          </a:p>
          <a:p>
            <a:endParaRPr lang="en-US" dirty="0"/>
          </a:p>
          <a:p>
            <a:r>
              <a:rPr lang="en-US" dirty="0"/>
              <a:t>Why is this helpful? Because the Gaussian function decays very quickly. That means we avoid the problem of infinite ringing, like we saw with the </a:t>
            </a:r>
            <a:r>
              <a:rPr lang="en-US" dirty="0" err="1"/>
              <a:t>sinc</a:t>
            </a:r>
            <a:r>
              <a:rPr lang="en-US" dirty="0"/>
              <a:t> function. Instead of having a sharp cutoff, which can cause artifacts, the Gaussian gives a smooth transition and localized effect — both in frequency and in space.</a:t>
            </a:r>
          </a:p>
          <a:p>
            <a:endParaRPr lang="en-US" dirty="0"/>
          </a:p>
          <a:p>
            <a:r>
              <a:rPr lang="en-US" dirty="0"/>
              <a:t>It's not mathematically perfect, but it’s practical. And in many real-world applications — especially in imaging and signal processing — that’s the trade-off we need.</a:t>
            </a:r>
          </a:p>
          <a:p>
            <a:r>
              <a:rPr lang="en-US" dirty="0"/>
              <a:t>So overall, the Gaussian sampling filter is a good, balanced choice that works well in both domains.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27</a:t>
            </a:fld>
            <a:endParaRPr lang="en-US"/>
          </a:p>
        </p:txBody>
      </p:sp>
    </p:spTree>
    <p:extLst>
      <p:ext uri="{BB962C8B-B14F-4D97-AF65-F5344CB8AC3E}">
        <p14:creationId xmlns:p14="http://schemas.microsoft.com/office/powerpoint/2010/main" val="408136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take a step further and make things more precise.</a:t>
            </a:r>
          </a:p>
          <a:p>
            <a:endParaRPr lang="en-US" dirty="0"/>
          </a:p>
          <a:p>
            <a:r>
              <a:rPr lang="en-US" dirty="0"/>
              <a:t>Earlier, I showed you some cartoon-like pictures to build intuition. Now, let’s look at the actual math behind those ideas — starting with the delta function.</a:t>
            </a:r>
          </a:p>
          <a:p>
            <a:endParaRPr lang="en-US" dirty="0"/>
          </a:p>
          <a:p>
            <a:r>
              <a:rPr lang="en-US" dirty="0"/>
              <a:t>In signal processing, the delta function plays a key role — especially when we have a </a:t>
            </a:r>
            <a:r>
              <a:rPr lang="en-US" i="1" dirty="0"/>
              <a:t>series</a:t>
            </a:r>
            <a:r>
              <a:rPr lang="en-US" dirty="0"/>
              <a:t> of delta functions lined up at regular intervals. We often call this a </a:t>
            </a:r>
            <a:r>
              <a:rPr lang="en-US" i="1" dirty="0"/>
              <a:t>comb</a:t>
            </a:r>
            <a:r>
              <a:rPr lang="en-US" dirty="0"/>
              <a:t>, because visually, it looks just like the teeth of a hair comb.</a:t>
            </a:r>
          </a:p>
          <a:p>
            <a:r>
              <a:rPr lang="en-US" dirty="0"/>
              <a:t>Here’s the key idea.</a:t>
            </a:r>
          </a:p>
          <a:p>
            <a:endParaRPr lang="en-US" dirty="0"/>
          </a:p>
          <a:p>
            <a:r>
              <a:rPr lang="en-US" dirty="0"/>
              <a:t>Imagine you have a bunch of delta functions spaced by a fixed time interval, T. We write that as:</a:t>
            </a:r>
            <a:br>
              <a:rPr lang="en-US" dirty="0"/>
            </a:br>
            <a:r>
              <a:rPr lang="en-US" b="1" dirty="0"/>
              <a:t>s of t equals the sum of delta of t minus n times T.</a:t>
            </a:r>
            <a:endParaRPr lang="en-US" dirty="0"/>
          </a:p>
          <a:p>
            <a:r>
              <a:rPr lang="en-US" dirty="0"/>
              <a:t>Now, when you take the Fourier transform of this comb-shaped signal, something beautiful happens. You get </a:t>
            </a:r>
            <a:r>
              <a:rPr lang="en-US" i="1" dirty="0"/>
              <a:t>another</a:t>
            </a:r>
            <a:r>
              <a:rPr lang="en-US" dirty="0"/>
              <a:t> comb — but this time in the frequency domain.</a:t>
            </a:r>
          </a:p>
          <a:p>
            <a:endParaRPr lang="en-US" dirty="0"/>
          </a:p>
          <a:p>
            <a:r>
              <a:rPr lang="en-US" dirty="0"/>
              <a:t>There’s a simple rule:</a:t>
            </a:r>
          </a:p>
          <a:p>
            <a:r>
              <a:rPr lang="en-US" dirty="0"/>
              <a:t>If the spacing in time is T,</a:t>
            </a:r>
          </a:p>
          <a:p>
            <a:r>
              <a:rPr lang="en-US" dirty="0"/>
              <a:t>Then the spacing in frequency becomes 1 over T.</a:t>
            </a:r>
          </a:p>
          <a:p>
            <a:r>
              <a:rPr lang="en-US" dirty="0"/>
              <a:t>The impulses are still evenly spaced, but now they live in the frequency domain. And their height is scaled by a factor of 1 over T.</a:t>
            </a:r>
          </a:p>
          <a:p>
            <a:r>
              <a:rPr lang="en-US" dirty="0"/>
              <a:t>So this transformation turns one comb into another — just flipped into frequency space, with inverted spacing.</a:t>
            </a:r>
          </a:p>
          <a:p>
            <a:r>
              <a:rPr lang="en-US" dirty="0"/>
              <a:t>This is a fundamental result you’ll see in many signal processing books. Different authors may use different symbols — like f or u for frequency, or j or </a:t>
            </a:r>
            <a:r>
              <a:rPr lang="en-US" dirty="0" err="1"/>
              <a:t>i</a:t>
            </a:r>
            <a:r>
              <a:rPr lang="en-US" dirty="0"/>
              <a:t> in the exponential — but the meaning is the same.</a:t>
            </a:r>
          </a:p>
          <a:p>
            <a:endParaRPr lang="en-US" dirty="0"/>
          </a:p>
          <a:p>
            <a:r>
              <a:rPr lang="en-US" dirty="0"/>
              <a:t>Also, keep in mind that delta functions are really convenient in Fourier analysis. When you plug a delta function into the Fourier formula, it simplifies easily — because a delta picks out a single point.</a:t>
            </a:r>
          </a:p>
          <a:p>
            <a:r>
              <a:rPr lang="en-US" dirty="0"/>
              <a:t>And when you shift the delta in time — say, to delta of t minus some value — the result in frequency becomes a complex exponential, like </a:t>
            </a:r>
            <a:r>
              <a:rPr lang="en-US" b="1" dirty="0"/>
              <a:t>e to the j 2 pi f zero t</a:t>
            </a:r>
            <a:r>
              <a:rPr lang="en-US" dirty="0"/>
              <a:t>. That’s thanks to the shift theorem.</a:t>
            </a:r>
          </a:p>
          <a:p>
            <a:endParaRPr lang="en-US" dirty="0"/>
          </a:p>
          <a:p>
            <a:r>
              <a:rPr lang="en-US" dirty="0"/>
              <a:t>So, the takeaway here is:</a:t>
            </a:r>
            <a:br>
              <a:rPr lang="en-US" dirty="0"/>
            </a:br>
            <a:r>
              <a:rPr lang="en-US" dirty="0"/>
              <a:t>a comb of delta functions in time becomes another comb in frequency — just with spacing flipped and amplitude scaled.</a:t>
            </a:r>
          </a:p>
          <a:p>
            <a:r>
              <a:rPr lang="en-US" dirty="0"/>
              <a:t>This sets the stage for understanding how sampling works in both domains. We’ll build on this in the slides that follow.</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28</a:t>
            </a:fld>
            <a:endParaRPr lang="en-US"/>
          </a:p>
        </p:txBody>
      </p:sp>
    </p:spTree>
    <p:extLst>
      <p:ext uri="{BB962C8B-B14F-4D97-AF65-F5344CB8AC3E}">
        <p14:creationId xmlns:p14="http://schemas.microsoft.com/office/powerpoint/2010/main" val="1982494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take a closer look at the Fourier transform of this impulse train — and I’ll explain it in a way that’s easier to follow, even if not perfectly rigorous.</a:t>
            </a:r>
          </a:p>
          <a:p>
            <a:endParaRPr lang="en-US" dirty="0"/>
          </a:p>
          <a:p>
            <a:r>
              <a:rPr lang="en-US" dirty="0"/>
              <a:t>Suppose we have a signal made of delta functions spaced by a fixed interval, capital T. This is a periodic function, right? It repeats every T. So we can use a Fourier series to represent it.</a:t>
            </a:r>
          </a:p>
          <a:p>
            <a:endParaRPr lang="en-US" dirty="0"/>
          </a:p>
          <a:p>
            <a:r>
              <a:rPr lang="en-US" dirty="0"/>
              <a:t>We write this function, </a:t>
            </a:r>
            <a:r>
              <a:rPr lang="en-US" b="1" dirty="0"/>
              <a:t>s T of t</a:t>
            </a:r>
            <a:r>
              <a:rPr lang="en-US" dirty="0"/>
              <a:t>, as a sum of delta functions at every multiple of T:</a:t>
            </a:r>
            <a:br>
              <a:rPr lang="en-US" dirty="0"/>
            </a:br>
            <a:r>
              <a:rPr lang="en-US" b="1" dirty="0"/>
              <a:t>s T of t equals the sum over n of delta of t minus n T.</a:t>
            </a:r>
            <a:endParaRPr lang="en-US" dirty="0"/>
          </a:p>
          <a:p>
            <a:r>
              <a:rPr lang="en-US" dirty="0"/>
              <a:t>Now, since it's periodic, we can also express it as a sum of complex exponentials — that’s what a Fourier series does. So we write:</a:t>
            </a:r>
            <a:br>
              <a:rPr lang="en-US" dirty="0"/>
            </a:br>
            <a:r>
              <a:rPr lang="en-US" b="1" dirty="0"/>
              <a:t>s T of t equals the sum over n of c n times e to the power j 2 pi n t over T</a:t>
            </a:r>
            <a:r>
              <a:rPr lang="en-US" dirty="0"/>
              <a:t>,</a:t>
            </a:r>
            <a:br>
              <a:rPr lang="en-US" dirty="0"/>
            </a:br>
            <a:r>
              <a:rPr lang="en-US" dirty="0"/>
              <a:t>where c n is the Fourier coefficient.</a:t>
            </a:r>
          </a:p>
          <a:p>
            <a:r>
              <a:rPr lang="en-US" dirty="0"/>
              <a:t>To compute c n, we take the standard approach:</a:t>
            </a:r>
            <a:br>
              <a:rPr lang="en-US" dirty="0"/>
            </a:br>
            <a:r>
              <a:rPr lang="en-US" b="1" dirty="0"/>
              <a:t>c n equals 1 over T times the integral over one period of s T of t multiplied by e to the power negative j 2 pi n t over T.</a:t>
            </a:r>
            <a:endParaRPr lang="en-US" dirty="0"/>
          </a:p>
          <a:p>
            <a:r>
              <a:rPr lang="en-US" dirty="0"/>
              <a:t>But here’s the trick — remember that </a:t>
            </a:r>
            <a:r>
              <a:rPr lang="en-US" b="1" dirty="0"/>
              <a:t>s T of t</a:t>
            </a:r>
            <a:r>
              <a:rPr lang="en-US" dirty="0"/>
              <a:t> is a train of delta functions. That means when you integrate, only the delta at t = 0 survives. </a:t>
            </a:r>
          </a:p>
          <a:p>
            <a:endParaRPr lang="en-US" dirty="0"/>
          </a:p>
          <a:p>
            <a:r>
              <a:rPr lang="en-US" dirty="0"/>
              <a:t>The result is simply:</a:t>
            </a:r>
            <a:br>
              <a:rPr lang="en-US" dirty="0"/>
            </a:br>
            <a:r>
              <a:rPr lang="en-US" b="1" dirty="0"/>
              <a:t>c n equals 1 over T.</a:t>
            </a:r>
            <a:endParaRPr lang="en-US" dirty="0"/>
          </a:p>
          <a:p>
            <a:r>
              <a:rPr lang="en-US" dirty="0"/>
              <a:t>So when you plug this back in, your entire Fourier series becomes a sum of complex exponentials, each with coefficient 1 over T.</a:t>
            </a:r>
          </a:p>
          <a:p>
            <a:r>
              <a:rPr lang="en-US" dirty="0"/>
              <a:t>Now, there’s a well-known identity:</a:t>
            </a:r>
            <a:br>
              <a:rPr lang="en-US" dirty="0"/>
            </a:br>
            <a:r>
              <a:rPr lang="en-US" dirty="0"/>
              <a:t>A sum of complex exponentials with equal spacing and equal weights becomes a train of delta functions in the frequency domain.</a:t>
            </a:r>
          </a:p>
          <a:p>
            <a:endParaRPr lang="en-US" dirty="0"/>
          </a:p>
          <a:p>
            <a:r>
              <a:rPr lang="en-US" dirty="0"/>
              <a:t>So finally, we can write:</a:t>
            </a:r>
            <a:br>
              <a:rPr lang="en-US" dirty="0"/>
            </a:br>
            <a:r>
              <a:rPr lang="en-US" b="1" dirty="0"/>
              <a:t>s T of t transforms to (1 over T) times s 1 over T of u.</a:t>
            </a:r>
            <a:br>
              <a:rPr lang="en-US" dirty="0"/>
            </a:br>
            <a:r>
              <a:rPr lang="en-US" dirty="0"/>
              <a:t>That is, the train of impulses in time maps to another train of impulses in frequency, with flipped spacing and scaled amplitude.</a:t>
            </a:r>
          </a:p>
          <a:p>
            <a:r>
              <a:rPr lang="en-US" dirty="0"/>
              <a:t>This is what we call a </a:t>
            </a:r>
            <a:r>
              <a:rPr lang="en-US" b="1" dirty="0"/>
              <a:t>Fourier pair</a:t>
            </a:r>
            <a:r>
              <a:rPr lang="en-US" dirty="0"/>
              <a:t>. A comb in one domain becomes another comb in the other domain — with the spacing inverted and amplitude scaled.</a:t>
            </a:r>
          </a:p>
          <a:p>
            <a:r>
              <a:rPr lang="en-US" dirty="0"/>
              <a:t>This idea is fundamental in signal processing. You’ll see it over and over — whether you’re analyzing sampling, modulation, or reconstruction.</a:t>
            </a:r>
          </a:p>
          <a:p>
            <a:endParaRPr lang="en-US" dirty="0"/>
          </a:p>
          <a:p>
            <a:r>
              <a:rPr lang="en-US" dirty="0"/>
              <a:t>Now, I’ll admit — this version of the derivation is not entirely rigorous. It's a bit hand-wavy. A more precise proof would involve deeper mathematical tools, especially when it comes to convergence. But for our purposes, this intuitive explanation gives you the right picture.</a:t>
            </a:r>
          </a:p>
          <a:p>
            <a:endParaRPr lang="en-US" dirty="0"/>
          </a:p>
          <a:p>
            <a:r>
              <a:rPr lang="en-US" dirty="0"/>
              <a:t>So just keep this in mind:</a:t>
            </a:r>
            <a:br>
              <a:rPr lang="en-US" dirty="0"/>
            </a:br>
            <a:r>
              <a:rPr lang="en-US" dirty="0"/>
              <a:t>A periodic sequence of impulses in time transforms into another periodic sequence in frequency, and the spacing and amplitude follow a simple reciprocal relationship.</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29</a:t>
            </a:fld>
            <a:endParaRPr lang="en-US"/>
          </a:p>
        </p:txBody>
      </p:sp>
    </p:spTree>
    <p:extLst>
      <p:ext uri="{BB962C8B-B14F-4D97-AF65-F5344CB8AC3E}">
        <p14:creationId xmlns:p14="http://schemas.microsoft.com/office/powerpoint/2010/main" val="1056723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moment to revisit this important concept — the impulse train, or what we often call a "comb", and its mirror relationship in the Fourier domain.</a:t>
            </a:r>
          </a:p>
          <a:p>
            <a:endParaRPr lang="en-US" dirty="0"/>
          </a:p>
          <a:p>
            <a:r>
              <a:rPr lang="en-US" dirty="0"/>
              <a:t>On the left side, we see a train of delta functions spaced by a constant interval, capital T. This lives in the time domain. And on the right, we see another train of delta functions — this time in the frequency domain — spaced by one over T.</a:t>
            </a:r>
          </a:p>
          <a:p>
            <a:endParaRPr lang="en-US" dirty="0"/>
          </a:p>
          <a:p>
            <a:r>
              <a:rPr lang="en-US" dirty="0"/>
              <a:t>This is a classic </a:t>
            </a:r>
            <a:r>
              <a:rPr lang="en-US" b="1" dirty="0"/>
              <a:t>Fourier pair</a:t>
            </a:r>
            <a:r>
              <a:rPr lang="en-US" dirty="0"/>
              <a:t>. When you take the Fourier transform of a periodic train of impulses in time, you get another train of impulses in frequency. And the spacing in the frequency domain is the reciprocal of the spacing in the time domain.</a:t>
            </a:r>
          </a:p>
          <a:p>
            <a:endParaRPr lang="en-US" dirty="0"/>
          </a:p>
          <a:p>
            <a:r>
              <a:rPr lang="en-US" dirty="0"/>
              <a:t>Now, let’s look at the lower pair of plots.</a:t>
            </a:r>
          </a:p>
          <a:p>
            <a:r>
              <a:rPr lang="en-US" dirty="0"/>
              <a:t>Here, the red comb has impulses spaced by a small interval, delta t. In that case, the spacing in the frequency domain becomes capital P, which equals one over delta t.</a:t>
            </a:r>
          </a:p>
          <a:p>
            <a:r>
              <a:rPr lang="en-US" dirty="0"/>
              <a:t>Again, we see the same idea — spacing in one domain leads to reciprocal spacing in the other. This reciprocal relationship is a fundamental feature of the Fourier transform.</a:t>
            </a:r>
          </a:p>
          <a:p>
            <a:r>
              <a:rPr lang="en-US" dirty="0"/>
              <a:t>The height or amplitude also changes accordingly. Specifically, when the spacing decreases — say, from T to delta t — the impulses become more densely packed, and the total energy gets spread out more in frequency space. So the amplitudes must be adjusted accordingly to conserve energy.</a:t>
            </a:r>
          </a:p>
          <a:p>
            <a:endParaRPr lang="en-US" dirty="0"/>
          </a:p>
          <a:p>
            <a:r>
              <a:rPr lang="en-US" dirty="0"/>
              <a:t>So in summary:</a:t>
            </a:r>
            <a:br>
              <a:rPr lang="en-US" dirty="0"/>
            </a:br>
            <a:r>
              <a:rPr lang="en-US" dirty="0"/>
              <a:t>A periodic impulse train in time becomes a periodic impulse train in frequency.</a:t>
            </a:r>
            <a:br>
              <a:rPr lang="en-US" dirty="0"/>
            </a:br>
            <a:r>
              <a:rPr lang="en-US" dirty="0"/>
              <a:t>The spacing flips — T becomes 1 over T.</a:t>
            </a:r>
            <a:br>
              <a:rPr lang="en-US" dirty="0"/>
            </a:br>
            <a:r>
              <a:rPr lang="en-US" dirty="0"/>
              <a:t>The amplitudes are scaled appropriately.</a:t>
            </a:r>
          </a:p>
          <a:p>
            <a:r>
              <a:rPr lang="en-US" dirty="0"/>
              <a:t>This relationship is so central to sampling, reconstruction, and many other applications in signal processing. You’ll see it again and again — both in theory and in practice.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30</a:t>
            </a:fld>
            <a:endParaRPr lang="en-US"/>
          </a:p>
        </p:txBody>
      </p:sp>
    </p:spTree>
    <p:extLst>
      <p:ext uri="{BB962C8B-B14F-4D97-AF65-F5344CB8AC3E}">
        <p14:creationId xmlns:p14="http://schemas.microsoft.com/office/powerpoint/2010/main" val="828621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process of sampling a signal — how we go from the continuous world to the digital one.</a:t>
            </a:r>
          </a:p>
          <a:p>
            <a:endParaRPr lang="en-US" dirty="0"/>
          </a:p>
          <a:p>
            <a:r>
              <a:rPr lang="en-US" dirty="0"/>
              <a:t>Look first at the top-left plot. That’s our original continuous signal, shown over a finite interval, from minus T over 2 to plus T over 2. Our goal is to digitize this — to convert it into a form that we can process on a computer.</a:t>
            </a:r>
          </a:p>
          <a:p>
            <a:r>
              <a:rPr lang="en-US" dirty="0"/>
              <a:t>And to do that, we take measurements at </a:t>
            </a:r>
            <a:r>
              <a:rPr lang="en-US" b="1" dirty="0"/>
              <a:t>evenly spaced time intervals</a:t>
            </a:r>
            <a:r>
              <a:rPr lang="en-US" dirty="0"/>
              <a:t>. This step is crucial, because without any prior knowledge about the signal, we don't know where we should sample more densely or more sparsely — so we just use uniform sampling.</a:t>
            </a:r>
          </a:p>
          <a:p>
            <a:endParaRPr lang="en-US" dirty="0"/>
          </a:p>
          <a:p>
            <a:r>
              <a:rPr lang="en-US" dirty="0"/>
              <a:t>We model this sampling process mathematically by multiplying the signal with a </a:t>
            </a:r>
            <a:r>
              <a:rPr lang="en-US" b="1" dirty="0"/>
              <a:t>train of impulses</a:t>
            </a:r>
            <a:r>
              <a:rPr lang="en-US" dirty="0"/>
              <a:t> — those red vertical lines spaced by delta t. This models a measurement being taken at regular intervals — just like a thermometer recording temperature every hour.</a:t>
            </a:r>
          </a:p>
          <a:p>
            <a:endParaRPr lang="en-US" dirty="0"/>
          </a:p>
          <a:p>
            <a:r>
              <a:rPr lang="en-US" dirty="0"/>
              <a:t>When we multiply the continuous function by this comb of impulses, we’re essentially pulling out values at those discrete points. The result is a sampled signal, where the values are available only at those locations. That’s what you see in the next plot below — the discrete signal.</a:t>
            </a:r>
          </a:p>
          <a:p>
            <a:endParaRPr lang="en-US" dirty="0"/>
          </a:p>
          <a:p>
            <a:r>
              <a:rPr lang="en-US" dirty="0"/>
              <a:t>Now shift your attention to the </a:t>
            </a:r>
            <a:r>
              <a:rPr lang="en-US" b="1" dirty="0"/>
              <a:t>right-hand side</a:t>
            </a:r>
            <a:r>
              <a:rPr lang="en-US" dirty="0"/>
              <a:t> — to the frequency domain.</a:t>
            </a:r>
          </a:p>
          <a:p>
            <a:r>
              <a:rPr lang="en-US" dirty="0"/>
              <a:t>The original continuous signal, when transformed using the Fourier transform, gives us a spectrum — and here it's shown to be concentrated between minus W and plus W. That’s the bandwidth of the signal — most of its energy lies within that frequency range.</a:t>
            </a:r>
          </a:p>
          <a:p>
            <a:r>
              <a:rPr lang="en-US" dirty="0"/>
              <a:t>And here’s something interesting: if a signal is limited in time — meaning it's non-zero only within a certain interval — then its Fourier transform will spread out infinitely. But if the time-domain signal is smooth, then the energy in its spectrum decays very fast. So in practice, we can often ignore the tiny tails and just focus on the dominant part within minus W to W.</a:t>
            </a:r>
          </a:p>
          <a:p>
            <a:endParaRPr lang="en-US" dirty="0"/>
          </a:p>
          <a:p>
            <a:r>
              <a:rPr lang="en-US" dirty="0"/>
              <a:t>Now, here comes the key insight.</a:t>
            </a:r>
          </a:p>
          <a:p>
            <a:r>
              <a:rPr lang="en-US" dirty="0"/>
              <a:t>When we sample the time-domain signal using a comb — a series of impulses spaced by delta t — then in the </a:t>
            </a:r>
            <a:r>
              <a:rPr lang="en-US" b="1" dirty="0"/>
              <a:t>frequency domain</a:t>
            </a:r>
            <a:r>
              <a:rPr lang="en-US" dirty="0"/>
              <a:t>, the Fourier transform becomes a </a:t>
            </a:r>
            <a:r>
              <a:rPr lang="en-US" b="1" dirty="0"/>
              <a:t>convolution</a:t>
            </a:r>
            <a:r>
              <a:rPr lang="en-US" dirty="0"/>
              <a:t>. That convolution replicates the original spectrum at regular intervals — and those intervals are one over delta t, which we denote as capital P.</a:t>
            </a:r>
          </a:p>
          <a:p>
            <a:r>
              <a:rPr lang="en-US" dirty="0"/>
              <a:t>So in the frequency domain, we now have </a:t>
            </a:r>
            <a:r>
              <a:rPr lang="en-US" b="1" dirty="0"/>
              <a:t>multiple copies</a:t>
            </a:r>
            <a:r>
              <a:rPr lang="en-US" dirty="0"/>
              <a:t> of the original spectrum, all spaced by P. These are sometimes called </a:t>
            </a:r>
            <a:r>
              <a:rPr lang="en-US" b="1" dirty="0"/>
              <a:t>spectral replicas</a:t>
            </a:r>
            <a:r>
              <a:rPr lang="en-US" dirty="0"/>
              <a:t>.</a:t>
            </a:r>
          </a:p>
          <a:p>
            <a:endParaRPr lang="en-US" dirty="0"/>
          </a:p>
          <a:p>
            <a:r>
              <a:rPr lang="en-US" dirty="0"/>
              <a:t>And here’s the big question: how small should delta t be? Or in other words — how dense should our sampling be — so that these spectral copies don’t overlap?</a:t>
            </a:r>
          </a:p>
          <a:p>
            <a:r>
              <a:rPr lang="en-US" dirty="0"/>
              <a:t>Because if they overlap, we get </a:t>
            </a:r>
            <a:r>
              <a:rPr lang="en-US" b="1" dirty="0"/>
              <a:t>aliasing</a:t>
            </a:r>
            <a:r>
              <a:rPr lang="en-US" dirty="0"/>
              <a:t>, and the original signal can’t be recovered. But if P — that is, one over delta t — is large enough, then these copies stay nicely separated, and we can isolate just one of them to recover the original signal perfectly.</a:t>
            </a:r>
          </a:p>
          <a:p>
            <a:endParaRPr lang="en-US" dirty="0"/>
          </a:p>
          <a:p>
            <a:r>
              <a:rPr lang="en-US" dirty="0"/>
              <a:t>So in short, if we sample densely enough, we don't lose any information. We can convert a continuous signal to a digital one and then reconstruct it — as if nothing was lost.</a:t>
            </a:r>
          </a:p>
          <a:p>
            <a:r>
              <a:rPr lang="en-US" dirty="0"/>
              <a:t>And that naturally brings us to the next topic — what is the minimum sampling rate we need to guarantee perfect recovery?</a:t>
            </a:r>
          </a:p>
          <a:p>
            <a:r>
              <a:rPr lang="en-US" dirty="0"/>
              <a:t>Let’s take a look.</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31</a:t>
            </a:fld>
            <a:endParaRPr lang="en-US"/>
          </a:p>
        </p:txBody>
      </p:sp>
    </p:spTree>
    <p:extLst>
      <p:ext uri="{BB962C8B-B14F-4D97-AF65-F5344CB8AC3E}">
        <p14:creationId xmlns:p14="http://schemas.microsoft.com/office/powerpoint/2010/main" val="24413026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back to the real form of the Fourier series.</a:t>
            </a:r>
          </a:p>
          <a:p>
            <a:endParaRPr lang="en-US" dirty="0"/>
          </a:p>
          <a:p>
            <a:r>
              <a:rPr lang="en-US" dirty="0"/>
              <a:t>Here’s the idea: if you have a periodic function — let’s call it f of t — you can express it as a weighted sum of sines and cosines.</a:t>
            </a:r>
          </a:p>
          <a:p>
            <a:endParaRPr lang="en-US" dirty="0"/>
          </a:p>
          <a:p>
            <a:r>
              <a:rPr lang="en-US" dirty="0"/>
              <a:t>The formula goes like this:</a:t>
            </a:r>
          </a:p>
          <a:p>
            <a:r>
              <a:rPr lang="en-US" dirty="0"/>
              <a:t>f of t equals</a:t>
            </a:r>
            <a:br>
              <a:rPr lang="en-US" dirty="0"/>
            </a:br>
            <a:r>
              <a:rPr lang="en-US" dirty="0"/>
              <a:t>a naught divided by 2,</a:t>
            </a:r>
            <a:br>
              <a:rPr lang="en-US" dirty="0"/>
            </a:br>
            <a:r>
              <a:rPr lang="en-US" dirty="0"/>
              <a:t>plus the sum, from n equals 1 to N,</a:t>
            </a:r>
            <a:br>
              <a:rPr lang="en-US" dirty="0"/>
            </a:br>
            <a:r>
              <a:rPr lang="en-US" dirty="0"/>
              <a:t>of a n times cosine of 2 pi n t,</a:t>
            </a:r>
            <a:br>
              <a:rPr lang="en-US" dirty="0"/>
            </a:br>
            <a:r>
              <a:rPr lang="en-US" dirty="0"/>
              <a:t>plus b n times sine of 2 pi n t.</a:t>
            </a:r>
          </a:p>
          <a:p>
            <a:endParaRPr lang="en-US" dirty="0"/>
          </a:p>
          <a:p>
            <a:r>
              <a:rPr lang="en-US" dirty="0"/>
              <a:t>In this expression, a naught is the average value of the function over one full period. That’s also called the DC component.</a:t>
            </a:r>
          </a:p>
          <a:p>
            <a:r>
              <a:rPr lang="en-US" dirty="0"/>
              <a:t>The rest of the terms — the cosine and sine parts — describe how the function varies over time. Each n corresponds to a different frequency: the higher the value of n, the higher the frequency.</a:t>
            </a:r>
          </a:p>
          <a:p>
            <a:endParaRPr lang="en-US" dirty="0"/>
          </a:p>
          <a:p>
            <a:r>
              <a:rPr lang="en-US" dirty="0"/>
              <a:t>Now, how do we compute those coefficients — a naught, a n, and b n?</a:t>
            </a:r>
          </a:p>
          <a:p>
            <a:r>
              <a:rPr lang="en-US" dirty="0"/>
              <a:t>Let’s start with a naught divided by 2.</a:t>
            </a:r>
          </a:p>
          <a:p>
            <a:r>
              <a:rPr lang="en-US" dirty="0"/>
              <a:t>That’s equal to the integral of f of t from 0 to 1.</a:t>
            </a:r>
            <a:br>
              <a:rPr lang="en-US" dirty="0"/>
            </a:br>
            <a:r>
              <a:rPr lang="en-US" dirty="0"/>
              <a:t>In other words, you’re just averaging the function over one period.</a:t>
            </a:r>
          </a:p>
          <a:p>
            <a:r>
              <a:rPr lang="en-US" dirty="0"/>
              <a:t>Next, to compute a n,</a:t>
            </a:r>
            <a:br>
              <a:rPr lang="en-US" dirty="0"/>
            </a:br>
            <a:r>
              <a:rPr lang="en-US" dirty="0"/>
              <a:t>you take 2 times the integral from 0 to 1</a:t>
            </a:r>
            <a:br>
              <a:rPr lang="en-US" dirty="0"/>
            </a:br>
            <a:r>
              <a:rPr lang="en-US" dirty="0"/>
              <a:t>of f of t times cosine of 2 pi n t.</a:t>
            </a:r>
          </a:p>
          <a:p>
            <a:r>
              <a:rPr lang="en-US" dirty="0"/>
              <a:t>And to compute b n,</a:t>
            </a:r>
            <a:br>
              <a:rPr lang="en-US" dirty="0"/>
            </a:br>
            <a:r>
              <a:rPr lang="en-US" dirty="0"/>
              <a:t>You take 2 times the integral from 0 to 1</a:t>
            </a:r>
            <a:br>
              <a:rPr lang="en-US" dirty="0"/>
            </a:br>
            <a:r>
              <a:rPr lang="en-US" dirty="0"/>
              <a:t>of f of t times sine of 2 pi n t.</a:t>
            </a:r>
          </a:p>
          <a:p>
            <a:r>
              <a:rPr lang="en-US" dirty="0"/>
              <a:t>Each coefficient tells you how much of that sine or cosine wave is present in the original function.</a:t>
            </a:r>
          </a:p>
          <a:p>
            <a:endParaRPr lang="en-US" dirty="0"/>
          </a:p>
          <a:p>
            <a:r>
              <a:rPr lang="en-US" dirty="0"/>
              <a:t>Now here's something important:</a:t>
            </a:r>
            <a:br>
              <a:rPr lang="en-US" dirty="0"/>
            </a:br>
            <a:r>
              <a:rPr lang="en-US" dirty="0"/>
              <a:t>The lowest frequency in this series appears when n equals 1. That corresponds to a frequency of 2 pi.</a:t>
            </a:r>
            <a:br>
              <a:rPr lang="en-US" dirty="0"/>
            </a:br>
            <a:r>
              <a:rPr lang="en-US" dirty="0"/>
              <a:t>The highest frequency depends on N, which is the upper limit of the sum — and that gives us a maximum frequency of 2 pi times N.</a:t>
            </a:r>
          </a:p>
          <a:p>
            <a:r>
              <a:rPr lang="en-US" dirty="0"/>
              <a:t>So by adjusting N, we can control how detailed our approximation is.</a:t>
            </a:r>
          </a:p>
          <a:p>
            <a:r>
              <a:rPr lang="en-US" dirty="0"/>
              <a:t>This is the real-valued Fourier series — a sum of sine and cosine waves, each scaled by how much of that frequency exists in your signal.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32</a:t>
            </a:fld>
            <a:endParaRPr lang="en-US"/>
          </a:p>
        </p:txBody>
      </p:sp>
    </p:spTree>
    <p:extLst>
      <p:ext uri="{BB962C8B-B14F-4D97-AF65-F5344CB8AC3E}">
        <p14:creationId xmlns:p14="http://schemas.microsoft.com/office/powerpoint/2010/main" val="3648700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connect Fourier series with sampling.</a:t>
            </a:r>
          </a:p>
          <a:p>
            <a:endParaRPr lang="en-US" dirty="0"/>
          </a:p>
          <a:p>
            <a:r>
              <a:rPr lang="en-US" dirty="0"/>
              <a:t>Suppose you have a function, like the one shown here, and you want to represent it over time using a Fourier series. The key idea is this:</a:t>
            </a:r>
          </a:p>
          <a:p>
            <a:r>
              <a:rPr lang="en-US" dirty="0"/>
              <a:t>If your function is defined over a unit interval — let’s say from zero to one — then the standard real-form Fourier series can represent it as a sum of cosine and sine terms, just like we saw earlier.</a:t>
            </a:r>
          </a:p>
          <a:p>
            <a:r>
              <a:rPr lang="en-US" dirty="0"/>
              <a:t>That’s perfectly fine when your function repeats every one second. But in general, a real-world signal may repeat over a different period — maybe two seconds, or ten seconds, or any value we call capital P.</a:t>
            </a:r>
          </a:p>
          <a:p>
            <a:endParaRPr lang="en-US" dirty="0"/>
          </a:p>
          <a:p>
            <a:r>
              <a:rPr lang="en-US" dirty="0"/>
              <a:t>So, how do we handle that?</a:t>
            </a:r>
          </a:p>
          <a:p>
            <a:r>
              <a:rPr lang="en-US" dirty="0"/>
              <a:t>The answer is: you simply normalize your time axis. You scale the time so that the function fits into a unit interval. Then you apply the standard Fourier series there.</a:t>
            </a:r>
          </a:p>
          <a:p>
            <a:r>
              <a:rPr lang="en-US" dirty="0"/>
              <a:t>Once you’ve built the series, you can scale it back to its original time frame — from zero to capital P — and you get a Fourier expansion that models the function over its true period.</a:t>
            </a:r>
          </a:p>
          <a:p>
            <a:endParaRPr lang="en-US" dirty="0"/>
          </a:p>
          <a:p>
            <a:r>
              <a:rPr lang="en-US" dirty="0"/>
              <a:t>So to summarize: the Fourier series has the flexibility to represent any periodic function, no matter what its period is. You just need to adjust for that period in the formulation — and the structure stays exactly the same.</a:t>
            </a:r>
          </a:p>
          <a:p>
            <a:r>
              <a:rPr lang="en-US" dirty="0"/>
              <a:t>This makes Fourier analysis an incredibly powerful tool when dealing with signals of any repeating pattern.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33</a:t>
            </a:fld>
            <a:endParaRPr lang="en-US"/>
          </a:p>
        </p:txBody>
      </p:sp>
    </p:spTree>
    <p:extLst>
      <p:ext uri="{BB962C8B-B14F-4D97-AF65-F5344CB8AC3E}">
        <p14:creationId xmlns:p14="http://schemas.microsoft.com/office/powerpoint/2010/main" val="2631015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talk about estimating the DC component in a signal.</a:t>
            </a:r>
          </a:p>
          <a:p>
            <a:endParaRPr lang="en-US" dirty="0"/>
          </a:p>
          <a:p>
            <a:r>
              <a:rPr lang="en-US" dirty="0"/>
              <a:t>Suppose we have a continuous function, and we sample it over the interval from zero to one. The first question we should ask is: how can we estimate the DC term?</a:t>
            </a:r>
          </a:p>
          <a:p>
            <a:endParaRPr lang="en-US" dirty="0"/>
          </a:p>
          <a:p>
            <a:r>
              <a:rPr lang="en-US" dirty="0"/>
              <a:t>Remember, in a Fourier series, the DC component is the constant part of the signal — and mathematically, it’s given by the average value of the function over one full period. So, for a continuous function, that just means integrating from zero to one and dividing by the length of the interval.</a:t>
            </a:r>
          </a:p>
          <a:p>
            <a:endParaRPr lang="en-US" dirty="0"/>
          </a:p>
          <a:p>
            <a:r>
              <a:rPr lang="en-US" dirty="0"/>
              <a:t>Now, in practice, we don't work with continuous signals — we sample them. That means we take a finite number of measurements, evenly spaced across the interval. So how do we estimate the DC component from those samples?</a:t>
            </a:r>
          </a:p>
          <a:p>
            <a:r>
              <a:rPr lang="en-US" dirty="0"/>
              <a:t>Very simply: we add up all the sampled values, and then we take the average. That average gives us a good estimate of the DC component — the constant term in the Fourier series. </a:t>
            </a:r>
          </a:p>
          <a:p>
            <a:r>
              <a:rPr lang="en-US" dirty="0"/>
              <a:t>So once we’ve taken care of the DC term, we still need to determine the coefficients for the sine and cosine terms — the oscillating parts of the signal.</a:t>
            </a:r>
          </a:p>
          <a:p>
            <a:endParaRPr lang="en-US" dirty="0"/>
          </a:p>
          <a:p>
            <a:r>
              <a:rPr lang="en-US" dirty="0"/>
              <a:t>Let’s say we want to recover </a:t>
            </a:r>
            <a:r>
              <a:rPr lang="en-US" b="1" dirty="0"/>
              <a:t>N</a:t>
            </a:r>
            <a:r>
              <a:rPr lang="en-US" dirty="0"/>
              <a:t> cosine coefficients and </a:t>
            </a:r>
            <a:r>
              <a:rPr lang="en-US" b="1" dirty="0"/>
              <a:t>N</a:t>
            </a:r>
            <a:r>
              <a:rPr lang="en-US" dirty="0"/>
              <a:t> sine coefficients. That gives us a total of 2 times N unknowns. And to solve for 2N unknowns, we’ll need at least 2N independent equations — meaning 2N sampled values.</a:t>
            </a:r>
          </a:p>
          <a:p>
            <a:r>
              <a:rPr lang="en-US" dirty="0"/>
              <a:t>So the takeaway is this: to fully recover a periodic signal using its Fourier series up to N harmonics, you need at least 2N equally spaced sample points. That gives you just enough information to solve for all the Fourier coefficients.</a:t>
            </a:r>
          </a:p>
          <a:p>
            <a:r>
              <a:rPr lang="en-US" dirty="0"/>
              <a:t>And again, the DC component is simple — just average your samples.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34</a:t>
            </a:fld>
            <a:endParaRPr lang="en-US"/>
          </a:p>
        </p:txBody>
      </p:sp>
    </p:spTree>
    <p:extLst>
      <p:ext uri="{BB962C8B-B14F-4D97-AF65-F5344CB8AC3E}">
        <p14:creationId xmlns:p14="http://schemas.microsoft.com/office/powerpoint/2010/main" val="15261225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explore an interesting point in signal representation — how sine and cosine terms can be combined.</a:t>
            </a:r>
          </a:p>
          <a:p>
            <a:endParaRPr lang="en-US" dirty="0"/>
          </a:p>
          <a:p>
            <a:r>
              <a:rPr lang="en-US" dirty="0"/>
              <a:t>In Fourier analysis, you’ll often see expressions involving both sine and cosine terms. For example, something like </a:t>
            </a:r>
            <a:r>
              <a:rPr lang="en-US" b="1" dirty="0"/>
              <a:t>A sine theta</a:t>
            </a:r>
            <a:r>
              <a:rPr lang="en-US" dirty="0"/>
              <a:t> plus </a:t>
            </a:r>
            <a:r>
              <a:rPr lang="en-US" b="1" dirty="0"/>
              <a:t>B cosine theta</a:t>
            </a:r>
            <a:r>
              <a:rPr lang="en-US" dirty="0"/>
              <a:t>. This is a common way to write periodic signals, using a mix of sines and cosines.</a:t>
            </a:r>
          </a:p>
          <a:p>
            <a:r>
              <a:rPr lang="en-US" dirty="0"/>
              <a:t>But here’s the neat part: this combination can actually be rewritten as a single sine function — with an amplitude and a phase shift. In other words, we can express it as </a:t>
            </a:r>
            <a:r>
              <a:rPr lang="en-US" b="1" dirty="0"/>
              <a:t>R sine theta plus alpha</a:t>
            </a:r>
            <a:r>
              <a:rPr lang="en-US" dirty="0"/>
              <a:t>, where </a:t>
            </a:r>
            <a:r>
              <a:rPr lang="en-US" b="1" dirty="0"/>
              <a:t>R</a:t>
            </a:r>
            <a:r>
              <a:rPr lang="en-US" dirty="0"/>
              <a:t> is the amplitude and </a:t>
            </a:r>
            <a:r>
              <a:rPr lang="en-US" b="1" dirty="0"/>
              <a:t>alpha</a:t>
            </a:r>
            <a:r>
              <a:rPr lang="en-US" dirty="0"/>
              <a:t> is the phase.</a:t>
            </a:r>
          </a:p>
          <a:p>
            <a:endParaRPr lang="en-US" dirty="0"/>
          </a:p>
          <a:p>
            <a:r>
              <a:rPr lang="en-US" dirty="0"/>
              <a:t>This identity is not just useful — it’s powerful. It tells us that instead of dealing with two separate unknowns, A and B, we can represent the same information using two different unknowns: </a:t>
            </a:r>
            <a:r>
              <a:rPr lang="en-US" b="1" dirty="0"/>
              <a:t>R</a:t>
            </a:r>
            <a:r>
              <a:rPr lang="en-US" dirty="0"/>
              <a:t>, the amplitude, and </a:t>
            </a:r>
            <a:r>
              <a:rPr lang="en-US" b="1" dirty="0"/>
              <a:t>alpha</a:t>
            </a:r>
            <a:r>
              <a:rPr lang="en-US" dirty="0"/>
              <a:t>, the phase.</a:t>
            </a:r>
          </a:p>
          <a:p>
            <a:r>
              <a:rPr lang="en-US" dirty="0"/>
              <a:t>So nothing is lost — we’re simply transforming the representation. Instead of working in the sine-cosine basis, we switch to amplitude and phase.</a:t>
            </a:r>
          </a:p>
          <a:p>
            <a:endParaRPr lang="en-US" dirty="0"/>
          </a:p>
          <a:p>
            <a:r>
              <a:rPr lang="en-US" dirty="0"/>
              <a:t>If you're curious about the proof or how this identity works, you can easily find tutorials or short videos online that walk through the steps in detail.</a:t>
            </a:r>
          </a:p>
          <a:p>
            <a:r>
              <a:rPr lang="en-US" dirty="0"/>
              <a:t>But the main takeaway here is: whenever you have a sine and cosine pair, you can always combine them into a single sine with a shifted angle. It’s a cleaner and often more intuitive way to represent oscillating signals — especially when we want to talk about signal magnitude and delay.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35</a:t>
            </a:fld>
            <a:endParaRPr lang="en-US"/>
          </a:p>
        </p:txBody>
      </p:sp>
    </p:spTree>
    <p:extLst>
      <p:ext uri="{BB962C8B-B14F-4D97-AF65-F5344CB8AC3E}">
        <p14:creationId xmlns:p14="http://schemas.microsoft.com/office/powerpoint/2010/main" val="42884147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take a heuristic view to better understand the relationship between sampling and signal reconstruction.</a:t>
            </a:r>
          </a:p>
          <a:p>
            <a:r>
              <a:rPr lang="en-US" dirty="0"/>
              <a:t>Suppose we represent our signal using a sum of sinusoids. Each term looks like this: </a:t>
            </a:r>
            <a:r>
              <a:rPr lang="en-US" b="1" dirty="0"/>
              <a:t>A n sine of 2 pi nu t plus phi n</a:t>
            </a:r>
            <a:r>
              <a:rPr lang="en-US" dirty="0"/>
              <a:t>. Here, </a:t>
            </a:r>
            <a:r>
              <a:rPr lang="en-US" b="1" dirty="0"/>
              <a:t>A n</a:t>
            </a:r>
            <a:r>
              <a:rPr lang="en-US" dirty="0"/>
              <a:t> is the amplitude, </a:t>
            </a:r>
            <a:r>
              <a:rPr lang="en-US" b="1" dirty="0"/>
              <a:t>phi n</a:t>
            </a:r>
            <a:r>
              <a:rPr lang="en-US" dirty="0"/>
              <a:t> is the phase, and </a:t>
            </a:r>
            <a:r>
              <a:rPr lang="en-US" b="1" dirty="0"/>
              <a:t>nu</a:t>
            </a:r>
            <a:r>
              <a:rPr lang="en-US" dirty="0"/>
              <a:t> is the frequency.</a:t>
            </a:r>
          </a:p>
          <a:p>
            <a:endParaRPr lang="en-US" dirty="0"/>
          </a:p>
          <a:p>
            <a:r>
              <a:rPr lang="en-US" dirty="0"/>
              <a:t>So for each sinusoidal component, we need to determine two unknowns — amplitude and phase. That means, for </a:t>
            </a:r>
            <a:r>
              <a:rPr lang="en-US" b="1" dirty="0"/>
              <a:t>N</a:t>
            </a:r>
            <a:r>
              <a:rPr lang="en-US" dirty="0"/>
              <a:t> such components, we end up with </a:t>
            </a:r>
            <a:r>
              <a:rPr lang="en-US" b="1" dirty="0"/>
              <a:t>2N unknowns</a:t>
            </a:r>
            <a:r>
              <a:rPr lang="en-US" dirty="0"/>
              <a:t> in total.</a:t>
            </a:r>
          </a:p>
          <a:p>
            <a:endParaRPr lang="en-US" dirty="0"/>
          </a:p>
          <a:p>
            <a:r>
              <a:rPr lang="en-US" dirty="0"/>
              <a:t>Now, here’s the key point. To determine those two unknowns for each sinusoid — amplitude and phase — we need at least </a:t>
            </a:r>
            <a:r>
              <a:rPr lang="en-US" b="1" dirty="0"/>
              <a:t>two data points per cycle</a:t>
            </a:r>
            <a:r>
              <a:rPr lang="en-US" dirty="0"/>
              <a:t>. Think of it like trying to draw a sine wave: if you only know one point, you can’t say much. But with two points, you start to get the shape — its size and where it starts.</a:t>
            </a:r>
          </a:p>
          <a:p>
            <a:endParaRPr lang="en-US" dirty="0"/>
          </a:p>
          <a:p>
            <a:r>
              <a:rPr lang="en-US" dirty="0"/>
              <a:t>So, for the highest frequency in our signal — which we’ll call </a:t>
            </a:r>
            <a:r>
              <a:rPr lang="en-US" b="1" dirty="0"/>
              <a:t>nu</a:t>
            </a:r>
            <a:r>
              <a:rPr lang="en-US" dirty="0"/>
              <a:t> — we need to sample at least </a:t>
            </a:r>
            <a:r>
              <a:rPr lang="en-US" b="1" dirty="0"/>
              <a:t>twice per cycle</a:t>
            </a:r>
            <a:r>
              <a:rPr lang="en-US" dirty="0"/>
              <a:t>. This leads to the idea of spacing between samples. To avoid missing any important information, the spacing between adjacent samples must be </a:t>
            </a:r>
            <a:r>
              <a:rPr lang="en-US" b="1" dirty="0"/>
              <a:t>less than or equal to 1 over 2 nu</a:t>
            </a:r>
            <a:r>
              <a:rPr lang="en-US" dirty="0"/>
              <a:t>.</a:t>
            </a:r>
          </a:p>
          <a:p>
            <a:endParaRPr lang="en-US" dirty="0"/>
          </a:p>
          <a:p>
            <a:r>
              <a:rPr lang="en-US" dirty="0"/>
              <a:t>In more familiar terms, that means the </a:t>
            </a:r>
            <a:r>
              <a:rPr lang="en-US" b="1" dirty="0"/>
              <a:t>sampling rate</a:t>
            </a:r>
            <a:r>
              <a:rPr lang="en-US" dirty="0"/>
              <a:t> — measured in samples per second — must be greater than </a:t>
            </a:r>
            <a:r>
              <a:rPr lang="en-US" b="1" dirty="0"/>
              <a:t>2 times nu</a:t>
            </a:r>
            <a:r>
              <a:rPr lang="en-US" dirty="0"/>
              <a:t>. This is the famous </a:t>
            </a:r>
            <a:r>
              <a:rPr lang="en-US" b="1" dirty="0"/>
              <a:t>Nyquist sampling rate</a:t>
            </a:r>
            <a:r>
              <a:rPr lang="en-US" dirty="0"/>
              <a:t>.</a:t>
            </a:r>
          </a:p>
          <a:p>
            <a:endParaRPr lang="en-US" dirty="0"/>
          </a:p>
          <a:p>
            <a:r>
              <a:rPr lang="en-US" dirty="0"/>
              <a:t>Why does this matter? Because if we sample below this rate, we risk losing information. Our signal might be distorted or misrepresented — a problem known as aliasing. But if we sample at twice the highest frequency or more, we guarantee that every sinusoidal component is accurately captured.</a:t>
            </a:r>
          </a:p>
          <a:p>
            <a:r>
              <a:rPr lang="en-US" dirty="0"/>
              <a:t>So the Nyquist rate gives us a fundamental guideline: </a:t>
            </a:r>
            <a:r>
              <a:rPr lang="en-US" b="1" dirty="0"/>
              <a:t>sample fast enough to resolve the highest frequency present in the signal</a:t>
            </a:r>
            <a:r>
              <a:rPr lang="en-US" dirty="0"/>
              <a: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36</a:t>
            </a:fld>
            <a:endParaRPr lang="en-US"/>
          </a:p>
        </p:txBody>
      </p:sp>
    </p:spTree>
    <p:extLst>
      <p:ext uri="{BB962C8B-B14F-4D97-AF65-F5344CB8AC3E}">
        <p14:creationId xmlns:p14="http://schemas.microsoft.com/office/powerpoint/2010/main" val="33458057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entering the most important part of this discussion — the mathematical foundation behind the sampling theorem.</a:t>
            </a:r>
          </a:p>
          <a:p>
            <a:endParaRPr lang="en-US" dirty="0"/>
          </a:p>
          <a:p>
            <a:r>
              <a:rPr lang="en-US" dirty="0"/>
              <a:t>Let’s start by recalling our goal: we want to take a continuous signal, sample it at regular intervals, and then perfectly reconstruct the original signal from just those samples. But this only works under certain conditions — particularly, when the sampling rate is high enough to avoid aliasing. That’s what the Nyquist theorem guarantees.</a:t>
            </a:r>
          </a:p>
          <a:p>
            <a:endParaRPr lang="en-US" dirty="0"/>
          </a:p>
          <a:p>
            <a:r>
              <a:rPr lang="en-US" dirty="0"/>
              <a:t>Now, let’s walk through this derivation step by step. It’s a bit more mathematical, but I’ll explain the reasoning behind each part.</a:t>
            </a:r>
          </a:p>
          <a:p>
            <a:endParaRPr lang="en-US" dirty="0"/>
          </a:p>
          <a:p>
            <a:r>
              <a:rPr lang="en-US" dirty="0"/>
              <a:t>We begin by expressing the function f of t as the inverse Fourier transform of a product — specifically, a low-pass filter in the frequency domain multiplied by a sampled version of the original function’s spectrum. Symbolically, we write:</a:t>
            </a:r>
          </a:p>
          <a:p>
            <a:r>
              <a:rPr lang="en-US" dirty="0"/>
              <a:t>f of t equals the inverse Fourier transform of the product of capital Pi  P of u and the convolution of f hat of u with S P of u.</a:t>
            </a:r>
          </a:p>
          <a:p>
            <a:endParaRPr lang="en-US" dirty="0"/>
          </a:p>
          <a:p>
            <a:r>
              <a:rPr lang="en-US" dirty="0"/>
              <a:t>Next, we apply properties of the Fourier transform. We pull out the convolution and apply inverse transforms separately. This leads to:</a:t>
            </a:r>
          </a:p>
          <a:p>
            <a:r>
              <a:rPr lang="en-US" dirty="0"/>
              <a:t>f of t equals the inverse transform of Pi  P of u, convolved with the inverse transform of f hat of u multiplied by S  P of u.</a:t>
            </a:r>
          </a:p>
          <a:p>
            <a:r>
              <a:rPr lang="en-US" dirty="0"/>
              <a:t>Then, we take this result back to the time domain.</a:t>
            </a:r>
          </a:p>
          <a:p>
            <a:endParaRPr lang="en-US" dirty="0"/>
          </a:p>
          <a:p>
            <a:r>
              <a:rPr lang="en-US" dirty="0"/>
              <a:t>Here’s what we get:</a:t>
            </a:r>
            <a:br>
              <a:rPr lang="en-US" dirty="0"/>
            </a:br>
            <a:r>
              <a:rPr lang="en-US" dirty="0"/>
              <a:t>f of t equals P times </a:t>
            </a:r>
            <a:r>
              <a:rPr lang="en-US" dirty="0" err="1"/>
              <a:t>sinc</a:t>
            </a:r>
            <a:r>
              <a:rPr lang="en-US" dirty="0"/>
              <a:t> of pi P t, convolved with f of t times S 1 over P of t.</a:t>
            </a:r>
          </a:p>
          <a:p>
            <a:r>
              <a:rPr lang="en-US" dirty="0"/>
              <a:t>This expression means we’re convolving the </a:t>
            </a:r>
            <a:r>
              <a:rPr lang="en-US" dirty="0" err="1"/>
              <a:t>sinc</a:t>
            </a:r>
            <a:r>
              <a:rPr lang="en-US" dirty="0"/>
              <a:t> function — which comes from the inverse transform of a box function in frequency — with the sampled version of the original function.</a:t>
            </a:r>
          </a:p>
          <a:p>
            <a:endParaRPr lang="en-US" dirty="0"/>
          </a:p>
          <a:p>
            <a:r>
              <a:rPr lang="en-US" dirty="0"/>
              <a:t>And from there, we arrive at the reconstruction formula you’ve probably seen before:</a:t>
            </a:r>
          </a:p>
          <a:p>
            <a:r>
              <a:rPr lang="en-US" dirty="0"/>
              <a:t>f of t equals the sum over k from minus infinity to infinity of f at k over P times </a:t>
            </a:r>
            <a:r>
              <a:rPr lang="en-US" dirty="0" err="1"/>
              <a:t>sinc</a:t>
            </a:r>
            <a:r>
              <a:rPr lang="en-US" dirty="0"/>
              <a:t> of pi times the quantity t minus k over P over pi times the quantity t minus k over P.</a:t>
            </a:r>
          </a:p>
          <a:p>
            <a:r>
              <a:rPr lang="en-US" dirty="0"/>
              <a:t>This is the classic </a:t>
            </a:r>
            <a:r>
              <a:rPr lang="en-US" dirty="0" err="1"/>
              <a:t>sinc</a:t>
            </a:r>
            <a:r>
              <a:rPr lang="en-US" dirty="0"/>
              <a:t> interpolation formula. It tells us that, under the right sampling conditions — meaning, the sampling rate is at least twice the highest frequency in the signal — the continuous signal can be reconstructed exactly by convolving the samples with the </a:t>
            </a:r>
            <a:r>
              <a:rPr lang="en-US" dirty="0" err="1"/>
              <a:t>sinc</a:t>
            </a:r>
            <a:r>
              <a:rPr lang="en-US" dirty="0"/>
              <a:t> function.</a:t>
            </a:r>
          </a:p>
          <a:p>
            <a:endParaRPr lang="en-US" dirty="0"/>
          </a:p>
          <a:p>
            <a:r>
              <a:rPr lang="en-US" dirty="0"/>
              <a:t>So in summary: sampling in the time domain corresponds to periodic replication in the frequency domain. When the signal is bandlimited and the sampling rate is high enough, we can perfectly reconstruct it using this formula.</a:t>
            </a:r>
          </a:p>
          <a:p>
            <a:r>
              <a:rPr lang="en-US" dirty="0"/>
              <a:t>This is the core of the sampling theorem. And this formula — the final one on the slide — is one of the most beautiful results in signal processing.</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37</a:t>
            </a:fld>
            <a:endParaRPr lang="en-US"/>
          </a:p>
        </p:txBody>
      </p:sp>
    </p:spTree>
    <p:extLst>
      <p:ext uri="{BB962C8B-B14F-4D97-AF65-F5344CB8AC3E}">
        <p14:creationId xmlns:p14="http://schemas.microsoft.com/office/powerpoint/2010/main" val="33075861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go through a helpful example using a two-dimensional rectangular function. This is a classic case to build intuition around how the Fourier transform behaves in two dimensions.</a:t>
            </a:r>
          </a:p>
          <a:p>
            <a:endParaRPr lang="en-US" dirty="0"/>
          </a:p>
          <a:p>
            <a:r>
              <a:rPr lang="en-US" dirty="0"/>
              <a:t>Imagine a rectangle that’s centered at the origin. It has a total width of capital X along the x-axis, and a total height of capital Y along the y-axis. The function value is constant — say, equal to 1 — inside this rectangle, and zero outside.</a:t>
            </a:r>
          </a:p>
          <a:p>
            <a:endParaRPr lang="en-US" dirty="0"/>
          </a:p>
          <a:p>
            <a:r>
              <a:rPr lang="en-US" dirty="0"/>
              <a:t>We now take the 2D Fourier transform of this rectangle. The formula looks a bit dense, but the steps are straightforward.</a:t>
            </a:r>
          </a:p>
          <a:p>
            <a:endParaRPr lang="en-US" dirty="0"/>
          </a:p>
          <a:p>
            <a:r>
              <a:rPr lang="en-US" dirty="0"/>
              <a:t>We start with the double integral of the original function times the complex exponential — e to the power minus j 2 pi times the quantity u x plus v y. That’s the standard definition of the 2D Fourier transform.</a:t>
            </a:r>
          </a:p>
          <a:p>
            <a:r>
              <a:rPr lang="en-US" dirty="0"/>
              <a:t>Since the function is separable — meaning it depends independently on x and y — we can break the double integral into two parts:</a:t>
            </a:r>
          </a:p>
          <a:p>
            <a:r>
              <a:rPr lang="en-US" dirty="0"/>
              <a:t>one over x, and one over y.</a:t>
            </a:r>
          </a:p>
          <a:p>
            <a:r>
              <a:rPr lang="en-US" dirty="0"/>
              <a:t>Evaluating each of these integrals separately gives us a product of two expressions.</a:t>
            </a:r>
          </a:p>
          <a:p>
            <a:r>
              <a:rPr lang="en-US" dirty="0"/>
              <a:t>Each part turns into a </a:t>
            </a:r>
            <a:r>
              <a:rPr lang="en-US" dirty="0" err="1"/>
              <a:t>sinc</a:t>
            </a:r>
            <a:r>
              <a:rPr lang="en-US" dirty="0"/>
              <a:t> function. In the x-direction, we get sin of pi times X u over pi X u — that’s </a:t>
            </a:r>
            <a:r>
              <a:rPr lang="en-US" dirty="0" err="1"/>
              <a:t>sinc</a:t>
            </a:r>
            <a:r>
              <a:rPr lang="en-US" dirty="0"/>
              <a:t> of pi X u. And in the y-direction, it’s </a:t>
            </a:r>
            <a:r>
              <a:rPr lang="en-US" dirty="0" err="1"/>
              <a:t>sinc</a:t>
            </a:r>
            <a:r>
              <a:rPr lang="en-US" dirty="0"/>
              <a:t> of pi Y v.</a:t>
            </a:r>
          </a:p>
          <a:p>
            <a:endParaRPr lang="en-US" dirty="0"/>
          </a:p>
          <a:p>
            <a:r>
              <a:rPr lang="en-US" dirty="0"/>
              <a:t>So the full 2D Fourier transform ends up as the product of these two </a:t>
            </a:r>
            <a:r>
              <a:rPr lang="en-US" dirty="0" err="1"/>
              <a:t>sinc</a:t>
            </a:r>
            <a:r>
              <a:rPr lang="en-US" dirty="0"/>
              <a:t> functions — one in the u-direction, and one in the v-direction — scaled by the area of the original rectangle, which is X times Y.</a:t>
            </a:r>
          </a:p>
          <a:p>
            <a:r>
              <a:rPr lang="en-US" dirty="0"/>
              <a:t>Now if you look at the plot here, you’ll see a 3D surface that shows the magnitude of the Fourier transform — the peak is at the center, and the ripples decay outward. That shape comes directly from the </a:t>
            </a:r>
            <a:r>
              <a:rPr lang="en-US" dirty="0" err="1"/>
              <a:t>sinc</a:t>
            </a:r>
            <a:r>
              <a:rPr lang="en-US" dirty="0"/>
              <a:t> functions.</a:t>
            </a:r>
          </a:p>
          <a:p>
            <a:endParaRPr lang="en-US" dirty="0"/>
          </a:p>
          <a:p>
            <a:r>
              <a:rPr lang="en-US" dirty="0"/>
              <a:t>Why are we showing this?</a:t>
            </a:r>
          </a:p>
          <a:p>
            <a:r>
              <a:rPr lang="en-US" dirty="0"/>
              <a:t>Because it mirrors the result we saw earlier: when a rectangular function is defined in one domain — here it’s the spatial domain — its transform becomes a </a:t>
            </a:r>
            <a:r>
              <a:rPr lang="en-US" dirty="0" err="1"/>
              <a:t>sinc</a:t>
            </a:r>
            <a:r>
              <a:rPr lang="en-US" dirty="0"/>
              <a:t> function in the other domain — in this case, the frequency domain.</a:t>
            </a:r>
          </a:p>
          <a:p>
            <a:r>
              <a:rPr lang="en-US" dirty="0"/>
              <a:t>This is closely related to the idea we discussed on the previous slide, where the rectangle — or gate — was in the </a:t>
            </a:r>
            <a:r>
              <a:rPr lang="en-US" b="1" dirty="0"/>
              <a:t>frequency</a:t>
            </a:r>
            <a:r>
              <a:rPr lang="en-US" dirty="0"/>
              <a:t> domain, and its transform was a </a:t>
            </a:r>
            <a:r>
              <a:rPr lang="en-US" dirty="0" err="1"/>
              <a:t>sinc</a:t>
            </a:r>
            <a:r>
              <a:rPr lang="en-US" dirty="0"/>
              <a:t> function in </a:t>
            </a:r>
            <a:r>
              <a:rPr lang="en-US" b="1" dirty="0"/>
              <a:t>time</a:t>
            </a:r>
            <a:r>
              <a:rPr lang="en-US" dirty="0"/>
              <a:t>. Whether you go forward or inverse, the core relationship stays similar.</a:t>
            </a:r>
          </a:p>
          <a:p>
            <a:r>
              <a:rPr lang="en-US" dirty="0"/>
              <a:t>So while this example is technically a bit different — it’s 2D, and it’s a forward transform — the intuition still applies. Rectangles and </a:t>
            </a:r>
            <a:r>
              <a:rPr lang="en-US" dirty="0" err="1"/>
              <a:t>sinc</a:t>
            </a:r>
            <a:r>
              <a:rPr lang="en-US" dirty="0"/>
              <a:t> functions are transform pairs. And we use that fact again and again in signal processing and imaging.</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38</a:t>
            </a:fld>
            <a:endParaRPr lang="en-US"/>
          </a:p>
        </p:txBody>
      </p:sp>
    </p:spTree>
    <p:extLst>
      <p:ext uri="{BB962C8B-B14F-4D97-AF65-F5344CB8AC3E}">
        <p14:creationId xmlns:p14="http://schemas.microsoft.com/office/powerpoint/2010/main" val="7628249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continue line by line and see how each step connects.</a:t>
            </a:r>
          </a:p>
          <a:p>
            <a:r>
              <a:rPr lang="en-US" dirty="0"/>
              <a:t>We’re now looking at this part of the derivation — specifically the fourth equation on the slide.</a:t>
            </a:r>
          </a:p>
          <a:p>
            <a:endParaRPr lang="en-US" dirty="0"/>
          </a:p>
          <a:p>
            <a:r>
              <a:rPr lang="en-US" dirty="0"/>
              <a:t>Here, we have the product of two terms:</a:t>
            </a:r>
          </a:p>
          <a:p>
            <a:r>
              <a:rPr lang="en-US" dirty="0"/>
              <a:t>a </a:t>
            </a:r>
            <a:r>
              <a:rPr lang="en-US" dirty="0" err="1"/>
              <a:t>sinc</a:t>
            </a:r>
            <a:r>
              <a:rPr lang="en-US" dirty="0"/>
              <a:t> function, written as sine of pi P t over pi P t,</a:t>
            </a:r>
          </a:p>
          <a:p>
            <a:r>
              <a:rPr lang="en-US" dirty="0"/>
              <a:t>and the convolution with another function in square brackets.</a:t>
            </a:r>
          </a:p>
          <a:p>
            <a:r>
              <a:rPr lang="en-US" dirty="0"/>
              <a:t>Let’s first focus on the </a:t>
            </a:r>
            <a:r>
              <a:rPr lang="en-US" dirty="0" err="1"/>
              <a:t>sinc</a:t>
            </a:r>
            <a:r>
              <a:rPr lang="en-US" dirty="0"/>
              <a:t> part. This comes from taking the inverse Fourier transform of the rectangular function in the frequency domain — the gate function we introduced earlier. When we take its inverse Fourier transform, we get a </a:t>
            </a:r>
            <a:r>
              <a:rPr lang="en-US" dirty="0" err="1"/>
              <a:t>sinc</a:t>
            </a:r>
            <a:r>
              <a:rPr lang="en-US" dirty="0"/>
              <a:t> function in the time domain. That’s because a rectangle in frequency always corresponds to a </a:t>
            </a:r>
            <a:r>
              <a:rPr lang="en-US" dirty="0" err="1"/>
              <a:t>sinc</a:t>
            </a:r>
            <a:r>
              <a:rPr lang="en-US" dirty="0"/>
              <a:t> in time. So that’s where this sine of pi P t over pi P t comes from — it’s our </a:t>
            </a:r>
            <a:r>
              <a:rPr lang="en-US" dirty="0" err="1"/>
              <a:t>sinc</a:t>
            </a:r>
            <a:r>
              <a:rPr lang="en-US" dirty="0"/>
              <a:t> kernel.</a:t>
            </a:r>
          </a:p>
          <a:p>
            <a:endParaRPr lang="en-US" dirty="0"/>
          </a:p>
          <a:p>
            <a:r>
              <a:rPr lang="en-US" dirty="0"/>
              <a:t>Now, let’s turn to the function inside the brackets.</a:t>
            </a:r>
          </a:p>
          <a:p>
            <a:r>
              <a:rPr lang="en-US" dirty="0"/>
              <a:t>Here, we’re performing an inverse Fourier transform on the product of two terms:</a:t>
            </a:r>
          </a:p>
          <a:p>
            <a:r>
              <a:rPr lang="en-US" dirty="0"/>
              <a:t>the Fourier transform of our original function,</a:t>
            </a:r>
          </a:p>
          <a:p>
            <a:r>
              <a:rPr lang="en-US" dirty="0"/>
              <a:t>and a periodic impulse train in frequency, with spacing capital P.</a:t>
            </a:r>
          </a:p>
          <a:p>
            <a:r>
              <a:rPr lang="en-US" dirty="0"/>
              <a:t>By the convolution theorem, multiplying two functions in the frequency domain is equivalent to convolving their inverse transforms in the time domain. So we convolve the original function f of t with the inverse transform of this impulse train in the frequency domain.</a:t>
            </a:r>
          </a:p>
          <a:p>
            <a:endParaRPr lang="en-US" dirty="0"/>
          </a:p>
          <a:p>
            <a:r>
              <a:rPr lang="en-US" dirty="0"/>
              <a:t>And what is the inverse transform of a periodic impulse train in frequency?</a:t>
            </a:r>
          </a:p>
          <a:p>
            <a:r>
              <a:rPr lang="en-US" dirty="0"/>
              <a:t>It gives us another periodic impulse train — this time in </a:t>
            </a:r>
            <a:r>
              <a:rPr lang="en-US" b="1" dirty="0"/>
              <a:t>time</a:t>
            </a:r>
            <a:r>
              <a:rPr lang="en-US" dirty="0"/>
              <a:t> — with spacing equal to one over capital P. So this entire expression simplifies to f of t convolved with a sum of shifted delta functions, spaced by one over P.</a:t>
            </a:r>
          </a:p>
          <a:p>
            <a:r>
              <a:rPr lang="en-US" dirty="0"/>
              <a:t>We can express that more clearly on the next line. The equation now becomes:</a:t>
            </a:r>
          </a:p>
          <a:p>
            <a:r>
              <a:rPr lang="en-US" dirty="0"/>
              <a:t>f of t equals </a:t>
            </a:r>
            <a:r>
              <a:rPr lang="en-US" dirty="0" err="1"/>
              <a:t>sinc</a:t>
            </a:r>
            <a:r>
              <a:rPr lang="en-US" dirty="0"/>
              <a:t> of pi P t multiplied by the sum over all k from minus infinity to infinity of f of t times delta of t minus k over P.</a:t>
            </a:r>
          </a:p>
          <a:p>
            <a:r>
              <a:rPr lang="en-US" dirty="0"/>
              <a:t>And because convolution with a delta function simply samples the function, this expression simplifies further — giving us the familiar formula for signal reconstruction.</a:t>
            </a:r>
          </a:p>
          <a:p>
            <a:endParaRPr lang="en-US" dirty="0"/>
          </a:p>
          <a:p>
            <a:r>
              <a:rPr lang="en-US" dirty="0"/>
              <a:t>So finally, we arrive at the last equation on this slide:</a:t>
            </a:r>
          </a:p>
          <a:p>
            <a:r>
              <a:rPr lang="en-US" dirty="0"/>
              <a:t>f of t equals the sum over k, from negative to positive infinity,</a:t>
            </a:r>
            <a:br>
              <a:rPr lang="en-US" dirty="0"/>
            </a:br>
            <a:r>
              <a:rPr lang="en-US" dirty="0"/>
              <a:t>of f evaluated at k over P,</a:t>
            </a:r>
            <a:br>
              <a:rPr lang="en-US" dirty="0"/>
            </a:br>
            <a:r>
              <a:rPr lang="en-US" dirty="0"/>
              <a:t>times </a:t>
            </a:r>
            <a:r>
              <a:rPr lang="en-US" dirty="0" err="1"/>
              <a:t>sinc</a:t>
            </a:r>
            <a:r>
              <a:rPr lang="en-US" dirty="0"/>
              <a:t> of pi times the quantity t minus k over P.</a:t>
            </a:r>
          </a:p>
          <a:p>
            <a:r>
              <a:rPr lang="en-US" dirty="0"/>
              <a:t>This is the reconstruction formula for band-limited signals. It tells us that if the signal was sampled at or above the Nyquist rate — meaning no aliasing occurred — then we can recover the original continuous function perfectly by summing shifted </a:t>
            </a:r>
            <a:r>
              <a:rPr lang="en-US" dirty="0" err="1"/>
              <a:t>sinc</a:t>
            </a:r>
            <a:r>
              <a:rPr lang="en-US" dirty="0"/>
              <a:t> functions, each scaled by the sampled value.</a:t>
            </a:r>
          </a:p>
          <a:p>
            <a:endParaRPr lang="en-US" dirty="0"/>
          </a:p>
          <a:p>
            <a:r>
              <a:rPr lang="en-US" dirty="0"/>
              <a:t>That’s the power of the sampling theorem. It doesn’t just allow us to digitize signals — it tells us </a:t>
            </a:r>
            <a:r>
              <a:rPr lang="en-US" b="1" dirty="0"/>
              <a:t>exactly</a:t>
            </a:r>
            <a:r>
              <a:rPr lang="en-US" dirty="0"/>
              <a:t> how to recover them.</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39</a:t>
            </a:fld>
            <a:endParaRPr lang="en-US"/>
          </a:p>
        </p:txBody>
      </p:sp>
    </p:spTree>
    <p:extLst>
      <p:ext uri="{BB962C8B-B14F-4D97-AF65-F5344CB8AC3E}">
        <p14:creationId xmlns:p14="http://schemas.microsoft.com/office/powerpoint/2010/main" val="41634003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take a moment to talk about an important concept in signal processing — the comb function and how it behaves under the Fourier transform.</a:t>
            </a:r>
          </a:p>
          <a:p>
            <a:endParaRPr lang="en-US" dirty="0"/>
          </a:p>
          <a:p>
            <a:r>
              <a:rPr lang="en-US" dirty="0"/>
              <a:t>Let’s start with this equation at the top. It says:</a:t>
            </a:r>
          </a:p>
          <a:p>
            <a:r>
              <a:rPr lang="en-US" dirty="0"/>
              <a:t>s of t equals the sum over all n of delta of t minus n times capital T.</a:t>
            </a:r>
          </a:p>
          <a:p>
            <a:r>
              <a:rPr lang="en-US" dirty="0"/>
              <a:t>This is what we call a </a:t>
            </a:r>
            <a:r>
              <a:rPr lang="en-US" b="1" dirty="0"/>
              <a:t>delta train</a:t>
            </a:r>
            <a:r>
              <a:rPr lang="en-US" dirty="0"/>
              <a:t> or </a:t>
            </a:r>
            <a:r>
              <a:rPr lang="en-US" b="1" dirty="0"/>
              <a:t>comb function</a:t>
            </a:r>
            <a:r>
              <a:rPr lang="en-US" dirty="0"/>
              <a:t> in the time domain. It’s a series of impulses, evenly spaced by T units.</a:t>
            </a:r>
          </a:p>
          <a:p>
            <a:r>
              <a:rPr lang="en-US" dirty="0"/>
              <a:t>Now, when we take the Fourier transform of this comb, something very elegant happens.</a:t>
            </a:r>
          </a:p>
          <a:p>
            <a:r>
              <a:rPr lang="en-US" dirty="0"/>
              <a:t>It becomes another comb — but in the frequency domain.</a:t>
            </a:r>
          </a:p>
          <a:p>
            <a:endParaRPr lang="en-US" dirty="0"/>
          </a:p>
          <a:p>
            <a:r>
              <a:rPr lang="en-US" dirty="0"/>
              <a:t>Specifically, the transform is:</a:t>
            </a:r>
          </a:p>
          <a:p>
            <a:r>
              <a:rPr lang="en-US" dirty="0"/>
              <a:t>s of f equals one over capital T times the sum over all n of delta of f minus n over capital T.</a:t>
            </a:r>
          </a:p>
          <a:p>
            <a:r>
              <a:rPr lang="en-US" dirty="0"/>
              <a:t>So, in words, a comb in time with spacing T becomes a comb in frequency with spacing 1 over T. And we get a scaling factor of 1 over T in front.</a:t>
            </a:r>
          </a:p>
          <a:p>
            <a:r>
              <a:rPr lang="en-US" dirty="0"/>
              <a:t>This is a fundamental symmetry in Fourier analysis: </a:t>
            </a:r>
            <a:r>
              <a:rPr lang="en-US" b="1" dirty="0"/>
              <a:t>when a signal is periodic in time, its spectrum is discrete in frequency</a:t>
            </a:r>
            <a:r>
              <a:rPr lang="en-US" dirty="0"/>
              <a:t> — and vice versa.</a:t>
            </a:r>
          </a:p>
          <a:p>
            <a:endParaRPr lang="en-US" dirty="0"/>
          </a:p>
          <a:p>
            <a:r>
              <a:rPr lang="en-US" dirty="0"/>
              <a:t>Now look at the plots in the middle of the slide.</a:t>
            </a:r>
          </a:p>
          <a:p>
            <a:r>
              <a:rPr lang="en-US" dirty="0"/>
              <a:t>On the left side, we see a train of impulses spaced T apart along the time axis. On the right, we have the corresponding Fourier transform — another train of impulses but now spaced 1 over T along the frequency axis.</a:t>
            </a:r>
          </a:p>
          <a:p>
            <a:r>
              <a:rPr lang="en-US" dirty="0"/>
              <a:t>So there’s this beautiful reciprocal relationship: if your delta train is spaced T in time, its Fourier counterpart is spaced 1 over T in frequency.</a:t>
            </a:r>
          </a:p>
          <a:p>
            <a:r>
              <a:rPr lang="en-US" dirty="0"/>
              <a:t>And this brings us to the red box at the bottom of the slide. These equations generalize the idea.</a:t>
            </a:r>
          </a:p>
          <a:p>
            <a:endParaRPr lang="en-US" dirty="0"/>
          </a:p>
          <a:p>
            <a:r>
              <a:rPr lang="en-US" dirty="0"/>
              <a:t>Let’s say you have a sum of delta functions shifted by n over P. That’s a comb with spacing 1 over P.</a:t>
            </a:r>
          </a:p>
          <a:p>
            <a:r>
              <a:rPr lang="en-US" dirty="0"/>
              <a:t>Then, its Fourier transform becomes P times a sum of delta functions spaced P apart. The scaling factor flips — one becomes P, and the spacing flips from 1 over P to P.</a:t>
            </a:r>
          </a:p>
          <a:p>
            <a:r>
              <a:rPr lang="en-US" dirty="0"/>
              <a:t>And if we put a scaling factor of 1 over P in front of the comb, then the Fourier transform is simply a comb with spacing P, with no extra scaling factor.</a:t>
            </a:r>
          </a:p>
          <a:p>
            <a:r>
              <a:rPr lang="en-US" dirty="0"/>
              <a:t>So again, delta trains are their own Fourier transforms — up to a scaling and spacing change.</a:t>
            </a:r>
          </a:p>
          <a:p>
            <a:endParaRPr lang="en-US" dirty="0"/>
          </a:p>
          <a:p>
            <a:r>
              <a:rPr lang="en-US" dirty="0"/>
              <a:t>This property is essential when we talk about sampling, because whenever we sample a signal, we’re essentially multiplying it by a comb function in time. And that multiplication creates repeated spectra in the frequency domain — spaced according to the sampling rate.</a:t>
            </a:r>
          </a:p>
          <a:p>
            <a:r>
              <a:rPr lang="en-US" dirty="0"/>
              <a:t>So that’s the comb and its mirror — one of the most powerful dualities in Fourier theory.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40</a:t>
            </a:fld>
            <a:endParaRPr lang="en-US"/>
          </a:p>
        </p:txBody>
      </p:sp>
    </p:spTree>
    <p:extLst>
      <p:ext uri="{BB962C8B-B14F-4D97-AF65-F5344CB8AC3E}">
        <p14:creationId xmlns:p14="http://schemas.microsoft.com/office/powerpoint/2010/main" val="20427100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focus on the last few steps of the derivation and clarify what’s happening here, line by line.</a:t>
            </a:r>
          </a:p>
          <a:p>
            <a:r>
              <a:rPr lang="en-US" dirty="0"/>
              <a:t>Previously, we had the convolution of two time-domain signals: one was a </a:t>
            </a:r>
            <a:r>
              <a:rPr lang="en-US" dirty="0" err="1"/>
              <a:t>sinc</a:t>
            </a:r>
            <a:r>
              <a:rPr lang="en-US" dirty="0"/>
              <a:t> function, the other was a sum of scaled impulses. That brought us to this expression:</a:t>
            </a:r>
          </a:p>
          <a:p>
            <a:r>
              <a:rPr lang="en-US" dirty="0"/>
              <a:t>f of t equals </a:t>
            </a:r>
            <a:r>
              <a:rPr lang="en-US" dirty="0" err="1"/>
              <a:t>sinc</a:t>
            </a:r>
            <a:r>
              <a:rPr lang="en-US" dirty="0"/>
              <a:t> of pi P t, divided by pi P t, convolved with the sum from k equals minus infinity to infinity of f of t times delta of t minus k over P.</a:t>
            </a:r>
          </a:p>
          <a:p>
            <a:r>
              <a:rPr lang="en-US" dirty="0"/>
              <a:t>Let’s unpack that.</a:t>
            </a:r>
          </a:p>
          <a:p>
            <a:r>
              <a:rPr lang="en-US" dirty="0"/>
              <a:t>First, remember that this sum is what we call a </a:t>
            </a:r>
            <a:r>
              <a:rPr lang="en-US" b="1" dirty="0"/>
              <a:t>delta train</a:t>
            </a:r>
            <a:r>
              <a:rPr lang="en-US" dirty="0"/>
              <a:t> — an infinite series of delta functions spaced at intervals of 1 over P.</a:t>
            </a:r>
          </a:p>
          <a:p>
            <a:endParaRPr lang="en-US" dirty="0"/>
          </a:p>
          <a:p>
            <a:r>
              <a:rPr lang="en-US" dirty="0"/>
              <a:t>Now you might ask — wait a minute, where did the 1 over P factor go?</a:t>
            </a:r>
          </a:p>
          <a:p>
            <a:r>
              <a:rPr lang="en-US" dirty="0"/>
              <a:t>Good observation.</a:t>
            </a:r>
          </a:p>
          <a:p>
            <a:r>
              <a:rPr lang="en-US" dirty="0"/>
              <a:t>Originally, the delta train had a scaling factor of 1 over P. But earlier in the derivation, we also had a P multiplying the </a:t>
            </a:r>
            <a:r>
              <a:rPr lang="en-US" dirty="0" err="1"/>
              <a:t>sinc</a:t>
            </a:r>
            <a:r>
              <a:rPr lang="en-US" dirty="0"/>
              <a:t> function. So those two terms — P and 1 over P — cancel out. That’s why we don’t see the 1 over P anymore in the final expression.</a:t>
            </a:r>
          </a:p>
          <a:p>
            <a:endParaRPr lang="en-US" dirty="0"/>
          </a:p>
          <a:p>
            <a:r>
              <a:rPr lang="en-US" dirty="0"/>
              <a:t>So what do we have now?</a:t>
            </a:r>
          </a:p>
          <a:p>
            <a:r>
              <a:rPr lang="en-US" dirty="0"/>
              <a:t>We have a </a:t>
            </a:r>
            <a:r>
              <a:rPr lang="en-US" b="1" dirty="0"/>
              <a:t>continuous function</a:t>
            </a:r>
            <a:r>
              <a:rPr lang="en-US" dirty="0"/>
              <a:t> — that’s the </a:t>
            </a:r>
            <a:r>
              <a:rPr lang="en-US" dirty="0" err="1"/>
              <a:t>sinc</a:t>
            </a:r>
            <a:r>
              <a:rPr lang="en-US" dirty="0"/>
              <a:t> — multiplying a series of impulses that are sampling the original function at regular intervals.</a:t>
            </a:r>
          </a:p>
          <a:p>
            <a:r>
              <a:rPr lang="en-US" dirty="0"/>
              <a:t>This is the </a:t>
            </a:r>
            <a:r>
              <a:rPr lang="en-US" b="1" dirty="0"/>
              <a:t>essence of the sampling process</a:t>
            </a:r>
            <a:r>
              <a:rPr lang="en-US" dirty="0"/>
              <a:t>.</a:t>
            </a:r>
          </a:p>
          <a:p>
            <a:r>
              <a:rPr lang="en-US" dirty="0"/>
              <a:t>The function f of t is being sampled at every t equals k over P, and the result is a series of weighted </a:t>
            </a:r>
            <a:r>
              <a:rPr lang="en-US" dirty="0" err="1"/>
              <a:t>sinc</a:t>
            </a:r>
            <a:r>
              <a:rPr lang="en-US" dirty="0"/>
              <a:t> functions. Each one is centered at t equals k over P and scaled by the corresponding sample value, f of k over P.</a:t>
            </a:r>
          </a:p>
          <a:p>
            <a:r>
              <a:rPr lang="en-US" dirty="0"/>
              <a:t>And that brings us to the final expression:</a:t>
            </a:r>
          </a:p>
          <a:p>
            <a:r>
              <a:rPr lang="en-US" dirty="0"/>
              <a:t>f of t equals the sum from k equals minus infinity to infinity of f of k over P, multiplied by </a:t>
            </a:r>
            <a:r>
              <a:rPr lang="en-US" dirty="0" err="1"/>
              <a:t>sinc</a:t>
            </a:r>
            <a:r>
              <a:rPr lang="en-US" dirty="0"/>
              <a:t> of pi P times t minus k over P, divided by pi P times t minus k over P.</a:t>
            </a:r>
          </a:p>
          <a:p>
            <a:r>
              <a:rPr lang="en-US" dirty="0"/>
              <a:t>That’s the </a:t>
            </a:r>
            <a:r>
              <a:rPr lang="en-US" b="1" dirty="0"/>
              <a:t>sampling theorem</a:t>
            </a:r>
            <a:r>
              <a:rPr lang="en-US" dirty="0"/>
              <a:t>.</a:t>
            </a:r>
          </a:p>
          <a:p>
            <a:endParaRPr lang="en-US" dirty="0"/>
          </a:p>
          <a:p>
            <a:r>
              <a:rPr lang="en-US" dirty="0"/>
              <a:t>It tells us that if a signal is band-limited — that is, its frequency content is restricted — then we can reconstruct the entire continuous-time signal exactly from its samples, as long as the sampling rate is high enough.</a:t>
            </a:r>
          </a:p>
          <a:p>
            <a:r>
              <a:rPr lang="en-US" dirty="0"/>
              <a:t>Each sample contributes a scaled </a:t>
            </a:r>
            <a:r>
              <a:rPr lang="en-US" dirty="0" err="1"/>
              <a:t>sinc</a:t>
            </a:r>
            <a:r>
              <a:rPr lang="en-US" dirty="0"/>
              <a:t> function, and the sum of all those </a:t>
            </a:r>
            <a:r>
              <a:rPr lang="en-US" dirty="0" err="1"/>
              <a:t>sinc</a:t>
            </a:r>
            <a:r>
              <a:rPr lang="en-US" dirty="0"/>
              <a:t> functions reconstructs the original signal.</a:t>
            </a:r>
          </a:p>
          <a:p>
            <a:r>
              <a:rPr lang="en-US" dirty="0"/>
              <a:t>This formula is both elegant and powerful — and it lies at the foundation of all modern digital signal processing.</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41</a:t>
            </a:fld>
            <a:endParaRPr lang="en-US"/>
          </a:p>
        </p:txBody>
      </p:sp>
    </p:spTree>
    <p:extLst>
      <p:ext uri="{BB962C8B-B14F-4D97-AF65-F5344CB8AC3E}">
        <p14:creationId xmlns:p14="http://schemas.microsoft.com/office/powerpoint/2010/main" val="9363918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step back now and look at how analog signals are converted to digital.</a:t>
            </a:r>
          </a:p>
          <a:p>
            <a:r>
              <a:rPr lang="en-US" dirty="0"/>
              <a:t>At the top, we have a smooth, continuous signal — this is your analog signal — represented here as </a:t>
            </a:r>
            <a:r>
              <a:rPr lang="en-US" i="1" dirty="0"/>
              <a:t>f of t</a:t>
            </a:r>
            <a:r>
              <a:rPr lang="en-US" dirty="0"/>
              <a:t>, where </a:t>
            </a:r>
            <a:r>
              <a:rPr lang="en-US" i="1" dirty="0"/>
              <a:t>t</a:t>
            </a:r>
            <a:r>
              <a:rPr lang="en-US" dirty="0"/>
              <a:t> is time.</a:t>
            </a:r>
          </a:p>
          <a:p>
            <a:endParaRPr lang="en-US" dirty="0"/>
          </a:p>
          <a:p>
            <a:r>
              <a:rPr lang="en-US" dirty="0"/>
              <a:t>Now, to digitize this signal, we begin with the process of </a:t>
            </a:r>
            <a:r>
              <a:rPr lang="en-US" b="1" dirty="0"/>
              <a:t>sampling</a:t>
            </a:r>
            <a:r>
              <a:rPr lang="en-US" dirty="0"/>
              <a:t>. In the middle plot, you see a train of delta functions — these are evenly spaced impulses in time. Each one of them marks a point where we will sample the analog signal.</a:t>
            </a:r>
          </a:p>
          <a:p>
            <a:endParaRPr lang="en-US" dirty="0"/>
          </a:p>
          <a:p>
            <a:r>
              <a:rPr lang="en-US" dirty="0"/>
              <a:t>Next, what do we do?</a:t>
            </a:r>
          </a:p>
          <a:p>
            <a:r>
              <a:rPr lang="en-US" dirty="0"/>
              <a:t>We multiply the continuous signal by this train of impulses. That’s shown in the bottom figure.</a:t>
            </a:r>
          </a:p>
          <a:p>
            <a:r>
              <a:rPr lang="en-US" dirty="0"/>
              <a:t>This multiplication essentially </a:t>
            </a:r>
            <a:r>
              <a:rPr lang="en-US" i="1" dirty="0"/>
              <a:t>picks out</a:t>
            </a:r>
            <a:r>
              <a:rPr lang="en-US" dirty="0"/>
              <a:t> the values of the original signal at those discrete time points — and sets everything else to zero. In other words, it’s like punching holes in the continuous function, keeping only the values at regular intervals.</a:t>
            </a:r>
          </a:p>
          <a:p>
            <a:r>
              <a:rPr lang="en-US" dirty="0"/>
              <a:t>The result is a </a:t>
            </a:r>
            <a:r>
              <a:rPr lang="en-US" b="1" dirty="0"/>
              <a:t>series of weighted impulses</a:t>
            </a:r>
            <a:r>
              <a:rPr lang="en-US" dirty="0"/>
              <a:t>, where the height of each spike corresponds to the signal’s value at that instant.</a:t>
            </a:r>
          </a:p>
          <a:p>
            <a:r>
              <a:rPr lang="en-US" dirty="0"/>
              <a:t>And this is the essence of analog-to-digital conversion.</a:t>
            </a:r>
          </a:p>
          <a:p>
            <a:endParaRPr lang="en-US" dirty="0"/>
          </a:p>
          <a:p>
            <a:r>
              <a:rPr lang="en-US" dirty="0"/>
              <a:t>We’ve turned a smooth, continuous-time signal into a discrete-time representation — something that can now be stored, processed, and transmitted digitally.</a:t>
            </a:r>
          </a:p>
          <a:p>
            <a:r>
              <a:rPr lang="en-US" dirty="0"/>
              <a:t>This is the first key step in digital signal processing — and it's entirely grounded in the mathematics of the sampling theorem we just discussed.</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42</a:t>
            </a:fld>
            <a:endParaRPr lang="en-US"/>
          </a:p>
        </p:txBody>
      </p:sp>
    </p:spTree>
    <p:extLst>
      <p:ext uri="{BB962C8B-B14F-4D97-AF65-F5344CB8AC3E}">
        <p14:creationId xmlns:p14="http://schemas.microsoft.com/office/powerpoint/2010/main" val="267339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focus on this final and very important step.</a:t>
            </a:r>
          </a:p>
          <a:p>
            <a:r>
              <a:rPr lang="en-US" dirty="0"/>
              <a:t>What you see here is the reconstruction formula — a powerful result that tells us how to </a:t>
            </a:r>
            <a:r>
              <a:rPr lang="en-US" b="1" dirty="0"/>
              <a:t>rebuild the original continuous-time signal</a:t>
            </a:r>
            <a:r>
              <a:rPr lang="en-US" dirty="0"/>
              <a:t>, </a:t>
            </a:r>
            <a:r>
              <a:rPr lang="en-US" i="1" dirty="0"/>
              <a:t>f of t</a:t>
            </a:r>
            <a:r>
              <a:rPr lang="en-US" dirty="0"/>
              <a:t>, from its discrete samples.</a:t>
            </a:r>
          </a:p>
          <a:p>
            <a:r>
              <a:rPr lang="en-US" dirty="0"/>
              <a:t>Here’s how it works.</a:t>
            </a:r>
          </a:p>
          <a:p>
            <a:endParaRPr lang="en-US" dirty="0"/>
          </a:p>
          <a:p>
            <a:r>
              <a:rPr lang="en-US" dirty="0"/>
              <a:t>We start with a set of sampled values. These are the values of </a:t>
            </a:r>
            <a:r>
              <a:rPr lang="en-US" i="1" dirty="0"/>
              <a:t>f of t</a:t>
            </a:r>
            <a:r>
              <a:rPr lang="en-US" dirty="0"/>
              <a:t> taken at regular intervals — specifically at times </a:t>
            </a:r>
            <a:r>
              <a:rPr lang="en-US" i="1" dirty="0"/>
              <a:t>k over P</a:t>
            </a:r>
            <a:r>
              <a:rPr lang="en-US" dirty="0"/>
              <a:t>. These are the points where our delta functions were placed during sampling.</a:t>
            </a:r>
          </a:p>
          <a:p>
            <a:endParaRPr lang="en-US" dirty="0"/>
          </a:p>
          <a:p>
            <a:r>
              <a:rPr lang="en-US" dirty="0"/>
              <a:t>Now, we take each of those sampled values — each </a:t>
            </a:r>
            <a:r>
              <a:rPr lang="en-US" i="1" dirty="0"/>
              <a:t>f of k over P</a:t>
            </a:r>
            <a:r>
              <a:rPr lang="en-US" dirty="0"/>
              <a:t> — and multiply it by a special function called the </a:t>
            </a:r>
            <a:r>
              <a:rPr lang="en-US" b="1" dirty="0" err="1"/>
              <a:t>sinc</a:t>
            </a:r>
            <a:r>
              <a:rPr lang="en-US" b="1" dirty="0"/>
              <a:t> function</a:t>
            </a:r>
            <a:r>
              <a:rPr lang="en-US" dirty="0"/>
              <a:t>. You can see it written here as </a:t>
            </a:r>
            <a:r>
              <a:rPr lang="en-US" i="1" dirty="0"/>
              <a:t>sine of pi times P times t minus k over P</a:t>
            </a:r>
            <a:r>
              <a:rPr lang="en-US" dirty="0"/>
              <a:t> divided by </a:t>
            </a:r>
            <a:r>
              <a:rPr lang="en-US" i="1" dirty="0"/>
              <a:t>pi times P times t minus k over P</a:t>
            </a:r>
            <a:r>
              <a:rPr lang="en-US" dirty="0"/>
              <a:t>.</a:t>
            </a:r>
          </a:p>
          <a:p>
            <a:r>
              <a:rPr lang="en-US" dirty="0"/>
              <a:t>This </a:t>
            </a:r>
            <a:r>
              <a:rPr lang="en-US" dirty="0" err="1"/>
              <a:t>sinc</a:t>
            </a:r>
            <a:r>
              <a:rPr lang="en-US" dirty="0"/>
              <a:t> function looks like a smooth oscillating wave that decays gradually away from its center. And what’s important is that it has the perfect shape to reconstruct smooth curves from discrete data points.</a:t>
            </a:r>
          </a:p>
          <a:p>
            <a:endParaRPr lang="en-US" dirty="0"/>
          </a:p>
          <a:p>
            <a:r>
              <a:rPr lang="en-US" dirty="0"/>
              <a:t>Now here’s the key idea.</a:t>
            </a:r>
          </a:p>
          <a:p>
            <a:r>
              <a:rPr lang="en-US" dirty="0"/>
              <a:t>Each sampled value acts like a </a:t>
            </a:r>
            <a:r>
              <a:rPr lang="en-US" b="1" dirty="0"/>
              <a:t>weight</a:t>
            </a:r>
            <a:r>
              <a:rPr lang="en-US" dirty="0"/>
              <a:t>, and each weight generates a shifted copy of the </a:t>
            </a:r>
            <a:r>
              <a:rPr lang="en-US" dirty="0" err="1"/>
              <a:t>sinc</a:t>
            </a:r>
            <a:r>
              <a:rPr lang="en-US" dirty="0"/>
              <a:t> function centered at that sample point. So at </a:t>
            </a:r>
            <a:r>
              <a:rPr lang="en-US" i="1" dirty="0"/>
              <a:t>k over P</a:t>
            </a:r>
            <a:r>
              <a:rPr lang="en-US" dirty="0"/>
              <a:t>, we get a </a:t>
            </a:r>
            <a:r>
              <a:rPr lang="en-US" dirty="0" err="1"/>
              <a:t>sinc</a:t>
            </a:r>
            <a:r>
              <a:rPr lang="en-US" dirty="0"/>
              <a:t> function that peaks there, scaled by the sample value at that point.</a:t>
            </a:r>
          </a:p>
          <a:p>
            <a:r>
              <a:rPr lang="en-US" dirty="0"/>
              <a:t>Then we add up all these </a:t>
            </a:r>
            <a:r>
              <a:rPr lang="en-US" dirty="0" err="1"/>
              <a:t>sinc</a:t>
            </a:r>
            <a:r>
              <a:rPr lang="en-US" dirty="0"/>
              <a:t> functions — one for each sample.</a:t>
            </a:r>
          </a:p>
          <a:p>
            <a:endParaRPr lang="en-US" dirty="0"/>
          </a:p>
          <a:p>
            <a:r>
              <a:rPr lang="en-US" dirty="0"/>
              <a:t>The result? A continuous, smooth signal — which is exactly the original signal </a:t>
            </a:r>
            <a:r>
              <a:rPr lang="en-US" i="1" dirty="0"/>
              <a:t>f of t</a:t>
            </a:r>
            <a:r>
              <a:rPr lang="en-US" dirty="0"/>
              <a:t> that we started with.</a:t>
            </a:r>
          </a:p>
          <a:p>
            <a:r>
              <a:rPr lang="en-US" dirty="0"/>
              <a:t>This is how sampling and reconstruction come together. Each delta function "copies" the </a:t>
            </a:r>
            <a:r>
              <a:rPr lang="en-US" dirty="0" err="1"/>
              <a:t>sinc</a:t>
            </a:r>
            <a:r>
              <a:rPr lang="en-US" dirty="0"/>
              <a:t> function. Each copy is scaled by the corresponding sample value. And the sum of all these scaled </a:t>
            </a:r>
            <a:r>
              <a:rPr lang="en-US" dirty="0" err="1"/>
              <a:t>sinc</a:t>
            </a:r>
            <a:r>
              <a:rPr lang="en-US" dirty="0"/>
              <a:t> functions recreates the original analog signal.</a:t>
            </a:r>
          </a:p>
          <a:p>
            <a:r>
              <a:rPr lang="en-US" dirty="0"/>
              <a:t>So this final formula — this infinite sum — tells us something remarkable:</a:t>
            </a:r>
          </a:p>
          <a:p>
            <a:r>
              <a:rPr lang="en-US" dirty="0"/>
              <a:t>As long as we sample carefully, we can fully reconstruct a continuous signal from just its discrete samples.</a:t>
            </a:r>
          </a:p>
          <a:p>
            <a:r>
              <a:rPr lang="en-US" dirty="0"/>
              <a:t>That’s the beauty of the </a:t>
            </a:r>
            <a:r>
              <a:rPr lang="en-US" b="1" dirty="0"/>
              <a:t>sampling theorem</a:t>
            </a:r>
            <a:r>
              <a:rPr lang="en-US" dirty="0"/>
              <a:t>.</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43</a:t>
            </a:fld>
            <a:endParaRPr lang="en-US"/>
          </a:p>
        </p:txBody>
      </p:sp>
    </p:spTree>
    <p:extLst>
      <p:ext uri="{BB962C8B-B14F-4D97-AF65-F5344CB8AC3E}">
        <p14:creationId xmlns:p14="http://schemas.microsoft.com/office/powerpoint/2010/main" val="2103346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our discussion, let’s take a closer look at this final visual — it ties everything together beautifully.</a:t>
            </a:r>
          </a:p>
          <a:p>
            <a:r>
              <a:rPr lang="en-US" dirty="0"/>
              <a:t>At the top, we see a simple rectangular function, labeled </a:t>
            </a:r>
            <a:r>
              <a:rPr lang="en-US" i="1" dirty="0"/>
              <a:t>f of x</a:t>
            </a:r>
            <a:r>
              <a:rPr lang="en-US" dirty="0"/>
              <a:t>. It’s a block function centered at zero. Next to it is </a:t>
            </a:r>
            <a:r>
              <a:rPr lang="en-US" i="1" dirty="0"/>
              <a:t>h of x</a:t>
            </a:r>
            <a:r>
              <a:rPr lang="en-US" dirty="0"/>
              <a:t>, which is a train of two delta functions — one at minus a over two and the other at plus a over two. Their amplitudes are scaled by one-half.</a:t>
            </a:r>
          </a:p>
          <a:p>
            <a:endParaRPr lang="en-US" dirty="0"/>
          </a:p>
          <a:p>
            <a:r>
              <a:rPr lang="en-US" dirty="0"/>
              <a:t>Now, when we </a:t>
            </a:r>
            <a:r>
              <a:rPr lang="en-US" b="1" dirty="0"/>
              <a:t>convolve f of x with h of x</a:t>
            </a:r>
            <a:r>
              <a:rPr lang="en-US" dirty="0"/>
              <a:t>, the result — </a:t>
            </a:r>
            <a:r>
              <a:rPr lang="en-US" i="1" dirty="0"/>
              <a:t>g of x</a:t>
            </a:r>
            <a:r>
              <a:rPr lang="en-US" dirty="0"/>
              <a:t> — is essentially just </a:t>
            </a:r>
            <a:r>
              <a:rPr lang="en-US" b="1" dirty="0"/>
              <a:t>two shifted copies</a:t>
            </a:r>
            <a:r>
              <a:rPr lang="en-US" dirty="0"/>
              <a:t> of the original function. Each delta acts like a copying machine, reproducing </a:t>
            </a:r>
            <a:r>
              <a:rPr lang="en-US" i="1" dirty="0"/>
              <a:t>f of x</a:t>
            </a:r>
            <a:r>
              <a:rPr lang="en-US" dirty="0"/>
              <a:t> at the location of the delta. This is a perfect illustration of how convolution with delta functions results in replicated versions of a signal.</a:t>
            </a:r>
          </a:p>
          <a:p>
            <a:endParaRPr lang="en-US" dirty="0"/>
          </a:p>
          <a:p>
            <a:r>
              <a:rPr lang="en-US" dirty="0"/>
              <a:t>Now let’s look at the bottom half of the slide — we’re moving into the frequency domain.</a:t>
            </a:r>
          </a:p>
          <a:p>
            <a:r>
              <a:rPr lang="en-US" dirty="0"/>
              <a:t>The Fourier transform of the original block function, </a:t>
            </a:r>
            <a:r>
              <a:rPr lang="en-US" i="1" dirty="0"/>
              <a:t>f of x</a:t>
            </a:r>
            <a:r>
              <a:rPr lang="en-US" dirty="0"/>
              <a:t>, becomes a smooth </a:t>
            </a:r>
            <a:r>
              <a:rPr lang="en-US" dirty="0" err="1"/>
              <a:t>sinc</a:t>
            </a:r>
            <a:r>
              <a:rPr lang="en-US" dirty="0"/>
              <a:t>-like curve, </a:t>
            </a:r>
            <a:r>
              <a:rPr lang="en-US" i="1" dirty="0"/>
              <a:t>F of k</a:t>
            </a:r>
            <a:r>
              <a:rPr lang="en-US" dirty="0"/>
              <a:t>. The delta train, </a:t>
            </a:r>
            <a:r>
              <a:rPr lang="en-US" i="1" dirty="0"/>
              <a:t>h of x</a:t>
            </a:r>
            <a:r>
              <a:rPr lang="en-US" dirty="0"/>
              <a:t>, transforms into a cosine wave pattern, </a:t>
            </a:r>
            <a:r>
              <a:rPr lang="en-US" i="1" dirty="0"/>
              <a:t>H of k</a:t>
            </a:r>
            <a:r>
              <a:rPr lang="en-US" dirty="0"/>
              <a:t>. And the product in the frequency domain, </a:t>
            </a:r>
            <a:r>
              <a:rPr lang="en-US" i="1" dirty="0"/>
              <a:t>F of k times H of k</a:t>
            </a:r>
            <a:r>
              <a:rPr lang="en-US" dirty="0"/>
              <a:t>, gives us </a:t>
            </a:r>
            <a:r>
              <a:rPr lang="en-US" i="1" dirty="0"/>
              <a:t>G of k</a:t>
            </a:r>
            <a:r>
              <a:rPr lang="en-US" dirty="0"/>
              <a:t> — a modulated version of the original Fourier transform.</a:t>
            </a:r>
          </a:p>
          <a:p>
            <a:r>
              <a:rPr lang="en-US" dirty="0"/>
              <a:t>This shows us that </a:t>
            </a:r>
            <a:r>
              <a:rPr lang="en-US" b="1" dirty="0"/>
              <a:t>convolution in the time domain becomes multiplication in the frequency domain</a:t>
            </a:r>
            <a:r>
              <a:rPr lang="en-US" dirty="0"/>
              <a:t> — one of the central results of Fourier theory.</a:t>
            </a:r>
          </a:p>
          <a:p>
            <a:endParaRPr lang="en-US" dirty="0"/>
          </a:p>
          <a:p>
            <a:r>
              <a:rPr lang="en-US" dirty="0"/>
              <a:t>Now, relating this back to the </a:t>
            </a:r>
            <a:r>
              <a:rPr lang="en-US" b="1" dirty="0"/>
              <a:t>sampling theorem</a:t>
            </a:r>
            <a:r>
              <a:rPr lang="en-US" dirty="0"/>
              <a:t>...</a:t>
            </a:r>
          </a:p>
          <a:p>
            <a:r>
              <a:rPr lang="en-US" dirty="0"/>
              <a:t>When we sample a continuous signal, we are essentially multiplying it by a train of delta functions. In the time domain, this multiplication picks out the values at those sampling points. But in the frequency domain, it leads to </a:t>
            </a:r>
            <a:r>
              <a:rPr lang="en-US" b="1" dirty="0"/>
              <a:t>repetitions — or aliases — of the original spectrum</a:t>
            </a:r>
            <a:r>
              <a:rPr lang="en-US" dirty="0"/>
              <a:t>.</a:t>
            </a:r>
          </a:p>
          <a:p>
            <a:r>
              <a:rPr lang="en-US" dirty="0"/>
              <a:t>And when we reconstruct, we don't use the simple rectangle anymore — instead, we use the </a:t>
            </a:r>
            <a:r>
              <a:rPr lang="en-US" dirty="0" err="1"/>
              <a:t>sinc</a:t>
            </a:r>
            <a:r>
              <a:rPr lang="en-US" dirty="0"/>
              <a:t> function, which is the Fourier transform of an ideal low-pass filter. But the principle is the same: the delta functions trigger copies, and these copies are scaled by the actual sample values — </a:t>
            </a:r>
            <a:r>
              <a:rPr lang="en-US" i="1" dirty="0"/>
              <a:t>f of k over P</a:t>
            </a:r>
            <a:r>
              <a:rPr lang="en-US" dirty="0"/>
              <a:t>.</a:t>
            </a:r>
          </a:p>
          <a:p>
            <a:endParaRPr lang="en-US" dirty="0"/>
          </a:p>
          <a:p>
            <a:r>
              <a:rPr lang="en-US" dirty="0"/>
              <a:t>And here’s the key takeaway:</a:t>
            </a:r>
          </a:p>
          <a:p>
            <a:r>
              <a:rPr lang="en-US" dirty="0"/>
              <a:t>If we sample fast enough — meaning at more than twice the highest frequency in the original signal — and if the signal is band-limited, then all those </a:t>
            </a:r>
            <a:r>
              <a:rPr lang="en-US" dirty="0" err="1"/>
              <a:t>sinc</a:t>
            </a:r>
            <a:r>
              <a:rPr lang="en-US" dirty="0"/>
              <a:t> functions will line up perfectly, and </a:t>
            </a:r>
            <a:r>
              <a:rPr lang="en-US" b="1" dirty="0"/>
              <a:t>we can fully recover the original signal</a:t>
            </a:r>
            <a:r>
              <a:rPr lang="en-US" dirty="0"/>
              <a:t>.</a:t>
            </a:r>
          </a:p>
          <a:p>
            <a:r>
              <a:rPr lang="en-US" dirty="0"/>
              <a:t>That’s the heart of the sampling theorem. It’s not just an abstract formula — it’s a practical method that allows us to move between continuous and digital signals with full confidence.</a:t>
            </a:r>
          </a:p>
          <a:p>
            <a:endParaRPr lang="en-US" dirty="0"/>
          </a:p>
          <a:p>
            <a:r>
              <a:rPr lang="en-US" dirty="0"/>
              <a:t>This slide beautifully summarizes the theory. From delta copies to </a:t>
            </a:r>
            <a:r>
              <a:rPr lang="en-US" dirty="0" err="1"/>
              <a:t>sinc</a:t>
            </a:r>
            <a:r>
              <a:rPr lang="en-US" dirty="0"/>
              <a:t> reconstruction, it’s all about understanding how convolution builds signals piece by piece.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44</a:t>
            </a:fld>
            <a:endParaRPr lang="en-US"/>
          </a:p>
        </p:txBody>
      </p:sp>
    </p:spTree>
    <p:extLst>
      <p:ext uri="{BB962C8B-B14F-4D97-AF65-F5344CB8AC3E}">
        <p14:creationId xmlns:p14="http://schemas.microsoft.com/office/powerpoint/2010/main" val="16547872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dirty="0"/>
              <a:t>Let’s now take a moment to revisit a topic that you’ve likely seen before — linear systems.</a:t>
            </a:r>
          </a:p>
          <a:p>
            <a:endParaRPr lang="en-US" dirty="0"/>
          </a:p>
          <a:p>
            <a:r>
              <a:rPr lang="en-US" dirty="0"/>
              <a:t>Here, we’re looking at the classic equation: </a:t>
            </a:r>
            <a:r>
              <a:rPr lang="en-US" b="1" dirty="0"/>
              <a:t>A x equals b</a:t>
            </a:r>
            <a:r>
              <a:rPr lang="en-US" dirty="0"/>
              <a:t>.</a:t>
            </a:r>
            <a:br>
              <a:rPr lang="en-US" dirty="0"/>
            </a:br>
            <a:r>
              <a:rPr lang="en-US" dirty="0"/>
              <a:t>That’s a system of linear equations, where </a:t>
            </a:r>
            <a:r>
              <a:rPr lang="en-US" i="1" dirty="0"/>
              <a:t>A</a:t>
            </a:r>
            <a:r>
              <a:rPr lang="en-US" dirty="0"/>
              <a:t> is your matrix, </a:t>
            </a:r>
            <a:r>
              <a:rPr lang="en-US" i="1" dirty="0"/>
              <a:t>x</a:t>
            </a:r>
            <a:r>
              <a:rPr lang="en-US" dirty="0"/>
              <a:t> is the unknown vector, and </a:t>
            </a:r>
            <a:r>
              <a:rPr lang="en-US" i="1" dirty="0"/>
              <a:t>b</a:t>
            </a:r>
            <a:r>
              <a:rPr lang="en-US" dirty="0"/>
              <a:t> is the observed result or measurement.</a:t>
            </a:r>
          </a:p>
          <a:p>
            <a:r>
              <a:rPr lang="en-US" dirty="0"/>
              <a:t>Now, solving for </a:t>
            </a:r>
            <a:r>
              <a:rPr lang="en-US" i="1" dirty="0"/>
              <a:t>x</a:t>
            </a:r>
            <a:r>
              <a:rPr lang="en-US" dirty="0"/>
              <a:t> in this system is something you’ve probably done many times before — especially if you've worked through a textbook like </a:t>
            </a:r>
            <a:r>
              <a:rPr lang="en-US" i="1" dirty="0"/>
              <a:t>Elementary Linear Algebra</a:t>
            </a:r>
            <a:r>
              <a:rPr lang="en-US" dirty="0"/>
              <a:t> by Howard Anton, shown here.</a:t>
            </a:r>
          </a:p>
          <a:p>
            <a:endParaRPr lang="en-US" dirty="0"/>
          </a:p>
          <a:p>
            <a:r>
              <a:rPr lang="en-US" dirty="0"/>
              <a:t>But here's the key question for us:</a:t>
            </a:r>
            <a:br>
              <a:rPr lang="en-US" dirty="0"/>
            </a:br>
            <a:r>
              <a:rPr lang="en-US" b="1" dirty="0"/>
              <a:t>What if the unknown vector </a:t>
            </a:r>
            <a:r>
              <a:rPr lang="en-US" b="1" i="1" dirty="0"/>
              <a:t>x</a:t>
            </a:r>
            <a:r>
              <a:rPr lang="en-US" b="1" dirty="0"/>
              <a:t> is sparse?</a:t>
            </a:r>
            <a:endParaRPr lang="en-US" dirty="0"/>
          </a:p>
          <a:p>
            <a:r>
              <a:rPr lang="en-US" dirty="0"/>
              <a:t>In other words, what if most of the elements in </a:t>
            </a:r>
            <a:r>
              <a:rPr lang="en-US" i="1" dirty="0"/>
              <a:t>x</a:t>
            </a:r>
            <a:r>
              <a:rPr lang="en-US" dirty="0"/>
              <a:t> are actually zero — and only a few are nonzero?</a:t>
            </a:r>
          </a:p>
          <a:p>
            <a:r>
              <a:rPr lang="en-US" dirty="0"/>
              <a:t>This situation comes up a lot in modern signal processing and imaging. We no longer assume that a signal is densely sampled or has energy spread all over. Instead, we often find that signals have a </a:t>
            </a:r>
            <a:r>
              <a:rPr lang="en-US" b="1" dirty="0"/>
              <a:t>sparse structure</a:t>
            </a:r>
            <a:r>
              <a:rPr lang="en-US" dirty="0"/>
              <a:t>, especially when we represent them in a suitable basis, like wavelets or gradients.</a:t>
            </a:r>
          </a:p>
          <a:p>
            <a:endParaRPr lang="en-US" dirty="0"/>
          </a:p>
          <a:p>
            <a:r>
              <a:rPr lang="en-US" dirty="0"/>
              <a:t>Now, here’s where it gets really interesting — and this is where </a:t>
            </a:r>
            <a:r>
              <a:rPr lang="en-US" b="1" dirty="0"/>
              <a:t>modern theory breaks free from traditional Nyquist sampling</a:t>
            </a:r>
            <a:r>
              <a:rPr lang="en-US" dirty="0"/>
              <a:t>.</a:t>
            </a:r>
          </a:p>
          <a:p>
            <a:r>
              <a:rPr lang="en-US" dirty="0"/>
              <a:t>Instead of sampling a signal very densely — at twice its maximum frequency — we can </a:t>
            </a:r>
            <a:r>
              <a:rPr lang="en-US" b="1" dirty="0"/>
              <a:t>sample much more sparsely</a:t>
            </a:r>
            <a:r>
              <a:rPr lang="en-US" dirty="0"/>
              <a:t>, and still recover the full signal.</a:t>
            </a:r>
          </a:p>
          <a:p>
            <a:endParaRPr lang="en-US" dirty="0"/>
          </a:p>
          <a:p>
            <a:r>
              <a:rPr lang="en-US" dirty="0"/>
              <a:t>How?</a:t>
            </a:r>
          </a:p>
          <a:p>
            <a:r>
              <a:rPr lang="en-US" dirty="0"/>
              <a:t>We change our assumption.</a:t>
            </a:r>
            <a:br>
              <a:rPr lang="en-US" dirty="0"/>
            </a:br>
            <a:r>
              <a:rPr lang="en-US" dirty="0"/>
              <a:t>Instead of assuming the signal is band-limited, we assume it's </a:t>
            </a:r>
            <a:r>
              <a:rPr lang="en-US" b="1" dirty="0"/>
              <a:t>sparse in some transform domain</a:t>
            </a:r>
            <a:r>
              <a:rPr lang="en-US" dirty="0"/>
              <a:t>. Maybe it's sparse in the wavelet domain, or maybe the total variation is small — meaning the signal changes smoothly, or only has a few sharp transitions.</a:t>
            </a:r>
          </a:p>
          <a:p>
            <a:r>
              <a:rPr lang="en-US" dirty="0"/>
              <a:t>Then, among all possible solutions that match the measurements, we choose the sparsest one.</a:t>
            </a:r>
          </a:p>
          <a:p>
            <a:endParaRPr lang="en-US" dirty="0"/>
          </a:p>
          <a:p>
            <a:r>
              <a:rPr lang="en-US" dirty="0"/>
              <a:t>This is the idea behind </a:t>
            </a:r>
            <a:r>
              <a:rPr lang="en-US" b="1" dirty="0"/>
              <a:t>compressed sensing</a:t>
            </a:r>
            <a:r>
              <a:rPr lang="en-US" dirty="0"/>
              <a:t>, and it has revolutionized the way we think about sampling and recovery.</a:t>
            </a:r>
          </a:p>
          <a:p>
            <a:r>
              <a:rPr lang="en-US" dirty="0"/>
              <a:t>So that green button on the slide — it’s there to say: pause and think. This is a major shift in the traditional mindset. It opens the door to powerful new methods for signal reconstruction from limited data — especially in imaging and beyond.</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45</a:t>
            </a:fld>
            <a:endParaRPr lang="en-US"/>
          </a:p>
        </p:txBody>
      </p:sp>
    </p:spTree>
    <p:extLst>
      <p:ext uri="{BB962C8B-B14F-4D97-AF65-F5344CB8AC3E}">
        <p14:creationId xmlns:p14="http://schemas.microsoft.com/office/powerpoint/2010/main" val="3861523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dirty="0"/>
              <a:t>Let’s take a step further and talk about a powerful idea that shows up across science and engineering — and that’s </a:t>
            </a:r>
            <a:r>
              <a:rPr lang="en-US" b="1" dirty="0"/>
              <a:t>sparsity</a:t>
            </a:r>
            <a:r>
              <a:rPr lang="en-US" dirty="0"/>
              <a:t>.</a:t>
            </a:r>
          </a:p>
          <a:p>
            <a:r>
              <a:rPr lang="en-US" dirty="0"/>
              <a:t>You can see the green button here, which means this concept is important, but it’s okay if the details feel abstract for now. Just follow the intuition.</a:t>
            </a:r>
          </a:p>
          <a:p>
            <a:endParaRPr lang="en-US" dirty="0"/>
          </a:p>
          <a:p>
            <a:r>
              <a:rPr lang="en-US" dirty="0"/>
              <a:t>Traditionally, signal processing has focused on signals that are band-limited — which means their frequencies don’t go beyond a certain point. Based on that assumption, we rely on Nyquist sampling: sample at least twice the maximum frequency, and you can perfectly reconstruct the signal.</a:t>
            </a:r>
          </a:p>
          <a:p>
            <a:endParaRPr lang="en-US" dirty="0"/>
          </a:p>
          <a:p>
            <a:r>
              <a:rPr lang="en-US" dirty="0"/>
              <a:t>But what if we go beyond that assumption?</a:t>
            </a:r>
          </a:p>
          <a:p>
            <a:r>
              <a:rPr lang="en-US" dirty="0"/>
              <a:t>Modern theory says: </a:t>
            </a:r>
            <a:r>
              <a:rPr lang="en-US" i="1" dirty="0"/>
              <a:t>you don’t always need to sample that densely</a:t>
            </a:r>
            <a:r>
              <a:rPr lang="en-US" dirty="0"/>
              <a:t>. Instead of requiring a signal to be band-limited, we assume that it’s </a:t>
            </a:r>
            <a:r>
              <a:rPr lang="en-US" b="1" dirty="0"/>
              <a:t>sparse in some domain</a:t>
            </a:r>
            <a:r>
              <a:rPr lang="en-US" dirty="0"/>
              <a:t>. That means — in the right representation, most of the values are zero, or nearly zero.</a:t>
            </a:r>
          </a:p>
          <a:p>
            <a:r>
              <a:rPr lang="en-US" dirty="0"/>
              <a:t>Think about images. They may look complex, but when you apply a wavelet transform — like the ones shown in the graphics — most of the wavelet coefficients are close to zero. Only a few carry meaningful information. This is sparsity.</a:t>
            </a:r>
          </a:p>
          <a:p>
            <a:r>
              <a:rPr lang="en-US" dirty="0"/>
              <a:t>On the left, we have an illustration from the book </a:t>
            </a:r>
            <a:r>
              <a:rPr lang="en-US" i="1" dirty="0"/>
              <a:t>Wavelets in Physics</a:t>
            </a:r>
            <a:r>
              <a:rPr lang="en-US" dirty="0"/>
              <a:t>. It shows how signals in physics often exhibit localized spikes — sparse behavior. In the center and top-right, you see surfaces where most values are flat or close to zero, with just a few sharp peaks — again, sparse structure.</a:t>
            </a:r>
          </a:p>
          <a:p>
            <a:endParaRPr lang="en-US" dirty="0"/>
          </a:p>
          <a:p>
            <a:r>
              <a:rPr lang="en-US" dirty="0"/>
              <a:t>Even in biology — like the cellular structure of a leaf — patterns emerge that are spatially compact and repeated. This biological system, shown on the right, is highly structured and organized. And this kind of structure is often </a:t>
            </a:r>
            <a:r>
              <a:rPr lang="en-US" b="1" dirty="0"/>
              <a:t>sparse</a:t>
            </a:r>
            <a:r>
              <a:rPr lang="en-US" dirty="0"/>
              <a:t> when expressed in the right basis.</a:t>
            </a:r>
          </a:p>
          <a:p>
            <a:endParaRPr lang="en-US" dirty="0"/>
          </a:p>
          <a:p>
            <a:r>
              <a:rPr lang="en-US" dirty="0"/>
              <a:t>Now, here’s why sparsity matters.</a:t>
            </a:r>
          </a:p>
          <a:p>
            <a:r>
              <a:rPr lang="en-US" dirty="0"/>
              <a:t>If you don’t have enough measurements to fully determine a signal — that is, if your system is underdetermined — then infinitely many solutions could explain the data. But if you know the signal is sparse, you can ask: among all possible solutions, which one is the sparsest?</a:t>
            </a:r>
          </a:p>
          <a:p>
            <a:r>
              <a:rPr lang="en-US" dirty="0"/>
              <a:t>That’s the central idea behind compressed sensing.</a:t>
            </a:r>
          </a:p>
          <a:p>
            <a:r>
              <a:rPr lang="en-US" dirty="0"/>
              <a:t>By assuming sparsity, and by choosing the solution with the fewest nonzero components, you can accurately recover the original signal — even from very limited data.</a:t>
            </a:r>
          </a:p>
          <a:p>
            <a:endParaRPr lang="en-US" dirty="0"/>
          </a:p>
          <a:p>
            <a:r>
              <a:rPr lang="en-US" dirty="0"/>
              <a:t>So this concept — sparsity — is not just a mathematical trick. It’s something we see everywhere: in physics, in images, in biology, and in many natural and engineered systems. Recognizing it gives us a powerful way to reconstruct signals and solve problems more efficiently than ever before.</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46</a:t>
            </a:fld>
            <a:endParaRPr lang="en-US"/>
          </a:p>
        </p:txBody>
      </p:sp>
    </p:spTree>
    <p:extLst>
      <p:ext uri="{BB962C8B-B14F-4D97-AF65-F5344CB8AC3E}">
        <p14:creationId xmlns:p14="http://schemas.microsoft.com/office/powerpoint/2010/main" val="8187114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wrap up with the big picture.</a:t>
            </a:r>
          </a:p>
          <a:p>
            <a:endParaRPr lang="en-US" dirty="0"/>
          </a:p>
          <a:p>
            <a:r>
              <a:rPr lang="en-US" dirty="0"/>
              <a:t>This slide summarizes the key relationships between time and frequency domains — especially how signals and their spectra behave when we move from continuous to discrete representations.</a:t>
            </a:r>
          </a:p>
          <a:p>
            <a:r>
              <a:rPr lang="en-US" dirty="0"/>
              <a:t>At the very top left, we start with a continuous-time signal — a smooth pulse that exists over a limited time interval. On the right, we see its frequency content, also confined to a certain bandwidth.</a:t>
            </a:r>
          </a:p>
          <a:p>
            <a:endParaRPr lang="en-US" dirty="0"/>
          </a:p>
          <a:p>
            <a:r>
              <a:rPr lang="en-US" dirty="0"/>
              <a:t>Now, as we go down the slide, we perform sampling in time. That’s the red comb of vertical lines. We're picking values from the original signal at regular intervals — let’s say every delta t.</a:t>
            </a:r>
          </a:p>
          <a:p>
            <a:r>
              <a:rPr lang="en-US" dirty="0"/>
              <a:t>What does this do in the frequency domain?</a:t>
            </a:r>
          </a:p>
          <a:p>
            <a:r>
              <a:rPr lang="en-US" dirty="0"/>
              <a:t>It creates multiple copies of the spectrum, repeated again and again. This is called spectral replication. And if these replications don’t overlap, we can perfectly reconstruct the original signal.</a:t>
            </a:r>
          </a:p>
          <a:p>
            <a:r>
              <a:rPr lang="en-US" dirty="0"/>
              <a:t>That's the essence of the </a:t>
            </a:r>
            <a:r>
              <a:rPr lang="en-US" b="1" dirty="0"/>
              <a:t>sampling theorem</a:t>
            </a:r>
            <a:r>
              <a:rPr lang="en-US" dirty="0"/>
              <a:t> — to avoid distortion, we must sample fast enough, at least twice the highest frequency present in the signal.</a:t>
            </a:r>
          </a:p>
          <a:p>
            <a:endParaRPr lang="en-US" dirty="0"/>
          </a:p>
          <a:p>
            <a:r>
              <a:rPr lang="en-US" dirty="0"/>
              <a:t>Now, let’s look at the lower half of the slide.</a:t>
            </a:r>
          </a:p>
          <a:p>
            <a:r>
              <a:rPr lang="en-US" dirty="0"/>
              <a:t>Here, we’re sampling in the frequency domain instead. That’s shown by the green comb — regularly spaced frequency spikes.</a:t>
            </a:r>
          </a:p>
          <a:p>
            <a:r>
              <a:rPr lang="en-US" dirty="0"/>
              <a:t>What happens to the signal in the time domain?</a:t>
            </a:r>
          </a:p>
          <a:p>
            <a:r>
              <a:rPr lang="en-US" dirty="0"/>
              <a:t>It becomes periodic — the original signal now repeats over time, again and again.</a:t>
            </a:r>
          </a:p>
          <a:p>
            <a:endParaRPr lang="en-US" dirty="0"/>
          </a:p>
          <a:p>
            <a:r>
              <a:rPr lang="en-US" dirty="0"/>
              <a:t>So the big idea is this:</a:t>
            </a:r>
          </a:p>
          <a:p>
            <a:r>
              <a:rPr lang="en-US" dirty="0"/>
              <a:t>Sampling in time causes replication in frequency.</a:t>
            </a:r>
          </a:p>
          <a:p>
            <a:r>
              <a:rPr lang="en-US" dirty="0"/>
              <a:t>Sampling in frequency causes repetition in time.</a:t>
            </a:r>
          </a:p>
          <a:p>
            <a:r>
              <a:rPr lang="en-US" dirty="0"/>
              <a:t>These two processes mirror each other — one in time, the other in frequency. This duality is at the heart of signal processing.</a:t>
            </a:r>
          </a:p>
          <a:p>
            <a:r>
              <a:rPr lang="en-US" dirty="0"/>
              <a:t>Now, I know this diagram is dense, but if you walk through it carefully — step by step — you’ll see how everything we’ve covered comes together.</a:t>
            </a:r>
          </a:p>
          <a:p>
            <a:endParaRPr lang="en-US" dirty="0"/>
          </a:p>
          <a:p>
            <a:r>
              <a:rPr lang="en-US" dirty="0"/>
              <a:t>We’ll cover this in more detail on Friday. In the meantime, I suggest reviewing this flow using the lecture slides and working through the derivations.</a:t>
            </a:r>
          </a:p>
          <a:p>
            <a:r>
              <a:rPr lang="en-US" dirty="0"/>
              <a:t>Even if there are a few typos in the book chapter, don’t worry. The key ideas are all here. And if you’re curious, feel free to preview the next topic — the </a:t>
            </a:r>
            <a:r>
              <a:rPr lang="en-US" b="1" dirty="0"/>
              <a:t>Discrete Fourier Transform</a:t>
            </a:r>
            <a:r>
              <a:rPr lang="en-US" dirty="0"/>
              <a:t> — in the book as well.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47</a:t>
            </a:fld>
            <a:endParaRPr lang="en-US"/>
          </a:p>
        </p:txBody>
      </p:sp>
    </p:spTree>
    <p:extLst>
      <p:ext uri="{BB962C8B-B14F-4D97-AF65-F5344CB8AC3E}">
        <p14:creationId xmlns:p14="http://schemas.microsoft.com/office/powerpoint/2010/main" val="698766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24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24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24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24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42551609-7012-4524-8F91-CAEC89A8DA26}" type="slidenum">
              <a:rPr lang="en-US"/>
              <a:pPr/>
              <a:t>‹#›</a:t>
            </a:fld>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EC38EB37-9F67-488F-AFCB-318363D4DA79}" type="slidenum">
              <a:rPr lang="en-US"/>
              <a:pPr/>
              <a:t>‹#›</a:t>
            </a:fld>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fld id="{325EC937-4EEB-42FF-9745-F8ECC712C67B}" type="slidenum">
              <a:rPr lang="en-US"/>
              <a:pPr/>
              <a:t>‹#›</a:t>
            </a:fld>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fld id="{26E09F27-08E5-47E1-9081-CDEF6FA99715}" type="slidenum">
              <a:rPr lang="en-US"/>
              <a:pPr/>
              <a:t>‹#›</a:t>
            </a:fld>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fld id="{CC251E47-B223-48F4-A299-CE4A766087D6}" type="slidenum">
              <a:rPr lang="en-US"/>
              <a:pPr/>
              <a:t>‹#›</a:t>
            </a:fld>
            <a:endParaRPr 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5BB27830-E813-4D5B-BECC-EB4E76333BEB}" type="slidenum">
              <a:rPr lang="en-US"/>
              <a:pPr/>
              <a:t>‹#›</a:t>
            </a:fld>
            <a:endParaRPr 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8950E5CE-EF1E-495C-8D34-E9307ADFFB20}" type="slidenum">
              <a:rPr lang="en-US"/>
              <a:pPr/>
              <a:t>‹#›</a:t>
            </a:fld>
            <a:endParaRPr 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EDA7D03F-0D9F-4D6E-A9DA-DA22B08C88FB}" type="slidenum">
              <a:rPr lang="en-US"/>
              <a:pPr/>
              <a:t>‹#›</a:t>
            </a:fld>
            <a:endParaRPr 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5D488692-0FB6-433E-9CFB-08D03A34DD8A}" type="slidenum">
              <a:rPr lang="en-US"/>
              <a:pPr/>
              <a:t>‹#›</a:t>
            </a:fld>
            <a:endParaRPr lang="en-US">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pPr eaLnBrk="0" hangingPunct="0"/>
            <a:fld id="{7CB0FFF0-54BA-3647-A41C-5B9BFB72D9A1}" type="datetimeFigureOut">
              <a:rPr lang="en-US" smtClean="0">
                <a:solidFill>
                  <a:srgbClr val="000000"/>
                </a:solidFill>
                <a:latin typeface="Arial" charset="0"/>
                <a:cs typeface="+mn-cs"/>
              </a:rPr>
              <a:pPr eaLnBrk="0" hangingPunct="0"/>
              <a:t>8/19/2025</a:t>
            </a:fld>
            <a:endParaRPr lang="en-US">
              <a:solidFill>
                <a:srgbClr val="000000"/>
              </a:solidFill>
              <a:latin typeface="Arial" charset="0"/>
              <a:cs typeface="+mn-cs"/>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pPr eaLnBrk="0" hangingPunct="0"/>
            <a:endParaRPr lang="en-US">
              <a:solidFill>
                <a:srgbClr val="000000"/>
              </a:solidFill>
              <a:latin typeface="Arial" charset="0"/>
              <a:cs typeface="+mn-cs"/>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pPr eaLnBrk="0" hangingPunct="0"/>
            <a:fld id="{6C89A89B-94DB-104C-B520-29F91C44CDB5}" type="slidenum">
              <a:rPr lang="en-US" smtClean="0">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3583240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endParaRPr lang="en-US" sz="2400"/>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endParaRPr lang="en-US" sz="2400"/>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endParaRPr 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9.wmf"/><Relationship Id="rId3" Type="http://schemas.openxmlformats.org/officeDocument/2006/relationships/image" Target="../media/image14.png"/><Relationship Id="rId7" Type="http://schemas.openxmlformats.org/officeDocument/2006/relationships/image" Target="../media/image16.wmf"/><Relationship Id="rId12"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7.wmf"/><Relationship Id="rId1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9.wmf"/><Relationship Id="rId3" Type="http://schemas.openxmlformats.org/officeDocument/2006/relationships/image" Target="../media/image14.png"/><Relationship Id="rId7" Type="http://schemas.openxmlformats.org/officeDocument/2006/relationships/image" Target="../media/image16.wmf"/><Relationship Id="rId12"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7.wmf"/><Relationship Id="rId1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9.bin"/><Relationship Id="rId4" Type="http://schemas.openxmlformats.org/officeDocument/2006/relationships/image" Target="../media/image24.wmf"/></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gi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1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10.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9.png"/><Relationship Id="rId7" Type="http://schemas.openxmlformats.org/officeDocument/2006/relationships/oleObject" Target="../embeddings/oleObject13.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oleObject" Target="../embeddings/oleObject12.bin"/><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15.bin"/><Relationship Id="rId4" Type="http://schemas.openxmlformats.org/officeDocument/2006/relationships/image" Target="../media/image44.wmf"/><Relationship Id="rId9"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4.wmf"/></Relationships>
</file>

<file path=ppt/slides/_rels/slide34.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hyperlink" Target="http://www.google.com/url?sa=i&amp;rct=j&amp;q=sinusoidal+wave&amp;source=images&amp;cd=&amp;cad=rja&amp;docid=aUsZh2lnYft5UM&amp;tbnid=7QhmhKNFCB0h1M:&amp;ved=0CAUQjRw&amp;url=https://www.boundless.com/physics/waves-and-vibrations/wave-behavior-and-interaction/harmonic-wave-functions/&amp;ei=hgMeUpr9EMPc4AO0vYCABg&amp;bvm=bv.51156542,d.cWc&amp;psig=AFQjCNEbUtlbuc_9EF8GweDdFxk_9_tSPA&amp;ust=1377785026013464" TargetMode="External"/><Relationship Id="rId7" Type="http://schemas.openxmlformats.org/officeDocument/2006/relationships/oleObject" Target="../embeddings/oleObject16.bin"/><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14.bin"/><Relationship Id="rId4" Type="http://schemas.openxmlformats.org/officeDocument/2006/relationships/image" Target="../media/image48.jpe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5.png"/><Relationship Id="rId7" Type="http://schemas.openxmlformats.org/officeDocument/2006/relationships/image" Target="../media/image55.w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10.png"/><Relationship Id="rId4" Type="http://schemas.openxmlformats.org/officeDocument/2006/relationships/image" Target="../media/image36.png"/><Relationship Id="rId9" Type="http://schemas.openxmlformats.org/officeDocument/2006/relationships/image" Target="../media/image56.wmf"/></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7.wmf"/><Relationship Id="rId5" Type="http://schemas.openxmlformats.org/officeDocument/2006/relationships/oleObject" Target="../embeddings/oleObject19.bin"/><Relationship Id="rId4" Type="http://schemas.openxmlformats.org/officeDocument/2006/relationships/image" Target="../media/image31.emf"/></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gif"/><Relationship Id="rId4" Type="http://schemas.openxmlformats.org/officeDocument/2006/relationships/image" Target="../media/image61.jpeg"/></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400" b="1" dirty="0">
                <a:solidFill>
                  <a:schemeClr val="tx1"/>
                </a:solidFill>
              </a:rPr>
              <a:t>Lecture 7: Signal Processing</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41118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table with white text&#10;&#10;AI-generated content may be incorrect.">
            <a:extLst>
              <a:ext uri="{FF2B5EF4-FFF2-40B4-BE49-F238E27FC236}">
                <a16:creationId xmlns:a16="http://schemas.microsoft.com/office/drawing/2014/main" id="{3613088A-8C9D-818F-786C-EBC344CE3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6957" y="0"/>
            <a:ext cx="8918086" cy="6739467"/>
          </a:xfrm>
          <a:prstGeom prst="rect">
            <a:avLst/>
          </a:prstGeom>
        </p:spPr>
      </p:pic>
    </p:spTree>
    <p:extLst>
      <p:ext uri="{BB962C8B-B14F-4D97-AF65-F5344CB8AC3E}">
        <p14:creationId xmlns:p14="http://schemas.microsoft.com/office/powerpoint/2010/main" val="1764755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extLst>
              <p:ext uri="{D42A27DB-BD31-4B8C-83A1-F6EECF244321}">
                <p14:modId xmlns:p14="http://schemas.microsoft.com/office/powerpoint/2010/main" val="1248840861"/>
              </p:ext>
            </p:extLst>
          </p:nvPr>
        </p:nvGraphicFramePr>
        <p:xfrm>
          <a:off x="4963555" y="2403855"/>
          <a:ext cx="2123120" cy="1440307"/>
        </p:xfrm>
        <a:graphic>
          <a:graphicData uri="http://schemas.openxmlformats.org/presentationml/2006/ole">
            <mc:AlternateContent xmlns:mc="http://schemas.openxmlformats.org/markup-compatibility/2006">
              <mc:Choice xmlns:v="urn:schemas-microsoft-com:vml" Requires="v">
                <p:oleObj name="Equation" r:id="rId3" imgW="431640" imgH="291960" progId="Equation.DSMT4">
                  <p:embed/>
                </p:oleObj>
              </mc:Choice>
              <mc:Fallback>
                <p:oleObj name="Equation" r:id="rId3" imgW="431640" imgH="291960" progId="Equation.DSMT4">
                  <p:embed/>
                  <p:pic>
                    <p:nvPicPr>
                      <p:cNvPr id="3" name="Object 2"/>
                      <p:cNvPicPr>
                        <a:picLocks noChangeAspect="1" noChangeArrowheads="1"/>
                      </p:cNvPicPr>
                      <p:nvPr/>
                    </p:nvPicPr>
                    <p:blipFill>
                      <a:blip r:embed="rId4"/>
                      <a:srcRect/>
                      <a:stretch>
                        <a:fillRect/>
                      </a:stretch>
                    </p:blipFill>
                    <p:spPr bwMode="auto">
                      <a:xfrm>
                        <a:off x="4963555" y="2403855"/>
                        <a:ext cx="2123120" cy="1440307"/>
                      </a:xfrm>
                      <a:prstGeom prst="rect">
                        <a:avLst/>
                      </a:prstGeom>
                      <a:noFill/>
                      <a:ln>
                        <a:noFill/>
                      </a:ln>
                      <a:effectLst/>
                    </p:spPr>
                  </p:pic>
                </p:oleObj>
              </mc:Fallback>
            </mc:AlternateContent>
          </a:graphicData>
        </a:graphic>
      </p:graphicFrame>
      <p:sp>
        <p:nvSpPr>
          <p:cNvPr id="2" name="Oval 1"/>
          <p:cNvSpPr/>
          <p:nvPr/>
        </p:nvSpPr>
        <p:spPr bwMode="auto">
          <a:xfrm>
            <a:off x="4840078" y="1938970"/>
            <a:ext cx="2370077" cy="2370077"/>
          </a:xfrm>
          <a:prstGeom prst="ellipse">
            <a:avLst/>
          </a:prstGeom>
          <a:noFill/>
          <a:ln w="762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Logo for Foundation</a:t>
            </a:r>
            <a:endParaRPr lang="en-US" sz="4000" b="0" kern="0" dirty="0"/>
          </a:p>
        </p:txBody>
      </p:sp>
      <p:sp>
        <p:nvSpPr>
          <p:cNvPr id="5" name="Title 1"/>
          <p:cNvSpPr txBox="1">
            <a:spLocks/>
          </p:cNvSpPr>
          <p:nvPr/>
        </p:nvSpPr>
        <p:spPr>
          <a:xfrm>
            <a:off x="3754915" y="4682969"/>
            <a:ext cx="4660136" cy="52801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400" kern="0" dirty="0"/>
              <a:t>Operator Need to Shift &amp; Scale</a:t>
            </a:r>
          </a:p>
        </p:txBody>
      </p:sp>
    </p:spTree>
    <p:extLst>
      <p:ext uri="{BB962C8B-B14F-4D97-AF65-F5344CB8AC3E}">
        <p14:creationId xmlns:p14="http://schemas.microsoft.com/office/powerpoint/2010/main" val="1190438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 &amp; Transform</a:t>
            </a:r>
            <a:endParaRPr lang="en-US" sz="4000" b="0" kern="0" dirty="0"/>
          </a:p>
        </p:txBody>
      </p:sp>
      <p:pic>
        <p:nvPicPr>
          <p:cNvPr id="2" name="Picture 1"/>
          <p:cNvPicPr>
            <a:picLocks noChangeAspect="1"/>
          </p:cNvPicPr>
          <p:nvPr/>
        </p:nvPicPr>
        <p:blipFill>
          <a:blip r:embed="rId3"/>
          <a:stretch>
            <a:fillRect/>
          </a:stretch>
        </p:blipFill>
        <p:spPr>
          <a:xfrm>
            <a:off x="1623153" y="2680925"/>
            <a:ext cx="5242164" cy="1487641"/>
          </a:xfrm>
          <a:prstGeom prst="rect">
            <a:avLst/>
          </a:prstGeom>
        </p:spPr>
      </p:pic>
      <p:pic>
        <p:nvPicPr>
          <p:cNvPr id="5" name="Picture 4"/>
          <p:cNvPicPr>
            <a:picLocks noChangeAspect="1"/>
          </p:cNvPicPr>
          <p:nvPr/>
        </p:nvPicPr>
        <p:blipFill>
          <a:blip r:embed="rId4"/>
          <a:stretch>
            <a:fillRect/>
          </a:stretch>
        </p:blipFill>
        <p:spPr>
          <a:xfrm>
            <a:off x="1715725" y="1117842"/>
            <a:ext cx="8760550" cy="1723774"/>
          </a:xfrm>
          <a:prstGeom prst="rect">
            <a:avLst/>
          </a:prstGeom>
        </p:spPr>
      </p:pic>
      <p:pic>
        <p:nvPicPr>
          <p:cNvPr id="7" name="Picture 6"/>
          <p:cNvPicPr>
            <a:picLocks noChangeAspect="1"/>
          </p:cNvPicPr>
          <p:nvPr/>
        </p:nvPicPr>
        <p:blipFill>
          <a:blip r:embed="rId5"/>
          <a:stretch>
            <a:fillRect/>
          </a:stretch>
        </p:blipFill>
        <p:spPr>
          <a:xfrm>
            <a:off x="1715726" y="5495516"/>
            <a:ext cx="4668183" cy="1362484"/>
          </a:xfrm>
          <a:prstGeom prst="rect">
            <a:avLst/>
          </a:prstGeom>
        </p:spPr>
      </p:pic>
      <p:pic>
        <p:nvPicPr>
          <p:cNvPr id="8" name="Picture 7"/>
          <p:cNvPicPr>
            <a:picLocks noChangeAspect="1"/>
          </p:cNvPicPr>
          <p:nvPr/>
        </p:nvPicPr>
        <p:blipFill>
          <a:blip r:embed="rId6"/>
          <a:stretch>
            <a:fillRect/>
          </a:stretch>
        </p:blipFill>
        <p:spPr>
          <a:xfrm>
            <a:off x="1715725" y="4264243"/>
            <a:ext cx="4463996" cy="1263780"/>
          </a:xfrm>
          <a:prstGeom prst="rect">
            <a:avLst/>
          </a:prstGeom>
        </p:spPr>
      </p:pic>
      <p:pic>
        <p:nvPicPr>
          <p:cNvPr id="9" name="Picture 12" descr="http://www.magic-emoji.com/emoji/images/83_emoji_iphone_black_diamond_sui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800000">
            <a:off x="6741668" y="3071881"/>
            <a:ext cx="3648505" cy="364850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8"/>
          <a:stretch>
            <a:fillRect/>
          </a:stretch>
        </p:blipFill>
        <p:spPr>
          <a:xfrm>
            <a:off x="2349405" y="1636663"/>
            <a:ext cx="200025" cy="428625"/>
          </a:xfrm>
          <a:prstGeom prst="rect">
            <a:avLst/>
          </a:prstGeom>
        </p:spPr>
      </p:pic>
      <p:pic>
        <p:nvPicPr>
          <p:cNvPr id="10" name="Picture 9"/>
          <p:cNvPicPr>
            <a:picLocks noChangeAspect="1"/>
          </p:cNvPicPr>
          <p:nvPr/>
        </p:nvPicPr>
        <p:blipFill>
          <a:blip r:embed="rId8"/>
          <a:stretch>
            <a:fillRect/>
          </a:stretch>
        </p:blipFill>
        <p:spPr>
          <a:xfrm>
            <a:off x="9717853" y="1551105"/>
            <a:ext cx="200025" cy="428625"/>
          </a:xfrm>
          <a:prstGeom prst="rect">
            <a:avLst/>
          </a:prstGeom>
        </p:spPr>
      </p:pic>
      <p:sp>
        <p:nvSpPr>
          <p:cNvPr id="6" name="Rectangle 5"/>
          <p:cNvSpPr/>
          <p:nvPr/>
        </p:nvSpPr>
        <p:spPr bwMode="auto">
          <a:xfrm>
            <a:off x="3183108" y="1220865"/>
            <a:ext cx="4201865" cy="137911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33833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 Theorem</a:t>
            </a:r>
          </a:p>
        </p:txBody>
      </p:sp>
      <p:pic>
        <p:nvPicPr>
          <p:cNvPr id="4" name="Picture 3"/>
          <p:cNvPicPr>
            <a:picLocks noChangeAspect="1"/>
          </p:cNvPicPr>
          <p:nvPr/>
        </p:nvPicPr>
        <p:blipFill>
          <a:blip r:embed="rId3"/>
          <a:stretch>
            <a:fillRect/>
          </a:stretch>
        </p:blipFill>
        <p:spPr>
          <a:xfrm>
            <a:off x="591719" y="1390027"/>
            <a:ext cx="8916716" cy="2783790"/>
          </a:xfrm>
          <a:prstGeom prst="rect">
            <a:avLst/>
          </a:prstGeom>
        </p:spPr>
      </p:pic>
      <p:pic>
        <p:nvPicPr>
          <p:cNvPr id="5" name="Picture 4"/>
          <p:cNvPicPr>
            <a:picLocks noChangeAspect="1"/>
          </p:cNvPicPr>
          <p:nvPr/>
        </p:nvPicPr>
        <p:blipFill>
          <a:blip r:embed="rId4"/>
          <a:stretch>
            <a:fillRect/>
          </a:stretch>
        </p:blipFill>
        <p:spPr>
          <a:xfrm>
            <a:off x="835740" y="4697070"/>
            <a:ext cx="8372840" cy="1610161"/>
          </a:xfrm>
          <a:prstGeom prst="rect">
            <a:avLst/>
          </a:prstGeom>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30536" y="112415"/>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873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a:t>
            </a:r>
          </a:p>
        </p:txBody>
      </p:sp>
      <p:sp>
        <p:nvSpPr>
          <p:cNvPr id="3" name="Content Placeholder 2"/>
          <p:cNvSpPr>
            <a:spLocks noGrp="1"/>
          </p:cNvSpPr>
          <p:nvPr>
            <p:ph idx="1"/>
          </p:nvPr>
        </p:nvSpPr>
        <p:spPr>
          <a:xfrm>
            <a:off x="203200" y="1121343"/>
            <a:ext cx="8839200" cy="5584257"/>
          </a:xfrm>
        </p:spPr>
        <p:txBody>
          <a:bodyPr/>
          <a:lstStyle/>
          <a:p>
            <a:r>
              <a:rPr lang="en-US" sz="2400" dirty="0">
                <a:solidFill>
                  <a:srgbClr val="FF0000"/>
                </a:solidFill>
              </a:rPr>
              <a:t>For a shift-invariant linear system, a sinusoidal input will only generate a sinusoidal output at the same frequency. </a:t>
            </a:r>
            <a:r>
              <a:rPr lang="en-US" sz="2400" dirty="0"/>
              <a:t>Therefore, a convolution in the t-domain must be a multiplication in the Fourier domain.</a:t>
            </a:r>
          </a:p>
          <a:p>
            <a:endParaRPr lang="en-US" sz="2400" dirty="0"/>
          </a:p>
          <a:p>
            <a:r>
              <a:rPr lang="en-US" sz="2400" dirty="0">
                <a:solidFill>
                  <a:srgbClr val="0000FF"/>
                </a:solidFill>
              </a:rPr>
              <a:t>The above invariability only holds for sinusoidal functions. </a:t>
            </a:r>
            <a:r>
              <a:rPr lang="en-US" sz="2400" dirty="0"/>
              <a:t>Therefore, the convolution theorem exists only with the Fourier transform.</a:t>
            </a:r>
          </a:p>
          <a:p>
            <a:endParaRPr lang="en-US" sz="2400" dirty="0"/>
          </a:p>
          <a:p>
            <a:r>
              <a:rPr lang="en-US" sz="2400" dirty="0"/>
              <a:t>If you are interested, you could write a paper out of these comments.</a:t>
            </a:r>
          </a:p>
        </p:txBody>
      </p:sp>
      <p:pic>
        <p:nvPicPr>
          <p:cNvPr id="4" name="Picture 4" descr="http://www.wpclipart.com/blanks/buttons/round/button_round_gree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3930" y="5290844"/>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88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descr="http://www.wpclipart.com/blanks/buttons/round/button_round_gree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7443" y="5236301"/>
            <a:ext cx="1490954" cy="1490954"/>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p:cNvSpPr>
            <a:spLocks noGrp="1"/>
          </p:cNvSpPr>
          <p:nvPr>
            <p:ph idx="1"/>
          </p:nvPr>
        </p:nvSpPr>
        <p:spPr>
          <a:xfrm>
            <a:off x="568463" y="990601"/>
            <a:ext cx="8839200" cy="5584257"/>
          </a:xfrm>
        </p:spPr>
        <p:txBody>
          <a:bodyPr/>
          <a:lstStyle/>
          <a:p>
            <a:r>
              <a:rPr lang="en-US" sz="2400" dirty="0">
                <a:solidFill>
                  <a:srgbClr val="FF0000"/>
                </a:solidFill>
              </a:rPr>
              <a:t>For a shift-invariant linear system, a sinusoidal input will only generate a sinusoidal output at the same frequency. </a:t>
            </a:r>
          </a:p>
          <a:p>
            <a:endParaRPr lang="en-US" sz="2400" dirty="0">
              <a:solidFill>
                <a:srgbClr val="FF0000"/>
              </a:solidFill>
            </a:endParaRPr>
          </a:p>
          <a:p>
            <a:endParaRPr lang="en-US" sz="2400" dirty="0">
              <a:solidFill>
                <a:srgbClr val="FF0000"/>
              </a:solidFill>
            </a:endParaRPr>
          </a:p>
          <a:p>
            <a:endParaRPr lang="en-US" sz="2400" dirty="0">
              <a:solidFill>
                <a:srgbClr val="FF0000"/>
              </a:solidFill>
            </a:endParaRPr>
          </a:p>
          <a:p>
            <a:endParaRPr lang="en-US" sz="2400" dirty="0"/>
          </a:p>
          <a:p>
            <a:r>
              <a:rPr lang="en-US" sz="2400" dirty="0">
                <a:solidFill>
                  <a:srgbClr val="0000FF"/>
                </a:solidFill>
              </a:rPr>
              <a:t>The above invariability only holds for sinusoidal functions unless the impulse response is a delta function. </a:t>
            </a:r>
            <a:endParaRPr lang="en-US" sz="2400" dirty="0"/>
          </a:p>
        </p:txBody>
      </p:sp>
      <p:sp>
        <p:nvSpPr>
          <p:cNvPr id="2" name="Title 1"/>
          <p:cNvSpPr>
            <a:spLocks noGrp="1"/>
          </p:cNvSpPr>
          <p:nvPr>
            <p:ph type="title"/>
          </p:nvPr>
        </p:nvSpPr>
        <p:spPr/>
        <p:txBody>
          <a:bodyPr/>
          <a:lstStyle/>
          <a:p>
            <a:r>
              <a:rPr lang="en-US" dirty="0"/>
              <a:t>Why?</a:t>
            </a:r>
          </a:p>
        </p:txBody>
      </p:sp>
      <p:graphicFrame>
        <p:nvGraphicFramePr>
          <p:cNvPr id="4" name="Object 3"/>
          <p:cNvGraphicFramePr>
            <a:graphicFrameLocks noChangeAspect="1"/>
          </p:cNvGraphicFramePr>
          <p:nvPr>
            <p:extLst>
              <p:ext uri="{D42A27DB-BD31-4B8C-83A1-F6EECF244321}">
                <p14:modId xmlns:p14="http://schemas.microsoft.com/office/powerpoint/2010/main" val="2545843826"/>
              </p:ext>
            </p:extLst>
          </p:nvPr>
        </p:nvGraphicFramePr>
        <p:xfrm>
          <a:off x="2077113" y="2321816"/>
          <a:ext cx="4953000" cy="576262"/>
        </p:xfrm>
        <a:graphic>
          <a:graphicData uri="http://schemas.openxmlformats.org/presentationml/2006/ole">
            <mc:AlternateContent xmlns:mc="http://schemas.openxmlformats.org/markup-compatibility/2006">
              <mc:Choice xmlns:v="urn:schemas-microsoft-com:vml" Requires="v">
                <p:oleObj name="Equation" r:id="rId4" imgW="3288960" imgH="380880" progId="Equation.DSMT4">
                  <p:embed/>
                </p:oleObj>
              </mc:Choice>
              <mc:Fallback>
                <p:oleObj name="Equation" r:id="rId4" imgW="3288960" imgH="380880" progId="Equation.DSMT4">
                  <p:embed/>
                  <p:pic>
                    <p:nvPicPr>
                      <p:cNvPr id="3" name="Object 2"/>
                      <p:cNvPicPr>
                        <a:picLocks noChangeAspect="1" noChangeArrowheads="1"/>
                      </p:cNvPicPr>
                      <p:nvPr/>
                    </p:nvPicPr>
                    <p:blipFill>
                      <a:blip r:embed="rId5"/>
                      <a:srcRect/>
                      <a:stretch>
                        <a:fillRect/>
                      </a:stretch>
                    </p:blipFill>
                    <p:spPr bwMode="auto">
                      <a:xfrm>
                        <a:off x="2077113" y="2321816"/>
                        <a:ext cx="4953000" cy="576262"/>
                      </a:xfrm>
                      <a:prstGeom prst="rect">
                        <a:avLst/>
                      </a:prstGeom>
                      <a:noFill/>
                      <a:ln>
                        <a:noFill/>
                      </a:ln>
                      <a:effec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59970472"/>
              </p:ext>
            </p:extLst>
          </p:nvPr>
        </p:nvGraphicFramePr>
        <p:xfrm>
          <a:off x="1174354" y="1793358"/>
          <a:ext cx="6100763" cy="536575"/>
        </p:xfrm>
        <a:graphic>
          <a:graphicData uri="http://schemas.openxmlformats.org/presentationml/2006/ole">
            <mc:AlternateContent xmlns:mc="http://schemas.openxmlformats.org/markup-compatibility/2006">
              <mc:Choice xmlns:v="urn:schemas-microsoft-com:vml" Requires="v">
                <p:oleObj name="Equation" r:id="rId6" imgW="4051080" imgH="355320" progId="Equation.DSMT4">
                  <p:embed/>
                </p:oleObj>
              </mc:Choice>
              <mc:Fallback>
                <p:oleObj name="Equation" r:id="rId6" imgW="4051080" imgH="355320" progId="Equation.DSMT4">
                  <p:embed/>
                  <p:pic>
                    <p:nvPicPr>
                      <p:cNvPr id="4" name="Object 3"/>
                      <p:cNvPicPr>
                        <a:picLocks noChangeAspect="1" noChangeArrowheads="1"/>
                      </p:cNvPicPr>
                      <p:nvPr/>
                    </p:nvPicPr>
                    <p:blipFill>
                      <a:blip r:embed="rId7"/>
                      <a:srcRect/>
                      <a:stretch>
                        <a:fillRect/>
                      </a:stretch>
                    </p:blipFill>
                    <p:spPr bwMode="auto">
                      <a:xfrm>
                        <a:off x="1174354" y="1793358"/>
                        <a:ext cx="6100763" cy="536575"/>
                      </a:xfrm>
                      <a:prstGeom prst="rect">
                        <a:avLst/>
                      </a:prstGeom>
                      <a:noFill/>
                      <a:ln>
                        <a:noFill/>
                      </a:ln>
                      <a:effec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943418225"/>
              </p:ext>
            </p:extLst>
          </p:nvPr>
        </p:nvGraphicFramePr>
        <p:xfrm>
          <a:off x="959690" y="2889964"/>
          <a:ext cx="7210425" cy="576263"/>
        </p:xfrm>
        <a:graphic>
          <a:graphicData uri="http://schemas.openxmlformats.org/presentationml/2006/ole">
            <mc:AlternateContent xmlns:mc="http://schemas.openxmlformats.org/markup-compatibility/2006">
              <mc:Choice xmlns:v="urn:schemas-microsoft-com:vml" Requires="v">
                <p:oleObj name="Equation" r:id="rId8" imgW="4787640" imgH="380880" progId="Equation.DSMT4">
                  <p:embed/>
                </p:oleObj>
              </mc:Choice>
              <mc:Fallback>
                <p:oleObj name="Equation" r:id="rId8" imgW="4787640" imgH="380880" progId="Equation.DSMT4">
                  <p:embed/>
                  <p:pic>
                    <p:nvPicPr>
                      <p:cNvPr id="4" name="Object 3"/>
                      <p:cNvPicPr>
                        <a:picLocks noChangeAspect="1" noChangeArrowheads="1"/>
                      </p:cNvPicPr>
                      <p:nvPr/>
                    </p:nvPicPr>
                    <p:blipFill>
                      <a:blip r:embed="rId9"/>
                      <a:srcRect/>
                      <a:stretch>
                        <a:fillRect/>
                      </a:stretch>
                    </p:blipFill>
                    <p:spPr bwMode="auto">
                      <a:xfrm>
                        <a:off x="959690" y="2889964"/>
                        <a:ext cx="7210425" cy="576263"/>
                      </a:xfrm>
                      <a:prstGeom prst="rect">
                        <a:avLst/>
                      </a:prstGeom>
                      <a:noFill/>
                      <a:ln>
                        <a:noFill/>
                      </a:ln>
                      <a:effec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195892091"/>
              </p:ext>
            </p:extLst>
          </p:nvPr>
        </p:nvGraphicFramePr>
        <p:xfrm>
          <a:off x="1090217" y="4956264"/>
          <a:ext cx="6445250" cy="536575"/>
        </p:xfrm>
        <a:graphic>
          <a:graphicData uri="http://schemas.openxmlformats.org/presentationml/2006/ole">
            <mc:AlternateContent xmlns:mc="http://schemas.openxmlformats.org/markup-compatibility/2006">
              <mc:Choice xmlns:v="urn:schemas-microsoft-com:vml" Requires="v">
                <p:oleObj name="Equation" r:id="rId10" imgW="4279680" imgH="355320" progId="Equation.DSMT4">
                  <p:embed/>
                </p:oleObj>
              </mc:Choice>
              <mc:Fallback>
                <p:oleObj name="Equation" r:id="rId10" imgW="4279680" imgH="355320" progId="Equation.DSMT4">
                  <p:embed/>
                  <p:pic>
                    <p:nvPicPr>
                      <p:cNvPr id="5" name="Object 4"/>
                      <p:cNvPicPr>
                        <a:picLocks noChangeAspect="1" noChangeArrowheads="1"/>
                      </p:cNvPicPr>
                      <p:nvPr/>
                    </p:nvPicPr>
                    <p:blipFill>
                      <a:blip r:embed="rId11"/>
                      <a:srcRect/>
                      <a:stretch>
                        <a:fillRect/>
                      </a:stretch>
                    </p:blipFill>
                    <p:spPr bwMode="auto">
                      <a:xfrm>
                        <a:off x="1090217" y="4956264"/>
                        <a:ext cx="6445250" cy="536575"/>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813588544"/>
              </p:ext>
            </p:extLst>
          </p:nvPr>
        </p:nvGraphicFramePr>
        <p:xfrm>
          <a:off x="1915364" y="5542429"/>
          <a:ext cx="4111625" cy="536575"/>
        </p:xfrm>
        <a:graphic>
          <a:graphicData uri="http://schemas.openxmlformats.org/presentationml/2006/ole">
            <mc:AlternateContent xmlns:mc="http://schemas.openxmlformats.org/markup-compatibility/2006">
              <mc:Choice xmlns:v="urn:schemas-microsoft-com:vml" Requires="v">
                <p:oleObj name="Equation" r:id="rId12" imgW="2730240" imgH="355320" progId="Equation.DSMT4">
                  <p:embed/>
                </p:oleObj>
              </mc:Choice>
              <mc:Fallback>
                <p:oleObj name="Equation" r:id="rId12" imgW="2730240" imgH="355320" progId="Equation.DSMT4">
                  <p:embed/>
                  <p:pic>
                    <p:nvPicPr>
                      <p:cNvPr id="8" name="Object 7"/>
                      <p:cNvPicPr>
                        <a:picLocks noChangeAspect="1" noChangeArrowheads="1"/>
                      </p:cNvPicPr>
                      <p:nvPr/>
                    </p:nvPicPr>
                    <p:blipFill>
                      <a:blip r:embed="rId13"/>
                      <a:srcRect/>
                      <a:stretch>
                        <a:fillRect/>
                      </a:stretch>
                    </p:blipFill>
                    <p:spPr bwMode="auto">
                      <a:xfrm>
                        <a:off x="1915364" y="5542429"/>
                        <a:ext cx="4111625" cy="536575"/>
                      </a:xfrm>
                      <a:prstGeom prst="rect">
                        <a:avLst/>
                      </a:prstGeom>
                      <a:noFill/>
                      <a:ln>
                        <a:noFill/>
                      </a:ln>
                      <a:effec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384193581"/>
              </p:ext>
            </p:extLst>
          </p:nvPr>
        </p:nvGraphicFramePr>
        <p:xfrm>
          <a:off x="1957697" y="4395522"/>
          <a:ext cx="4035425" cy="538162"/>
        </p:xfrm>
        <a:graphic>
          <a:graphicData uri="http://schemas.openxmlformats.org/presentationml/2006/ole">
            <mc:AlternateContent xmlns:mc="http://schemas.openxmlformats.org/markup-compatibility/2006">
              <mc:Choice xmlns:v="urn:schemas-microsoft-com:vml" Requires="v">
                <p:oleObj name="Equation" r:id="rId14" imgW="2679480" imgH="355320" progId="Equation.DSMT4">
                  <p:embed/>
                </p:oleObj>
              </mc:Choice>
              <mc:Fallback>
                <p:oleObj name="Equation" r:id="rId14" imgW="2679480" imgH="355320" progId="Equation.DSMT4">
                  <p:embed/>
                  <p:pic>
                    <p:nvPicPr>
                      <p:cNvPr id="4" name="Object 3"/>
                      <p:cNvPicPr>
                        <a:picLocks noChangeAspect="1" noChangeArrowheads="1"/>
                      </p:cNvPicPr>
                      <p:nvPr/>
                    </p:nvPicPr>
                    <p:blipFill>
                      <a:blip r:embed="rId15"/>
                      <a:srcRect/>
                      <a:stretch>
                        <a:fillRect/>
                      </a:stretch>
                    </p:blipFill>
                    <p:spPr bwMode="auto">
                      <a:xfrm>
                        <a:off x="1957697" y="4395522"/>
                        <a:ext cx="4035425" cy="5381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8887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13944-D868-B51E-4EEC-69FC32E2E231}"/>
            </a:ext>
          </a:extLst>
        </p:cNvPr>
        <p:cNvGrpSpPr/>
        <p:nvPr/>
      </p:nvGrpSpPr>
      <p:grpSpPr>
        <a:xfrm>
          <a:off x="0" y="0"/>
          <a:ext cx="0" cy="0"/>
          <a:chOff x="0" y="0"/>
          <a:chExt cx="0" cy="0"/>
        </a:xfrm>
      </p:grpSpPr>
      <p:pic>
        <p:nvPicPr>
          <p:cNvPr id="14" name="Picture 4" descr="http://www.wpclipart.com/blanks/buttons/round/button_round_green.png">
            <a:extLst>
              <a:ext uri="{FF2B5EF4-FFF2-40B4-BE49-F238E27FC236}">
                <a16:creationId xmlns:a16="http://schemas.microsoft.com/office/drawing/2014/main" id="{69C6828F-8A95-F27C-DFA3-BAFB8C9ED1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5409" y="5236301"/>
            <a:ext cx="1490954" cy="1490954"/>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4593B5AE-BA01-0B91-A790-2164451F847B}"/>
              </a:ext>
            </a:extLst>
          </p:cNvPr>
          <p:cNvSpPr>
            <a:spLocks noGrp="1"/>
          </p:cNvSpPr>
          <p:nvPr>
            <p:ph idx="1"/>
          </p:nvPr>
        </p:nvSpPr>
        <p:spPr>
          <a:xfrm>
            <a:off x="356429" y="990601"/>
            <a:ext cx="8839200" cy="5584257"/>
          </a:xfrm>
        </p:spPr>
        <p:txBody>
          <a:bodyPr/>
          <a:lstStyle/>
          <a:p>
            <a:r>
              <a:rPr lang="en-US" sz="2400" dirty="0">
                <a:solidFill>
                  <a:srgbClr val="FF0000"/>
                </a:solidFill>
              </a:rPr>
              <a:t>For a shift-invariant linear system, a sinusoidal input will only generate a sinusoidal output at the same frequency. </a:t>
            </a:r>
          </a:p>
          <a:p>
            <a:endParaRPr lang="en-US" sz="2400" dirty="0">
              <a:solidFill>
                <a:srgbClr val="FF0000"/>
              </a:solidFill>
            </a:endParaRPr>
          </a:p>
          <a:p>
            <a:endParaRPr lang="en-US" sz="2400" dirty="0">
              <a:solidFill>
                <a:srgbClr val="FF0000"/>
              </a:solidFill>
            </a:endParaRPr>
          </a:p>
          <a:p>
            <a:endParaRPr lang="en-US" sz="2400" dirty="0">
              <a:solidFill>
                <a:srgbClr val="FF0000"/>
              </a:solidFill>
            </a:endParaRPr>
          </a:p>
          <a:p>
            <a:endParaRPr lang="en-US" sz="2400" dirty="0"/>
          </a:p>
          <a:p>
            <a:r>
              <a:rPr lang="en-US" sz="2400" dirty="0">
                <a:solidFill>
                  <a:srgbClr val="0000FF"/>
                </a:solidFill>
              </a:rPr>
              <a:t>The above invariability only holds for sinusoidal functions unless the impulse response is a delta function. </a:t>
            </a:r>
            <a:endParaRPr lang="en-US" sz="2400" dirty="0"/>
          </a:p>
        </p:txBody>
      </p:sp>
      <p:sp>
        <p:nvSpPr>
          <p:cNvPr id="2" name="Title 1">
            <a:extLst>
              <a:ext uri="{FF2B5EF4-FFF2-40B4-BE49-F238E27FC236}">
                <a16:creationId xmlns:a16="http://schemas.microsoft.com/office/drawing/2014/main" id="{5F82C02E-02C7-E5BE-C2EF-45D656C87351}"/>
              </a:ext>
            </a:extLst>
          </p:cNvPr>
          <p:cNvSpPr>
            <a:spLocks noGrp="1"/>
          </p:cNvSpPr>
          <p:nvPr>
            <p:ph type="title"/>
          </p:nvPr>
        </p:nvSpPr>
        <p:spPr/>
        <p:txBody>
          <a:bodyPr/>
          <a:lstStyle/>
          <a:p>
            <a:r>
              <a:rPr lang="en-US" dirty="0"/>
              <a:t>Why?</a:t>
            </a:r>
          </a:p>
        </p:txBody>
      </p:sp>
      <p:graphicFrame>
        <p:nvGraphicFramePr>
          <p:cNvPr id="4" name="Object 3">
            <a:extLst>
              <a:ext uri="{FF2B5EF4-FFF2-40B4-BE49-F238E27FC236}">
                <a16:creationId xmlns:a16="http://schemas.microsoft.com/office/drawing/2014/main" id="{8514EA79-CBAF-B7CE-98AD-B1D50EB56B0C}"/>
              </a:ext>
            </a:extLst>
          </p:cNvPr>
          <p:cNvGraphicFramePr>
            <a:graphicFrameLocks noChangeAspect="1"/>
          </p:cNvGraphicFramePr>
          <p:nvPr>
            <p:extLst>
              <p:ext uri="{D42A27DB-BD31-4B8C-83A1-F6EECF244321}">
                <p14:modId xmlns:p14="http://schemas.microsoft.com/office/powerpoint/2010/main" val="1537310361"/>
              </p:ext>
            </p:extLst>
          </p:nvPr>
        </p:nvGraphicFramePr>
        <p:xfrm>
          <a:off x="1865079" y="2321816"/>
          <a:ext cx="4953000" cy="576262"/>
        </p:xfrm>
        <a:graphic>
          <a:graphicData uri="http://schemas.openxmlformats.org/presentationml/2006/ole">
            <mc:AlternateContent xmlns:mc="http://schemas.openxmlformats.org/markup-compatibility/2006">
              <mc:Choice xmlns:v="urn:schemas-microsoft-com:vml" Requires="v">
                <p:oleObj name="Equation" r:id="rId4" imgW="3288960" imgH="380880" progId="Equation.DSMT4">
                  <p:embed/>
                </p:oleObj>
              </mc:Choice>
              <mc:Fallback>
                <p:oleObj name="Equation" r:id="rId4" imgW="3288960" imgH="380880" progId="Equation.DSMT4">
                  <p:embed/>
                  <p:pic>
                    <p:nvPicPr>
                      <p:cNvPr id="4" name="Object 3"/>
                      <p:cNvPicPr>
                        <a:picLocks noChangeAspect="1" noChangeArrowheads="1"/>
                      </p:cNvPicPr>
                      <p:nvPr/>
                    </p:nvPicPr>
                    <p:blipFill>
                      <a:blip r:embed="rId5"/>
                      <a:srcRect/>
                      <a:stretch>
                        <a:fillRect/>
                      </a:stretch>
                    </p:blipFill>
                    <p:spPr bwMode="auto">
                      <a:xfrm>
                        <a:off x="1865079" y="2321816"/>
                        <a:ext cx="4953000" cy="576262"/>
                      </a:xfrm>
                      <a:prstGeom prst="rect">
                        <a:avLst/>
                      </a:prstGeom>
                      <a:noFill/>
                      <a:ln>
                        <a:noFill/>
                      </a:ln>
                      <a:effectLst/>
                    </p:spPr>
                  </p:pic>
                </p:oleObj>
              </mc:Fallback>
            </mc:AlternateContent>
          </a:graphicData>
        </a:graphic>
      </p:graphicFrame>
      <p:graphicFrame>
        <p:nvGraphicFramePr>
          <p:cNvPr id="5" name="Object 4">
            <a:extLst>
              <a:ext uri="{FF2B5EF4-FFF2-40B4-BE49-F238E27FC236}">
                <a16:creationId xmlns:a16="http://schemas.microsoft.com/office/drawing/2014/main" id="{169EE74F-8AD6-ED4D-C836-D9126DF0E871}"/>
              </a:ext>
            </a:extLst>
          </p:cNvPr>
          <p:cNvGraphicFramePr>
            <a:graphicFrameLocks noChangeAspect="1"/>
          </p:cNvGraphicFramePr>
          <p:nvPr>
            <p:extLst>
              <p:ext uri="{D42A27DB-BD31-4B8C-83A1-F6EECF244321}">
                <p14:modId xmlns:p14="http://schemas.microsoft.com/office/powerpoint/2010/main" val="4199429333"/>
              </p:ext>
            </p:extLst>
          </p:nvPr>
        </p:nvGraphicFramePr>
        <p:xfrm>
          <a:off x="962320" y="1793358"/>
          <a:ext cx="6100763" cy="536575"/>
        </p:xfrm>
        <a:graphic>
          <a:graphicData uri="http://schemas.openxmlformats.org/presentationml/2006/ole">
            <mc:AlternateContent xmlns:mc="http://schemas.openxmlformats.org/markup-compatibility/2006">
              <mc:Choice xmlns:v="urn:schemas-microsoft-com:vml" Requires="v">
                <p:oleObj name="Equation" r:id="rId6" imgW="4051080" imgH="355320" progId="Equation.DSMT4">
                  <p:embed/>
                </p:oleObj>
              </mc:Choice>
              <mc:Fallback>
                <p:oleObj name="Equation" r:id="rId6" imgW="4051080" imgH="355320" progId="Equation.DSMT4">
                  <p:embed/>
                  <p:pic>
                    <p:nvPicPr>
                      <p:cNvPr id="5" name="Object 4"/>
                      <p:cNvPicPr>
                        <a:picLocks noChangeAspect="1" noChangeArrowheads="1"/>
                      </p:cNvPicPr>
                      <p:nvPr/>
                    </p:nvPicPr>
                    <p:blipFill>
                      <a:blip r:embed="rId7"/>
                      <a:srcRect/>
                      <a:stretch>
                        <a:fillRect/>
                      </a:stretch>
                    </p:blipFill>
                    <p:spPr bwMode="auto">
                      <a:xfrm>
                        <a:off x="962320" y="1793358"/>
                        <a:ext cx="6100763" cy="536575"/>
                      </a:xfrm>
                      <a:prstGeom prst="rect">
                        <a:avLst/>
                      </a:prstGeom>
                      <a:noFill/>
                      <a:ln>
                        <a:noFill/>
                      </a:ln>
                      <a:effectLst/>
                    </p:spPr>
                  </p:pic>
                </p:oleObj>
              </mc:Fallback>
            </mc:AlternateContent>
          </a:graphicData>
        </a:graphic>
      </p:graphicFrame>
      <p:graphicFrame>
        <p:nvGraphicFramePr>
          <p:cNvPr id="6" name="Object 5">
            <a:extLst>
              <a:ext uri="{FF2B5EF4-FFF2-40B4-BE49-F238E27FC236}">
                <a16:creationId xmlns:a16="http://schemas.microsoft.com/office/drawing/2014/main" id="{C5DFF94B-C790-3C47-302C-E18208A86732}"/>
              </a:ext>
            </a:extLst>
          </p:cNvPr>
          <p:cNvGraphicFramePr>
            <a:graphicFrameLocks noChangeAspect="1"/>
          </p:cNvGraphicFramePr>
          <p:nvPr>
            <p:extLst>
              <p:ext uri="{D42A27DB-BD31-4B8C-83A1-F6EECF244321}">
                <p14:modId xmlns:p14="http://schemas.microsoft.com/office/powerpoint/2010/main" val="1699737793"/>
              </p:ext>
            </p:extLst>
          </p:nvPr>
        </p:nvGraphicFramePr>
        <p:xfrm>
          <a:off x="747656" y="2889964"/>
          <a:ext cx="7210425" cy="576263"/>
        </p:xfrm>
        <a:graphic>
          <a:graphicData uri="http://schemas.openxmlformats.org/presentationml/2006/ole">
            <mc:AlternateContent xmlns:mc="http://schemas.openxmlformats.org/markup-compatibility/2006">
              <mc:Choice xmlns:v="urn:schemas-microsoft-com:vml" Requires="v">
                <p:oleObj name="Equation" r:id="rId8" imgW="4787640" imgH="380880" progId="Equation.DSMT4">
                  <p:embed/>
                </p:oleObj>
              </mc:Choice>
              <mc:Fallback>
                <p:oleObj name="Equation" r:id="rId8" imgW="4787640" imgH="380880" progId="Equation.DSMT4">
                  <p:embed/>
                  <p:pic>
                    <p:nvPicPr>
                      <p:cNvPr id="6" name="Object 5"/>
                      <p:cNvPicPr>
                        <a:picLocks noChangeAspect="1" noChangeArrowheads="1"/>
                      </p:cNvPicPr>
                      <p:nvPr/>
                    </p:nvPicPr>
                    <p:blipFill>
                      <a:blip r:embed="rId9"/>
                      <a:srcRect/>
                      <a:stretch>
                        <a:fillRect/>
                      </a:stretch>
                    </p:blipFill>
                    <p:spPr bwMode="auto">
                      <a:xfrm>
                        <a:off x="747656" y="2889964"/>
                        <a:ext cx="7210425" cy="576263"/>
                      </a:xfrm>
                      <a:prstGeom prst="rect">
                        <a:avLst/>
                      </a:prstGeom>
                      <a:noFill/>
                      <a:ln>
                        <a:noFill/>
                      </a:ln>
                      <a:effectLst/>
                    </p:spPr>
                  </p:pic>
                </p:oleObj>
              </mc:Fallback>
            </mc:AlternateContent>
          </a:graphicData>
        </a:graphic>
      </p:graphicFrame>
      <p:graphicFrame>
        <p:nvGraphicFramePr>
          <p:cNvPr id="8" name="Object 7">
            <a:extLst>
              <a:ext uri="{FF2B5EF4-FFF2-40B4-BE49-F238E27FC236}">
                <a16:creationId xmlns:a16="http://schemas.microsoft.com/office/drawing/2014/main" id="{7FC204A3-361F-3A40-88A4-BC385994E5E4}"/>
              </a:ext>
            </a:extLst>
          </p:cNvPr>
          <p:cNvGraphicFramePr>
            <a:graphicFrameLocks noChangeAspect="1"/>
          </p:cNvGraphicFramePr>
          <p:nvPr>
            <p:extLst>
              <p:ext uri="{D42A27DB-BD31-4B8C-83A1-F6EECF244321}">
                <p14:modId xmlns:p14="http://schemas.microsoft.com/office/powerpoint/2010/main" val="2263656165"/>
              </p:ext>
            </p:extLst>
          </p:nvPr>
        </p:nvGraphicFramePr>
        <p:xfrm>
          <a:off x="878183" y="4956264"/>
          <a:ext cx="6445250" cy="536575"/>
        </p:xfrm>
        <a:graphic>
          <a:graphicData uri="http://schemas.openxmlformats.org/presentationml/2006/ole">
            <mc:AlternateContent xmlns:mc="http://schemas.openxmlformats.org/markup-compatibility/2006">
              <mc:Choice xmlns:v="urn:schemas-microsoft-com:vml" Requires="v">
                <p:oleObj name="Equation" r:id="rId10" imgW="4279680" imgH="355320" progId="Equation.DSMT4">
                  <p:embed/>
                </p:oleObj>
              </mc:Choice>
              <mc:Fallback>
                <p:oleObj name="Equation" r:id="rId10" imgW="4279680" imgH="355320" progId="Equation.DSMT4">
                  <p:embed/>
                  <p:pic>
                    <p:nvPicPr>
                      <p:cNvPr id="8" name="Object 7"/>
                      <p:cNvPicPr>
                        <a:picLocks noChangeAspect="1" noChangeArrowheads="1"/>
                      </p:cNvPicPr>
                      <p:nvPr/>
                    </p:nvPicPr>
                    <p:blipFill>
                      <a:blip r:embed="rId11"/>
                      <a:srcRect/>
                      <a:stretch>
                        <a:fillRect/>
                      </a:stretch>
                    </p:blipFill>
                    <p:spPr bwMode="auto">
                      <a:xfrm>
                        <a:off x="878183" y="4956264"/>
                        <a:ext cx="6445250" cy="536575"/>
                      </a:xfrm>
                      <a:prstGeom prst="rect">
                        <a:avLst/>
                      </a:prstGeom>
                      <a:noFill/>
                      <a:ln>
                        <a:noFill/>
                      </a:ln>
                      <a:effectLst/>
                    </p:spPr>
                  </p:pic>
                </p:oleObj>
              </mc:Fallback>
            </mc:AlternateContent>
          </a:graphicData>
        </a:graphic>
      </p:graphicFrame>
      <p:graphicFrame>
        <p:nvGraphicFramePr>
          <p:cNvPr id="10" name="Object 9">
            <a:extLst>
              <a:ext uri="{FF2B5EF4-FFF2-40B4-BE49-F238E27FC236}">
                <a16:creationId xmlns:a16="http://schemas.microsoft.com/office/drawing/2014/main" id="{B302E803-422B-0771-EEC7-8F3F5DA88AA0}"/>
              </a:ext>
            </a:extLst>
          </p:cNvPr>
          <p:cNvGraphicFramePr>
            <a:graphicFrameLocks noChangeAspect="1"/>
          </p:cNvGraphicFramePr>
          <p:nvPr>
            <p:extLst>
              <p:ext uri="{D42A27DB-BD31-4B8C-83A1-F6EECF244321}">
                <p14:modId xmlns:p14="http://schemas.microsoft.com/office/powerpoint/2010/main" val="380874120"/>
              </p:ext>
            </p:extLst>
          </p:nvPr>
        </p:nvGraphicFramePr>
        <p:xfrm>
          <a:off x="1703330" y="5542429"/>
          <a:ext cx="4111625" cy="536575"/>
        </p:xfrm>
        <a:graphic>
          <a:graphicData uri="http://schemas.openxmlformats.org/presentationml/2006/ole">
            <mc:AlternateContent xmlns:mc="http://schemas.openxmlformats.org/markup-compatibility/2006">
              <mc:Choice xmlns:v="urn:schemas-microsoft-com:vml" Requires="v">
                <p:oleObj name="Equation" r:id="rId12" imgW="2730240" imgH="355320" progId="Equation.DSMT4">
                  <p:embed/>
                </p:oleObj>
              </mc:Choice>
              <mc:Fallback>
                <p:oleObj name="Equation" r:id="rId12" imgW="2730240" imgH="355320" progId="Equation.DSMT4">
                  <p:embed/>
                  <p:pic>
                    <p:nvPicPr>
                      <p:cNvPr id="10" name="Object 9"/>
                      <p:cNvPicPr>
                        <a:picLocks noChangeAspect="1" noChangeArrowheads="1"/>
                      </p:cNvPicPr>
                      <p:nvPr/>
                    </p:nvPicPr>
                    <p:blipFill>
                      <a:blip r:embed="rId13"/>
                      <a:srcRect/>
                      <a:stretch>
                        <a:fillRect/>
                      </a:stretch>
                    </p:blipFill>
                    <p:spPr bwMode="auto">
                      <a:xfrm>
                        <a:off x="1703330" y="5542429"/>
                        <a:ext cx="4111625" cy="536575"/>
                      </a:xfrm>
                      <a:prstGeom prst="rect">
                        <a:avLst/>
                      </a:prstGeom>
                      <a:noFill/>
                      <a:ln>
                        <a:noFill/>
                      </a:ln>
                      <a:effectLst/>
                    </p:spPr>
                  </p:pic>
                </p:oleObj>
              </mc:Fallback>
            </mc:AlternateContent>
          </a:graphicData>
        </a:graphic>
      </p:graphicFrame>
      <p:graphicFrame>
        <p:nvGraphicFramePr>
          <p:cNvPr id="13" name="Object 12">
            <a:extLst>
              <a:ext uri="{FF2B5EF4-FFF2-40B4-BE49-F238E27FC236}">
                <a16:creationId xmlns:a16="http://schemas.microsoft.com/office/drawing/2014/main" id="{56B8D758-762E-CE4C-072E-9D9D4F624DA7}"/>
              </a:ext>
            </a:extLst>
          </p:cNvPr>
          <p:cNvGraphicFramePr>
            <a:graphicFrameLocks noChangeAspect="1"/>
          </p:cNvGraphicFramePr>
          <p:nvPr>
            <p:extLst>
              <p:ext uri="{D42A27DB-BD31-4B8C-83A1-F6EECF244321}">
                <p14:modId xmlns:p14="http://schemas.microsoft.com/office/powerpoint/2010/main" val="3204640535"/>
              </p:ext>
            </p:extLst>
          </p:nvPr>
        </p:nvGraphicFramePr>
        <p:xfrm>
          <a:off x="1745663" y="4395522"/>
          <a:ext cx="4035425" cy="538162"/>
        </p:xfrm>
        <a:graphic>
          <a:graphicData uri="http://schemas.openxmlformats.org/presentationml/2006/ole">
            <mc:AlternateContent xmlns:mc="http://schemas.openxmlformats.org/markup-compatibility/2006">
              <mc:Choice xmlns:v="urn:schemas-microsoft-com:vml" Requires="v">
                <p:oleObj name="Equation" r:id="rId14" imgW="2679480" imgH="355320" progId="Equation.DSMT4">
                  <p:embed/>
                </p:oleObj>
              </mc:Choice>
              <mc:Fallback>
                <p:oleObj name="Equation" r:id="rId14" imgW="2679480" imgH="355320" progId="Equation.DSMT4">
                  <p:embed/>
                  <p:pic>
                    <p:nvPicPr>
                      <p:cNvPr id="13" name="Object 12"/>
                      <p:cNvPicPr>
                        <a:picLocks noChangeAspect="1" noChangeArrowheads="1"/>
                      </p:cNvPicPr>
                      <p:nvPr/>
                    </p:nvPicPr>
                    <p:blipFill>
                      <a:blip r:embed="rId15"/>
                      <a:srcRect/>
                      <a:stretch>
                        <a:fillRect/>
                      </a:stretch>
                    </p:blipFill>
                    <p:spPr bwMode="auto">
                      <a:xfrm>
                        <a:off x="1745663" y="4395522"/>
                        <a:ext cx="4035425" cy="5381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98223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Parseval's Identity</a:t>
            </a:r>
          </a:p>
        </p:txBody>
      </p:sp>
      <p:pic>
        <p:nvPicPr>
          <p:cNvPr id="4" name="Picture 3"/>
          <p:cNvPicPr>
            <a:picLocks noChangeAspect="1"/>
          </p:cNvPicPr>
          <p:nvPr/>
        </p:nvPicPr>
        <p:blipFill>
          <a:blip r:embed="rId3"/>
          <a:stretch>
            <a:fillRect/>
          </a:stretch>
        </p:blipFill>
        <p:spPr>
          <a:xfrm>
            <a:off x="1206778" y="990601"/>
            <a:ext cx="6790198" cy="1568947"/>
          </a:xfrm>
          <a:prstGeom prst="rect">
            <a:avLst/>
          </a:prstGeom>
        </p:spPr>
      </p:pic>
      <p:pic>
        <p:nvPicPr>
          <p:cNvPr id="3" name="Picture 2"/>
          <p:cNvPicPr>
            <a:picLocks noChangeAspect="1"/>
          </p:cNvPicPr>
          <p:nvPr/>
        </p:nvPicPr>
        <p:blipFill>
          <a:blip r:embed="rId4"/>
          <a:stretch>
            <a:fillRect/>
          </a:stretch>
        </p:blipFill>
        <p:spPr>
          <a:xfrm>
            <a:off x="247981" y="2638662"/>
            <a:ext cx="8966095" cy="4219339"/>
          </a:xfrm>
          <a:prstGeom prst="rect">
            <a:avLst/>
          </a:prstGeom>
        </p:spPr>
      </p:pic>
      <p:pic>
        <p:nvPicPr>
          <p:cNvPr id="5"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7232" y="2960973"/>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094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751" y="152400"/>
            <a:ext cx="8807041"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2344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838200"/>
          </a:xfrm>
        </p:spPr>
        <p:txBody>
          <a:bodyPr/>
          <a:lstStyle/>
          <a:p>
            <a:r>
              <a:rPr lang="en-US" dirty="0"/>
              <a:t>Representing a Continuous Function</a:t>
            </a:r>
          </a:p>
        </p:txBody>
      </p:sp>
      <p:sp>
        <p:nvSpPr>
          <p:cNvPr id="5" name="Rectangle 3"/>
          <p:cNvSpPr txBox="1">
            <a:spLocks noChangeArrowheads="1"/>
          </p:cNvSpPr>
          <p:nvPr/>
        </p:nvSpPr>
        <p:spPr bwMode="auto">
          <a:xfrm>
            <a:off x="815009" y="1102751"/>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r>
              <a:rPr lang="en-US" altLang="en-US" sz="2400" kern="0" dirty="0"/>
              <a:t>The product of the delta function and a continuous function </a:t>
            </a:r>
            <a:r>
              <a:rPr lang="en-US" altLang="en-US" sz="2400" i="1" kern="0" dirty="0"/>
              <a:t>f</a:t>
            </a:r>
            <a:r>
              <a:rPr lang="en-US" altLang="en-US" sz="2400" kern="0" dirty="0"/>
              <a:t> can be measured to give a unique result</a:t>
            </a:r>
          </a:p>
          <a:p>
            <a:endParaRPr lang="en-US" altLang="en-US" sz="2400" kern="0" dirty="0"/>
          </a:p>
          <a:p>
            <a:endParaRPr lang="en-US" altLang="en-US" sz="2400" kern="0" dirty="0"/>
          </a:p>
          <a:p>
            <a:endParaRPr lang="en-US" altLang="en-US" sz="2400" kern="0" dirty="0"/>
          </a:p>
          <a:p>
            <a:endParaRPr lang="en-US" altLang="en-US" sz="2400" kern="0" dirty="0"/>
          </a:p>
          <a:p>
            <a:endParaRPr lang="en-US" altLang="en-US" sz="2400" kern="0" dirty="0"/>
          </a:p>
          <a:p>
            <a:endParaRPr lang="en-US" altLang="en-US" sz="2400" kern="0" dirty="0"/>
          </a:p>
          <a:p>
            <a:pPr marL="0" indent="0">
              <a:buNone/>
            </a:pPr>
            <a:endParaRPr lang="en-US" altLang="en-US" sz="2400" kern="0" dirty="0"/>
          </a:p>
          <a:p>
            <a:r>
              <a:rPr lang="en-US" altLang="en-US" sz="2400" kern="0" dirty="0"/>
              <a:t>Therefore, a sample is recorded</a:t>
            </a:r>
            <a:endParaRPr lang="en-US" altLang="en-US" sz="2400" kern="0" dirty="0">
              <a:sym typeface="Symbol" panose="05050102010706020507" pitchFamily="18" charset="2"/>
            </a:endParaRPr>
          </a:p>
        </p:txBody>
      </p:sp>
      <p:graphicFrame>
        <p:nvGraphicFramePr>
          <p:cNvPr id="6" name="Object 10"/>
          <p:cNvGraphicFramePr>
            <a:graphicFrameLocks noChangeAspect="1"/>
          </p:cNvGraphicFramePr>
          <p:nvPr>
            <p:extLst>
              <p:ext uri="{D42A27DB-BD31-4B8C-83A1-F6EECF244321}">
                <p14:modId xmlns:p14="http://schemas.microsoft.com/office/powerpoint/2010/main" val="2342262323"/>
              </p:ext>
            </p:extLst>
          </p:nvPr>
        </p:nvGraphicFramePr>
        <p:xfrm>
          <a:off x="1404942" y="1904850"/>
          <a:ext cx="7315537" cy="3070275"/>
        </p:xfrm>
        <a:graphic>
          <a:graphicData uri="http://schemas.openxmlformats.org/presentationml/2006/ole">
            <mc:AlternateContent xmlns:mc="http://schemas.openxmlformats.org/markup-compatibility/2006">
              <mc:Choice xmlns:v="urn:schemas-microsoft-com:vml" Requires="v">
                <p:oleObj name="Equation" r:id="rId3" imgW="3987720" imgH="1676160" progId="Equation.3">
                  <p:embed/>
                </p:oleObj>
              </mc:Choice>
              <mc:Fallback>
                <p:oleObj name="Equation" r:id="rId3" imgW="3987720" imgH="1676160" progId="Equation.3">
                  <p:embed/>
                  <p:pic>
                    <p:nvPicPr>
                      <p:cNvPr id="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942" y="1904850"/>
                        <a:ext cx="7315537" cy="3070275"/>
                      </a:xfrm>
                      <a:prstGeom prst="rect">
                        <a:avLst/>
                      </a:prstGeom>
                      <a:noFill/>
                      <a:ln>
                        <a:noFill/>
                      </a:ln>
                      <a:effectLst/>
                    </p:spPr>
                  </p:pic>
                </p:oleObj>
              </mc:Fallback>
            </mc:AlternateContent>
          </a:graphicData>
        </a:graphic>
      </p:graphicFrame>
      <p:graphicFrame>
        <p:nvGraphicFramePr>
          <p:cNvPr id="7" name="Object 11"/>
          <p:cNvGraphicFramePr>
            <a:graphicFrameLocks noChangeAspect="1"/>
          </p:cNvGraphicFramePr>
          <p:nvPr>
            <p:extLst>
              <p:ext uri="{D42A27DB-BD31-4B8C-83A1-F6EECF244321}">
                <p14:modId xmlns:p14="http://schemas.microsoft.com/office/powerpoint/2010/main" val="2026689892"/>
              </p:ext>
            </p:extLst>
          </p:nvPr>
        </p:nvGraphicFramePr>
        <p:xfrm>
          <a:off x="1404941" y="5373332"/>
          <a:ext cx="3081338" cy="639763"/>
        </p:xfrm>
        <a:graphic>
          <a:graphicData uri="http://schemas.openxmlformats.org/presentationml/2006/ole">
            <mc:AlternateContent xmlns:mc="http://schemas.openxmlformats.org/markup-compatibility/2006">
              <mc:Choice xmlns:v="urn:schemas-microsoft-com:vml" Requires="v">
                <p:oleObj name="Equation" r:id="rId5" imgW="1587240" imgH="330120" progId="Equation.3">
                  <p:embed/>
                </p:oleObj>
              </mc:Choice>
              <mc:Fallback>
                <p:oleObj name="Equation" r:id="rId5" imgW="1587240" imgH="330120" progId="Equation.3">
                  <p:embed/>
                  <p:pic>
                    <p:nvPicPr>
                      <p:cNvPr id="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4941" y="5373332"/>
                        <a:ext cx="3081338"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2918288681"/>
              </p:ext>
            </p:extLst>
          </p:nvPr>
        </p:nvGraphicFramePr>
        <p:xfrm>
          <a:off x="5205110" y="5329420"/>
          <a:ext cx="3032125" cy="639762"/>
        </p:xfrm>
        <a:graphic>
          <a:graphicData uri="http://schemas.openxmlformats.org/presentationml/2006/ole">
            <mc:AlternateContent xmlns:mc="http://schemas.openxmlformats.org/markup-compatibility/2006">
              <mc:Choice xmlns:v="urn:schemas-microsoft-com:vml" Requires="v">
                <p:oleObj name="Equation" r:id="rId7" imgW="1562040" imgH="330120" progId="Equation.DSMT4">
                  <p:embed/>
                </p:oleObj>
              </mc:Choice>
              <mc:Fallback>
                <p:oleObj name="Equation" r:id="rId7" imgW="1562040" imgH="330120" progId="Equation.DSMT4">
                  <p:embed/>
                  <p:pic>
                    <p:nvPicPr>
                      <p:cNvPr id="8" name="Object 11"/>
                      <p:cNvPicPr>
                        <a:picLocks noChangeAspect="1" noChangeArrowheads="1"/>
                      </p:cNvPicPr>
                      <p:nvPr/>
                    </p:nvPicPr>
                    <p:blipFill>
                      <a:blip r:embed="rId8"/>
                      <a:srcRect/>
                      <a:stretch>
                        <a:fillRect/>
                      </a:stretch>
                    </p:blipFill>
                    <p:spPr bwMode="auto">
                      <a:xfrm>
                        <a:off x="5205110" y="5329420"/>
                        <a:ext cx="3032125"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Right Arrow 2"/>
          <p:cNvSpPr/>
          <p:nvPr/>
        </p:nvSpPr>
        <p:spPr bwMode="auto">
          <a:xfrm>
            <a:off x="4615177" y="5530980"/>
            <a:ext cx="461034" cy="324465"/>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887143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 Theorem</a:t>
            </a:r>
          </a:p>
        </p:txBody>
      </p:sp>
      <p:pic>
        <p:nvPicPr>
          <p:cNvPr id="4" name="Picture 2" descr="http://www4.uwsp.edu/physastr/kmenning/images/Hecht4.11.F.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784" y="1397919"/>
            <a:ext cx="7232921" cy="5101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813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83865" y="1307462"/>
            <a:ext cx="8238881" cy="3842348"/>
          </a:xfrm>
          <a:prstGeom prst="rect">
            <a:avLst/>
          </a:prstGeom>
        </p:spPr>
      </p:pic>
      <p:sp>
        <p:nvSpPr>
          <p:cNvPr id="4" name="Rectangle 2"/>
          <p:cNvSpPr txBox="1">
            <a:spLocks noChangeArrowheads="1"/>
          </p:cNvSpPr>
          <p:nvPr/>
        </p:nvSpPr>
        <p:spPr bwMode="auto">
          <a:xfrm>
            <a:off x="1676400" y="152400"/>
            <a:ext cx="88392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a:r>
              <a:rPr lang="en-US" altLang="en-US" sz="4000" b="1" kern="0" dirty="0"/>
              <a:t>Why Digital?</a:t>
            </a:r>
          </a:p>
        </p:txBody>
      </p:sp>
      <p:sp>
        <p:nvSpPr>
          <p:cNvPr id="6" name="Rectangle 2"/>
          <p:cNvSpPr txBox="1">
            <a:spLocks noChangeArrowheads="1"/>
          </p:cNvSpPr>
          <p:nvPr/>
        </p:nvSpPr>
        <p:spPr bwMode="auto">
          <a:xfrm>
            <a:off x="178906" y="5466673"/>
            <a:ext cx="88392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ctr"/>
            <a:r>
              <a:rPr lang="en-US" altLang="en-US" sz="2800" b="1" kern="0" dirty="0">
                <a:solidFill>
                  <a:srgbClr val="FF0000"/>
                </a:solidFill>
              </a:rPr>
              <a:t>Let’s Study How to Process Digital Signal Next!</a:t>
            </a:r>
          </a:p>
        </p:txBody>
      </p:sp>
    </p:spTree>
    <p:extLst>
      <p:ext uri="{BB962C8B-B14F-4D97-AF65-F5344CB8AC3E}">
        <p14:creationId xmlns:p14="http://schemas.microsoft.com/office/powerpoint/2010/main" val="1200246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Into Computer</a:t>
            </a:r>
          </a:p>
        </p:txBody>
      </p:sp>
      <p:pic>
        <p:nvPicPr>
          <p:cNvPr id="43010" name="Picture 2" descr="http://wiki.genexus.com/commwiki/servlet/apgetwikiimage?169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57300"/>
            <a:ext cx="8810625" cy="4343400"/>
          </a:xfrm>
          <a:prstGeom prst="rect">
            <a:avLst/>
          </a:prstGeom>
          <a:noFill/>
          <a:extLst>
            <a:ext uri="{909E8E84-426E-40DD-AFC4-6F175D3DCCD1}">
              <a14:hiddenFill xmlns:a14="http://schemas.microsoft.com/office/drawing/2010/main">
                <a:solidFill>
                  <a:srgbClr val="FFFFFF"/>
                </a:solidFill>
              </a14:hiddenFill>
            </a:ext>
          </a:extLst>
        </p:spPr>
      </p:pic>
      <p:pic>
        <p:nvPicPr>
          <p:cNvPr id="99330" name="Picture 2" descr="http://www.infoplease.com/images/ESCI140SAMPLI00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625" y="1326911"/>
            <a:ext cx="3392228" cy="3053005"/>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CF606525-201A-96A6-5621-54303E76247B}"/>
              </a:ext>
            </a:extLst>
          </p:cNvPr>
          <p:cNvSpPr/>
          <p:nvPr/>
        </p:nvSpPr>
        <p:spPr bwMode="auto">
          <a:xfrm rot="19800000">
            <a:off x="6289438" y="2963682"/>
            <a:ext cx="3489793" cy="508219"/>
          </a:xfrm>
          <a:prstGeom prst="leftArrow">
            <a:avLst/>
          </a:prstGeom>
          <a:solidFill>
            <a:srgbClr val="FF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1800" dirty="0" err="1"/>
          </a:p>
        </p:txBody>
      </p:sp>
    </p:spTree>
    <p:extLst>
      <p:ext uri="{BB962C8B-B14F-4D97-AF65-F5344CB8AC3E}">
        <p14:creationId xmlns:p14="http://schemas.microsoft.com/office/powerpoint/2010/main" val="350795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to Digital</a:t>
            </a:r>
          </a:p>
        </p:txBody>
      </p:sp>
      <p:graphicFrame>
        <p:nvGraphicFramePr>
          <p:cNvPr id="4" name="Object 3"/>
          <p:cNvGraphicFramePr>
            <a:graphicFrameLocks noChangeAspect="1"/>
          </p:cNvGraphicFramePr>
          <p:nvPr/>
        </p:nvGraphicFramePr>
        <p:xfrm>
          <a:off x="3940516" y="990601"/>
          <a:ext cx="4310968" cy="5752931"/>
        </p:xfrm>
        <a:graphic>
          <a:graphicData uri="http://schemas.openxmlformats.org/presentationml/2006/ole">
            <mc:AlternateContent xmlns:mc="http://schemas.openxmlformats.org/markup-compatibility/2006">
              <mc:Choice xmlns:v="urn:schemas-microsoft-com:vml" Requires="v">
                <p:oleObj name="Visio" r:id="rId3" imgW="3305755" imgH="4409793" progId="Visio.Drawing.11">
                  <p:embed/>
                </p:oleObj>
              </mc:Choice>
              <mc:Fallback>
                <p:oleObj name="Visio" r:id="rId3" imgW="3305755" imgH="4409793" progId="Visio.Drawing.11">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0516" y="990601"/>
                        <a:ext cx="4310968" cy="575293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34487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9" descr="C:\Jolinda\fft stuff\sine_2_nodot.e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61" y="1231155"/>
            <a:ext cx="6883708" cy="512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Text Box 7"/>
          <p:cNvSpPr txBox="1">
            <a:spLocks noChangeArrowheads="1"/>
          </p:cNvSpPr>
          <p:nvPr/>
        </p:nvSpPr>
        <p:spPr bwMode="auto">
          <a:xfrm>
            <a:off x="6612836" y="5560369"/>
            <a:ext cx="1295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dirty="0">
                <a:latin typeface="+mn-lt"/>
              </a:rPr>
              <a:t>Second</a:t>
            </a:r>
          </a:p>
        </p:txBody>
      </p:sp>
      <p:sp>
        <p:nvSpPr>
          <p:cNvPr id="8" name="Title 1"/>
          <p:cNvSpPr txBox="1">
            <a:spLocks/>
          </p:cNvSpPr>
          <p:nvPr/>
        </p:nvSpPr>
        <p:spPr bwMode="auto">
          <a:xfrm>
            <a:off x="1676400" y="152400"/>
            <a:ext cx="88392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t>Continuous Wave</a:t>
            </a:r>
          </a:p>
        </p:txBody>
      </p:sp>
      <p:sp>
        <p:nvSpPr>
          <p:cNvPr id="9" name="Text Box 13"/>
          <p:cNvSpPr txBox="1">
            <a:spLocks noChangeArrowheads="1"/>
          </p:cNvSpPr>
          <p:nvPr/>
        </p:nvSpPr>
        <p:spPr bwMode="auto">
          <a:xfrm>
            <a:off x="3405810" y="1841757"/>
            <a:ext cx="1739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dirty="0">
                <a:latin typeface="+mn-lt"/>
              </a:rPr>
              <a:t>5*sin(2</a:t>
            </a:r>
            <a:r>
              <a:rPr lang="en-US" altLang="en-US" sz="2400" b="1" dirty="0">
                <a:latin typeface="+mn-lt"/>
                <a:sym typeface="Symbol" panose="05050102010706020507" pitchFamily="18" charset="2"/>
              </a:rPr>
              <a:t>4t)</a:t>
            </a:r>
            <a:endParaRPr lang="en-US" altLang="en-US" sz="2400" b="1" dirty="0">
              <a:latin typeface="+mn-lt"/>
            </a:endParaRPr>
          </a:p>
        </p:txBody>
      </p:sp>
    </p:spTree>
    <p:extLst>
      <p:ext uri="{BB962C8B-B14F-4D97-AF65-F5344CB8AC3E}">
        <p14:creationId xmlns:p14="http://schemas.microsoft.com/office/powerpoint/2010/main" val="2578120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0" descr="C:\Jolinda\fft stuff\sine_2_dot.e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74" y="1182751"/>
            <a:ext cx="6864626" cy="514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15"/>
          <p:cNvSpPr txBox="1">
            <a:spLocks noChangeArrowheads="1"/>
          </p:cNvSpPr>
          <p:nvPr/>
        </p:nvSpPr>
        <p:spPr bwMode="auto">
          <a:xfrm>
            <a:off x="1205542" y="6061212"/>
            <a:ext cx="60340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dirty="0">
                <a:latin typeface="+mn-lt"/>
              </a:rPr>
              <a:t>Frequency = 4 Hz, Rate = 256 Samples/s</a:t>
            </a:r>
          </a:p>
        </p:txBody>
      </p:sp>
      <p:sp>
        <p:nvSpPr>
          <p:cNvPr id="7175" name="Text Box 17"/>
          <p:cNvSpPr txBox="1">
            <a:spLocks noChangeArrowheads="1"/>
          </p:cNvSpPr>
          <p:nvPr/>
        </p:nvSpPr>
        <p:spPr bwMode="auto">
          <a:xfrm>
            <a:off x="6815891" y="5506030"/>
            <a:ext cx="1295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b="1" dirty="0">
                <a:latin typeface="+mn-lt"/>
              </a:rPr>
              <a:t>Second</a:t>
            </a:r>
          </a:p>
        </p:txBody>
      </p:sp>
      <p:sp>
        <p:nvSpPr>
          <p:cNvPr id="10" name="Title 1"/>
          <p:cNvSpPr txBox="1">
            <a:spLocks/>
          </p:cNvSpPr>
          <p:nvPr/>
        </p:nvSpPr>
        <p:spPr bwMode="auto">
          <a:xfrm>
            <a:off x="1676400" y="152400"/>
            <a:ext cx="88392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t>Well Sampled</a:t>
            </a:r>
          </a:p>
        </p:txBody>
      </p:sp>
    </p:spTree>
    <p:extLst>
      <p:ext uri="{BB962C8B-B14F-4D97-AF65-F5344CB8AC3E}">
        <p14:creationId xmlns:p14="http://schemas.microsoft.com/office/powerpoint/2010/main" val="300283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Jolinda\fft stuff\undersampled.e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948" y="1167643"/>
            <a:ext cx="6891130" cy="516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5"/>
          <p:cNvSpPr txBox="1">
            <a:spLocks noChangeArrowheads="1"/>
          </p:cNvSpPr>
          <p:nvPr/>
        </p:nvSpPr>
        <p:spPr bwMode="auto">
          <a:xfrm>
            <a:off x="79513" y="6335491"/>
            <a:ext cx="9144000" cy="400110"/>
          </a:xfrm>
          <a:prstGeom prst="rect">
            <a:avLst/>
          </a:prstGeom>
          <a:noFill/>
          <a:ln w="9525">
            <a:noFill/>
            <a:miter lim="800000"/>
            <a:headEnd/>
            <a:tailEnd/>
          </a:ln>
        </p:spPr>
        <p:txBody>
          <a:bodyPr>
            <a:spAutoFit/>
          </a:bodyPr>
          <a:lstStyle/>
          <a:p>
            <a:pPr algn="ctr" eaLnBrk="1" hangingPunct="1">
              <a:spcBef>
                <a:spcPct val="50000"/>
              </a:spcBef>
              <a:defRPr/>
            </a:pPr>
            <a:r>
              <a:rPr lang="en-US" sz="2000" b="1" dirty="0">
                <a:solidFill>
                  <a:srgbClr val="FF0000"/>
                </a:solidFill>
                <a:latin typeface="+mn-lt"/>
              </a:rPr>
              <a:t>Under-sampled signal can confuse you when reconstructed</a:t>
            </a:r>
          </a:p>
        </p:txBody>
      </p:sp>
      <p:sp>
        <p:nvSpPr>
          <p:cNvPr id="6" name="Title 1"/>
          <p:cNvSpPr txBox="1">
            <a:spLocks/>
          </p:cNvSpPr>
          <p:nvPr/>
        </p:nvSpPr>
        <p:spPr bwMode="auto">
          <a:xfrm>
            <a:off x="1676400" y="152400"/>
            <a:ext cx="88392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t>Under-sampled</a:t>
            </a:r>
          </a:p>
        </p:txBody>
      </p:sp>
    </p:spTree>
    <p:extLst>
      <p:ext uri="{BB962C8B-B14F-4D97-AF65-F5344CB8AC3E}">
        <p14:creationId xmlns:p14="http://schemas.microsoft.com/office/powerpoint/2010/main" val="3695107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dirty="0"/>
              <a:t>Continuous vs Discrete</a:t>
            </a:r>
          </a:p>
        </p:txBody>
      </p:sp>
      <p:grpSp>
        <p:nvGrpSpPr>
          <p:cNvPr id="5142" name="Group 22"/>
          <p:cNvGrpSpPr>
            <a:grpSpLocks/>
          </p:cNvGrpSpPr>
          <p:nvPr/>
        </p:nvGrpSpPr>
        <p:grpSpPr bwMode="auto">
          <a:xfrm>
            <a:off x="6884505" y="2279374"/>
            <a:ext cx="2438400" cy="2286000"/>
            <a:chOff x="3408" y="1920"/>
            <a:chExt cx="1536" cy="1440"/>
          </a:xfrm>
        </p:grpSpPr>
        <p:sp>
          <p:nvSpPr>
            <p:cNvPr id="5131" name="Line 11"/>
            <p:cNvSpPr>
              <a:spLocks noChangeShapeType="1"/>
            </p:cNvSpPr>
            <p:nvPr/>
          </p:nvSpPr>
          <p:spPr bwMode="auto">
            <a:xfrm flipV="1">
              <a:off x="3600" y="2496"/>
              <a:ext cx="0" cy="864"/>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33" name="Line 13"/>
            <p:cNvSpPr>
              <a:spLocks noChangeShapeType="1"/>
            </p:cNvSpPr>
            <p:nvPr/>
          </p:nvSpPr>
          <p:spPr bwMode="auto">
            <a:xfrm flipV="1">
              <a:off x="3792" y="2352"/>
              <a:ext cx="0" cy="1008"/>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34" name="Line 14"/>
            <p:cNvSpPr>
              <a:spLocks noChangeShapeType="1"/>
            </p:cNvSpPr>
            <p:nvPr/>
          </p:nvSpPr>
          <p:spPr bwMode="auto">
            <a:xfrm flipV="1">
              <a:off x="3984" y="2304"/>
              <a:ext cx="0" cy="105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35" name="Line 15"/>
            <p:cNvSpPr>
              <a:spLocks noChangeShapeType="1"/>
            </p:cNvSpPr>
            <p:nvPr/>
          </p:nvSpPr>
          <p:spPr bwMode="auto">
            <a:xfrm flipV="1">
              <a:off x="4176" y="2448"/>
              <a:ext cx="0" cy="912"/>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38" name="Line 18"/>
            <p:cNvSpPr>
              <a:spLocks noChangeShapeType="1"/>
            </p:cNvSpPr>
            <p:nvPr/>
          </p:nvSpPr>
          <p:spPr bwMode="auto">
            <a:xfrm flipV="1">
              <a:off x="4368" y="2736"/>
              <a:ext cx="0" cy="624"/>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39" name="Line 19"/>
            <p:cNvSpPr>
              <a:spLocks noChangeShapeType="1"/>
            </p:cNvSpPr>
            <p:nvPr/>
          </p:nvSpPr>
          <p:spPr bwMode="auto">
            <a:xfrm flipV="1">
              <a:off x="4560" y="2784"/>
              <a:ext cx="0" cy="57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40" name="Line 20"/>
            <p:cNvSpPr>
              <a:spLocks noChangeShapeType="1"/>
            </p:cNvSpPr>
            <p:nvPr/>
          </p:nvSpPr>
          <p:spPr bwMode="auto">
            <a:xfrm flipV="1">
              <a:off x="4752" y="2784"/>
              <a:ext cx="0" cy="57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28" name="Freeform 8"/>
            <p:cNvSpPr>
              <a:spLocks/>
            </p:cNvSpPr>
            <p:nvPr/>
          </p:nvSpPr>
          <p:spPr bwMode="auto">
            <a:xfrm>
              <a:off x="3408" y="1920"/>
              <a:ext cx="1536" cy="144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grpSp>
        <p:nvGrpSpPr>
          <p:cNvPr id="5141" name="Group 21"/>
          <p:cNvGrpSpPr>
            <a:grpSpLocks/>
          </p:cNvGrpSpPr>
          <p:nvPr/>
        </p:nvGrpSpPr>
        <p:grpSpPr bwMode="auto">
          <a:xfrm>
            <a:off x="2922105" y="2279374"/>
            <a:ext cx="2438400" cy="2286000"/>
            <a:chOff x="912" y="1920"/>
            <a:chExt cx="1536" cy="1440"/>
          </a:xfrm>
        </p:grpSpPr>
        <p:sp>
          <p:nvSpPr>
            <p:cNvPr id="5127" name="Freeform 7"/>
            <p:cNvSpPr>
              <a:spLocks/>
            </p:cNvSpPr>
            <p:nvPr/>
          </p:nvSpPr>
          <p:spPr bwMode="auto">
            <a:xfrm>
              <a:off x="912" y="2272"/>
              <a:ext cx="1536" cy="560"/>
            </a:xfrm>
            <a:custGeom>
              <a:avLst/>
              <a:gdLst>
                <a:gd name="T0" fmla="*/ 0 w 1536"/>
                <a:gd name="T1" fmla="*/ 400 h 560"/>
                <a:gd name="T2" fmla="*/ 576 w 1536"/>
                <a:gd name="T3" fmla="*/ 16 h 560"/>
                <a:gd name="T4" fmla="*/ 1056 w 1536"/>
                <a:gd name="T5" fmla="*/ 496 h 560"/>
                <a:gd name="T6" fmla="*/ 1536 w 1536"/>
                <a:gd name="T7" fmla="*/ 400 h 560"/>
              </a:gdLst>
              <a:ahLst/>
              <a:cxnLst>
                <a:cxn ang="0">
                  <a:pos x="T0" y="T1"/>
                </a:cxn>
                <a:cxn ang="0">
                  <a:pos x="T2" y="T3"/>
                </a:cxn>
                <a:cxn ang="0">
                  <a:pos x="T4" y="T5"/>
                </a:cxn>
                <a:cxn ang="0">
                  <a:pos x="T6" y="T7"/>
                </a:cxn>
              </a:cxnLst>
              <a:rect l="0" t="0" r="r" b="b"/>
              <a:pathLst>
                <a:path w="1536" h="560">
                  <a:moveTo>
                    <a:pt x="0" y="400"/>
                  </a:moveTo>
                  <a:cubicBezTo>
                    <a:pt x="200" y="200"/>
                    <a:pt x="400" y="0"/>
                    <a:pt x="576" y="16"/>
                  </a:cubicBezTo>
                  <a:cubicBezTo>
                    <a:pt x="752" y="32"/>
                    <a:pt x="896" y="432"/>
                    <a:pt x="1056" y="496"/>
                  </a:cubicBezTo>
                  <a:cubicBezTo>
                    <a:pt x="1216" y="560"/>
                    <a:pt x="1376" y="480"/>
                    <a:pt x="1536" y="400"/>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5126" name="Freeform 6"/>
            <p:cNvSpPr>
              <a:spLocks/>
            </p:cNvSpPr>
            <p:nvPr/>
          </p:nvSpPr>
          <p:spPr bwMode="auto">
            <a:xfrm>
              <a:off x="912" y="1920"/>
              <a:ext cx="1536" cy="144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5144" name="Text Box 24"/>
          <p:cNvSpPr txBox="1">
            <a:spLocks noChangeArrowheads="1"/>
          </p:cNvSpPr>
          <p:nvPr/>
        </p:nvSpPr>
        <p:spPr bwMode="auto">
          <a:xfrm>
            <a:off x="5697055" y="3162025"/>
            <a:ext cx="850900" cy="1015663"/>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6000" b="1" dirty="0">
                <a:latin typeface="ZapfHumnst BT" pitchFamily="34" charset="0"/>
                <a:sym typeface="Symbol" panose="05050102010706020507" pitchFamily="18" charset="2"/>
              </a:rPr>
              <a:t></a:t>
            </a:r>
            <a:endParaRPr lang="en-US" altLang="en-US" sz="6000" b="1" dirty="0">
              <a:latin typeface="ZapfHumnst BT" pitchFamily="34" charset="0"/>
            </a:endParaRPr>
          </a:p>
        </p:txBody>
      </p:sp>
    </p:spTree>
    <p:extLst>
      <p:ext uri="{BB962C8B-B14F-4D97-AF65-F5344CB8AC3E}">
        <p14:creationId xmlns:p14="http://schemas.microsoft.com/office/powerpoint/2010/main" val="3926006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0" name="Line 22"/>
          <p:cNvSpPr>
            <a:spLocks noChangeShapeType="1"/>
          </p:cNvSpPr>
          <p:nvPr/>
        </p:nvSpPr>
        <p:spPr bwMode="auto">
          <a:xfrm flipV="1">
            <a:off x="854766" y="3339548"/>
            <a:ext cx="0" cy="13716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1" name="Line 23"/>
          <p:cNvSpPr>
            <a:spLocks noChangeShapeType="1"/>
          </p:cNvSpPr>
          <p:nvPr/>
        </p:nvSpPr>
        <p:spPr bwMode="auto">
          <a:xfrm flipV="1">
            <a:off x="1159566" y="3110948"/>
            <a:ext cx="0" cy="16002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2" name="Line 24"/>
          <p:cNvSpPr>
            <a:spLocks noChangeShapeType="1"/>
          </p:cNvSpPr>
          <p:nvPr/>
        </p:nvSpPr>
        <p:spPr bwMode="auto">
          <a:xfrm flipV="1">
            <a:off x="1464366" y="3034748"/>
            <a:ext cx="0" cy="1676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3" name="Line 25"/>
          <p:cNvSpPr>
            <a:spLocks noChangeShapeType="1"/>
          </p:cNvSpPr>
          <p:nvPr/>
        </p:nvSpPr>
        <p:spPr bwMode="auto">
          <a:xfrm flipV="1">
            <a:off x="1769166" y="3263348"/>
            <a:ext cx="0" cy="14478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4" name="Line 26"/>
          <p:cNvSpPr>
            <a:spLocks noChangeShapeType="1"/>
          </p:cNvSpPr>
          <p:nvPr/>
        </p:nvSpPr>
        <p:spPr bwMode="auto">
          <a:xfrm flipV="1">
            <a:off x="2073966" y="3720548"/>
            <a:ext cx="0" cy="9906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5" name="Line 27"/>
          <p:cNvSpPr>
            <a:spLocks noChangeShapeType="1"/>
          </p:cNvSpPr>
          <p:nvPr/>
        </p:nvSpPr>
        <p:spPr bwMode="auto">
          <a:xfrm flipV="1">
            <a:off x="2378766" y="3796748"/>
            <a:ext cx="0" cy="914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16" name="Line 28"/>
          <p:cNvSpPr>
            <a:spLocks noChangeShapeType="1"/>
          </p:cNvSpPr>
          <p:nvPr/>
        </p:nvSpPr>
        <p:spPr bwMode="auto">
          <a:xfrm flipV="1">
            <a:off x="2683566" y="3796748"/>
            <a:ext cx="0" cy="914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0" name="Rectangle 2"/>
          <p:cNvSpPr>
            <a:spLocks noGrp="1" noChangeArrowheads="1"/>
          </p:cNvSpPr>
          <p:nvPr>
            <p:ph type="title"/>
          </p:nvPr>
        </p:nvSpPr>
        <p:spPr/>
        <p:txBody>
          <a:bodyPr/>
          <a:lstStyle/>
          <a:p>
            <a:r>
              <a:rPr lang="en-US" altLang="en-US" dirty="0"/>
              <a:t>Aliasing Problem</a:t>
            </a:r>
          </a:p>
        </p:txBody>
      </p:sp>
      <p:grpSp>
        <p:nvGrpSpPr>
          <p:cNvPr id="12292" name="Group 4"/>
          <p:cNvGrpSpPr>
            <a:grpSpLocks/>
          </p:cNvGrpSpPr>
          <p:nvPr/>
        </p:nvGrpSpPr>
        <p:grpSpPr bwMode="auto">
          <a:xfrm>
            <a:off x="3826566" y="2425148"/>
            <a:ext cx="2438400" cy="2286000"/>
            <a:chOff x="3408" y="1920"/>
            <a:chExt cx="1536" cy="1440"/>
          </a:xfrm>
        </p:grpSpPr>
        <p:sp>
          <p:nvSpPr>
            <p:cNvPr id="12293" name="Line 5"/>
            <p:cNvSpPr>
              <a:spLocks noChangeShapeType="1"/>
            </p:cNvSpPr>
            <p:nvPr/>
          </p:nvSpPr>
          <p:spPr bwMode="auto">
            <a:xfrm flipV="1">
              <a:off x="3600" y="2496"/>
              <a:ext cx="0" cy="864"/>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4" name="Line 6"/>
            <p:cNvSpPr>
              <a:spLocks noChangeShapeType="1"/>
            </p:cNvSpPr>
            <p:nvPr/>
          </p:nvSpPr>
          <p:spPr bwMode="auto">
            <a:xfrm flipV="1">
              <a:off x="3792" y="2352"/>
              <a:ext cx="0" cy="1008"/>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5" name="Line 7"/>
            <p:cNvSpPr>
              <a:spLocks noChangeShapeType="1"/>
            </p:cNvSpPr>
            <p:nvPr/>
          </p:nvSpPr>
          <p:spPr bwMode="auto">
            <a:xfrm flipV="1">
              <a:off x="3984" y="2304"/>
              <a:ext cx="0" cy="105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6" name="Line 8"/>
            <p:cNvSpPr>
              <a:spLocks noChangeShapeType="1"/>
            </p:cNvSpPr>
            <p:nvPr/>
          </p:nvSpPr>
          <p:spPr bwMode="auto">
            <a:xfrm flipV="1">
              <a:off x="4176" y="2448"/>
              <a:ext cx="0" cy="912"/>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7" name="Line 9"/>
            <p:cNvSpPr>
              <a:spLocks noChangeShapeType="1"/>
            </p:cNvSpPr>
            <p:nvPr/>
          </p:nvSpPr>
          <p:spPr bwMode="auto">
            <a:xfrm flipV="1">
              <a:off x="4368" y="2736"/>
              <a:ext cx="0" cy="624"/>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8" name="Line 10"/>
            <p:cNvSpPr>
              <a:spLocks noChangeShapeType="1"/>
            </p:cNvSpPr>
            <p:nvPr/>
          </p:nvSpPr>
          <p:spPr bwMode="auto">
            <a:xfrm flipV="1">
              <a:off x="4560" y="2784"/>
              <a:ext cx="0" cy="57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299" name="Line 11"/>
            <p:cNvSpPr>
              <a:spLocks noChangeShapeType="1"/>
            </p:cNvSpPr>
            <p:nvPr/>
          </p:nvSpPr>
          <p:spPr bwMode="auto">
            <a:xfrm flipV="1">
              <a:off x="4752" y="2784"/>
              <a:ext cx="0" cy="576"/>
            </a:xfrm>
            <a:prstGeom prst="line">
              <a:avLst/>
            </a:prstGeom>
            <a:noFill/>
            <a:ln w="25400">
              <a:solidFill>
                <a:schemeClr val="accent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00" name="Freeform 12"/>
            <p:cNvSpPr>
              <a:spLocks/>
            </p:cNvSpPr>
            <p:nvPr/>
          </p:nvSpPr>
          <p:spPr bwMode="auto">
            <a:xfrm>
              <a:off x="3408" y="1920"/>
              <a:ext cx="1536" cy="144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2302" name="Freeform 14"/>
          <p:cNvSpPr>
            <a:spLocks/>
          </p:cNvSpPr>
          <p:nvPr/>
        </p:nvSpPr>
        <p:spPr bwMode="auto">
          <a:xfrm>
            <a:off x="549966" y="2750587"/>
            <a:ext cx="2438400" cy="1271587"/>
          </a:xfrm>
          <a:custGeom>
            <a:avLst/>
            <a:gdLst>
              <a:gd name="T0" fmla="*/ 0 w 1536"/>
              <a:gd name="T1" fmla="*/ 547 h 801"/>
              <a:gd name="T2" fmla="*/ 104 w 1536"/>
              <a:gd name="T3" fmla="*/ 278 h 801"/>
              <a:gd name="T4" fmla="*/ 302 w 1536"/>
              <a:gd name="T5" fmla="*/ 434 h 801"/>
              <a:gd name="T6" fmla="*/ 392 w 1536"/>
              <a:gd name="T7" fmla="*/ 163 h 801"/>
              <a:gd name="T8" fmla="*/ 483 w 1536"/>
              <a:gd name="T9" fmla="*/ 14 h 801"/>
              <a:gd name="T10" fmla="*/ 606 w 1536"/>
              <a:gd name="T11" fmla="*/ 245 h 801"/>
              <a:gd name="T12" fmla="*/ 664 w 1536"/>
              <a:gd name="T13" fmla="*/ 442 h 801"/>
              <a:gd name="T14" fmla="*/ 754 w 1536"/>
              <a:gd name="T15" fmla="*/ 327 h 801"/>
              <a:gd name="T16" fmla="*/ 878 w 1536"/>
              <a:gd name="T17" fmla="*/ 574 h 801"/>
              <a:gd name="T18" fmla="*/ 1108 w 1536"/>
              <a:gd name="T19" fmla="*/ 607 h 801"/>
              <a:gd name="T20" fmla="*/ 1232 w 1536"/>
              <a:gd name="T21" fmla="*/ 796 h 801"/>
              <a:gd name="T22" fmla="*/ 1355 w 1536"/>
              <a:gd name="T23" fmla="*/ 640 h 801"/>
              <a:gd name="T24" fmla="*/ 1536 w 1536"/>
              <a:gd name="T25" fmla="*/ 547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36" h="801">
                <a:moveTo>
                  <a:pt x="0" y="547"/>
                </a:moveTo>
                <a:cubicBezTo>
                  <a:pt x="17" y="502"/>
                  <a:pt x="54" y="297"/>
                  <a:pt x="104" y="278"/>
                </a:cubicBezTo>
                <a:cubicBezTo>
                  <a:pt x="154" y="259"/>
                  <a:pt x="254" y="453"/>
                  <a:pt x="302" y="434"/>
                </a:cubicBezTo>
                <a:cubicBezTo>
                  <a:pt x="350" y="415"/>
                  <a:pt x="362" y="233"/>
                  <a:pt x="392" y="163"/>
                </a:cubicBezTo>
                <a:cubicBezTo>
                  <a:pt x="422" y="93"/>
                  <a:pt x="447" y="0"/>
                  <a:pt x="483" y="14"/>
                </a:cubicBezTo>
                <a:cubicBezTo>
                  <a:pt x="519" y="28"/>
                  <a:pt x="576" y="174"/>
                  <a:pt x="606" y="245"/>
                </a:cubicBezTo>
                <a:cubicBezTo>
                  <a:pt x="636" y="316"/>
                  <a:pt x="639" y="428"/>
                  <a:pt x="664" y="442"/>
                </a:cubicBezTo>
                <a:cubicBezTo>
                  <a:pt x="689" y="456"/>
                  <a:pt x="718" y="305"/>
                  <a:pt x="754" y="327"/>
                </a:cubicBezTo>
                <a:cubicBezTo>
                  <a:pt x="790" y="349"/>
                  <a:pt x="819" y="527"/>
                  <a:pt x="878" y="574"/>
                </a:cubicBezTo>
                <a:cubicBezTo>
                  <a:pt x="937" y="621"/>
                  <a:pt x="1049" y="570"/>
                  <a:pt x="1108" y="607"/>
                </a:cubicBezTo>
                <a:cubicBezTo>
                  <a:pt x="1167" y="644"/>
                  <a:pt x="1191" y="791"/>
                  <a:pt x="1232" y="796"/>
                </a:cubicBezTo>
                <a:cubicBezTo>
                  <a:pt x="1273" y="801"/>
                  <a:pt x="1304" y="682"/>
                  <a:pt x="1355" y="640"/>
                </a:cubicBezTo>
                <a:cubicBezTo>
                  <a:pt x="1406" y="598"/>
                  <a:pt x="1498" y="567"/>
                  <a:pt x="1536" y="547"/>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03" name="Freeform 15"/>
          <p:cNvSpPr>
            <a:spLocks/>
          </p:cNvSpPr>
          <p:nvPr/>
        </p:nvSpPr>
        <p:spPr bwMode="auto">
          <a:xfrm>
            <a:off x="549966" y="2425148"/>
            <a:ext cx="2438400" cy="228600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nvGrpSpPr>
          <p:cNvPr id="12304" name="Group 16"/>
          <p:cNvGrpSpPr>
            <a:grpSpLocks/>
          </p:cNvGrpSpPr>
          <p:nvPr/>
        </p:nvGrpSpPr>
        <p:grpSpPr bwMode="auto">
          <a:xfrm>
            <a:off x="6798366" y="2425148"/>
            <a:ext cx="2438400" cy="2286000"/>
            <a:chOff x="912" y="1920"/>
            <a:chExt cx="1536" cy="1440"/>
          </a:xfrm>
        </p:grpSpPr>
        <p:sp>
          <p:nvSpPr>
            <p:cNvPr id="12305" name="Freeform 17"/>
            <p:cNvSpPr>
              <a:spLocks/>
            </p:cNvSpPr>
            <p:nvPr/>
          </p:nvSpPr>
          <p:spPr bwMode="auto">
            <a:xfrm>
              <a:off x="912" y="2272"/>
              <a:ext cx="1536" cy="560"/>
            </a:xfrm>
            <a:custGeom>
              <a:avLst/>
              <a:gdLst>
                <a:gd name="T0" fmla="*/ 0 w 1536"/>
                <a:gd name="T1" fmla="*/ 400 h 560"/>
                <a:gd name="T2" fmla="*/ 576 w 1536"/>
                <a:gd name="T3" fmla="*/ 16 h 560"/>
                <a:gd name="T4" fmla="*/ 1056 w 1536"/>
                <a:gd name="T5" fmla="*/ 496 h 560"/>
                <a:gd name="T6" fmla="*/ 1536 w 1536"/>
                <a:gd name="T7" fmla="*/ 400 h 560"/>
              </a:gdLst>
              <a:ahLst/>
              <a:cxnLst>
                <a:cxn ang="0">
                  <a:pos x="T0" y="T1"/>
                </a:cxn>
                <a:cxn ang="0">
                  <a:pos x="T2" y="T3"/>
                </a:cxn>
                <a:cxn ang="0">
                  <a:pos x="T4" y="T5"/>
                </a:cxn>
                <a:cxn ang="0">
                  <a:pos x="T6" y="T7"/>
                </a:cxn>
              </a:cxnLst>
              <a:rect l="0" t="0" r="r" b="b"/>
              <a:pathLst>
                <a:path w="1536" h="560">
                  <a:moveTo>
                    <a:pt x="0" y="400"/>
                  </a:moveTo>
                  <a:cubicBezTo>
                    <a:pt x="200" y="200"/>
                    <a:pt x="400" y="0"/>
                    <a:pt x="576" y="16"/>
                  </a:cubicBezTo>
                  <a:cubicBezTo>
                    <a:pt x="752" y="32"/>
                    <a:pt x="896" y="432"/>
                    <a:pt x="1056" y="496"/>
                  </a:cubicBezTo>
                  <a:cubicBezTo>
                    <a:pt x="1216" y="560"/>
                    <a:pt x="1376" y="480"/>
                    <a:pt x="1536" y="400"/>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2306" name="Freeform 18"/>
            <p:cNvSpPr>
              <a:spLocks/>
            </p:cNvSpPr>
            <p:nvPr/>
          </p:nvSpPr>
          <p:spPr bwMode="auto">
            <a:xfrm>
              <a:off x="912" y="1920"/>
              <a:ext cx="1536" cy="144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2307" name="Text Box 19"/>
          <p:cNvSpPr txBox="1">
            <a:spLocks noChangeArrowheads="1"/>
          </p:cNvSpPr>
          <p:nvPr/>
        </p:nvSpPr>
        <p:spPr bwMode="auto">
          <a:xfrm>
            <a:off x="2975666" y="2870476"/>
            <a:ext cx="850900" cy="1015663"/>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6000" dirty="0">
                <a:latin typeface="ZapfHumnst BT" pitchFamily="34" charset="0"/>
                <a:sym typeface="Symbol" panose="05050102010706020507" pitchFamily="18" charset="2"/>
              </a:rPr>
              <a:t></a:t>
            </a:r>
            <a:endParaRPr lang="en-US" altLang="en-US" sz="6000" dirty="0">
              <a:latin typeface="ZapfHumnst BT" pitchFamily="34" charset="0"/>
            </a:endParaRPr>
          </a:p>
        </p:txBody>
      </p:sp>
      <p:sp>
        <p:nvSpPr>
          <p:cNvPr id="12308" name="Text Box 20"/>
          <p:cNvSpPr txBox="1">
            <a:spLocks noChangeArrowheads="1"/>
          </p:cNvSpPr>
          <p:nvPr/>
        </p:nvSpPr>
        <p:spPr bwMode="auto">
          <a:xfrm>
            <a:off x="5960166" y="2870476"/>
            <a:ext cx="850900" cy="1015663"/>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6000">
                <a:latin typeface="ZapfHumnst BT" pitchFamily="34" charset="0"/>
                <a:sym typeface="Symbol" panose="05050102010706020507" pitchFamily="18" charset="2"/>
              </a:rPr>
              <a:t></a:t>
            </a:r>
            <a:endParaRPr lang="en-US" altLang="en-US" sz="6000">
              <a:latin typeface="ZapfHumnst BT" pitchFamily="34" charset="0"/>
            </a:endParaRPr>
          </a:p>
        </p:txBody>
      </p:sp>
    </p:spTree>
    <p:extLst>
      <p:ext uri="{BB962C8B-B14F-4D97-AF65-F5344CB8AC3E}">
        <p14:creationId xmlns:p14="http://schemas.microsoft.com/office/powerpoint/2010/main" val="444279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t>In Spatial Doman</a:t>
            </a:r>
          </a:p>
        </p:txBody>
      </p:sp>
      <p:sp>
        <p:nvSpPr>
          <p:cNvPr id="16389" name="Line 5"/>
          <p:cNvSpPr>
            <a:spLocks noChangeShapeType="1"/>
          </p:cNvSpPr>
          <p:nvPr/>
        </p:nvSpPr>
        <p:spPr bwMode="auto">
          <a:xfrm flipV="1">
            <a:off x="6937514" y="2941983"/>
            <a:ext cx="0" cy="13716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0" name="Line 6"/>
          <p:cNvSpPr>
            <a:spLocks noChangeShapeType="1"/>
          </p:cNvSpPr>
          <p:nvPr/>
        </p:nvSpPr>
        <p:spPr bwMode="auto">
          <a:xfrm flipV="1">
            <a:off x="7242314" y="2713383"/>
            <a:ext cx="0" cy="16002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1" name="Line 7"/>
          <p:cNvSpPr>
            <a:spLocks noChangeShapeType="1"/>
          </p:cNvSpPr>
          <p:nvPr/>
        </p:nvSpPr>
        <p:spPr bwMode="auto">
          <a:xfrm flipV="1">
            <a:off x="7547114" y="2637183"/>
            <a:ext cx="0" cy="16764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2" name="Line 8"/>
          <p:cNvSpPr>
            <a:spLocks noChangeShapeType="1"/>
          </p:cNvSpPr>
          <p:nvPr/>
        </p:nvSpPr>
        <p:spPr bwMode="auto">
          <a:xfrm flipV="1">
            <a:off x="7851914" y="2865783"/>
            <a:ext cx="0" cy="14478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3" name="Line 9"/>
          <p:cNvSpPr>
            <a:spLocks noChangeShapeType="1"/>
          </p:cNvSpPr>
          <p:nvPr/>
        </p:nvSpPr>
        <p:spPr bwMode="auto">
          <a:xfrm flipV="1">
            <a:off x="8156714" y="3322983"/>
            <a:ext cx="0" cy="9906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4" name="Line 10"/>
          <p:cNvSpPr>
            <a:spLocks noChangeShapeType="1"/>
          </p:cNvSpPr>
          <p:nvPr/>
        </p:nvSpPr>
        <p:spPr bwMode="auto">
          <a:xfrm flipV="1">
            <a:off x="8461514" y="3399183"/>
            <a:ext cx="0" cy="9144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5" name="Line 11"/>
          <p:cNvSpPr>
            <a:spLocks noChangeShapeType="1"/>
          </p:cNvSpPr>
          <p:nvPr/>
        </p:nvSpPr>
        <p:spPr bwMode="auto">
          <a:xfrm flipV="1">
            <a:off x="8766314" y="3399183"/>
            <a:ext cx="0" cy="914400"/>
          </a:xfrm>
          <a:prstGeom prst="line">
            <a:avLst/>
          </a:prstGeom>
          <a:noFill/>
          <a:ln w="25400">
            <a:solidFill>
              <a:schemeClr val="accent1"/>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6" name="Freeform 12"/>
          <p:cNvSpPr>
            <a:spLocks/>
          </p:cNvSpPr>
          <p:nvPr/>
        </p:nvSpPr>
        <p:spPr bwMode="auto">
          <a:xfrm>
            <a:off x="6632714" y="2027583"/>
            <a:ext cx="2438400" cy="228600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nvGrpSpPr>
          <p:cNvPr id="16397" name="Group 13"/>
          <p:cNvGrpSpPr>
            <a:grpSpLocks/>
          </p:cNvGrpSpPr>
          <p:nvPr/>
        </p:nvGrpSpPr>
        <p:grpSpPr bwMode="auto">
          <a:xfrm>
            <a:off x="447814" y="2027583"/>
            <a:ext cx="2438400" cy="2286000"/>
            <a:chOff x="912" y="1920"/>
            <a:chExt cx="1536" cy="1440"/>
          </a:xfrm>
        </p:grpSpPr>
        <p:sp>
          <p:nvSpPr>
            <p:cNvPr id="16398" name="Freeform 14"/>
            <p:cNvSpPr>
              <a:spLocks/>
            </p:cNvSpPr>
            <p:nvPr/>
          </p:nvSpPr>
          <p:spPr bwMode="auto">
            <a:xfrm>
              <a:off x="912" y="2272"/>
              <a:ext cx="1536" cy="560"/>
            </a:xfrm>
            <a:custGeom>
              <a:avLst/>
              <a:gdLst>
                <a:gd name="T0" fmla="*/ 0 w 1536"/>
                <a:gd name="T1" fmla="*/ 400 h 560"/>
                <a:gd name="T2" fmla="*/ 576 w 1536"/>
                <a:gd name="T3" fmla="*/ 16 h 560"/>
                <a:gd name="T4" fmla="*/ 1056 w 1536"/>
                <a:gd name="T5" fmla="*/ 496 h 560"/>
                <a:gd name="T6" fmla="*/ 1536 w 1536"/>
                <a:gd name="T7" fmla="*/ 400 h 560"/>
              </a:gdLst>
              <a:ahLst/>
              <a:cxnLst>
                <a:cxn ang="0">
                  <a:pos x="T0" y="T1"/>
                </a:cxn>
                <a:cxn ang="0">
                  <a:pos x="T2" y="T3"/>
                </a:cxn>
                <a:cxn ang="0">
                  <a:pos x="T4" y="T5"/>
                </a:cxn>
                <a:cxn ang="0">
                  <a:pos x="T6" y="T7"/>
                </a:cxn>
              </a:cxnLst>
              <a:rect l="0" t="0" r="r" b="b"/>
              <a:pathLst>
                <a:path w="1536" h="560">
                  <a:moveTo>
                    <a:pt x="0" y="400"/>
                  </a:moveTo>
                  <a:cubicBezTo>
                    <a:pt x="200" y="200"/>
                    <a:pt x="400" y="0"/>
                    <a:pt x="576" y="16"/>
                  </a:cubicBezTo>
                  <a:cubicBezTo>
                    <a:pt x="752" y="32"/>
                    <a:pt x="896" y="432"/>
                    <a:pt x="1056" y="496"/>
                  </a:cubicBezTo>
                  <a:cubicBezTo>
                    <a:pt x="1216" y="560"/>
                    <a:pt x="1376" y="480"/>
                    <a:pt x="1536" y="400"/>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399" name="Freeform 15"/>
            <p:cNvSpPr>
              <a:spLocks/>
            </p:cNvSpPr>
            <p:nvPr/>
          </p:nvSpPr>
          <p:spPr bwMode="auto">
            <a:xfrm>
              <a:off x="912" y="1920"/>
              <a:ext cx="1536" cy="144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6401" name="Text Box 17"/>
          <p:cNvSpPr txBox="1">
            <a:spLocks noChangeArrowheads="1"/>
          </p:cNvSpPr>
          <p:nvPr/>
        </p:nvSpPr>
        <p:spPr bwMode="auto">
          <a:xfrm>
            <a:off x="2886214" y="2910233"/>
            <a:ext cx="850900" cy="707886"/>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000" b="1" dirty="0">
                <a:latin typeface="ZapfHumnst BT" pitchFamily="34" charset="0"/>
                <a:sym typeface="Symbol" panose="05050102010706020507" pitchFamily="18" charset="2"/>
              </a:rPr>
              <a:t></a:t>
            </a:r>
            <a:endParaRPr lang="en-US" altLang="en-US" sz="4000" b="1" dirty="0">
              <a:latin typeface="ZapfHumnst BT" pitchFamily="34" charset="0"/>
            </a:endParaRPr>
          </a:p>
        </p:txBody>
      </p:sp>
      <p:sp>
        <p:nvSpPr>
          <p:cNvPr id="16402" name="Text Box 18"/>
          <p:cNvSpPr txBox="1">
            <a:spLocks noChangeArrowheads="1"/>
          </p:cNvSpPr>
          <p:nvPr/>
        </p:nvSpPr>
        <p:spPr bwMode="auto">
          <a:xfrm>
            <a:off x="5794514" y="2941983"/>
            <a:ext cx="850900" cy="707886"/>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000" b="1">
                <a:latin typeface="ZapfHumnst BT" pitchFamily="34" charset="0"/>
                <a:sym typeface="Symbol" panose="05050102010706020507" pitchFamily="18" charset="2"/>
              </a:rPr>
              <a:t>=</a:t>
            </a:r>
            <a:endParaRPr lang="en-US" altLang="en-US" sz="4000" b="1">
              <a:latin typeface="ZapfHumnst BT" pitchFamily="34" charset="0"/>
            </a:endParaRPr>
          </a:p>
        </p:txBody>
      </p:sp>
      <p:sp>
        <p:nvSpPr>
          <p:cNvPr id="16404" name="Line 20"/>
          <p:cNvSpPr>
            <a:spLocks noChangeShapeType="1"/>
          </p:cNvSpPr>
          <p:nvPr/>
        </p:nvSpPr>
        <p:spPr bwMode="auto">
          <a:xfrm flipV="1">
            <a:off x="39657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05" name="Line 21"/>
          <p:cNvSpPr>
            <a:spLocks noChangeShapeType="1"/>
          </p:cNvSpPr>
          <p:nvPr/>
        </p:nvSpPr>
        <p:spPr bwMode="auto">
          <a:xfrm flipV="1">
            <a:off x="42705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06" name="Line 22"/>
          <p:cNvSpPr>
            <a:spLocks noChangeShapeType="1"/>
          </p:cNvSpPr>
          <p:nvPr/>
        </p:nvSpPr>
        <p:spPr bwMode="auto">
          <a:xfrm flipV="1">
            <a:off x="45753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07" name="Line 23"/>
          <p:cNvSpPr>
            <a:spLocks noChangeShapeType="1"/>
          </p:cNvSpPr>
          <p:nvPr/>
        </p:nvSpPr>
        <p:spPr bwMode="auto">
          <a:xfrm flipV="1">
            <a:off x="48801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08" name="Line 24"/>
          <p:cNvSpPr>
            <a:spLocks noChangeShapeType="1"/>
          </p:cNvSpPr>
          <p:nvPr/>
        </p:nvSpPr>
        <p:spPr bwMode="auto">
          <a:xfrm flipV="1">
            <a:off x="51849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09" name="Line 25"/>
          <p:cNvSpPr>
            <a:spLocks noChangeShapeType="1"/>
          </p:cNvSpPr>
          <p:nvPr/>
        </p:nvSpPr>
        <p:spPr bwMode="auto">
          <a:xfrm flipV="1">
            <a:off x="54897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10" name="Line 26"/>
          <p:cNvSpPr>
            <a:spLocks noChangeShapeType="1"/>
          </p:cNvSpPr>
          <p:nvPr/>
        </p:nvSpPr>
        <p:spPr bwMode="auto">
          <a:xfrm flipV="1">
            <a:off x="5794514" y="2408583"/>
            <a:ext cx="0" cy="19050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6411" name="Freeform 27"/>
          <p:cNvSpPr>
            <a:spLocks/>
          </p:cNvSpPr>
          <p:nvPr/>
        </p:nvSpPr>
        <p:spPr bwMode="auto">
          <a:xfrm>
            <a:off x="3660914" y="2027583"/>
            <a:ext cx="2438400" cy="2286000"/>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Tree>
    <p:extLst>
      <p:ext uri="{BB962C8B-B14F-4D97-AF65-F5344CB8AC3E}">
        <p14:creationId xmlns:p14="http://schemas.microsoft.com/office/powerpoint/2010/main" val="2941574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a:t>In Frequency Domain</a:t>
            </a:r>
          </a:p>
        </p:txBody>
      </p:sp>
      <p:grpSp>
        <p:nvGrpSpPr>
          <p:cNvPr id="35869" name="Group 29"/>
          <p:cNvGrpSpPr>
            <a:grpSpLocks/>
          </p:cNvGrpSpPr>
          <p:nvPr/>
        </p:nvGrpSpPr>
        <p:grpSpPr bwMode="auto">
          <a:xfrm>
            <a:off x="3352182" y="2133600"/>
            <a:ext cx="2438400" cy="2209800"/>
            <a:chOff x="2256" y="1344"/>
            <a:chExt cx="1536" cy="1392"/>
          </a:xfrm>
        </p:grpSpPr>
        <p:grpSp>
          <p:nvGrpSpPr>
            <p:cNvPr id="35851" name="Group 11"/>
            <p:cNvGrpSpPr>
              <a:grpSpLocks/>
            </p:cNvGrpSpPr>
            <p:nvPr/>
          </p:nvGrpSpPr>
          <p:grpSpPr bwMode="auto">
            <a:xfrm>
              <a:off x="2256" y="1344"/>
              <a:ext cx="1536" cy="1392"/>
              <a:chOff x="384" y="2064"/>
              <a:chExt cx="1536" cy="1392"/>
            </a:xfrm>
          </p:grpSpPr>
          <p:sp>
            <p:nvSpPr>
              <p:cNvPr id="35852" name="Line 12"/>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53" name="Line 13"/>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35857" name="Line 17"/>
            <p:cNvSpPr>
              <a:spLocks noChangeShapeType="1"/>
            </p:cNvSpPr>
            <p:nvPr/>
          </p:nvSpPr>
          <p:spPr bwMode="auto">
            <a:xfrm flipV="1">
              <a:off x="2400"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58" name="Line 18"/>
            <p:cNvSpPr>
              <a:spLocks noChangeShapeType="1"/>
            </p:cNvSpPr>
            <p:nvPr/>
          </p:nvSpPr>
          <p:spPr bwMode="auto">
            <a:xfrm flipV="1">
              <a:off x="2976"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59" name="Line 19"/>
            <p:cNvSpPr>
              <a:spLocks noChangeShapeType="1"/>
            </p:cNvSpPr>
            <p:nvPr/>
          </p:nvSpPr>
          <p:spPr bwMode="auto">
            <a:xfrm flipV="1">
              <a:off x="3552"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35860" name="Text Box 20"/>
          <p:cNvSpPr txBox="1">
            <a:spLocks noChangeArrowheads="1"/>
          </p:cNvSpPr>
          <p:nvPr/>
        </p:nvSpPr>
        <p:spPr bwMode="auto">
          <a:xfrm>
            <a:off x="2613994" y="3070225"/>
            <a:ext cx="850900" cy="76200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dirty="0">
                <a:latin typeface="ZapfHumnst BT" pitchFamily="34" charset="0"/>
                <a:sym typeface="Symbol" panose="05050102010706020507" pitchFamily="18" charset="2"/>
              </a:rPr>
              <a:t></a:t>
            </a:r>
          </a:p>
        </p:txBody>
      </p:sp>
      <p:sp>
        <p:nvSpPr>
          <p:cNvPr id="35861" name="Text Box 21"/>
          <p:cNvSpPr txBox="1">
            <a:spLocks noChangeArrowheads="1"/>
          </p:cNvSpPr>
          <p:nvPr/>
        </p:nvSpPr>
        <p:spPr bwMode="auto">
          <a:xfrm>
            <a:off x="5649294" y="3092450"/>
            <a:ext cx="850900" cy="64135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600" dirty="0">
                <a:latin typeface="ZapfHumnst BT" pitchFamily="34" charset="0"/>
                <a:sym typeface="Symbol" panose="05050102010706020507" pitchFamily="18" charset="2"/>
              </a:rPr>
              <a:t>=</a:t>
            </a:r>
            <a:endParaRPr lang="en-US" altLang="en-US" sz="3600" dirty="0">
              <a:latin typeface="ZapfHumnst BT" pitchFamily="34" charset="0"/>
            </a:endParaRPr>
          </a:p>
        </p:txBody>
      </p:sp>
      <p:grpSp>
        <p:nvGrpSpPr>
          <p:cNvPr id="35868" name="Group 28"/>
          <p:cNvGrpSpPr>
            <a:grpSpLocks/>
          </p:cNvGrpSpPr>
          <p:nvPr/>
        </p:nvGrpSpPr>
        <p:grpSpPr bwMode="auto">
          <a:xfrm>
            <a:off x="251794" y="2133600"/>
            <a:ext cx="2438400" cy="2209800"/>
            <a:chOff x="192" y="1344"/>
            <a:chExt cx="1536" cy="1392"/>
          </a:xfrm>
        </p:grpSpPr>
        <p:grpSp>
          <p:nvGrpSpPr>
            <p:cNvPr id="35848" name="Group 8"/>
            <p:cNvGrpSpPr>
              <a:grpSpLocks/>
            </p:cNvGrpSpPr>
            <p:nvPr/>
          </p:nvGrpSpPr>
          <p:grpSpPr bwMode="auto">
            <a:xfrm>
              <a:off x="192" y="1344"/>
              <a:ext cx="1536" cy="1392"/>
              <a:chOff x="384" y="2064"/>
              <a:chExt cx="1536" cy="1392"/>
            </a:xfrm>
          </p:grpSpPr>
          <p:sp>
            <p:nvSpPr>
              <p:cNvPr id="35849" name="Line 9"/>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50" name="Line 10"/>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35862" name="Freeform 22"/>
            <p:cNvSpPr>
              <a:spLocks/>
            </p:cNvSpPr>
            <p:nvPr/>
          </p:nvSpPr>
          <p:spPr bwMode="auto">
            <a:xfrm>
              <a:off x="384" y="1464"/>
              <a:ext cx="1104" cy="1272"/>
            </a:xfrm>
            <a:custGeom>
              <a:avLst/>
              <a:gdLst>
                <a:gd name="T0" fmla="*/ 0 w 1104"/>
                <a:gd name="T1" fmla="*/ 1272 h 1272"/>
                <a:gd name="T2" fmla="*/ 240 w 1104"/>
                <a:gd name="T3" fmla="*/ 168 h 1272"/>
                <a:gd name="T4" fmla="*/ 576 w 1104"/>
                <a:gd name="T5" fmla="*/ 264 h 1272"/>
                <a:gd name="T6" fmla="*/ 816 w 1104"/>
                <a:gd name="T7" fmla="*/ 216 h 1272"/>
                <a:gd name="T8" fmla="*/ 1104 w 1104"/>
                <a:gd name="T9" fmla="*/ 1272 h 1272"/>
              </a:gdLst>
              <a:ahLst/>
              <a:cxnLst>
                <a:cxn ang="0">
                  <a:pos x="T0" y="T1"/>
                </a:cxn>
                <a:cxn ang="0">
                  <a:pos x="T2" y="T3"/>
                </a:cxn>
                <a:cxn ang="0">
                  <a:pos x="T4" y="T5"/>
                </a:cxn>
                <a:cxn ang="0">
                  <a:pos x="T6" y="T7"/>
                </a:cxn>
                <a:cxn ang="0">
                  <a:pos x="T8" y="T9"/>
                </a:cxn>
              </a:cxnLst>
              <a:rect l="0" t="0" r="r" b="b"/>
              <a:pathLst>
                <a:path w="1104" h="1272">
                  <a:moveTo>
                    <a:pt x="0" y="1272"/>
                  </a:moveTo>
                  <a:cubicBezTo>
                    <a:pt x="72" y="804"/>
                    <a:pt x="144" y="336"/>
                    <a:pt x="240" y="168"/>
                  </a:cubicBezTo>
                  <a:cubicBezTo>
                    <a:pt x="336" y="0"/>
                    <a:pt x="480" y="256"/>
                    <a:pt x="576" y="264"/>
                  </a:cubicBezTo>
                  <a:cubicBezTo>
                    <a:pt x="672" y="272"/>
                    <a:pt x="728" y="48"/>
                    <a:pt x="816" y="216"/>
                  </a:cubicBezTo>
                  <a:cubicBezTo>
                    <a:pt x="904" y="384"/>
                    <a:pt x="1056" y="1096"/>
                    <a:pt x="1104" y="1272"/>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grpSp>
        <p:nvGrpSpPr>
          <p:cNvPr id="35854" name="Group 14"/>
          <p:cNvGrpSpPr>
            <a:grpSpLocks/>
          </p:cNvGrpSpPr>
          <p:nvPr/>
        </p:nvGrpSpPr>
        <p:grpSpPr bwMode="auto">
          <a:xfrm>
            <a:off x="6500194" y="2133600"/>
            <a:ext cx="2438400" cy="2209800"/>
            <a:chOff x="384" y="2064"/>
            <a:chExt cx="1536" cy="1392"/>
          </a:xfrm>
        </p:grpSpPr>
        <p:sp>
          <p:nvSpPr>
            <p:cNvPr id="35855" name="Line 15"/>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56" name="Line 16"/>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35864" name="Freeform 24"/>
          <p:cNvSpPr>
            <a:spLocks/>
          </p:cNvSpPr>
          <p:nvPr/>
        </p:nvSpPr>
        <p:spPr bwMode="auto">
          <a:xfrm>
            <a:off x="6804994" y="2286000"/>
            <a:ext cx="1752600" cy="2019300"/>
          </a:xfrm>
          <a:custGeom>
            <a:avLst/>
            <a:gdLst>
              <a:gd name="T0" fmla="*/ 0 w 1104"/>
              <a:gd name="T1" fmla="*/ 1272 h 1272"/>
              <a:gd name="T2" fmla="*/ 240 w 1104"/>
              <a:gd name="T3" fmla="*/ 168 h 1272"/>
              <a:gd name="T4" fmla="*/ 576 w 1104"/>
              <a:gd name="T5" fmla="*/ 264 h 1272"/>
              <a:gd name="T6" fmla="*/ 816 w 1104"/>
              <a:gd name="T7" fmla="*/ 216 h 1272"/>
              <a:gd name="T8" fmla="*/ 1104 w 1104"/>
              <a:gd name="T9" fmla="*/ 1272 h 1272"/>
            </a:gdLst>
            <a:ahLst/>
            <a:cxnLst>
              <a:cxn ang="0">
                <a:pos x="T0" y="T1"/>
              </a:cxn>
              <a:cxn ang="0">
                <a:pos x="T2" y="T3"/>
              </a:cxn>
              <a:cxn ang="0">
                <a:pos x="T4" y="T5"/>
              </a:cxn>
              <a:cxn ang="0">
                <a:pos x="T6" y="T7"/>
              </a:cxn>
              <a:cxn ang="0">
                <a:pos x="T8" y="T9"/>
              </a:cxn>
            </a:cxnLst>
            <a:rect l="0" t="0" r="r" b="b"/>
            <a:pathLst>
              <a:path w="1104" h="1272">
                <a:moveTo>
                  <a:pt x="0" y="1272"/>
                </a:moveTo>
                <a:cubicBezTo>
                  <a:pt x="72" y="804"/>
                  <a:pt x="144" y="336"/>
                  <a:pt x="240" y="168"/>
                </a:cubicBezTo>
                <a:cubicBezTo>
                  <a:pt x="336" y="0"/>
                  <a:pt x="480" y="256"/>
                  <a:pt x="576" y="264"/>
                </a:cubicBezTo>
                <a:cubicBezTo>
                  <a:pt x="672" y="272"/>
                  <a:pt x="728" y="48"/>
                  <a:pt x="816" y="216"/>
                </a:cubicBezTo>
                <a:cubicBezTo>
                  <a:pt x="904" y="384"/>
                  <a:pt x="1056" y="1096"/>
                  <a:pt x="1104" y="1272"/>
                </a:cubicBezTo>
              </a:path>
            </a:pathLst>
          </a:custGeom>
          <a:noFill/>
          <a:ln w="25400" cap="flat" cmpd="sng">
            <a:solidFill>
              <a:schemeClr val="folHlink"/>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65" name="Freeform 25"/>
          <p:cNvSpPr>
            <a:spLocks/>
          </p:cNvSpPr>
          <p:nvPr/>
        </p:nvSpPr>
        <p:spPr bwMode="auto">
          <a:xfrm>
            <a:off x="6454158" y="2362200"/>
            <a:ext cx="1036637" cy="1943100"/>
          </a:xfrm>
          <a:custGeom>
            <a:avLst/>
            <a:gdLst>
              <a:gd name="T0" fmla="*/ 0 w 653"/>
              <a:gd name="T1" fmla="*/ 207 h 1224"/>
              <a:gd name="T2" fmla="*/ 125 w 653"/>
              <a:gd name="T3" fmla="*/ 216 h 1224"/>
              <a:gd name="T4" fmla="*/ 365 w 653"/>
              <a:gd name="T5" fmla="*/ 168 h 1224"/>
              <a:gd name="T6" fmla="*/ 653 w 653"/>
              <a:gd name="T7" fmla="*/ 1224 h 1224"/>
            </a:gdLst>
            <a:ahLst/>
            <a:cxnLst>
              <a:cxn ang="0">
                <a:pos x="T0" y="T1"/>
              </a:cxn>
              <a:cxn ang="0">
                <a:pos x="T2" y="T3"/>
              </a:cxn>
              <a:cxn ang="0">
                <a:pos x="T4" y="T5"/>
              </a:cxn>
              <a:cxn ang="0">
                <a:pos x="T6" y="T7"/>
              </a:cxn>
            </a:cxnLst>
            <a:rect l="0" t="0" r="r" b="b"/>
            <a:pathLst>
              <a:path w="653" h="1224">
                <a:moveTo>
                  <a:pt x="0" y="207"/>
                </a:moveTo>
                <a:cubicBezTo>
                  <a:pt x="19" y="208"/>
                  <a:pt x="64" y="222"/>
                  <a:pt x="125" y="216"/>
                </a:cubicBezTo>
                <a:cubicBezTo>
                  <a:pt x="186" y="210"/>
                  <a:pt x="277" y="0"/>
                  <a:pt x="365" y="168"/>
                </a:cubicBezTo>
                <a:cubicBezTo>
                  <a:pt x="453" y="336"/>
                  <a:pt x="605" y="1048"/>
                  <a:pt x="653" y="1224"/>
                </a:cubicBezTo>
              </a:path>
            </a:pathLst>
          </a:custGeom>
          <a:noFill/>
          <a:ln w="25400" cap="flat" cmpd="sng">
            <a:solidFill>
              <a:schemeClr val="folHlink"/>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66" name="Freeform 26"/>
          <p:cNvSpPr>
            <a:spLocks/>
          </p:cNvSpPr>
          <p:nvPr/>
        </p:nvSpPr>
        <p:spPr bwMode="auto">
          <a:xfrm>
            <a:off x="7871794" y="2286000"/>
            <a:ext cx="914400" cy="2019300"/>
          </a:xfrm>
          <a:custGeom>
            <a:avLst/>
            <a:gdLst>
              <a:gd name="T0" fmla="*/ 0 w 576"/>
              <a:gd name="T1" fmla="*/ 1272 h 1272"/>
              <a:gd name="T2" fmla="*/ 240 w 576"/>
              <a:gd name="T3" fmla="*/ 168 h 1272"/>
              <a:gd name="T4" fmla="*/ 576 w 576"/>
              <a:gd name="T5" fmla="*/ 264 h 1272"/>
            </a:gdLst>
            <a:ahLst/>
            <a:cxnLst>
              <a:cxn ang="0">
                <a:pos x="T0" y="T1"/>
              </a:cxn>
              <a:cxn ang="0">
                <a:pos x="T2" y="T3"/>
              </a:cxn>
              <a:cxn ang="0">
                <a:pos x="T4" y="T5"/>
              </a:cxn>
            </a:cxnLst>
            <a:rect l="0" t="0" r="r" b="b"/>
            <a:pathLst>
              <a:path w="576" h="1272">
                <a:moveTo>
                  <a:pt x="0" y="1272"/>
                </a:moveTo>
                <a:cubicBezTo>
                  <a:pt x="72" y="804"/>
                  <a:pt x="144" y="336"/>
                  <a:pt x="240" y="168"/>
                </a:cubicBezTo>
                <a:cubicBezTo>
                  <a:pt x="336" y="0"/>
                  <a:pt x="520" y="248"/>
                  <a:pt x="576" y="264"/>
                </a:cubicBezTo>
              </a:path>
            </a:pathLst>
          </a:custGeom>
          <a:noFill/>
          <a:ln w="25400" cap="flat" cmpd="sng">
            <a:solidFill>
              <a:schemeClr val="folHlink"/>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35867" name="Freeform 27"/>
          <p:cNvSpPr>
            <a:spLocks/>
          </p:cNvSpPr>
          <p:nvPr/>
        </p:nvSpPr>
        <p:spPr bwMode="auto">
          <a:xfrm>
            <a:off x="6533532" y="2216151"/>
            <a:ext cx="2265362" cy="500063"/>
          </a:xfrm>
          <a:custGeom>
            <a:avLst/>
            <a:gdLst>
              <a:gd name="T0" fmla="*/ 0 w 1427"/>
              <a:gd name="T1" fmla="*/ 315 h 315"/>
              <a:gd name="T2" fmla="*/ 392 w 1427"/>
              <a:gd name="T3" fmla="*/ 90 h 315"/>
              <a:gd name="T4" fmla="*/ 760 w 1427"/>
              <a:gd name="T5" fmla="*/ 274 h 315"/>
              <a:gd name="T6" fmla="*/ 1110 w 1427"/>
              <a:gd name="T7" fmla="*/ 6 h 315"/>
              <a:gd name="T8" fmla="*/ 1427 w 1427"/>
              <a:gd name="T9" fmla="*/ 307 h 315"/>
            </a:gdLst>
            <a:ahLst/>
            <a:cxnLst>
              <a:cxn ang="0">
                <a:pos x="T0" y="T1"/>
              </a:cxn>
              <a:cxn ang="0">
                <a:pos x="T2" y="T3"/>
              </a:cxn>
              <a:cxn ang="0">
                <a:pos x="T4" y="T5"/>
              </a:cxn>
              <a:cxn ang="0">
                <a:pos x="T6" y="T7"/>
              </a:cxn>
              <a:cxn ang="0">
                <a:pos x="T8" y="T9"/>
              </a:cxn>
            </a:cxnLst>
            <a:rect l="0" t="0" r="r" b="b"/>
            <a:pathLst>
              <a:path w="1427" h="315">
                <a:moveTo>
                  <a:pt x="0" y="315"/>
                </a:moveTo>
                <a:cubicBezTo>
                  <a:pt x="65" y="278"/>
                  <a:pt x="265" y="97"/>
                  <a:pt x="392" y="90"/>
                </a:cubicBezTo>
                <a:cubicBezTo>
                  <a:pt x="519" y="83"/>
                  <a:pt x="640" y="288"/>
                  <a:pt x="760" y="274"/>
                </a:cubicBezTo>
                <a:cubicBezTo>
                  <a:pt x="880" y="260"/>
                  <a:pt x="999" y="0"/>
                  <a:pt x="1110" y="6"/>
                </a:cubicBezTo>
                <a:cubicBezTo>
                  <a:pt x="1221" y="12"/>
                  <a:pt x="1361" y="244"/>
                  <a:pt x="1427" y="307"/>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Tree>
    <p:extLst>
      <p:ext uri="{BB962C8B-B14F-4D97-AF65-F5344CB8AC3E}">
        <p14:creationId xmlns:p14="http://schemas.microsoft.com/office/powerpoint/2010/main" val="2057539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08" name="Group 28"/>
          <p:cNvGrpSpPr>
            <a:grpSpLocks/>
          </p:cNvGrpSpPr>
          <p:nvPr/>
        </p:nvGrpSpPr>
        <p:grpSpPr bwMode="auto">
          <a:xfrm>
            <a:off x="3296478" y="2012200"/>
            <a:ext cx="2438400" cy="2209800"/>
            <a:chOff x="384" y="2064"/>
            <a:chExt cx="1536" cy="1392"/>
          </a:xfrm>
        </p:grpSpPr>
        <p:sp>
          <p:nvSpPr>
            <p:cNvPr id="20509" name="Line 29"/>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0510" name="Line 30"/>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0482" name="Rectangle 2"/>
          <p:cNvSpPr>
            <a:spLocks noGrp="1" noChangeArrowheads="1"/>
          </p:cNvSpPr>
          <p:nvPr>
            <p:ph type="title"/>
          </p:nvPr>
        </p:nvSpPr>
        <p:spPr/>
        <p:txBody>
          <a:bodyPr/>
          <a:lstStyle/>
          <a:p>
            <a:r>
              <a:rPr lang="en-US" altLang="en-US" dirty="0"/>
              <a:t>Conditioning in Spatial Domain</a:t>
            </a:r>
          </a:p>
        </p:txBody>
      </p:sp>
      <p:sp>
        <p:nvSpPr>
          <p:cNvPr id="20500" name="Text Box 20"/>
          <p:cNvSpPr txBox="1">
            <a:spLocks noChangeArrowheads="1"/>
          </p:cNvSpPr>
          <p:nvPr/>
        </p:nvSpPr>
        <p:spPr bwMode="auto">
          <a:xfrm>
            <a:off x="5582478" y="2774200"/>
            <a:ext cx="850900" cy="64135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600">
                <a:latin typeface="ZapfHumnst BT" pitchFamily="34" charset="0"/>
                <a:sym typeface="Symbol" panose="05050102010706020507" pitchFamily="18" charset="2"/>
              </a:rPr>
              <a:t>=</a:t>
            </a:r>
            <a:endParaRPr lang="en-US" altLang="en-US" sz="3600">
              <a:latin typeface="ZapfHumnst BT" pitchFamily="34" charset="0"/>
            </a:endParaRPr>
          </a:p>
        </p:txBody>
      </p:sp>
      <p:grpSp>
        <p:nvGrpSpPr>
          <p:cNvPr id="20503" name="Group 23"/>
          <p:cNvGrpSpPr>
            <a:grpSpLocks/>
          </p:cNvGrpSpPr>
          <p:nvPr/>
        </p:nvGrpSpPr>
        <p:grpSpPr bwMode="auto">
          <a:xfrm>
            <a:off x="248478" y="2012200"/>
            <a:ext cx="2438400" cy="2209800"/>
            <a:chOff x="384" y="2064"/>
            <a:chExt cx="1536" cy="1392"/>
          </a:xfrm>
        </p:grpSpPr>
        <p:sp>
          <p:nvSpPr>
            <p:cNvPr id="20502" name="Line 22"/>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0501" name="Line 21"/>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0504" name="Freeform 24"/>
          <p:cNvSpPr>
            <a:spLocks/>
          </p:cNvSpPr>
          <p:nvPr/>
        </p:nvSpPr>
        <p:spPr bwMode="auto">
          <a:xfrm>
            <a:off x="248478" y="2453525"/>
            <a:ext cx="2438400" cy="966788"/>
          </a:xfrm>
          <a:custGeom>
            <a:avLst/>
            <a:gdLst>
              <a:gd name="T0" fmla="*/ 0 w 1536"/>
              <a:gd name="T1" fmla="*/ 442 h 609"/>
              <a:gd name="T2" fmla="*/ 159 w 1536"/>
              <a:gd name="T3" fmla="*/ 198 h 609"/>
              <a:gd name="T4" fmla="*/ 365 w 1536"/>
              <a:gd name="T5" fmla="*/ 445 h 609"/>
              <a:gd name="T6" fmla="*/ 529 w 1536"/>
              <a:gd name="T7" fmla="*/ 33 h 609"/>
              <a:gd name="T8" fmla="*/ 686 w 1536"/>
              <a:gd name="T9" fmla="*/ 247 h 609"/>
              <a:gd name="T10" fmla="*/ 834 w 1536"/>
              <a:gd name="T11" fmla="*/ 140 h 609"/>
              <a:gd name="T12" fmla="*/ 891 w 1536"/>
              <a:gd name="T13" fmla="*/ 288 h 609"/>
              <a:gd name="T14" fmla="*/ 1048 w 1536"/>
              <a:gd name="T15" fmla="*/ 445 h 609"/>
              <a:gd name="T16" fmla="*/ 1245 w 1536"/>
              <a:gd name="T17" fmla="*/ 280 h 609"/>
              <a:gd name="T18" fmla="*/ 1344 w 1536"/>
              <a:gd name="T19" fmla="*/ 586 h 609"/>
              <a:gd name="T20" fmla="*/ 1426 w 1536"/>
              <a:gd name="T21" fmla="*/ 420 h 609"/>
              <a:gd name="T22" fmla="*/ 1536 w 1536"/>
              <a:gd name="T23" fmla="*/ 538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36" h="609">
                <a:moveTo>
                  <a:pt x="0" y="442"/>
                </a:moveTo>
                <a:cubicBezTo>
                  <a:pt x="26" y="401"/>
                  <a:pt x="98" y="198"/>
                  <a:pt x="159" y="198"/>
                </a:cubicBezTo>
                <a:cubicBezTo>
                  <a:pt x="220" y="198"/>
                  <a:pt x="303" y="472"/>
                  <a:pt x="365" y="445"/>
                </a:cubicBezTo>
                <a:cubicBezTo>
                  <a:pt x="427" y="418"/>
                  <a:pt x="476" y="66"/>
                  <a:pt x="529" y="33"/>
                </a:cubicBezTo>
                <a:cubicBezTo>
                  <a:pt x="582" y="0"/>
                  <a:pt x="635" y="229"/>
                  <a:pt x="686" y="247"/>
                </a:cubicBezTo>
                <a:cubicBezTo>
                  <a:pt x="737" y="265"/>
                  <a:pt x="800" y="133"/>
                  <a:pt x="834" y="140"/>
                </a:cubicBezTo>
                <a:cubicBezTo>
                  <a:pt x="868" y="147"/>
                  <a:pt x="855" y="237"/>
                  <a:pt x="891" y="288"/>
                </a:cubicBezTo>
                <a:cubicBezTo>
                  <a:pt x="927" y="339"/>
                  <a:pt x="989" y="446"/>
                  <a:pt x="1048" y="445"/>
                </a:cubicBezTo>
                <a:cubicBezTo>
                  <a:pt x="1107" y="444"/>
                  <a:pt x="1196" y="257"/>
                  <a:pt x="1245" y="280"/>
                </a:cubicBezTo>
                <a:cubicBezTo>
                  <a:pt x="1294" y="303"/>
                  <a:pt x="1314" y="563"/>
                  <a:pt x="1344" y="586"/>
                </a:cubicBezTo>
                <a:cubicBezTo>
                  <a:pt x="1374" y="609"/>
                  <a:pt x="1394" y="428"/>
                  <a:pt x="1426" y="420"/>
                </a:cubicBezTo>
                <a:cubicBezTo>
                  <a:pt x="1458" y="412"/>
                  <a:pt x="1513" y="514"/>
                  <a:pt x="1536" y="538"/>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latin typeface="ZapfHumnst BT" pitchFamily="34" charset="0"/>
            </a:endParaRPr>
          </a:p>
        </p:txBody>
      </p:sp>
      <p:sp>
        <p:nvSpPr>
          <p:cNvPr id="20497" name="Freeform 17"/>
          <p:cNvSpPr>
            <a:spLocks/>
          </p:cNvSpPr>
          <p:nvPr/>
        </p:nvSpPr>
        <p:spPr bwMode="auto">
          <a:xfrm>
            <a:off x="3296478" y="2585288"/>
            <a:ext cx="2209800" cy="1636712"/>
          </a:xfrm>
          <a:custGeom>
            <a:avLst/>
            <a:gdLst>
              <a:gd name="T0" fmla="*/ 0 w 384"/>
              <a:gd name="T1" fmla="*/ 1021 h 1031"/>
              <a:gd name="T2" fmla="*/ 108 w 384"/>
              <a:gd name="T3" fmla="*/ 861 h 1031"/>
              <a:gd name="T4" fmla="*/ 200 w 384"/>
              <a:gd name="T5" fmla="*/ 1 h 1031"/>
              <a:gd name="T6" fmla="*/ 296 w 384"/>
              <a:gd name="T7" fmla="*/ 857 h 1031"/>
              <a:gd name="T8" fmla="*/ 384 w 384"/>
              <a:gd name="T9" fmla="*/ 1021 h 1031"/>
            </a:gdLst>
            <a:ahLst/>
            <a:cxnLst>
              <a:cxn ang="0">
                <a:pos x="T0" y="T1"/>
              </a:cxn>
              <a:cxn ang="0">
                <a:pos x="T2" y="T3"/>
              </a:cxn>
              <a:cxn ang="0">
                <a:pos x="T4" y="T5"/>
              </a:cxn>
              <a:cxn ang="0">
                <a:pos x="T6" y="T7"/>
              </a:cxn>
              <a:cxn ang="0">
                <a:pos x="T8" y="T9"/>
              </a:cxn>
            </a:cxnLst>
            <a:rect l="0" t="0" r="r" b="b"/>
            <a:pathLst>
              <a:path w="384" h="1031">
                <a:moveTo>
                  <a:pt x="0" y="1021"/>
                </a:moveTo>
                <a:cubicBezTo>
                  <a:pt x="18" y="994"/>
                  <a:pt x="75" y="1031"/>
                  <a:pt x="108" y="861"/>
                </a:cubicBezTo>
                <a:cubicBezTo>
                  <a:pt x="141" y="691"/>
                  <a:pt x="169" y="2"/>
                  <a:pt x="200" y="1"/>
                </a:cubicBezTo>
                <a:cubicBezTo>
                  <a:pt x="231" y="0"/>
                  <a:pt x="265" y="687"/>
                  <a:pt x="296" y="857"/>
                </a:cubicBezTo>
                <a:cubicBezTo>
                  <a:pt x="327" y="1027"/>
                  <a:pt x="366" y="987"/>
                  <a:pt x="384" y="1021"/>
                </a:cubicBez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nvGrpSpPr>
          <p:cNvPr id="20515" name="Group 35"/>
          <p:cNvGrpSpPr>
            <a:grpSpLocks/>
          </p:cNvGrpSpPr>
          <p:nvPr/>
        </p:nvGrpSpPr>
        <p:grpSpPr bwMode="auto">
          <a:xfrm>
            <a:off x="6344478" y="2012201"/>
            <a:ext cx="2438400" cy="2232025"/>
            <a:chOff x="3984" y="1968"/>
            <a:chExt cx="1536" cy="1406"/>
          </a:xfrm>
        </p:grpSpPr>
        <p:grpSp>
          <p:nvGrpSpPr>
            <p:cNvPr id="20511" name="Group 31"/>
            <p:cNvGrpSpPr>
              <a:grpSpLocks/>
            </p:cNvGrpSpPr>
            <p:nvPr/>
          </p:nvGrpSpPr>
          <p:grpSpPr bwMode="auto">
            <a:xfrm>
              <a:off x="3984" y="1968"/>
              <a:ext cx="1536" cy="1392"/>
              <a:chOff x="384" y="2064"/>
              <a:chExt cx="1536" cy="1392"/>
            </a:xfrm>
          </p:grpSpPr>
          <p:sp>
            <p:nvSpPr>
              <p:cNvPr id="20512" name="Line 32"/>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0513" name="Line 33"/>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0514" name="Freeform 34"/>
            <p:cNvSpPr>
              <a:spLocks/>
            </p:cNvSpPr>
            <p:nvPr/>
          </p:nvSpPr>
          <p:spPr bwMode="auto">
            <a:xfrm>
              <a:off x="4020" y="2232"/>
              <a:ext cx="1489" cy="1142"/>
            </a:xfrm>
            <a:custGeom>
              <a:avLst/>
              <a:gdLst>
                <a:gd name="T0" fmla="*/ 0 w 1489"/>
                <a:gd name="T1" fmla="*/ 1109 h 1142"/>
                <a:gd name="T2" fmla="*/ 148 w 1489"/>
                <a:gd name="T3" fmla="*/ 1018 h 1142"/>
                <a:gd name="T4" fmla="*/ 370 w 1489"/>
                <a:gd name="T5" fmla="*/ 615 h 1142"/>
                <a:gd name="T6" fmla="*/ 493 w 1489"/>
                <a:gd name="T7" fmla="*/ 57 h 1142"/>
                <a:gd name="T8" fmla="*/ 650 w 1489"/>
                <a:gd name="T9" fmla="*/ 271 h 1142"/>
                <a:gd name="T10" fmla="*/ 798 w 1489"/>
                <a:gd name="T11" fmla="*/ 164 h 1142"/>
                <a:gd name="T12" fmla="*/ 855 w 1489"/>
                <a:gd name="T13" fmla="*/ 312 h 1142"/>
                <a:gd name="T14" fmla="*/ 1012 w 1489"/>
                <a:gd name="T15" fmla="*/ 541 h 1142"/>
                <a:gd name="T16" fmla="*/ 1160 w 1489"/>
                <a:gd name="T17" fmla="*/ 656 h 1142"/>
                <a:gd name="T18" fmla="*/ 1267 w 1489"/>
                <a:gd name="T19" fmla="*/ 1027 h 1142"/>
                <a:gd name="T20" fmla="*/ 1390 w 1489"/>
                <a:gd name="T21" fmla="*/ 1043 h 1142"/>
                <a:gd name="T22" fmla="*/ 1489 w 1489"/>
                <a:gd name="T23" fmla="*/ 1142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89" h="1142">
                  <a:moveTo>
                    <a:pt x="0" y="1109"/>
                  </a:moveTo>
                  <a:cubicBezTo>
                    <a:pt x="25" y="1094"/>
                    <a:pt x="86" y="1100"/>
                    <a:pt x="148" y="1018"/>
                  </a:cubicBezTo>
                  <a:cubicBezTo>
                    <a:pt x="210" y="936"/>
                    <a:pt x="312" y="775"/>
                    <a:pt x="370" y="615"/>
                  </a:cubicBezTo>
                  <a:cubicBezTo>
                    <a:pt x="428" y="455"/>
                    <a:pt x="446" y="114"/>
                    <a:pt x="493" y="57"/>
                  </a:cubicBezTo>
                  <a:cubicBezTo>
                    <a:pt x="540" y="0"/>
                    <a:pt x="599" y="253"/>
                    <a:pt x="650" y="271"/>
                  </a:cubicBezTo>
                  <a:cubicBezTo>
                    <a:pt x="701" y="289"/>
                    <a:pt x="764" y="157"/>
                    <a:pt x="798" y="164"/>
                  </a:cubicBezTo>
                  <a:cubicBezTo>
                    <a:pt x="832" y="171"/>
                    <a:pt x="819" y="249"/>
                    <a:pt x="855" y="312"/>
                  </a:cubicBezTo>
                  <a:cubicBezTo>
                    <a:pt x="891" y="375"/>
                    <a:pt x="961" y="484"/>
                    <a:pt x="1012" y="541"/>
                  </a:cubicBezTo>
                  <a:cubicBezTo>
                    <a:pt x="1063" y="598"/>
                    <a:pt x="1118" y="575"/>
                    <a:pt x="1160" y="656"/>
                  </a:cubicBezTo>
                  <a:cubicBezTo>
                    <a:pt x="1202" y="737"/>
                    <a:pt x="1229" y="962"/>
                    <a:pt x="1267" y="1027"/>
                  </a:cubicBezTo>
                  <a:cubicBezTo>
                    <a:pt x="1305" y="1092"/>
                    <a:pt x="1353" y="1024"/>
                    <a:pt x="1390" y="1043"/>
                  </a:cubicBezTo>
                  <a:cubicBezTo>
                    <a:pt x="1427" y="1062"/>
                    <a:pt x="1469" y="1122"/>
                    <a:pt x="1489" y="1142"/>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0518" name="Text Box 38"/>
          <p:cNvSpPr txBox="1">
            <a:spLocks noChangeArrowheads="1"/>
          </p:cNvSpPr>
          <p:nvPr/>
        </p:nvSpPr>
        <p:spPr bwMode="auto">
          <a:xfrm>
            <a:off x="2750378" y="2774200"/>
            <a:ext cx="850900" cy="64135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600">
                <a:latin typeface="ZapfHumnst BT" pitchFamily="34" charset="0"/>
                <a:sym typeface="Symbol" panose="05050102010706020507" pitchFamily="18" charset="2"/>
              </a:rPr>
              <a:t></a:t>
            </a:r>
            <a:endParaRPr lang="en-US" altLang="en-US" sz="3600">
              <a:latin typeface="ZapfHumnst BT" pitchFamily="34" charset="0"/>
            </a:endParaRPr>
          </a:p>
        </p:txBody>
      </p:sp>
    </p:spTree>
    <p:extLst>
      <p:ext uri="{BB962C8B-B14F-4D97-AF65-F5344CB8AC3E}">
        <p14:creationId xmlns:p14="http://schemas.microsoft.com/office/powerpoint/2010/main" val="1968966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dirty="0"/>
              <a:t>Better Off in Frequency Domain</a:t>
            </a:r>
          </a:p>
        </p:txBody>
      </p:sp>
      <p:grpSp>
        <p:nvGrpSpPr>
          <p:cNvPr id="19460" name="Group 4"/>
          <p:cNvGrpSpPr>
            <a:grpSpLocks noChangeAspect="1"/>
          </p:cNvGrpSpPr>
          <p:nvPr/>
        </p:nvGrpSpPr>
        <p:grpSpPr bwMode="auto">
          <a:xfrm>
            <a:off x="3671613" y="2369368"/>
            <a:ext cx="2052637" cy="1860550"/>
            <a:chOff x="2256" y="1344"/>
            <a:chExt cx="1536" cy="1392"/>
          </a:xfrm>
        </p:grpSpPr>
        <p:grpSp>
          <p:nvGrpSpPr>
            <p:cNvPr id="19461" name="Group 5"/>
            <p:cNvGrpSpPr>
              <a:grpSpLocks noChangeAspect="1"/>
            </p:cNvGrpSpPr>
            <p:nvPr/>
          </p:nvGrpSpPr>
          <p:grpSpPr bwMode="auto">
            <a:xfrm>
              <a:off x="2256" y="1344"/>
              <a:ext cx="1536" cy="1392"/>
              <a:chOff x="384" y="2064"/>
              <a:chExt cx="1536" cy="1392"/>
            </a:xfrm>
          </p:grpSpPr>
          <p:sp>
            <p:nvSpPr>
              <p:cNvPr id="19462" name="Line 6"/>
              <p:cNvSpPr>
                <a:spLocks noChangeAspect="1"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63" name="Line 7"/>
              <p:cNvSpPr>
                <a:spLocks noChangeAspect="1"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9464" name="Line 8"/>
            <p:cNvSpPr>
              <a:spLocks noChangeAspect="1" noChangeShapeType="1"/>
            </p:cNvSpPr>
            <p:nvPr/>
          </p:nvSpPr>
          <p:spPr bwMode="auto">
            <a:xfrm flipV="1">
              <a:off x="2400"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65" name="Line 9"/>
            <p:cNvSpPr>
              <a:spLocks noChangeAspect="1" noChangeShapeType="1"/>
            </p:cNvSpPr>
            <p:nvPr/>
          </p:nvSpPr>
          <p:spPr bwMode="auto">
            <a:xfrm flipV="1">
              <a:off x="2976"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66" name="Line 10"/>
            <p:cNvSpPr>
              <a:spLocks noChangeAspect="1" noChangeShapeType="1"/>
            </p:cNvSpPr>
            <p:nvPr/>
          </p:nvSpPr>
          <p:spPr bwMode="auto">
            <a:xfrm flipV="1">
              <a:off x="3552" y="1536"/>
              <a:ext cx="0" cy="1200"/>
            </a:xfrm>
            <a:prstGeom prst="line">
              <a:avLst/>
            </a:prstGeom>
            <a:noFill/>
            <a:ln w="25400">
              <a:solidFill>
                <a:schemeClr val="tx2"/>
              </a:solidFill>
              <a:round/>
              <a:headEnd/>
              <a:tailEnd type="stealth"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9467" name="Text Box 11"/>
          <p:cNvSpPr txBox="1">
            <a:spLocks noChangeAspect="1" noChangeArrowheads="1"/>
          </p:cNvSpPr>
          <p:nvPr/>
        </p:nvSpPr>
        <p:spPr bwMode="auto">
          <a:xfrm>
            <a:off x="2888975" y="3029768"/>
            <a:ext cx="715963" cy="64135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600">
                <a:latin typeface="ZapfHumnst BT" pitchFamily="34" charset="0"/>
                <a:sym typeface="Symbol" panose="05050102010706020507" pitchFamily="18" charset="2"/>
              </a:rPr>
              <a:t></a:t>
            </a:r>
            <a:endParaRPr lang="en-US" altLang="en-US" sz="3600">
              <a:latin typeface="ZapfHumnst BT" pitchFamily="34" charset="0"/>
            </a:endParaRPr>
          </a:p>
        </p:txBody>
      </p:sp>
      <p:sp>
        <p:nvSpPr>
          <p:cNvPr id="19468" name="Text Box 12"/>
          <p:cNvSpPr txBox="1">
            <a:spLocks noChangeAspect="1" noChangeArrowheads="1"/>
          </p:cNvSpPr>
          <p:nvPr/>
        </p:nvSpPr>
        <p:spPr bwMode="auto">
          <a:xfrm>
            <a:off x="5752824" y="2983731"/>
            <a:ext cx="717550" cy="641350"/>
          </a:xfrm>
          <a:prstGeom prst="rect">
            <a:avLst/>
          </a:prstGeom>
          <a:noFill/>
          <a:ln>
            <a:noFill/>
          </a:ln>
          <a:effectLst/>
          <a:extLst>
            <a:ext uri="{909E8E84-426E-40DD-AFC4-6F175D3DCCD1}">
              <a14:hiddenFill xmlns:a14="http://schemas.microsoft.com/office/drawing/2010/main">
                <a:solidFill>
                  <a:schemeClr val="accent2">
                    <a:alpha val="50000"/>
                  </a:schemeClr>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3600">
                <a:latin typeface="ZapfHumnst BT" pitchFamily="34" charset="0"/>
                <a:sym typeface="Symbol" panose="05050102010706020507" pitchFamily="18" charset="2"/>
              </a:rPr>
              <a:t>=</a:t>
            </a:r>
            <a:endParaRPr lang="en-US" altLang="en-US" sz="3600">
              <a:latin typeface="ZapfHumnst BT" pitchFamily="34" charset="0"/>
            </a:endParaRPr>
          </a:p>
        </p:txBody>
      </p:sp>
      <p:grpSp>
        <p:nvGrpSpPr>
          <p:cNvPr id="19470" name="Group 14"/>
          <p:cNvGrpSpPr>
            <a:grpSpLocks noChangeAspect="1"/>
          </p:cNvGrpSpPr>
          <p:nvPr/>
        </p:nvGrpSpPr>
        <p:grpSpPr bwMode="auto">
          <a:xfrm>
            <a:off x="755374" y="2369368"/>
            <a:ext cx="2052638" cy="1860550"/>
            <a:chOff x="384" y="2064"/>
            <a:chExt cx="1536" cy="1392"/>
          </a:xfrm>
        </p:grpSpPr>
        <p:sp>
          <p:nvSpPr>
            <p:cNvPr id="19471" name="Line 15"/>
            <p:cNvSpPr>
              <a:spLocks noChangeAspect="1"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72" name="Line 16"/>
            <p:cNvSpPr>
              <a:spLocks noChangeAspect="1"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grpSp>
        <p:nvGrpSpPr>
          <p:cNvPr id="19475" name="Group 19"/>
          <p:cNvGrpSpPr>
            <a:grpSpLocks noChangeAspect="1"/>
          </p:cNvGrpSpPr>
          <p:nvPr/>
        </p:nvGrpSpPr>
        <p:grpSpPr bwMode="auto">
          <a:xfrm>
            <a:off x="6625950" y="2369368"/>
            <a:ext cx="2054225" cy="1860550"/>
            <a:chOff x="384" y="2064"/>
            <a:chExt cx="1536" cy="1392"/>
          </a:xfrm>
        </p:grpSpPr>
        <p:sp>
          <p:nvSpPr>
            <p:cNvPr id="19476" name="Line 20"/>
            <p:cNvSpPr>
              <a:spLocks noChangeAspect="1"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77" name="Line 21"/>
            <p:cNvSpPr>
              <a:spLocks noChangeAspect="1"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9484" name="Freeform 28"/>
          <p:cNvSpPr>
            <a:spLocks/>
          </p:cNvSpPr>
          <p:nvPr/>
        </p:nvSpPr>
        <p:spPr bwMode="auto">
          <a:xfrm>
            <a:off x="1403074" y="2597969"/>
            <a:ext cx="609600" cy="1636713"/>
          </a:xfrm>
          <a:custGeom>
            <a:avLst/>
            <a:gdLst>
              <a:gd name="T0" fmla="*/ 0 w 384"/>
              <a:gd name="T1" fmla="*/ 1021 h 1031"/>
              <a:gd name="T2" fmla="*/ 108 w 384"/>
              <a:gd name="T3" fmla="*/ 861 h 1031"/>
              <a:gd name="T4" fmla="*/ 200 w 384"/>
              <a:gd name="T5" fmla="*/ 1 h 1031"/>
              <a:gd name="T6" fmla="*/ 296 w 384"/>
              <a:gd name="T7" fmla="*/ 857 h 1031"/>
              <a:gd name="T8" fmla="*/ 384 w 384"/>
              <a:gd name="T9" fmla="*/ 1021 h 1031"/>
            </a:gdLst>
            <a:ahLst/>
            <a:cxnLst>
              <a:cxn ang="0">
                <a:pos x="T0" y="T1"/>
              </a:cxn>
              <a:cxn ang="0">
                <a:pos x="T2" y="T3"/>
              </a:cxn>
              <a:cxn ang="0">
                <a:pos x="T4" y="T5"/>
              </a:cxn>
              <a:cxn ang="0">
                <a:pos x="T6" y="T7"/>
              </a:cxn>
              <a:cxn ang="0">
                <a:pos x="T8" y="T9"/>
              </a:cxn>
            </a:cxnLst>
            <a:rect l="0" t="0" r="r" b="b"/>
            <a:pathLst>
              <a:path w="384" h="1031">
                <a:moveTo>
                  <a:pt x="0" y="1021"/>
                </a:moveTo>
                <a:cubicBezTo>
                  <a:pt x="18" y="994"/>
                  <a:pt x="75" y="1031"/>
                  <a:pt x="108" y="861"/>
                </a:cubicBezTo>
                <a:cubicBezTo>
                  <a:pt x="141" y="691"/>
                  <a:pt x="169" y="2"/>
                  <a:pt x="200" y="1"/>
                </a:cubicBezTo>
                <a:cubicBezTo>
                  <a:pt x="231" y="0"/>
                  <a:pt x="265" y="687"/>
                  <a:pt x="296" y="857"/>
                </a:cubicBezTo>
                <a:cubicBezTo>
                  <a:pt x="327" y="1027"/>
                  <a:pt x="366" y="987"/>
                  <a:pt x="384" y="1021"/>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86" name="Freeform 30"/>
          <p:cNvSpPr>
            <a:spLocks/>
          </p:cNvSpPr>
          <p:nvPr/>
        </p:nvSpPr>
        <p:spPr bwMode="auto">
          <a:xfrm>
            <a:off x="7283174" y="2597969"/>
            <a:ext cx="609600" cy="1636713"/>
          </a:xfrm>
          <a:custGeom>
            <a:avLst/>
            <a:gdLst>
              <a:gd name="T0" fmla="*/ 0 w 384"/>
              <a:gd name="T1" fmla="*/ 1021 h 1031"/>
              <a:gd name="T2" fmla="*/ 108 w 384"/>
              <a:gd name="T3" fmla="*/ 861 h 1031"/>
              <a:gd name="T4" fmla="*/ 200 w 384"/>
              <a:gd name="T5" fmla="*/ 1 h 1031"/>
              <a:gd name="T6" fmla="*/ 296 w 384"/>
              <a:gd name="T7" fmla="*/ 857 h 1031"/>
              <a:gd name="T8" fmla="*/ 384 w 384"/>
              <a:gd name="T9" fmla="*/ 1021 h 1031"/>
            </a:gdLst>
            <a:ahLst/>
            <a:cxnLst>
              <a:cxn ang="0">
                <a:pos x="T0" y="T1"/>
              </a:cxn>
              <a:cxn ang="0">
                <a:pos x="T2" y="T3"/>
              </a:cxn>
              <a:cxn ang="0">
                <a:pos x="T4" y="T5"/>
              </a:cxn>
              <a:cxn ang="0">
                <a:pos x="T6" y="T7"/>
              </a:cxn>
              <a:cxn ang="0">
                <a:pos x="T8" y="T9"/>
              </a:cxn>
            </a:cxnLst>
            <a:rect l="0" t="0" r="r" b="b"/>
            <a:pathLst>
              <a:path w="384" h="1031">
                <a:moveTo>
                  <a:pt x="0" y="1021"/>
                </a:moveTo>
                <a:cubicBezTo>
                  <a:pt x="18" y="994"/>
                  <a:pt x="75" y="1031"/>
                  <a:pt x="108" y="861"/>
                </a:cubicBezTo>
                <a:cubicBezTo>
                  <a:pt x="141" y="691"/>
                  <a:pt x="169" y="2"/>
                  <a:pt x="200" y="1"/>
                </a:cubicBezTo>
                <a:cubicBezTo>
                  <a:pt x="231" y="0"/>
                  <a:pt x="265" y="687"/>
                  <a:pt x="296" y="857"/>
                </a:cubicBezTo>
                <a:cubicBezTo>
                  <a:pt x="327" y="1027"/>
                  <a:pt x="366" y="987"/>
                  <a:pt x="384" y="1021"/>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87" name="Freeform 31"/>
          <p:cNvSpPr>
            <a:spLocks/>
          </p:cNvSpPr>
          <p:nvPr/>
        </p:nvSpPr>
        <p:spPr bwMode="auto">
          <a:xfrm>
            <a:off x="8299174" y="2599557"/>
            <a:ext cx="317500" cy="1635125"/>
          </a:xfrm>
          <a:custGeom>
            <a:avLst/>
            <a:gdLst>
              <a:gd name="T0" fmla="*/ 0 w 200"/>
              <a:gd name="T1" fmla="*/ 1020 h 1030"/>
              <a:gd name="T2" fmla="*/ 108 w 200"/>
              <a:gd name="T3" fmla="*/ 860 h 1030"/>
              <a:gd name="T4" fmla="*/ 200 w 200"/>
              <a:gd name="T5" fmla="*/ 0 h 1030"/>
            </a:gdLst>
            <a:ahLst/>
            <a:cxnLst>
              <a:cxn ang="0">
                <a:pos x="T0" y="T1"/>
              </a:cxn>
              <a:cxn ang="0">
                <a:pos x="T2" y="T3"/>
              </a:cxn>
              <a:cxn ang="0">
                <a:pos x="T4" y="T5"/>
              </a:cxn>
            </a:cxnLst>
            <a:rect l="0" t="0" r="r" b="b"/>
            <a:pathLst>
              <a:path w="200" h="1030">
                <a:moveTo>
                  <a:pt x="0" y="1020"/>
                </a:moveTo>
                <a:cubicBezTo>
                  <a:pt x="18" y="993"/>
                  <a:pt x="75" y="1030"/>
                  <a:pt x="108" y="860"/>
                </a:cubicBezTo>
                <a:cubicBezTo>
                  <a:pt x="141" y="690"/>
                  <a:pt x="185" y="143"/>
                  <a:pt x="200" y="0"/>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488" name="Freeform 32"/>
          <p:cNvSpPr>
            <a:spLocks/>
          </p:cNvSpPr>
          <p:nvPr/>
        </p:nvSpPr>
        <p:spPr bwMode="auto">
          <a:xfrm>
            <a:off x="6559274" y="2599557"/>
            <a:ext cx="292100" cy="1628775"/>
          </a:xfrm>
          <a:custGeom>
            <a:avLst/>
            <a:gdLst>
              <a:gd name="T0" fmla="*/ 0 w 184"/>
              <a:gd name="T1" fmla="*/ 0 h 1026"/>
              <a:gd name="T2" fmla="*/ 96 w 184"/>
              <a:gd name="T3" fmla="*/ 856 h 1026"/>
              <a:gd name="T4" fmla="*/ 184 w 184"/>
              <a:gd name="T5" fmla="*/ 1020 h 1026"/>
            </a:gdLst>
            <a:ahLst/>
            <a:cxnLst>
              <a:cxn ang="0">
                <a:pos x="T0" y="T1"/>
              </a:cxn>
              <a:cxn ang="0">
                <a:pos x="T2" y="T3"/>
              </a:cxn>
              <a:cxn ang="0">
                <a:pos x="T4" y="T5"/>
              </a:cxn>
            </a:cxnLst>
            <a:rect l="0" t="0" r="r" b="b"/>
            <a:pathLst>
              <a:path w="184" h="1026">
                <a:moveTo>
                  <a:pt x="0" y="0"/>
                </a:moveTo>
                <a:cubicBezTo>
                  <a:pt x="16" y="143"/>
                  <a:pt x="65" y="686"/>
                  <a:pt x="96" y="856"/>
                </a:cubicBezTo>
                <a:cubicBezTo>
                  <a:pt x="127" y="1026"/>
                  <a:pt x="166" y="986"/>
                  <a:pt x="184" y="1020"/>
                </a:cubicBezTo>
              </a:path>
            </a:pathLst>
          </a:custGeom>
          <a:noFill/>
          <a:ln w="25400" cap="flat" cmpd="sng">
            <a:solidFill>
              <a:schemeClr val="accent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Tree>
    <p:extLst>
      <p:ext uri="{BB962C8B-B14F-4D97-AF65-F5344CB8AC3E}">
        <p14:creationId xmlns:p14="http://schemas.microsoft.com/office/powerpoint/2010/main" val="2367910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dirty="0"/>
              <a:t>Ideal Sampling Filter</a:t>
            </a:r>
            <a:endParaRPr lang="en-US" altLang="en-US" baseline="-25000" dirty="0"/>
          </a:p>
        </p:txBody>
      </p:sp>
      <p:sp>
        <p:nvSpPr>
          <p:cNvPr id="22531" name="Rectangle 3"/>
          <p:cNvSpPr>
            <a:spLocks noGrp="1" noChangeArrowheads="1"/>
          </p:cNvSpPr>
          <p:nvPr>
            <p:ph type="body" idx="1"/>
          </p:nvPr>
        </p:nvSpPr>
        <p:spPr>
          <a:xfrm>
            <a:off x="304802" y="4619696"/>
            <a:ext cx="7878417" cy="1016000"/>
          </a:xfrm>
        </p:spPr>
        <p:txBody>
          <a:bodyPr/>
          <a:lstStyle/>
          <a:p>
            <a:r>
              <a:rPr lang="en-US" altLang="en-US" dirty="0"/>
              <a:t>It is a sinc function in the spatial domain,</a:t>
            </a:r>
          </a:p>
          <a:p>
            <a:r>
              <a:rPr lang="en-US" altLang="en-US" dirty="0"/>
              <a:t>	with infinite ringing</a:t>
            </a:r>
          </a:p>
        </p:txBody>
      </p:sp>
      <p:grpSp>
        <p:nvGrpSpPr>
          <p:cNvPr id="22559" name="Group 31"/>
          <p:cNvGrpSpPr>
            <a:grpSpLocks/>
          </p:cNvGrpSpPr>
          <p:nvPr/>
        </p:nvGrpSpPr>
        <p:grpSpPr bwMode="auto">
          <a:xfrm>
            <a:off x="5133562" y="2271748"/>
            <a:ext cx="1981200" cy="1752600"/>
            <a:chOff x="3975" y="1104"/>
            <a:chExt cx="1248" cy="1104"/>
          </a:xfrm>
        </p:grpSpPr>
        <p:grpSp>
          <p:nvGrpSpPr>
            <p:cNvPr id="22532" name="Group 4"/>
            <p:cNvGrpSpPr>
              <a:grpSpLocks/>
            </p:cNvGrpSpPr>
            <p:nvPr/>
          </p:nvGrpSpPr>
          <p:grpSpPr bwMode="auto">
            <a:xfrm>
              <a:off x="3975" y="1104"/>
              <a:ext cx="1248" cy="1104"/>
              <a:chOff x="384" y="2064"/>
              <a:chExt cx="1536" cy="1392"/>
            </a:xfrm>
          </p:grpSpPr>
          <p:sp>
            <p:nvSpPr>
              <p:cNvPr id="22533" name="Line 5"/>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2534" name="Line 6"/>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2539" name="Freeform 11"/>
            <p:cNvSpPr>
              <a:spLocks/>
            </p:cNvSpPr>
            <p:nvPr/>
          </p:nvSpPr>
          <p:spPr bwMode="auto">
            <a:xfrm>
              <a:off x="3984" y="1328"/>
              <a:ext cx="1152" cy="864"/>
            </a:xfrm>
            <a:custGeom>
              <a:avLst/>
              <a:gdLst>
                <a:gd name="T0" fmla="*/ 0 w 1152"/>
                <a:gd name="T1" fmla="*/ 864 h 864"/>
                <a:gd name="T2" fmla="*/ 384 w 1152"/>
                <a:gd name="T3" fmla="*/ 864 h 864"/>
                <a:gd name="T4" fmla="*/ 384 w 1152"/>
                <a:gd name="T5" fmla="*/ 0 h 864"/>
                <a:gd name="T6" fmla="*/ 768 w 1152"/>
                <a:gd name="T7" fmla="*/ 0 h 864"/>
                <a:gd name="T8" fmla="*/ 768 w 1152"/>
                <a:gd name="T9" fmla="*/ 864 h 864"/>
                <a:gd name="T10" fmla="*/ 1152 w 1152"/>
                <a:gd name="T11" fmla="*/ 864 h 864"/>
              </a:gdLst>
              <a:ahLst/>
              <a:cxnLst>
                <a:cxn ang="0">
                  <a:pos x="T0" y="T1"/>
                </a:cxn>
                <a:cxn ang="0">
                  <a:pos x="T2" y="T3"/>
                </a:cxn>
                <a:cxn ang="0">
                  <a:pos x="T4" y="T5"/>
                </a:cxn>
                <a:cxn ang="0">
                  <a:pos x="T6" y="T7"/>
                </a:cxn>
                <a:cxn ang="0">
                  <a:pos x="T8" y="T9"/>
                </a:cxn>
                <a:cxn ang="0">
                  <a:pos x="T10" y="T11"/>
                </a:cxn>
              </a:cxnLst>
              <a:rect l="0" t="0" r="r" b="b"/>
              <a:pathLst>
                <a:path w="1152" h="864">
                  <a:moveTo>
                    <a:pt x="0" y="864"/>
                  </a:moveTo>
                  <a:lnTo>
                    <a:pt x="384" y="864"/>
                  </a:lnTo>
                  <a:lnTo>
                    <a:pt x="384" y="0"/>
                  </a:lnTo>
                  <a:lnTo>
                    <a:pt x="768" y="0"/>
                  </a:lnTo>
                  <a:lnTo>
                    <a:pt x="768" y="864"/>
                  </a:lnTo>
                  <a:lnTo>
                    <a:pt x="1152" y="864"/>
                  </a:ln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grpSp>
        <p:nvGrpSpPr>
          <p:cNvPr id="22558" name="Group 30"/>
          <p:cNvGrpSpPr>
            <a:grpSpLocks/>
          </p:cNvGrpSpPr>
          <p:nvPr/>
        </p:nvGrpSpPr>
        <p:grpSpPr bwMode="auto">
          <a:xfrm>
            <a:off x="841513" y="2271748"/>
            <a:ext cx="2057400" cy="1752600"/>
            <a:chOff x="3936" y="2784"/>
            <a:chExt cx="1296" cy="1104"/>
          </a:xfrm>
        </p:grpSpPr>
        <p:sp>
          <p:nvSpPr>
            <p:cNvPr id="22548" name="Freeform 20"/>
            <p:cNvSpPr>
              <a:spLocks/>
            </p:cNvSpPr>
            <p:nvPr/>
          </p:nvSpPr>
          <p:spPr bwMode="auto">
            <a:xfrm>
              <a:off x="3936" y="2784"/>
              <a:ext cx="1296" cy="1104"/>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2549" name="Line 21"/>
            <p:cNvSpPr>
              <a:spLocks noChangeShapeType="1"/>
            </p:cNvSpPr>
            <p:nvPr/>
          </p:nvSpPr>
          <p:spPr bwMode="auto">
            <a:xfrm>
              <a:off x="3936" y="3504"/>
              <a:ext cx="1296" cy="0"/>
            </a:xfrm>
            <a:prstGeom prst="line">
              <a:avLst/>
            </a:prstGeom>
            <a:noFill/>
            <a:ln w="25400">
              <a:solidFill>
                <a:schemeClr val="hlink"/>
              </a:solidFill>
              <a:prstDash val="sysDot"/>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2557" name="Freeform 29"/>
            <p:cNvSpPr>
              <a:spLocks/>
            </p:cNvSpPr>
            <p:nvPr/>
          </p:nvSpPr>
          <p:spPr bwMode="auto">
            <a:xfrm>
              <a:off x="3936" y="2927"/>
              <a:ext cx="1296" cy="678"/>
            </a:xfrm>
            <a:custGeom>
              <a:avLst/>
              <a:gdLst>
                <a:gd name="T0" fmla="*/ 0 w 1296"/>
                <a:gd name="T1" fmla="*/ 610 h 678"/>
                <a:gd name="T2" fmla="*/ 96 w 1296"/>
                <a:gd name="T3" fmla="*/ 577 h 678"/>
                <a:gd name="T4" fmla="*/ 189 w 1296"/>
                <a:gd name="T5" fmla="*/ 538 h 678"/>
                <a:gd name="T6" fmla="*/ 288 w 1296"/>
                <a:gd name="T7" fmla="*/ 583 h 678"/>
                <a:gd name="T8" fmla="*/ 405 w 1296"/>
                <a:gd name="T9" fmla="*/ 676 h 678"/>
                <a:gd name="T10" fmla="*/ 480 w 1296"/>
                <a:gd name="T11" fmla="*/ 583 h 678"/>
                <a:gd name="T12" fmla="*/ 543 w 1296"/>
                <a:gd name="T13" fmla="*/ 379 h 678"/>
                <a:gd name="T14" fmla="*/ 672 w 1296"/>
                <a:gd name="T15" fmla="*/ 1 h 678"/>
                <a:gd name="T16" fmla="*/ 804 w 1296"/>
                <a:gd name="T17" fmla="*/ 373 h 678"/>
                <a:gd name="T18" fmla="*/ 870 w 1296"/>
                <a:gd name="T19" fmla="*/ 592 h 678"/>
                <a:gd name="T20" fmla="*/ 954 w 1296"/>
                <a:gd name="T21" fmla="*/ 676 h 678"/>
                <a:gd name="T22" fmla="*/ 1059 w 1296"/>
                <a:gd name="T23" fmla="*/ 577 h 678"/>
                <a:gd name="T24" fmla="*/ 1149 w 1296"/>
                <a:gd name="T25" fmla="*/ 529 h 678"/>
                <a:gd name="T26" fmla="*/ 1248 w 1296"/>
                <a:gd name="T27" fmla="*/ 586 h 678"/>
                <a:gd name="T28" fmla="*/ 1296 w 1296"/>
                <a:gd name="T29" fmla="*/ 622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6" h="678">
                  <a:moveTo>
                    <a:pt x="0" y="610"/>
                  </a:moveTo>
                  <a:cubicBezTo>
                    <a:pt x="16" y="604"/>
                    <a:pt x="64" y="589"/>
                    <a:pt x="96" y="577"/>
                  </a:cubicBezTo>
                  <a:cubicBezTo>
                    <a:pt x="128" y="565"/>
                    <a:pt x="157" y="537"/>
                    <a:pt x="189" y="538"/>
                  </a:cubicBezTo>
                  <a:cubicBezTo>
                    <a:pt x="221" y="539"/>
                    <a:pt x="252" y="560"/>
                    <a:pt x="288" y="583"/>
                  </a:cubicBezTo>
                  <a:cubicBezTo>
                    <a:pt x="324" y="606"/>
                    <a:pt x="373" y="676"/>
                    <a:pt x="405" y="676"/>
                  </a:cubicBezTo>
                  <a:cubicBezTo>
                    <a:pt x="437" y="676"/>
                    <a:pt x="457" y="632"/>
                    <a:pt x="480" y="583"/>
                  </a:cubicBezTo>
                  <a:cubicBezTo>
                    <a:pt x="503" y="534"/>
                    <a:pt x="511" y="476"/>
                    <a:pt x="543" y="379"/>
                  </a:cubicBezTo>
                  <a:cubicBezTo>
                    <a:pt x="575" y="282"/>
                    <a:pt x="629" y="2"/>
                    <a:pt x="672" y="1"/>
                  </a:cubicBezTo>
                  <a:cubicBezTo>
                    <a:pt x="715" y="0"/>
                    <a:pt x="771" y="275"/>
                    <a:pt x="804" y="373"/>
                  </a:cubicBezTo>
                  <a:cubicBezTo>
                    <a:pt x="837" y="471"/>
                    <a:pt x="845" y="542"/>
                    <a:pt x="870" y="592"/>
                  </a:cubicBezTo>
                  <a:cubicBezTo>
                    <a:pt x="895" y="642"/>
                    <a:pt x="923" y="678"/>
                    <a:pt x="954" y="676"/>
                  </a:cubicBezTo>
                  <a:cubicBezTo>
                    <a:pt x="985" y="674"/>
                    <a:pt x="1027" y="601"/>
                    <a:pt x="1059" y="577"/>
                  </a:cubicBezTo>
                  <a:cubicBezTo>
                    <a:pt x="1091" y="553"/>
                    <a:pt x="1118" y="528"/>
                    <a:pt x="1149" y="529"/>
                  </a:cubicBezTo>
                  <a:cubicBezTo>
                    <a:pt x="1180" y="530"/>
                    <a:pt x="1224" y="571"/>
                    <a:pt x="1248" y="586"/>
                  </a:cubicBezTo>
                  <a:cubicBezTo>
                    <a:pt x="1272" y="601"/>
                    <a:pt x="1286" y="615"/>
                    <a:pt x="1296" y="622"/>
                  </a:cubicBez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3" name="Left-Right Arrow 2"/>
          <p:cNvSpPr/>
          <p:nvPr/>
        </p:nvSpPr>
        <p:spPr bwMode="auto">
          <a:xfrm>
            <a:off x="3433660" y="2878967"/>
            <a:ext cx="1338469" cy="538163"/>
          </a:xfrm>
          <a:prstGeom prst="lef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583181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31"/>
          <p:cNvGrpSpPr>
            <a:grpSpLocks/>
          </p:cNvGrpSpPr>
          <p:nvPr/>
        </p:nvGrpSpPr>
        <p:grpSpPr bwMode="auto">
          <a:xfrm>
            <a:off x="974037" y="2271748"/>
            <a:ext cx="1981200" cy="1752600"/>
            <a:chOff x="3975" y="1104"/>
            <a:chExt cx="1248" cy="1104"/>
          </a:xfrm>
        </p:grpSpPr>
        <p:grpSp>
          <p:nvGrpSpPr>
            <p:cNvPr id="16" name="Group 4"/>
            <p:cNvGrpSpPr>
              <a:grpSpLocks/>
            </p:cNvGrpSpPr>
            <p:nvPr/>
          </p:nvGrpSpPr>
          <p:grpSpPr bwMode="auto">
            <a:xfrm>
              <a:off x="3975" y="1104"/>
              <a:ext cx="1248" cy="1104"/>
              <a:chOff x="384" y="2064"/>
              <a:chExt cx="1536" cy="1392"/>
            </a:xfrm>
          </p:grpSpPr>
          <p:sp>
            <p:nvSpPr>
              <p:cNvPr id="18" name="Line 5"/>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19" name="Line 6"/>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17" name="Freeform 11"/>
            <p:cNvSpPr>
              <a:spLocks/>
            </p:cNvSpPr>
            <p:nvPr/>
          </p:nvSpPr>
          <p:spPr bwMode="auto">
            <a:xfrm>
              <a:off x="3984" y="1328"/>
              <a:ext cx="1152" cy="864"/>
            </a:xfrm>
            <a:custGeom>
              <a:avLst/>
              <a:gdLst>
                <a:gd name="T0" fmla="*/ 0 w 1152"/>
                <a:gd name="T1" fmla="*/ 864 h 864"/>
                <a:gd name="T2" fmla="*/ 384 w 1152"/>
                <a:gd name="T3" fmla="*/ 864 h 864"/>
                <a:gd name="T4" fmla="*/ 384 w 1152"/>
                <a:gd name="T5" fmla="*/ 0 h 864"/>
                <a:gd name="T6" fmla="*/ 768 w 1152"/>
                <a:gd name="T7" fmla="*/ 0 h 864"/>
                <a:gd name="T8" fmla="*/ 768 w 1152"/>
                <a:gd name="T9" fmla="*/ 864 h 864"/>
                <a:gd name="T10" fmla="*/ 1152 w 1152"/>
                <a:gd name="T11" fmla="*/ 864 h 864"/>
              </a:gdLst>
              <a:ahLst/>
              <a:cxnLst>
                <a:cxn ang="0">
                  <a:pos x="T0" y="T1"/>
                </a:cxn>
                <a:cxn ang="0">
                  <a:pos x="T2" y="T3"/>
                </a:cxn>
                <a:cxn ang="0">
                  <a:pos x="T4" y="T5"/>
                </a:cxn>
                <a:cxn ang="0">
                  <a:pos x="T6" y="T7"/>
                </a:cxn>
                <a:cxn ang="0">
                  <a:pos x="T8" y="T9"/>
                </a:cxn>
                <a:cxn ang="0">
                  <a:pos x="T10" y="T11"/>
                </a:cxn>
              </a:cxnLst>
              <a:rect l="0" t="0" r="r" b="b"/>
              <a:pathLst>
                <a:path w="1152" h="864">
                  <a:moveTo>
                    <a:pt x="0" y="864"/>
                  </a:moveTo>
                  <a:lnTo>
                    <a:pt x="384" y="864"/>
                  </a:lnTo>
                  <a:lnTo>
                    <a:pt x="384" y="0"/>
                  </a:lnTo>
                  <a:lnTo>
                    <a:pt x="768" y="0"/>
                  </a:lnTo>
                  <a:lnTo>
                    <a:pt x="768" y="864"/>
                  </a:lnTo>
                  <a:lnTo>
                    <a:pt x="1152" y="864"/>
                  </a:ln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3554" name="Rectangle 2"/>
          <p:cNvSpPr>
            <a:spLocks noGrp="1" noChangeArrowheads="1"/>
          </p:cNvSpPr>
          <p:nvPr>
            <p:ph type="title"/>
          </p:nvPr>
        </p:nvSpPr>
        <p:spPr>
          <a:xfrm>
            <a:off x="203200" y="165652"/>
            <a:ext cx="11785600" cy="838200"/>
          </a:xfrm>
        </p:spPr>
        <p:txBody>
          <a:bodyPr/>
          <a:lstStyle/>
          <a:p>
            <a:r>
              <a:rPr lang="en-US" altLang="en-US"/>
              <a:t>Cheap Sampling Filter</a:t>
            </a:r>
          </a:p>
        </p:txBody>
      </p:sp>
      <p:sp>
        <p:nvSpPr>
          <p:cNvPr id="14" name="Rectangle 3"/>
          <p:cNvSpPr txBox="1">
            <a:spLocks noChangeArrowheads="1"/>
          </p:cNvSpPr>
          <p:nvPr/>
        </p:nvSpPr>
        <p:spPr bwMode="auto">
          <a:xfrm>
            <a:off x="437326" y="4619696"/>
            <a:ext cx="7878417" cy="1016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r>
              <a:rPr lang="en-US" altLang="en-US" kern="0" dirty="0"/>
              <a:t>It is a sinc function in the frequency domain,</a:t>
            </a:r>
          </a:p>
          <a:p>
            <a:pPr eaLnBrk="1" hangingPunct="1"/>
            <a:r>
              <a:rPr lang="en-US" altLang="en-US" kern="0" dirty="0"/>
              <a:t>	with infinite ringing</a:t>
            </a:r>
          </a:p>
        </p:txBody>
      </p:sp>
      <p:grpSp>
        <p:nvGrpSpPr>
          <p:cNvPr id="20" name="Group 30"/>
          <p:cNvGrpSpPr>
            <a:grpSpLocks/>
          </p:cNvGrpSpPr>
          <p:nvPr/>
        </p:nvGrpSpPr>
        <p:grpSpPr bwMode="auto">
          <a:xfrm>
            <a:off x="5519532" y="2271748"/>
            <a:ext cx="2057400" cy="1752600"/>
            <a:chOff x="3936" y="2784"/>
            <a:chExt cx="1296" cy="1104"/>
          </a:xfrm>
        </p:grpSpPr>
        <p:sp>
          <p:nvSpPr>
            <p:cNvPr id="21" name="Freeform 20"/>
            <p:cNvSpPr>
              <a:spLocks/>
            </p:cNvSpPr>
            <p:nvPr/>
          </p:nvSpPr>
          <p:spPr bwMode="auto">
            <a:xfrm>
              <a:off x="3936" y="2784"/>
              <a:ext cx="1296" cy="1104"/>
            </a:xfrm>
            <a:custGeom>
              <a:avLst/>
              <a:gdLst>
                <a:gd name="T0" fmla="*/ 0 w 1536"/>
                <a:gd name="T1" fmla="*/ 0 h 1440"/>
                <a:gd name="T2" fmla="*/ 0 w 1536"/>
                <a:gd name="T3" fmla="*/ 1440 h 1440"/>
                <a:gd name="T4" fmla="*/ 1536 w 1536"/>
                <a:gd name="T5" fmla="*/ 1440 h 1440"/>
              </a:gdLst>
              <a:ahLst/>
              <a:cxnLst>
                <a:cxn ang="0">
                  <a:pos x="T0" y="T1"/>
                </a:cxn>
                <a:cxn ang="0">
                  <a:pos x="T2" y="T3"/>
                </a:cxn>
                <a:cxn ang="0">
                  <a:pos x="T4" y="T5"/>
                </a:cxn>
              </a:cxnLst>
              <a:rect l="0" t="0" r="r" b="b"/>
              <a:pathLst>
                <a:path w="1536" h="1440">
                  <a:moveTo>
                    <a:pt x="0" y="0"/>
                  </a:moveTo>
                  <a:lnTo>
                    <a:pt x="0" y="1440"/>
                  </a:lnTo>
                  <a:lnTo>
                    <a:pt x="1536" y="1440"/>
                  </a:lnTo>
                </a:path>
              </a:pathLst>
            </a:custGeom>
            <a:noFill/>
            <a:ln w="25400" cap="flat" cmpd="sng">
              <a:solidFill>
                <a:schemeClr val="tx1"/>
              </a:solidFill>
              <a:prstDash val="solid"/>
              <a:round/>
              <a:headEnd type="stealth" w="med" len="lg"/>
              <a:tailEnd type="stealth" w="med" len="lg"/>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2" name="Line 21"/>
            <p:cNvSpPr>
              <a:spLocks noChangeShapeType="1"/>
            </p:cNvSpPr>
            <p:nvPr/>
          </p:nvSpPr>
          <p:spPr bwMode="auto">
            <a:xfrm>
              <a:off x="3936" y="3504"/>
              <a:ext cx="1296" cy="0"/>
            </a:xfrm>
            <a:prstGeom prst="line">
              <a:avLst/>
            </a:prstGeom>
            <a:noFill/>
            <a:ln w="25400">
              <a:solidFill>
                <a:schemeClr val="hlink"/>
              </a:solidFill>
              <a:prstDash val="sysDot"/>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3" name="Freeform 29"/>
            <p:cNvSpPr>
              <a:spLocks/>
            </p:cNvSpPr>
            <p:nvPr/>
          </p:nvSpPr>
          <p:spPr bwMode="auto">
            <a:xfrm>
              <a:off x="3936" y="2927"/>
              <a:ext cx="1296" cy="678"/>
            </a:xfrm>
            <a:custGeom>
              <a:avLst/>
              <a:gdLst>
                <a:gd name="T0" fmla="*/ 0 w 1296"/>
                <a:gd name="T1" fmla="*/ 610 h 678"/>
                <a:gd name="T2" fmla="*/ 96 w 1296"/>
                <a:gd name="T3" fmla="*/ 577 h 678"/>
                <a:gd name="T4" fmla="*/ 189 w 1296"/>
                <a:gd name="T5" fmla="*/ 538 h 678"/>
                <a:gd name="T6" fmla="*/ 288 w 1296"/>
                <a:gd name="T7" fmla="*/ 583 h 678"/>
                <a:gd name="T8" fmla="*/ 405 w 1296"/>
                <a:gd name="T9" fmla="*/ 676 h 678"/>
                <a:gd name="T10" fmla="*/ 480 w 1296"/>
                <a:gd name="T11" fmla="*/ 583 h 678"/>
                <a:gd name="T12" fmla="*/ 543 w 1296"/>
                <a:gd name="T13" fmla="*/ 379 h 678"/>
                <a:gd name="T14" fmla="*/ 672 w 1296"/>
                <a:gd name="T15" fmla="*/ 1 h 678"/>
                <a:gd name="T16" fmla="*/ 804 w 1296"/>
                <a:gd name="T17" fmla="*/ 373 h 678"/>
                <a:gd name="T18" fmla="*/ 870 w 1296"/>
                <a:gd name="T19" fmla="*/ 592 h 678"/>
                <a:gd name="T20" fmla="*/ 954 w 1296"/>
                <a:gd name="T21" fmla="*/ 676 h 678"/>
                <a:gd name="T22" fmla="*/ 1059 w 1296"/>
                <a:gd name="T23" fmla="*/ 577 h 678"/>
                <a:gd name="T24" fmla="*/ 1149 w 1296"/>
                <a:gd name="T25" fmla="*/ 529 h 678"/>
                <a:gd name="T26" fmla="*/ 1248 w 1296"/>
                <a:gd name="T27" fmla="*/ 586 h 678"/>
                <a:gd name="T28" fmla="*/ 1296 w 1296"/>
                <a:gd name="T29" fmla="*/ 622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96" h="678">
                  <a:moveTo>
                    <a:pt x="0" y="610"/>
                  </a:moveTo>
                  <a:cubicBezTo>
                    <a:pt x="16" y="604"/>
                    <a:pt x="64" y="589"/>
                    <a:pt x="96" y="577"/>
                  </a:cubicBezTo>
                  <a:cubicBezTo>
                    <a:pt x="128" y="565"/>
                    <a:pt x="157" y="537"/>
                    <a:pt x="189" y="538"/>
                  </a:cubicBezTo>
                  <a:cubicBezTo>
                    <a:pt x="221" y="539"/>
                    <a:pt x="252" y="560"/>
                    <a:pt x="288" y="583"/>
                  </a:cubicBezTo>
                  <a:cubicBezTo>
                    <a:pt x="324" y="606"/>
                    <a:pt x="373" y="676"/>
                    <a:pt x="405" y="676"/>
                  </a:cubicBezTo>
                  <a:cubicBezTo>
                    <a:pt x="437" y="676"/>
                    <a:pt x="457" y="632"/>
                    <a:pt x="480" y="583"/>
                  </a:cubicBezTo>
                  <a:cubicBezTo>
                    <a:pt x="503" y="534"/>
                    <a:pt x="511" y="476"/>
                    <a:pt x="543" y="379"/>
                  </a:cubicBezTo>
                  <a:cubicBezTo>
                    <a:pt x="575" y="282"/>
                    <a:pt x="629" y="2"/>
                    <a:pt x="672" y="1"/>
                  </a:cubicBezTo>
                  <a:cubicBezTo>
                    <a:pt x="715" y="0"/>
                    <a:pt x="771" y="275"/>
                    <a:pt x="804" y="373"/>
                  </a:cubicBezTo>
                  <a:cubicBezTo>
                    <a:pt x="837" y="471"/>
                    <a:pt x="845" y="542"/>
                    <a:pt x="870" y="592"/>
                  </a:cubicBezTo>
                  <a:cubicBezTo>
                    <a:pt x="895" y="642"/>
                    <a:pt x="923" y="678"/>
                    <a:pt x="954" y="676"/>
                  </a:cubicBezTo>
                  <a:cubicBezTo>
                    <a:pt x="985" y="674"/>
                    <a:pt x="1027" y="601"/>
                    <a:pt x="1059" y="577"/>
                  </a:cubicBezTo>
                  <a:cubicBezTo>
                    <a:pt x="1091" y="553"/>
                    <a:pt x="1118" y="528"/>
                    <a:pt x="1149" y="529"/>
                  </a:cubicBezTo>
                  <a:cubicBezTo>
                    <a:pt x="1180" y="530"/>
                    <a:pt x="1224" y="571"/>
                    <a:pt x="1248" y="586"/>
                  </a:cubicBezTo>
                  <a:cubicBezTo>
                    <a:pt x="1272" y="601"/>
                    <a:pt x="1286" y="615"/>
                    <a:pt x="1296" y="622"/>
                  </a:cubicBez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4" name="Left-Right Arrow 23"/>
          <p:cNvSpPr/>
          <p:nvPr/>
        </p:nvSpPr>
        <p:spPr bwMode="auto">
          <a:xfrm>
            <a:off x="3433664" y="2878967"/>
            <a:ext cx="1338469" cy="538163"/>
          </a:xfrm>
          <a:prstGeom prst="lef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592719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t>Gaussian Sampling Filter</a:t>
            </a:r>
          </a:p>
        </p:txBody>
      </p:sp>
      <p:sp>
        <p:nvSpPr>
          <p:cNvPr id="24579" name="Rectangle 3"/>
          <p:cNvSpPr>
            <a:spLocks noGrp="1" noChangeArrowheads="1"/>
          </p:cNvSpPr>
          <p:nvPr>
            <p:ph type="body" idx="1"/>
          </p:nvPr>
        </p:nvSpPr>
        <p:spPr>
          <a:xfrm>
            <a:off x="356979" y="5300318"/>
            <a:ext cx="7580243" cy="1337365"/>
          </a:xfrm>
        </p:spPr>
        <p:txBody>
          <a:bodyPr/>
          <a:lstStyle/>
          <a:p>
            <a:r>
              <a:rPr lang="en-US" altLang="en-US" dirty="0"/>
              <a:t>Fourier transform of Gaussian = Gaussian</a:t>
            </a:r>
          </a:p>
          <a:p>
            <a:r>
              <a:rPr lang="en-US" altLang="en-US" dirty="0"/>
              <a:t>Good compromise as a sampling filter</a:t>
            </a:r>
          </a:p>
        </p:txBody>
      </p:sp>
      <p:grpSp>
        <p:nvGrpSpPr>
          <p:cNvPr id="24586" name="Group 10"/>
          <p:cNvGrpSpPr>
            <a:grpSpLocks/>
          </p:cNvGrpSpPr>
          <p:nvPr/>
        </p:nvGrpSpPr>
        <p:grpSpPr bwMode="auto">
          <a:xfrm>
            <a:off x="159024" y="1358901"/>
            <a:ext cx="8507896" cy="3573117"/>
            <a:chOff x="1600" y="1200"/>
            <a:chExt cx="1408" cy="1104"/>
          </a:xfrm>
        </p:grpSpPr>
        <p:grpSp>
          <p:nvGrpSpPr>
            <p:cNvPr id="24583" name="Group 7"/>
            <p:cNvGrpSpPr>
              <a:grpSpLocks/>
            </p:cNvGrpSpPr>
            <p:nvPr/>
          </p:nvGrpSpPr>
          <p:grpSpPr bwMode="auto">
            <a:xfrm>
              <a:off x="1600" y="1200"/>
              <a:ext cx="1408" cy="1104"/>
              <a:chOff x="384" y="2064"/>
              <a:chExt cx="1536" cy="1392"/>
            </a:xfrm>
          </p:grpSpPr>
          <p:sp>
            <p:nvSpPr>
              <p:cNvPr id="24584" name="Line 8"/>
              <p:cNvSpPr>
                <a:spLocks noChangeShapeType="1"/>
              </p:cNvSpPr>
              <p:nvPr/>
            </p:nvSpPr>
            <p:spPr bwMode="auto">
              <a:xfrm flipV="1">
                <a:off x="1104" y="2064"/>
                <a:ext cx="0" cy="1392"/>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sp>
            <p:nvSpPr>
              <p:cNvPr id="24585" name="Line 9"/>
              <p:cNvSpPr>
                <a:spLocks noChangeShapeType="1"/>
              </p:cNvSpPr>
              <p:nvPr/>
            </p:nvSpPr>
            <p:spPr bwMode="auto">
              <a:xfrm>
                <a:off x="384" y="3456"/>
                <a:ext cx="1536" cy="0"/>
              </a:xfrm>
              <a:prstGeom prst="line">
                <a:avLst/>
              </a:prstGeom>
              <a:noFill/>
              <a:ln w="25400">
                <a:solidFill>
                  <a:schemeClr val="tx1"/>
                </a:solidFill>
                <a:round/>
                <a:headEnd/>
                <a:tailEnd type="stealth" w="med" len="lg"/>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
          <p:nvSpPr>
            <p:cNvPr id="24581" name="Freeform 5"/>
            <p:cNvSpPr>
              <a:spLocks/>
            </p:cNvSpPr>
            <p:nvPr/>
          </p:nvSpPr>
          <p:spPr bwMode="auto">
            <a:xfrm>
              <a:off x="1936" y="1488"/>
              <a:ext cx="624" cy="816"/>
            </a:xfrm>
            <a:custGeom>
              <a:avLst/>
              <a:gdLst>
                <a:gd name="T0" fmla="*/ 0 w 384"/>
                <a:gd name="T1" fmla="*/ 1021 h 1031"/>
                <a:gd name="T2" fmla="*/ 108 w 384"/>
                <a:gd name="T3" fmla="*/ 861 h 1031"/>
                <a:gd name="T4" fmla="*/ 200 w 384"/>
                <a:gd name="T5" fmla="*/ 1 h 1031"/>
                <a:gd name="T6" fmla="*/ 296 w 384"/>
                <a:gd name="T7" fmla="*/ 857 h 1031"/>
                <a:gd name="T8" fmla="*/ 384 w 384"/>
                <a:gd name="T9" fmla="*/ 1021 h 1031"/>
              </a:gdLst>
              <a:ahLst/>
              <a:cxnLst>
                <a:cxn ang="0">
                  <a:pos x="T0" y="T1"/>
                </a:cxn>
                <a:cxn ang="0">
                  <a:pos x="T2" y="T3"/>
                </a:cxn>
                <a:cxn ang="0">
                  <a:pos x="T4" y="T5"/>
                </a:cxn>
                <a:cxn ang="0">
                  <a:pos x="T6" y="T7"/>
                </a:cxn>
                <a:cxn ang="0">
                  <a:pos x="T8" y="T9"/>
                </a:cxn>
              </a:cxnLst>
              <a:rect l="0" t="0" r="r" b="b"/>
              <a:pathLst>
                <a:path w="384" h="1031">
                  <a:moveTo>
                    <a:pt x="0" y="1021"/>
                  </a:moveTo>
                  <a:cubicBezTo>
                    <a:pt x="18" y="994"/>
                    <a:pt x="75" y="1031"/>
                    <a:pt x="108" y="861"/>
                  </a:cubicBezTo>
                  <a:cubicBezTo>
                    <a:pt x="141" y="691"/>
                    <a:pt x="169" y="2"/>
                    <a:pt x="200" y="1"/>
                  </a:cubicBezTo>
                  <a:cubicBezTo>
                    <a:pt x="231" y="0"/>
                    <a:pt x="265" y="687"/>
                    <a:pt x="296" y="857"/>
                  </a:cubicBezTo>
                  <a:cubicBezTo>
                    <a:pt x="327" y="1027"/>
                    <a:pt x="366" y="987"/>
                    <a:pt x="384" y="1021"/>
                  </a:cubicBezTo>
                </a:path>
              </a:pathLst>
            </a:custGeom>
            <a:noFill/>
            <a:ln w="25400" cap="flat" cmpd="sng">
              <a:solidFill>
                <a:schemeClr val="tx2"/>
              </a:solidFill>
              <a:prstDash val="solid"/>
              <a:round/>
              <a:headEnd/>
              <a:tailEnd/>
            </a:ln>
            <a:effectLst>
              <a:outerShdw dist="17961" dir="2700000" algn="ctr" rotWithShape="0">
                <a:schemeClr val="bg2"/>
              </a:outerShdw>
            </a:effectLst>
            <a:extLst>
              <a:ext uri="{909E8E84-426E-40DD-AFC4-6F175D3DCCD1}">
                <a14:hiddenFill xmlns:a14="http://schemas.microsoft.com/office/drawing/2010/main">
                  <a:solidFill>
                    <a:schemeClr val="accent2">
                      <a:alpha val="50000"/>
                    </a:schemeClr>
                  </a:solidFill>
                </a14:hiddenFill>
              </a:ext>
            </a:extLst>
          </p:spPr>
          <p:txBody>
            <a:bodyPr wrap="none" anchor="ctr"/>
            <a:lstStyle/>
            <a:p>
              <a:pPr algn="ctr"/>
              <a:endParaRPr lang="en-US">
                <a:solidFill>
                  <a:srgbClr val="FFFFFF"/>
                </a:solidFill>
                <a:effectLst>
                  <a:outerShdw blurRad="38100" dist="38100" dir="2700000" algn="tl">
                    <a:srgbClr val="000000">
                      <a:alpha val="43137"/>
                    </a:srgbClr>
                  </a:outerShdw>
                </a:effectLst>
                <a:latin typeface="ZapfHumnst BT" pitchFamily="34" charset="0"/>
              </a:endParaRPr>
            </a:p>
          </p:txBody>
        </p:sp>
      </p:grpSp>
    </p:spTree>
    <p:extLst>
      <p:ext uri="{BB962C8B-B14F-4D97-AF65-F5344CB8AC3E}">
        <p14:creationId xmlns:p14="http://schemas.microsoft.com/office/powerpoint/2010/main" val="2354997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 &amp; Its Mirror in Fourier Space</a:t>
            </a:r>
          </a:p>
        </p:txBody>
      </p:sp>
      <p:pic>
        <p:nvPicPr>
          <p:cNvPr id="4" name="Picture 3"/>
          <p:cNvPicPr>
            <a:picLocks noChangeAspect="1"/>
          </p:cNvPicPr>
          <p:nvPr/>
        </p:nvPicPr>
        <p:blipFill>
          <a:blip r:embed="rId3"/>
          <a:stretch>
            <a:fillRect/>
          </a:stretch>
        </p:blipFill>
        <p:spPr>
          <a:xfrm>
            <a:off x="-39755" y="832726"/>
            <a:ext cx="7439025" cy="2314575"/>
          </a:xfrm>
          <a:prstGeom prst="rect">
            <a:avLst/>
          </a:prstGeom>
        </p:spPr>
      </p:pic>
      <p:pic>
        <p:nvPicPr>
          <p:cNvPr id="5" name="Picture 4"/>
          <p:cNvPicPr>
            <a:picLocks noChangeAspect="1"/>
          </p:cNvPicPr>
          <p:nvPr/>
        </p:nvPicPr>
        <p:blipFill>
          <a:blip r:embed="rId4"/>
          <a:stretch>
            <a:fillRect/>
          </a:stretch>
        </p:blipFill>
        <p:spPr>
          <a:xfrm>
            <a:off x="1134528" y="3250864"/>
            <a:ext cx="7093819" cy="1473521"/>
          </a:xfrm>
          <a:prstGeom prst="rect">
            <a:avLst/>
          </a:prstGeom>
        </p:spPr>
      </p:pic>
      <p:pic>
        <p:nvPicPr>
          <p:cNvPr id="9"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7145860" y="1075673"/>
            <a:ext cx="1805985" cy="1805985"/>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3"/>
          <p:cNvPicPr>
            <a:picLocks noGrp="1" noChangeAspect="1"/>
          </p:cNvPicPr>
          <p:nvPr>
            <p:ph idx="1"/>
          </p:nvPr>
        </p:nvPicPr>
        <p:blipFill>
          <a:blip r:embed="rId6"/>
          <a:stretch>
            <a:fillRect/>
          </a:stretch>
        </p:blipFill>
        <p:spPr>
          <a:xfrm>
            <a:off x="567728" y="4691848"/>
            <a:ext cx="8384116" cy="1947231"/>
          </a:xfrm>
          <a:prstGeom prst="rect">
            <a:avLst/>
          </a:prstGeom>
        </p:spPr>
      </p:pic>
      <p:sp>
        <p:nvSpPr>
          <p:cNvPr id="7" name="Left-Right Arrow 6"/>
          <p:cNvSpPr/>
          <p:nvPr/>
        </p:nvSpPr>
        <p:spPr bwMode="auto">
          <a:xfrm>
            <a:off x="4253111" y="5874295"/>
            <a:ext cx="818148" cy="394636"/>
          </a:xfrm>
          <a:prstGeom prst="leftRigh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8" name="Left-Right Arrow 7"/>
          <p:cNvSpPr/>
          <p:nvPr/>
        </p:nvSpPr>
        <p:spPr bwMode="auto">
          <a:xfrm>
            <a:off x="4253111" y="3820884"/>
            <a:ext cx="818148" cy="394636"/>
          </a:xfrm>
          <a:prstGeom prst="leftRigh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893224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Transform of S</a:t>
            </a:r>
            <a:r>
              <a:rPr lang="en-US" baseline="-25000" dirty="0"/>
              <a:t>T</a:t>
            </a:r>
            <a:r>
              <a:rPr lang="en-US" dirty="0"/>
              <a:t>(t)</a:t>
            </a:r>
          </a:p>
        </p:txBody>
      </p:sp>
      <p:pic>
        <p:nvPicPr>
          <p:cNvPr id="4" name="Picture 3"/>
          <p:cNvPicPr>
            <a:picLocks noChangeAspect="1"/>
          </p:cNvPicPr>
          <p:nvPr/>
        </p:nvPicPr>
        <p:blipFill>
          <a:blip r:embed="rId3"/>
          <a:stretch>
            <a:fillRect/>
          </a:stretch>
        </p:blipFill>
        <p:spPr>
          <a:xfrm>
            <a:off x="457988" y="984067"/>
            <a:ext cx="8148513" cy="5698391"/>
          </a:xfrm>
          <a:prstGeom prst="rect">
            <a:avLst/>
          </a:prstGeom>
        </p:spPr>
      </p:pic>
    </p:spTree>
    <p:extLst>
      <p:ext uri="{BB962C8B-B14F-4D97-AF65-F5344CB8AC3E}">
        <p14:creationId xmlns:p14="http://schemas.microsoft.com/office/powerpoint/2010/main" val="2871934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 S</a:t>
            </a:r>
            <a:r>
              <a:rPr lang="en-US" baseline="-25000" dirty="0"/>
              <a:t>T</a:t>
            </a:r>
            <a:r>
              <a:rPr lang="en-US" dirty="0"/>
              <a:t>(t) &amp; Its Mirror</a:t>
            </a:r>
          </a:p>
        </p:txBody>
      </p:sp>
      <p:pic>
        <p:nvPicPr>
          <p:cNvPr id="3" name="Picture 2"/>
          <p:cNvPicPr>
            <a:picLocks noChangeAspect="1"/>
          </p:cNvPicPr>
          <p:nvPr/>
        </p:nvPicPr>
        <p:blipFill>
          <a:blip r:embed="rId3"/>
          <a:stretch>
            <a:fillRect/>
          </a:stretch>
        </p:blipFill>
        <p:spPr>
          <a:xfrm>
            <a:off x="216093" y="4849189"/>
            <a:ext cx="8605802" cy="1702752"/>
          </a:xfrm>
          <a:prstGeom prst="rect">
            <a:avLst/>
          </a:prstGeom>
        </p:spPr>
      </p:pic>
      <p:sp>
        <p:nvSpPr>
          <p:cNvPr id="5" name="Rectangle 4"/>
          <p:cNvSpPr/>
          <p:nvPr/>
        </p:nvSpPr>
        <p:spPr bwMode="auto">
          <a:xfrm>
            <a:off x="6944561" y="5476776"/>
            <a:ext cx="991402" cy="45238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6" name="Picture 5"/>
          <p:cNvPicPr>
            <a:picLocks noChangeAspect="1"/>
          </p:cNvPicPr>
          <p:nvPr/>
        </p:nvPicPr>
        <p:blipFill>
          <a:blip r:embed="rId4"/>
          <a:stretch>
            <a:fillRect/>
          </a:stretch>
        </p:blipFill>
        <p:spPr>
          <a:xfrm>
            <a:off x="478043" y="2192246"/>
            <a:ext cx="3057525" cy="1562100"/>
          </a:xfrm>
          <a:prstGeom prst="rect">
            <a:avLst/>
          </a:prstGeom>
        </p:spPr>
      </p:pic>
      <p:pic>
        <p:nvPicPr>
          <p:cNvPr id="7" name="Picture 6"/>
          <p:cNvPicPr>
            <a:picLocks noChangeAspect="1"/>
          </p:cNvPicPr>
          <p:nvPr/>
        </p:nvPicPr>
        <p:blipFill>
          <a:blip r:embed="rId4"/>
          <a:stretch>
            <a:fillRect/>
          </a:stretch>
        </p:blipFill>
        <p:spPr>
          <a:xfrm>
            <a:off x="5138325" y="2192246"/>
            <a:ext cx="1331445" cy="1562100"/>
          </a:xfrm>
          <a:prstGeom prst="rect">
            <a:avLst/>
          </a:prstGeom>
        </p:spPr>
      </p:pic>
      <p:pic>
        <p:nvPicPr>
          <p:cNvPr id="8" name="Picture 7"/>
          <p:cNvPicPr>
            <a:picLocks noChangeAspect="1"/>
          </p:cNvPicPr>
          <p:nvPr/>
        </p:nvPicPr>
        <p:blipFill>
          <a:blip r:embed="rId4"/>
          <a:stretch>
            <a:fillRect/>
          </a:stretch>
        </p:blipFill>
        <p:spPr>
          <a:xfrm>
            <a:off x="6517895" y="2192246"/>
            <a:ext cx="1331445" cy="1562100"/>
          </a:xfrm>
          <a:prstGeom prst="rect">
            <a:avLst/>
          </a:prstGeom>
        </p:spPr>
      </p:pic>
      <p:cxnSp>
        <p:nvCxnSpPr>
          <p:cNvPr id="10" name="Straight Arrow Connector 9"/>
          <p:cNvCxnSpPr/>
          <p:nvPr/>
        </p:nvCxnSpPr>
        <p:spPr bwMode="auto">
          <a:xfrm>
            <a:off x="90969" y="3676851"/>
            <a:ext cx="3946767" cy="0"/>
          </a:xfrm>
          <a:prstGeom prst="straightConnector1">
            <a:avLst/>
          </a:prstGeom>
          <a:solidFill>
            <a:schemeClr val="accent1"/>
          </a:solidFill>
          <a:ln w="76200"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778880" y="3675247"/>
            <a:ext cx="3946767" cy="0"/>
          </a:xfrm>
          <a:prstGeom prst="straightConnector1">
            <a:avLst/>
          </a:prstGeom>
          <a:solidFill>
            <a:schemeClr val="accent1"/>
          </a:solidFill>
          <a:ln w="76200" cap="flat" cmpd="sng" algn="ctr">
            <a:solidFill>
              <a:schemeClr val="tx1"/>
            </a:solidFill>
            <a:prstDash val="solid"/>
            <a:round/>
            <a:headEnd type="none" w="med" len="med"/>
            <a:tailEnd type="triangle"/>
          </a:ln>
          <a:effectLst/>
        </p:spPr>
      </p:cxnSp>
      <p:sp>
        <p:nvSpPr>
          <p:cNvPr id="12" name="Left-Right Arrow 11"/>
          <p:cNvSpPr/>
          <p:nvPr/>
        </p:nvSpPr>
        <p:spPr bwMode="auto">
          <a:xfrm>
            <a:off x="3652726" y="2743201"/>
            <a:ext cx="1260909" cy="587141"/>
          </a:xfrm>
          <a:prstGeom prst="leftRigh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14" name="Straight Connector 13"/>
          <p:cNvCxnSpPr/>
          <p:nvPr/>
        </p:nvCxnSpPr>
        <p:spPr bwMode="auto">
          <a:xfrm flipV="1">
            <a:off x="5962785" y="1463040"/>
            <a:ext cx="173255" cy="808522"/>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5" name="Straight Connector 14"/>
          <p:cNvCxnSpPr/>
          <p:nvPr/>
        </p:nvCxnSpPr>
        <p:spPr bwMode="auto">
          <a:xfrm flipV="1">
            <a:off x="6078546" y="1463040"/>
            <a:ext cx="829377" cy="855044"/>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8" name="Straight Arrow Connector 17"/>
          <p:cNvCxnSpPr/>
          <p:nvPr/>
        </p:nvCxnSpPr>
        <p:spPr bwMode="auto">
          <a:xfrm>
            <a:off x="6126414" y="1463040"/>
            <a:ext cx="808522" cy="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9" name="Straight Connector 18"/>
          <p:cNvCxnSpPr/>
          <p:nvPr/>
        </p:nvCxnSpPr>
        <p:spPr bwMode="auto">
          <a:xfrm flipV="1">
            <a:off x="2005198" y="1463040"/>
            <a:ext cx="173255" cy="808522"/>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0" name="Straight Connector 19"/>
          <p:cNvCxnSpPr/>
          <p:nvPr/>
        </p:nvCxnSpPr>
        <p:spPr bwMode="auto">
          <a:xfrm flipV="1">
            <a:off x="2342083" y="1463040"/>
            <a:ext cx="608253" cy="808522"/>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1" name="Straight Arrow Connector 20"/>
          <p:cNvCxnSpPr/>
          <p:nvPr/>
        </p:nvCxnSpPr>
        <p:spPr bwMode="auto">
          <a:xfrm>
            <a:off x="2168827" y="1463040"/>
            <a:ext cx="808522" cy="0"/>
          </a:xfrm>
          <a:prstGeom prst="straightConnector1">
            <a:avLst/>
          </a:prstGeom>
          <a:solidFill>
            <a:schemeClr val="accent1"/>
          </a:solidFill>
          <a:ln w="9525" cap="flat" cmpd="sng" algn="ctr">
            <a:solidFill>
              <a:schemeClr val="tx1"/>
            </a:solidFill>
            <a:prstDash val="solid"/>
            <a:round/>
            <a:headEnd type="triangle"/>
            <a:tailEnd type="triangle"/>
          </a:ln>
          <a:effectLst/>
        </p:spPr>
      </p:cxnSp>
      <p:graphicFrame>
        <p:nvGraphicFramePr>
          <p:cNvPr id="26" name="Object 25"/>
          <p:cNvGraphicFramePr>
            <a:graphicFrameLocks noChangeAspect="1"/>
          </p:cNvGraphicFramePr>
          <p:nvPr>
            <p:extLst>
              <p:ext uri="{D42A27DB-BD31-4B8C-83A1-F6EECF244321}">
                <p14:modId xmlns:p14="http://schemas.microsoft.com/office/powerpoint/2010/main" val="3261812880"/>
              </p:ext>
            </p:extLst>
          </p:nvPr>
        </p:nvGraphicFramePr>
        <p:xfrm>
          <a:off x="2414765" y="1141779"/>
          <a:ext cx="232028" cy="261907"/>
        </p:xfrm>
        <a:graphic>
          <a:graphicData uri="http://schemas.openxmlformats.org/presentationml/2006/ole">
            <mc:AlternateContent xmlns:mc="http://schemas.openxmlformats.org/markup-compatibility/2006">
              <mc:Choice xmlns:v="urn:schemas-microsoft-com:vml" Requires="v">
                <p:oleObj name="Equation" r:id="rId5" imgW="203040" imgH="228600" progId="Equation.DSMT4">
                  <p:embed/>
                </p:oleObj>
              </mc:Choice>
              <mc:Fallback>
                <p:oleObj name="Equation" r:id="rId5" imgW="203040" imgH="228600" progId="Equation.DSMT4">
                  <p:embed/>
                  <p:pic>
                    <p:nvPicPr>
                      <p:cNvPr id="3" name="Object 2"/>
                      <p:cNvPicPr>
                        <a:picLocks noChangeAspect="1" noChangeArrowheads="1"/>
                      </p:cNvPicPr>
                      <p:nvPr/>
                    </p:nvPicPr>
                    <p:blipFill>
                      <a:blip r:embed="rId6"/>
                      <a:srcRect/>
                      <a:stretch>
                        <a:fillRect/>
                      </a:stretch>
                    </p:blipFill>
                    <p:spPr bwMode="auto">
                      <a:xfrm>
                        <a:off x="2414765" y="1141779"/>
                        <a:ext cx="232028" cy="261907"/>
                      </a:xfrm>
                      <a:prstGeom prst="rect">
                        <a:avLst/>
                      </a:prstGeom>
                      <a:noFill/>
                      <a:ln>
                        <a:noFill/>
                      </a:ln>
                      <a:effectLst/>
                    </p:spPr>
                  </p:pic>
                </p:oleObj>
              </mc:Fallback>
            </mc:AlternateContent>
          </a:graphicData>
        </a:graphic>
      </p:graphicFrame>
      <p:graphicFrame>
        <p:nvGraphicFramePr>
          <p:cNvPr id="27" name="Object 26"/>
          <p:cNvGraphicFramePr>
            <a:graphicFrameLocks noChangeAspect="1"/>
          </p:cNvGraphicFramePr>
          <p:nvPr>
            <p:extLst>
              <p:ext uri="{D42A27DB-BD31-4B8C-83A1-F6EECF244321}">
                <p14:modId xmlns:p14="http://schemas.microsoft.com/office/powerpoint/2010/main" val="340166044"/>
              </p:ext>
            </p:extLst>
          </p:nvPr>
        </p:nvGraphicFramePr>
        <p:xfrm>
          <a:off x="6333259" y="1008805"/>
          <a:ext cx="261938" cy="701675"/>
        </p:xfrm>
        <a:graphic>
          <a:graphicData uri="http://schemas.openxmlformats.org/presentationml/2006/ole">
            <mc:AlternateContent xmlns:mc="http://schemas.openxmlformats.org/markup-compatibility/2006">
              <mc:Choice xmlns:v="urn:schemas-microsoft-com:vml" Requires="v">
                <p:oleObj name="Equation" r:id="rId7" imgW="228600" imgH="609480" progId="Equation.DSMT4">
                  <p:embed/>
                </p:oleObj>
              </mc:Choice>
              <mc:Fallback>
                <p:oleObj name="Equation" r:id="rId7" imgW="228600" imgH="609480" progId="Equation.DSMT4">
                  <p:embed/>
                  <p:pic>
                    <p:nvPicPr>
                      <p:cNvPr id="26" name="Object 25"/>
                      <p:cNvPicPr>
                        <a:picLocks noChangeAspect="1" noChangeArrowheads="1"/>
                      </p:cNvPicPr>
                      <p:nvPr/>
                    </p:nvPicPr>
                    <p:blipFill>
                      <a:blip r:embed="rId8"/>
                      <a:srcRect/>
                      <a:stretch>
                        <a:fillRect/>
                      </a:stretch>
                    </p:blipFill>
                    <p:spPr bwMode="auto">
                      <a:xfrm>
                        <a:off x="6333259" y="1008805"/>
                        <a:ext cx="261938" cy="701675"/>
                      </a:xfrm>
                      <a:prstGeom prst="rect">
                        <a:avLst/>
                      </a:prstGeom>
                      <a:solidFill>
                        <a:schemeClr val="bg1"/>
                      </a:solidFill>
                      <a:ln>
                        <a:noFill/>
                      </a:ln>
                      <a:effectLst/>
                    </p:spPr>
                  </p:pic>
                </p:oleObj>
              </mc:Fallback>
            </mc:AlternateContent>
          </a:graphicData>
        </a:graphic>
      </p:graphicFrame>
    </p:spTree>
    <p:extLst>
      <p:ext uri="{BB962C8B-B14F-4D97-AF65-F5344CB8AC3E}">
        <p14:creationId xmlns:p14="http://schemas.microsoft.com/office/powerpoint/2010/main" val="3165301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Sampling Signal</a:t>
            </a:r>
            <a:endParaRPr lang="en-US" dirty="0"/>
          </a:p>
        </p:txBody>
      </p:sp>
      <p:pic>
        <p:nvPicPr>
          <p:cNvPr id="4" name="Picture 3"/>
          <p:cNvPicPr>
            <a:picLocks noChangeAspect="1"/>
          </p:cNvPicPr>
          <p:nvPr/>
        </p:nvPicPr>
        <p:blipFill>
          <a:blip r:embed="rId3"/>
          <a:stretch>
            <a:fillRect/>
          </a:stretch>
        </p:blipFill>
        <p:spPr>
          <a:xfrm>
            <a:off x="951742" y="1357261"/>
            <a:ext cx="7293525" cy="4364958"/>
          </a:xfrm>
          <a:prstGeom prst="rect">
            <a:avLst/>
          </a:prstGeom>
        </p:spPr>
      </p:pic>
      <p:sp>
        <p:nvSpPr>
          <p:cNvPr id="3" name="Rectangle 2"/>
          <p:cNvSpPr/>
          <p:nvPr/>
        </p:nvSpPr>
        <p:spPr bwMode="auto">
          <a:xfrm>
            <a:off x="9127959" y="5274644"/>
            <a:ext cx="693019" cy="89515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662448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(Real Form)</a:t>
            </a:r>
          </a:p>
        </p:txBody>
      </p:sp>
      <p:graphicFrame>
        <p:nvGraphicFramePr>
          <p:cNvPr id="7" name="Object 6"/>
          <p:cNvGraphicFramePr>
            <a:graphicFrameLocks noChangeAspect="1"/>
          </p:cNvGraphicFramePr>
          <p:nvPr/>
        </p:nvGraphicFramePr>
        <p:xfrm>
          <a:off x="2090569" y="1119092"/>
          <a:ext cx="8010863" cy="1213344"/>
        </p:xfrm>
        <a:graphic>
          <a:graphicData uri="http://schemas.openxmlformats.org/presentationml/2006/ole">
            <mc:AlternateContent xmlns:mc="http://schemas.openxmlformats.org/markup-compatibility/2006">
              <mc:Choice xmlns:v="urn:schemas-microsoft-com:vml" Requires="v">
                <p:oleObj name="Equation" r:id="rId3" imgW="4533840" imgH="685800" progId="Equation.DSMT4">
                  <p:embed/>
                </p:oleObj>
              </mc:Choice>
              <mc:Fallback>
                <p:oleObj name="Equation" r:id="rId3" imgW="4533840" imgH="685800" progId="Equation.DSMT4">
                  <p:embed/>
                  <p:pic>
                    <p:nvPicPr>
                      <p:cNvPr id="7" name="Object 6"/>
                      <p:cNvPicPr>
                        <a:picLocks noChangeAspect="1" noChangeArrowheads="1"/>
                      </p:cNvPicPr>
                      <p:nvPr/>
                    </p:nvPicPr>
                    <p:blipFill>
                      <a:blip r:embed="rId4"/>
                      <a:srcRect/>
                      <a:stretch>
                        <a:fillRect/>
                      </a:stretch>
                    </p:blipFill>
                    <p:spPr bwMode="auto">
                      <a:xfrm>
                        <a:off x="2090569" y="1119092"/>
                        <a:ext cx="8010863" cy="1213344"/>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nvGraphicFramePr>
        <p:xfrm>
          <a:off x="2217738" y="3828003"/>
          <a:ext cx="3803650" cy="1560512"/>
        </p:xfrm>
        <a:graphic>
          <a:graphicData uri="http://schemas.openxmlformats.org/presentationml/2006/ole">
            <mc:AlternateContent xmlns:mc="http://schemas.openxmlformats.org/markup-compatibility/2006">
              <mc:Choice xmlns:v="urn:schemas-microsoft-com:vml" Requires="v">
                <p:oleObj name="Equation" r:id="rId5" imgW="2654280" imgH="1091880" progId="Equation.DSMT4">
                  <p:embed/>
                </p:oleObj>
              </mc:Choice>
              <mc:Fallback>
                <p:oleObj name="Equation" r:id="rId5" imgW="2654280" imgH="1091880" progId="Equation.DSMT4">
                  <p:embed/>
                  <p:pic>
                    <p:nvPicPr>
                      <p:cNvPr id="10" name="Object 9"/>
                      <p:cNvPicPr>
                        <a:picLocks noChangeAspect="1" noChangeArrowheads="1"/>
                      </p:cNvPicPr>
                      <p:nvPr/>
                    </p:nvPicPr>
                    <p:blipFill>
                      <a:blip r:embed="rId6"/>
                      <a:srcRect/>
                      <a:stretch>
                        <a:fillRect/>
                      </a:stretch>
                    </p:blipFill>
                    <p:spPr bwMode="auto">
                      <a:xfrm>
                        <a:off x="2217738" y="3828003"/>
                        <a:ext cx="3803650" cy="1560512"/>
                      </a:xfrm>
                      <a:prstGeom prst="rect">
                        <a:avLst/>
                      </a:prstGeom>
                      <a:noFill/>
                      <a:ln>
                        <a:noFill/>
                      </a:ln>
                      <a:effectLst/>
                    </p:spPr>
                  </p:pic>
                </p:oleObj>
              </mc:Fallback>
            </mc:AlternateContent>
          </a:graphicData>
        </a:graphic>
      </p:graphicFrame>
      <p:graphicFrame>
        <p:nvGraphicFramePr>
          <p:cNvPr id="11" name="Object 10"/>
          <p:cNvGraphicFramePr>
            <a:graphicFrameLocks noChangeAspect="1"/>
          </p:cNvGraphicFramePr>
          <p:nvPr/>
        </p:nvGraphicFramePr>
        <p:xfrm>
          <a:off x="2217739" y="2751536"/>
          <a:ext cx="2173931" cy="893446"/>
        </p:xfrm>
        <a:graphic>
          <a:graphicData uri="http://schemas.openxmlformats.org/presentationml/2006/ole">
            <mc:AlternateContent xmlns:mc="http://schemas.openxmlformats.org/markup-compatibility/2006">
              <mc:Choice xmlns:v="urn:schemas-microsoft-com:vml" Requires="v">
                <p:oleObj name="Equation" r:id="rId7" imgW="1485720" imgH="609480" progId="Equation.DSMT4">
                  <p:embed/>
                </p:oleObj>
              </mc:Choice>
              <mc:Fallback>
                <p:oleObj name="Equation" r:id="rId7" imgW="1485720" imgH="609480" progId="Equation.DSMT4">
                  <p:embed/>
                  <p:pic>
                    <p:nvPicPr>
                      <p:cNvPr id="11" name="Object 10"/>
                      <p:cNvPicPr>
                        <a:picLocks noChangeAspect="1" noChangeArrowheads="1"/>
                      </p:cNvPicPr>
                      <p:nvPr/>
                    </p:nvPicPr>
                    <p:blipFill>
                      <a:blip r:embed="rId8"/>
                      <a:srcRect/>
                      <a:stretch>
                        <a:fillRect/>
                      </a:stretch>
                    </p:blipFill>
                    <p:spPr bwMode="auto">
                      <a:xfrm>
                        <a:off x="2217739" y="2751536"/>
                        <a:ext cx="2173931" cy="893446"/>
                      </a:xfrm>
                      <a:prstGeom prst="rect">
                        <a:avLst/>
                      </a:prstGeom>
                      <a:noFill/>
                      <a:ln>
                        <a:noFill/>
                      </a:ln>
                      <a:effectLst/>
                    </p:spPr>
                  </p:pic>
                </p:oleObj>
              </mc:Fallback>
            </mc:AlternateContent>
          </a:graphicData>
        </a:graphic>
      </p:graphicFrame>
      <p:pic>
        <p:nvPicPr>
          <p:cNvPr id="12" name="Picture 12" descr="http://www.magic-emoji.com/emoji/images/83_emoji_iphone_black_diamond_suit.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0817" y="2612758"/>
            <a:ext cx="3156304" cy="315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463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Problem</a:t>
            </a:r>
          </a:p>
        </p:txBody>
      </p:sp>
      <p:graphicFrame>
        <p:nvGraphicFramePr>
          <p:cNvPr id="6" name="Object 5"/>
          <p:cNvGraphicFramePr>
            <a:graphicFrameLocks noChangeAspect="1"/>
          </p:cNvGraphicFramePr>
          <p:nvPr>
            <p:extLst>
              <p:ext uri="{D42A27DB-BD31-4B8C-83A1-F6EECF244321}">
                <p14:modId xmlns:p14="http://schemas.microsoft.com/office/powerpoint/2010/main" val="3634375913"/>
              </p:ext>
            </p:extLst>
          </p:nvPr>
        </p:nvGraphicFramePr>
        <p:xfrm>
          <a:off x="818361" y="1119092"/>
          <a:ext cx="8010863" cy="1213344"/>
        </p:xfrm>
        <a:graphic>
          <a:graphicData uri="http://schemas.openxmlformats.org/presentationml/2006/ole">
            <mc:AlternateContent xmlns:mc="http://schemas.openxmlformats.org/markup-compatibility/2006">
              <mc:Choice xmlns:v="urn:schemas-microsoft-com:vml" Requires="v">
                <p:oleObj name="Equation" r:id="rId3" imgW="4533840" imgH="685800" progId="Equation.DSMT4">
                  <p:embed/>
                </p:oleObj>
              </mc:Choice>
              <mc:Fallback>
                <p:oleObj name="Equation" r:id="rId3" imgW="4533840" imgH="685800" progId="Equation.DSMT4">
                  <p:embed/>
                  <p:pic>
                    <p:nvPicPr>
                      <p:cNvPr id="7" name="Object 6"/>
                      <p:cNvPicPr>
                        <a:picLocks noChangeAspect="1" noChangeArrowheads="1"/>
                      </p:cNvPicPr>
                      <p:nvPr/>
                    </p:nvPicPr>
                    <p:blipFill>
                      <a:blip r:embed="rId4"/>
                      <a:srcRect/>
                      <a:stretch>
                        <a:fillRect/>
                      </a:stretch>
                    </p:blipFill>
                    <p:spPr bwMode="auto">
                      <a:xfrm>
                        <a:off x="818361" y="1119092"/>
                        <a:ext cx="8010863" cy="1213344"/>
                      </a:xfrm>
                      <a:prstGeom prst="rect">
                        <a:avLst/>
                      </a:prstGeom>
                      <a:noFill/>
                      <a:ln>
                        <a:noFill/>
                      </a:ln>
                      <a:effectLst/>
                    </p:spPr>
                  </p:pic>
                </p:oleObj>
              </mc:Fallback>
            </mc:AlternateContent>
          </a:graphicData>
        </a:graphic>
      </p:graphicFrame>
      <p:pic>
        <p:nvPicPr>
          <p:cNvPr id="49154" name="Picture 2" descr="Image result for period func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4274" y="3095189"/>
            <a:ext cx="6899743" cy="2541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8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Estimate DC?</a:t>
            </a:r>
          </a:p>
        </p:txBody>
      </p:sp>
      <p:pic>
        <p:nvPicPr>
          <p:cNvPr id="4" name="Picture 2" descr="http://t2.gstatic.com/images?q=tbn:ANd9GcR-OMKssMc7rrbv4IzDsO0e7IK6ZG1_5D9lm7xr14kVU2fJsofH">
            <a:hlinkClick r:id="rId3"/>
          </p:cNvPr>
          <p:cNvPicPr>
            <a:picLocks noChangeAspect="1" noChangeArrowheads="1"/>
          </p:cNvPicPr>
          <p:nvPr/>
        </p:nvPicPr>
        <p:blipFill>
          <a:blip r:embed="rId4" cstate="print"/>
          <a:srcRect/>
          <a:stretch>
            <a:fillRect/>
          </a:stretch>
        </p:blipFill>
        <p:spPr bwMode="auto">
          <a:xfrm>
            <a:off x="593475" y="3985782"/>
            <a:ext cx="8868578" cy="2378306"/>
          </a:xfrm>
          <a:prstGeom prst="rect">
            <a:avLst/>
          </a:prstGeom>
          <a:noFill/>
        </p:spPr>
      </p:pic>
      <p:graphicFrame>
        <p:nvGraphicFramePr>
          <p:cNvPr id="7" name="Object 6"/>
          <p:cNvGraphicFramePr>
            <a:graphicFrameLocks noChangeAspect="1"/>
          </p:cNvGraphicFramePr>
          <p:nvPr>
            <p:extLst>
              <p:ext uri="{D42A27DB-BD31-4B8C-83A1-F6EECF244321}">
                <p14:modId xmlns:p14="http://schemas.microsoft.com/office/powerpoint/2010/main" val="2420564412"/>
              </p:ext>
            </p:extLst>
          </p:nvPr>
        </p:nvGraphicFramePr>
        <p:xfrm>
          <a:off x="884622" y="1119092"/>
          <a:ext cx="8010863" cy="1213344"/>
        </p:xfrm>
        <a:graphic>
          <a:graphicData uri="http://schemas.openxmlformats.org/presentationml/2006/ole">
            <mc:AlternateContent xmlns:mc="http://schemas.openxmlformats.org/markup-compatibility/2006">
              <mc:Choice xmlns:v="urn:schemas-microsoft-com:vml" Requires="v">
                <p:oleObj name="Equation" r:id="rId5" imgW="4533840" imgH="685800" progId="Equation.DSMT4">
                  <p:embed/>
                </p:oleObj>
              </mc:Choice>
              <mc:Fallback>
                <p:oleObj name="Equation" r:id="rId5" imgW="4533840" imgH="685800" progId="Equation.DSMT4">
                  <p:embed/>
                  <p:pic>
                    <p:nvPicPr>
                      <p:cNvPr id="6" name="Object 5"/>
                      <p:cNvPicPr>
                        <a:picLocks noChangeAspect="1" noChangeArrowheads="1"/>
                      </p:cNvPicPr>
                      <p:nvPr/>
                    </p:nvPicPr>
                    <p:blipFill>
                      <a:blip r:embed="rId6"/>
                      <a:srcRect/>
                      <a:stretch>
                        <a:fillRect/>
                      </a:stretch>
                    </p:blipFill>
                    <p:spPr bwMode="auto">
                      <a:xfrm>
                        <a:off x="884622" y="1119092"/>
                        <a:ext cx="8010863" cy="1213344"/>
                      </a:xfrm>
                      <a:prstGeom prst="rect">
                        <a:avLst/>
                      </a:prstGeom>
                      <a:noFill/>
                      <a:ln>
                        <a:noFill/>
                      </a:ln>
                      <a:effec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4252934163"/>
              </p:ext>
            </p:extLst>
          </p:nvPr>
        </p:nvGraphicFramePr>
        <p:xfrm>
          <a:off x="1011792" y="2751536"/>
          <a:ext cx="2173931" cy="893446"/>
        </p:xfrm>
        <a:graphic>
          <a:graphicData uri="http://schemas.openxmlformats.org/presentationml/2006/ole">
            <mc:AlternateContent xmlns:mc="http://schemas.openxmlformats.org/markup-compatibility/2006">
              <mc:Choice xmlns:v="urn:schemas-microsoft-com:vml" Requires="v">
                <p:oleObj name="Equation" r:id="rId7" imgW="1485720" imgH="609480" progId="Equation.DSMT4">
                  <p:embed/>
                </p:oleObj>
              </mc:Choice>
              <mc:Fallback>
                <p:oleObj name="Equation" r:id="rId7" imgW="1485720" imgH="609480" progId="Equation.DSMT4">
                  <p:embed/>
                  <p:pic>
                    <p:nvPicPr>
                      <p:cNvPr id="11" name="Object 10"/>
                      <p:cNvPicPr>
                        <a:picLocks noChangeAspect="1" noChangeArrowheads="1"/>
                      </p:cNvPicPr>
                      <p:nvPr/>
                    </p:nvPicPr>
                    <p:blipFill>
                      <a:blip r:embed="rId8"/>
                      <a:srcRect/>
                      <a:stretch>
                        <a:fillRect/>
                      </a:stretch>
                    </p:blipFill>
                    <p:spPr bwMode="auto">
                      <a:xfrm>
                        <a:off x="1011792" y="2751536"/>
                        <a:ext cx="2173931" cy="89344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47831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56900" y="876300"/>
            <a:ext cx="9096375" cy="5981700"/>
          </a:xfrm>
          <a:prstGeom prst="rect">
            <a:avLst/>
          </a:prstGeom>
        </p:spPr>
      </p:pic>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Unknowns: Amplitude &amp; Phase</a:t>
            </a:r>
            <a:endParaRPr lang="en-US" sz="4000" b="0" kern="0" dirty="0"/>
          </a:p>
        </p:txBody>
      </p:sp>
    </p:spTree>
    <p:extLst>
      <p:ext uri="{BB962C8B-B14F-4D97-AF65-F5344CB8AC3E}">
        <p14:creationId xmlns:p14="http://schemas.microsoft.com/office/powerpoint/2010/main" val="1506651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 Analysis</a:t>
            </a:r>
          </a:p>
        </p:txBody>
      </p:sp>
      <p:pic>
        <p:nvPicPr>
          <p:cNvPr id="5" name="Picture 4"/>
          <p:cNvPicPr>
            <a:picLocks noChangeAspect="1"/>
          </p:cNvPicPr>
          <p:nvPr/>
        </p:nvPicPr>
        <p:blipFill>
          <a:blip r:embed="rId3"/>
          <a:stretch>
            <a:fillRect/>
          </a:stretch>
        </p:blipFill>
        <p:spPr>
          <a:xfrm>
            <a:off x="132344" y="3813410"/>
            <a:ext cx="8494005" cy="2553673"/>
          </a:xfrm>
          <a:prstGeom prst="rect">
            <a:avLst/>
          </a:prstGeom>
        </p:spPr>
      </p:pic>
      <p:pic>
        <p:nvPicPr>
          <p:cNvPr id="3" name="Picture 2"/>
          <p:cNvPicPr>
            <a:picLocks noChangeAspect="1"/>
          </p:cNvPicPr>
          <p:nvPr/>
        </p:nvPicPr>
        <p:blipFill>
          <a:blip r:embed="rId4"/>
          <a:stretch>
            <a:fillRect/>
          </a:stretch>
        </p:blipFill>
        <p:spPr>
          <a:xfrm>
            <a:off x="279970" y="1690957"/>
            <a:ext cx="3981863" cy="1422094"/>
          </a:xfrm>
          <a:prstGeom prst="rect">
            <a:avLst/>
          </a:prstGeom>
        </p:spPr>
      </p:pic>
      <p:pic>
        <p:nvPicPr>
          <p:cNvPr id="51206" name="Picture 6" descr="https://upload.wikimedia.org/wikipedia/commons/thumb/5/55/Phase_shift.svg/220px-Phase_shift.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9663" y="1234056"/>
            <a:ext cx="3358806" cy="23358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bwMode="auto">
          <a:xfrm>
            <a:off x="765813" y="4065224"/>
            <a:ext cx="535419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
        <p:nvSpPr>
          <p:cNvPr id="7" name="Title 1"/>
          <p:cNvSpPr txBox="1">
            <a:spLocks/>
          </p:cNvSpPr>
          <p:nvPr/>
        </p:nvSpPr>
        <p:spPr bwMode="auto">
          <a:xfrm>
            <a:off x="5883148" y="4765584"/>
            <a:ext cx="2915798" cy="398929"/>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1800" kern="0" dirty="0">
                <a:solidFill>
                  <a:srgbClr val="FF0000"/>
                </a:solidFill>
              </a:rPr>
              <a:t>Nyquist Sampling Rate!</a:t>
            </a:r>
          </a:p>
        </p:txBody>
      </p:sp>
    </p:spTree>
    <p:extLst>
      <p:ext uri="{BB962C8B-B14F-4D97-AF65-F5344CB8AC3E}">
        <p14:creationId xmlns:p14="http://schemas.microsoft.com/office/powerpoint/2010/main" val="9698813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13229" y="1129039"/>
            <a:ext cx="6519547" cy="5138937"/>
          </a:xfrm>
          <a:prstGeom prst="rect">
            <a:avLst/>
          </a:prstGeom>
        </p:spPr>
      </p:pic>
      <p:sp>
        <p:nvSpPr>
          <p:cNvPr id="2" name="Title 1"/>
          <p:cNvSpPr>
            <a:spLocks noGrp="1"/>
          </p:cNvSpPr>
          <p:nvPr>
            <p:ph type="title"/>
          </p:nvPr>
        </p:nvSpPr>
        <p:spPr>
          <a:xfrm>
            <a:off x="1524000" y="152400"/>
            <a:ext cx="9144000" cy="838200"/>
          </a:xfrm>
        </p:spPr>
        <p:txBody>
          <a:bodyPr/>
          <a:lstStyle/>
          <a:p>
            <a:r>
              <a:rPr lang="en-US" dirty="0"/>
              <a:t>Derivation of the Sampling Theorem</a:t>
            </a:r>
          </a:p>
        </p:txBody>
      </p:sp>
      <p:cxnSp>
        <p:nvCxnSpPr>
          <p:cNvPr id="5" name="Straight Connector 4"/>
          <p:cNvCxnSpPr/>
          <p:nvPr/>
        </p:nvCxnSpPr>
        <p:spPr bwMode="auto">
          <a:xfrm>
            <a:off x="3874488" y="1722921"/>
            <a:ext cx="271047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08735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2D Rectangle Function</a:t>
            </a:r>
          </a:p>
        </p:txBody>
      </p:sp>
      <p:pic>
        <p:nvPicPr>
          <p:cNvPr id="4" name="Picture 3"/>
          <p:cNvPicPr>
            <a:picLocks noChangeAspect="1"/>
          </p:cNvPicPr>
          <p:nvPr/>
        </p:nvPicPr>
        <p:blipFill>
          <a:blip r:embed="rId3"/>
          <a:stretch>
            <a:fillRect/>
          </a:stretch>
        </p:blipFill>
        <p:spPr>
          <a:xfrm>
            <a:off x="85065" y="1079809"/>
            <a:ext cx="8674835" cy="5518203"/>
          </a:xfrm>
          <a:prstGeom prst="rect">
            <a:avLst/>
          </a:prstGeom>
        </p:spPr>
      </p:pic>
      <p:sp>
        <p:nvSpPr>
          <p:cNvPr id="5" name="Title 1"/>
          <p:cNvSpPr txBox="1">
            <a:spLocks/>
          </p:cNvSpPr>
          <p:nvPr/>
        </p:nvSpPr>
        <p:spPr bwMode="auto">
          <a:xfrm>
            <a:off x="266794" y="1247079"/>
            <a:ext cx="4378713" cy="838200"/>
          </a:xfrm>
          <a:prstGeom prst="rect">
            <a:avLst/>
          </a:prstGeom>
          <a:solidFill>
            <a:schemeClr val="bg1"/>
          </a:solid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400" b="0" kern="0" dirty="0"/>
              <a:t>Rectangle of Sides X and Y, Centered at Origin</a:t>
            </a:r>
          </a:p>
        </p:txBody>
      </p:sp>
      <p:sp>
        <p:nvSpPr>
          <p:cNvPr id="6" name="Rectangle 5"/>
          <p:cNvSpPr/>
          <p:nvPr/>
        </p:nvSpPr>
        <p:spPr bwMode="auto">
          <a:xfrm>
            <a:off x="4221760" y="3601844"/>
            <a:ext cx="1594624" cy="334536"/>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1716735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13229" y="1129039"/>
            <a:ext cx="6519547" cy="5138937"/>
          </a:xfrm>
          <a:prstGeom prst="rect">
            <a:avLst/>
          </a:prstGeom>
        </p:spPr>
      </p:pic>
      <p:sp>
        <p:nvSpPr>
          <p:cNvPr id="2" name="Title 1"/>
          <p:cNvSpPr>
            <a:spLocks noGrp="1"/>
          </p:cNvSpPr>
          <p:nvPr>
            <p:ph type="title"/>
          </p:nvPr>
        </p:nvSpPr>
        <p:spPr>
          <a:xfrm>
            <a:off x="1524000" y="152400"/>
            <a:ext cx="9144000" cy="838200"/>
          </a:xfrm>
        </p:spPr>
        <p:txBody>
          <a:bodyPr/>
          <a:lstStyle/>
          <a:p>
            <a:r>
              <a:rPr lang="en-US" dirty="0"/>
              <a:t>Derivation of the Sampling Theorem</a:t>
            </a:r>
          </a:p>
        </p:txBody>
      </p:sp>
      <p:cxnSp>
        <p:nvCxnSpPr>
          <p:cNvPr id="5" name="Straight Connector 4"/>
          <p:cNvCxnSpPr/>
          <p:nvPr/>
        </p:nvCxnSpPr>
        <p:spPr bwMode="auto">
          <a:xfrm>
            <a:off x="3874488" y="1722921"/>
            <a:ext cx="271047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 name="Straight Connector 5"/>
          <p:cNvCxnSpPr/>
          <p:nvPr/>
        </p:nvCxnSpPr>
        <p:spPr bwMode="auto">
          <a:xfrm>
            <a:off x="3691113"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a:off x="5681938"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504153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 &amp; Its Mirror in Fourier Space</a:t>
            </a:r>
          </a:p>
        </p:txBody>
      </p:sp>
      <p:pic>
        <p:nvPicPr>
          <p:cNvPr id="4" name="Picture 3"/>
          <p:cNvPicPr>
            <a:picLocks noChangeAspect="1"/>
          </p:cNvPicPr>
          <p:nvPr/>
        </p:nvPicPr>
        <p:blipFill>
          <a:blip r:embed="rId3"/>
          <a:stretch>
            <a:fillRect/>
          </a:stretch>
        </p:blipFill>
        <p:spPr>
          <a:xfrm>
            <a:off x="1524001" y="832726"/>
            <a:ext cx="7439025" cy="2314575"/>
          </a:xfrm>
          <a:prstGeom prst="rect">
            <a:avLst/>
          </a:prstGeom>
        </p:spPr>
      </p:pic>
      <p:pic>
        <p:nvPicPr>
          <p:cNvPr id="5" name="Picture 4"/>
          <p:cNvPicPr>
            <a:picLocks noChangeAspect="1"/>
          </p:cNvPicPr>
          <p:nvPr/>
        </p:nvPicPr>
        <p:blipFill>
          <a:blip r:embed="rId4"/>
          <a:stretch>
            <a:fillRect/>
          </a:stretch>
        </p:blipFill>
        <p:spPr>
          <a:xfrm>
            <a:off x="2698284" y="3250864"/>
            <a:ext cx="7093819" cy="1473521"/>
          </a:xfrm>
          <a:prstGeom prst="rect">
            <a:avLst/>
          </a:prstGeom>
        </p:spPr>
      </p:pic>
      <p:pic>
        <p:nvPicPr>
          <p:cNvPr id="9"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8709616" y="1075673"/>
            <a:ext cx="1805985" cy="1805985"/>
          </a:xfrm>
          <a:prstGeom prst="rect">
            <a:avLst/>
          </a:prstGeom>
          <a:noFill/>
          <a:extLst>
            <a:ext uri="{909E8E84-426E-40DD-AFC4-6F175D3DCCD1}">
              <a14:hiddenFill xmlns:a14="http://schemas.microsoft.com/office/drawing/2010/main">
                <a:solidFill>
                  <a:srgbClr val="FFFFFF"/>
                </a:solidFill>
              </a14:hiddenFill>
            </a:ext>
          </a:extLst>
        </p:spPr>
      </p:pic>
      <p:sp>
        <p:nvSpPr>
          <p:cNvPr id="8" name="Left-Right Arrow 7"/>
          <p:cNvSpPr/>
          <p:nvPr/>
        </p:nvSpPr>
        <p:spPr bwMode="auto">
          <a:xfrm>
            <a:off x="5816867" y="3820884"/>
            <a:ext cx="818148" cy="394636"/>
          </a:xfrm>
          <a:prstGeom prst="leftRightArrow">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aphicFrame>
        <p:nvGraphicFramePr>
          <p:cNvPr id="10" name="Object 9"/>
          <p:cNvGraphicFramePr>
            <a:graphicFrameLocks noChangeAspect="1"/>
          </p:cNvGraphicFramePr>
          <p:nvPr>
            <p:extLst>
              <p:ext uri="{D42A27DB-BD31-4B8C-83A1-F6EECF244321}">
                <p14:modId xmlns:p14="http://schemas.microsoft.com/office/powerpoint/2010/main" val="4282859104"/>
              </p:ext>
            </p:extLst>
          </p:nvPr>
        </p:nvGraphicFramePr>
        <p:xfrm>
          <a:off x="4275105" y="4965692"/>
          <a:ext cx="3940175" cy="825500"/>
        </p:xfrm>
        <a:graphic>
          <a:graphicData uri="http://schemas.openxmlformats.org/presentationml/2006/ole">
            <mc:AlternateContent xmlns:mc="http://schemas.openxmlformats.org/markup-compatibility/2006">
              <mc:Choice xmlns:v="urn:schemas-microsoft-com:vml" Requires="v">
                <p:oleObj name="Equation" r:id="rId6" imgW="3162240" imgH="660240" progId="Equation.DSMT4">
                  <p:embed/>
                </p:oleObj>
              </mc:Choice>
              <mc:Fallback>
                <p:oleObj name="Equation" r:id="rId6" imgW="3162240" imgH="660240" progId="Equation.DSMT4">
                  <p:embed/>
                  <p:pic>
                    <p:nvPicPr>
                      <p:cNvPr id="5" name="Object 4"/>
                      <p:cNvPicPr>
                        <a:picLocks noChangeAspect="1" noChangeArrowheads="1"/>
                      </p:cNvPicPr>
                      <p:nvPr/>
                    </p:nvPicPr>
                    <p:blipFill>
                      <a:blip r:embed="rId7"/>
                      <a:srcRect/>
                      <a:stretch>
                        <a:fillRect/>
                      </a:stretch>
                    </p:blipFill>
                    <p:spPr bwMode="auto">
                      <a:xfrm>
                        <a:off x="4275105" y="4965692"/>
                        <a:ext cx="3940175" cy="825500"/>
                      </a:xfrm>
                      <a:prstGeom prst="rect">
                        <a:avLst/>
                      </a:prstGeom>
                      <a:noFill/>
                      <a:ln>
                        <a:noFill/>
                      </a:ln>
                      <a:effec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685413362"/>
              </p:ext>
            </p:extLst>
          </p:nvPr>
        </p:nvGraphicFramePr>
        <p:xfrm>
          <a:off x="4008172" y="5705241"/>
          <a:ext cx="4002087" cy="825500"/>
        </p:xfrm>
        <a:graphic>
          <a:graphicData uri="http://schemas.openxmlformats.org/presentationml/2006/ole">
            <mc:AlternateContent xmlns:mc="http://schemas.openxmlformats.org/markup-compatibility/2006">
              <mc:Choice xmlns:v="urn:schemas-microsoft-com:vml" Requires="v">
                <p:oleObj name="Equation" r:id="rId8" imgW="3213000" imgH="660240" progId="Equation.DSMT4">
                  <p:embed/>
                </p:oleObj>
              </mc:Choice>
              <mc:Fallback>
                <p:oleObj name="Equation" r:id="rId8" imgW="3213000" imgH="660240" progId="Equation.DSMT4">
                  <p:embed/>
                  <p:pic>
                    <p:nvPicPr>
                      <p:cNvPr id="10" name="Object 9"/>
                      <p:cNvPicPr>
                        <a:picLocks noChangeAspect="1" noChangeArrowheads="1"/>
                      </p:cNvPicPr>
                      <p:nvPr/>
                    </p:nvPicPr>
                    <p:blipFill>
                      <a:blip r:embed="rId9"/>
                      <a:srcRect/>
                      <a:stretch>
                        <a:fillRect/>
                      </a:stretch>
                    </p:blipFill>
                    <p:spPr bwMode="auto">
                      <a:xfrm>
                        <a:off x="4008172" y="5705241"/>
                        <a:ext cx="4002087" cy="825500"/>
                      </a:xfrm>
                      <a:prstGeom prst="rect">
                        <a:avLst/>
                      </a:prstGeom>
                      <a:noFill/>
                      <a:ln>
                        <a:noFill/>
                      </a:ln>
                      <a:effectLst/>
                    </p:spPr>
                  </p:pic>
                </p:oleObj>
              </mc:Fallback>
            </mc:AlternateContent>
          </a:graphicData>
        </a:graphic>
      </p:graphicFrame>
      <p:sp>
        <p:nvSpPr>
          <p:cNvPr id="12" name="Rectangle 11"/>
          <p:cNvSpPr/>
          <p:nvPr/>
        </p:nvSpPr>
        <p:spPr bwMode="auto">
          <a:xfrm>
            <a:off x="3603058" y="4965693"/>
            <a:ext cx="4745255" cy="1704615"/>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576469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13229" y="1129039"/>
            <a:ext cx="6519547" cy="5138937"/>
          </a:xfrm>
          <a:prstGeom prst="rect">
            <a:avLst/>
          </a:prstGeom>
        </p:spPr>
      </p:pic>
      <p:sp>
        <p:nvSpPr>
          <p:cNvPr id="2" name="Title 1"/>
          <p:cNvSpPr>
            <a:spLocks noGrp="1"/>
          </p:cNvSpPr>
          <p:nvPr>
            <p:ph type="title"/>
          </p:nvPr>
        </p:nvSpPr>
        <p:spPr>
          <a:xfrm>
            <a:off x="1524000" y="152400"/>
            <a:ext cx="9144000" cy="838200"/>
          </a:xfrm>
        </p:spPr>
        <p:txBody>
          <a:bodyPr/>
          <a:lstStyle/>
          <a:p>
            <a:r>
              <a:rPr lang="en-US" dirty="0"/>
              <a:t>Derivation of the Sampling Theorem</a:t>
            </a:r>
          </a:p>
        </p:txBody>
      </p:sp>
      <p:cxnSp>
        <p:nvCxnSpPr>
          <p:cNvPr id="5" name="Straight Connector 4"/>
          <p:cNvCxnSpPr/>
          <p:nvPr/>
        </p:nvCxnSpPr>
        <p:spPr bwMode="auto">
          <a:xfrm>
            <a:off x="3874488" y="1722921"/>
            <a:ext cx="271047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 name="Straight Connector 5"/>
          <p:cNvCxnSpPr/>
          <p:nvPr/>
        </p:nvCxnSpPr>
        <p:spPr bwMode="auto">
          <a:xfrm>
            <a:off x="3691113"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a:off x="5681938"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Straight Connector 7"/>
          <p:cNvCxnSpPr/>
          <p:nvPr/>
        </p:nvCxnSpPr>
        <p:spPr bwMode="auto">
          <a:xfrm>
            <a:off x="4967094" y="4742046"/>
            <a:ext cx="203642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314783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to Digital</a:t>
            </a:r>
          </a:p>
        </p:txBody>
      </p:sp>
      <p:graphicFrame>
        <p:nvGraphicFramePr>
          <p:cNvPr id="4" name="Object 3"/>
          <p:cNvGraphicFramePr>
            <a:graphicFrameLocks noChangeAspect="1"/>
          </p:cNvGraphicFramePr>
          <p:nvPr/>
        </p:nvGraphicFramePr>
        <p:xfrm>
          <a:off x="3940516" y="990601"/>
          <a:ext cx="4310968" cy="5752931"/>
        </p:xfrm>
        <a:graphic>
          <a:graphicData uri="http://schemas.openxmlformats.org/presentationml/2006/ole">
            <mc:AlternateContent xmlns:mc="http://schemas.openxmlformats.org/markup-compatibility/2006">
              <mc:Choice xmlns:v="urn:schemas-microsoft-com:vml" Requires="v">
                <p:oleObj name="Visio" r:id="rId3" imgW="3305755" imgH="4409793" progId="Visio.Drawing.11">
                  <p:embed/>
                </p:oleObj>
              </mc:Choice>
              <mc:Fallback>
                <p:oleObj name="Visio" r:id="rId3" imgW="3305755" imgH="4409793" progId="Visio.Drawing.11">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0516" y="990601"/>
                        <a:ext cx="4310968" cy="5752931"/>
                      </a:xfrm>
                      <a:prstGeom prst="rect">
                        <a:avLst/>
                      </a:prstGeom>
                      <a:noFill/>
                      <a:ln>
                        <a:noFill/>
                      </a:ln>
                      <a:effectLst/>
                    </p:spPr>
                  </p:pic>
                </p:oleObj>
              </mc:Fallback>
            </mc:AlternateContent>
          </a:graphicData>
        </a:graphic>
      </p:graphicFrame>
      <p:sp>
        <p:nvSpPr>
          <p:cNvPr id="3" name="Rectangle 2"/>
          <p:cNvSpPr/>
          <p:nvPr/>
        </p:nvSpPr>
        <p:spPr bwMode="auto">
          <a:xfrm>
            <a:off x="5682114" y="990601"/>
            <a:ext cx="885524" cy="53981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graphicFrame>
        <p:nvGraphicFramePr>
          <p:cNvPr id="5" name="Object 4"/>
          <p:cNvGraphicFramePr>
            <a:graphicFrameLocks noChangeAspect="1"/>
          </p:cNvGraphicFramePr>
          <p:nvPr>
            <p:extLst>
              <p:ext uri="{D42A27DB-BD31-4B8C-83A1-F6EECF244321}">
                <p14:modId xmlns:p14="http://schemas.microsoft.com/office/powerpoint/2010/main" val="2152277223"/>
              </p:ext>
            </p:extLst>
          </p:nvPr>
        </p:nvGraphicFramePr>
        <p:xfrm>
          <a:off x="6235057" y="1447800"/>
          <a:ext cx="665163" cy="381000"/>
        </p:xfrm>
        <a:graphic>
          <a:graphicData uri="http://schemas.openxmlformats.org/presentationml/2006/ole">
            <mc:AlternateContent xmlns:mc="http://schemas.openxmlformats.org/markup-compatibility/2006">
              <mc:Choice xmlns:v="urn:schemas-microsoft-com:vml" Requires="v">
                <p:oleObj name="Equation" r:id="rId5" imgW="533160" imgH="304560" progId="Equation.DSMT4">
                  <p:embed/>
                </p:oleObj>
              </mc:Choice>
              <mc:Fallback>
                <p:oleObj name="Equation" r:id="rId5" imgW="533160" imgH="304560" progId="Equation.DSMT4">
                  <p:embed/>
                  <p:pic>
                    <p:nvPicPr>
                      <p:cNvPr id="10" name="Object 9"/>
                      <p:cNvPicPr>
                        <a:picLocks noChangeAspect="1" noChangeArrowheads="1"/>
                      </p:cNvPicPr>
                      <p:nvPr/>
                    </p:nvPicPr>
                    <p:blipFill>
                      <a:blip r:embed="rId6"/>
                      <a:srcRect/>
                      <a:stretch>
                        <a:fillRect/>
                      </a:stretch>
                    </p:blipFill>
                    <p:spPr bwMode="auto">
                      <a:xfrm>
                        <a:off x="6235057" y="1447800"/>
                        <a:ext cx="665163" cy="381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68745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913229" y="1129039"/>
            <a:ext cx="6519547" cy="5138937"/>
          </a:xfrm>
          <a:prstGeom prst="rect">
            <a:avLst/>
          </a:prstGeom>
        </p:spPr>
      </p:pic>
      <p:sp>
        <p:nvSpPr>
          <p:cNvPr id="2" name="Title 1"/>
          <p:cNvSpPr>
            <a:spLocks noGrp="1"/>
          </p:cNvSpPr>
          <p:nvPr>
            <p:ph type="title"/>
          </p:nvPr>
        </p:nvSpPr>
        <p:spPr>
          <a:xfrm>
            <a:off x="1524000" y="152400"/>
            <a:ext cx="9144000" cy="838200"/>
          </a:xfrm>
        </p:spPr>
        <p:txBody>
          <a:bodyPr/>
          <a:lstStyle/>
          <a:p>
            <a:r>
              <a:rPr lang="en-US" dirty="0"/>
              <a:t>Derivation of the Sampling Theorem</a:t>
            </a:r>
          </a:p>
        </p:txBody>
      </p:sp>
      <p:cxnSp>
        <p:nvCxnSpPr>
          <p:cNvPr id="5" name="Straight Connector 4"/>
          <p:cNvCxnSpPr/>
          <p:nvPr/>
        </p:nvCxnSpPr>
        <p:spPr bwMode="auto">
          <a:xfrm>
            <a:off x="3874488" y="1722921"/>
            <a:ext cx="2710475"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 name="Straight Connector 5"/>
          <p:cNvCxnSpPr/>
          <p:nvPr/>
        </p:nvCxnSpPr>
        <p:spPr bwMode="auto">
          <a:xfrm>
            <a:off x="3691113"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a:off x="5681938" y="3935128"/>
            <a:ext cx="1264457"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Straight Connector 7"/>
          <p:cNvCxnSpPr/>
          <p:nvPr/>
        </p:nvCxnSpPr>
        <p:spPr bwMode="auto">
          <a:xfrm>
            <a:off x="4967094" y="4742046"/>
            <a:ext cx="2036420"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9" name="Straight Connector 8"/>
          <p:cNvCxnSpPr/>
          <p:nvPr/>
        </p:nvCxnSpPr>
        <p:spPr bwMode="auto">
          <a:xfrm>
            <a:off x="4222275" y="6239100"/>
            <a:ext cx="2464068"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852419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Copying via Convolution with Delta</a:t>
            </a:r>
          </a:p>
        </p:txBody>
      </p:sp>
      <p:pic>
        <p:nvPicPr>
          <p:cNvPr id="4" name="Picture 2" descr="http://www4.uwsp.edu/physastr/kmenning/images/Hecht4.11.F.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58" y="1397919"/>
            <a:ext cx="7232921" cy="5101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1922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Revisit to Linear Systems</a:t>
            </a:r>
          </a:p>
        </p:txBody>
      </p:sp>
      <p:sp>
        <p:nvSpPr>
          <p:cNvPr id="3" name="Content Placeholder 2"/>
          <p:cNvSpPr>
            <a:spLocks noGrp="1"/>
          </p:cNvSpPr>
          <p:nvPr>
            <p:ph idx="1"/>
          </p:nvPr>
        </p:nvSpPr>
        <p:spPr>
          <a:xfrm>
            <a:off x="5901167" y="2320381"/>
            <a:ext cx="3137001" cy="3313493"/>
          </a:xfrm>
        </p:spPr>
        <p:txBody>
          <a:bodyPr/>
          <a:lstStyle/>
          <a:p>
            <a:r>
              <a:rPr lang="en-US" sz="6000" i="1" dirty="0">
                <a:solidFill>
                  <a:schemeClr val="tx1"/>
                </a:solidFill>
              </a:rPr>
              <a:t>Ax=b</a:t>
            </a:r>
          </a:p>
          <a:p>
            <a:r>
              <a:rPr lang="en-US" dirty="0">
                <a:solidFill>
                  <a:srgbClr val="0000FF"/>
                </a:solidFill>
              </a:rPr>
              <a:t>How to solve a system of linear equations if the unknown vector is </a:t>
            </a:r>
            <a:r>
              <a:rPr lang="en-US" dirty="0">
                <a:solidFill>
                  <a:srgbClr val="FF0000"/>
                </a:solidFill>
              </a:rPr>
              <a:t>sparse</a:t>
            </a:r>
            <a:r>
              <a:rPr lang="en-US" dirty="0">
                <a:solidFill>
                  <a:srgbClr val="0000FF"/>
                </a:solidFill>
              </a:rPr>
              <a:t>?</a:t>
            </a:r>
          </a:p>
        </p:txBody>
      </p:sp>
      <p:pic>
        <p:nvPicPr>
          <p:cNvPr id="12290" name="Picture 2" descr="http://images.betterworldbooks.com/047/Elementary-Linear-Algebra-97804704582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078" y="1179869"/>
            <a:ext cx="2743200" cy="35169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mcs.uvawise.edu/dbl5h/resources/mathematica_examples/snippets/implicit_tanplan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8753" y="2625207"/>
            <a:ext cx="3580681" cy="34412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http://www.wpclipart.com/blanks/buttons/round/button_round_gree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47213" y="1022154"/>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874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Real part of a 2-D complex wavel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1650" y="1336292"/>
            <a:ext cx="4183189" cy="17521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algn="ctr"/>
            <a:r>
              <a:rPr lang="en-US" dirty="0"/>
              <a:t>Sparsity</a:t>
            </a:r>
            <a:r>
              <a:rPr lang="en-US" dirty="0">
                <a:solidFill>
                  <a:srgbClr val="FF0000"/>
                </a:solidFill>
              </a:rPr>
              <a:t> </a:t>
            </a:r>
            <a:r>
              <a:rPr lang="en-US" dirty="0"/>
              <a:t>Everywhere</a:t>
            </a:r>
            <a:endParaRPr lang="en-US" sz="2800" dirty="0"/>
          </a:p>
        </p:txBody>
      </p:sp>
      <p:pic>
        <p:nvPicPr>
          <p:cNvPr id="3078" name="Picture 6" descr="http://www.ebooksdownloadfree.com/ups/186/74817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6800" y="1755164"/>
            <a:ext cx="2743200" cy="3593594"/>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94684" y="2994542"/>
            <a:ext cx="525780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descr="Real part of a 2-D complex wavele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2116" y="1755164"/>
            <a:ext cx="6127208" cy="276940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ttp://www.wpclipart.com/blanks/buttons/round/button_round_green.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013" y="152400"/>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439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Picture</a:t>
            </a:r>
          </a:p>
        </p:txBody>
      </p:sp>
      <p:pic>
        <p:nvPicPr>
          <p:cNvPr id="4" name="Picture 3"/>
          <p:cNvPicPr/>
          <p:nvPr/>
        </p:nvPicPr>
        <p:blipFill>
          <a:blip r:embed="rId3"/>
          <a:stretch>
            <a:fillRect/>
          </a:stretch>
        </p:blipFill>
        <p:spPr>
          <a:xfrm>
            <a:off x="2072736" y="1101354"/>
            <a:ext cx="5355093" cy="5329060"/>
          </a:xfrm>
          <a:prstGeom prst="rect">
            <a:avLst/>
          </a:prstGeom>
        </p:spPr>
      </p:pic>
    </p:spTree>
    <p:extLst>
      <p:ext uri="{BB962C8B-B14F-4D97-AF65-F5344CB8AC3E}">
        <p14:creationId xmlns:p14="http://schemas.microsoft.com/office/powerpoint/2010/main" val="2902290464"/>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12926</TotalTime>
  <Words>18184</Words>
  <Application>Microsoft Office PowerPoint</Application>
  <PresentationFormat>Widescreen</PresentationFormat>
  <Paragraphs>1030</Paragraphs>
  <Slides>47</Slides>
  <Notes>47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4" baseType="lpstr">
      <vt:lpstr>Arial</vt:lpstr>
      <vt:lpstr>Symbol</vt:lpstr>
      <vt:lpstr>Times</vt:lpstr>
      <vt:lpstr>ZapfHumnst BT</vt:lpstr>
      <vt:lpstr>Blank Presentation</vt:lpstr>
      <vt:lpstr>Equation</vt:lpstr>
      <vt:lpstr>Visio</vt:lpstr>
      <vt:lpstr>PowerPoint Presentation</vt:lpstr>
      <vt:lpstr>PowerPoint Presentation</vt:lpstr>
      <vt:lpstr>PowerPoint Presentation</vt:lpstr>
      <vt:lpstr>PowerPoint Presentation</vt:lpstr>
      <vt:lpstr>Convolution Theorem</vt:lpstr>
      <vt:lpstr>Why?</vt:lpstr>
      <vt:lpstr>Why?</vt:lpstr>
      <vt:lpstr>Why?</vt:lpstr>
      <vt:lpstr>Parseval's Identity</vt:lpstr>
      <vt:lpstr>PowerPoint Presentation</vt:lpstr>
      <vt:lpstr>Representing a Continuous Function</vt:lpstr>
      <vt:lpstr>Convolution Theorem</vt:lpstr>
      <vt:lpstr>PowerPoint Presentation</vt:lpstr>
      <vt:lpstr>Into Computer</vt:lpstr>
      <vt:lpstr>Analog to Digital</vt:lpstr>
      <vt:lpstr>PowerPoint Presentation</vt:lpstr>
      <vt:lpstr>PowerPoint Presentation</vt:lpstr>
      <vt:lpstr>PowerPoint Presentation</vt:lpstr>
      <vt:lpstr>Continuous vs Discrete</vt:lpstr>
      <vt:lpstr>Aliasing Problem</vt:lpstr>
      <vt:lpstr>In Spatial Doman</vt:lpstr>
      <vt:lpstr>In Frequency Domain</vt:lpstr>
      <vt:lpstr>Conditioning in Spatial Domain</vt:lpstr>
      <vt:lpstr>Better Off in Frequency Domain</vt:lpstr>
      <vt:lpstr>Ideal Sampling Filter</vt:lpstr>
      <vt:lpstr>Cheap Sampling Filter</vt:lpstr>
      <vt:lpstr>Gaussian Sampling Filter</vt:lpstr>
      <vt:lpstr>Comb &amp; Its Mirror in Fourier Space</vt:lpstr>
      <vt:lpstr>Fourier Transform of ST(t)</vt:lpstr>
      <vt:lpstr>Comb ST(t) &amp; Its Mirror</vt:lpstr>
      <vt:lpstr>Sampling Signal</vt:lpstr>
      <vt:lpstr>PowerPoint Presentation</vt:lpstr>
      <vt:lpstr>Sampling Problem</vt:lpstr>
      <vt:lpstr>How to Estimate DC?</vt:lpstr>
      <vt:lpstr>PowerPoint Presentation</vt:lpstr>
      <vt:lpstr>Heuristic Analysis</vt:lpstr>
      <vt:lpstr>Derivation of the Sampling Theorem</vt:lpstr>
      <vt:lpstr>Example: 2D Rectangle Function</vt:lpstr>
      <vt:lpstr>Derivation of the Sampling Theorem</vt:lpstr>
      <vt:lpstr>Comb &amp; Its Mirror in Fourier Space</vt:lpstr>
      <vt:lpstr>Derivation of the Sampling Theorem</vt:lpstr>
      <vt:lpstr>Analog to Digital</vt:lpstr>
      <vt:lpstr>Derivation of the Sampling Theorem</vt:lpstr>
      <vt:lpstr>Copying via Convolution with Delta</vt:lpstr>
      <vt:lpstr>Revisit to Linear Systems</vt:lpstr>
      <vt:lpstr>Sparsity Everywhere</vt:lpstr>
      <vt:lpstr>Big Picture</vt:lpstr>
    </vt:vector>
  </TitlesOfParts>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PowerPoint Template2</dc:title>
  <dc:creator>David Stanley</dc:creator>
  <cp:lastModifiedBy>Manik, Md Motaleb Hossen</cp:lastModifiedBy>
  <cp:revision>2452</cp:revision>
  <cp:lastPrinted>2012-03-08T21:40:16Z</cp:lastPrinted>
  <dcterms:created xsi:type="dcterms:W3CDTF">2006-10-23T16:36:06Z</dcterms:created>
  <dcterms:modified xsi:type="dcterms:W3CDTF">2025-08-19T11:41:21Z</dcterms:modified>
</cp:coreProperties>
</file>