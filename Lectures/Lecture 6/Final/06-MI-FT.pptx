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sldIdLst>
    <p:sldId id="603" r:id="rId2"/>
    <p:sldId id="1116" r:id="rId3"/>
    <p:sldId id="1019" r:id="rId4"/>
    <p:sldId id="1023" r:id="rId5"/>
    <p:sldId id="1051" r:id="rId6"/>
    <p:sldId id="1035" r:id="rId7"/>
    <p:sldId id="1117" r:id="rId8"/>
    <p:sldId id="1115" r:id="rId9"/>
    <p:sldId id="1118" r:id="rId10"/>
    <p:sldId id="1119" r:id="rId11"/>
    <p:sldId id="1120" r:id="rId12"/>
    <p:sldId id="1132" r:id="rId13"/>
    <p:sldId id="1121" r:id="rId14"/>
    <p:sldId id="1133" r:id="rId15"/>
    <p:sldId id="1128" r:id="rId16"/>
    <p:sldId id="1129" r:id="rId17"/>
    <p:sldId id="1122" r:id="rId18"/>
    <p:sldId id="1123" r:id="rId19"/>
    <p:sldId id="1125" r:id="rId20"/>
    <p:sldId id="1126" r:id="rId21"/>
    <p:sldId id="1127" r:id="rId22"/>
    <p:sldId id="1124" r:id="rId23"/>
    <p:sldId id="1087" r:id="rId24"/>
    <p:sldId id="1067" r:id="rId25"/>
    <p:sldId id="1068" r:id="rId26"/>
    <p:sldId id="1070" r:id="rId27"/>
    <p:sldId id="1072" r:id="rId28"/>
    <p:sldId id="1104" r:id="rId29"/>
    <p:sldId id="1105" r:id="rId30"/>
    <p:sldId id="1082" r:id="rId31"/>
    <p:sldId id="1083" r:id="rId32"/>
    <p:sldId id="1134" r:id="rId33"/>
    <p:sldId id="1084" r:id="rId34"/>
    <p:sldId id="1135" r:id="rId35"/>
    <p:sldId id="1074" r:id="rId36"/>
    <p:sldId id="1075" r:id="rId37"/>
    <p:sldId id="1088" r:id="rId38"/>
    <p:sldId id="1089" r:id="rId39"/>
    <p:sldId id="1131" r:id="rId40"/>
    <p:sldId id="1130" r:id="rId41"/>
    <p:sldId id="1044" r:id="rId42"/>
    <p:sldId id="1047" r:id="rId43"/>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5pPr>
    <a:lvl6pPr marL="2286000" algn="l" defTabSz="914400" rtl="0" eaLnBrk="1" latinLnBrk="0" hangingPunct="1">
      <a:defRPr sz="2400" kern="1200">
        <a:solidFill>
          <a:schemeClr val="tx1"/>
        </a:solidFill>
        <a:latin typeface="Arial" charset="0"/>
        <a:ea typeface="ＭＳ Ｐゴシック" pitchFamily="116" charset="-128"/>
        <a:cs typeface="+mn-cs"/>
      </a:defRPr>
    </a:lvl6pPr>
    <a:lvl7pPr marL="2743200" algn="l" defTabSz="914400" rtl="0" eaLnBrk="1" latinLnBrk="0" hangingPunct="1">
      <a:defRPr sz="2400" kern="1200">
        <a:solidFill>
          <a:schemeClr val="tx1"/>
        </a:solidFill>
        <a:latin typeface="Arial" charset="0"/>
        <a:ea typeface="ＭＳ Ｐゴシック" pitchFamily="116" charset="-128"/>
        <a:cs typeface="+mn-cs"/>
      </a:defRPr>
    </a:lvl7pPr>
    <a:lvl8pPr marL="3200400" algn="l" defTabSz="914400" rtl="0" eaLnBrk="1" latinLnBrk="0" hangingPunct="1">
      <a:defRPr sz="2400" kern="1200">
        <a:solidFill>
          <a:schemeClr val="tx1"/>
        </a:solidFill>
        <a:latin typeface="Arial" charset="0"/>
        <a:ea typeface="ＭＳ Ｐゴシック" pitchFamily="116" charset="-128"/>
        <a:cs typeface="+mn-cs"/>
      </a:defRPr>
    </a:lvl8pPr>
    <a:lvl9pPr marL="3657600" algn="l" defTabSz="914400" rtl="0" eaLnBrk="1" latinLnBrk="0" hangingPunct="1">
      <a:defRPr sz="2400" kern="1200">
        <a:solidFill>
          <a:schemeClr val="tx1"/>
        </a:solidFill>
        <a:latin typeface="Arial" charset="0"/>
        <a:ea typeface="ＭＳ Ｐゴシック" pitchFamily="116"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0000FF"/>
    <a:srgbClr val="3399FF"/>
    <a:srgbClr val="0066FF"/>
    <a:srgbClr val="FF99FF"/>
    <a:srgbClr val="33CC33"/>
    <a:srgbClr val="993366"/>
    <a:srgbClr val="003399"/>
    <a:srgbClr val="CCCC00"/>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82" autoAdjust="0"/>
    <p:restoredTop sz="48980" autoAdjust="0"/>
  </p:normalViewPr>
  <p:slideViewPr>
    <p:cSldViewPr snapToGrid="0">
      <p:cViewPr varScale="1">
        <p:scale>
          <a:sx n="28" d="100"/>
          <a:sy n="28" d="100"/>
        </p:scale>
        <p:origin x="2008" y="28"/>
      </p:cViewPr>
      <p:guideLst>
        <p:guide orient="horz" pos="2160"/>
        <p:guide pos="3840"/>
      </p:guideLst>
    </p:cSldViewPr>
  </p:slideViewPr>
  <p:outlineViewPr>
    <p:cViewPr>
      <p:scale>
        <a:sx n="33" d="100"/>
        <a:sy n="33" d="100"/>
      </p:scale>
      <p:origin x="0" y="-4392"/>
    </p:cViewPr>
  </p:outlineViewPr>
  <p:notesTextViewPr>
    <p:cViewPr>
      <p:scale>
        <a:sx n="130" d="100"/>
        <a:sy n="130" d="100"/>
      </p:scale>
      <p:origin x="0" y="-2496"/>
    </p:cViewPr>
  </p:notesTextViewPr>
  <p:sorterViewPr>
    <p:cViewPr varScale="1">
      <p:scale>
        <a:sx n="1" d="1"/>
        <a:sy n="1" d="1"/>
      </p:scale>
      <p:origin x="0" y="0"/>
    </p:cViewPr>
  </p:sorterViewPr>
  <p:notesViewPr>
    <p:cSldViewPr snapToGrid="0">
      <p:cViewPr varScale="1">
        <p:scale>
          <a:sx n="94" d="100"/>
          <a:sy n="94" d="100"/>
        </p:scale>
        <p:origin x="360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9F30534E-9FB8-46AE-8E3B-5675B268AE6A}" type="slidenum">
              <a:rPr lang="en-US"/>
              <a:pPr/>
              <a:t>‹#›</a:t>
            </a:fld>
            <a:endParaRPr lang="en-US"/>
          </a:p>
        </p:txBody>
      </p:sp>
    </p:spTree>
    <p:extLst>
      <p:ext uri="{BB962C8B-B14F-4D97-AF65-F5344CB8AC3E}">
        <p14:creationId xmlns:p14="http://schemas.microsoft.com/office/powerpoint/2010/main" val="39136188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16"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16"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16"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16"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1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42E5D3-627C-4511-B3F4-264A77E3CF6D}" type="slidenum">
              <a:rPr lang="en-US"/>
              <a:pPr/>
              <a:t>1</a:t>
            </a:fld>
            <a:endParaRPr lang="en-US"/>
          </a:p>
        </p:txBody>
      </p:sp>
      <p:sp>
        <p:nvSpPr>
          <p:cNvPr id="6146" name="Rectangle 2"/>
          <p:cNvSpPr>
            <a:spLocks noGrp="1" noRot="1" noChangeAspect="1" noChangeArrowheads="1" noTextEdit="1"/>
          </p:cNvSpPr>
          <p:nvPr>
            <p:ph type="sldImg"/>
          </p:nvPr>
        </p:nvSpPr>
        <p:spPr>
          <a:xfrm>
            <a:off x="381000" y="685800"/>
            <a:ext cx="6096000" cy="3429000"/>
          </a:xfrm>
          <a:ln/>
        </p:spPr>
      </p:sp>
      <p:sp>
        <p:nvSpPr>
          <p:cNvPr id="6147" name="Rectangle 3"/>
          <p:cNvSpPr>
            <a:spLocks noGrp="1" noChangeArrowheads="1"/>
          </p:cNvSpPr>
          <p:nvPr>
            <p:ph type="body" idx="1"/>
          </p:nvPr>
        </p:nvSpPr>
        <p:spPr/>
        <p:txBody>
          <a:bodyPr/>
          <a:lstStyle/>
          <a:p>
            <a:r>
              <a:rPr lang="en-US" dirty="0"/>
              <a:t>Welcome back, everyone.</a:t>
            </a:r>
          </a:p>
          <a:p>
            <a:endParaRPr lang="en-US" dirty="0"/>
          </a:p>
          <a:p>
            <a:r>
              <a:rPr lang="en-US" dirty="0"/>
              <a:t>Today, we move one step further in our journey — from the Fourier series to the </a:t>
            </a:r>
            <a:r>
              <a:rPr lang="en-US" b="1" dirty="0"/>
              <a:t>Fourier transform</a:t>
            </a:r>
            <a:r>
              <a:rPr lang="en-US" dirty="0"/>
              <a:t>. This is a big transition, and it’s a powerful one. So, what exactly changes when we move from a series to a transform? That’s what we’ll uncover together in this lecture.</a:t>
            </a:r>
          </a:p>
          <a:p>
            <a:endParaRPr lang="en-US" dirty="0"/>
          </a:p>
          <a:p>
            <a:r>
              <a:rPr lang="en-US" dirty="0"/>
              <a:t>Before we begin, I want to emphasize something important. You need to have a solid understanding of the Fourier series first. The transform builds directly on those ideas. If you’re still feeling confused about Fourier series — don’t worry — but do take action. You can interact with ChatGPT, discuss with your classmates, review the lecture materials, and review the chapter I wrote. You can also search online for different explanations or examples that make more sense to you. Group discussions can be constructive.</a:t>
            </a:r>
          </a:p>
          <a:p>
            <a:endParaRPr lang="en-US" dirty="0"/>
          </a:p>
          <a:p>
            <a:r>
              <a:rPr lang="en-US" dirty="0"/>
              <a:t>Fourier analysis is fundamental — not just for this course, but for understanding medical imaging technologies down the line. I want to make sure no one gets left behind here. Because if you miss this foundation, the rest of the material will feel considerably harder.</a:t>
            </a:r>
          </a:p>
          <a:p>
            <a:r>
              <a:rPr lang="en-US" dirty="0"/>
              <a:t>Alright — let’s dive in.</a:t>
            </a:r>
          </a:p>
          <a:p>
            <a:endParaRPr lang="en-US" dirty="0"/>
          </a:p>
        </p:txBody>
      </p:sp>
    </p:spTree>
    <p:extLst>
      <p:ext uri="{BB962C8B-B14F-4D97-AF65-F5344CB8AC3E}">
        <p14:creationId xmlns:p14="http://schemas.microsoft.com/office/powerpoint/2010/main" val="374559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so this is our schedule. We are on schedule, so no problem.</a:t>
            </a:r>
          </a:p>
        </p:txBody>
      </p:sp>
      <p:sp>
        <p:nvSpPr>
          <p:cNvPr id="4" name="Slide Number Placeholder 3"/>
          <p:cNvSpPr>
            <a:spLocks noGrp="1"/>
          </p:cNvSpPr>
          <p:nvPr>
            <p:ph type="sldNum" sz="quarter" idx="5"/>
          </p:nvPr>
        </p:nvSpPr>
        <p:spPr/>
        <p:txBody>
          <a:bodyPr/>
          <a:lstStyle/>
          <a:p>
            <a:fld id="{9F30534E-9FB8-46AE-8E3B-5675B268AE6A}" type="slidenum">
              <a:rPr lang="en-US" smtClean="0"/>
              <a:pPr/>
              <a:t>2</a:t>
            </a:fld>
            <a:endParaRPr lang="en-US"/>
          </a:p>
        </p:txBody>
      </p:sp>
    </p:spTree>
    <p:extLst>
      <p:ext uri="{BB962C8B-B14F-4D97-AF65-F5344CB8AC3E}">
        <p14:creationId xmlns:p14="http://schemas.microsoft.com/office/powerpoint/2010/main" val="2127185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break things down to a very basic and powerful idea.</a:t>
            </a:r>
          </a:p>
          <a:p>
            <a:endParaRPr lang="en-US" dirty="0"/>
          </a:p>
          <a:p>
            <a:r>
              <a:rPr lang="en-US" dirty="0"/>
              <a:t>Suppose we have a function — let’s call it </a:t>
            </a:r>
            <a:r>
              <a:rPr lang="en-US" b="1" dirty="0"/>
              <a:t>f of t</a:t>
            </a:r>
            <a:r>
              <a:rPr lang="en-US" dirty="0"/>
              <a:t> — a one-dimensional function that varies over time. You can think of it as a smooth, continuous curve. That’s the usual way we look at functions.</a:t>
            </a:r>
          </a:p>
          <a:p>
            <a:r>
              <a:rPr lang="en-US" dirty="0"/>
              <a:t>But here’s a different perspective — instead of seeing </a:t>
            </a:r>
            <a:r>
              <a:rPr lang="en-US" b="1" dirty="0"/>
              <a:t>f of t</a:t>
            </a:r>
            <a:r>
              <a:rPr lang="en-US" dirty="0"/>
              <a:t> as one continuous piece, imagine it as a </a:t>
            </a:r>
            <a:r>
              <a:rPr lang="en-US" b="1" dirty="0"/>
              <a:t>sum of impulses</a:t>
            </a:r>
            <a:r>
              <a:rPr lang="en-US" dirty="0"/>
              <a:t>. Yes — a collection of sharp, narrow spikes, each carrying a little bit of information about the function at a specific time.</a:t>
            </a:r>
          </a:p>
          <a:p>
            <a:endParaRPr lang="en-US" dirty="0"/>
          </a:p>
          <a:p>
            <a:r>
              <a:rPr lang="en-US" dirty="0"/>
              <a:t>This is where the </a:t>
            </a:r>
            <a:r>
              <a:rPr lang="en-US" b="1" dirty="0"/>
              <a:t>Dirac delta function</a:t>
            </a:r>
            <a:r>
              <a:rPr lang="en-US" dirty="0"/>
              <a:t>, or delta for short, comes in. From linear systems theory, we know that any continuous function can be viewed as the convolution of that function with a train of delta functions.</a:t>
            </a:r>
          </a:p>
          <a:p>
            <a:endParaRPr lang="en-US" dirty="0"/>
          </a:p>
          <a:p>
            <a:r>
              <a:rPr lang="en-US" dirty="0"/>
              <a:t>What does this mean, intuitively? It means you can imagine slicing the original function into many tiny segments. Each segment becomes a small impulse — and when you add up all those impulses, you reconstruct the full function.</a:t>
            </a:r>
          </a:p>
          <a:p>
            <a:r>
              <a:rPr lang="en-US" dirty="0"/>
              <a:t>So, this is one way to represent a function — not as a smooth line, but as a weighted sum of sharp impulses. And this idea is going to be very helpful as we move toward the Fourier transform.</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a:t>
            </a:fld>
            <a:endParaRPr lang="en-US"/>
          </a:p>
        </p:txBody>
      </p:sp>
    </p:spTree>
    <p:extLst>
      <p:ext uri="{BB962C8B-B14F-4D97-AF65-F5344CB8AC3E}">
        <p14:creationId xmlns:p14="http://schemas.microsoft.com/office/powerpoint/2010/main" val="495283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same function from a completely different angle — instead of seeing it as a sum of impulses, imagine it as a </a:t>
            </a:r>
            <a:r>
              <a:rPr lang="en-US" b="1" dirty="0"/>
              <a:t>sum of waves</a:t>
            </a:r>
            <a:r>
              <a:rPr lang="en-US" dirty="0"/>
              <a:t>.</a:t>
            </a:r>
          </a:p>
          <a:p>
            <a:endParaRPr lang="en-US" dirty="0"/>
          </a:p>
          <a:p>
            <a:r>
              <a:rPr lang="en-US" dirty="0"/>
              <a:t>Here, we’re working with a </a:t>
            </a:r>
            <a:r>
              <a:rPr lang="en-US" b="1" dirty="0"/>
              <a:t>periodic function</a:t>
            </a:r>
            <a:r>
              <a:rPr lang="en-US" dirty="0"/>
              <a:t> — meaning it repeats itself over time. Let’s just focus on one complete cycle of that function. The rest are just copies.</a:t>
            </a:r>
          </a:p>
          <a:p>
            <a:r>
              <a:rPr lang="en-US" dirty="0"/>
              <a:t>The key idea is this: a periodic function like this can be </a:t>
            </a:r>
            <a:r>
              <a:rPr lang="en-US" b="1" dirty="0"/>
              <a:t>broken down into many sine and cosine waves</a:t>
            </a:r>
            <a:r>
              <a:rPr lang="en-US" dirty="0"/>
              <a:t> — we call these </a:t>
            </a:r>
            <a:r>
              <a:rPr lang="en-US" b="1" dirty="0"/>
              <a:t>sinusoidal components</a:t>
            </a:r>
            <a:r>
              <a:rPr lang="en-US" dirty="0"/>
              <a:t>. These waves can vary in three ways: their </a:t>
            </a:r>
            <a:r>
              <a:rPr lang="en-US" b="1" dirty="0"/>
              <a:t>frequency</a:t>
            </a:r>
            <a:r>
              <a:rPr lang="en-US" dirty="0"/>
              <a:t>, which tells us how fast they oscillate; their </a:t>
            </a:r>
            <a:r>
              <a:rPr lang="en-US" b="1" dirty="0"/>
              <a:t>amplitude</a:t>
            </a:r>
            <a:r>
              <a:rPr lang="en-US" dirty="0"/>
              <a:t>, which tells us how tall they are; and their </a:t>
            </a:r>
            <a:r>
              <a:rPr lang="en-US" b="1" dirty="0"/>
              <a:t>phase</a:t>
            </a:r>
            <a:r>
              <a:rPr lang="en-US" dirty="0"/>
              <a:t>, which tells us where each wave starts.</a:t>
            </a:r>
          </a:p>
          <a:p>
            <a:endParaRPr lang="en-US" dirty="0"/>
          </a:p>
          <a:p>
            <a:r>
              <a:rPr lang="en-US" dirty="0"/>
              <a:t>So what’s the trick? We want to </a:t>
            </a:r>
            <a:r>
              <a:rPr lang="en-US" b="1" dirty="0"/>
              <a:t>find the right combination</a:t>
            </a:r>
            <a:r>
              <a:rPr lang="en-US" dirty="0"/>
              <a:t> of amplitudes, frequencies, and phases — so that when we add up all these sine and cosine waves, we recover the original function.</a:t>
            </a:r>
          </a:p>
          <a:p>
            <a:r>
              <a:rPr lang="en-US" dirty="0"/>
              <a:t>At first, this might sound abstract, but conceptually it’s not that difficult. You’re just looking at the same function in a different way.</a:t>
            </a:r>
          </a:p>
          <a:p>
            <a:r>
              <a:rPr lang="en-US" dirty="0"/>
              <a:t>Earlier, we saw a kind of </a:t>
            </a:r>
            <a:r>
              <a:rPr lang="en-US" b="1" dirty="0"/>
              <a:t>particle view</a:t>
            </a:r>
            <a:r>
              <a:rPr lang="en-US" dirty="0"/>
              <a:t> — slicing the function into sharp impulses. Now we’re seeing a </a:t>
            </a:r>
            <a:r>
              <a:rPr lang="en-US" b="1" dirty="0"/>
              <a:t>wave view</a:t>
            </a:r>
            <a:r>
              <a:rPr lang="en-US" dirty="0"/>
              <a:t> — smoothing it into oscillating signals.</a:t>
            </a:r>
          </a:p>
          <a:p>
            <a:r>
              <a:rPr lang="en-US" dirty="0"/>
              <a:t>And this wave-based view is the foundation for Fourier analysis.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a:t>
            </a:fld>
            <a:endParaRPr lang="en-US"/>
          </a:p>
        </p:txBody>
      </p:sp>
    </p:spTree>
    <p:extLst>
      <p:ext uri="{BB962C8B-B14F-4D97-AF65-F5344CB8AC3E}">
        <p14:creationId xmlns:p14="http://schemas.microsoft.com/office/powerpoint/2010/main" val="1208224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that we've talked about breaking a function into a sum of waves, let's formalize that idea using the </a:t>
            </a:r>
            <a:r>
              <a:rPr lang="en-US" b="1" dirty="0"/>
              <a:t>real form of the Fourier series</a:t>
            </a:r>
            <a:r>
              <a:rPr lang="en-US" dirty="0"/>
              <a:t>.</a:t>
            </a:r>
          </a:p>
          <a:p>
            <a:endParaRPr lang="en-US" dirty="0"/>
          </a:p>
          <a:p>
            <a:r>
              <a:rPr lang="en-US" dirty="0"/>
              <a:t>What we’re looking at here is just a mathematical way of saying: any periodic function </a:t>
            </a:r>
            <a:r>
              <a:rPr lang="en-US" b="1" dirty="0"/>
              <a:t>f of t</a:t>
            </a:r>
            <a:r>
              <a:rPr lang="en-US" dirty="0"/>
              <a:t> can be written as a combination of three types of components:</a:t>
            </a:r>
          </a:p>
          <a:p>
            <a:r>
              <a:rPr lang="en-US" dirty="0"/>
              <a:t>A </a:t>
            </a:r>
            <a:r>
              <a:rPr lang="en-US" b="1" dirty="0"/>
              <a:t>constant term</a:t>
            </a:r>
            <a:r>
              <a:rPr lang="en-US" dirty="0"/>
              <a:t>, called the </a:t>
            </a:r>
            <a:r>
              <a:rPr lang="en-US" b="1" dirty="0"/>
              <a:t>DC component</a:t>
            </a:r>
            <a:r>
              <a:rPr lang="en-US" dirty="0"/>
              <a:t>,</a:t>
            </a:r>
          </a:p>
          <a:p>
            <a:r>
              <a:rPr lang="en-US" dirty="0"/>
              <a:t>A sum of </a:t>
            </a:r>
            <a:r>
              <a:rPr lang="en-US" b="1" dirty="0"/>
              <a:t>cosine terms</a:t>
            </a:r>
            <a:r>
              <a:rPr lang="en-US" dirty="0"/>
              <a:t>,</a:t>
            </a:r>
          </a:p>
          <a:p>
            <a:r>
              <a:rPr lang="en-US" dirty="0"/>
              <a:t>And a sum of </a:t>
            </a:r>
            <a:r>
              <a:rPr lang="en-US" b="1" dirty="0"/>
              <a:t>sine terms</a:t>
            </a:r>
            <a:r>
              <a:rPr lang="en-US" dirty="0"/>
              <a:t>.</a:t>
            </a:r>
          </a:p>
          <a:p>
            <a:r>
              <a:rPr lang="en-US" dirty="0"/>
              <a:t>Each term has a different frequency and amplitude, depending on the value of </a:t>
            </a:r>
            <a:r>
              <a:rPr lang="en-US" b="1" dirty="0"/>
              <a:t>n</a:t>
            </a:r>
            <a:r>
              <a:rPr lang="en-US" dirty="0"/>
              <a:t>. The higher the value of </a:t>
            </a:r>
            <a:r>
              <a:rPr lang="en-US" b="1" dirty="0"/>
              <a:t>n</a:t>
            </a:r>
            <a:r>
              <a:rPr lang="en-US" dirty="0"/>
              <a:t>, the higher the frequency of that term.</a:t>
            </a:r>
          </a:p>
          <a:p>
            <a:endParaRPr lang="en-US" dirty="0"/>
          </a:p>
          <a:p>
            <a:r>
              <a:rPr lang="en-US" dirty="0"/>
              <a:t>So the general formula goes like this:</a:t>
            </a:r>
          </a:p>
          <a:p>
            <a:r>
              <a:rPr lang="en-US" b="1" dirty="0"/>
              <a:t>f of t equals a-zero over 2, plus the sum from n equals 1 to N of a-n times cosine of 2 pi n t, plus b-n times sine of 2 pi n t.</a:t>
            </a:r>
            <a:endParaRPr lang="en-US" dirty="0"/>
          </a:p>
          <a:p>
            <a:r>
              <a:rPr lang="en-US" dirty="0"/>
              <a:t>Now, where do these coefficients come from?</a:t>
            </a:r>
          </a:p>
          <a:p>
            <a:r>
              <a:rPr lang="en-US" dirty="0"/>
              <a:t>Well, we have formulas to compute them. That’s the trick!</a:t>
            </a:r>
          </a:p>
          <a:p>
            <a:r>
              <a:rPr lang="en-US" dirty="0"/>
              <a:t>To find </a:t>
            </a:r>
            <a:r>
              <a:rPr lang="en-US" b="1" dirty="0"/>
              <a:t>a zero,</a:t>
            </a:r>
            <a:r>
              <a:rPr lang="en-US" dirty="0"/>
              <a:t> you integrate </a:t>
            </a:r>
            <a:r>
              <a:rPr lang="en-US" b="1" dirty="0"/>
              <a:t>f of t</a:t>
            </a:r>
            <a:r>
              <a:rPr lang="en-US" dirty="0"/>
              <a:t> from 0 to 1.</a:t>
            </a:r>
          </a:p>
          <a:p>
            <a:r>
              <a:rPr lang="en-US" dirty="0"/>
              <a:t>To find </a:t>
            </a:r>
            <a:r>
              <a:rPr lang="en-US" b="1" dirty="0"/>
              <a:t>a-n</a:t>
            </a:r>
            <a:r>
              <a:rPr lang="en-US" dirty="0"/>
              <a:t>, you multiply </a:t>
            </a:r>
            <a:r>
              <a:rPr lang="en-US" b="1" dirty="0"/>
              <a:t>f of t</a:t>
            </a:r>
            <a:r>
              <a:rPr lang="en-US" dirty="0"/>
              <a:t> with </a:t>
            </a:r>
            <a:r>
              <a:rPr lang="en-US" b="1" dirty="0"/>
              <a:t>cosine of 2 pi n t</a:t>
            </a:r>
            <a:r>
              <a:rPr lang="en-US" dirty="0"/>
              <a:t>, and integrate.</a:t>
            </a:r>
          </a:p>
          <a:p>
            <a:r>
              <a:rPr lang="en-US" dirty="0"/>
              <a:t>And for </a:t>
            </a:r>
            <a:r>
              <a:rPr lang="en-US" b="1" dirty="0"/>
              <a:t>b-n</a:t>
            </a:r>
            <a:r>
              <a:rPr lang="en-US" dirty="0"/>
              <a:t>, you do the same, but with </a:t>
            </a:r>
            <a:r>
              <a:rPr lang="en-US" b="1" dirty="0"/>
              <a:t>sine of 2 pi n t</a:t>
            </a:r>
            <a:r>
              <a:rPr lang="en-US" dirty="0"/>
              <a:t>.</a:t>
            </a:r>
          </a:p>
          <a:p>
            <a:endParaRPr lang="en-US" dirty="0"/>
          </a:p>
          <a:p>
            <a:r>
              <a:rPr lang="en-US" dirty="0"/>
              <a:t>So if I give you any function </a:t>
            </a:r>
            <a:r>
              <a:rPr lang="en-US" b="1" dirty="0"/>
              <a:t>f of t</a:t>
            </a:r>
            <a:r>
              <a:rPr lang="en-US" dirty="0"/>
              <a:t>, you just plug it into these formulas, do the math, and you get a set of numbers — the a’s and b’s. With those coefficients, you can then reconstruct the original function by summing all the sine and cosine waves.</a:t>
            </a:r>
          </a:p>
          <a:p>
            <a:r>
              <a:rPr lang="en-US" dirty="0"/>
              <a:t>As </a:t>
            </a:r>
            <a:r>
              <a:rPr lang="en-US" b="1" dirty="0"/>
              <a:t>N</a:t>
            </a:r>
            <a:r>
              <a:rPr lang="en-US" dirty="0"/>
              <a:t> gets larger — meaning you include more wave components — the reconstructed function becomes more and more accurate. In fact, when </a:t>
            </a:r>
            <a:r>
              <a:rPr lang="en-US" b="1" dirty="0"/>
              <a:t>N</a:t>
            </a:r>
            <a:r>
              <a:rPr lang="en-US" dirty="0"/>
              <a:t> approaches infinity, this series can represent the function exactly, under reasonable conditions.</a:t>
            </a:r>
          </a:p>
          <a:p>
            <a:endParaRPr lang="en-US" dirty="0"/>
          </a:p>
          <a:p>
            <a:r>
              <a:rPr lang="en-US" dirty="0"/>
              <a:t>Now here’s something deeper: These sine and cosine functions form an </a:t>
            </a:r>
            <a:r>
              <a:rPr lang="en-US" b="1" dirty="0"/>
              <a:t>orthonormal basis</a:t>
            </a:r>
            <a:r>
              <a:rPr lang="en-US" dirty="0"/>
              <a:t> — that’s just a fancy way of saying they’re like the X, Y, and Z axes in 3D space, but in an infinite-dimensional space of functions.</a:t>
            </a:r>
          </a:p>
          <a:p>
            <a:r>
              <a:rPr lang="en-US" dirty="0"/>
              <a:t>So geometrically, what you're doing is projecting the function </a:t>
            </a:r>
            <a:r>
              <a:rPr lang="en-US" b="1" dirty="0"/>
              <a:t>f of t</a:t>
            </a:r>
            <a:r>
              <a:rPr lang="en-US" dirty="0"/>
              <a:t> onto each basis function — kind of like breaking a 3D vector into its X, Y, and Z components. Except here, we’re breaking a function into sine, cosine, and constant components.</a:t>
            </a:r>
          </a:p>
          <a:p>
            <a:endParaRPr lang="en-US" dirty="0"/>
          </a:p>
          <a:p>
            <a:r>
              <a:rPr lang="en-US" dirty="0"/>
              <a:t>If this all feels a bit abstract, don’t worry. The key takeaway is:</a:t>
            </a:r>
            <a:br>
              <a:rPr lang="en-US" dirty="0"/>
            </a:br>
            <a:r>
              <a:rPr lang="en-US" dirty="0"/>
              <a:t>We’re representing a function as a sum of waves.</a:t>
            </a:r>
            <a:br>
              <a:rPr lang="en-US" dirty="0"/>
            </a:br>
            <a:r>
              <a:rPr lang="en-US" dirty="0"/>
              <a:t>And we have formulas that let us find the right weights — or coefficients — for those waves.</a:t>
            </a:r>
          </a:p>
          <a:p>
            <a:r>
              <a:rPr lang="en-US" dirty="0"/>
              <a:t>That’s what the Fourier series, in its real form, is all about.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5</a:t>
            </a:fld>
            <a:endParaRPr lang="en-US"/>
          </a:p>
        </p:txBody>
      </p:sp>
    </p:spTree>
    <p:extLst>
      <p:ext uri="{BB962C8B-B14F-4D97-AF65-F5344CB8AC3E}">
        <p14:creationId xmlns:p14="http://schemas.microsoft.com/office/powerpoint/2010/main" val="2518345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we've talked about the </a:t>
            </a:r>
            <a:r>
              <a:rPr lang="en-US" b="1" dirty="0"/>
              <a:t>real form</a:t>
            </a:r>
            <a:r>
              <a:rPr lang="en-US" dirty="0"/>
              <a:t> of the Fourier series, which uses sine and cosine functions. But there's another way to write the same idea — in what we call the </a:t>
            </a:r>
            <a:r>
              <a:rPr lang="en-US" b="1" dirty="0"/>
              <a:t>complex form</a:t>
            </a:r>
            <a:r>
              <a:rPr lang="en-US" dirty="0"/>
              <a:t>.</a:t>
            </a:r>
          </a:p>
          <a:p>
            <a:endParaRPr lang="en-US" dirty="0"/>
          </a:p>
          <a:p>
            <a:r>
              <a:rPr lang="en-US" dirty="0"/>
              <a:t>Now don’t be alarmed by the word “complex.” This version is mathematically equivalent to the real form — it's just more compact and elegant.</a:t>
            </a:r>
          </a:p>
          <a:p>
            <a:r>
              <a:rPr lang="en-US" dirty="0"/>
              <a:t>Instead of separating things into sines and cosines, we use </a:t>
            </a:r>
            <a:r>
              <a:rPr lang="en-US" b="1" dirty="0"/>
              <a:t>complex exponentials</a:t>
            </a:r>
            <a:r>
              <a:rPr lang="en-US" dirty="0"/>
              <a:t> — specifically, </a:t>
            </a:r>
            <a:r>
              <a:rPr lang="en-US" b="1" dirty="0"/>
              <a:t>e to the power of 2 pi </a:t>
            </a:r>
            <a:r>
              <a:rPr lang="en-US" b="1" dirty="0" err="1"/>
              <a:t>i</a:t>
            </a:r>
            <a:r>
              <a:rPr lang="en-US" b="1" dirty="0"/>
              <a:t> n t</a:t>
            </a:r>
            <a:r>
              <a:rPr lang="en-US" dirty="0"/>
              <a:t>. That’s Euler’s formula at work.</a:t>
            </a:r>
          </a:p>
          <a:p>
            <a:r>
              <a:rPr lang="en-US" dirty="0"/>
              <a:t>In this form, the function </a:t>
            </a:r>
            <a:r>
              <a:rPr lang="en-US" b="1" dirty="0"/>
              <a:t>f of t</a:t>
            </a:r>
            <a:r>
              <a:rPr lang="en-US" dirty="0"/>
              <a:t> is expressed as a sum — from </a:t>
            </a:r>
            <a:r>
              <a:rPr lang="en-US" b="1" dirty="0"/>
              <a:t>n equals minus N to N</a:t>
            </a:r>
            <a:r>
              <a:rPr lang="en-US" dirty="0"/>
              <a:t> — of coefficients </a:t>
            </a:r>
            <a:r>
              <a:rPr lang="en-US" b="1" dirty="0"/>
              <a:t>c n</a:t>
            </a:r>
            <a:r>
              <a:rPr lang="en-US" dirty="0"/>
              <a:t> multiplied by </a:t>
            </a:r>
            <a:r>
              <a:rPr lang="en-US" b="1" dirty="0"/>
              <a:t>e to the 2 pi </a:t>
            </a:r>
            <a:r>
              <a:rPr lang="en-US" b="1" dirty="0" err="1"/>
              <a:t>i</a:t>
            </a:r>
            <a:r>
              <a:rPr lang="en-US" b="1" dirty="0"/>
              <a:t> n t</a:t>
            </a:r>
            <a:r>
              <a:rPr lang="en-US" dirty="0"/>
              <a:t>.</a:t>
            </a:r>
          </a:p>
          <a:p>
            <a:r>
              <a:rPr lang="en-US" dirty="0"/>
              <a:t>And just like before, we need to figure out those coefficients. So how do we compute </a:t>
            </a:r>
            <a:r>
              <a:rPr lang="en-US" b="1" dirty="0"/>
              <a:t>c n</a:t>
            </a:r>
            <a:r>
              <a:rPr lang="en-US" dirty="0"/>
              <a:t>?</a:t>
            </a:r>
          </a:p>
          <a:p>
            <a:endParaRPr lang="en-US" dirty="0"/>
          </a:p>
          <a:p>
            <a:r>
              <a:rPr lang="en-US" dirty="0"/>
              <a:t>We use this formula:</a:t>
            </a:r>
            <a:br>
              <a:rPr lang="en-US" dirty="0"/>
            </a:br>
            <a:r>
              <a:rPr lang="en-US" b="1" dirty="0"/>
              <a:t>c n equals the integral from 0 to 1 of e to the power minus 2 pi </a:t>
            </a:r>
            <a:r>
              <a:rPr lang="en-US" b="1" dirty="0" err="1"/>
              <a:t>i</a:t>
            </a:r>
            <a:r>
              <a:rPr lang="en-US" b="1" dirty="0"/>
              <a:t> n t times f of t, with respect to t.</a:t>
            </a:r>
            <a:endParaRPr lang="en-US" dirty="0"/>
          </a:p>
          <a:p>
            <a:r>
              <a:rPr lang="en-US" dirty="0"/>
              <a:t>This is essentially an </a:t>
            </a:r>
            <a:r>
              <a:rPr lang="en-US" b="1" dirty="0"/>
              <a:t>inner product</a:t>
            </a:r>
            <a:r>
              <a:rPr lang="en-US" dirty="0"/>
              <a:t> — projecting your function onto the exponential basis function </a:t>
            </a:r>
            <a:r>
              <a:rPr lang="en-US" b="1" dirty="0"/>
              <a:t>e to the power minus 2 pi </a:t>
            </a:r>
            <a:r>
              <a:rPr lang="en-US" b="1" dirty="0" err="1"/>
              <a:t>i</a:t>
            </a:r>
            <a:r>
              <a:rPr lang="en-US" b="1" dirty="0"/>
              <a:t> n t</a:t>
            </a:r>
            <a:r>
              <a:rPr lang="en-US" dirty="0"/>
              <a:t>. </a:t>
            </a:r>
          </a:p>
          <a:p>
            <a:endParaRPr lang="en-US" dirty="0"/>
          </a:p>
          <a:p>
            <a:r>
              <a:rPr lang="en-US" dirty="0"/>
              <a:t>In my book, I like to write the imaginary unit </a:t>
            </a:r>
            <a:r>
              <a:rPr lang="en-US" b="1" dirty="0" err="1"/>
              <a:t>i</a:t>
            </a:r>
            <a:r>
              <a:rPr lang="en-US" dirty="0"/>
              <a:t> in front — as in </a:t>
            </a:r>
            <a:r>
              <a:rPr lang="en-US" b="1" dirty="0"/>
              <a:t>minus </a:t>
            </a:r>
            <a:r>
              <a:rPr lang="en-US" b="1" dirty="0" err="1"/>
              <a:t>i</a:t>
            </a:r>
            <a:r>
              <a:rPr lang="en-US" b="1" dirty="0"/>
              <a:t> 2 pi n t</a:t>
            </a:r>
            <a:r>
              <a:rPr lang="en-US" dirty="0"/>
              <a:t> — but it’s just a matter of notation. The meaning stays the same.</a:t>
            </a:r>
          </a:p>
          <a:p>
            <a:r>
              <a:rPr lang="en-US" dirty="0"/>
              <a:t>At the bottom here, you see the same formula written slightly differently — as </a:t>
            </a:r>
            <a:r>
              <a:rPr lang="en-US" b="1" dirty="0"/>
              <a:t>f-hat of n</a:t>
            </a:r>
            <a:r>
              <a:rPr lang="en-US" dirty="0"/>
              <a:t> — which is just another way of naming the coefficient.</a:t>
            </a:r>
          </a:p>
          <a:p>
            <a:endParaRPr lang="en-US" dirty="0"/>
          </a:p>
          <a:p>
            <a:r>
              <a:rPr lang="en-US" dirty="0"/>
              <a:t>Now, throughout this slide, we’re assuming that the function is </a:t>
            </a:r>
            <a:r>
              <a:rPr lang="en-US" b="1" dirty="0"/>
              <a:t>periodic with unit period</a:t>
            </a:r>
            <a:r>
              <a:rPr lang="en-US" dirty="0"/>
              <a:t> — meaning it repeats every interval from 0 to 1. If the function instead repeats from, say, 100 to 101, it’s still the same picture — just shifted.</a:t>
            </a:r>
          </a:p>
          <a:p>
            <a:r>
              <a:rPr lang="en-US" dirty="0"/>
              <a:t>So the complex form doesn't change the logic — it simply gives us a cleaner, more powerful way to write and manipulate Fourier series, especially when we move into Fourier transforms.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6</a:t>
            </a:fld>
            <a:endParaRPr lang="en-US"/>
          </a:p>
        </p:txBody>
      </p:sp>
    </p:spTree>
    <p:extLst>
      <p:ext uri="{BB962C8B-B14F-4D97-AF65-F5344CB8AC3E}">
        <p14:creationId xmlns:p14="http://schemas.microsoft.com/office/powerpoint/2010/main" val="3944653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we’ve been working under a simple assumption — that the function we’re analyzing has a </a:t>
            </a:r>
            <a:r>
              <a:rPr lang="en-US" b="1" dirty="0"/>
              <a:t>unit period</a:t>
            </a:r>
            <a:r>
              <a:rPr lang="en-US" dirty="0"/>
              <a:t>. That means the function repeats every one unit of time, say, from 0 to 1.</a:t>
            </a:r>
          </a:p>
          <a:p>
            <a:endParaRPr lang="en-US" dirty="0"/>
          </a:p>
          <a:p>
            <a:r>
              <a:rPr lang="en-US" dirty="0"/>
              <a:t>But what if the period is something else — like 5, or 100? That’s what we’re covering here.</a:t>
            </a:r>
          </a:p>
          <a:p>
            <a:r>
              <a:rPr lang="en-US" dirty="0"/>
              <a:t>This slide shows how to handle a function with an </a:t>
            </a:r>
            <a:r>
              <a:rPr lang="en-US" b="1" dirty="0"/>
              <a:t>arbitrary period</a:t>
            </a:r>
            <a:r>
              <a:rPr lang="en-US" dirty="0"/>
              <a:t>, which we’ll call </a:t>
            </a:r>
            <a:r>
              <a:rPr lang="en-US" b="1" dirty="0"/>
              <a:t>capital T</a:t>
            </a:r>
            <a:r>
              <a:rPr lang="en-US" dirty="0"/>
              <a:t>. The good news is: the concept stays exactly the same — we’re still breaking the function into complex exponential components — but we just adjust the formulas a bit.</a:t>
            </a:r>
          </a:p>
          <a:p>
            <a:endParaRPr lang="en-US" dirty="0"/>
          </a:p>
          <a:p>
            <a:r>
              <a:rPr lang="en-US" dirty="0"/>
              <a:t>Here’s how the function </a:t>
            </a:r>
            <a:r>
              <a:rPr lang="en-US" b="1" dirty="0"/>
              <a:t>f of t</a:t>
            </a:r>
            <a:r>
              <a:rPr lang="en-US" dirty="0"/>
              <a:t> is now written:</a:t>
            </a:r>
          </a:p>
          <a:p>
            <a:r>
              <a:rPr lang="en-US" b="1" dirty="0"/>
              <a:t>f of t equals the sum from n equals minus infinity to infinity of c n times e to the power </a:t>
            </a:r>
            <a:r>
              <a:rPr lang="en-US" b="1" dirty="0" err="1"/>
              <a:t>i</a:t>
            </a:r>
            <a:r>
              <a:rPr lang="en-US" b="1" dirty="0"/>
              <a:t> 2 pi n t over T.</a:t>
            </a:r>
            <a:endParaRPr lang="en-US" dirty="0"/>
          </a:p>
          <a:p>
            <a:r>
              <a:rPr lang="en-US" dirty="0"/>
              <a:t>So you can think of this as a generalized version of the complex Fourier series.</a:t>
            </a:r>
          </a:p>
          <a:p>
            <a:endParaRPr lang="en-US" dirty="0"/>
          </a:p>
          <a:p>
            <a:r>
              <a:rPr lang="en-US" dirty="0"/>
              <a:t>And to compute the coefficient </a:t>
            </a:r>
            <a:r>
              <a:rPr lang="en-US" b="1" dirty="0"/>
              <a:t>c n</a:t>
            </a:r>
            <a:r>
              <a:rPr lang="en-US" dirty="0"/>
              <a:t>, we use the formula:</a:t>
            </a:r>
          </a:p>
          <a:p>
            <a:r>
              <a:rPr lang="en-US" b="1" dirty="0"/>
              <a:t>c n equals 1 over capital T, times the integral from minus T over 2 to T over 2 of e to the power minus </a:t>
            </a:r>
            <a:r>
              <a:rPr lang="en-US" b="1" dirty="0" err="1"/>
              <a:t>i</a:t>
            </a:r>
            <a:r>
              <a:rPr lang="en-US" b="1" dirty="0"/>
              <a:t> 2 pi n t over T, which is multiplied by f of t, with respect to t.</a:t>
            </a:r>
            <a:endParaRPr lang="en-US" dirty="0"/>
          </a:p>
          <a:p>
            <a:endParaRPr lang="en-US" dirty="0"/>
          </a:p>
          <a:p>
            <a:r>
              <a:rPr lang="en-US" dirty="0"/>
              <a:t>Now let me break that down for you:</a:t>
            </a:r>
          </a:p>
          <a:p>
            <a:r>
              <a:rPr lang="en-US" b="1" dirty="0"/>
              <a:t>The exponential term</a:t>
            </a:r>
            <a:r>
              <a:rPr lang="en-US" dirty="0"/>
              <a:t> — that’s your harmonic basis function, adjusted for the new period.</a:t>
            </a:r>
          </a:p>
          <a:p>
            <a:r>
              <a:rPr lang="en-US" b="1" dirty="0"/>
              <a:t>t over T</a:t>
            </a:r>
            <a:r>
              <a:rPr lang="en-US" dirty="0"/>
              <a:t> is just a way to </a:t>
            </a:r>
            <a:r>
              <a:rPr lang="en-US" b="1" dirty="0"/>
              <a:t>normalize time</a:t>
            </a:r>
            <a:r>
              <a:rPr lang="en-US" dirty="0"/>
              <a:t>, so that we’re still operating over a standard interval.</a:t>
            </a:r>
          </a:p>
          <a:p>
            <a:r>
              <a:rPr lang="en-US" b="1" dirty="0"/>
              <a:t>The 1 over T</a:t>
            </a:r>
            <a:r>
              <a:rPr lang="en-US" dirty="0"/>
              <a:t> in front is a scaling factor that makes everything work out correctly.</a:t>
            </a:r>
          </a:p>
          <a:p>
            <a:r>
              <a:rPr lang="en-US" dirty="0"/>
              <a:t>And the range of integration — from minus T over 2 to plus T over 2 — gives us a </a:t>
            </a:r>
            <a:r>
              <a:rPr lang="en-US" b="1" dirty="0"/>
              <a:t>symmetric interval</a:t>
            </a:r>
            <a:r>
              <a:rPr lang="en-US" dirty="0"/>
              <a:t>, which is often more convenient for analysis.</a:t>
            </a:r>
          </a:p>
          <a:p>
            <a:endParaRPr lang="en-US" dirty="0"/>
          </a:p>
          <a:p>
            <a:r>
              <a:rPr lang="en-US" dirty="0"/>
              <a:t>So, whether your period is 1, 10, or any other positive number, you simply use </a:t>
            </a:r>
            <a:r>
              <a:rPr lang="en-US" b="1" dirty="0"/>
              <a:t>T</a:t>
            </a:r>
            <a:r>
              <a:rPr lang="en-US" dirty="0"/>
              <a:t> in place of 1 and apply this formula. You’re still summing wave-like components — just stretched or compressed in time depending on the period.</a:t>
            </a:r>
          </a:p>
          <a:p>
            <a:r>
              <a:rPr lang="en-US" dirty="0"/>
              <a:t>Now here’s something helpful:</a:t>
            </a:r>
            <a:br>
              <a:rPr lang="en-US" dirty="0"/>
            </a:br>
            <a:r>
              <a:rPr lang="en-US" dirty="0"/>
              <a:t>If you set </a:t>
            </a:r>
            <a:r>
              <a:rPr lang="en-US" b="1" dirty="0"/>
              <a:t>T equals 1</a:t>
            </a:r>
            <a:r>
              <a:rPr lang="en-US" dirty="0"/>
              <a:t>, this formula reduces back to the </a:t>
            </a:r>
            <a:r>
              <a:rPr lang="en-US" b="1" dirty="0"/>
              <a:t>unit-period version</a:t>
            </a:r>
            <a:r>
              <a:rPr lang="en-US" dirty="0"/>
              <a:t> we saw before. So you only need to remember this </a:t>
            </a:r>
            <a:r>
              <a:rPr lang="en-US" b="1" dirty="0"/>
              <a:t>general form</a:t>
            </a:r>
            <a:r>
              <a:rPr lang="en-US" dirty="0"/>
              <a:t> — and adjust </a:t>
            </a:r>
            <a:r>
              <a:rPr lang="en-US" b="1" dirty="0"/>
              <a:t>T</a:t>
            </a:r>
            <a:r>
              <a:rPr lang="en-US" dirty="0"/>
              <a:t> as needed.</a:t>
            </a:r>
          </a:p>
          <a:p>
            <a:endParaRPr lang="en-US" dirty="0"/>
          </a:p>
          <a:p>
            <a:r>
              <a:rPr lang="en-US" dirty="0"/>
              <a:t>In practice, the </a:t>
            </a:r>
            <a:r>
              <a:rPr lang="en-US" b="1" dirty="0"/>
              <a:t>real form</a:t>
            </a:r>
            <a:r>
              <a:rPr lang="en-US" dirty="0"/>
              <a:t> of the Fourier series is nice because it gives you a clear geometric picture — sines, cosines, and their amplitudes.</a:t>
            </a:r>
            <a:br>
              <a:rPr lang="en-US" dirty="0"/>
            </a:br>
            <a:r>
              <a:rPr lang="en-US" dirty="0"/>
              <a:t>The </a:t>
            </a:r>
            <a:r>
              <a:rPr lang="en-US" b="1" dirty="0"/>
              <a:t>complex form</a:t>
            </a:r>
            <a:r>
              <a:rPr lang="en-US" dirty="0"/>
              <a:t>, like the one we see here, is more compact and elegant, especially when we move into transforms. It just takes a little abstract thinking in complex space.</a:t>
            </a:r>
          </a:p>
          <a:p>
            <a:r>
              <a:rPr lang="en-US" dirty="0"/>
              <a:t>So this wraps up our review of Fourier series — both real and complex — and now we’re ready to move on to the </a:t>
            </a:r>
            <a:r>
              <a:rPr lang="en-US" b="1" dirty="0"/>
              <a:t>Fourier transform</a:t>
            </a:r>
            <a:r>
              <a:rPr lang="en-US" dirty="0"/>
              <a:t> itself.</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7</a:t>
            </a:fld>
            <a:endParaRPr lang="en-US"/>
          </a:p>
        </p:txBody>
      </p:sp>
    </p:spTree>
    <p:extLst>
      <p:ext uri="{BB962C8B-B14F-4D97-AF65-F5344CB8AC3E}">
        <p14:creationId xmlns:p14="http://schemas.microsoft.com/office/powerpoint/2010/main" val="1562893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By now, you might be wondering — why go through all this? Why even bother with the Fourier transform?</a:t>
            </a:r>
          </a:p>
          <a:p>
            <a:r>
              <a:rPr lang="en-US" dirty="0"/>
              <a:t>Well, let’s take a step back and think with </a:t>
            </a:r>
            <a:r>
              <a:rPr lang="en-US" b="1" dirty="0"/>
              <a:t>common sense</a:t>
            </a:r>
            <a:r>
              <a:rPr lang="en-US" dirty="0"/>
              <a:t>.</a:t>
            </a:r>
          </a:p>
          <a:p>
            <a:endParaRPr lang="en-US" dirty="0"/>
          </a:p>
          <a:p>
            <a:r>
              <a:rPr lang="en-US" dirty="0"/>
              <a:t>We started with a function — </a:t>
            </a:r>
            <a:r>
              <a:rPr lang="en-US" b="1" dirty="0"/>
              <a:t>f of t</a:t>
            </a:r>
            <a:r>
              <a:rPr lang="en-US" dirty="0"/>
              <a:t> — and we’ve looked at several ways to represent it. First, we saw it as a sum of </a:t>
            </a:r>
            <a:r>
              <a:rPr lang="en-US" b="1" dirty="0"/>
              <a:t>impulses</a:t>
            </a:r>
            <a:r>
              <a:rPr lang="en-US" dirty="0"/>
              <a:t>. Then, as a sum of </a:t>
            </a:r>
            <a:r>
              <a:rPr lang="en-US" b="1" dirty="0"/>
              <a:t>waves</a:t>
            </a:r>
            <a:r>
              <a:rPr lang="en-US" dirty="0"/>
              <a:t> — sines and cosines. Each of these views gives us a different lens to understand the same signal.</a:t>
            </a:r>
          </a:p>
          <a:p>
            <a:r>
              <a:rPr lang="en-US" dirty="0"/>
              <a:t>And that’s the point. </a:t>
            </a:r>
            <a:r>
              <a:rPr lang="en-US" b="1" dirty="0"/>
              <a:t>Multiple perspectives</a:t>
            </a:r>
            <a:r>
              <a:rPr lang="en-US" dirty="0"/>
              <a:t> give us </a:t>
            </a:r>
            <a:r>
              <a:rPr lang="en-US" b="1" dirty="0"/>
              <a:t>more flexibility</a:t>
            </a:r>
            <a:r>
              <a:rPr lang="en-US" dirty="0"/>
              <a:t> and </a:t>
            </a:r>
            <a:r>
              <a:rPr lang="en-US" b="1" dirty="0"/>
              <a:t>smarter strategies</a:t>
            </a:r>
            <a:r>
              <a:rPr lang="en-US" dirty="0"/>
              <a:t> for solving problems.</a:t>
            </a:r>
          </a:p>
          <a:p>
            <a:endParaRPr lang="en-US" dirty="0"/>
          </a:p>
          <a:p>
            <a:r>
              <a:rPr lang="en-US" dirty="0"/>
              <a:t>In real life, when you're facing a tough task, what do you usually do? You don’t try to tackle it head-on in the hardest way possible. You try to simplify it. You look for shortcuts. You use tools that make the problem easier.</a:t>
            </a:r>
          </a:p>
          <a:p>
            <a:r>
              <a:rPr lang="en-US" dirty="0"/>
              <a:t>That’s exactly what we’re doing with Fourier analysis.</a:t>
            </a:r>
          </a:p>
          <a:p>
            <a:r>
              <a:rPr lang="en-US" dirty="0"/>
              <a:t>Sometimes a problem looks really messy in the time domain — but if we switch to the </a:t>
            </a:r>
            <a:r>
              <a:rPr lang="en-US" b="1" dirty="0"/>
              <a:t>Fourier domain</a:t>
            </a:r>
            <a:r>
              <a:rPr lang="en-US" dirty="0"/>
              <a:t>, that same problem might become simple and elegant.</a:t>
            </a:r>
          </a:p>
          <a:p>
            <a:endParaRPr lang="en-US" dirty="0"/>
          </a:p>
          <a:p>
            <a:r>
              <a:rPr lang="en-US" dirty="0"/>
              <a:t>Here’s an analogy: imagine trying to do multiplication using </a:t>
            </a:r>
            <a:r>
              <a:rPr lang="en-US" b="1" dirty="0"/>
              <a:t>Roman numerals</a:t>
            </a:r>
            <a:r>
              <a:rPr lang="en-US" dirty="0"/>
              <a:t>. It’s a nightmare! But switch to </a:t>
            </a:r>
            <a:r>
              <a:rPr lang="en-US" b="1" dirty="0"/>
              <a:t>Arabic numerals</a:t>
            </a:r>
            <a:r>
              <a:rPr lang="en-US" dirty="0"/>
              <a:t> — or even </a:t>
            </a:r>
            <a:r>
              <a:rPr lang="en-US" b="1" dirty="0"/>
              <a:t>binary</a:t>
            </a:r>
            <a:r>
              <a:rPr lang="en-US" dirty="0"/>
              <a:t> — and suddenly, multiplication becomes easy. Especially for computers.</a:t>
            </a:r>
          </a:p>
          <a:p>
            <a:r>
              <a:rPr lang="en-US" dirty="0"/>
              <a:t>So choosing the right </a:t>
            </a:r>
            <a:r>
              <a:rPr lang="en-US" b="1" dirty="0"/>
              <a:t>representation</a:t>
            </a:r>
            <a:r>
              <a:rPr lang="en-US" dirty="0"/>
              <a:t> can make all the difference.</a:t>
            </a:r>
          </a:p>
          <a:p>
            <a:r>
              <a:rPr lang="en-US" dirty="0"/>
              <a:t>That’s what the </a:t>
            </a:r>
            <a:r>
              <a:rPr lang="en-US" b="1" dirty="0"/>
              <a:t>Fourier transform</a:t>
            </a:r>
            <a:r>
              <a:rPr lang="en-US" dirty="0"/>
              <a:t> is all about. It gives us a new way to look at a function — in terms of its frequency content — and often, that view makes analysis or computation much simpler.</a:t>
            </a:r>
          </a:p>
          <a:p>
            <a:endParaRPr lang="en-US" dirty="0"/>
          </a:p>
          <a:p>
            <a:r>
              <a:rPr lang="en-US" dirty="0"/>
              <a:t>There’s also a deeper strategy here:</a:t>
            </a:r>
            <a:br>
              <a:rPr lang="en-US" dirty="0"/>
            </a:br>
            <a:r>
              <a:rPr lang="en-US" dirty="0"/>
              <a:t>Sometimes a function is </a:t>
            </a:r>
            <a:r>
              <a:rPr lang="en-US" b="1" dirty="0"/>
              <a:t>complicated as a whole</a:t>
            </a:r>
            <a:r>
              <a:rPr lang="en-US" dirty="0"/>
              <a:t>, but if we </a:t>
            </a:r>
            <a:r>
              <a:rPr lang="en-US" b="1" dirty="0"/>
              <a:t>break it down into smaller, simpler parts</a:t>
            </a:r>
            <a:r>
              <a:rPr lang="en-US" dirty="0"/>
              <a:t>, we can understand it better.</a:t>
            </a:r>
          </a:p>
          <a:p>
            <a:r>
              <a:rPr lang="en-US" dirty="0"/>
              <a:t>This is the classic </a:t>
            </a:r>
            <a:r>
              <a:rPr lang="en-US" b="1" dirty="0"/>
              <a:t>divide and conquer</a:t>
            </a:r>
            <a:r>
              <a:rPr lang="en-US" dirty="0"/>
              <a:t> approach.</a:t>
            </a:r>
          </a:p>
          <a:p>
            <a:r>
              <a:rPr lang="en-US" dirty="0"/>
              <a:t>We’ve already seen this with </a:t>
            </a:r>
            <a:r>
              <a:rPr lang="en-US" b="1" dirty="0"/>
              <a:t>impulse decomposition</a:t>
            </a:r>
            <a:r>
              <a:rPr lang="en-US" dirty="0"/>
              <a:t>. If you know how a system responds to a single impulse, then you can figure out how it will respond to a complicated signal — just by adding up the responses to each impulse.</a:t>
            </a:r>
          </a:p>
          <a:p>
            <a:r>
              <a:rPr lang="en-US" dirty="0"/>
              <a:t>The same logic applies to </a:t>
            </a:r>
            <a:r>
              <a:rPr lang="en-US" b="1" dirty="0"/>
              <a:t>sine waves</a:t>
            </a:r>
            <a:r>
              <a:rPr lang="en-US" dirty="0"/>
              <a:t> — if you understand how a system reacts to one sine wave, and you can express a signal as a sum of sine waves, then you’ve got the whole picture.</a:t>
            </a:r>
          </a:p>
          <a:p>
            <a:endParaRPr lang="en-US" dirty="0"/>
          </a:p>
          <a:p>
            <a:r>
              <a:rPr lang="en-US" dirty="0"/>
              <a:t>So, in short, Fourier analysis follows two powerful principles:</a:t>
            </a:r>
          </a:p>
          <a:p>
            <a:r>
              <a:rPr lang="en-US" b="1" dirty="0"/>
              <a:t>Use simple tools to solve complex problems.</a:t>
            </a:r>
            <a:endParaRPr lang="en-US" dirty="0"/>
          </a:p>
          <a:p>
            <a:r>
              <a:rPr lang="en-US" b="1" dirty="0"/>
              <a:t>Divide big problems into small, manageable pieces.</a:t>
            </a:r>
            <a:endParaRPr lang="en-US" dirty="0"/>
          </a:p>
          <a:p>
            <a:r>
              <a:rPr lang="en-US" dirty="0"/>
              <a:t>And that’s what we’re building toward with the </a:t>
            </a:r>
            <a:r>
              <a:rPr lang="en-US" b="1" dirty="0"/>
              <a:t>Fourier transform</a:t>
            </a:r>
            <a:r>
              <a:rPr lang="en-US" dirty="0"/>
              <a:t>.</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8</a:t>
            </a:fld>
            <a:endParaRPr lang="en-US"/>
          </a:p>
        </p:txBody>
      </p:sp>
    </p:spTree>
    <p:extLst>
      <p:ext uri="{BB962C8B-B14F-4D97-AF65-F5344CB8AC3E}">
        <p14:creationId xmlns:p14="http://schemas.microsoft.com/office/powerpoint/2010/main" val="1854309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now that we’ve covered the Fourier series — and we’ve seen why changing representations can make problems easier — it’s time to dive into the main topic of today’s lecture: the </a:t>
            </a:r>
            <a:r>
              <a:rPr lang="en-US" b="1" dirty="0"/>
              <a:t>Fourier transform</a:t>
            </a:r>
            <a:r>
              <a:rPr lang="en-US" dirty="0"/>
              <a:t>.</a:t>
            </a:r>
          </a:p>
          <a:p>
            <a:endParaRPr lang="en-US" dirty="0"/>
          </a:p>
          <a:p>
            <a:r>
              <a:rPr lang="en-US" dirty="0"/>
              <a:t>This corresponds to </a:t>
            </a:r>
            <a:r>
              <a:rPr lang="en-US" b="1" dirty="0"/>
              <a:t>Chapter 4</a:t>
            </a:r>
            <a:r>
              <a:rPr lang="en-US" dirty="0"/>
              <a:t> in the book draft I shared with you. I do plan to revise it soon — polish up some explanations and fix a few typos — and I’ll send you the updated version once it’s ready.</a:t>
            </a:r>
          </a:p>
          <a:p>
            <a:endParaRPr lang="en-US" dirty="0"/>
          </a:p>
          <a:p>
            <a:r>
              <a:rPr lang="en-US" dirty="0"/>
              <a:t>Here’s how we’ll structure today’s lecture:</a:t>
            </a:r>
          </a:p>
          <a:p>
            <a:r>
              <a:rPr lang="en-US" dirty="0"/>
              <a:t>First, in </a:t>
            </a:r>
            <a:r>
              <a:rPr lang="en-US" b="1" dirty="0"/>
              <a:t>Section 1</a:t>
            </a:r>
            <a:r>
              <a:rPr lang="en-US" dirty="0"/>
              <a:t>, we’ll talk about how the </a:t>
            </a:r>
            <a:r>
              <a:rPr lang="en-US" b="1" dirty="0"/>
              <a:t>Fourier transform</a:t>
            </a:r>
            <a:r>
              <a:rPr lang="en-US" dirty="0"/>
              <a:t> is </a:t>
            </a:r>
            <a:r>
              <a:rPr lang="en-US" b="1" dirty="0"/>
              <a:t>derived from the Fourier series</a:t>
            </a:r>
            <a:r>
              <a:rPr lang="en-US" dirty="0"/>
              <a:t>. This transition is logical and elegant, and it gives us a solid foundation for everything that follows.</a:t>
            </a:r>
          </a:p>
          <a:p>
            <a:endParaRPr lang="en-US" dirty="0"/>
          </a:p>
          <a:p>
            <a:r>
              <a:rPr lang="en-US" dirty="0"/>
              <a:t>Then, in </a:t>
            </a:r>
            <a:r>
              <a:rPr lang="en-US" b="1" dirty="0"/>
              <a:t>Section 2</a:t>
            </a:r>
            <a:r>
              <a:rPr lang="en-US" dirty="0"/>
              <a:t>, we’ll explore some of the most </a:t>
            </a:r>
            <a:r>
              <a:rPr lang="en-US" b="1" dirty="0"/>
              <a:t>important properties</a:t>
            </a:r>
            <a:r>
              <a:rPr lang="en-US" dirty="0"/>
              <a:t> of the Fourier transform. These properties aren’t just mathematical curiosities — they’re practical tools used in signal processing, imaging, and many other fields.</a:t>
            </a:r>
          </a:p>
          <a:p>
            <a:endParaRPr lang="en-US" dirty="0"/>
          </a:p>
          <a:p>
            <a:r>
              <a:rPr lang="en-US" dirty="0"/>
              <a:t>After that, in </a:t>
            </a:r>
            <a:r>
              <a:rPr lang="en-US" b="1" dirty="0"/>
              <a:t>Section 3</a:t>
            </a:r>
            <a:r>
              <a:rPr lang="en-US" dirty="0"/>
              <a:t>, we’ll extend our thinking to </a:t>
            </a:r>
            <a:r>
              <a:rPr lang="en-US" b="1" dirty="0"/>
              <a:t>higher dimensions</a:t>
            </a:r>
            <a:r>
              <a:rPr lang="en-US" dirty="0"/>
              <a:t>. I’ll show you how the Fourier transform applies not just to one-dimensional signals, but also to images — and beyond. I’ll even walk you through an example where converting an image to the Fourier domain makes it easy to remove noise.</a:t>
            </a:r>
          </a:p>
          <a:p>
            <a:endParaRPr lang="en-US" dirty="0"/>
          </a:p>
          <a:p>
            <a:r>
              <a:rPr lang="en-US" dirty="0"/>
              <a:t>Finally, in </a:t>
            </a:r>
            <a:r>
              <a:rPr lang="en-US" b="1" dirty="0"/>
              <a:t>Section 4</a:t>
            </a:r>
            <a:r>
              <a:rPr lang="en-US" dirty="0"/>
              <a:t>, we’ll wrap things up with a few remarks and reflections.</a:t>
            </a:r>
          </a:p>
          <a:p>
            <a:endParaRPr lang="en-US" dirty="0"/>
          </a:p>
          <a:p>
            <a:r>
              <a:rPr lang="en-US" dirty="0"/>
              <a:t>So by the end of this lecture, you should not only understand the </a:t>
            </a:r>
            <a:r>
              <a:rPr lang="en-US" b="1" dirty="0"/>
              <a:t>mathematical structure</a:t>
            </a:r>
            <a:r>
              <a:rPr lang="en-US" dirty="0"/>
              <a:t> of the Fourier transform, but also see its </a:t>
            </a:r>
            <a:r>
              <a:rPr lang="en-US" b="1" dirty="0"/>
              <a:t>real-world value</a:t>
            </a:r>
            <a:r>
              <a:rPr lang="en-US" dirty="0"/>
              <a:t>, especially in areas like </a:t>
            </a:r>
            <a:r>
              <a:rPr lang="en-US" b="1" dirty="0"/>
              <a:t>medical imaging</a:t>
            </a:r>
            <a:r>
              <a:rPr lang="en-US" dirty="0"/>
              <a:t>.</a:t>
            </a:r>
          </a:p>
          <a:p>
            <a:r>
              <a:rPr lang="en-US" dirty="0"/>
              <a:t>Let’s get started with the first section: the </a:t>
            </a:r>
            <a:r>
              <a:rPr lang="en-US" b="1" dirty="0"/>
              <a:t>derivation</a:t>
            </a:r>
            <a:r>
              <a:rPr lang="en-US" dirty="0"/>
              <a:t> of the Fourier transform.</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9</a:t>
            </a:fld>
            <a:endParaRPr lang="en-US"/>
          </a:p>
        </p:txBody>
      </p:sp>
    </p:spTree>
    <p:extLst>
      <p:ext uri="{BB962C8B-B14F-4D97-AF65-F5344CB8AC3E}">
        <p14:creationId xmlns:p14="http://schemas.microsoft.com/office/powerpoint/2010/main" val="4284862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You’ve actually seen this slide before — it’s a </a:t>
            </a:r>
            <a:r>
              <a:rPr lang="en-US" b="1" dirty="0"/>
              <a:t>summary of what we covered in the last lecture</a:t>
            </a:r>
            <a:r>
              <a:rPr lang="en-US" dirty="0"/>
              <a:t>, and now it serves as our </a:t>
            </a:r>
            <a:r>
              <a:rPr lang="en-US" b="1" dirty="0"/>
              <a:t>starting point</a:t>
            </a:r>
            <a:r>
              <a:rPr lang="en-US" dirty="0"/>
              <a:t> for deriving the </a:t>
            </a:r>
            <a:r>
              <a:rPr lang="en-US" b="1" dirty="0"/>
              <a:t>Fourier transform</a:t>
            </a:r>
            <a:r>
              <a:rPr lang="en-US" dirty="0"/>
              <a:t>.</a:t>
            </a:r>
          </a:p>
          <a:p>
            <a:endParaRPr lang="en-US" dirty="0"/>
          </a:p>
          <a:p>
            <a:r>
              <a:rPr lang="en-US" dirty="0"/>
              <a:t>Let’s quickly revisit the main idea:</a:t>
            </a:r>
          </a:p>
          <a:p>
            <a:r>
              <a:rPr lang="en-US" dirty="0"/>
              <a:t>We said that </a:t>
            </a:r>
            <a:r>
              <a:rPr lang="en-US" b="1" dirty="0"/>
              <a:t>any arbitrary function</a:t>
            </a:r>
            <a:r>
              <a:rPr lang="en-US" dirty="0"/>
              <a:t> can be treated as if it were </a:t>
            </a:r>
            <a:r>
              <a:rPr lang="en-US" b="1" dirty="0"/>
              <a:t>periodic</a:t>
            </a:r>
            <a:r>
              <a:rPr lang="en-US" dirty="0"/>
              <a:t>, defined over a fixed interval. In this case, we’re looking at a symmetric interval — from </a:t>
            </a:r>
            <a:r>
              <a:rPr lang="en-US" b="1" dirty="0"/>
              <a:t>minus capital T over 2 to plus capital T over 2</a:t>
            </a:r>
            <a:r>
              <a:rPr lang="en-US" dirty="0"/>
              <a:t>.</a:t>
            </a:r>
          </a:p>
          <a:p>
            <a:endParaRPr lang="en-US" dirty="0"/>
          </a:p>
          <a:p>
            <a:r>
              <a:rPr lang="en-US" dirty="0"/>
              <a:t>Within this interval, we can represent the function </a:t>
            </a:r>
            <a:r>
              <a:rPr lang="en-US" b="1" dirty="0"/>
              <a:t>f of t</a:t>
            </a:r>
            <a:r>
              <a:rPr lang="en-US" dirty="0"/>
              <a:t> as a sum of sinusoidal components — specifically, complex exponentials of the form:</a:t>
            </a:r>
          </a:p>
          <a:p>
            <a:r>
              <a:rPr lang="en-US" b="1" dirty="0"/>
              <a:t>e to the power </a:t>
            </a:r>
            <a:r>
              <a:rPr lang="en-US" b="1" dirty="0" err="1"/>
              <a:t>i</a:t>
            </a:r>
            <a:r>
              <a:rPr lang="en-US" b="1" dirty="0"/>
              <a:t> times 2 pi n, times t over T.</a:t>
            </a:r>
            <a:endParaRPr lang="en-US" dirty="0"/>
          </a:p>
          <a:p>
            <a:r>
              <a:rPr lang="en-US" dirty="0"/>
              <a:t>This is a compact way to write sine and cosine waves using Euler’s formula. So even though the expression looks complex, it represents a mix of sine and cosine waves at various frequencies, where </a:t>
            </a:r>
            <a:r>
              <a:rPr lang="en-US" b="1" dirty="0"/>
              <a:t>n</a:t>
            </a:r>
            <a:r>
              <a:rPr lang="en-US" dirty="0"/>
              <a:t> runs from minus infinity to plus infinity.</a:t>
            </a:r>
          </a:p>
          <a:p>
            <a:r>
              <a:rPr lang="en-US" dirty="0"/>
              <a:t>And just like before, each component has a corresponding </a:t>
            </a:r>
            <a:r>
              <a:rPr lang="en-US" b="1" dirty="0"/>
              <a:t>coefficient</a:t>
            </a:r>
            <a:r>
              <a:rPr lang="en-US" dirty="0"/>
              <a:t>, which tells us how much of that wave appears in the overall function.</a:t>
            </a:r>
          </a:p>
          <a:p>
            <a:endParaRPr lang="en-US" dirty="0"/>
          </a:p>
          <a:p>
            <a:r>
              <a:rPr lang="en-US" dirty="0"/>
              <a:t>To compute the coefficient </a:t>
            </a:r>
            <a:r>
              <a:rPr lang="en-US" b="1" dirty="0"/>
              <a:t>c n</a:t>
            </a:r>
            <a:r>
              <a:rPr lang="en-US" dirty="0"/>
              <a:t>, we use the formula at the bottom:</a:t>
            </a:r>
          </a:p>
          <a:p>
            <a:r>
              <a:rPr lang="en-US" b="1" dirty="0"/>
              <a:t>c n equals 1 over capital T, times the integral from minus T over 2 to T over 2, of e to the minus </a:t>
            </a:r>
            <a:r>
              <a:rPr lang="en-US" b="1" dirty="0" err="1"/>
              <a:t>i</a:t>
            </a:r>
            <a:r>
              <a:rPr lang="en-US" b="1" dirty="0"/>
              <a:t> 2 pi n t over T, times f of t, with respect to t.</a:t>
            </a:r>
            <a:endParaRPr lang="en-US" dirty="0"/>
          </a:p>
          <a:p>
            <a:r>
              <a:rPr lang="en-US" dirty="0"/>
              <a:t>This is just an </a:t>
            </a:r>
            <a:r>
              <a:rPr lang="en-US" b="1" dirty="0"/>
              <a:t>inner product</a:t>
            </a:r>
            <a:r>
              <a:rPr lang="en-US" dirty="0"/>
              <a:t> — projecting </a:t>
            </a:r>
            <a:r>
              <a:rPr lang="en-US" b="1" dirty="0"/>
              <a:t>f of t</a:t>
            </a:r>
            <a:r>
              <a:rPr lang="en-US" dirty="0"/>
              <a:t> onto a complex exponential basis function. That projection gives us the weight, or the </a:t>
            </a:r>
            <a:r>
              <a:rPr lang="en-US" b="1" dirty="0"/>
              <a:t>contribution</a:t>
            </a:r>
            <a:r>
              <a:rPr lang="en-US" dirty="0"/>
              <a:t>, of that particular frequency.</a:t>
            </a:r>
          </a:p>
          <a:p>
            <a:endParaRPr lang="en-US" dirty="0"/>
          </a:p>
          <a:p>
            <a:r>
              <a:rPr lang="en-US" dirty="0"/>
              <a:t>So, this slide wraps up all the key ideas from the Fourier series — including:</a:t>
            </a:r>
          </a:p>
          <a:p>
            <a:r>
              <a:rPr lang="en-US" dirty="0"/>
              <a:t>Treating functions as periodic,</a:t>
            </a:r>
          </a:p>
          <a:p>
            <a:r>
              <a:rPr lang="en-US" dirty="0"/>
              <a:t>Expressing them with complex exponentials,</a:t>
            </a:r>
          </a:p>
          <a:p>
            <a:r>
              <a:rPr lang="en-US" dirty="0"/>
              <a:t>And computing coefficients through integration.</a:t>
            </a:r>
          </a:p>
          <a:p>
            <a:r>
              <a:rPr lang="en-US" dirty="0"/>
              <a:t>With this solid foundation in place, we’re now ready to take the next step — and derive the </a:t>
            </a:r>
            <a:r>
              <a:rPr lang="en-US" b="1" dirty="0"/>
              <a:t>Fourier transform</a:t>
            </a:r>
            <a:r>
              <a:rPr lang="en-US" dirty="0"/>
              <a:t>, which generalizes everything we’ve done so far.</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10</a:t>
            </a:fld>
            <a:endParaRPr lang="en-US"/>
          </a:p>
        </p:txBody>
      </p:sp>
    </p:spTree>
    <p:extLst>
      <p:ext uri="{BB962C8B-B14F-4D97-AF65-F5344CB8AC3E}">
        <p14:creationId xmlns:p14="http://schemas.microsoft.com/office/powerpoint/2010/main" val="54280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now let’s take the next step together.</a:t>
            </a:r>
          </a:p>
          <a:p>
            <a:r>
              <a:rPr lang="en-US" dirty="0"/>
              <a:t>Earlier, we learned how to calculate the Fourier coefficient </a:t>
            </a:r>
            <a:r>
              <a:rPr lang="en-US" b="1" dirty="0"/>
              <a:t>c n</a:t>
            </a:r>
            <a:r>
              <a:rPr lang="en-US" dirty="0"/>
              <a:t> for a function with arbitrary period </a:t>
            </a:r>
            <a:r>
              <a:rPr lang="en-US" b="1" dirty="0"/>
              <a:t>T</a:t>
            </a:r>
            <a:r>
              <a:rPr lang="en-US" dirty="0"/>
              <a:t>. Now, we’re going to </a:t>
            </a:r>
            <a:r>
              <a:rPr lang="en-US" b="1" dirty="0"/>
              <a:t>insert that expression</a:t>
            </a:r>
            <a:r>
              <a:rPr lang="en-US" dirty="0"/>
              <a:t> for </a:t>
            </a:r>
            <a:r>
              <a:rPr lang="en-US" b="1" dirty="0"/>
              <a:t>c n</a:t>
            </a:r>
            <a:r>
              <a:rPr lang="en-US" dirty="0"/>
              <a:t> directly into the Fourier series formula.</a:t>
            </a:r>
          </a:p>
          <a:p>
            <a:endParaRPr lang="en-US" dirty="0"/>
          </a:p>
          <a:p>
            <a:r>
              <a:rPr lang="en-US" dirty="0"/>
              <a:t>What happens when we do that?</a:t>
            </a:r>
          </a:p>
          <a:p>
            <a:r>
              <a:rPr lang="en-US" dirty="0"/>
              <a:t>Well, here’s what we get: we take the formula for </a:t>
            </a:r>
            <a:r>
              <a:rPr lang="en-US" b="1" dirty="0"/>
              <a:t>c n</a:t>
            </a:r>
            <a:r>
              <a:rPr lang="en-US" dirty="0"/>
              <a:t> — which is an integral — and plug it into the sum. So now, each term in the series contains an </a:t>
            </a:r>
            <a:r>
              <a:rPr lang="en-US" b="1" dirty="0"/>
              <a:t>inner product</a:t>
            </a:r>
            <a:r>
              <a:rPr lang="en-US" dirty="0"/>
              <a:t> multiplied by a complex exponential.</a:t>
            </a:r>
          </a:p>
          <a:p>
            <a:endParaRPr lang="en-US" dirty="0"/>
          </a:p>
          <a:p>
            <a:r>
              <a:rPr lang="en-US" dirty="0"/>
              <a:t>Notice this part out front: </a:t>
            </a:r>
            <a:r>
              <a:rPr lang="en-US" b="1" dirty="0"/>
              <a:t>1 over capital T</a:t>
            </a:r>
            <a:r>
              <a:rPr lang="en-US" dirty="0"/>
              <a:t>. This shows up because we’re working over a general period </a:t>
            </a:r>
            <a:r>
              <a:rPr lang="en-US" b="1" dirty="0"/>
              <a:t>T</a:t>
            </a:r>
            <a:r>
              <a:rPr lang="en-US" dirty="0"/>
              <a:t>, not the unit interval. So we need to </a:t>
            </a:r>
            <a:r>
              <a:rPr lang="en-US" b="1" dirty="0"/>
              <a:t>normalize</a:t>
            </a:r>
            <a:r>
              <a:rPr lang="en-US" dirty="0"/>
              <a:t> — or average — over the full interval from </a:t>
            </a:r>
            <a:r>
              <a:rPr lang="en-US" b="1" dirty="0"/>
              <a:t>minus T over 2 to plus T over 2</a:t>
            </a:r>
            <a:r>
              <a:rPr lang="en-US" dirty="0"/>
              <a:t>.</a:t>
            </a:r>
          </a:p>
          <a:p>
            <a:r>
              <a:rPr lang="en-US" dirty="0"/>
              <a:t>This </a:t>
            </a:r>
            <a:r>
              <a:rPr lang="en-US" b="1" dirty="0"/>
              <a:t>1 over T</a:t>
            </a:r>
            <a:r>
              <a:rPr lang="en-US" dirty="0"/>
              <a:t> acts like a scaling factor — a way of balancing the sum so that everything works out correctly.</a:t>
            </a:r>
          </a:p>
          <a:p>
            <a:r>
              <a:rPr lang="en-US" dirty="0"/>
              <a:t>Now look inside the brackets. What we’re really doing here is taking the </a:t>
            </a:r>
            <a:r>
              <a:rPr lang="en-US" b="1" dirty="0"/>
              <a:t>inner product</a:t>
            </a:r>
            <a:r>
              <a:rPr lang="en-US" dirty="0"/>
              <a:t> of two functions:</a:t>
            </a:r>
          </a:p>
          <a:p>
            <a:r>
              <a:rPr lang="en-US" dirty="0"/>
              <a:t>One is </a:t>
            </a:r>
            <a:r>
              <a:rPr lang="en-US" b="1" dirty="0"/>
              <a:t>f of t</a:t>
            </a:r>
            <a:r>
              <a:rPr lang="en-US" dirty="0"/>
              <a:t>,</a:t>
            </a:r>
          </a:p>
          <a:p>
            <a:r>
              <a:rPr lang="en-US" dirty="0"/>
              <a:t>And the other is the complex exponential </a:t>
            </a:r>
            <a:r>
              <a:rPr lang="en-US" b="1" dirty="0"/>
              <a:t>e to the power minus </a:t>
            </a:r>
            <a:r>
              <a:rPr lang="en-US" b="1" dirty="0" err="1"/>
              <a:t>i</a:t>
            </a:r>
            <a:r>
              <a:rPr lang="en-US" b="1" dirty="0"/>
              <a:t> 2 pi n t over T</a:t>
            </a:r>
            <a:r>
              <a:rPr lang="en-US" dirty="0"/>
              <a:t>.</a:t>
            </a:r>
          </a:p>
          <a:p>
            <a:endParaRPr lang="en-US" dirty="0"/>
          </a:p>
          <a:p>
            <a:r>
              <a:rPr lang="en-US" dirty="0"/>
              <a:t>You multiply them together point by point, and then integrate over the interval. That’s what we mean by an inner product in this context.</a:t>
            </a:r>
          </a:p>
          <a:p>
            <a:r>
              <a:rPr lang="en-US" dirty="0"/>
              <a:t>And we’re doing this for many values of </a:t>
            </a:r>
            <a:r>
              <a:rPr lang="en-US" b="1" dirty="0"/>
              <a:t>n</a:t>
            </a:r>
            <a:r>
              <a:rPr lang="en-US" dirty="0"/>
              <a:t>, both negative and positive. So you can imagine we’re computing inner products </a:t>
            </a:r>
            <a:r>
              <a:rPr lang="en-US" b="1" dirty="0"/>
              <a:t>at a whole series of frequency points</a:t>
            </a:r>
            <a:r>
              <a:rPr lang="en-US" dirty="0"/>
              <a:t> — where each frequency is </a:t>
            </a:r>
            <a:r>
              <a:rPr lang="en-US" b="1" dirty="0"/>
              <a:t>n divided by T</a:t>
            </a:r>
            <a:r>
              <a:rPr lang="en-US" dirty="0"/>
              <a:t>.</a:t>
            </a:r>
          </a:p>
          <a:p>
            <a:endParaRPr lang="en-US" dirty="0"/>
          </a:p>
          <a:p>
            <a:r>
              <a:rPr lang="en-US" dirty="0"/>
              <a:t>As </a:t>
            </a:r>
            <a:r>
              <a:rPr lang="en-US" b="1" dirty="0"/>
              <a:t>T</a:t>
            </a:r>
            <a:r>
              <a:rPr lang="en-US" dirty="0"/>
              <a:t> becomes large, the spacing between these frequencies — that is, the difference between one </a:t>
            </a:r>
            <a:r>
              <a:rPr lang="en-US" b="1" dirty="0"/>
              <a:t>n over T</a:t>
            </a:r>
            <a:r>
              <a:rPr lang="en-US" dirty="0"/>
              <a:t> and the next — becomes smaller and smaller. Eventually, this sum will start to resemble an </a:t>
            </a:r>
            <a:r>
              <a:rPr lang="en-US" b="1" dirty="0"/>
              <a:t>integral over a continuous range of frequencies</a:t>
            </a:r>
            <a:r>
              <a:rPr lang="en-US" dirty="0"/>
              <a:t>, and that’s the key idea behind the </a:t>
            </a:r>
            <a:r>
              <a:rPr lang="en-US" b="1" dirty="0"/>
              <a:t>Fourier transform</a:t>
            </a:r>
            <a:r>
              <a:rPr lang="en-US" dirty="0"/>
              <a:t>.</a:t>
            </a:r>
          </a:p>
          <a:p>
            <a:endParaRPr lang="en-US" dirty="0"/>
          </a:p>
          <a:p>
            <a:r>
              <a:rPr lang="en-US" dirty="0"/>
              <a:t>So, to summarize:</a:t>
            </a:r>
            <a:br>
              <a:rPr lang="en-US" dirty="0"/>
            </a:br>
            <a:r>
              <a:rPr lang="en-US" dirty="0"/>
              <a:t>We’re inserting the formula for </a:t>
            </a:r>
            <a:r>
              <a:rPr lang="en-US" b="1" dirty="0"/>
              <a:t>c n</a:t>
            </a:r>
            <a:r>
              <a:rPr lang="en-US" dirty="0"/>
              <a:t>, and that gives us a series of inner products across many frequencies, with a spacing of </a:t>
            </a:r>
            <a:r>
              <a:rPr lang="en-US" b="1" dirty="0"/>
              <a:t>delta u equals 1 over T</a:t>
            </a:r>
            <a:r>
              <a:rPr lang="en-US" dirty="0"/>
              <a:t>. This step sets us up perfectly to move from a </a:t>
            </a:r>
            <a:r>
              <a:rPr lang="en-US" b="1" dirty="0"/>
              <a:t>discrete sum</a:t>
            </a:r>
            <a:r>
              <a:rPr lang="en-US" dirty="0"/>
              <a:t> to a </a:t>
            </a:r>
            <a:r>
              <a:rPr lang="en-US" b="1" dirty="0"/>
              <a:t>continuous integral</a:t>
            </a:r>
            <a:r>
              <a:rPr lang="en-US" dirty="0"/>
              <a:t> — which is what the Fourier transform is all about.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11</a:t>
            </a:fld>
            <a:endParaRPr lang="en-US"/>
          </a:p>
        </p:txBody>
      </p:sp>
    </p:spTree>
    <p:extLst>
      <p:ext uri="{BB962C8B-B14F-4D97-AF65-F5344CB8AC3E}">
        <p14:creationId xmlns:p14="http://schemas.microsoft.com/office/powerpoint/2010/main" val="1163863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understand that last idea more clearly, let’s take a look at this picture.</a:t>
            </a:r>
          </a:p>
          <a:p>
            <a:endParaRPr lang="en-US" dirty="0"/>
          </a:p>
          <a:p>
            <a:r>
              <a:rPr lang="en-US" dirty="0"/>
              <a:t>What we’re doing here is sampling inner products at </a:t>
            </a:r>
            <a:r>
              <a:rPr lang="en-US" b="1" dirty="0"/>
              <a:t>many frequency points</a:t>
            </a:r>
            <a:r>
              <a:rPr lang="en-US" dirty="0"/>
              <a:t>. Each of these points corresponds to a value of </a:t>
            </a:r>
            <a:r>
              <a:rPr lang="en-US" b="1" dirty="0"/>
              <a:t>n divided by capital T</a:t>
            </a:r>
            <a:r>
              <a:rPr lang="en-US" dirty="0"/>
              <a:t> — that is, </a:t>
            </a:r>
            <a:r>
              <a:rPr lang="en-US" b="1" dirty="0"/>
              <a:t>u equals n over T</a:t>
            </a:r>
            <a:r>
              <a:rPr lang="en-US" dirty="0"/>
              <a:t>. As </a:t>
            </a:r>
            <a:r>
              <a:rPr lang="en-US" b="1" dirty="0"/>
              <a:t>n</a:t>
            </a:r>
            <a:r>
              <a:rPr lang="en-US" dirty="0"/>
              <a:t> varies from negative to positive integers, you get a collection of frequency points spread along the </a:t>
            </a:r>
            <a:r>
              <a:rPr lang="en-US" b="1" dirty="0"/>
              <a:t>u-axis</a:t>
            </a:r>
            <a:r>
              <a:rPr lang="en-US" dirty="0"/>
              <a:t>, which represents frequency.</a:t>
            </a:r>
          </a:p>
          <a:p>
            <a:endParaRPr lang="en-US" dirty="0"/>
          </a:p>
          <a:p>
            <a:r>
              <a:rPr lang="en-US" dirty="0"/>
              <a:t>When </a:t>
            </a:r>
            <a:r>
              <a:rPr lang="en-US" b="1" dirty="0"/>
              <a:t>n equals 0</a:t>
            </a:r>
            <a:r>
              <a:rPr lang="en-US" dirty="0"/>
              <a:t>, you’re at the </a:t>
            </a:r>
            <a:r>
              <a:rPr lang="en-US" b="1" dirty="0"/>
              <a:t>DC component</a:t>
            </a:r>
            <a:r>
              <a:rPr lang="en-US" dirty="0"/>
              <a:t> — the zero-frequency term. When </a:t>
            </a:r>
            <a:r>
              <a:rPr lang="en-US" b="1" dirty="0"/>
              <a:t>n equals 1</a:t>
            </a:r>
            <a:r>
              <a:rPr lang="en-US" dirty="0"/>
              <a:t>, you get one frequency point. When </a:t>
            </a:r>
            <a:r>
              <a:rPr lang="en-US" b="1" dirty="0"/>
              <a:t>n equals minus 1</a:t>
            </a:r>
            <a:r>
              <a:rPr lang="en-US" dirty="0"/>
              <a:t>, you get another. And so on.</a:t>
            </a:r>
          </a:p>
          <a:p>
            <a:r>
              <a:rPr lang="en-US" dirty="0"/>
              <a:t>So you can imagine each vertical line here as one of those frequency points — </a:t>
            </a:r>
            <a:r>
              <a:rPr lang="en-US" b="1" dirty="0"/>
              <a:t>u equals n over T</a:t>
            </a:r>
            <a:r>
              <a:rPr lang="en-US" dirty="0"/>
              <a:t> — spread across the axis.</a:t>
            </a:r>
          </a:p>
          <a:p>
            <a:endParaRPr lang="en-US" dirty="0"/>
          </a:p>
          <a:p>
            <a:r>
              <a:rPr lang="en-US" dirty="0"/>
              <a:t>Now here’s the key idea:</a:t>
            </a:r>
            <a:br>
              <a:rPr lang="en-US" dirty="0"/>
            </a:br>
            <a:r>
              <a:rPr lang="en-US" dirty="0"/>
              <a:t>If we let the period </a:t>
            </a:r>
            <a:r>
              <a:rPr lang="en-US" b="1" dirty="0"/>
              <a:t>T</a:t>
            </a:r>
            <a:r>
              <a:rPr lang="en-US" dirty="0"/>
              <a:t> become very large, then the range from </a:t>
            </a:r>
            <a:r>
              <a:rPr lang="en-US" b="1" dirty="0"/>
              <a:t>minus T over 2 to plus T over 2</a:t>
            </a:r>
            <a:r>
              <a:rPr lang="en-US" dirty="0"/>
              <a:t> will grow wider and wider. In fact, in the limit as </a:t>
            </a:r>
            <a:r>
              <a:rPr lang="en-US" b="1" dirty="0"/>
              <a:t>T goes to infinity</a:t>
            </a:r>
            <a:r>
              <a:rPr lang="en-US" dirty="0"/>
              <a:t>, that interval covers the </a:t>
            </a:r>
            <a:r>
              <a:rPr lang="en-US" b="1" dirty="0"/>
              <a:t>entire frequency axis</a:t>
            </a:r>
            <a:r>
              <a:rPr lang="en-US" dirty="0"/>
              <a:t> — from minus infinity to plus infinity.</a:t>
            </a:r>
          </a:p>
          <a:p>
            <a:endParaRPr lang="en-US" dirty="0"/>
          </a:p>
          <a:p>
            <a:r>
              <a:rPr lang="en-US" dirty="0"/>
              <a:t>That’s what we mean by </a:t>
            </a:r>
            <a:r>
              <a:rPr lang="en-US" b="1" dirty="0"/>
              <a:t>dense sampling</a:t>
            </a:r>
            <a:r>
              <a:rPr lang="en-US" dirty="0"/>
              <a:t> of frequency.</a:t>
            </a:r>
          </a:p>
          <a:p>
            <a:r>
              <a:rPr lang="en-US" dirty="0"/>
              <a:t>As </a:t>
            </a:r>
            <a:r>
              <a:rPr lang="en-US" b="1" dirty="0"/>
              <a:t>T</a:t>
            </a:r>
            <a:r>
              <a:rPr lang="en-US" dirty="0"/>
              <a:t> increases, the spacing between neighboring frequencies gets smaller and smaller. Mathematically, the spacing — which we call </a:t>
            </a:r>
            <a:r>
              <a:rPr lang="en-US" b="1" dirty="0"/>
              <a:t>delta u</a:t>
            </a:r>
            <a:r>
              <a:rPr lang="en-US" dirty="0"/>
              <a:t> — becomes </a:t>
            </a:r>
            <a:r>
              <a:rPr lang="en-US" b="1" dirty="0"/>
              <a:t>1 over capital T</a:t>
            </a:r>
            <a:r>
              <a:rPr lang="en-US" dirty="0"/>
              <a:t>. So the gap between </a:t>
            </a:r>
            <a:r>
              <a:rPr lang="en-US" b="1" dirty="0"/>
              <a:t>u equals to n over T</a:t>
            </a:r>
            <a:r>
              <a:rPr lang="en-US" dirty="0"/>
              <a:t> and </a:t>
            </a:r>
            <a:r>
              <a:rPr lang="en-US" b="1" dirty="0"/>
              <a:t>u equals to (n plus 1) over T</a:t>
            </a:r>
            <a:r>
              <a:rPr lang="en-US" dirty="0"/>
              <a:t> shrinks.</a:t>
            </a:r>
          </a:p>
          <a:p>
            <a:r>
              <a:rPr lang="en-US" dirty="0"/>
              <a:t>Eventually, these discrete frequency samples get so close together that they begin to form a </a:t>
            </a:r>
            <a:r>
              <a:rPr lang="en-US" b="1" dirty="0"/>
              <a:t>continuous spectrum</a:t>
            </a:r>
            <a:r>
              <a:rPr lang="en-US" dirty="0"/>
              <a:t>.</a:t>
            </a:r>
          </a:p>
          <a:p>
            <a:r>
              <a:rPr lang="en-US" dirty="0"/>
              <a:t>And that’s the magic.</a:t>
            </a:r>
          </a:p>
          <a:p>
            <a:endParaRPr lang="en-US" dirty="0"/>
          </a:p>
          <a:p>
            <a:r>
              <a:rPr lang="en-US" dirty="0"/>
              <a:t>We started with a </a:t>
            </a:r>
            <a:r>
              <a:rPr lang="en-US" b="1" dirty="0"/>
              <a:t>periodic function</a:t>
            </a:r>
            <a:r>
              <a:rPr lang="en-US" dirty="0"/>
              <a:t>, which gives us </a:t>
            </a:r>
            <a:r>
              <a:rPr lang="en-US" b="1" dirty="0"/>
              <a:t>discrete frequencies</a:t>
            </a:r>
            <a:r>
              <a:rPr lang="en-US" dirty="0"/>
              <a:t>. But as the period stretches toward infinity, the function becomes </a:t>
            </a:r>
            <a:r>
              <a:rPr lang="en-US" b="1" dirty="0"/>
              <a:t>non-periodic</a:t>
            </a:r>
            <a:r>
              <a:rPr lang="en-US" dirty="0"/>
              <a:t>, and the discrete frequency points turn into a </a:t>
            </a:r>
            <a:r>
              <a:rPr lang="en-US" b="1" dirty="0"/>
              <a:t>continuous frequency range</a:t>
            </a:r>
            <a:r>
              <a:rPr lang="en-US" dirty="0"/>
              <a:t>.</a:t>
            </a:r>
          </a:p>
          <a:p>
            <a:r>
              <a:rPr lang="en-US" dirty="0"/>
              <a:t>So, what is a non-periodic function in this view?</a:t>
            </a:r>
          </a:p>
          <a:p>
            <a:r>
              <a:rPr lang="en-US" dirty="0"/>
              <a:t>It’s just a </a:t>
            </a:r>
            <a:r>
              <a:rPr lang="en-US" b="1" dirty="0"/>
              <a:t>periodic function with an infinitely long period</a:t>
            </a:r>
            <a:r>
              <a:rPr lang="en-US" dirty="0"/>
              <a:t>. Anything that happens beyond that infinite window doesn’t affect what we see — and that’s how we bridge from the </a:t>
            </a:r>
            <a:r>
              <a:rPr lang="en-US" b="1" dirty="0"/>
              <a:t>Fourier series</a:t>
            </a:r>
            <a:r>
              <a:rPr lang="en-US" dirty="0"/>
              <a:t> to the </a:t>
            </a:r>
            <a:r>
              <a:rPr lang="en-US" b="1" dirty="0"/>
              <a:t>Fourier transform</a:t>
            </a:r>
            <a:r>
              <a:rPr lang="en-US" dirty="0"/>
              <a:t>.</a:t>
            </a:r>
          </a:p>
          <a:p>
            <a:endParaRPr lang="en-US" dirty="0"/>
          </a:p>
          <a:p>
            <a:r>
              <a:rPr lang="en-US" dirty="0"/>
              <a:t>This slide captures the big picture:</a:t>
            </a:r>
          </a:p>
          <a:p>
            <a:r>
              <a:rPr lang="en-US" dirty="0"/>
              <a:t>Discrete frequencies spaced by </a:t>
            </a:r>
            <a:r>
              <a:rPr lang="en-US" b="1" dirty="0"/>
              <a:t>1 over T</a:t>
            </a:r>
            <a:r>
              <a:rPr lang="en-US" dirty="0"/>
              <a:t>,</a:t>
            </a:r>
          </a:p>
          <a:p>
            <a:r>
              <a:rPr lang="en-US" dirty="0"/>
              <a:t>Becoming </a:t>
            </a:r>
            <a:r>
              <a:rPr lang="en-US" b="1" dirty="0"/>
              <a:t>densely packed</a:t>
            </a:r>
            <a:r>
              <a:rPr lang="en-US" dirty="0"/>
              <a:t> as T increases,</a:t>
            </a:r>
          </a:p>
          <a:p>
            <a:r>
              <a:rPr lang="en-US" dirty="0"/>
              <a:t>And ultimately forming a </a:t>
            </a:r>
            <a:r>
              <a:rPr lang="en-US" b="1" dirty="0"/>
              <a:t>continuous frequency axis</a:t>
            </a:r>
            <a:r>
              <a:rPr lang="en-US" dirty="0"/>
              <a:t>.</a:t>
            </a:r>
          </a:p>
          <a:p>
            <a:r>
              <a:rPr lang="en-US" dirty="0"/>
              <a:t>That’s our gateway into the </a:t>
            </a:r>
            <a:r>
              <a:rPr lang="en-US" b="1" dirty="0"/>
              <a:t>Fourier transform</a:t>
            </a:r>
            <a:r>
              <a:rPr lang="en-US" dirty="0"/>
              <a: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12</a:t>
            </a:fld>
            <a:endParaRPr lang="en-US"/>
          </a:p>
        </p:txBody>
      </p:sp>
    </p:spTree>
    <p:extLst>
      <p:ext uri="{BB962C8B-B14F-4D97-AF65-F5344CB8AC3E}">
        <p14:creationId xmlns:p14="http://schemas.microsoft.com/office/powerpoint/2010/main" val="3448419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this slide is the heart of the lecture. Take a moment to follow this carefully, because here is where we </a:t>
            </a:r>
            <a:r>
              <a:rPr lang="en-US" b="1" dirty="0"/>
              <a:t>formally derive the Fourier transform</a:t>
            </a:r>
            <a:r>
              <a:rPr lang="en-US" dirty="0"/>
              <a:t> — and also see how we can recover the original function using the </a:t>
            </a:r>
            <a:r>
              <a:rPr lang="en-US" b="1" dirty="0"/>
              <a:t>inverse transform</a:t>
            </a:r>
            <a:r>
              <a:rPr lang="en-US" dirty="0"/>
              <a:t>.</a:t>
            </a:r>
          </a:p>
          <a:p>
            <a:endParaRPr lang="en-US" dirty="0"/>
          </a:p>
          <a:p>
            <a:r>
              <a:rPr lang="en-US" dirty="0"/>
              <a:t>Let’s begin at the top.</a:t>
            </a:r>
          </a:p>
          <a:p>
            <a:r>
              <a:rPr lang="en-US" dirty="0"/>
              <a:t>We’re starting with our expression for </a:t>
            </a:r>
            <a:r>
              <a:rPr lang="en-US" b="1" dirty="0"/>
              <a:t>f of t</a:t>
            </a:r>
            <a:r>
              <a:rPr lang="en-US" dirty="0"/>
              <a:t>, written as a </a:t>
            </a:r>
            <a:r>
              <a:rPr lang="en-US" b="1" dirty="0"/>
              <a:t>Fourier series</a:t>
            </a:r>
            <a:r>
              <a:rPr lang="en-US" dirty="0"/>
              <a:t>. We substitute the expression for </a:t>
            </a:r>
            <a:r>
              <a:rPr lang="en-US" b="1" dirty="0"/>
              <a:t>c over n</a:t>
            </a:r>
            <a:r>
              <a:rPr lang="en-US" dirty="0"/>
              <a:t> — the Fourier coefficient — right into this formula.</a:t>
            </a:r>
          </a:p>
          <a:p>
            <a:endParaRPr lang="en-US" dirty="0"/>
          </a:p>
          <a:p>
            <a:r>
              <a:rPr lang="en-US" dirty="0"/>
              <a:t>Now remember, </a:t>
            </a:r>
            <a:r>
              <a:rPr lang="en-US" b="1" dirty="0"/>
              <a:t>c over n</a:t>
            </a:r>
            <a:r>
              <a:rPr lang="en-US" dirty="0"/>
              <a:t> contains an integral — and it includes a </a:t>
            </a:r>
            <a:r>
              <a:rPr lang="en-US" b="1" dirty="0"/>
              <a:t>1 over T</a:t>
            </a:r>
            <a:r>
              <a:rPr lang="en-US" dirty="0"/>
              <a:t> term out front. Since </a:t>
            </a:r>
            <a:r>
              <a:rPr lang="en-US" b="1" dirty="0"/>
              <a:t>T</a:t>
            </a:r>
            <a:r>
              <a:rPr lang="en-US" dirty="0"/>
              <a:t> is constant, we pull it out of the sum.</a:t>
            </a:r>
          </a:p>
          <a:p>
            <a:r>
              <a:rPr lang="en-US" dirty="0"/>
              <a:t>At this point, we apply a key idea we introduced earlier:</a:t>
            </a:r>
            <a:br>
              <a:rPr lang="en-US" dirty="0"/>
            </a:br>
            <a:r>
              <a:rPr lang="en-US" dirty="0"/>
              <a:t>Let </a:t>
            </a:r>
            <a:r>
              <a:rPr lang="en-US" b="1" dirty="0"/>
              <a:t>T become very large</a:t>
            </a:r>
            <a:r>
              <a:rPr lang="en-US" dirty="0"/>
              <a:t>, so large that we’re effectively dealing with a </a:t>
            </a:r>
            <a:r>
              <a:rPr lang="en-US" b="1" dirty="0"/>
              <a:t>non-periodic function</a:t>
            </a:r>
            <a:r>
              <a:rPr lang="en-US" dirty="0"/>
              <a:t>. When </a:t>
            </a:r>
            <a:r>
              <a:rPr lang="en-US" b="1" dirty="0"/>
              <a:t>T approaches infinity</a:t>
            </a:r>
            <a:r>
              <a:rPr lang="en-US" dirty="0"/>
              <a:t>, the spacing between the frequency samples, </a:t>
            </a:r>
            <a:r>
              <a:rPr lang="en-US" b="1" dirty="0"/>
              <a:t>delta u equals to 1 over T</a:t>
            </a:r>
            <a:r>
              <a:rPr lang="en-US" dirty="0"/>
              <a:t>, becomes tiny — almost zero.</a:t>
            </a:r>
          </a:p>
          <a:p>
            <a:endParaRPr lang="en-US" dirty="0"/>
          </a:p>
          <a:p>
            <a:r>
              <a:rPr lang="en-US" dirty="0"/>
              <a:t>So what happens?</a:t>
            </a:r>
          </a:p>
          <a:p>
            <a:r>
              <a:rPr lang="en-US" dirty="0"/>
              <a:t>Instead of summing over discrete frequencies, we move to a </a:t>
            </a:r>
            <a:r>
              <a:rPr lang="en-US" b="1" dirty="0"/>
              <a:t>continuous frequency variable</a:t>
            </a:r>
            <a:r>
              <a:rPr lang="en-US" dirty="0"/>
              <a:t>, which we call </a:t>
            </a:r>
            <a:r>
              <a:rPr lang="en-US" b="1" dirty="0"/>
              <a:t>u</a:t>
            </a:r>
            <a:r>
              <a:rPr lang="en-US" dirty="0"/>
              <a:t> — where </a:t>
            </a:r>
            <a:r>
              <a:rPr lang="en-US" b="1" dirty="0"/>
              <a:t>u equals n divided by T</a:t>
            </a:r>
            <a:r>
              <a:rPr lang="en-US" dirty="0"/>
              <a:t>.</a:t>
            </a:r>
          </a:p>
          <a:p>
            <a:r>
              <a:rPr lang="en-US" dirty="0"/>
              <a:t>This transition lets us </a:t>
            </a:r>
            <a:r>
              <a:rPr lang="en-US" b="1" dirty="0"/>
              <a:t>replace the sum</a:t>
            </a:r>
            <a:r>
              <a:rPr lang="en-US" dirty="0"/>
              <a:t> with an </a:t>
            </a:r>
            <a:r>
              <a:rPr lang="en-US" b="1" dirty="0"/>
              <a:t>integral</a:t>
            </a:r>
            <a:r>
              <a:rPr lang="en-US" dirty="0"/>
              <a:t>.</a:t>
            </a:r>
          </a:p>
          <a:p>
            <a:r>
              <a:rPr lang="en-US" dirty="0"/>
              <a:t>So now we’ve gone from a sum of discrete terms to an integral over a continuous range of frequencies. The inner product becomes </a:t>
            </a:r>
            <a:r>
              <a:rPr lang="en-US" b="1" dirty="0"/>
              <a:t>f-hat of u</a:t>
            </a:r>
            <a:r>
              <a:rPr lang="en-US" dirty="0"/>
              <a:t>, the </a:t>
            </a:r>
            <a:r>
              <a:rPr lang="en-US" b="1" dirty="0"/>
              <a:t>Fourier transform</a:t>
            </a:r>
            <a:r>
              <a:rPr lang="en-US" dirty="0"/>
              <a:t> of </a:t>
            </a:r>
            <a:r>
              <a:rPr lang="en-US" b="1" dirty="0"/>
              <a:t>f of t</a:t>
            </a:r>
            <a:r>
              <a:rPr lang="en-US" dirty="0"/>
              <a:t>. And the exponential term becomes </a:t>
            </a:r>
            <a:r>
              <a:rPr lang="en-US" b="1" dirty="0"/>
              <a:t>e to the power </a:t>
            </a:r>
            <a:r>
              <a:rPr lang="en-US" b="1" dirty="0" err="1"/>
              <a:t>i</a:t>
            </a:r>
            <a:r>
              <a:rPr lang="en-US" b="1" dirty="0"/>
              <a:t> 2 pi u t</a:t>
            </a:r>
            <a:r>
              <a:rPr lang="en-US" dirty="0"/>
              <a:t> — our new kernel in the transform.</a:t>
            </a:r>
          </a:p>
          <a:p>
            <a:endParaRPr lang="en-US" dirty="0"/>
          </a:p>
          <a:p>
            <a:r>
              <a:rPr lang="en-US" dirty="0"/>
              <a:t>Let’s pause here and look at the final expression.</a:t>
            </a:r>
          </a:p>
          <a:p>
            <a:r>
              <a:rPr lang="en-US" dirty="0"/>
              <a:t>You’ll notice two things:</a:t>
            </a:r>
          </a:p>
          <a:p>
            <a:r>
              <a:rPr lang="en-US" dirty="0"/>
              <a:t>First, to compute </a:t>
            </a:r>
            <a:r>
              <a:rPr lang="en-US" b="1" dirty="0"/>
              <a:t>f-hat of u</a:t>
            </a:r>
            <a:r>
              <a:rPr lang="en-US" dirty="0"/>
              <a:t>, the Fourier transform, we integrate </a:t>
            </a:r>
            <a:r>
              <a:rPr lang="en-US" b="1" dirty="0"/>
              <a:t>f of t</a:t>
            </a:r>
            <a:r>
              <a:rPr lang="en-US" dirty="0"/>
              <a:t> multiplied by </a:t>
            </a:r>
            <a:r>
              <a:rPr lang="en-US" b="1" dirty="0"/>
              <a:t>e to the minus </a:t>
            </a:r>
            <a:r>
              <a:rPr lang="en-US" b="1" dirty="0" err="1"/>
              <a:t>i</a:t>
            </a:r>
            <a:r>
              <a:rPr lang="en-US" b="1" dirty="0"/>
              <a:t> 2 pi u t</a:t>
            </a:r>
            <a:r>
              <a:rPr lang="en-US" dirty="0"/>
              <a:t>. That’s the </a:t>
            </a:r>
            <a:r>
              <a:rPr lang="en-US" b="1" dirty="0"/>
              <a:t>forward transform</a:t>
            </a:r>
            <a:r>
              <a:rPr lang="en-US" dirty="0"/>
              <a:t> — moving from the time domain to the frequency domain.</a:t>
            </a:r>
          </a:p>
          <a:p>
            <a:r>
              <a:rPr lang="en-US" dirty="0"/>
              <a:t>Second, to reconstruct </a:t>
            </a:r>
            <a:r>
              <a:rPr lang="en-US" b="1" dirty="0"/>
              <a:t>f of t</a:t>
            </a:r>
            <a:r>
              <a:rPr lang="en-US" dirty="0"/>
              <a:t>, we take </a:t>
            </a:r>
            <a:r>
              <a:rPr lang="en-US" b="1" dirty="0"/>
              <a:t>f-hat of u</a:t>
            </a:r>
            <a:r>
              <a:rPr lang="en-US" dirty="0"/>
              <a:t>, multiply it by </a:t>
            </a:r>
            <a:r>
              <a:rPr lang="en-US" b="1" dirty="0"/>
              <a:t>e to the power </a:t>
            </a:r>
            <a:r>
              <a:rPr lang="en-US" b="1" dirty="0" err="1"/>
              <a:t>i</a:t>
            </a:r>
            <a:r>
              <a:rPr lang="en-US" b="1" dirty="0"/>
              <a:t> 2 pi u t</a:t>
            </a:r>
            <a:r>
              <a:rPr lang="en-US" dirty="0"/>
              <a:t>, and integrate over all u. That’s the </a:t>
            </a:r>
            <a:r>
              <a:rPr lang="en-US" b="1" dirty="0"/>
              <a:t>inverse transform</a:t>
            </a:r>
            <a:r>
              <a:rPr lang="en-US" dirty="0"/>
              <a:t> — bringing us back from frequency to time.</a:t>
            </a:r>
          </a:p>
          <a:p>
            <a:r>
              <a:rPr lang="en-US" dirty="0"/>
              <a:t>So these two formulas — the forward and inverse transforms — are the foundation of the </a:t>
            </a:r>
            <a:r>
              <a:rPr lang="en-US" b="1" dirty="0"/>
              <a:t>Fourier transform</a:t>
            </a:r>
            <a:r>
              <a:rPr lang="en-US" dirty="0"/>
              <a:t>.</a:t>
            </a:r>
          </a:p>
          <a:p>
            <a:endParaRPr lang="en-US" dirty="0"/>
          </a:p>
          <a:p>
            <a:r>
              <a:rPr lang="en-US" dirty="0"/>
              <a:t>They let us take a </a:t>
            </a:r>
            <a:r>
              <a:rPr lang="en-US" b="1" dirty="0"/>
              <a:t>non-periodic function</a:t>
            </a:r>
            <a:r>
              <a:rPr lang="en-US" dirty="0"/>
              <a:t> and decompose it into a </a:t>
            </a:r>
            <a:r>
              <a:rPr lang="en-US" b="1" dirty="0"/>
              <a:t>continuous spectrum</a:t>
            </a:r>
            <a:r>
              <a:rPr lang="en-US" dirty="0"/>
              <a:t> of frequencies. And then, using that spectrum, we can reconstruct the original function with complete accuracy.</a:t>
            </a:r>
          </a:p>
          <a:p>
            <a:r>
              <a:rPr lang="en-US" dirty="0"/>
              <a:t>This is what makes the Fourier transform so powerful — not just mathematically, but also practically — in fields like signal processing, image analysis, and, of course, medical imaging.</a:t>
            </a:r>
          </a:p>
          <a:p>
            <a:r>
              <a:rPr lang="en-US" dirty="0"/>
              <a:t>From this point forward, we’re now working with </a:t>
            </a:r>
            <a:r>
              <a:rPr lang="en-US" b="1" dirty="0"/>
              <a:t>non-periodic functions</a:t>
            </a:r>
            <a:r>
              <a:rPr lang="en-US" dirty="0"/>
              <a:t>, and we’ve fully transitioned from </a:t>
            </a:r>
            <a:r>
              <a:rPr lang="en-US" b="1" dirty="0"/>
              <a:t>Fourier series</a:t>
            </a:r>
            <a:r>
              <a:rPr lang="en-US" dirty="0"/>
              <a:t> to the </a:t>
            </a:r>
            <a:r>
              <a:rPr lang="en-US" b="1" dirty="0"/>
              <a:t>Fourier transform</a:t>
            </a:r>
            <a:r>
              <a:rPr lang="en-US" dirty="0"/>
              <a: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13</a:t>
            </a:fld>
            <a:endParaRPr lang="en-US"/>
          </a:p>
        </p:txBody>
      </p:sp>
    </p:spTree>
    <p:extLst>
      <p:ext uri="{BB962C8B-B14F-4D97-AF65-F5344CB8AC3E}">
        <p14:creationId xmlns:p14="http://schemas.microsoft.com/office/powerpoint/2010/main" val="2861159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bring things down to earth a bit and look at a </a:t>
            </a:r>
            <a:r>
              <a:rPr lang="en-US" b="1" dirty="0"/>
              <a:t>concrete example</a:t>
            </a:r>
            <a:r>
              <a:rPr lang="en-US" dirty="0"/>
              <a:t> — something visual, something simple.</a:t>
            </a:r>
          </a:p>
          <a:p>
            <a:r>
              <a:rPr lang="en-US" dirty="0"/>
              <a:t>This function right here is called the </a:t>
            </a:r>
            <a:r>
              <a:rPr lang="en-US" b="1" dirty="0"/>
              <a:t>rectangular function</a:t>
            </a:r>
            <a:r>
              <a:rPr lang="en-US" dirty="0"/>
              <a:t>, or sometimes the </a:t>
            </a:r>
            <a:r>
              <a:rPr lang="en-US" b="1" dirty="0"/>
              <a:t>gate function</a:t>
            </a:r>
            <a:r>
              <a:rPr lang="en-US" dirty="0"/>
              <a:t>. You’ll also see it written as </a:t>
            </a:r>
            <a:r>
              <a:rPr lang="en-US" b="1" dirty="0"/>
              <a:t>pi of t</a:t>
            </a:r>
            <a:r>
              <a:rPr lang="en-US" dirty="0"/>
              <a:t>.</a:t>
            </a:r>
          </a:p>
          <a:p>
            <a:r>
              <a:rPr lang="en-US" dirty="0"/>
              <a:t>And as you can see from the graph — it really does look like a gate.</a:t>
            </a:r>
          </a:p>
          <a:p>
            <a:endParaRPr lang="en-US" dirty="0"/>
          </a:p>
          <a:p>
            <a:r>
              <a:rPr lang="en-US" dirty="0"/>
              <a:t>Let’s break it down:</a:t>
            </a:r>
          </a:p>
          <a:p>
            <a:r>
              <a:rPr lang="en-US" dirty="0"/>
              <a:t>The value of the function is </a:t>
            </a:r>
            <a:r>
              <a:rPr lang="en-US" b="1" dirty="0"/>
              <a:t>1</a:t>
            </a:r>
            <a:r>
              <a:rPr lang="en-US" dirty="0"/>
              <a:t> when </a:t>
            </a:r>
            <a:r>
              <a:rPr lang="en-US" b="1" dirty="0"/>
              <a:t>the absolute value of t is less than one-half</a:t>
            </a:r>
            <a:r>
              <a:rPr lang="en-US" dirty="0"/>
              <a:t> — that is, between </a:t>
            </a:r>
            <a:r>
              <a:rPr lang="en-US" b="1" dirty="0"/>
              <a:t>minus one-half and plus one-half</a:t>
            </a:r>
            <a:r>
              <a:rPr lang="en-US" dirty="0"/>
              <a:t>.</a:t>
            </a:r>
          </a:p>
          <a:p>
            <a:r>
              <a:rPr lang="en-US" dirty="0"/>
              <a:t>Outside that interval, the function drops to </a:t>
            </a:r>
            <a:r>
              <a:rPr lang="en-US" b="1" dirty="0"/>
              <a:t>zero</a:t>
            </a:r>
            <a:r>
              <a:rPr lang="en-US" dirty="0"/>
              <a:t>.</a:t>
            </a:r>
          </a:p>
          <a:p>
            <a:r>
              <a:rPr lang="en-US" dirty="0"/>
              <a:t>So, the entire “on” region is </a:t>
            </a:r>
            <a:r>
              <a:rPr lang="en-US" b="1" dirty="0"/>
              <a:t>one unit wide</a:t>
            </a:r>
            <a:r>
              <a:rPr lang="en-US" dirty="0"/>
              <a:t>, and the height is </a:t>
            </a:r>
            <a:r>
              <a:rPr lang="en-US" b="1" dirty="0"/>
              <a:t>1</a:t>
            </a:r>
            <a:r>
              <a:rPr lang="en-US" dirty="0"/>
              <a:t>, which means the </a:t>
            </a:r>
            <a:r>
              <a:rPr lang="en-US" b="1" dirty="0"/>
              <a:t>area under the curve is also 1</a:t>
            </a:r>
            <a:r>
              <a:rPr lang="en-US" dirty="0"/>
              <a:t>.</a:t>
            </a:r>
          </a:p>
          <a:p>
            <a:r>
              <a:rPr lang="en-US" dirty="0"/>
              <a:t>This function is simple, but it’s also very important — and we’re going to use it often in later examples.</a:t>
            </a:r>
          </a:p>
          <a:p>
            <a:endParaRPr lang="en-US" dirty="0"/>
          </a:p>
          <a:p>
            <a:r>
              <a:rPr lang="en-US" dirty="0"/>
              <a:t>Now here’s the key point:</a:t>
            </a:r>
            <a:br>
              <a:rPr lang="en-US" dirty="0"/>
            </a:br>
            <a:r>
              <a:rPr lang="en-US" dirty="0"/>
              <a:t>This is a </a:t>
            </a:r>
            <a:r>
              <a:rPr lang="en-US" b="1" dirty="0"/>
              <a:t>non-periodic function</a:t>
            </a:r>
            <a:r>
              <a:rPr lang="en-US" dirty="0"/>
              <a:t>.</a:t>
            </a:r>
          </a:p>
          <a:p>
            <a:r>
              <a:rPr lang="en-US" dirty="0"/>
              <a:t>And back when we only had Fourier series — which apply to </a:t>
            </a:r>
            <a:r>
              <a:rPr lang="en-US" b="1" dirty="0"/>
              <a:t>periodic functions</a:t>
            </a:r>
            <a:r>
              <a:rPr lang="en-US" dirty="0"/>
              <a:t> — we couldn’t directly express this kind of shape using sines and cosines.</a:t>
            </a:r>
          </a:p>
          <a:p>
            <a:r>
              <a:rPr lang="en-US" dirty="0"/>
              <a:t>But now, thanks to the </a:t>
            </a:r>
            <a:r>
              <a:rPr lang="en-US" b="1" dirty="0"/>
              <a:t>Fourier transform</a:t>
            </a:r>
            <a:r>
              <a:rPr lang="en-US" dirty="0"/>
              <a:t>, we can.</a:t>
            </a:r>
          </a:p>
          <a:p>
            <a:endParaRPr lang="en-US" dirty="0"/>
          </a:p>
          <a:p>
            <a:r>
              <a:rPr lang="en-US" dirty="0"/>
              <a:t>We’re no longer limited to repeating signals. We can now handle functions like this — compact, finite, non-repeating — and still express them in terms of sinusoidal components, just over a </a:t>
            </a:r>
            <a:r>
              <a:rPr lang="en-US" b="1" dirty="0"/>
              <a:t>continuous range of frequencies</a:t>
            </a:r>
            <a:r>
              <a:rPr lang="en-US" dirty="0"/>
              <a:t>.</a:t>
            </a:r>
          </a:p>
          <a:p>
            <a:r>
              <a:rPr lang="en-US" dirty="0"/>
              <a:t>So this rectangular function — although it’s simple — gives us a great opportunity to </a:t>
            </a:r>
            <a:r>
              <a:rPr lang="en-US" b="1" dirty="0"/>
              <a:t>visualize</a:t>
            </a:r>
            <a:r>
              <a:rPr lang="en-US" dirty="0"/>
              <a:t> the power of the Fourier transform.</a:t>
            </a:r>
          </a:p>
          <a:p>
            <a:r>
              <a:rPr lang="en-US" dirty="0"/>
              <a:t>Let’s keep going and see what it looks like in the frequency domain.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14</a:t>
            </a:fld>
            <a:endParaRPr lang="en-US"/>
          </a:p>
        </p:txBody>
      </p:sp>
    </p:spTree>
    <p:extLst>
      <p:ext uri="{BB962C8B-B14F-4D97-AF65-F5344CB8AC3E}">
        <p14:creationId xmlns:p14="http://schemas.microsoft.com/office/powerpoint/2010/main" val="245812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do something clever.</a:t>
            </a:r>
          </a:p>
          <a:p>
            <a:endParaRPr lang="en-US" dirty="0"/>
          </a:p>
          <a:p>
            <a:r>
              <a:rPr lang="en-US" dirty="0"/>
              <a:t>We just looked at the </a:t>
            </a:r>
            <a:r>
              <a:rPr lang="en-US" b="1" dirty="0"/>
              <a:t>gate function</a:t>
            </a:r>
            <a:r>
              <a:rPr lang="en-US" dirty="0"/>
              <a:t>, or </a:t>
            </a:r>
            <a:r>
              <a:rPr lang="en-US" b="1" dirty="0"/>
              <a:t>rectangular function</a:t>
            </a:r>
            <a:r>
              <a:rPr lang="en-US" dirty="0"/>
              <a:t>, which is </a:t>
            </a:r>
            <a:r>
              <a:rPr lang="en-US" b="1" dirty="0"/>
              <a:t>not periodic</a:t>
            </a:r>
            <a:r>
              <a:rPr lang="en-US" dirty="0"/>
              <a:t>. And because it’s non-periodic, we can't represent it using a </a:t>
            </a:r>
            <a:r>
              <a:rPr lang="en-US" b="1" dirty="0"/>
              <a:t>Fourier series</a:t>
            </a:r>
            <a:r>
              <a:rPr lang="en-US" dirty="0"/>
              <a:t> — only the </a:t>
            </a:r>
            <a:r>
              <a:rPr lang="en-US" b="1" dirty="0"/>
              <a:t>Fourier transform</a:t>
            </a:r>
            <a:r>
              <a:rPr lang="en-US" dirty="0"/>
              <a:t> works in that case.</a:t>
            </a:r>
          </a:p>
          <a:p>
            <a:r>
              <a:rPr lang="en-US" dirty="0"/>
              <a:t>But what if we wanted to use Fourier series?</a:t>
            </a:r>
            <a:br>
              <a:rPr lang="en-US" dirty="0"/>
            </a:br>
            <a:r>
              <a:rPr lang="en-US" dirty="0"/>
              <a:t>Well — we can! We just need to </a:t>
            </a:r>
            <a:r>
              <a:rPr lang="en-US" b="1" dirty="0"/>
              <a:t>make the function periodic</a:t>
            </a:r>
            <a:r>
              <a:rPr lang="en-US" dirty="0"/>
              <a:t>.</a:t>
            </a:r>
          </a:p>
          <a:p>
            <a:r>
              <a:rPr lang="en-US" dirty="0"/>
              <a:t>And here’s how we do it: we take that single gate function — and simply </a:t>
            </a:r>
            <a:r>
              <a:rPr lang="en-US" b="1" dirty="0"/>
              <a:t>repeat it</a:t>
            </a:r>
            <a:r>
              <a:rPr lang="en-US" dirty="0"/>
              <a:t> over and over again, at regular intervals. This is called </a:t>
            </a:r>
            <a:r>
              <a:rPr lang="en-US" b="1" dirty="0"/>
              <a:t>periodization</a:t>
            </a:r>
            <a:r>
              <a:rPr lang="en-US" dirty="0"/>
              <a:t>.</a:t>
            </a:r>
          </a:p>
          <a:p>
            <a:endParaRPr lang="en-US" dirty="0"/>
          </a:p>
          <a:p>
            <a:r>
              <a:rPr lang="en-US" dirty="0"/>
              <a:t>In this slide, the original gate function is being repeated with a </a:t>
            </a:r>
            <a:r>
              <a:rPr lang="en-US" b="1" dirty="0"/>
              <a:t>period of 16</a:t>
            </a:r>
            <a:r>
              <a:rPr lang="en-US" dirty="0"/>
              <a:t>. So now you’ve got a train of rectangular pulses, equally spaced along the time axis.</a:t>
            </a:r>
          </a:p>
          <a:p>
            <a:r>
              <a:rPr lang="en-US" dirty="0"/>
              <a:t>Visually, you can think of it like flipping a light switch on for a second — and then leaving it off for a long time — then flipping it on again — and repeating that process over and over.</a:t>
            </a:r>
          </a:p>
          <a:p>
            <a:r>
              <a:rPr lang="en-US" dirty="0"/>
              <a:t>The key is: now we’ve created a </a:t>
            </a:r>
            <a:r>
              <a:rPr lang="en-US" b="1" dirty="0"/>
              <a:t>periodic signal</a:t>
            </a:r>
            <a:r>
              <a:rPr lang="en-US" dirty="0"/>
              <a:t>.</a:t>
            </a:r>
          </a:p>
          <a:p>
            <a:r>
              <a:rPr lang="en-US" dirty="0"/>
              <a:t>And because it’s periodic, we can now apply </a:t>
            </a:r>
            <a:r>
              <a:rPr lang="en-US" b="1" dirty="0"/>
              <a:t>Fourier series</a:t>
            </a:r>
            <a:r>
              <a:rPr lang="en-US" dirty="0"/>
              <a:t> to analyze it — just like we did before.</a:t>
            </a:r>
          </a:p>
          <a:p>
            <a:endParaRPr lang="en-US" dirty="0"/>
          </a:p>
          <a:p>
            <a:r>
              <a:rPr lang="en-US" dirty="0"/>
              <a:t>All you need to do is plug this periodic function into the Fourier series formulas, and you’ll get a representation as a sum of sine and cosine waves — or complex exponentials.</a:t>
            </a:r>
          </a:p>
          <a:p>
            <a:r>
              <a:rPr lang="en-US" dirty="0"/>
              <a:t>This kind of construction is very useful. In fact, it shows up in engineering and physics quite a bit — especially in systems that switch on and off repeatedly. Sometimes you’ll hear people talk about the </a:t>
            </a:r>
            <a:r>
              <a:rPr lang="en-US" b="1" dirty="0"/>
              <a:t>duty cycle</a:t>
            </a:r>
            <a:r>
              <a:rPr lang="en-US" dirty="0"/>
              <a:t>, which refers to how much of each period the function is “on” versus “off.”</a:t>
            </a:r>
          </a:p>
          <a:p>
            <a:endParaRPr lang="en-US" dirty="0"/>
          </a:p>
          <a:p>
            <a:r>
              <a:rPr lang="en-US" dirty="0"/>
              <a:t>So again — by making the function periodic, we unlock the power of the Fourier series.</a:t>
            </a:r>
          </a:p>
          <a:p>
            <a:r>
              <a:rPr lang="en-US" dirty="0"/>
              <a:t>And soon, we’ll compare this with what happens when we go back to the </a:t>
            </a:r>
            <a:r>
              <a:rPr lang="en-US" b="1" dirty="0"/>
              <a:t>non-periodic version</a:t>
            </a:r>
            <a:r>
              <a:rPr lang="en-US" dirty="0"/>
              <a:t>, and apply the </a:t>
            </a:r>
            <a:r>
              <a:rPr lang="en-US" b="1" dirty="0"/>
              <a:t>Fourier transform</a:t>
            </a:r>
            <a:r>
              <a:rPr lang="en-US" dirty="0"/>
              <a:t> instead.</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15</a:t>
            </a:fld>
            <a:endParaRPr lang="en-US"/>
          </a:p>
        </p:txBody>
      </p:sp>
    </p:spTree>
    <p:extLst>
      <p:ext uri="{BB962C8B-B14F-4D97-AF65-F5344CB8AC3E}">
        <p14:creationId xmlns:p14="http://schemas.microsoft.com/office/powerpoint/2010/main" val="2357901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visualize the powerful idea we’ve been building toward — how we move from </a:t>
            </a:r>
            <a:r>
              <a:rPr lang="en-US" b="1" dirty="0"/>
              <a:t>Fourier series to the Fourier transform</a:t>
            </a:r>
            <a:r>
              <a:rPr lang="en-US" dirty="0"/>
              <a:t>.</a:t>
            </a:r>
          </a:p>
          <a:p>
            <a:r>
              <a:rPr lang="en-US" dirty="0"/>
              <a:t>What you see here is the frequency-domain representation of the rectangular function as we </a:t>
            </a:r>
            <a:r>
              <a:rPr lang="en-US" b="1" dirty="0"/>
              <a:t>increase the period</a:t>
            </a:r>
            <a:r>
              <a:rPr lang="en-US" dirty="0"/>
              <a:t> of its periodic extension.</a:t>
            </a:r>
          </a:p>
          <a:p>
            <a:r>
              <a:rPr lang="en-US" dirty="0"/>
              <a:t>Let’s start at the top left.</a:t>
            </a:r>
          </a:p>
          <a:p>
            <a:r>
              <a:rPr lang="en-US" dirty="0"/>
              <a:t>These vertical lines represent the </a:t>
            </a:r>
            <a:r>
              <a:rPr lang="en-US" b="1" dirty="0"/>
              <a:t>Fourier coefficients</a:t>
            </a:r>
            <a:r>
              <a:rPr lang="en-US" dirty="0"/>
              <a:t> — discrete spikes at different frequency points. These are the outputs of the </a:t>
            </a:r>
            <a:r>
              <a:rPr lang="en-US" b="1" dirty="0"/>
              <a:t>Fourier series</a:t>
            </a:r>
            <a:r>
              <a:rPr lang="en-US" dirty="0"/>
              <a:t>.</a:t>
            </a:r>
            <a:br>
              <a:rPr lang="en-US" dirty="0"/>
            </a:br>
            <a:endParaRPr lang="en-US" dirty="0"/>
          </a:p>
          <a:p>
            <a:r>
              <a:rPr lang="en-US" dirty="0"/>
              <a:t>You’ve got:</a:t>
            </a:r>
          </a:p>
          <a:p>
            <a:r>
              <a:rPr lang="en-US" dirty="0"/>
              <a:t>A </a:t>
            </a:r>
            <a:r>
              <a:rPr lang="en-US" b="1" dirty="0"/>
              <a:t>DC component</a:t>
            </a:r>
            <a:r>
              <a:rPr lang="en-US" dirty="0"/>
              <a:t> at zero frequency,</a:t>
            </a:r>
          </a:p>
          <a:p>
            <a:r>
              <a:rPr lang="en-US" dirty="0"/>
              <a:t>The first harmonic,</a:t>
            </a:r>
          </a:p>
          <a:p>
            <a:r>
              <a:rPr lang="en-US" dirty="0"/>
              <a:t>The second harmonic, and so on.</a:t>
            </a:r>
          </a:p>
          <a:p>
            <a:r>
              <a:rPr lang="en-US" dirty="0"/>
              <a:t>Each coefficient is calculated using the formulas we saw earlier. And because the original function is real-valued, these coefficients appear </a:t>
            </a:r>
            <a:r>
              <a:rPr lang="en-US" b="1" dirty="0"/>
              <a:t>symmetrically</a:t>
            </a:r>
            <a:r>
              <a:rPr lang="en-US" dirty="0"/>
              <a:t> around zero when using the complex form.</a:t>
            </a:r>
          </a:p>
          <a:p>
            <a:endParaRPr lang="en-US" dirty="0"/>
          </a:p>
          <a:p>
            <a:r>
              <a:rPr lang="en-US" dirty="0"/>
              <a:t>Now — here’s the trick:</a:t>
            </a:r>
            <a:br>
              <a:rPr lang="en-US" dirty="0"/>
            </a:br>
            <a:r>
              <a:rPr lang="en-US" dirty="0"/>
              <a:t>We begin to </a:t>
            </a:r>
            <a:r>
              <a:rPr lang="en-US" b="1" dirty="0"/>
              <a:t>increase the period T</a:t>
            </a:r>
            <a:r>
              <a:rPr lang="en-US" dirty="0"/>
              <a:t> of the function.</a:t>
            </a:r>
          </a:p>
          <a:p>
            <a:r>
              <a:rPr lang="en-US" dirty="0"/>
              <a:t>That means we’re spacing the rectangular pulses farther apart in the time domain. And in the frequency domain, this has a very important effect:</a:t>
            </a:r>
            <a:br>
              <a:rPr lang="en-US" dirty="0"/>
            </a:br>
            <a:r>
              <a:rPr lang="en-US" dirty="0"/>
              <a:t>The spacing between the Fourier components, which is </a:t>
            </a:r>
            <a:r>
              <a:rPr lang="en-US" b="1" dirty="0"/>
              <a:t>1 over T</a:t>
            </a:r>
            <a:r>
              <a:rPr lang="en-US" dirty="0"/>
              <a:t>, becomes </a:t>
            </a:r>
            <a:r>
              <a:rPr lang="en-US" b="1" dirty="0"/>
              <a:t>smaller and smaller</a:t>
            </a:r>
            <a:r>
              <a:rPr lang="en-US" dirty="0"/>
              <a:t>.</a:t>
            </a:r>
          </a:p>
          <a:p>
            <a:r>
              <a:rPr lang="en-US" dirty="0"/>
              <a:t>You can see this happening in the middle image — the spikes begin to cluster more tightly. The frequency axis, labeled </a:t>
            </a:r>
            <a:r>
              <a:rPr lang="en-US" b="1" dirty="0"/>
              <a:t>u equals n divided by T</a:t>
            </a:r>
            <a:r>
              <a:rPr lang="en-US" dirty="0"/>
              <a:t>, gets more densely sampled.</a:t>
            </a:r>
          </a:p>
          <a:p>
            <a:r>
              <a:rPr lang="en-US" dirty="0"/>
              <a:t>And as we continue increasing T — moving to the bottom image — the spacing becomes </a:t>
            </a:r>
            <a:r>
              <a:rPr lang="en-US" b="1" dirty="0"/>
              <a:t>infinitesimally small</a:t>
            </a:r>
            <a:r>
              <a:rPr lang="en-US" dirty="0"/>
              <a:t>. At this point, we’re no longer looking at a </a:t>
            </a:r>
            <a:r>
              <a:rPr lang="en-US" b="1" dirty="0"/>
              <a:t>discrete spectrum</a:t>
            </a:r>
            <a:r>
              <a:rPr lang="en-US" dirty="0"/>
              <a:t>. We now have a </a:t>
            </a:r>
            <a:r>
              <a:rPr lang="en-US" b="1" dirty="0"/>
              <a:t>continuous curve</a:t>
            </a:r>
            <a:r>
              <a:rPr lang="en-US" dirty="0"/>
              <a:t>.</a:t>
            </a:r>
          </a:p>
          <a:p>
            <a:r>
              <a:rPr lang="en-US" dirty="0"/>
              <a:t>That’s the moment when we’ve transitioned from the </a:t>
            </a:r>
            <a:r>
              <a:rPr lang="en-US" b="1" dirty="0"/>
              <a:t>Fourier series</a:t>
            </a:r>
            <a:r>
              <a:rPr lang="en-US" dirty="0"/>
              <a:t> to the </a:t>
            </a:r>
            <a:r>
              <a:rPr lang="en-US" b="1" dirty="0"/>
              <a:t>Fourier transform</a:t>
            </a:r>
            <a:r>
              <a:rPr lang="en-US" dirty="0"/>
              <a:t>.</a:t>
            </a:r>
          </a:p>
          <a:p>
            <a:endParaRPr lang="en-US" dirty="0"/>
          </a:p>
          <a:p>
            <a:r>
              <a:rPr lang="en-US" dirty="0"/>
              <a:t>So here’s the big picture:</a:t>
            </a:r>
          </a:p>
          <a:p>
            <a:r>
              <a:rPr lang="en-US" dirty="0"/>
              <a:t>When a function is </a:t>
            </a:r>
            <a:r>
              <a:rPr lang="en-US" b="1" dirty="0"/>
              <a:t>periodic</a:t>
            </a:r>
            <a:r>
              <a:rPr lang="en-US" dirty="0"/>
              <a:t>, we get a </a:t>
            </a:r>
            <a:r>
              <a:rPr lang="en-US" b="1" dirty="0"/>
              <a:t>discrete Fourier spectrum</a:t>
            </a:r>
            <a:r>
              <a:rPr lang="en-US" dirty="0"/>
              <a:t>.</a:t>
            </a:r>
          </a:p>
          <a:p>
            <a:r>
              <a:rPr lang="en-US" dirty="0"/>
              <a:t>But when the function becomes </a:t>
            </a:r>
            <a:r>
              <a:rPr lang="en-US" b="1" dirty="0"/>
              <a:t>non-periodic</a:t>
            </a:r>
            <a:r>
              <a:rPr lang="en-US" dirty="0"/>
              <a:t>, by letting the period go to infinity, we end up with a </a:t>
            </a:r>
            <a:r>
              <a:rPr lang="en-US" b="1" dirty="0"/>
              <a:t>continuous Fourier spectrum</a:t>
            </a:r>
            <a:r>
              <a:rPr lang="en-US" dirty="0"/>
              <a:t>.</a:t>
            </a:r>
          </a:p>
          <a:p>
            <a:r>
              <a:rPr lang="en-US" dirty="0"/>
              <a:t>This spectrum is smooth and continuous — and it tells us how much of each frequency exists in the original signal.</a:t>
            </a:r>
          </a:p>
          <a:p>
            <a:r>
              <a:rPr lang="en-US" dirty="0"/>
              <a:t>So this slide gives us the </a:t>
            </a:r>
            <a:r>
              <a:rPr lang="en-US" b="1" dirty="0"/>
              <a:t>geometrical insight</a:t>
            </a:r>
            <a:r>
              <a:rPr lang="en-US" dirty="0"/>
              <a:t> — the visual transition — from the world of periodic signals and discrete spectra, to the world of non-periodic signals and continuous spectra.</a:t>
            </a:r>
          </a:p>
          <a:p>
            <a:r>
              <a:rPr lang="en-US" dirty="0"/>
              <a:t>And this is what the </a:t>
            </a:r>
            <a:r>
              <a:rPr lang="en-US" b="1" dirty="0"/>
              <a:t>Fourier transform</a:t>
            </a:r>
            <a:r>
              <a:rPr lang="en-US" dirty="0"/>
              <a:t> captures so beautifully.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16</a:t>
            </a:fld>
            <a:endParaRPr lang="en-US"/>
          </a:p>
        </p:txBody>
      </p:sp>
    </p:spTree>
    <p:extLst>
      <p:ext uri="{BB962C8B-B14F-4D97-AF65-F5344CB8AC3E}">
        <p14:creationId xmlns:p14="http://schemas.microsoft.com/office/powerpoint/2010/main" val="4249589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built up all the ideas step by step, let’s bring it all together into one elegant concept — the Fourier transform pair.</a:t>
            </a:r>
          </a:p>
          <a:p>
            <a:r>
              <a:rPr lang="en-US" dirty="0"/>
              <a:t>What you see on this slide captures the very heart of Fourier analysis.</a:t>
            </a:r>
          </a:p>
          <a:p>
            <a:endParaRPr lang="en-US" dirty="0"/>
          </a:p>
          <a:p>
            <a:r>
              <a:rPr lang="en-US" dirty="0"/>
              <a:t>Let’s begin with the first equation, which is the </a:t>
            </a:r>
            <a:r>
              <a:rPr lang="en-US" b="1" dirty="0"/>
              <a:t>forward Fourier transform</a:t>
            </a:r>
            <a:r>
              <a:rPr lang="en-US" dirty="0"/>
              <a:t>.</a:t>
            </a:r>
            <a:br>
              <a:rPr lang="en-US" dirty="0"/>
            </a:br>
            <a:r>
              <a:rPr lang="en-US" dirty="0"/>
              <a:t>Suppose you have a signal in the time domain, which we’ll call </a:t>
            </a:r>
            <a:r>
              <a:rPr lang="en-US" b="1" dirty="0"/>
              <a:t>f of t</a:t>
            </a:r>
            <a:r>
              <a:rPr lang="en-US" dirty="0"/>
              <a:t>. The goal is to understand how much of each frequency is present in that signal.</a:t>
            </a:r>
          </a:p>
          <a:p>
            <a:endParaRPr lang="en-US" dirty="0"/>
          </a:p>
          <a:p>
            <a:r>
              <a:rPr lang="en-US" dirty="0"/>
              <a:t>So how do we do that?</a:t>
            </a:r>
          </a:p>
          <a:p>
            <a:r>
              <a:rPr lang="en-US" dirty="0"/>
              <a:t>We </a:t>
            </a:r>
            <a:r>
              <a:rPr lang="en-US" b="1" dirty="0"/>
              <a:t>project f of t</a:t>
            </a:r>
            <a:r>
              <a:rPr lang="en-US" dirty="0"/>
              <a:t> onto a family of complex exponential functions. These functions look like </a:t>
            </a:r>
            <a:r>
              <a:rPr lang="en-US" b="1" dirty="0"/>
              <a:t>e to the power minus </a:t>
            </a:r>
            <a:r>
              <a:rPr lang="en-US" b="1" dirty="0" err="1"/>
              <a:t>i</a:t>
            </a:r>
            <a:r>
              <a:rPr lang="en-US" b="1" dirty="0"/>
              <a:t>, 2 pi, u, t</a:t>
            </a:r>
            <a:r>
              <a:rPr lang="en-US" dirty="0"/>
              <a:t>, where </a:t>
            </a:r>
            <a:r>
              <a:rPr lang="en-US" b="1" dirty="0"/>
              <a:t>u</a:t>
            </a:r>
            <a:r>
              <a:rPr lang="en-US" dirty="0"/>
              <a:t> is the frequency. This projection acts like an inner product, telling us how strongly f of t resonates with each frequency component.</a:t>
            </a:r>
          </a:p>
          <a:p>
            <a:r>
              <a:rPr lang="en-US" dirty="0"/>
              <a:t>When we integrate this product across all time, we obtain </a:t>
            </a:r>
            <a:r>
              <a:rPr lang="en-US" b="1" dirty="0"/>
              <a:t>f hat of u</a:t>
            </a:r>
            <a:r>
              <a:rPr lang="en-US" dirty="0"/>
              <a:t>, also called the </a:t>
            </a:r>
            <a:r>
              <a:rPr lang="en-US" b="1" dirty="0"/>
              <a:t>frequency spectrum</a:t>
            </a:r>
            <a:r>
              <a:rPr lang="en-US" dirty="0"/>
              <a:t> or the </a:t>
            </a:r>
            <a:r>
              <a:rPr lang="en-US" b="1" dirty="0"/>
              <a:t>Fourier transform</a:t>
            </a:r>
            <a:r>
              <a:rPr lang="en-US" dirty="0"/>
              <a:t> of f of t.</a:t>
            </a:r>
          </a:p>
          <a:p>
            <a:r>
              <a:rPr lang="en-US" dirty="0"/>
              <a:t>So this first equation maps the signal from the time domain to the frequency domain.</a:t>
            </a:r>
          </a:p>
          <a:p>
            <a:endParaRPr lang="en-US" dirty="0"/>
          </a:p>
          <a:p>
            <a:r>
              <a:rPr lang="en-US" dirty="0"/>
              <a:t>Now look at the second equation. This is the </a:t>
            </a:r>
            <a:r>
              <a:rPr lang="en-US" b="1" dirty="0"/>
              <a:t>inverse Fourier transform</a:t>
            </a:r>
            <a:r>
              <a:rPr lang="en-US" dirty="0"/>
              <a:t>.</a:t>
            </a:r>
          </a:p>
          <a:p>
            <a:r>
              <a:rPr lang="en-US" dirty="0"/>
              <a:t>Here, we take all those frequency components — that is, each </a:t>
            </a:r>
            <a:r>
              <a:rPr lang="en-US" b="1" dirty="0"/>
              <a:t>f hat of u</a:t>
            </a:r>
            <a:r>
              <a:rPr lang="en-US" dirty="0"/>
              <a:t> — and multiply them by their corresponding complex exponential, this time </a:t>
            </a:r>
            <a:r>
              <a:rPr lang="en-US" b="1" dirty="0"/>
              <a:t>e to the power </a:t>
            </a:r>
            <a:r>
              <a:rPr lang="en-US" b="1" dirty="0" err="1"/>
              <a:t>i</a:t>
            </a:r>
            <a:r>
              <a:rPr lang="en-US" b="1" dirty="0"/>
              <a:t>, two pi, u, t</a:t>
            </a:r>
            <a:r>
              <a:rPr lang="en-US" dirty="0"/>
              <a:t>. Then, we integrate over all frequencies.</a:t>
            </a:r>
          </a:p>
          <a:p>
            <a:r>
              <a:rPr lang="en-US" dirty="0"/>
              <a:t>And what do we get?</a:t>
            </a:r>
            <a:br>
              <a:rPr lang="en-US" dirty="0"/>
            </a:br>
            <a:r>
              <a:rPr lang="en-US" dirty="0"/>
              <a:t>We reconstruct the original signal — </a:t>
            </a:r>
            <a:r>
              <a:rPr lang="en-US" b="1" dirty="0"/>
              <a:t>f of t</a:t>
            </a:r>
            <a:r>
              <a:rPr lang="en-US" dirty="0"/>
              <a:t> — exactly.</a:t>
            </a:r>
          </a:p>
          <a:p>
            <a:r>
              <a:rPr lang="en-US" dirty="0"/>
              <a:t>So in summary, the </a:t>
            </a:r>
            <a:r>
              <a:rPr lang="en-US" b="1" dirty="0"/>
              <a:t>forward transform</a:t>
            </a:r>
            <a:r>
              <a:rPr lang="en-US" dirty="0"/>
              <a:t> takes you from time to frequency, and the </a:t>
            </a:r>
            <a:r>
              <a:rPr lang="en-US" b="1" dirty="0"/>
              <a:t>inverse transform</a:t>
            </a:r>
            <a:r>
              <a:rPr lang="en-US" dirty="0"/>
              <a:t> brings you back from frequency to time.</a:t>
            </a:r>
            <a:br>
              <a:rPr lang="en-US" dirty="0"/>
            </a:br>
            <a:r>
              <a:rPr lang="en-US" dirty="0"/>
              <a:t>That’s the two-way mapping shown symbolically at the bottom:</a:t>
            </a:r>
            <a:br>
              <a:rPr lang="en-US" dirty="0"/>
            </a:br>
            <a:r>
              <a:rPr lang="en-US" b="1" dirty="0"/>
              <a:t>f of t goes to f hat of u, and back again</a:t>
            </a:r>
            <a:r>
              <a:rPr lang="en-US" dirty="0"/>
              <a:t>.</a:t>
            </a:r>
          </a:p>
          <a:p>
            <a:endParaRPr lang="en-US" dirty="0"/>
          </a:p>
          <a:p>
            <a:r>
              <a:rPr lang="en-US" dirty="0"/>
              <a:t>Now, a few mathematical notes to make this complete:</a:t>
            </a:r>
          </a:p>
          <a:p>
            <a:r>
              <a:rPr lang="en-US" dirty="0"/>
              <a:t>First — this transform assumes that f of t is </a:t>
            </a:r>
            <a:r>
              <a:rPr lang="en-US" b="1" dirty="0"/>
              <a:t>square-integrable</a:t>
            </a:r>
            <a:r>
              <a:rPr lang="en-US" dirty="0"/>
              <a:t>, meaning if you square the function and integrate it over all time, the total is finite. This ensures convergence and makes the math work properly.</a:t>
            </a:r>
          </a:p>
          <a:p>
            <a:endParaRPr lang="en-US" dirty="0"/>
          </a:p>
          <a:p>
            <a:r>
              <a:rPr lang="en-US" dirty="0"/>
              <a:t>Second — even though we’re dealing with a non-periodic function here, the idea still grows out of the </a:t>
            </a:r>
            <a:r>
              <a:rPr lang="en-US" b="1" dirty="0"/>
              <a:t>Fourier series</a:t>
            </a:r>
            <a:r>
              <a:rPr lang="en-US" dirty="0"/>
              <a:t>. Remember what happens when the period of a function becomes very large — the discrete set of frequency components becomes a continuous spectrum. The Fourier transform is essentially the limit of the Fourier series as the period tends to infinity.</a:t>
            </a:r>
          </a:p>
          <a:p>
            <a:r>
              <a:rPr lang="en-US" dirty="0"/>
              <a:t>And finally — here’s a nice geometric interpretation.</a:t>
            </a:r>
          </a:p>
          <a:p>
            <a:r>
              <a:rPr lang="en-US" dirty="0"/>
              <a:t>Think of projecting a 3D vector onto the x, y, and z axes.</a:t>
            </a:r>
            <a:br>
              <a:rPr lang="en-US" dirty="0"/>
            </a:br>
            <a:endParaRPr lang="en-US" dirty="0"/>
          </a:p>
          <a:p>
            <a:r>
              <a:rPr lang="en-US" dirty="0"/>
              <a:t>In the same way, when we apply the Fourier transform, we’re projecting our function onto an infinite set of sine and cosine waves — or more precisely, complex exponentials. Each frequency contributes a tiny slice of the original signal.</a:t>
            </a:r>
            <a:br>
              <a:rPr lang="en-US" dirty="0"/>
            </a:br>
            <a:r>
              <a:rPr lang="en-US" dirty="0"/>
              <a:t>And by adding all those slices back together — using integration — we reconstruct the full signal.</a:t>
            </a:r>
          </a:p>
          <a:p>
            <a:endParaRPr lang="en-US" dirty="0"/>
          </a:p>
          <a:p>
            <a:r>
              <a:rPr lang="en-US" dirty="0"/>
              <a:t>This isn’t just a clever trick.</a:t>
            </a:r>
            <a:br>
              <a:rPr lang="en-US" dirty="0"/>
            </a:br>
            <a:r>
              <a:rPr lang="en-US" dirty="0"/>
              <a:t>It’s one of the most powerful tools in all of engineering, physics, and mathematics.</a:t>
            </a:r>
            <a:br>
              <a:rPr lang="en-US" dirty="0"/>
            </a:br>
            <a:r>
              <a:rPr lang="en-US" dirty="0"/>
              <a:t>It lets us analyze and manipulate signals in both time and frequency — without losing any information.</a:t>
            </a:r>
          </a:p>
          <a:p>
            <a:r>
              <a:rPr lang="en-US" dirty="0"/>
              <a:t>With this foundational concept in place, we’re ready to explore some practical examples and dive deeper into the properties of the Fourier transform.</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17</a:t>
            </a:fld>
            <a:endParaRPr lang="en-US"/>
          </a:p>
        </p:txBody>
      </p:sp>
    </p:spTree>
    <p:extLst>
      <p:ext uri="{BB962C8B-B14F-4D97-AF65-F5344CB8AC3E}">
        <p14:creationId xmlns:p14="http://schemas.microsoft.com/office/powerpoint/2010/main" val="7369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a concrete example — the Fourier transform of the gate function, also called the rectangular function.</a:t>
            </a:r>
          </a:p>
          <a:p>
            <a:r>
              <a:rPr lang="en-US" dirty="0"/>
              <a:t>We’ve already seen this function earlier. It’s a flat function that equals 1 when the time variable t is between minus one-half and plus one-half, and it’s zero everywhere else. So it looks like a rectangle centered at zero.</a:t>
            </a:r>
          </a:p>
          <a:p>
            <a:endParaRPr lang="en-US" dirty="0"/>
          </a:p>
          <a:p>
            <a:r>
              <a:rPr lang="en-US" dirty="0"/>
              <a:t>Now, we want to find its Fourier transform. To do that, we apply the definition.</a:t>
            </a:r>
          </a:p>
          <a:p>
            <a:r>
              <a:rPr lang="en-US" dirty="0"/>
              <a:t>We take the integral of the original function multiplied by a complex exponential — that’s e to the power negative </a:t>
            </a:r>
            <a:r>
              <a:rPr lang="en-US" dirty="0" err="1"/>
              <a:t>i</a:t>
            </a:r>
            <a:r>
              <a:rPr lang="en-US" dirty="0"/>
              <a:t> 2 pi u t — and we integrate over all time.</a:t>
            </a:r>
          </a:p>
          <a:p>
            <a:endParaRPr lang="en-US" dirty="0"/>
          </a:p>
          <a:p>
            <a:r>
              <a:rPr lang="en-US" dirty="0"/>
              <a:t>But since the gate function is zero outside the interval from minus one-half to plus one-half, we only need to integrate over that range.</a:t>
            </a:r>
          </a:p>
          <a:p>
            <a:r>
              <a:rPr lang="en-US" dirty="0"/>
              <a:t>So the integral becomes: from minus one-half to plus one-half of e to the negative </a:t>
            </a:r>
            <a:r>
              <a:rPr lang="en-US" dirty="0" err="1"/>
              <a:t>i</a:t>
            </a:r>
            <a:r>
              <a:rPr lang="en-US" dirty="0"/>
              <a:t> 2 pi u t, with respect to t.</a:t>
            </a:r>
          </a:p>
          <a:p>
            <a:r>
              <a:rPr lang="en-US" dirty="0"/>
              <a:t>This is a standard exponential integral. When you solve it, you get the function sine of pi u, divided by pi u.</a:t>
            </a:r>
          </a:p>
          <a:p>
            <a:r>
              <a:rPr lang="en-US" dirty="0"/>
              <a:t>This result is known as the </a:t>
            </a:r>
            <a:r>
              <a:rPr lang="en-US" dirty="0" err="1"/>
              <a:t>sinc</a:t>
            </a:r>
            <a:r>
              <a:rPr lang="en-US" dirty="0"/>
              <a:t> function and it shows up everywhere in signal processing and imaging.</a:t>
            </a:r>
          </a:p>
          <a:p>
            <a:r>
              <a:rPr lang="en-US" dirty="0"/>
              <a:t>So here’s what we’ve found: a rectangle in time turns into a </a:t>
            </a:r>
            <a:r>
              <a:rPr lang="en-US" dirty="0" err="1"/>
              <a:t>sinc</a:t>
            </a:r>
            <a:r>
              <a:rPr lang="en-US" dirty="0"/>
              <a:t> wave in frequency. That’s a beautiful and very useful result.</a:t>
            </a:r>
          </a:p>
          <a:p>
            <a:endParaRPr lang="en-US" dirty="0"/>
          </a:p>
          <a:p>
            <a:r>
              <a:rPr lang="en-US" dirty="0"/>
              <a:t>Now, what if we stretch the gate to make it wider?</a:t>
            </a:r>
          </a:p>
          <a:p>
            <a:r>
              <a:rPr lang="en-US" dirty="0"/>
              <a:t>Let’s say the gate equals 1 from minus capital T over 2 to plus T over 2, and zero elsewhere. Then the Fourier transform becomes a scaled version of the same </a:t>
            </a:r>
            <a:r>
              <a:rPr lang="en-US" dirty="0" err="1"/>
              <a:t>sinc</a:t>
            </a:r>
            <a:r>
              <a:rPr lang="en-US" dirty="0"/>
              <a:t> function — it just shrinks or stretches based on the value of T.</a:t>
            </a:r>
          </a:p>
          <a:p>
            <a:r>
              <a:rPr lang="en-US" dirty="0"/>
              <a:t>So you could try computing it directly, or you could use a shortcut — the scaling property of the Fourier transform, which we’ll talk about soon.</a:t>
            </a:r>
          </a:p>
          <a:p>
            <a:endParaRPr lang="en-US" dirty="0"/>
          </a:p>
          <a:p>
            <a:r>
              <a:rPr lang="en-US" dirty="0"/>
              <a:t>But the key point is this: the rectangular function in time gives us a </a:t>
            </a:r>
            <a:r>
              <a:rPr lang="en-US" dirty="0" err="1"/>
              <a:t>sinc</a:t>
            </a:r>
            <a:r>
              <a:rPr lang="en-US" dirty="0"/>
              <a:t> function in frequency.</a:t>
            </a:r>
          </a:p>
          <a:p>
            <a:r>
              <a:rPr lang="en-US" dirty="0"/>
              <a:t>And here’s one final note. You might wonder what happens when u equals zero, because both the top and bottom become zero. But don’t worry — if you take the limit using calculus, it turns out the value is exactly 1. So the function is smooth at the center.</a:t>
            </a:r>
          </a:p>
          <a:p>
            <a:r>
              <a:rPr lang="en-US" dirty="0"/>
              <a:t>We’ll use this gate-to-</a:t>
            </a:r>
            <a:r>
              <a:rPr lang="en-US" dirty="0" err="1"/>
              <a:t>sinc</a:t>
            </a:r>
            <a:r>
              <a:rPr lang="en-US" dirty="0"/>
              <a:t> pair often, so keep it in mind as we move forward.</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18</a:t>
            </a:fld>
            <a:endParaRPr lang="en-US"/>
          </a:p>
        </p:txBody>
      </p:sp>
    </p:spTree>
    <p:extLst>
      <p:ext uri="{BB962C8B-B14F-4D97-AF65-F5344CB8AC3E}">
        <p14:creationId xmlns:p14="http://schemas.microsoft.com/office/powerpoint/2010/main" val="4224435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take a look at the actual shape of the </a:t>
            </a:r>
            <a:r>
              <a:rPr lang="en-US" dirty="0" err="1"/>
              <a:t>sinc</a:t>
            </a:r>
            <a:r>
              <a:rPr lang="en-US" dirty="0"/>
              <a:t> function — the one we just derived from the rectangular gate.</a:t>
            </a:r>
          </a:p>
          <a:p>
            <a:endParaRPr lang="en-US" dirty="0"/>
          </a:p>
          <a:p>
            <a:r>
              <a:rPr lang="en-US" dirty="0"/>
              <a:t>What you see here is the graph of that function — </a:t>
            </a:r>
            <a:r>
              <a:rPr lang="en-US" dirty="0" err="1"/>
              <a:t>sinc</a:t>
            </a:r>
            <a:r>
              <a:rPr lang="en-US" dirty="0"/>
              <a:t> of u — which is defined as sine of pi times u, divided by pi times u.</a:t>
            </a:r>
          </a:p>
          <a:p>
            <a:r>
              <a:rPr lang="en-US" dirty="0"/>
              <a:t>It has a smooth, wave-like shape. The peak is right at the center — at u equals zero — and the height there is exactly 1.</a:t>
            </a:r>
          </a:p>
          <a:p>
            <a:r>
              <a:rPr lang="en-US" dirty="0"/>
              <a:t>As you move away from the center in either direction, the function oscillates — it goes up and down — but the peaks get smaller and smaller.</a:t>
            </a:r>
          </a:p>
          <a:p>
            <a:r>
              <a:rPr lang="en-US" dirty="0"/>
              <a:t>That’s because the sine wave in the numerator keeps swinging, but the denominator grows, so the overall value shrinks.</a:t>
            </a:r>
          </a:p>
          <a:p>
            <a:r>
              <a:rPr lang="en-US" dirty="0"/>
              <a:t>This is the signature look of the </a:t>
            </a:r>
            <a:r>
              <a:rPr lang="en-US" dirty="0" err="1"/>
              <a:t>sinc</a:t>
            </a:r>
            <a:r>
              <a:rPr lang="en-US" dirty="0"/>
              <a:t> function — one strong central lobe and then smaller and smaller ripples on the sides.</a:t>
            </a:r>
          </a:p>
          <a:p>
            <a:endParaRPr lang="en-US" dirty="0"/>
          </a:p>
          <a:p>
            <a:r>
              <a:rPr lang="en-US" dirty="0"/>
              <a:t>So this is the frequency domain representation of a simple gate in time.</a:t>
            </a:r>
          </a:p>
          <a:p>
            <a:r>
              <a:rPr lang="en-US" dirty="0"/>
              <a:t>And just to recap — this </a:t>
            </a:r>
            <a:r>
              <a:rPr lang="en-US" dirty="0" err="1"/>
              <a:t>sinc</a:t>
            </a:r>
            <a:r>
              <a:rPr lang="en-US" dirty="0"/>
              <a:t> function came from a rectangular gate function of width 1.</a:t>
            </a:r>
          </a:p>
          <a:p>
            <a:r>
              <a:rPr lang="en-US" dirty="0"/>
              <a:t>If we use a wider gate — let’s say the width is capital T instead of 1 — then the </a:t>
            </a:r>
            <a:r>
              <a:rPr lang="en-US" dirty="0" err="1"/>
              <a:t>sinc</a:t>
            </a:r>
            <a:r>
              <a:rPr lang="en-US" dirty="0"/>
              <a:t> function would stretch out horizontally. That is, the ripples would become narrower in frequency, because time and frequency are inversely related.</a:t>
            </a:r>
          </a:p>
          <a:p>
            <a:endParaRPr lang="en-US" dirty="0"/>
          </a:p>
          <a:p>
            <a:r>
              <a:rPr lang="en-US" dirty="0"/>
              <a:t>We’ll explore that in more detail when we talk about the scaling property. But for now, just remember: a narrow gate in time gives a wide </a:t>
            </a:r>
            <a:r>
              <a:rPr lang="en-US" dirty="0" err="1"/>
              <a:t>sinc</a:t>
            </a:r>
            <a:r>
              <a:rPr lang="en-US" dirty="0"/>
              <a:t> in frequency. A wide gate in time gives a narrow </a:t>
            </a:r>
            <a:r>
              <a:rPr lang="en-US" dirty="0" err="1"/>
              <a:t>sinc</a:t>
            </a:r>
            <a:r>
              <a:rPr lang="en-US" dirty="0"/>
              <a:t>.</a:t>
            </a:r>
          </a:p>
          <a:p>
            <a:r>
              <a:rPr lang="en-US" dirty="0"/>
              <a:t>This is a key idea we’ll return to again and again.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19</a:t>
            </a:fld>
            <a:endParaRPr lang="en-US"/>
          </a:p>
        </p:txBody>
      </p:sp>
    </p:spTree>
    <p:extLst>
      <p:ext uri="{BB962C8B-B14F-4D97-AF65-F5344CB8AC3E}">
        <p14:creationId xmlns:p14="http://schemas.microsoft.com/office/powerpoint/2010/main" val="2667835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on to our second example — the triangle function.</a:t>
            </a:r>
          </a:p>
          <a:p>
            <a:endParaRPr lang="en-US" dirty="0"/>
          </a:p>
          <a:p>
            <a:r>
              <a:rPr lang="en-US" dirty="0"/>
              <a:t>This function, often called the triangular function, is shaped just like its name suggests — a triangle. It peaks at 1 when x equals 0, and then it decreases linearly to zero as x moves out to minus 1 and plus 1. Outside of that range, the value is zero.</a:t>
            </a:r>
          </a:p>
          <a:p>
            <a:endParaRPr lang="en-US" dirty="0"/>
          </a:p>
          <a:p>
            <a:r>
              <a:rPr lang="en-US" dirty="0"/>
              <a:t>Mathematically, it’s defined like this: one minus the absolute value of x when x is between negative 1 and 1, and zero otherwise.</a:t>
            </a:r>
          </a:p>
          <a:p>
            <a:r>
              <a:rPr lang="en-US" dirty="0"/>
              <a:t>So what we want to do now is find its Fourier transform.</a:t>
            </a:r>
          </a:p>
          <a:p>
            <a:endParaRPr lang="en-US" dirty="0"/>
          </a:p>
          <a:p>
            <a:r>
              <a:rPr lang="en-US" dirty="0"/>
              <a:t>In other words, we want to express this smooth, non-periodic triangular function as a combination of infinitely many sinusoidal waves — just like we did with the gate function.</a:t>
            </a:r>
          </a:p>
          <a:p>
            <a:endParaRPr lang="en-US" dirty="0"/>
          </a:p>
          <a:p>
            <a:r>
              <a:rPr lang="en-US" dirty="0"/>
              <a:t>We’ll add up all these waves — each with a different frequency and amplitude — and by doing so, we’ll be able to reconstruct this triangle shape exactly.</a:t>
            </a:r>
          </a:p>
          <a:p>
            <a:r>
              <a:rPr lang="en-US" dirty="0"/>
              <a:t>That’s the idea behind Fourier transform: take a function, no matter how it looks, and rewrite it as a sum of wave components. Each component carries part of the shape — and when you combine them all, you get the original back.</a:t>
            </a:r>
          </a:p>
          <a:p>
            <a:r>
              <a:rPr lang="en-US" dirty="0"/>
              <a:t>Let’s see what that looks like in this case.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20</a:t>
            </a:fld>
            <a:endParaRPr lang="en-US"/>
          </a:p>
        </p:txBody>
      </p:sp>
    </p:spTree>
    <p:extLst>
      <p:ext uri="{BB962C8B-B14F-4D97-AF65-F5344CB8AC3E}">
        <p14:creationId xmlns:p14="http://schemas.microsoft.com/office/powerpoint/2010/main" val="352788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take a look at the result of the Fourier transform of the triangle function.</a:t>
            </a:r>
          </a:p>
          <a:p>
            <a:endParaRPr lang="en-US" dirty="0"/>
          </a:p>
          <a:p>
            <a:r>
              <a:rPr lang="en-US" dirty="0"/>
              <a:t>If we go through the steps — plugging the triangle function into the Fourier transform formula and carrying out the integration — we end up with a very elegant result. The Fourier transform turns out to be the square of the </a:t>
            </a:r>
            <a:r>
              <a:rPr lang="en-US" dirty="0" err="1"/>
              <a:t>sinc</a:t>
            </a:r>
            <a:r>
              <a:rPr lang="en-US" dirty="0"/>
              <a:t> function.</a:t>
            </a:r>
          </a:p>
          <a:p>
            <a:r>
              <a:rPr lang="en-US" dirty="0"/>
              <a:t>That is, we get </a:t>
            </a:r>
            <a:r>
              <a:rPr lang="en-US" dirty="0" err="1"/>
              <a:t>sinc</a:t>
            </a:r>
            <a:r>
              <a:rPr lang="en-US" dirty="0"/>
              <a:t> squared.</a:t>
            </a:r>
          </a:p>
          <a:p>
            <a:endParaRPr lang="en-US" dirty="0"/>
          </a:p>
          <a:p>
            <a:r>
              <a:rPr lang="en-US" dirty="0"/>
              <a:t>You might remember that the Fourier transform of the gate function gave us a </a:t>
            </a:r>
            <a:r>
              <a:rPr lang="en-US" dirty="0" err="1"/>
              <a:t>sinc</a:t>
            </a:r>
            <a:r>
              <a:rPr lang="en-US" dirty="0"/>
              <a:t> function. So this result — </a:t>
            </a:r>
            <a:r>
              <a:rPr lang="en-US" dirty="0" err="1"/>
              <a:t>sinc</a:t>
            </a:r>
            <a:r>
              <a:rPr lang="en-US" dirty="0"/>
              <a:t> squared — is not just a coincidence.</a:t>
            </a:r>
          </a:p>
          <a:p>
            <a:r>
              <a:rPr lang="en-US" dirty="0"/>
              <a:t>There’s actually a deeper reason behind it.</a:t>
            </a:r>
          </a:p>
          <a:p>
            <a:r>
              <a:rPr lang="en-US" dirty="0"/>
              <a:t>It’s related to an operation called convolution. We saw this in the context of the Fourier series, and we’ll explore it again in more depth when we talk about properties of the Fourier transform.</a:t>
            </a:r>
          </a:p>
          <a:p>
            <a:endParaRPr lang="en-US" dirty="0"/>
          </a:p>
          <a:p>
            <a:r>
              <a:rPr lang="en-US" dirty="0"/>
              <a:t>But the key takeaway here is this: the triangle function is, in a way, the convolution of two gate functions. And in the frequency domain, convolution in time corresponds to multiplication in frequency. That’s why the </a:t>
            </a:r>
            <a:r>
              <a:rPr lang="en-US" dirty="0" err="1"/>
              <a:t>sinc</a:t>
            </a:r>
            <a:r>
              <a:rPr lang="en-US" dirty="0"/>
              <a:t> function — from the gate — becomes </a:t>
            </a:r>
            <a:r>
              <a:rPr lang="en-US" dirty="0" err="1"/>
              <a:t>sinc</a:t>
            </a:r>
            <a:r>
              <a:rPr lang="en-US" dirty="0"/>
              <a:t> squared for the triangle.</a:t>
            </a:r>
          </a:p>
          <a:p>
            <a:endParaRPr lang="en-US" dirty="0"/>
          </a:p>
          <a:p>
            <a:r>
              <a:rPr lang="en-US" dirty="0"/>
              <a:t>And down at the bottom, we can see the graph of </a:t>
            </a:r>
            <a:r>
              <a:rPr lang="en-US" dirty="0" err="1"/>
              <a:t>sinc</a:t>
            </a:r>
            <a:r>
              <a:rPr lang="en-US" dirty="0"/>
              <a:t> squared. It has the same overall shape as </a:t>
            </a:r>
            <a:r>
              <a:rPr lang="en-US" dirty="0" err="1"/>
              <a:t>sinc</a:t>
            </a:r>
            <a:r>
              <a:rPr lang="en-US" dirty="0"/>
              <a:t> — a central peak and decaying ripples — but now the oscillations are all positive and fall off more smoothly.</a:t>
            </a:r>
          </a:p>
          <a:p>
            <a:r>
              <a:rPr lang="en-US" dirty="0"/>
              <a:t>So, this example shows another beautiful connection between shapes in the time domain and their patterns in the frequency domain.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21</a:t>
            </a:fld>
            <a:endParaRPr lang="en-US"/>
          </a:p>
        </p:txBody>
      </p:sp>
    </p:spTree>
    <p:extLst>
      <p:ext uri="{BB962C8B-B14F-4D97-AF65-F5344CB8AC3E}">
        <p14:creationId xmlns:p14="http://schemas.microsoft.com/office/powerpoint/2010/main" val="3540373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take a look at a few more examples of Fourier transform pairs — some of them elegant, some of them a bit more abstract.</a:t>
            </a:r>
          </a:p>
          <a:p>
            <a:endParaRPr lang="en-US" dirty="0"/>
          </a:p>
          <a:p>
            <a:r>
              <a:rPr lang="en-US" dirty="0"/>
              <a:t>First, we have the Gaussian function. In the time domain, it’s written as </a:t>
            </a:r>
            <a:r>
              <a:rPr lang="en-US" b="1" dirty="0"/>
              <a:t>e to the power negative pi t squared</a:t>
            </a:r>
            <a:r>
              <a:rPr lang="en-US" dirty="0"/>
              <a:t>. This is the familiar bell-shaped curve — smooth, centered, and decaying quickly. What’s remarkable is that its Fourier transform is also a Gaussian — </a:t>
            </a:r>
            <a:r>
              <a:rPr lang="en-US" b="1" dirty="0"/>
              <a:t>e to the power negative pi u squared</a:t>
            </a:r>
            <a:r>
              <a:rPr lang="en-US" dirty="0"/>
              <a:t>. The shape stays the same, just transformed into the frequency domain. The Gaussian is one of the few functions that’s unchanged, except for scaling — we say it’s self-Fourier.</a:t>
            </a:r>
          </a:p>
          <a:p>
            <a:endParaRPr lang="en-US" dirty="0"/>
          </a:p>
          <a:p>
            <a:r>
              <a:rPr lang="en-US" dirty="0"/>
              <a:t>Next, let’s consider a constant function — just a flat value </a:t>
            </a:r>
            <a:r>
              <a:rPr lang="en-US" b="1" dirty="0"/>
              <a:t>c</a:t>
            </a:r>
            <a:r>
              <a:rPr lang="en-US" dirty="0"/>
              <a:t> across time. Now, technically this function is not square-integrable, meaning we can’t just apply the Fourier transform in the usual way. But in a generalized sense, we can still assign it a meaning. And it turns out the Fourier transform of a constant is a scaled delta function — specifically, </a:t>
            </a:r>
            <a:r>
              <a:rPr lang="en-US" b="1" dirty="0"/>
              <a:t>c times delta of u</a:t>
            </a:r>
            <a:r>
              <a:rPr lang="en-US" dirty="0"/>
              <a:t>. This makes intuitive sense: a constant signal has no frequency variation, so all its energy is concentrated at zero frequency.</a:t>
            </a:r>
          </a:p>
          <a:p>
            <a:endParaRPr lang="en-US" dirty="0"/>
          </a:p>
          <a:p>
            <a:r>
              <a:rPr lang="en-US" dirty="0"/>
              <a:t>And finally, look at this interesting example: the shifted delta function </a:t>
            </a:r>
            <a:r>
              <a:rPr lang="en-US" b="1" dirty="0"/>
              <a:t>delta of t minus a</a:t>
            </a:r>
            <a:r>
              <a:rPr lang="en-US" dirty="0"/>
              <a:t>. If you perform the Fourier transform of this, you get a complex exponential — </a:t>
            </a:r>
            <a:r>
              <a:rPr lang="en-US" b="1" dirty="0"/>
              <a:t>e to the power minus </a:t>
            </a:r>
            <a:r>
              <a:rPr lang="en-US" b="1" dirty="0" err="1"/>
              <a:t>i</a:t>
            </a:r>
            <a:r>
              <a:rPr lang="en-US" b="1" dirty="0"/>
              <a:t> 2 pi a u</a:t>
            </a:r>
            <a:r>
              <a:rPr lang="en-US" dirty="0"/>
              <a:t>. This tells us that shifting a delta function in time introduces a phase shift in frequency. And that phase shift depends on the amount of translation — the value </a:t>
            </a:r>
            <a:r>
              <a:rPr lang="en-US" b="1" dirty="0"/>
              <a:t>a</a:t>
            </a:r>
            <a:r>
              <a:rPr lang="en-US" dirty="0"/>
              <a:t> — and also on the frequency </a:t>
            </a:r>
            <a:r>
              <a:rPr lang="en-US" b="1" dirty="0"/>
              <a:t>u</a:t>
            </a:r>
            <a:r>
              <a:rPr lang="en-US" dirty="0"/>
              <a:t>.</a:t>
            </a:r>
          </a:p>
          <a:p>
            <a:endParaRPr lang="en-US" dirty="0"/>
          </a:p>
          <a:p>
            <a:r>
              <a:rPr lang="en-US" dirty="0"/>
              <a:t>Now, I should point out — when you’re working with generalized functions like constants and delta functions, the usual rules don’t always apply directly. These are not square-integrable functions. So we use the tools of distribution theory to handle them more rigorously. If you’re curious, I explain this in more detail in the book chapter.</a:t>
            </a:r>
          </a:p>
          <a:p>
            <a:endParaRPr lang="en-US" dirty="0"/>
          </a:p>
          <a:p>
            <a:r>
              <a:rPr lang="en-US" dirty="0"/>
              <a:t>But for now, just keep in mind — even with these edge cases, the idea of expressing a signal in terms of wave components still holds.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22</a:t>
            </a:fld>
            <a:endParaRPr lang="en-US"/>
          </a:p>
        </p:txBody>
      </p:sp>
    </p:spTree>
    <p:extLst>
      <p:ext uri="{BB962C8B-B14F-4D97-AF65-F5344CB8AC3E}">
        <p14:creationId xmlns:p14="http://schemas.microsoft.com/office/powerpoint/2010/main" val="771738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gone through several examples, let’s take a moment to highlight some core properties of the Fourier transform — the features that make it such a powerful and elegant analytical tool.</a:t>
            </a:r>
          </a:p>
          <a:p>
            <a:endParaRPr lang="en-US" dirty="0"/>
          </a:p>
          <a:p>
            <a:r>
              <a:rPr lang="en-US" dirty="0"/>
              <a:t>We begin with </a:t>
            </a:r>
            <a:r>
              <a:rPr lang="en-US" b="1" dirty="0"/>
              <a:t>linearity</a:t>
            </a:r>
            <a:r>
              <a:rPr lang="en-US" dirty="0"/>
              <a:t>. If you combine two functions, say f and g, using constants a and b — meaning you form "a times f plus b times g" — then the Fourier transform of that sum is simply "a times the transform of f plus b times the transform of g." This reflects the principle of superposition, which is central to all linear systems.</a:t>
            </a:r>
          </a:p>
          <a:p>
            <a:endParaRPr lang="en-US" dirty="0"/>
          </a:p>
          <a:p>
            <a:r>
              <a:rPr lang="en-US" dirty="0"/>
              <a:t>Next is the </a:t>
            </a:r>
            <a:r>
              <a:rPr lang="en-US" b="1" dirty="0"/>
              <a:t>time-shifting property</a:t>
            </a:r>
            <a:r>
              <a:rPr lang="en-US" dirty="0"/>
              <a:t>. If you shift a function in time — let’s say you move it by x naught — then in the frequency domain, the transform stays the same in shape but gets multiplied by a complex exponential factor. Specifically, it’s multiplied by e to the </a:t>
            </a:r>
            <a:r>
              <a:rPr lang="en-US" b="1" dirty="0"/>
              <a:t>power </a:t>
            </a:r>
            <a:r>
              <a:rPr lang="en-US" dirty="0"/>
              <a:t>minus </a:t>
            </a:r>
            <a:r>
              <a:rPr lang="en-US" dirty="0" err="1"/>
              <a:t>i</a:t>
            </a:r>
            <a:r>
              <a:rPr lang="en-US" dirty="0"/>
              <a:t> 2 pi x naught u. So shifting in time introduces a phase shift in frequency.</a:t>
            </a:r>
          </a:p>
          <a:p>
            <a:endParaRPr lang="en-US" dirty="0"/>
          </a:p>
          <a:p>
            <a:r>
              <a:rPr lang="en-US" dirty="0"/>
              <a:t>Now let’s flip that idea — this is called </a:t>
            </a:r>
            <a:r>
              <a:rPr lang="en-US" b="1" dirty="0"/>
              <a:t>modulation</a:t>
            </a:r>
            <a:r>
              <a:rPr lang="en-US" dirty="0"/>
              <a:t>. If you multiply a function in the time domain by a complex exponential, then you shift its frequency content. So time-domain modulation causes a translation in the frequency domain.</a:t>
            </a:r>
          </a:p>
          <a:p>
            <a:endParaRPr lang="en-US" dirty="0"/>
          </a:p>
          <a:p>
            <a:r>
              <a:rPr lang="en-US" dirty="0"/>
              <a:t>Another important concept is </a:t>
            </a:r>
            <a:r>
              <a:rPr lang="en-US" b="1" dirty="0"/>
              <a:t>scaling</a:t>
            </a:r>
            <a:r>
              <a:rPr lang="en-US" dirty="0"/>
              <a:t>. If you compress or stretch a function in time — say, you use f of a t — then the frequency representation stretches or compresses in the opposite way. And the result is scaled by one over the absolute value of a. So if the time signal gets narrower, the spectrum spreads out.</a:t>
            </a:r>
          </a:p>
          <a:p>
            <a:endParaRPr lang="en-US" dirty="0"/>
          </a:p>
          <a:p>
            <a:r>
              <a:rPr lang="en-US" dirty="0"/>
              <a:t>We also have </a:t>
            </a:r>
            <a:r>
              <a:rPr lang="en-US" b="1" dirty="0"/>
              <a:t>conjugation</a:t>
            </a:r>
            <a:r>
              <a:rPr lang="en-US" dirty="0"/>
              <a:t>. If you take the complex conjugate of a function, then its Fourier transform reflects across the frequency axis — that is, the transform at minus u becomes the conjugate of the transform at u.</a:t>
            </a:r>
          </a:p>
          <a:p>
            <a:r>
              <a:rPr lang="en-US" dirty="0"/>
              <a:t>And finally, if the original function is real-valued, its Fourier transform has </a:t>
            </a:r>
            <a:r>
              <a:rPr lang="en-US" b="1" dirty="0"/>
              <a:t>Hermitian symmetry</a:t>
            </a:r>
            <a:r>
              <a:rPr lang="en-US" dirty="0"/>
              <a:t>. That means the spectrum is symmetric in a complex-conjugate sense.</a:t>
            </a:r>
          </a:p>
          <a:p>
            <a:endParaRPr lang="en-US" dirty="0"/>
          </a:p>
          <a:p>
            <a:r>
              <a:rPr lang="en-US" dirty="0"/>
              <a:t>Each of these properties gives us deeper insight into how signals behave across time and frequency. We’ll explore them in more detail as we continue — but for now, keep these tools in mind. They’ll help you decode and design systems with much greater clarity.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23</a:t>
            </a:fld>
            <a:endParaRPr lang="en-US"/>
          </a:p>
        </p:txBody>
      </p:sp>
    </p:spTree>
    <p:extLst>
      <p:ext uri="{BB962C8B-B14F-4D97-AF65-F5344CB8AC3E}">
        <p14:creationId xmlns:p14="http://schemas.microsoft.com/office/powerpoint/2010/main" val="563925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Let's look into more detail. Okay, the first linearity. So this is just, again, this part copied from the Stanford textbook. So you have a function f and g.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There are Fourier transformations. So you have Fourier transformation. You have this summation, the summation of the original function.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Then you perform Fourier transformation. The result is the same as the summation of the Fourier transformation of f and the Fourier transformation of g. So this is additivity. So in the system, linear system lecture, we explain that.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How about the scaling or homogeneity? So if f is scaled by alpha, then we perform Fourier transform. That's the same as performing the Fourier transform of f. Then you scale the result by the same scaling factor. So you can verify these two properties according to the formula by defining the Fourier transform. So you can just see here, just as an example, you show additivity. And you can similarly show the scaling property.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24</a:t>
            </a:fld>
            <a:endParaRPr lang="en-US"/>
          </a:p>
        </p:txBody>
      </p:sp>
    </p:spTree>
    <p:extLst>
      <p:ext uri="{BB962C8B-B14F-4D97-AF65-F5344CB8AC3E}">
        <p14:creationId xmlns:p14="http://schemas.microsoft.com/office/powerpoint/2010/main" val="346160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another important idea in Fourier analysis — the </a:t>
            </a:r>
            <a:r>
              <a:rPr lang="en-US" b="1" dirty="0"/>
              <a:t>shift property</a:t>
            </a:r>
            <a:r>
              <a:rPr lang="en-US" dirty="0"/>
              <a:t>, also called the </a:t>
            </a:r>
            <a:r>
              <a:rPr lang="en-US" b="1" dirty="0"/>
              <a:t>translation property</a:t>
            </a:r>
            <a:r>
              <a:rPr lang="en-US" dirty="0"/>
              <a:t>.</a:t>
            </a:r>
          </a:p>
          <a:p>
            <a:endParaRPr lang="en-US" dirty="0"/>
          </a:p>
          <a:p>
            <a:r>
              <a:rPr lang="en-US" dirty="0"/>
              <a:t>This property explains what happens when we shift a function in time. Suppose we have a function, f of t, and we shift it by some constant b. That means our new function is f of t minus b. So what happens to its Fourier transform?</a:t>
            </a:r>
          </a:p>
          <a:p>
            <a:r>
              <a:rPr lang="en-US" dirty="0"/>
              <a:t>The answer is: the shape of the spectrum stays the same, but we multiply it by a phase factor. Specifically, we multiply it by </a:t>
            </a:r>
            <a:r>
              <a:rPr lang="en-US" b="1" dirty="0"/>
              <a:t>e to the power minus 2 pi </a:t>
            </a:r>
            <a:r>
              <a:rPr lang="en-US" b="1" dirty="0" err="1"/>
              <a:t>i</a:t>
            </a:r>
            <a:r>
              <a:rPr lang="en-US" b="1" dirty="0"/>
              <a:t> s b</a:t>
            </a:r>
            <a:r>
              <a:rPr lang="en-US" dirty="0"/>
              <a:t>. In other words, shifting the function in time causes a rotation in the phase of the frequency spectrum.</a:t>
            </a:r>
          </a:p>
          <a:p>
            <a:endParaRPr lang="en-US" dirty="0"/>
          </a:p>
          <a:p>
            <a:r>
              <a:rPr lang="en-US" dirty="0"/>
              <a:t>Let’s go through why that’s true.</a:t>
            </a:r>
          </a:p>
          <a:p>
            <a:r>
              <a:rPr lang="en-US" dirty="0"/>
              <a:t>We start with the definition of the Fourier transform of f of t minus b. Inside the integral, we make a substitution: we let u equal t minus b. That’s just a change of variable — and it doesn’t affect the limits of the integral, which still go from negative infinity to positive infinity.</a:t>
            </a:r>
          </a:p>
          <a:p>
            <a:endParaRPr lang="en-US" dirty="0"/>
          </a:p>
          <a:p>
            <a:r>
              <a:rPr lang="en-US" dirty="0"/>
              <a:t>Now, when we rewrite the integral in terms of u, something interesting happens. The exponential term splits into two parts. One part depends on u, and the other depends on b. The part with b is just a constant, so we can pull it outside the integral.</a:t>
            </a:r>
          </a:p>
          <a:p>
            <a:r>
              <a:rPr lang="en-US" dirty="0"/>
              <a:t>What remains inside is the same integral we started with — the Fourier transform of the original function, f of t.</a:t>
            </a:r>
          </a:p>
          <a:p>
            <a:r>
              <a:rPr lang="en-US" dirty="0"/>
              <a:t>So in the end, we have the original spectrum, multiplied by this exponential phase term.</a:t>
            </a:r>
          </a:p>
          <a:p>
            <a:endParaRPr lang="en-US" dirty="0"/>
          </a:p>
          <a:p>
            <a:r>
              <a:rPr lang="en-US" dirty="0"/>
              <a:t>That’s the core idea of the shift property:</a:t>
            </a:r>
            <a:br>
              <a:rPr lang="en-US" dirty="0"/>
            </a:br>
            <a:r>
              <a:rPr lang="en-US" b="1" dirty="0"/>
              <a:t>When you shift a function in time, it introduces a phase shift in the frequency domain.</a:t>
            </a:r>
            <a:endParaRPr lang="en-US" dirty="0"/>
          </a:p>
          <a:p>
            <a:r>
              <a:rPr lang="en-US" dirty="0"/>
              <a:t>This is an extremely useful result when working with signals that are delayed or moved in time — it tells you exactly how the spectrum changes, and helps preserve the full mathematical relationship between time and frequency.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25</a:t>
            </a:fld>
            <a:endParaRPr lang="en-US"/>
          </a:p>
        </p:txBody>
      </p:sp>
    </p:spTree>
    <p:extLst>
      <p:ext uri="{BB962C8B-B14F-4D97-AF65-F5344CB8AC3E}">
        <p14:creationId xmlns:p14="http://schemas.microsoft.com/office/powerpoint/2010/main" val="3320982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closer look at the </a:t>
            </a:r>
            <a:r>
              <a:rPr lang="en-US" b="1" dirty="0"/>
              <a:t>scaling property</a:t>
            </a:r>
            <a:r>
              <a:rPr lang="en-US" dirty="0"/>
              <a:t> of the Fourier transform.</a:t>
            </a:r>
          </a:p>
          <a:p>
            <a:r>
              <a:rPr lang="en-US" dirty="0"/>
              <a:t>Here’s the idea. Suppose we have a function, </a:t>
            </a:r>
            <a:r>
              <a:rPr lang="en-US" i="1" dirty="0"/>
              <a:t>f of t</a:t>
            </a:r>
            <a:r>
              <a:rPr lang="en-US" dirty="0"/>
              <a:t>. And now, instead of </a:t>
            </a:r>
            <a:r>
              <a:rPr lang="en-US" i="1" dirty="0"/>
              <a:t>f of t</a:t>
            </a:r>
            <a:r>
              <a:rPr lang="en-US" dirty="0"/>
              <a:t>, we look at </a:t>
            </a:r>
            <a:r>
              <a:rPr lang="en-US" i="1" dirty="0"/>
              <a:t>f of a times t</a:t>
            </a:r>
            <a:r>
              <a:rPr lang="en-US" dirty="0"/>
              <a:t>, where </a:t>
            </a:r>
            <a:r>
              <a:rPr lang="en-US" i="1" dirty="0"/>
              <a:t>a</a:t>
            </a:r>
            <a:r>
              <a:rPr lang="en-US" dirty="0"/>
              <a:t> is just some constant — not zero.</a:t>
            </a:r>
          </a:p>
          <a:p>
            <a:endParaRPr lang="en-US" dirty="0"/>
          </a:p>
          <a:p>
            <a:r>
              <a:rPr lang="en-US" dirty="0"/>
              <a:t>We’re changing the time scale. The question is: what happens to its Fourier transform?</a:t>
            </a:r>
          </a:p>
          <a:p>
            <a:r>
              <a:rPr lang="en-US" dirty="0"/>
              <a:t>Well, this depends on whether </a:t>
            </a:r>
            <a:r>
              <a:rPr lang="en-US" i="1" dirty="0"/>
              <a:t>a</a:t>
            </a:r>
            <a:r>
              <a:rPr lang="en-US" dirty="0"/>
              <a:t> is positive or negative. But in both cases, something interesting happens.</a:t>
            </a:r>
          </a:p>
          <a:p>
            <a:r>
              <a:rPr lang="en-US" dirty="0"/>
              <a:t>First, let’s say </a:t>
            </a:r>
            <a:r>
              <a:rPr lang="en-US" i="1" dirty="0"/>
              <a:t>a</a:t>
            </a:r>
            <a:r>
              <a:rPr lang="en-US" dirty="0"/>
              <a:t> is greater than zero.</a:t>
            </a:r>
          </a:p>
          <a:p>
            <a:r>
              <a:rPr lang="en-US" dirty="0"/>
              <a:t>We plug </a:t>
            </a:r>
            <a:r>
              <a:rPr lang="en-US" i="1" dirty="0"/>
              <a:t>f of a t</a:t>
            </a:r>
            <a:r>
              <a:rPr lang="en-US" dirty="0"/>
              <a:t> into the Fourier transform formula. If you do the math — which involves changing variables and rearranging terms — you end up with this:</a:t>
            </a:r>
          </a:p>
          <a:p>
            <a:r>
              <a:rPr lang="en-US" dirty="0"/>
              <a:t>The Fourier transform of </a:t>
            </a:r>
            <a:r>
              <a:rPr lang="en-US" i="1" dirty="0"/>
              <a:t>f of a t</a:t>
            </a:r>
            <a:r>
              <a:rPr lang="en-US" dirty="0"/>
              <a:t> becomes</a:t>
            </a:r>
            <a:br>
              <a:rPr lang="en-US" dirty="0"/>
            </a:br>
            <a:r>
              <a:rPr lang="en-US" b="1" dirty="0"/>
              <a:t>one divided by a</a:t>
            </a:r>
            <a:r>
              <a:rPr lang="en-US" dirty="0"/>
              <a:t>, times </a:t>
            </a:r>
            <a:r>
              <a:rPr lang="en-US" i="1" dirty="0"/>
              <a:t>F of s divided by a</a:t>
            </a:r>
            <a:r>
              <a:rPr lang="en-US" dirty="0"/>
              <a:t>.</a:t>
            </a:r>
          </a:p>
          <a:p>
            <a:endParaRPr lang="en-US" dirty="0"/>
          </a:p>
          <a:p>
            <a:r>
              <a:rPr lang="en-US" dirty="0"/>
              <a:t>So what does that mean?</a:t>
            </a:r>
          </a:p>
          <a:p>
            <a:r>
              <a:rPr lang="en-US" dirty="0"/>
              <a:t>If we stretch the function in time — that is, make it slower — its frequency content gets compressed.</a:t>
            </a:r>
            <a:br>
              <a:rPr lang="en-US" dirty="0"/>
            </a:br>
            <a:r>
              <a:rPr lang="en-US" dirty="0"/>
              <a:t>And if we squeeze it in time — make it faster — the frequency content stretches out.</a:t>
            </a:r>
          </a:p>
          <a:p>
            <a:endParaRPr lang="en-US" dirty="0"/>
          </a:p>
          <a:p>
            <a:r>
              <a:rPr lang="en-US" dirty="0"/>
              <a:t>Now, what if </a:t>
            </a:r>
            <a:r>
              <a:rPr lang="en-US" i="1" dirty="0"/>
              <a:t>a</a:t>
            </a:r>
            <a:r>
              <a:rPr lang="en-US" dirty="0"/>
              <a:t> is less than zero?</a:t>
            </a:r>
          </a:p>
          <a:p>
            <a:r>
              <a:rPr lang="en-US" dirty="0"/>
              <a:t>In that case, the same formula still works, but with a minus sign that comes from flipping the limits of integration.</a:t>
            </a:r>
          </a:p>
          <a:p>
            <a:endParaRPr lang="en-US" dirty="0"/>
          </a:p>
          <a:p>
            <a:r>
              <a:rPr lang="en-US" dirty="0"/>
              <a:t>So we just take the absolute value of </a:t>
            </a:r>
            <a:r>
              <a:rPr lang="en-US" i="1" dirty="0"/>
              <a:t>a</a:t>
            </a:r>
            <a:r>
              <a:rPr lang="en-US" dirty="0"/>
              <a:t>, and the final result becomes:</a:t>
            </a:r>
          </a:p>
          <a:p>
            <a:r>
              <a:rPr lang="en-US" dirty="0"/>
              <a:t>The Fourier transform of </a:t>
            </a:r>
            <a:r>
              <a:rPr lang="en-US" i="1" dirty="0"/>
              <a:t>f of a t</a:t>
            </a:r>
            <a:r>
              <a:rPr lang="en-US" dirty="0"/>
              <a:t> equals</a:t>
            </a:r>
            <a:br>
              <a:rPr lang="en-US" dirty="0"/>
            </a:br>
            <a:r>
              <a:rPr lang="en-US" b="1" dirty="0"/>
              <a:t>one over the absolute value of a</a:t>
            </a:r>
            <a:r>
              <a:rPr lang="en-US" dirty="0"/>
              <a:t>, times </a:t>
            </a:r>
            <a:r>
              <a:rPr lang="en-US" i="1" dirty="0"/>
              <a:t>F of s over a</a:t>
            </a:r>
            <a:r>
              <a:rPr lang="en-US" dirty="0"/>
              <a:t>.</a:t>
            </a:r>
          </a:p>
          <a:p>
            <a:endParaRPr lang="en-US" dirty="0"/>
          </a:p>
          <a:p>
            <a:r>
              <a:rPr lang="en-US" dirty="0"/>
              <a:t>So in short:</a:t>
            </a:r>
            <a:br>
              <a:rPr lang="en-US" dirty="0"/>
            </a:br>
            <a:r>
              <a:rPr lang="en-US" b="1" dirty="0"/>
              <a:t>Scaling in time causes the opposite effect in frequency.</a:t>
            </a:r>
            <a:br>
              <a:rPr lang="en-US" dirty="0"/>
            </a:br>
            <a:r>
              <a:rPr lang="en-US" dirty="0"/>
              <a:t>That’s the scaling property.</a:t>
            </a:r>
          </a:p>
          <a:p>
            <a:r>
              <a:rPr lang="en-US" dirty="0"/>
              <a:t>And this is one more way to see how time and frequency are tightly connected in the Fourier world.</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26</a:t>
            </a:fld>
            <a:endParaRPr lang="en-US"/>
          </a:p>
        </p:txBody>
      </p:sp>
    </p:spTree>
    <p:extLst>
      <p:ext uri="{BB962C8B-B14F-4D97-AF65-F5344CB8AC3E}">
        <p14:creationId xmlns:p14="http://schemas.microsoft.com/office/powerpoint/2010/main" val="1170912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let’s bring this scaling idea to life with a visual example.</a:t>
            </a:r>
          </a:p>
          <a:p>
            <a:endParaRPr lang="en-US" dirty="0"/>
          </a:p>
          <a:p>
            <a:r>
              <a:rPr lang="en-US" dirty="0"/>
              <a:t>Take a look at the top plot. This shows different versions of a triangular function — blue, orange, and green. They all have the same shape, but different widths.</a:t>
            </a:r>
          </a:p>
          <a:p>
            <a:r>
              <a:rPr lang="en-US" dirty="0"/>
              <a:t>The blue triangle is the narrowest.</a:t>
            </a:r>
            <a:br>
              <a:rPr lang="en-US" dirty="0"/>
            </a:br>
            <a:r>
              <a:rPr lang="en-US" dirty="0"/>
              <a:t>The orange one is a little wider.</a:t>
            </a:r>
            <a:br>
              <a:rPr lang="en-US" dirty="0"/>
            </a:br>
            <a:r>
              <a:rPr lang="en-US" dirty="0"/>
              <a:t>And the green one is the widest of all.</a:t>
            </a:r>
          </a:p>
          <a:p>
            <a:r>
              <a:rPr lang="en-US" dirty="0"/>
              <a:t>Now, let’s look at what happens in the frequency domain — shown in the bottom plot.</a:t>
            </a:r>
          </a:p>
          <a:p>
            <a:endParaRPr lang="en-US" dirty="0"/>
          </a:p>
          <a:p>
            <a:r>
              <a:rPr lang="en-US" dirty="0"/>
              <a:t>Here’s the key idea:</a:t>
            </a:r>
            <a:br>
              <a:rPr lang="en-US" dirty="0"/>
            </a:br>
            <a:r>
              <a:rPr lang="en-US" b="1" dirty="0"/>
              <a:t>When the function gets wider in time, its frequency content gets narrower.</a:t>
            </a:r>
            <a:endParaRPr lang="en-US" dirty="0"/>
          </a:p>
          <a:p>
            <a:r>
              <a:rPr lang="en-US" dirty="0"/>
              <a:t>You can see that clearly:</a:t>
            </a:r>
          </a:p>
          <a:p>
            <a:r>
              <a:rPr lang="en-US" dirty="0"/>
              <a:t>The narrow blue triangle has the </a:t>
            </a:r>
            <a:r>
              <a:rPr lang="en-US" b="1" dirty="0"/>
              <a:t>widest</a:t>
            </a:r>
            <a:r>
              <a:rPr lang="en-US" dirty="0"/>
              <a:t> Fourier transform — that’s the blue curve in the bottom plot.</a:t>
            </a:r>
          </a:p>
          <a:p>
            <a:r>
              <a:rPr lang="en-US" dirty="0"/>
              <a:t>The medium-width orange triangle gives a </a:t>
            </a:r>
            <a:r>
              <a:rPr lang="en-US" b="1" dirty="0"/>
              <a:t>more focused</a:t>
            </a:r>
            <a:r>
              <a:rPr lang="en-US" dirty="0"/>
              <a:t> frequency response — that’s the orange curve.</a:t>
            </a:r>
          </a:p>
          <a:p>
            <a:r>
              <a:rPr lang="en-US" dirty="0"/>
              <a:t>And the wide green triangle gives a </a:t>
            </a:r>
            <a:r>
              <a:rPr lang="en-US" b="1" dirty="0"/>
              <a:t>sharp, tall peak</a:t>
            </a:r>
            <a:r>
              <a:rPr lang="en-US" dirty="0"/>
              <a:t> in the frequency domain — the green curve below.</a:t>
            </a:r>
          </a:p>
          <a:p>
            <a:r>
              <a:rPr lang="en-US" dirty="0"/>
              <a:t>This is the heart of the scaling property.</a:t>
            </a:r>
            <a:br>
              <a:rPr lang="en-US" dirty="0"/>
            </a:br>
            <a:r>
              <a:rPr lang="en-US" b="1" dirty="0"/>
              <a:t>Wider in time means tighter in frequency</a:t>
            </a:r>
            <a:r>
              <a:rPr lang="en-US" dirty="0"/>
              <a:t>, and vice versa.</a:t>
            </a:r>
          </a:p>
          <a:p>
            <a:endParaRPr lang="en-US" dirty="0"/>
          </a:p>
          <a:p>
            <a:r>
              <a:rPr lang="en-US" dirty="0"/>
              <a:t>It’s a kind of duality — as if time and frequency are pulling on opposite ends of a rope.</a:t>
            </a:r>
          </a:p>
          <a:p>
            <a:r>
              <a:rPr lang="en-US" dirty="0"/>
              <a:t>And as a special case, if you use a delta function — which is infinitely narrow in time — its Fourier transform becomes perfectly flat, spread across all frequencies.</a:t>
            </a:r>
          </a:p>
          <a:p>
            <a:r>
              <a:rPr lang="en-US" dirty="0"/>
              <a:t>On the other hand, a </a:t>
            </a:r>
            <a:r>
              <a:rPr lang="en-US" b="1" dirty="0"/>
              <a:t>Gaussian function</a:t>
            </a:r>
            <a:r>
              <a:rPr lang="en-US" dirty="0"/>
              <a:t> is balanced — it’s the only shape where both the time and frequency profiles remain Gaussian.</a:t>
            </a:r>
          </a:p>
          <a:p>
            <a:r>
              <a:rPr lang="en-US" dirty="0"/>
              <a:t>So visually, scaling is not just a math trick — it’s a powerful way to understand how functions behave in both domains.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27</a:t>
            </a:fld>
            <a:endParaRPr lang="en-US"/>
          </a:p>
        </p:txBody>
      </p:sp>
    </p:spTree>
    <p:extLst>
      <p:ext uri="{BB962C8B-B14F-4D97-AF65-F5344CB8AC3E}">
        <p14:creationId xmlns:p14="http://schemas.microsoft.com/office/powerpoint/2010/main" val="18762419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a beautiful and surprising property of the Fourier transform — its connection to </a:t>
            </a:r>
            <a:r>
              <a:rPr lang="en-US" b="1" dirty="0"/>
              <a:t>derivatives</a:t>
            </a:r>
            <a:r>
              <a:rPr lang="en-US" dirty="0"/>
              <a:t>.</a:t>
            </a:r>
          </a:p>
          <a:p>
            <a:r>
              <a:rPr lang="en-US" dirty="0"/>
              <a:t>Suppose we start with a function, f of t, and its Fourier transform is capital F of s.</a:t>
            </a:r>
          </a:p>
          <a:p>
            <a:endParaRPr lang="en-US" dirty="0"/>
          </a:p>
          <a:p>
            <a:r>
              <a:rPr lang="en-US" dirty="0"/>
              <a:t>Now you might ask:</a:t>
            </a:r>
            <a:br>
              <a:rPr lang="en-US" dirty="0"/>
            </a:br>
            <a:r>
              <a:rPr lang="en-US" dirty="0"/>
              <a:t>What happens if we take the </a:t>
            </a:r>
            <a:r>
              <a:rPr lang="en-US" b="1" dirty="0"/>
              <a:t>derivative</a:t>
            </a:r>
            <a:r>
              <a:rPr lang="en-US" dirty="0"/>
              <a:t> of f — that is, f prime of t — and then perform the Fourier transform?</a:t>
            </a:r>
          </a:p>
          <a:p>
            <a:r>
              <a:rPr lang="en-US" dirty="0"/>
              <a:t>The answer is elegant:</a:t>
            </a:r>
            <a:br>
              <a:rPr lang="en-US" dirty="0"/>
            </a:br>
            <a:r>
              <a:rPr lang="en-US" b="1" dirty="0"/>
              <a:t>Taking a derivative in time becomes multiplication in the frequency domain.</a:t>
            </a:r>
            <a:endParaRPr lang="en-US" dirty="0"/>
          </a:p>
          <a:p>
            <a:endParaRPr lang="en-US" dirty="0"/>
          </a:p>
          <a:p>
            <a:r>
              <a:rPr lang="en-US" dirty="0"/>
              <a:t>More precisely,</a:t>
            </a:r>
            <a:br>
              <a:rPr lang="en-US" dirty="0"/>
            </a:br>
            <a:r>
              <a:rPr lang="en-US" dirty="0"/>
              <a:t>The Fourier transform of f ' of t is just </a:t>
            </a:r>
            <a:r>
              <a:rPr lang="en-US" b="1" dirty="0"/>
              <a:t>2 pi </a:t>
            </a:r>
            <a:r>
              <a:rPr lang="en-US" b="1" dirty="0" err="1"/>
              <a:t>i</a:t>
            </a:r>
            <a:r>
              <a:rPr lang="en-US" b="1" dirty="0"/>
              <a:t> s times</a:t>
            </a:r>
            <a:r>
              <a:rPr lang="en-US" dirty="0"/>
              <a:t> the Fourier transform of f.</a:t>
            </a:r>
            <a:br>
              <a:rPr lang="en-US" dirty="0"/>
            </a:br>
            <a:r>
              <a:rPr lang="en-US" dirty="0"/>
              <a:t>So again, taking a derivative becomes a simple multiplication — and the factor depends on frequency.</a:t>
            </a:r>
          </a:p>
          <a:p>
            <a:r>
              <a:rPr lang="en-US" dirty="0"/>
              <a:t>There’s also a second version of this rule:</a:t>
            </a:r>
            <a:br>
              <a:rPr lang="en-US" dirty="0"/>
            </a:br>
            <a:r>
              <a:rPr lang="en-US" dirty="0"/>
              <a:t>If you take the </a:t>
            </a:r>
            <a:r>
              <a:rPr lang="en-US" b="1" dirty="0"/>
              <a:t>derivative of the Fourier transform</a:t>
            </a:r>
            <a:r>
              <a:rPr lang="en-US" dirty="0"/>
              <a:t> itself with respect to s,</a:t>
            </a:r>
            <a:br>
              <a:rPr lang="en-US" dirty="0"/>
            </a:br>
            <a:r>
              <a:rPr lang="en-US" dirty="0"/>
              <a:t>That’s the same as applying </a:t>
            </a:r>
            <a:r>
              <a:rPr lang="en-US" b="1" dirty="0"/>
              <a:t>-2 pi </a:t>
            </a:r>
            <a:r>
              <a:rPr lang="en-US" b="1" dirty="0" err="1"/>
              <a:t>i</a:t>
            </a:r>
            <a:r>
              <a:rPr lang="en-US" b="1" dirty="0"/>
              <a:t> t</a:t>
            </a:r>
            <a:r>
              <a:rPr lang="en-US" dirty="0"/>
              <a:t> to f of t — and then transforming it.</a:t>
            </a:r>
          </a:p>
          <a:p>
            <a:endParaRPr lang="en-US" dirty="0"/>
          </a:p>
          <a:p>
            <a:r>
              <a:rPr lang="en-US" dirty="0"/>
              <a:t>So in summary:</a:t>
            </a:r>
          </a:p>
          <a:p>
            <a:r>
              <a:rPr lang="en-US" dirty="0"/>
              <a:t>Derivatives in one domain correspond to multiplications in the other domain.</a:t>
            </a:r>
          </a:p>
          <a:p>
            <a:r>
              <a:rPr lang="en-US" dirty="0"/>
              <a:t>And this duality works both ways — from time to frequency, or frequency to time.</a:t>
            </a:r>
          </a:p>
          <a:p>
            <a:r>
              <a:rPr lang="en-US" dirty="0"/>
              <a:t>This relationship is incredibly useful in practice, especially in physics and engineering, where differentiation often pops up in systems and signals.</a:t>
            </a:r>
          </a:p>
          <a:p>
            <a:endParaRPr lang="en-US" dirty="0"/>
          </a:p>
          <a:p>
            <a:r>
              <a:rPr lang="en-US" dirty="0"/>
              <a:t>And best of all, it’s not magic — you can prove this directly from the Fourier transform formula, just by carefully taking the derivative under the integral.</a:t>
            </a:r>
          </a:p>
          <a:p>
            <a:r>
              <a:rPr lang="en-US" dirty="0"/>
              <a:t>So this derivative property really adds to our collection of powerful tools in the Fourier toolbox.</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28</a:t>
            </a:fld>
            <a:endParaRPr lang="en-US"/>
          </a:p>
        </p:txBody>
      </p:sp>
    </p:spTree>
    <p:extLst>
      <p:ext uri="{BB962C8B-B14F-4D97-AF65-F5344CB8AC3E}">
        <p14:creationId xmlns:p14="http://schemas.microsoft.com/office/powerpoint/2010/main" val="36197563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one of the most important Fourier transform pairs — the </a:t>
            </a:r>
            <a:r>
              <a:rPr lang="en-US" b="1" dirty="0"/>
              <a:t>impulse train</a:t>
            </a:r>
            <a:r>
              <a:rPr lang="en-US" dirty="0"/>
              <a:t>, also called the </a:t>
            </a:r>
            <a:r>
              <a:rPr lang="en-US" b="1" dirty="0"/>
              <a:t>comb function</a:t>
            </a:r>
            <a:r>
              <a:rPr lang="en-US" dirty="0"/>
              <a:t>.</a:t>
            </a:r>
          </a:p>
          <a:p>
            <a:r>
              <a:rPr lang="en-US" dirty="0"/>
              <a:t>Think of it this way:</a:t>
            </a:r>
            <a:br>
              <a:rPr lang="en-US" dirty="0"/>
            </a:br>
            <a:endParaRPr lang="en-US" dirty="0"/>
          </a:p>
          <a:p>
            <a:r>
              <a:rPr lang="en-US" dirty="0"/>
              <a:t>We place delta functions at evenly spaced intervals — for example, every delta t along the time axis.</a:t>
            </a:r>
            <a:br>
              <a:rPr lang="en-US" dirty="0"/>
            </a:br>
            <a:r>
              <a:rPr lang="en-US" dirty="0"/>
              <a:t>This gives us a repeating sequence of sharp spikes — like the teeth of a comb — so we call it a </a:t>
            </a:r>
            <a:r>
              <a:rPr lang="en-US" b="1" dirty="0"/>
              <a:t>comb function</a:t>
            </a:r>
            <a:r>
              <a:rPr lang="en-US" dirty="0"/>
              <a:t> in time.</a:t>
            </a:r>
          </a:p>
          <a:p>
            <a:r>
              <a:rPr lang="en-US" dirty="0"/>
              <a:t>Mathematically, we write this as the sum of delta of t minus n delta t, summed over all integers n.</a:t>
            </a:r>
            <a:br>
              <a:rPr lang="en-US" dirty="0"/>
            </a:br>
            <a:r>
              <a:rPr lang="en-US" dirty="0"/>
              <a:t>That just means we have delta functions at 0, at delta t, at 2 delta t, and so on, going both directions.</a:t>
            </a:r>
          </a:p>
          <a:p>
            <a:endParaRPr lang="en-US" dirty="0"/>
          </a:p>
          <a:p>
            <a:r>
              <a:rPr lang="en-US" dirty="0"/>
              <a:t>Now here’s the key:</a:t>
            </a:r>
            <a:br>
              <a:rPr lang="en-US" dirty="0"/>
            </a:br>
            <a:r>
              <a:rPr lang="en-US" dirty="0"/>
              <a:t>When we take the Fourier transform of this comb in time, what do we get?</a:t>
            </a:r>
          </a:p>
          <a:p>
            <a:r>
              <a:rPr lang="en-US" dirty="0"/>
              <a:t>Surprisingly, we get </a:t>
            </a:r>
            <a:r>
              <a:rPr lang="en-US" b="1" dirty="0"/>
              <a:t>another comb</a:t>
            </a:r>
            <a:r>
              <a:rPr lang="en-US" dirty="0"/>
              <a:t> — this time in the frequency domain.</a:t>
            </a:r>
            <a:br>
              <a:rPr lang="en-US" dirty="0"/>
            </a:br>
            <a:r>
              <a:rPr lang="en-US" dirty="0"/>
              <a:t>But the spacing changes — instead of delta t, the spikes are now spaced by </a:t>
            </a:r>
            <a:r>
              <a:rPr lang="en-US" b="1" dirty="0"/>
              <a:t>1 over delta t</a:t>
            </a:r>
            <a:r>
              <a:rPr lang="en-US" dirty="0"/>
              <a:t>.</a:t>
            </a:r>
          </a:p>
          <a:p>
            <a:r>
              <a:rPr lang="en-US" dirty="0"/>
              <a:t>So if we sample more tightly in time, the frequency comb spreads out.</a:t>
            </a:r>
            <a:br>
              <a:rPr lang="en-US" dirty="0"/>
            </a:br>
            <a:r>
              <a:rPr lang="en-US" dirty="0"/>
              <a:t>And if we stretch out the spacing in time, the frequency spikes get closer together.</a:t>
            </a:r>
          </a:p>
          <a:p>
            <a:r>
              <a:rPr lang="en-US" dirty="0"/>
              <a:t>This is exactly the </a:t>
            </a:r>
            <a:r>
              <a:rPr lang="en-US" b="1" dirty="0"/>
              <a:t>scaling property</a:t>
            </a:r>
            <a:r>
              <a:rPr lang="en-US" dirty="0"/>
              <a:t> we saw earlier — a tight structure in one domain leads to a broad structure in the other.</a:t>
            </a:r>
          </a:p>
          <a:p>
            <a:endParaRPr lang="en-US" dirty="0"/>
          </a:p>
          <a:p>
            <a:r>
              <a:rPr lang="en-US" dirty="0"/>
              <a:t>Now you might be wondering — how do we handle all these delta functions?</a:t>
            </a:r>
            <a:br>
              <a:rPr lang="en-US" dirty="0"/>
            </a:br>
            <a:r>
              <a:rPr lang="en-US" dirty="0"/>
              <a:t>They’re not ordinary functions — they’re distributions or generalized functions.</a:t>
            </a:r>
            <a:br>
              <a:rPr lang="en-US" dirty="0"/>
            </a:br>
            <a:r>
              <a:rPr lang="en-US" dirty="0"/>
              <a:t>And we’re dealing with an infinite sum of them.</a:t>
            </a:r>
          </a:p>
          <a:p>
            <a:r>
              <a:rPr lang="en-US" dirty="0"/>
              <a:t>This touches on </a:t>
            </a:r>
            <a:r>
              <a:rPr lang="en-US" b="1" dirty="0"/>
              <a:t>deeper mathematics</a:t>
            </a:r>
            <a:r>
              <a:rPr lang="en-US" dirty="0"/>
              <a:t> — involving convergence and rigor — but for our purposes, this formula holds and is extremely useful.</a:t>
            </a:r>
            <a:br>
              <a:rPr lang="en-US" dirty="0"/>
            </a:br>
            <a:r>
              <a:rPr lang="en-US" dirty="0"/>
              <a:t>We’ll come back to this paired comb concept again in the next lecture, especially when we talk about sampling theory and the Fourier series.</a:t>
            </a:r>
          </a:p>
          <a:p>
            <a:endParaRPr lang="en-US" dirty="0"/>
          </a:p>
          <a:p>
            <a:r>
              <a:rPr lang="en-US" dirty="0"/>
              <a:t>So just remember:</a:t>
            </a:r>
            <a:br>
              <a:rPr lang="en-US" dirty="0"/>
            </a:br>
            <a:r>
              <a:rPr lang="en-US" b="1" dirty="0"/>
              <a:t>A comb in time transforms to a comb in frequency.</a:t>
            </a:r>
            <a:br>
              <a:rPr lang="en-US" dirty="0"/>
            </a:br>
            <a:r>
              <a:rPr lang="en-US" dirty="0"/>
              <a:t>And their spacing is inversely related — one over the other.</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29</a:t>
            </a:fld>
            <a:endParaRPr lang="en-US"/>
          </a:p>
        </p:txBody>
      </p:sp>
    </p:spTree>
    <p:extLst>
      <p:ext uri="{BB962C8B-B14F-4D97-AF65-F5344CB8AC3E}">
        <p14:creationId xmlns:p14="http://schemas.microsoft.com/office/powerpoint/2010/main" val="29813117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talk about one of the most powerful tools in the Fourier world — the </a:t>
            </a:r>
            <a:r>
              <a:rPr lang="en-US" b="1" dirty="0"/>
              <a:t>convolution theorem</a:t>
            </a:r>
            <a:r>
              <a:rPr lang="en-US" dirty="0"/>
              <a:t>.</a:t>
            </a:r>
          </a:p>
          <a:p>
            <a:endParaRPr lang="en-US" dirty="0"/>
          </a:p>
          <a:p>
            <a:r>
              <a:rPr lang="en-US" dirty="0"/>
              <a:t>In plain terms, the convolution theorem says this:</a:t>
            </a:r>
          </a:p>
          <a:p>
            <a:r>
              <a:rPr lang="en-US" dirty="0"/>
              <a:t>Convolution in the time domain becomes multiplication in the frequency domain.</a:t>
            </a:r>
          </a:p>
          <a:p>
            <a:endParaRPr lang="en-US" dirty="0"/>
          </a:p>
          <a:p>
            <a:r>
              <a:rPr lang="en-US" dirty="0"/>
              <a:t>Let me say that again, but clearly:</a:t>
            </a:r>
            <a:br>
              <a:rPr lang="en-US" dirty="0"/>
            </a:br>
            <a:r>
              <a:rPr lang="en-US" dirty="0"/>
              <a:t>If you have two functions — let’s call them </a:t>
            </a:r>
            <a:r>
              <a:rPr lang="en-US" b="1" dirty="0"/>
              <a:t>f of t</a:t>
            </a:r>
            <a:r>
              <a:rPr lang="en-US" dirty="0"/>
              <a:t> and </a:t>
            </a:r>
            <a:r>
              <a:rPr lang="en-US" b="1" dirty="0"/>
              <a:t>g of t</a:t>
            </a:r>
            <a:r>
              <a:rPr lang="en-US" dirty="0"/>
              <a:t> — and you convolve them together, then their Fourier transform is simply the product of their individual transforms.</a:t>
            </a:r>
          </a:p>
          <a:p>
            <a:r>
              <a:rPr lang="en-US" dirty="0"/>
              <a:t>So:</a:t>
            </a:r>
            <a:br>
              <a:rPr lang="en-US" dirty="0"/>
            </a:br>
            <a:r>
              <a:rPr lang="en-US" dirty="0"/>
              <a:t>If the Fourier transform of </a:t>
            </a:r>
            <a:r>
              <a:rPr lang="en-US" b="1" dirty="0"/>
              <a:t>f of t</a:t>
            </a:r>
            <a:r>
              <a:rPr lang="en-US" dirty="0"/>
              <a:t> is </a:t>
            </a:r>
            <a:r>
              <a:rPr lang="en-US" b="1" dirty="0"/>
              <a:t>capital F of s</a:t>
            </a:r>
            <a:r>
              <a:rPr lang="en-US" dirty="0"/>
              <a:t>,</a:t>
            </a:r>
            <a:br>
              <a:rPr lang="en-US" dirty="0"/>
            </a:br>
            <a:r>
              <a:rPr lang="en-US" dirty="0"/>
              <a:t>and the transform of </a:t>
            </a:r>
            <a:r>
              <a:rPr lang="en-US" b="1" dirty="0"/>
              <a:t>g of t</a:t>
            </a:r>
            <a:r>
              <a:rPr lang="en-US" dirty="0"/>
              <a:t> is </a:t>
            </a:r>
            <a:r>
              <a:rPr lang="en-US" b="1" dirty="0"/>
              <a:t>capital G of s</a:t>
            </a:r>
            <a:r>
              <a:rPr lang="en-US" dirty="0"/>
              <a:t>,</a:t>
            </a:r>
            <a:br>
              <a:rPr lang="en-US" dirty="0"/>
            </a:br>
            <a:r>
              <a:rPr lang="en-US" dirty="0"/>
              <a:t>then the transform of </a:t>
            </a:r>
            <a:r>
              <a:rPr lang="en-US" b="1" dirty="0"/>
              <a:t>f convolved with g</a:t>
            </a:r>
            <a:r>
              <a:rPr lang="en-US" dirty="0"/>
              <a:t> is </a:t>
            </a:r>
            <a:r>
              <a:rPr lang="en-US" b="1" dirty="0"/>
              <a:t>F of s times G of s</a:t>
            </a:r>
            <a:r>
              <a:rPr lang="en-US" dirty="0"/>
              <a:t>.</a:t>
            </a:r>
          </a:p>
          <a:p>
            <a:r>
              <a:rPr lang="en-US" dirty="0"/>
              <a:t>That’s the core idea.</a:t>
            </a:r>
          </a:p>
          <a:p>
            <a:endParaRPr lang="en-US" dirty="0"/>
          </a:p>
          <a:p>
            <a:r>
              <a:rPr lang="en-US" dirty="0"/>
              <a:t>Now why does this matter?</a:t>
            </a:r>
          </a:p>
          <a:p>
            <a:r>
              <a:rPr lang="en-US" dirty="0"/>
              <a:t>Because convolution — though useful — is often hard to compute directly.</a:t>
            </a:r>
            <a:br>
              <a:rPr lang="en-US" dirty="0"/>
            </a:br>
            <a:r>
              <a:rPr lang="en-US" dirty="0"/>
              <a:t>It involves flipping one function, shifting it, multiplying, and integrating. That’s a lot of work!</a:t>
            </a:r>
          </a:p>
          <a:p>
            <a:r>
              <a:rPr lang="en-US" dirty="0"/>
              <a:t>But thanks to this theorem, we can skip all that.</a:t>
            </a:r>
            <a:br>
              <a:rPr lang="en-US" dirty="0"/>
            </a:br>
            <a:r>
              <a:rPr lang="en-US" dirty="0"/>
              <a:t>Instead, we go to the frequency domain, multiply two functions — much simpler — and then just come back to the time domain using an inverse transform.</a:t>
            </a:r>
          </a:p>
          <a:p>
            <a:endParaRPr lang="en-US" dirty="0"/>
          </a:p>
          <a:p>
            <a:r>
              <a:rPr lang="en-US" dirty="0"/>
              <a:t>Let’s walk through a concrete example.</a:t>
            </a:r>
          </a:p>
          <a:p>
            <a:r>
              <a:rPr lang="en-US" dirty="0"/>
              <a:t>Think about a </a:t>
            </a:r>
            <a:r>
              <a:rPr lang="en-US" b="1" dirty="0"/>
              <a:t>gate function</a:t>
            </a:r>
            <a:r>
              <a:rPr lang="en-US" dirty="0"/>
              <a:t> — also called a rectangular pulse. Its Fourier transform is a </a:t>
            </a:r>
            <a:r>
              <a:rPr lang="en-US" b="1" dirty="0" err="1"/>
              <a:t>sinc</a:t>
            </a:r>
            <a:r>
              <a:rPr lang="en-US" b="1" dirty="0"/>
              <a:t> function</a:t>
            </a:r>
            <a:r>
              <a:rPr lang="en-US" dirty="0"/>
              <a:t> — which looks like a smooth wave with side ripples.</a:t>
            </a:r>
          </a:p>
          <a:p>
            <a:r>
              <a:rPr lang="en-US" dirty="0"/>
              <a:t>Now, if we take two gate functions and </a:t>
            </a:r>
            <a:r>
              <a:rPr lang="en-US" b="1" dirty="0"/>
              <a:t>convolve</a:t>
            </a:r>
            <a:r>
              <a:rPr lang="en-US" dirty="0"/>
              <a:t> them in time, we get a </a:t>
            </a:r>
            <a:r>
              <a:rPr lang="en-US" b="1" dirty="0"/>
              <a:t>triangle function</a:t>
            </a:r>
            <a:r>
              <a:rPr lang="en-US" dirty="0"/>
              <a:t>.</a:t>
            </a:r>
          </a:p>
          <a:p>
            <a:endParaRPr lang="en-US" dirty="0"/>
          </a:p>
          <a:p>
            <a:r>
              <a:rPr lang="en-US" dirty="0"/>
              <a:t>So what happens in the frequency domain?</a:t>
            </a:r>
          </a:p>
          <a:p>
            <a:r>
              <a:rPr lang="en-US" dirty="0"/>
              <a:t>Each gate becomes a </a:t>
            </a:r>
            <a:r>
              <a:rPr lang="en-US" dirty="0" err="1"/>
              <a:t>sinc</a:t>
            </a:r>
            <a:r>
              <a:rPr lang="en-US" dirty="0"/>
              <a:t> function. When we multiply the two </a:t>
            </a:r>
            <a:r>
              <a:rPr lang="en-US" dirty="0" err="1"/>
              <a:t>sinc</a:t>
            </a:r>
            <a:r>
              <a:rPr lang="en-US" dirty="0"/>
              <a:t> functions together, we get </a:t>
            </a:r>
            <a:r>
              <a:rPr lang="en-US" b="1" dirty="0" err="1"/>
              <a:t>sinc</a:t>
            </a:r>
            <a:r>
              <a:rPr lang="en-US" b="1" dirty="0"/>
              <a:t> squared</a:t>
            </a:r>
            <a:r>
              <a:rPr lang="en-US" dirty="0"/>
              <a:t>.</a:t>
            </a:r>
          </a:p>
          <a:p>
            <a:r>
              <a:rPr lang="en-US" dirty="0"/>
              <a:t>That is — </a:t>
            </a:r>
            <a:r>
              <a:rPr lang="en-US" dirty="0" err="1"/>
              <a:t>sinc</a:t>
            </a:r>
            <a:r>
              <a:rPr lang="en-US" dirty="0"/>
              <a:t> of s times </a:t>
            </a:r>
            <a:r>
              <a:rPr lang="en-US" dirty="0" err="1"/>
              <a:t>sinc</a:t>
            </a:r>
            <a:r>
              <a:rPr lang="en-US" dirty="0"/>
              <a:t> of s gives you </a:t>
            </a:r>
            <a:r>
              <a:rPr lang="en-US" dirty="0" err="1"/>
              <a:t>sinc</a:t>
            </a:r>
            <a:r>
              <a:rPr lang="en-US" dirty="0"/>
              <a:t> squared of s.</a:t>
            </a:r>
          </a:p>
          <a:p>
            <a:endParaRPr lang="en-US" dirty="0"/>
          </a:p>
          <a:p>
            <a:r>
              <a:rPr lang="en-US" dirty="0"/>
              <a:t>So the triangle function — which was a convolution of two gates — has a Fourier transform equal to </a:t>
            </a:r>
            <a:r>
              <a:rPr lang="en-US" dirty="0" err="1"/>
              <a:t>sinc</a:t>
            </a:r>
            <a:r>
              <a:rPr lang="en-US" dirty="0"/>
              <a:t> squared.</a:t>
            </a:r>
          </a:p>
          <a:p>
            <a:r>
              <a:rPr lang="en-US" dirty="0"/>
              <a:t>That’s a beautiful result, and it all comes from the convolution theorem.</a:t>
            </a:r>
          </a:p>
          <a:p>
            <a:r>
              <a:rPr lang="en-US" dirty="0"/>
              <a:t>It also shows how </a:t>
            </a:r>
            <a:r>
              <a:rPr lang="en-US" b="1" dirty="0"/>
              <a:t>Fourier analysis turns complicated operations into simpler ones</a:t>
            </a:r>
            <a:r>
              <a:rPr lang="en-US" dirty="0"/>
              <a:t>, especially in engineering, signal processing, and physics.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30</a:t>
            </a:fld>
            <a:endParaRPr lang="en-US"/>
          </a:p>
        </p:txBody>
      </p:sp>
    </p:spTree>
    <p:extLst>
      <p:ext uri="{BB962C8B-B14F-4D97-AF65-F5344CB8AC3E}">
        <p14:creationId xmlns:p14="http://schemas.microsoft.com/office/powerpoint/2010/main" val="5253555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take a moment to understand </a:t>
            </a:r>
            <a:r>
              <a:rPr lang="en-US" i="1" dirty="0"/>
              <a:t>why</a:t>
            </a:r>
            <a:r>
              <a:rPr lang="en-US" dirty="0"/>
              <a:t> the convolution theorem actually works. What’s the reasoning behind it?</a:t>
            </a:r>
          </a:p>
          <a:p>
            <a:r>
              <a:rPr lang="en-US" dirty="0"/>
              <a:t>So far, we've seen that the Fourier transform of the convolution of two functions — say, </a:t>
            </a:r>
            <a:r>
              <a:rPr lang="en-US" b="1" dirty="0"/>
              <a:t>f of t</a:t>
            </a:r>
            <a:r>
              <a:rPr lang="en-US" dirty="0"/>
              <a:t> and </a:t>
            </a:r>
            <a:r>
              <a:rPr lang="en-US" b="1" dirty="0"/>
              <a:t>g of t</a:t>
            </a:r>
            <a:r>
              <a:rPr lang="en-US" dirty="0"/>
              <a:t> — turns into a simple multiplication of their individual transforms. </a:t>
            </a:r>
          </a:p>
          <a:p>
            <a:endParaRPr lang="en-US" dirty="0"/>
          </a:p>
          <a:p>
            <a:r>
              <a:rPr lang="en-US" dirty="0"/>
              <a:t>But why is that true?</a:t>
            </a:r>
          </a:p>
          <a:p>
            <a:r>
              <a:rPr lang="en-US" dirty="0"/>
              <a:t>Let’s walk through the logic behind it, one step at a time.</a:t>
            </a:r>
          </a:p>
          <a:p>
            <a:r>
              <a:rPr lang="en-US" dirty="0"/>
              <a:t>We start with this:</a:t>
            </a:r>
            <a:br>
              <a:rPr lang="en-US" dirty="0"/>
            </a:br>
            <a:r>
              <a:rPr lang="en-US" dirty="0"/>
              <a:t>Multiply the Fourier transform of </a:t>
            </a:r>
            <a:r>
              <a:rPr lang="en-US" b="1" dirty="0"/>
              <a:t>f of t</a:t>
            </a:r>
            <a:r>
              <a:rPr lang="en-US" dirty="0"/>
              <a:t> by the Fourier transform of </a:t>
            </a:r>
            <a:r>
              <a:rPr lang="en-US" b="1" dirty="0"/>
              <a:t>g of t</a:t>
            </a:r>
            <a:r>
              <a:rPr lang="en-US" dirty="0"/>
              <a:t>. That means you're multiplying two integrals. One for </a:t>
            </a:r>
            <a:r>
              <a:rPr lang="en-US" b="1" dirty="0"/>
              <a:t>g of t</a:t>
            </a:r>
            <a:r>
              <a:rPr lang="en-US" dirty="0"/>
              <a:t> times a complex exponential, and the other for </a:t>
            </a:r>
            <a:r>
              <a:rPr lang="en-US" b="1" dirty="0"/>
              <a:t>f of x</a:t>
            </a:r>
            <a:r>
              <a:rPr lang="en-US" dirty="0"/>
              <a:t> times the same kind of exponential — but with a different variable.</a:t>
            </a:r>
          </a:p>
          <a:p>
            <a:r>
              <a:rPr lang="en-US" dirty="0"/>
              <a:t>To combine them, we use different dummy variables inside the integrals — like </a:t>
            </a:r>
            <a:r>
              <a:rPr lang="en-US" b="1" dirty="0"/>
              <a:t>t</a:t>
            </a:r>
            <a:r>
              <a:rPr lang="en-US" dirty="0"/>
              <a:t> in one and </a:t>
            </a:r>
            <a:r>
              <a:rPr lang="en-US" b="1" dirty="0"/>
              <a:t>x</a:t>
            </a:r>
            <a:r>
              <a:rPr lang="en-US" dirty="0"/>
              <a:t> in the other — so they don't interfere. Then we combine them into a double integral.</a:t>
            </a:r>
          </a:p>
          <a:p>
            <a:endParaRPr lang="en-US" dirty="0"/>
          </a:p>
          <a:p>
            <a:r>
              <a:rPr lang="en-US" dirty="0"/>
              <a:t>Now we group the exponential terms. The two exponentials become a single exponential with </a:t>
            </a:r>
            <a:r>
              <a:rPr lang="en-US" b="1" dirty="0"/>
              <a:t>t plus x</a:t>
            </a:r>
            <a:r>
              <a:rPr lang="en-US" dirty="0"/>
              <a:t> in the exponent.</a:t>
            </a:r>
          </a:p>
          <a:p>
            <a:r>
              <a:rPr lang="en-US" dirty="0"/>
              <a:t>This sets up our key trick: we change variables. In the inner integral, let’s say</a:t>
            </a:r>
            <a:br>
              <a:rPr lang="en-US" dirty="0"/>
            </a:br>
            <a:r>
              <a:rPr lang="en-US" b="1" dirty="0"/>
              <a:t>u equals t plus x</a:t>
            </a:r>
            <a:r>
              <a:rPr lang="en-US" dirty="0"/>
              <a:t>. That means </a:t>
            </a:r>
            <a:r>
              <a:rPr lang="en-US" b="1" dirty="0"/>
              <a:t>t equals u minus x</a:t>
            </a:r>
            <a:r>
              <a:rPr lang="en-US" dirty="0"/>
              <a:t>, and since we're just changing variables inside an integral, the limits stay the same.</a:t>
            </a:r>
          </a:p>
          <a:p>
            <a:r>
              <a:rPr lang="en-US" dirty="0"/>
              <a:t>So now, what used to be </a:t>
            </a:r>
            <a:r>
              <a:rPr lang="en-US" b="1" dirty="0"/>
              <a:t>g of t</a:t>
            </a:r>
            <a:r>
              <a:rPr lang="en-US" dirty="0"/>
              <a:t> becomes </a:t>
            </a:r>
            <a:r>
              <a:rPr lang="en-US" b="1" dirty="0"/>
              <a:t>g of u minus x</a:t>
            </a:r>
            <a:r>
              <a:rPr lang="en-US" dirty="0"/>
              <a:t>, and the exponential becomes a function of </a:t>
            </a:r>
            <a:r>
              <a:rPr lang="en-US" b="1" dirty="0"/>
              <a:t>u</a:t>
            </a:r>
            <a:r>
              <a:rPr lang="en-US" dirty="0"/>
              <a:t>. This lets us express the entire inside of the integral in terms of </a:t>
            </a:r>
            <a:r>
              <a:rPr lang="en-US" b="1" dirty="0"/>
              <a:t>u</a:t>
            </a:r>
            <a:r>
              <a:rPr lang="en-US" dirty="0"/>
              <a:t>, and </a:t>
            </a:r>
            <a:r>
              <a:rPr lang="en-US" b="1" dirty="0"/>
              <a:t>f of x</a:t>
            </a:r>
            <a:r>
              <a:rPr lang="en-US" dirty="0"/>
              <a:t> stays outside.</a:t>
            </a:r>
          </a:p>
          <a:p>
            <a:r>
              <a:rPr lang="en-US" dirty="0"/>
              <a:t>At this point, we switch the order of integration — that’s allowed because the functions we’re working with are well-behaved. So now we’re integrating over </a:t>
            </a:r>
            <a:r>
              <a:rPr lang="en-US" b="1" dirty="0"/>
              <a:t>u</a:t>
            </a:r>
            <a:r>
              <a:rPr lang="en-US" dirty="0"/>
              <a:t>, with </a:t>
            </a:r>
            <a:r>
              <a:rPr lang="en-US" b="1" dirty="0"/>
              <a:t>x</a:t>
            </a:r>
            <a:r>
              <a:rPr lang="en-US" dirty="0"/>
              <a:t> nested inside.</a:t>
            </a:r>
          </a:p>
          <a:p>
            <a:endParaRPr lang="en-US" dirty="0"/>
          </a:p>
          <a:p>
            <a:r>
              <a:rPr lang="en-US" dirty="0"/>
              <a:t>What you get in the end is this:</a:t>
            </a:r>
            <a:br>
              <a:rPr lang="en-US" dirty="0"/>
            </a:br>
            <a:r>
              <a:rPr lang="en-US" dirty="0"/>
              <a:t>You have </a:t>
            </a:r>
            <a:r>
              <a:rPr lang="en-US" b="1" dirty="0"/>
              <a:t>e to the power minus 2 pi </a:t>
            </a:r>
            <a:r>
              <a:rPr lang="en-US" b="1" dirty="0" err="1"/>
              <a:t>i</a:t>
            </a:r>
            <a:r>
              <a:rPr lang="en-US" b="1" dirty="0"/>
              <a:t> s  u</a:t>
            </a:r>
            <a:r>
              <a:rPr lang="en-US" dirty="0"/>
              <a:t> — that’s the same complex exponential from the Fourier formula — and it’s multiplied by the convolution of </a:t>
            </a:r>
            <a:r>
              <a:rPr lang="en-US" b="1" dirty="0"/>
              <a:t>g and f</a:t>
            </a:r>
            <a:r>
              <a:rPr lang="en-US" dirty="0"/>
              <a:t> at position </a:t>
            </a:r>
            <a:r>
              <a:rPr lang="en-US" b="1" dirty="0"/>
              <a:t>u</a:t>
            </a:r>
            <a:r>
              <a:rPr lang="en-US" dirty="0"/>
              <a:t>.</a:t>
            </a:r>
          </a:p>
          <a:p>
            <a:r>
              <a:rPr lang="en-US" dirty="0"/>
              <a:t>That’s the key. The inner integral has now become the </a:t>
            </a:r>
            <a:r>
              <a:rPr lang="en-US" b="1" dirty="0"/>
              <a:t>convolution of g and f</a:t>
            </a:r>
            <a:r>
              <a:rPr lang="en-US" dirty="0"/>
              <a:t>, evaluated at </a:t>
            </a:r>
            <a:r>
              <a:rPr lang="en-US" b="1" dirty="0"/>
              <a:t>u</a:t>
            </a:r>
            <a:r>
              <a:rPr lang="en-US" dirty="0"/>
              <a:t>.</a:t>
            </a:r>
          </a:p>
          <a:p>
            <a:r>
              <a:rPr lang="en-US" dirty="0"/>
              <a:t>So finally, this whole thing is just the Fourier transform of that convolution.</a:t>
            </a:r>
          </a:p>
          <a:p>
            <a:r>
              <a:rPr lang="en-US" dirty="0"/>
              <a:t>That’s the magic of it.</a:t>
            </a:r>
            <a:br>
              <a:rPr lang="en-US" dirty="0"/>
            </a:br>
            <a:endParaRPr lang="en-US" dirty="0"/>
          </a:p>
          <a:p>
            <a:r>
              <a:rPr lang="en-US" dirty="0"/>
              <a:t>Multiplication in the Fourier domain really does correspond to convolution in the time domain — and now you’ve seen where it comes from.</a:t>
            </a:r>
          </a:p>
          <a:p>
            <a:r>
              <a:rPr lang="en-US" dirty="0"/>
              <a:t>Of course, these steps are dense, and I encourage you to go over them again slowly. Grab a coffee, sit back, and follow the substitutions. Each step follows cleanly from the last — and the full picture is quite elegant.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31</a:t>
            </a:fld>
            <a:endParaRPr lang="en-US"/>
          </a:p>
        </p:txBody>
      </p:sp>
    </p:spTree>
    <p:extLst>
      <p:ext uri="{BB962C8B-B14F-4D97-AF65-F5344CB8AC3E}">
        <p14:creationId xmlns:p14="http://schemas.microsoft.com/office/powerpoint/2010/main" val="35442899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take a step back and ask—why is convolution in the time domain equivalent to multiplication in the frequency domain?</a:t>
            </a:r>
          </a:p>
          <a:p>
            <a:endParaRPr lang="en-US" dirty="0"/>
          </a:p>
          <a:p>
            <a:r>
              <a:rPr lang="en-US" dirty="0"/>
              <a:t>To understand this, let’s think about a shift-invariant linear system. If you feed a sinusoidal signal into such a system, the output will also be sinusoidal. And—here’s the key—it will be at the </a:t>
            </a:r>
            <a:r>
              <a:rPr lang="en-US" i="1" dirty="0"/>
              <a:t>same frequency</a:t>
            </a:r>
            <a:r>
              <a:rPr lang="en-US" dirty="0"/>
              <a:t>. The system might change the amplitude or the phase, but it doesn’t generate new frequencies. That’s the hallmark of a shift-invariant, or time-invariant, linear system.</a:t>
            </a:r>
          </a:p>
          <a:p>
            <a:r>
              <a:rPr lang="en-US" dirty="0"/>
              <a:t>This leads to a deep and beautiful conclusion. If sinusoidal signals are preserved in shape and frequency, then the effect of the system on each frequency component can be described by a single number—just a scaling factor that depends on frequency.</a:t>
            </a:r>
          </a:p>
          <a:p>
            <a:endParaRPr lang="en-US" dirty="0"/>
          </a:p>
          <a:p>
            <a:r>
              <a:rPr lang="en-US" dirty="0"/>
              <a:t>So, imagine you take any general signal, and you decompose it into a sum of sinusoidal components. The system acts on each component individually, scaling each one by a different amount. That’s exactly what multiplication looks like in the Fourier domain. Each frequency is being multiplied by its own gain factor.</a:t>
            </a:r>
          </a:p>
          <a:p>
            <a:r>
              <a:rPr lang="en-US" dirty="0"/>
              <a:t>That’s why convolution in the time domain turns into multiplication in the frequency domain.</a:t>
            </a:r>
          </a:p>
          <a:p>
            <a:endParaRPr lang="en-US" dirty="0"/>
          </a:p>
          <a:p>
            <a:r>
              <a:rPr lang="en-US" dirty="0"/>
              <a:t>Now, here's something important: this only works because of that special property of sinusoids. Among all functions, only sinusoids maintain their shape when passing through a shift-invariant linear system. Delta functions, for instance, don’t behave that way—they get transformed into something entirely different. But a cosine remains a cosine. A sine remains a sine. Just possibly scaled or phase-shifted.</a:t>
            </a:r>
          </a:p>
          <a:p>
            <a:r>
              <a:rPr lang="en-US" dirty="0"/>
              <a:t>And this is what makes the Fourier transform so unique. It’s the only transform for which the convolution theorem holds—because only sinusoids have this invariance.</a:t>
            </a:r>
          </a:p>
          <a:p>
            <a:endParaRPr lang="en-US" dirty="0"/>
          </a:p>
          <a:p>
            <a:r>
              <a:rPr lang="en-US" dirty="0"/>
              <a:t>You might wonder—could we define a similar convolution theorem using other transforms, like wavelet transforms or Hadamard transforms? The answer is no. Those basis functions don’t have this shape-preserving property under linear shift-invariant systems. So the convolution theorem doesn’t hold for them.</a:t>
            </a:r>
          </a:p>
          <a:p>
            <a:endParaRPr lang="en-US" dirty="0"/>
          </a:p>
          <a:p>
            <a:r>
              <a:rPr lang="en-US" dirty="0"/>
              <a:t>Now if you’re curious, you can actually find some advanced papers on this. Try searching for “characterization of the convolution theorem.” You’ll find rigorous mathematical proofs that ultimately say the same thing: the convolution theorem is special to the Fourier transform.</a:t>
            </a:r>
          </a:p>
          <a:p>
            <a:r>
              <a:rPr lang="en-US" dirty="0"/>
              <a:t>But you don’t need pages of math to get the intuition. If a function keeps its shape through a system, and we can describe the system’s effect with a frequency-dependent multiplier, then that’s multiplication in the Fourier domain.</a:t>
            </a:r>
          </a:p>
          <a:p>
            <a:r>
              <a:rPr lang="en-US" dirty="0"/>
              <a:t>And if you're passionate about the math behind this, you could even write a short paper exploring this idea. I'd be happy to discuss it with you.</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32</a:t>
            </a:fld>
            <a:endParaRPr lang="en-US"/>
          </a:p>
        </p:txBody>
      </p:sp>
    </p:spTree>
    <p:extLst>
      <p:ext uri="{BB962C8B-B14F-4D97-AF65-F5344CB8AC3E}">
        <p14:creationId xmlns:p14="http://schemas.microsoft.com/office/powerpoint/2010/main" val="22908582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another important result in Fourier analysis — </a:t>
            </a:r>
            <a:r>
              <a:rPr lang="en-US" b="1" dirty="0"/>
              <a:t>Parseval’s Identity</a:t>
            </a:r>
            <a:r>
              <a:rPr lang="en-US" dirty="0"/>
              <a:t>.</a:t>
            </a:r>
          </a:p>
          <a:p>
            <a:endParaRPr lang="en-US" dirty="0"/>
          </a:p>
          <a:p>
            <a:r>
              <a:rPr lang="en-US" dirty="0"/>
              <a:t>This identity says that the total energy of a signal, when measured in the time domain, is exactly equal to the total energy in the frequency domain. Mathematically, it's written as:</a:t>
            </a:r>
            <a:br>
              <a:rPr lang="en-US" dirty="0"/>
            </a:br>
            <a:r>
              <a:rPr lang="en-US" dirty="0"/>
              <a:t>the integral of the square of the function f of t over all time, equals the integral of the square of its Fourier transform — f hat of s — over all frequencies.</a:t>
            </a:r>
          </a:p>
          <a:p>
            <a:r>
              <a:rPr lang="en-US" dirty="0"/>
              <a:t>Let me give you some intuition here.</a:t>
            </a:r>
          </a:p>
          <a:p>
            <a:endParaRPr lang="en-US" dirty="0"/>
          </a:p>
          <a:p>
            <a:r>
              <a:rPr lang="en-US" dirty="0"/>
              <a:t>Suppose you have a function, maybe it’s an electric signal or a sound wave. In the time domain, the quantity f of t squared represents the </a:t>
            </a:r>
            <a:r>
              <a:rPr lang="en-US" b="1" dirty="0"/>
              <a:t>power</a:t>
            </a:r>
            <a:r>
              <a:rPr lang="en-US" dirty="0"/>
              <a:t> of that signal at each instant. When you integrate this over time, you’re summing up all that power — you get the </a:t>
            </a:r>
            <a:r>
              <a:rPr lang="en-US" b="1" dirty="0"/>
              <a:t>total energy</a:t>
            </a:r>
            <a:r>
              <a:rPr lang="en-US" dirty="0"/>
              <a:t>.</a:t>
            </a:r>
          </a:p>
          <a:p>
            <a:r>
              <a:rPr lang="en-US" dirty="0"/>
              <a:t>Now, that same signal can be broken down into its frequency components using the Fourier transform. In that domain, each component has an amplitude, and squaring that amplitude gives you the energy associated with that frequency. Integrating over all frequencies gives you the total energy — again.</a:t>
            </a:r>
          </a:p>
          <a:p>
            <a:endParaRPr lang="en-US" dirty="0"/>
          </a:p>
          <a:p>
            <a:r>
              <a:rPr lang="en-US" dirty="0"/>
              <a:t>So Parseval’s Identity tells us something very beautiful: </a:t>
            </a:r>
            <a:r>
              <a:rPr lang="en-US" b="1" dirty="0"/>
              <a:t>energy is conserved between the time domain and the frequency domain</a:t>
            </a:r>
            <a:r>
              <a:rPr lang="en-US" dirty="0"/>
              <a:t>.</a:t>
            </a:r>
          </a:p>
          <a:p>
            <a:r>
              <a:rPr lang="en-US" dirty="0"/>
              <a:t>This has a strong connection to what you learned in physics. Think about alternating current. If you have a sinusoidal current flowing through a resistor, the instantaneous power is proportional to the current squared. And when you integrate that over time, you get the total energy consumed by the resistor.</a:t>
            </a:r>
          </a:p>
          <a:p>
            <a:endParaRPr lang="en-US" dirty="0"/>
          </a:p>
          <a:p>
            <a:r>
              <a:rPr lang="en-US" dirty="0"/>
              <a:t>Now, from a geometric perspective, you can think of f of t as a vector in an infinite-dimensional space. That sounds abstract, but it’s just like a regular vector — except with infinitely many components. And the length of this vector is found by summing up the square of each component — just like in ordinary geometry.</a:t>
            </a:r>
          </a:p>
          <a:p>
            <a:endParaRPr lang="en-US" dirty="0"/>
          </a:p>
          <a:p>
            <a:r>
              <a:rPr lang="en-US" dirty="0"/>
              <a:t>The Fourier transform is a kind of coordinate transformation — like a rotation of the space. So when we go from the time domain to the frequency domain, we’re rotating the vector. But that doesn’t change its length. So geometrically, Parseval’s Identity simply says: </a:t>
            </a:r>
            <a:r>
              <a:rPr lang="en-US" b="1" dirty="0"/>
              <a:t>the length of the signal vector is preserved under the Fourier transform</a:t>
            </a:r>
            <a:r>
              <a:rPr lang="en-US" dirty="0"/>
              <a:t>.</a:t>
            </a:r>
          </a:p>
          <a:p>
            <a:r>
              <a:rPr lang="en-US" dirty="0"/>
              <a:t>You can also prove this identity using standard calculus and the definition of the Fourier transform. And yes, that’s a good exercise. But I want you to also grasp the meaning behind it.</a:t>
            </a:r>
          </a:p>
          <a:p>
            <a:endParaRPr lang="en-US" dirty="0"/>
          </a:p>
          <a:p>
            <a:r>
              <a:rPr lang="en-US" dirty="0"/>
              <a:t>So next time you see this identity, remember — it’s not just a formula. It tells you that energy, or vector length, is preserved when moving between the time and frequency domains. And that is both physically and mathematically very powerful.</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33</a:t>
            </a:fld>
            <a:endParaRPr lang="en-US"/>
          </a:p>
        </p:txBody>
      </p:sp>
    </p:spTree>
    <p:extLst>
      <p:ext uri="{BB962C8B-B14F-4D97-AF65-F5344CB8AC3E}">
        <p14:creationId xmlns:p14="http://schemas.microsoft.com/office/powerpoint/2010/main" val="2637613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we’ve been talking about transformations in one dimension — mainly between time and frequency using the Fourier transform. But to truly understand what's going on, it helps to think geometrically.</a:t>
            </a:r>
          </a:p>
          <a:p>
            <a:r>
              <a:rPr lang="en-US" dirty="0"/>
              <a:t>Let’s start with something more familiar — a simple two-dimensional rotation.</a:t>
            </a:r>
          </a:p>
          <a:p>
            <a:endParaRPr lang="en-US" dirty="0"/>
          </a:p>
          <a:p>
            <a:r>
              <a:rPr lang="en-US" dirty="0"/>
              <a:t>Imagine we have a point in the 2D plane, described by coordinates x and y in a standard X Y coordinate system. Now, suppose we want to express this same point in a new coordinate system, X-prime and Y-prime, which is rotated by some angle phi from the original axes.</a:t>
            </a:r>
          </a:p>
          <a:p>
            <a:r>
              <a:rPr lang="en-US" dirty="0"/>
              <a:t>As the diagram shows, the new coordinates — x-prime and y-prime — can be computed from the original ones using the rotation formulas.</a:t>
            </a:r>
          </a:p>
          <a:p>
            <a:endParaRPr lang="en-US" dirty="0"/>
          </a:p>
          <a:p>
            <a:r>
              <a:rPr lang="en-US" dirty="0"/>
              <a:t>So x-prime equals x times cosine phi plus y times sine phi,</a:t>
            </a:r>
            <a:br>
              <a:rPr lang="en-US" dirty="0"/>
            </a:br>
            <a:r>
              <a:rPr lang="en-US" dirty="0"/>
              <a:t>and y-prime equals negative x times sine phi plus y times cosine phi.</a:t>
            </a:r>
          </a:p>
          <a:p>
            <a:r>
              <a:rPr lang="en-US" dirty="0"/>
              <a:t>You can also write this transformation in matrix form. It’s a simple 2-by-2 rotation matrix.</a:t>
            </a:r>
          </a:p>
          <a:p>
            <a:r>
              <a:rPr lang="en-US" dirty="0"/>
              <a:t>Now why is this relevant?</a:t>
            </a:r>
          </a:p>
          <a:p>
            <a:endParaRPr lang="en-US" dirty="0"/>
          </a:p>
          <a:p>
            <a:r>
              <a:rPr lang="en-US" dirty="0"/>
              <a:t>Because this kind of rotation is a basic example of an </a:t>
            </a:r>
            <a:r>
              <a:rPr lang="en-US" b="1" dirty="0"/>
              <a:t>orthonormal transformation,</a:t>
            </a:r>
            <a:r>
              <a:rPr lang="en-US" dirty="0"/>
              <a:t> just like the Fourier transform. When we rotate the coordinate system, we’re not changing the length of the vector — we’re just viewing it from a different angle. The structure stays the same, just expressed differently.</a:t>
            </a:r>
          </a:p>
          <a:p>
            <a:endParaRPr lang="en-US" dirty="0"/>
          </a:p>
          <a:p>
            <a:r>
              <a:rPr lang="en-US" dirty="0"/>
              <a:t>This gives us a visual and intuitive way to think about more abstract transformations. In higher dimensions — or even infinite dimensions — the concept is similar. We’re taking a function, representing it in a new coordinate system, and the transformation preserves important properties like length and energy.</a:t>
            </a:r>
          </a:p>
          <a:p>
            <a:endParaRPr lang="en-US" dirty="0"/>
          </a:p>
          <a:p>
            <a:r>
              <a:rPr lang="en-US" dirty="0"/>
              <a:t>That’s why understanding this simple 2D rotation helps us better appreciate what the Fourier transform is doing. It’s not magic — it’s geometry, just in a much bigger space.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34</a:t>
            </a:fld>
            <a:endParaRPr lang="en-US"/>
          </a:p>
        </p:txBody>
      </p:sp>
    </p:spTree>
    <p:extLst>
      <p:ext uri="{BB962C8B-B14F-4D97-AF65-F5344CB8AC3E}">
        <p14:creationId xmlns:p14="http://schemas.microsoft.com/office/powerpoint/2010/main" val="33106597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the Fourier transform in one dimension, let’s take it a step further — to two dimensions.</a:t>
            </a:r>
          </a:p>
          <a:p>
            <a:endParaRPr lang="en-US" dirty="0"/>
          </a:p>
          <a:p>
            <a:r>
              <a:rPr lang="en-US" dirty="0"/>
              <a:t>Just like in the 1D case, the idea is to take a function — in this case, a function of two variables, x and y — and express it in terms of its frequency content. But instead of waves traveling along a line, now we’re dealing with wave patterns that extend in all directions across a plane.</a:t>
            </a:r>
          </a:p>
          <a:p>
            <a:endParaRPr lang="en-US" dirty="0"/>
          </a:p>
          <a:p>
            <a:r>
              <a:rPr lang="en-US" dirty="0"/>
              <a:t>The 2D Fourier transform lets us analyze how these wave components — traveling in the x direction, the y direction, or even diagonally — contribute to the overall structure of the signal or image.</a:t>
            </a:r>
          </a:p>
          <a:p>
            <a:r>
              <a:rPr lang="en-US" dirty="0"/>
              <a:t>The formula here tells us how to compute the 2D Fourier transform. The function f of x and y is transformed into capital F of u and v, where u and v represent the spatial frequencies in the horizontal and vertical directions.</a:t>
            </a:r>
          </a:p>
          <a:p>
            <a:r>
              <a:rPr lang="en-US" dirty="0"/>
              <a:t>And just like before, there’s an inverse formula that lets us go back from the frequency domain to the original spatial domain.</a:t>
            </a:r>
          </a:p>
          <a:p>
            <a:r>
              <a:rPr lang="en-US" dirty="0"/>
              <a:t>Now, why is this so useful?</a:t>
            </a:r>
          </a:p>
          <a:p>
            <a:endParaRPr lang="en-US" dirty="0"/>
          </a:p>
          <a:p>
            <a:r>
              <a:rPr lang="en-US" dirty="0"/>
              <a:t>Because in many real-world applications — like medical imaging, computer vision, or signal processing — we deal with 2D data. Think of an image, for example. Each pixel represents a value at some x and y location. When we apply the 2D Fourier transform, we can analyze the texture, orientation, and frequency content of that image.</a:t>
            </a:r>
          </a:p>
          <a:p>
            <a:endParaRPr lang="en-US" dirty="0"/>
          </a:p>
          <a:p>
            <a:r>
              <a:rPr lang="en-US" dirty="0"/>
              <a:t>On the left side of the slide, we see a simple geometric object — like a bar. On the right is its 2D Fourier spectrum. Notice how the orientation of the object affects the direction of the frequency response.</a:t>
            </a:r>
          </a:p>
          <a:p>
            <a:r>
              <a:rPr lang="en-US" dirty="0"/>
              <a:t>So just like in one dimension, we’re decomposing a complex signal into simpler, sinusoidal components — but now in two dimensions. And that opens up a whole new world of possibilities.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35</a:t>
            </a:fld>
            <a:endParaRPr lang="en-US"/>
          </a:p>
        </p:txBody>
      </p:sp>
    </p:spTree>
    <p:extLst>
      <p:ext uri="{BB962C8B-B14F-4D97-AF65-F5344CB8AC3E}">
        <p14:creationId xmlns:p14="http://schemas.microsoft.com/office/powerpoint/2010/main" val="26774386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look at a powerful application of the 2D Fourier transform — </a:t>
            </a:r>
            <a:r>
              <a:rPr lang="en-US" b="1" dirty="0"/>
              <a:t>noise suppression</a:t>
            </a:r>
            <a:r>
              <a:rPr lang="en-US" dirty="0"/>
              <a:t>.</a:t>
            </a:r>
          </a:p>
          <a:p>
            <a:r>
              <a:rPr lang="en-US" dirty="0"/>
              <a:t>Take a look at the image on the left. It’s a noisy version of a familiar test image — lots of random graininess, especially in the background and darker areas.</a:t>
            </a:r>
          </a:p>
          <a:p>
            <a:endParaRPr lang="en-US" dirty="0"/>
          </a:p>
          <a:p>
            <a:r>
              <a:rPr lang="en-US" dirty="0"/>
              <a:t>Now, if we perform a 2D Fourier transform — which we indicate here by "F T" — we move from the spatial domain to the frequency domain. The result is this bottom-left image, which shows the frequency spectrum of the noisy image.</a:t>
            </a:r>
          </a:p>
          <a:p>
            <a:r>
              <a:rPr lang="en-US" dirty="0"/>
              <a:t>Notice something important: most of the meaningful image information is concentrated around the center, which corresponds to the low-frequency components. But the noise is spread out — especially toward the edges — as high-frequency speckles.</a:t>
            </a:r>
          </a:p>
          <a:p>
            <a:r>
              <a:rPr lang="en-US" dirty="0"/>
              <a:t>And this gives us an idea.</a:t>
            </a:r>
          </a:p>
          <a:p>
            <a:endParaRPr lang="en-US" dirty="0"/>
          </a:p>
          <a:p>
            <a:r>
              <a:rPr lang="en-US" dirty="0"/>
              <a:t>What if we simply suppress or remove those high-frequency components? That’s what we’re doing on the bottom-right: we apply a mask — setting the noisy high-frequency regions to zero, while keeping only the central, low-frequency region.</a:t>
            </a:r>
          </a:p>
          <a:p>
            <a:endParaRPr lang="en-US" dirty="0"/>
          </a:p>
          <a:p>
            <a:r>
              <a:rPr lang="en-US" dirty="0"/>
              <a:t>Then we perform the inverse Fourier transform — marked here as "I F T" — to convert back to the spatial domain.</a:t>
            </a:r>
          </a:p>
          <a:p>
            <a:r>
              <a:rPr lang="en-US" dirty="0"/>
              <a:t>And just like that, we get a much cleaner version of the original image. Most of the noise is gone, and the essential structure is preserved.</a:t>
            </a:r>
          </a:p>
          <a:p>
            <a:r>
              <a:rPr lang="en-US" dirty="0"/>
              <a:t>This is one of the key strengths of working in the frequency domain. Certain operations — like filtering or noise removal — can be done more easily, more effectively, and sometimes more intuitively after transformation.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36</a:t>
            </a:fld>
            <a:endParaRPr lang="en-US"/>
          </a:p>
        </p:txBody>
      </p:sp>
    </p:spTree>
    <p:extLst>
      <p:ext uri="{BB962C8B-B14F-4D97-AF65-F5344CB8AC3E}">
        <p14:creationId xmlns:p14="http://schemas.microsoft.com/office/powerpoint/2010/main" val="31636404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this a step further and look at </a:t>
            </a:r>
            <a:r>
              <a:rPr lang="en-US" b="1" dirty="0"/>
              <a:t>low-pass and high-pass filtering</a:t>
            </a:r>
            <a:r>
              <a:rPr lang="en-US" dirty="0"/>
              <a:t> using the Fourier transform.</a:t>
            </a:r>
          </a:p>
          <a:p>
            <a:endParaRPr lang="en-US" dirty="0"/>
          </a:p>
          <a:p>
            <a:r>
              <a:rPr lang="en-US" dirty="0"/>
              <a:t>Start with the image on the far left — this is our original image of a building. Below it, you see the corresponding frequency spectrum. It contains both low-frequency components, which encode smooth variations like brightness and shading, and high-frequency components, which capture edges and fine details.</a:t>
            </a:r>
          </a:p>
          <a:p>
            <a:endParaRPr lang="en-US" dirty="0"/>
          </a:p>
          <a:p>
            <a:r>
              <a:rPr lang="en-US" dirty="0"/>
              <a:t>Now look at the middle column.</a:t>
            </a:r>
          </a:p>
          <a:p>
            <a:r>
              <a:rPr lang="en-US" dirty="0"/>
              <a:t>Here, we’ve applied a </a:t>
            </a:r>
            <a:r>
              <a:rPr lang="en-US" b="1" dirty="0"/>
              <a:t>low-pass filter</a:t>
            </a:r>
            <a:r>
              <a:rPr lang="en-US" dirty="0"/>
              <a:t>. That means we kept only the low-frequency components — those near the center of the Fourier spectrum — and removed the rest. You can see the filtered spectrum just below. The result, shown in the middle image above, is a smoothed version of the original — the fine details are gone, and only the broad, soft structures remain.</a:t>
            </a:r>
          </a:p>
          <a:p>
            <a:endParaRPr lang="en-US" dirty="0"/>
          </a:p>
          <a:p>
            <a:r>
              <a:rPr lang="en-US" dirty="0"/>
              <a:t>Next, we move to the rightmost column.</a:t>
            </a:r>
          </a:p>
          <a:p>
            <a:r>
              <a:rPr lang="en-US" dirty="0"/>
              <a:t>This time we’ve done the opposite. We removed the low frequencies and kept only a selected band of </a:t>
            </a:r>
            <a:r>
              <a:rPr lang="en-US" b="1" dirty="0"/>
              <a:t>high-frequency components</a:t>
            </a:r>
            <a:r>
              <a:rPr lang="en-US" dirty="0"/>
              <a:t>. You can see that in the frequency plot — a ring where the center is zeroed out. The corresponding spatial image above now reveals only the </a:t>
            </a:r>
            <a:r>
              <a:rPr lang="en-US" b="1" dirty="0"/>
              <a:t>edges</a:t>
            </a:r>
            <a:r>
              <a:rPr lang="en-US" dirty="0"/>
              <a:t> — the sharp transitions in intensity.</a:t>
            </a:r>
          </a:p>
          <a:p>
            <a:r>
              <a:rPr lang="en-US" dirty="0"/>
              <a:t>So by simply choosing which frequency bands to preserve or remove, we can control the kind of information we keep — soft versus sharp, background versus boundary.</a:t>
            </a:r>
          </a:p>
          <a:p>
            <a:endParaRPr lang="en-US" dirty="0"/>
          </a:p>
          <a:p>
            <a:r>
              <a:rPr lang="en-US" dirty="0"/>
              <a:t>This is another powerful reason why we often work in the frequency domain — filtering becomes intuitive and flexible.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37</a:t>
            </a:fld>
            <a:endParaRPr lang="en-US"/>
          </a:p>
        </p:txBody>
      </p:sp>
    </p:spTree>
    <p:extLst>
      <p:ext uri="{BB962C8B-B14F-4D97-AF65-F5344CB8AC3E}">
        <p14:creationId xmlns:p14="http://schemas.microsoft.com/office/powerpoint/2010/main" val="23921077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walk through an important example: the two-dimensional </a:t>
            </a:r>
            <a:r>
              <a:rPr lang="en-US" b="1" dirty="0"/>
              <a:t>rectangle function</a:t>
            </a:r>
            <a:r>
              <a:rPr lang="en-US" dirty="0"/>
              <a:t>, centered at the origin, with side lengths </a:t>
            </a:r>
            <a:r>
              <a:rPr lang="en-US" b="1" dirty="0"/>
              <a:t>X</a:t>
            </a:r>
            <a:r>
              <a:rPr lang="en-US" dirty="0"/>
              <a:t> and </a:t>
            </a:r>
            <a:r>
              <a:rPr lang="en-US" b="1" dirty="0"/>
              <a:t>Y</a:t>
            </a:r>
            <a:r>
              <a:rPr lang="en-US" dirty="0"/>
              <a:t>.</a:t>
            </a:r>
          </a:p>
          <a:p>
            <a:endParaRPr lang="en-US" dirty="0"/>
          </a:p>
          <a:p>
            <a:r>
              <a:rPr lang="en-US" dirty="0"/>
              <a:t>This function is quite simple in the spatial domain — it's just a bright rectangular block surrounded by zeros. But when we take its </a:t>
            </a:r>
            <a:r>
              <a:rPr lang="en-US" b="1" dirty="0"/>
              <a:t>2D Fourier transform</a:t>
            </a:r>
            <a:r>
              <a:rPr lang="en-US" dirty="0"/>
              <a:t>, something fascinating happens.</a:t>
            </a:r>
          </a:p>
          <a:p>
            <a:r>
              <a:rPr lang="en-US" dirty="0"/>
              <a:t>The resulting function in the frequency domain is a product of two </a:t>
            </a:r>
            <a:r>
              <a:rPr lang="en-US" dirty="0" err="1"/>
              <a:t>sinc</a:t>
            </a:r>
            <a:r>
              <a:rPr lang="en-US" dirty="0"/>
              <a:t> functions — one in the </a:t>
            </a:r>
            <a:r>
              <a:rPr lang="en-US" b="1" dirty="0"/>
              <a:t>u</a:t>
            </a:r>
            <a:r>
              <a:rPr lang="en-US" dirty="0"/>
              <a:t> direction and one in the </a:t>
            </a:r>
            <a:r>
              <a:rPr lang="en-US" b="1" dirty="0"/>
              <a:t>v</a:t>
            </a:r>
            <a:r>
              <a:rPr lang="en-US" dirty="0"/>
              <a:t> direction. And remember, </a:t>
            </a:r>
            <a:r>
              <a:rPr lang="en-US" dirty="0" err="1"/>
              <a:t>sinc</a:t>
            </a:r>
            <a:r>
              <a:rPr lang="en-US" dirty="0"/>
              <a:t> functions come from the Fourier transform of a box function in one dimension. So when we go to two dimensions, the result is just a multiplication of two of them — one along each axis.</a:t>
            </a:r>
          </a:p>
          <a:p>
            <a:endParaRPr lang="en-US" dirty="0"/>
          </a:p>
          <a:p>
            <a:r>
              <a:rPr lang="en-US" dirty="0"/>
              <a:t>You can see this result visualized in the bottom right. There's a sharp peak in the center — that’s the low-frequency content — and then it decays with oscillations outward, characteristic of </a:t>
            </a:r>
            <a:r>
              <a:rPr lang="en-US" dirty="0" err="1"/>
              <a:t>sinc</a:t>
            </a:r>
            <a:r>
              <a:rPr lang="en-US" dirty="0"/>
              <a:t> behavior.</a:t>
            </a:r>
          </a:p>
          <a:p>
            <a:endParaRPr lang="en-US" dirty="0"/>
          </a:p>
          <a:p>
            <a:r>
              <a:rPr lang="en-US" dirty="0"/>
              <a:t>Now here’s something more interesting: when we move into </a:t>
            </a:r>
            <a:r>
              <a:rPr lang="en-US" b="1" dirty="0"/>
              <a:t>higher dimensions</a:t>
            </a:r>
            <a:r>
              <a:rPr lang="en-US" dirty="0"/>
              <a:t>, something new becomes possible — </a:t>
            </a:r>
            <a:r>
              <a:rPr lang="en-US" b="1" dirty="0"/>
              <a:t>rotation</a:t>
            </a:r>
            <a:r>
              <a:rPr lang="en-US" dirty="0"/>
              <a:t>. In 1D, you can only flip a signal left or right, but there's no true concept of rotation. However, in 2D or 3D, you can rotate the object, and that rotation affects the frequency domain in a meaningful way.</a:t>
            </a:r>
          </a:p>
          <a:p>
            <a:r>
              <a:rPr lang="en-US" dirty="0"/>
              <a:t>This rotational property is one of the key advantages of analyzing signals in higher dimensions. It allows us to understand and manipulate how orientation in space translates into patterns in frequency.</a:t>
            </a:r>
          </a:p>
          <a:p>
            <a:endParaRPr lang="en-US" dirty="0"/>
          </a:p>
          <a:p>
            <a:r>
              <a:rPr lang="en-US" dirty="0"/>
              <a:t>So this simple example — a rectangular function — gives us a powerful insight into the structure of Fourier transforms in two dimensions.</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38</a:t>
            </a:fld>
            <a:endParaRPr lang="en-US"/>
          </a:p>
        </p:txBody>
      </p:sp>
    </p:spTree>
    <p:extLst>
      <p:ext uri="{BB962C8B-B14F-4D97-AF65-F5344CB8AC3E}">
        <p14:creationId xmlns:p14="http://schemas.microsoft.com/office/powerpoint/2010/main" val="8320093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something elegant and powerful — the </a:t>
            </a:r>
            <a:r>
              <a:rPr lang="en-US" b="1" dirty="0"/>
              <a:t>rotation property</a:t>
            </a:r>
            <a:r>
              <a:rPr lang="en-US" dirty="0"/>
              <a:t> of the Fourier transform.</a:t>
            </a:r>
          </a:p>
          <a:p>
            <a:endParaRPr lang="en-US" dirty="0"/>
          </a:p>
          <a:p>
            <a:r>
              <a:rPr lang="en-US" dirty="0"/>
              <a:t>Here’s the idea: if you rotate a two-dimensional function in space, then its Fourier transform also rotates — by the exact same angle and in the same direction. That means the structure of the frequency content preserves the orientation of the original signal.</a:t>
            </a:r>
          </a:p>
          <a:p>
            <a:endParaRPr lang="en-US" dirty="0"/>
          </a:p>
          <a:p>
            <a:r>
              <a:rPr lang="en-US" dirty="0"/>
              <a:t>For instance, if you rotate an image by 30 degrees counterclockwise, the entire frequency spectrum also rotates by 30 degrees counterclockwise. The shape and the distribution of frequencies remain the same, just oriented differently. This behavior is not just limited to 2D — it holds in any number of dimensions.</a:t>
            </a:r>
          </a:p>
          <a:p>
            <a:endParaRPr lang="en-US" dirty="0"/>
          </a:p>
          <a:p>
            <a:r>
              <a:rPr lang="en-US" dirty="0"/>
              <a:t>Why does this happen? Well, it comes from the mathematics of how the Fourier transform is defined. If we apply a rotation matrix — let’s call it </a:t>
            </a:r>
            <a:r>
              <a:rPr lang="en-US" b="1" dirty="0"/>
              <a:t>R theta</a:t>
            </a:r>
            <a:r>
              <a:rPr lang="en-US" dirty="0"/>
              <a:t> — to the spatial variable, we see that the frequency variable ends up rotated in exactly the same way. It’s a symmetry property built into the transform itself.</a:t>
            </a:r>
          </a:p>
          <a:p>
            <a:endParaRPr lang="en-US" dirty="0"/>
          </a:p>
          <a:p>
            <a:r>
              <a:rPr lang="en-US" dirty="0"/>
              <a:t>Now, the proof is shown here, and you’re welcome to follow through it if you like. It involves a change of variables and some linear algebra, but the takeaway is beautifully simple: </a:t>
            </a:r>
            <a:r>
              <a:rPr lang="en-US" b="1" dirty="0"/>
              <a:t>rotate the function, and its spectrum rotates too</a:t>
            </a:r>
            <a:r>
              <a:rPr lang="en-US" dirty="0"/>
              <a:t>.</a:t>
            </a:r>
          </a:p>
          <a:p>
            <a:r>
              <a:rPr lang="en-US" dirty="0"/>
              <a:t>This rotational invariance is one of the reasons Fourier analysis is so useful in imaging, especially in applications like object detection, texture analysis, and pattern recognition — where orientation should not change the essential features.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39</a:t>
            </a:fld>
            <a:endParaRPr lang="en-US"/>
          </a:p>
        </p:txBody>
      </p:sp>
    </p:spTree>
    <p:extLst>
      <p:ext uri="{BB962C8B-B14F-4D97-AF65-F5344CB8AC3E}">
        <p14:creationId xmlns:p14="http://schemas.microsoft.com/office/powerpoint/2010/main" val="41440624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give you a more intuitive, geometric explanation for the rotation property of the Fourier transform.</a:t>
            </a:r>
          </a:p>
          <a:p>
            <a:r>
              <a:rPr lang="en-US" dirty="0"/>
              <a:t>Suppose you have a 2D function — like the white rectangular bar you see on the top-left image. This function has a certain frequency structure, and that’s captured in its Fourier transform, shown to the right.</a:t>
            </a:r>
          </a:p>
          <a:p>
            <a:endParaRPr lang="en-US" dirty="0"/>
          </a:p>
          <a:p>
            <a:r>
              <a:rPr lang="en-US" dirty="0"/>
              <a:t>Now, here’s the key idea: each point in the Fourier spectrum corresponds to a sinusoidal wave component — a wave moving in a specific direction and with a certain frequency. When you sum up all these wave components, you reconstruct the original image.</a:t>
            </a:r>
          </a:p>
          <a:p>
            <a:endParaRPr lang="en-US" dirty="0"/>
          </a:p>
          <a:p>
            <a:r>
              <a:rPr lang="en-US" dirty="0"/>
              <a:t>So what happens when we rotate the original function? Say we rotate it 45 degrees counterclockwise. Well, to reconstruct this rotated function using the same wave-based approach, </a:t>
            </a:r>
            <a:r>
              <a:rPr lang="en-US" b="1" dirty="0"/>
              <a:t>each of those original wave components must also rotate</a:t>
            </a:r>
            <a:r>
              <a:rPr lang="en-US" dirty="0"/>
              <a:t> by the same 45 degrees. That’s the only way they’ll still combine to match the rotated shape.</a:t>
            </a:r>
          </a:p>
          <a:p>
            <a:endParaRPr lang="en-US" dirty="0"/>
          </a:p>
          <a:p>
            <a:r>
              <a:rPr lang="en-US" dirty="0"/>
              <a:t>As you can see in the second row, the rotated spatial function leads to a rotated frequency spectrum. Both are rotated by the same angle, preserving the overall structure. This is what we mean by the rotation property of the Fourier transform.</a:t>
            </a:r>
          </a:p>
          <a:p>
            <a:r>
              <a:rPr lang="en-US" dirty="0"/>
              <a:t>You can verify this rigorously with mathematics, but this geometric reasoning gives us an intuitive, visual understanding of what’s happening.</a:t>
            </a:r>
          </a:p>
          <a:p>
            <a:endParaRPr lang="en-US" dirty="0"/>
          </a:p>
          <a:p>
            <a:r>
              <a:rPr lang="en-US" dirty="0"/>
              <a:t>This is part of a much deeper concept: the </a:t>
            </a:r>
            <a:r>
              <a:rPr lang="en-US" b="1" dirty="0"/>
              <a:t>duality</a:t>
            </a:r>
            <a:r>
              <a:rPr lang="en-US" dirty="0"/>
              <a:t> of information. You can think of an image as made of individual points — pixels or voxels — or as made of sinusoids, each with different directions and frequencies. These two views are completely interchangeable, and Fourier analysis is the bridge between them.</a:t>
            </a:r>
          </a:p>
          <a:p>
            <a:endParaRPr lang="en-US" dirty="0"/>
          </a:p>
          <a:p>
            <a:r>
              <a:rPr lang="en-US" dirty="0"/>
              <a:t>That’s why this topic is so foundational. It’s not just about imaging. Fourier analysis underlies many areas — in physics, engineering, and even mathematics — wherever we want to understand structure in terms of frequency.</a:t>
            </a:r>
          </a:p>
          <a:p>
            <a:r>
              <a:rPr lang="en-US" dirty="0"/>
              <a:t>Now let’s take a moment to summarize what we’ve learned so far.</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40</a:t>
            </a:fld>
            <a:endParaRPr lang="en-US"/>
          </a:p>
        </p:txBody>
      </p:sp>
    </p:spTree>
    <p:extLst>
      <p:ext uri="{BB962C8B-B14F-4D97-AF65-F5344CB8AC3E}">
        <p14:creationId xmlns:p14="http://schemas.microsoft.com/office/powerpoint/2010/main" val="15119425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you'll enjoy this little logo — it’s a compact way to capture the spirit of what we've been discussing.</a:t>
            </a:r>
          </a:p>
          <a:p>
            <a:r>
              <a:rPr lang="en-US" dirty="0"/>
              <a:t>On the left, we see the Greek letter delta. That symbolizes the </a:t>
            </a:r>
            <a:r>
              <a:rPr lang="en-US" b="1" dirty="0"/>
              <a:t>delta function</a:t>
            </a:r>
            <a:r>
              <a:rPr lang="en-US" dirty="0"/>
              <a:t>, which represents the particle-like, pointwise nature of signals — sharp, localized, discrete. It's our way of representing structure in the spatial or time domain.</a:t>
            </a:r>
          </a:p>
          <a:p>
            <a:endParaRPr lang="en-US" dirty="0"/>
          </a:p>
          <a:p>
            <a:r>
              <a:rPr lang="en-US" dirty="0"/>
              <a:t>Next to it is </a:t>
            </a:r>
            <a:r>
              <a:rPr lang="en-US" b="1" dirty="0"/>
              <a:t>e to the power i-theta</a:t>
            </a:r>
            <a:r>
              <a:rPr lang="en-US" dirty="0"/>
              <a:t>, a complex exponential. This captures the </a:t>
            </a:r>
            <a:r>
              <a:rPr lang="en-US" b="1" dirty="0"/>
              <a:t>wave nature</a:t>
            </a:r>
            <a:r>
              <a:rPr lang="en-US" dirty="0"/>
              <a:t> — smooth, oscillating, continuous. It represents sinusoids, and it's central to how we describe frequency, phase, rotation, and </a:t>
            </a:r>
            <a:r>
              <a:rPr lang="en-US" dirty="0" err="1"/>
              <a:t>oscilation</a:t>
            </a:r>
            <a:r>
              <a:rPr lang="en-US" dirty="0"/>
              <a:t> in the complex plane, describing wave propagation.</a:t>
            </a:r>
          </a:p>
          <a:p>
            <a:endParaRPr lang="en-US" dirty="0"/>
          </a:p>
          <a:p>
            <a:r>
              <a:rPr lang="en-US" dirty="0"/>
              <a:t>So together, delta and e to the </a:t>
            </a:r>
            <a:r>
              <a:rPr lang="en-US" dirty="0" err="1"/>
              <a:t>i</a:t>
            </a:r>
            <a:r>
              <a:rPr lang="en-US" dirty="0"/>
              <a:t>-theta — one representing particles, the other waves — form a kind of </a:t>
            </a:r>
            <a:r>
              <a:rPr lang="en-US" b="1" dirty="0"/>
              <a:t>duality</a:t>
            </a:r>
            <a:r>
              <a:rPr lang="en-US" dirty="0"/>
              <a:t>. And this duality runs throughout everything we’ve covered: convolution, linear systems, Fourier series, and Fourier transforms.</a:t>
            </a:r>
          </a:p>
          <a:p>
            <a:r>
              <a:rPr lang="en-US" dirty="0"/>
              <a:t>The real power of Fourier analysis is in how it unifies these two views. A signal can be described by where things happen — using delta functions — or by how things oscillate — using sinusoids. This interplay is what makes the field so rich and so widely applicable.</a:t>
            </a:r>
          </a:p>
          <a:p>
            <a:endParaRPr lang="en-US" dirty="0"/>
          </a:p>
          <a:p>
            <a:r>
              <a:rPr lang="en-US" dirty="0"/>
              <a:t>That’s why I like this little symbol. It’s simple, but it reflects deep ideas that are at the heart of signal processing and medical imaging.  We will understand this logo more and more as we unravel its meaning in this and next </a:t>
            </a:r>
            <a:r>
              <a:rPr lang="en-US"/>
              <a:t>several lectures.</a:t>
            </a:r>
            <a:endParaRPr lang="en-US" dirty="0"/>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41</a:t>
            </a:fld>
            <a:endParaRPr lang="en-US"/>
          </a:p>
        </p:txBody>
      </p:sp>
    </p:spTree>
    <p:extLst>
      <p:ext uri="{BB962C8B-B14F-4D97-AF65-F5344CB8AC3E}">
        <p14:creationId xmlns:p14="http://schemas.microsoft.com/office/powerpoint/2010/main" val="18657392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to wrap up today’s session, here’s your homework assignment.</a:t>
            </a:r>
          </a:p>
          <a:p>
            <a:endParaRPr lang="en-US" dirty="0"/>
          </a:p>
          <a:p>
            <a:r>
              <a:rPr lang="en-US" dirty="0"/>
              <a:t>First, I’d like you to read about the </a:t>
            </a:r>
            <a:r>
              <a:rPr lang="en-US" b="1" dirty="0"/>
              <a:t>uncertainty principle of the Fourier transform</a:t>
            </a:r>
            <a:r>
              <a:rPr lang="en-US" dirty="0"/>
              <a:t>. This is a fascinating and important concept. Summarize it in your own words, but keep it concise — no more than three sentences.</a:t>
            </a:r>
          </a:p>
          <a:p>
            <a:endParaRPr lang="en-US" dirty="0"/>
          </a:p>
          <a:p>
            <a:r>
              <a:rPr lang="en-US" dirty="0"/>
              <a:t>Second, I want you to </a:t>
            </a:r>
            <a:r>
              <a:rPr lang="en-US" b="1" dirty="0"/>
              <a:t>analytically compute the Fourier transform</a:t>
            </a:r>
            <a:r>
              <a:rPr lang="en-US" dirty="0"/>
              <a:t> of this function: the exponential of b times t, multiplied by the step function u of negative t. Here, b is a positive constant, and u of t is defined as 1 for positive time and 0 otherwise.</a:t>
            </a:r>
          </a:p>
          <a:p>
            <a:r>
              <a:rPr lang="en-US" dirty="0"/>
              <a:t>The </a:t>
            </a:r>
            <a:r>
              <a:rPr lang="en-US" b="1" dirty="0"/>
              <a:t>due date is one week from now</a:t>
            </a:r>
            <a:r>
              <a:rPr lang="en-US" dirty="0"/>
              <a:t>, by midnight next Friday. Please make sure to upload your report to MLS.</a:t>
            </a:r>
          </a:p>
          <a:p>
            <a:endParaRPr lang="en-US" dirty="0"/>
          </a:p>
          <a:p>
            <a:r>
              <a:rPr lang="en-US" dirty="0"/>
              <a:t>And before we end, I’ve heard from a few students that the Fourier series material was a bit confusing. If that’s you, don’t hesitate — come talk to me now or reach out later. I’m happy to help clarify anything.</a:t>
            </a:r>
          </a:p>
          <a:p>
            <a:r>
              <a:rPr lang="en-US" dirty="0"/>
              <a:t>That’s all for today — thank you!</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42</a:t>
            </a:fld>
            <a:endParaRPr lang="en-US"/>
          </a:p>
        </p:txBody>
      </p:sp>
    </p:spTree>
    <p:extLst>
      <p:ext uri="{BB962C8B-B14F-4D97-AF65-F5344CB8AC3E}">
        <p14:creationId xmlns:p14="http://schemas.microsoft.com/office/powerpoint/2010/main" val="3022757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endParaRPr lang="en-US" sz="2400"/>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endParaRPr lang="en-US" sz="2400"/>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endParaRPr lang="en-US" sz="2400"/>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endParaRPr lang="en-US" sz="2400"/>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endParaRPr 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sz="2800" b="1"/>
            </a:lvl1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42551609-7012-4524-8F91-CAEC89A8DA26}" type="slidenum">
              <a:rPr lang="en-US"/>
              <a:pPr/>
              <a:t>‹#›</a:t>
            </a:fld>
            <a:endParaRPr 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EC38EB37-9F67-488F-AFCB-318363D4DA79}" type="slidenum">
              <a:rPr lang="en-US"/>
              <a:pPr/>
              <a:t>‹#›</a:t>
            </a:fld>
            <a:endParaRPr 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fld id="{325EC937-4EEB-42FF-9745-F8ECC712C67B}" type="slidenum">
              <a:rPr lang="en-US"/>
              <a:pPr/>
              <a:t>‹#›</a:t>
            </a:fld>
            <a:endParaRPr lang="en-US">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fld id="{26E09F27-08E5-47E1-9081-CDEF6FA99715}" type="slidenum">
              <a:rPr lang="en-US"/>
              <a:pPr/>
              <a:t>‹#›</a:t>
            </a:fld>
            <a:endParaRPr lang="en-US">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fld id="{CC251E47-B223-48F4-A299-CE4A766087D6}" type="slidenum">
              <a:rPr lang="en-US"/>
              <a:pPr/>
              <a:t>‹#›</a:t>
            </a:fld>
            <a:endParaRPr lang="en-US">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5BB27830-E813-4D5B-BECC-EB4E76333BEB}" type="slidenum">
              <a:rPr lang="en-US"/>
              <a:pPr/>
              <a:t>‹#›</a:t>
            </a:fld>
            <a:endParaRPr lang="en-US">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8950E5CE-EF1E-495C-8D34-E9307ADFFB20}" type="slidenum">
              <a:rPr lang="en-US"/>
              <a:pPr/>
              <a:t>‹#›</a:t>
            </a:fld>
            <a:endParaRPr 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EDA7D03F-0D9F-4D6E-A9DA-DA22B08C88FB}" type="slidenum">
              <a:rPr lang="en-US"/>
              <a:pPr/>
              <a:t>‹#›</a:t>
            </a:fld>
            <a:endParaRPr lang="en-US">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5D488692-0FB6-433E-9CFB-08D03A34DD8A}" type="slidenum">
              <a:rPr lang="en-US"/>
              <a:pPr/>
              <a:t>‹#›</a:t>
            </a:fld>
            <a:endParaRPr lang="en-US">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endParaRPr lang="en-US" sz="2400"/>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endParaRPr lang="en-US" sz="2400"/>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endParaRPr 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wm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14.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w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14.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2.wmf"/></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oleObject" Target="../embeddings/oleObject9.bin"/><Relationship Id="rId4" Type="http://schemas.openxmlformats.org/officeDocument/2006/relationships/image" Target="../media/image28.wmf"/></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5.png"/><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63.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1549" y="55626"/>
            <a:ext cx="1682262" cy="1600200"/>
          </a:xfrm>
          <a:prstGeom prst="rect">
            <a:avLst/>
          </a:prstGeom>
        </p:spPr>
      </p:pic>
      <p:pic>
        <p:nvPicPr>
          <p:cNvPr id="8194" name="Picture 2" descr="lgplogo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959" y="62178"/>
            <a:ext cx="6707205" cy="127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896962"/>
            <a:ext cx="9144000" cy="19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5"/>
          <p:cNvSpPr txBox="1">
            <a:spLocks noChangeArrowheads="1"/>
          </p:cNvSpPr>
          <p:nvPr/>
        </p:nvSpPr>
        <p:spPr bwMode="auto">
          <a:xfrm>
            <a:off x="1524000" y="1722874"/>
            <a:ext cx="9144000" cy="3398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lnSpc>
                <a:spcPct val="80000"/>
              </a:lnSpc>
              <a:spcBef>
                <a:spcPts val="0"/>
              </a:spcBef>
              <a:spcAft>
                <a:spcPts val="300"/>
              </a:spcAft>
            </a:pPr>
            <a:r>
              <a:rPr lang="en-US" sz="2400" dirty="0">
                <a:solidFill>
                  <a:schemeClr val="tx1"/>
                </a:solidFill>
              </a:rPr>
              <a:t>38655 BMED-2300-02</a:t>
            </a:r>
          </a:p>
          <a:p>
            <a:pPr algn="ctr">
              <a:lnSpc>
                <a:spcPct val="80000"/>
              </a:lnSpc>
              <a:spcBef>
                <a:spcPts val="600"/>
              </a:spcBef>
              <a:spcAft>
                <a:spcPts val="600"/>
              </a:spcAft>
            </a:pPr>
            <a:r>
              <a:rPr lang="en-US" sz="4400" b="1" dirty="0">
                <a:solidFill>
                  <a:schemeClr val="tx1"/>
                </a:solidFill>
              </a:rPr>
              <a:t>Lecture 6: Fourier Transform</a:t>
            </a:r>
          </a:p>
          <a:p>
            <a:pPr algn="ctr">
              <a:lnSpc>
                <a:spcPct val="80000"/>
              </a:lnSpc>
              <a:spcBef>
                <a:spcPts val="0"/>
              </a:spcBef>
              <a:spcAft>
                <a:spcPts val="300"/>
              </a:spcAft>
            </a:pPr>
            <a:r>
              <a:rPr lang="en-US" sz="2400" dirty="0">
                <a:solidFill>
                  <a:schemeClr val="tx1"/>
                </a:solidFill>
              </a:rPr>
              <a:t>Ge Wang, PhD</a:t>
            </a:r>
          </a:p>
          <a:p>
            <a:pPr algn="ctr">
              <a:lnSpc>
                <a:spcPct val="80000"/>
              </a:lnSpc>
              <a:spcBef>
                <a:spcPts val="0"/>
              </a:spcBef>
              <a:spcAft>
                <a:spcPts val="300"/>
              </a:spcAft>
            </a:pPr>
            <a:r>
              <a:rPr lang="en-US" sz="2400" dirty="0">
                <a:solidFill>
                  <a:schemeClr val="tx1"/>
                </a:solidFill>
              </a:rPr>
              <a:t>Biomedical Imaging Center</a:t>
            </a:r>
          </a:p>
          <a:p>
            <a:pPr algn="ctr">
              <a:lnSpc>
                <a:spcPct val="80000"/>
              </a:lnSpc>
              <a:spcBef>
                <a:spcPts val="0"/>
              </a:spcBef>
              <a:spcAft>
                <a:spcPts val="300"/>
              </a:spcAft>
            </a:pPr>
            <a:r>
              <a:rPr lang="en-US" sz="2400" dirty="0">
                <a:solidFill>
                  <a:schemeClr val="tx1"/>
                </a:solidFill>
              </a:rPr>
              <a:t>CBIS/BME, RPI</a:t>
            </a:r>
          </a:p>
          <a:p>
            <a:pPr algn="ctr">
              <a:lnSpc>
                <a:spcPct val="80000"/>
              </a:lnSpc>
              <a:spcBef>
                <a:spcPts val="0"/>
              </a:spcBef>
              <a:spcAft>
                <a:spcPts val="300"/>
              </a:spcAft>
            </a:pPr>
            <a:r>
              <a:rPr lang="en-US" sz="2400" dirty="0">
                <a:solidFill>
                  <a:schemeClr val="tx1"/>
                </a:solidFill>
              </a:rPr>
              <a:t>wangg6@rpi.edu</a:t>
            </a:r>
          </a:p>
          <a:p>
            <a:pPr algn="ctr">
              <a:lnSpc>
                <a:spcPct val="80000"/>
              </a:lnSpc>
              <a:spcBef>
                <a:spcPts val="0"/>
              </a:spcBef>
              <a:spcAft>
                <a:spcPts val="300"/>
              </a:spcAft>
            </a:pPr>
            <a:endParaRPr lang="en-US" sz="2400" dirty="0">
              <a:solidFill>
                <a:schemeClr val="tx1"/>
              </a:solidFill>
            </a:endParaRPr>
          </a:p>
          <a:p>
            <a:pPr algn="ct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p:txBody>
      </p:sp>
    </p:spTree>
    <p:extLst>
      <p:ext uri="{BB962C8B-B14F-4D97-AF65-F5344CB8AC3E}">
        <p14:creationId xmlns:p14="http://schemas.microsoft.com/office/powerpoint/2010/main" val="411185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green table with white text&#10;&#10;AI-generated content may be incorrect.">
            <a:extLst>
              <a:ext uri="{FF2B5EF4-FFF2-40B4-BE49-F238E27FC236}">
                <a16:creationId xmlns:a16="http://schemas.microsoft.com/office/drawing/2014/main" id="{23C8A5BC-A2D1-1100-0CD6-E75C3D9A3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057" y="0"/>
            <a:ext cx="9100457" cy="6877286"/>
          </a:xfrm>
          <a:prstGeom prst="rect">
            <a:avLst/>
          </a:prstGeom>
        </p:spPr>
      </p:pic>
    </p:spTree>
    <p:extLst>
      <p:ext uri="{BB962C8B-B14F-4D97-AF65-F5344CB8AC3E}">
        <p14:creationId xmlns:p14="http://schemas.microsoft.com/office/powerpoint/2010/main" val="2343174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 a Sum of Impulses</a:t>
            </a:r>
          </a:p>
        </p:txBody>
      </p:sp>
      <p:pic>
        <p:nvPicPr>
          <p:cNvPr id="7170" name="Picture 2" descr="http://upload.wikimedia.org/wikipedia/commons/thumb/8/88/Sampled.signal.svg/585px-Sampled.signal.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068" y="1520210"/>
            <a:ext cx="8233636" cy="4644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921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 Sum of Waves</a:t>
            </a:r>
          </a:p>
        </p:txBody>
      </p:sp>
      <p:sp>
        <p:nvSpPr>
          <p:cNvPr id="3" name="Content Placeholder 2"/>
          <p:cNvSpPr>
            <a:spLocks noGrp="1"/>
          </p:cNvSpPr>
          <p:nvPr>
            <p:ph idx="1"/>
          </p:nvPr>
        </p:nvSpPr>
        <p:spPr/>
        <p:txBody>
          <a:bodyPr/>
          <a:lstStyle/>
          <a:p>
            <a:endParaRPr lang="en-US"/>
          </a:p>
        </p:txBody>
      </p:sp>
      <p:pic>
        <p:nvPicPr>
          <p:cNvPr id="19458" name="Picture 2" descr="http://www.askamathematician.com/wp-content/uploads/2012/09/IndykKatabiPriceHassanie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439" y="990601"/>
            <a:ext cx="8735122" cy="581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49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a:t>
            </a:r>
            <a:r>
              <a:rPr lang="en-US" sz="4000" b="0" kern="0" dirty="0"/>
              <a:t> (Real Form)</a:t>
            </a:r>
          </a:p>
        </p:txBody>
      </p:sp>
      <p:graphicFrame>
        <p:nvGraphicFramePr>
          <p:cNvPr id="7" name="Object 6"/>
          <p:cNvGraphicFramePr>
            <a:graphicFrameLocks noChangeAspect="1"/>
          </p:cNvGraphicFramePr>
          <p:nvPr/>
        </p:nvGraphicFramePr>
        <p:xfrm>
          <a:off x="2090569" y="1119092"/>
          <a:ext cx="8010863" cy="1213344"/>
        </p:xfrm>
        <a:graphic>
          <a:graphicData uri="http://schemas.openxmlformats.org/presentationml/2006/ole">
            <mc:AlternateContent xmlns:mc="http://schemas.openxmlformats.org/markup-compatibility/2006">
              <mc:Choice xmlns:v="urn:schemas-microsoft-com:vml" Requires="v">
                <p:oleObj name="Equation" r:id="rId3" imgW="4533840" imgH="685800" progId="Equation.DSMT4">
                  <p:embed/>
                </p:oleObj>
              </mc:Choice>
              <mc:Fallback>
                <p:oleObj name="Equation" r:id="rId3" imgW="4533840" imgH="685800" progId="Equation.DSMT4">
                  <p:embed/>
                  <p:pic>
                    <p:nvPicPr>
                      <p:cNvPr id="7" name="Object 6"/>
                      <p:cNvPicPr>
                        <a:picLocks noChangeAspect="1" noChangeArrowheads="1"/>
                      </p:cNvPicPr>
                      <p:nvPr/>
                    </p:nvPicPr>
                    <p:blipFill>
                      <a:blip r:embed="rId4"/>
                      <a:srcRect/>
                      <a:stretch>
                        <a:fillRect/>
                      </a:stretch>
                    </p:blipFill>
                    <p:spPr bwMode="auto">
                      <a:xfrm>
                        <a:off x="2090569" y="1119092"/>
                        <a:ext cx="8010863" cy="1213344"/>
                      </a:xfrm>
                      <a:prstGeom prst="rect">
                        <a:avLst/>
                      </a:prstGeom>
                      <a:noFill/>
                      <a:ln>
                        <a:noFill/>
                      </a:ln>
                      <a:effectLst/>
                    </p:spPr>
                  </p:pic>
                </p:oleObj>
              </mc:Fallback>
            </mc:AlternateContent>
          </a:graphicData>
        </a:graphic>
      </p:graphicFrame>
      <p:graphicFrame>
        <p:nvGraphicFramePr>
          <p:cNvPr id="10" name="Object 9"/>
          <p:cNvGraphicFramePr>
            <a:graphicFrameLocks noChangeAspect="1"/>
          </p:cNvGraphicFramePr>
          <p:nvPr/>
        </p:nvGraphicFramePr>
        <p:xfrm>
          <a:off x="2217738" y="3828003"/>
          <a:ext cx="3803650" cy="1560512"/>
        </p:xfrm>
        <a:graphic>
          <a:graphicData uri="http://schemas.openxmlformats.org/presentationml/2006/ole">
            <mc:AlternateContent xmlns:mc="http://schemas.openxmlformats.org/markup-compatibility/2006">
              <mc:Choice xmlns:v="urn:schemas-microsoft-com:vml" Requires="v">
                <p:oleObj name="Equation" r:id="rId5" imgW="2654280" imgH="1091880" progId="Equation.DSMT4">
                  <p:embed/>
                </p:oleObj>
              </mc:Choice>
              <mc:Fallback>
                <p:oleObj name="Equation" r:id="rId5" imgW="2654280" imgH="1091880" progId="Equation.DSMT4">
                  <p:embed/>
                  <p:pic>
                    <p:nvPicPr>
                      <p:cNvPr id="10" name="Object 9"/>
                      <p:cNvPicPr>
                        <a:picLocks noChangeAspect="1" noChangeArrowheads="1"/>
                      </p:cNvPicPr>
                      <p:nvPr/>
                    </p:nvPicPr>
                    <p:blipFill>
                      <a:blip r:embed="rId6"/>
                      <a:srcRect/>
                      <a:stretch>
                        <a:fillRect/>
                      </a:stretch>
                    </p:blipFill>
                    <p:spPr bwMode="auto">
                      <a:xfrm>
                        <a:off x="2217738" y="3828003"/>
                        <a:ext cx="3803650" cy="1560512"/>
                      </a:xfrm>
                      <a:prstGeom prst="rect">
                        <a:avLst/>
                      </a:prstGeom>
                      <a:noFill/>
                      <a:ln>
                        <a:noFill/>
                      </a:ln>
                      <a:effectLst/>
                    </p:spPr>
                  </p:pic>
                </p:oleObj>
              </mc:Fallback>
            </mc:AlternateContent>
          </a:graphicData>
        </a:graphic>
      </p:graphicFrame>
      <p:graphicFrame>
        <p:nvGraphicFramePr>
          <p:cNvPr id="11" name="Object 10"/>
          <p:cNvGraphicFramePr>
            <a:graphicFrameLocks noChangeAspect="1"/>
          </p:cNvGraphicFramePr>
          <p:nvPr/>
        </p:nvGraphicFramePr>
        <p:xfrm>
          <a:off x="2217739" y="2751536"/>
          <a:ext cx="2173931" cy="893446"/>
        </p:xfrm>
        <a:graphic>
          <a:graphicData uri="http://schemas.openxmlformats.org/presentationml/2006/ole">
            <mc:AlternateContent xmlns:mc="http://schemas.openxmlformats.org/markup-compatibility/2006">
              <mc:Choice xmlns:v="urn:schemas-microsoft-com:vml" Requires="v">
                <p:oleObj name="Equation" r:id="rId7" imgW="1485720" imgH="609480" progId="Equation.DSMT4">
                  <p:embed/>
                </p:oleObj>
              </mc:Choice>
              <mc:Fallback>
                <p:oleObj name="Equation" r:id="rId7" imgW="1485720" imgH="609480" progId="Equation.DSMT4">
                  <p:embed/>
                  <p:pic>
                    <p:nvPicPr>
                      <p:cNvPr id="11" name="Object 10"/>
                      <p:cNvPicPr>
                        <a:picLocks noChangeAspect="1" noChangeArrowheads="1"/>
                      </p:cNvPicPr>
                      <p:nvPr/>
                    </p:nvPicPr>
                    <p:blipFill>
                      <a:blip r:embed="rId8"/>
                      <a:srcRect/>
                      <a:stretch>
                        <a:fillRect/>
                      </a:stretch>
                    </p:blipFill>
                    <p:spPr bwMode="auto">
                      <a:xfrm>
                        <a:off x="2217739" y="2751536"/>
                        <a:ext cx="2173931" cy="893446"/>
                      </a:xfrm>
                      <a:prstGeom prst="rect">
                        <a:avLst/>
                      </a:prstGeom>
                      <a:noFill/>
                      <a:ln>
                        <a:noFill/>
                      </a:ln>
                      <a:effectLst/>
                    </p:spPr>
                  </p:pic>
                </p:oleObj>
              </mc:Fallback>
            </mc:AlternateContent>
          </a:graphicData>
        </a:graphic>
      </p:graphicFrame>
      <p:pic>
        <p:nvPicPr>
          <p:cNvPr id="12" name="Picture 12" descr="http://www.magic-emoji.com/emoji/images/83_emoji_iphone_black_diamond_suit.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0817" y="2612758"/>
            <a:ext cx="3156304" cy="315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382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a:t>
            </a:r>
            <a:r>
              <a:rPr lang="en-US" sz="4000" b="0" kern="0" dirty="0"/>
              <a:t> (Complex Form)</a:t>
            </a:r>
          </a:p>
        </p:txBody>
      </p:sp>
      <p:pic>
        <p:nvPicPr>
          <p:cNvPr id="8" name="Picture 7"/>
          <p:cNvPicPr>
            <a:picLocks noChangeAspect="1"/>
          </p:cNvPicPr>
          <p:nvPr/>
        </p:nvPicPr>
        <p:blipFill>
          <a:blip r:embed="rId3"/>
          <a:stretch>
            <a:fillRect/>
          </a:stretch>
        </p:blipFill>
        <p:spPr>
          <a:xfrm>
            <a:off x="2282289" y="4585072"/>
            <a:ext cx="6304366" cy="1693064"/>
          </a:xfrm>
          <a:prstGeom prst="rect">
            <a:avLst/>
          </a:prstGeom>
          <a:solidFill>
            <a:srgbClr val="00B050">
              <a:alpha val="50000"/>
            </a:srgbClr>
          </a:solidFill>
        </p:spPr>
      </p:pic>
      <p:pic>
        <p:nvPicPr>
          <p:cNvPr id="12" name="Picture 1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1413" y="1668481"/>
            <a:ext cx="2155797" cy="215579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5"/>
          <a:stretch>
            <a:fillRect/>
          </a:stretch>
        </p:blipFill>
        <p:spPr>
          <a:xfrm>
            <a:off x="2282290" y="1097871"/>
            <a:ext cx="4830855" cy="2048527"/>
          </a:xfrm>
          <a:prstGeom prst="rect">
            <a:avLst/>
          </a:prstGeom>
        </p:spPr>
      </p:pic>
      <p:pic>
        <p:nvPicPr>
          <p:cNvPr id="4" name="Picture 3"/>
          <p:cNvPicPr>
            <a:picLocks noChangeAspect="1"/>
          </p:cNvPicPr>
          <p:nvPr/>
        </p:nvPicPr>
        <p:blipFill>
          <a:blip r:embed="rId6"/>
          <a:stretch>
            <a:fillRect/>
          </a:stretch>
        </p:blipFill>
        <p:spPr>
          <a:xfrm>
            <a:off x="2282290" y="3030515"/>
            <a:ext cx="5381207" cy="1651052"/>
          </a:xfrm>
          <a:prstGeom prst="rect">
            <a:avLst/>
          </a:prstGeom>
        </p:spPr>
      </p:pic>
      <p:sp>
        <p:nvSpPr>
          <p:cNvPr id="2" name="TextBox 1"/>
          <p:cNvSpPr txBox="1"/>
          <p:nvPr/>
        </p:nvSpPr>
        <p:spPr>
          <a:xfrm>
            <a:off x="2282289" y="5774460"/>
            <a:ext cx="1709122" cy="461665"/>
          </a:xfrm>
          <a:prstGeom prst="rect">
            <a:avLst/>
          </a:prstGeom>
          <a:noFill/>
        </p:spPr>
        <p:txBody>
          <a:bodyPr wrap="none" rtlCol="0">
            <a:spAutoFit/>
          </a:bodyPr>
          <a:lstStyle/>
          <a:p>
            <a:r>
              <a:rPr lang="en-US" dirty="0">
                <a:solidFill>
                  <a:srgbClr val="FF0000"/>
                </a:solidFill>
              </a:rPr>
              <a:t>Unit Period</a:t>
            </a:r>
          </a:p>
        </p:txBody>
      </p:sp>
    </p:spTree>
    <p:extLst>
      <p:ext uri="{BB962C8B-B14F-4D97-AF65-F5344CB8AC3E}">
        <p14:creationId xmlns:p14="http://schemas.microsoft.com/office/powerpoint/2010/main" val="752562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When Period Isn’t Unit</a:t>
            </a:r>
            <a:endParaRPr lang="en-US" sz="4000" b="0" kern="0" dirty="0"/>
          </a:p>
        </p:txBody>
      </p:sp>
      <p:pic>
        <p:nvPicPr>
          <p:cNvPr id="5" name="Picture 12" descr="http://www.magic-emoji.com/emoji/images/83_emoji_iphone_black_diamond_su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8316075" y="151915"/>
            <a:ext cx="2155797" cy="21557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Object 2"/>
          <p:cNvGraphicFramePr>
            <a:graphicFrameLocks noChangeAspect="1"/>
          </p:cNvGraphicFramePr>
          <p:nvPr>
            <p:extLst>
              <p:ext uri="{D42A27DB-BD31-4B8C-83A1-F6EECF244321}">
                <p14:modId xmlns:p14="http://schemas.microsoft.com/office/powerpoint/2010/main" val="1489041617"/>
              </p:ext>
            </p:extLst>
          </p:nvPr>
        </p:nvGraphicFramePr>
        <p:xfrm>
          <a:off x="2646557" y="2307711"/>
          <a:ext cx="6839572" cy="1431538"/>
        </p:xfrm>
        <a:graphic>
          <a:graphicData uri="http://schemas.openxmlformats.org/presentationml/2006/ole">
            <mc:AlternateContent xmlns:mc="http://schemas.openxmlformats.org/markup-compatibility/2006">
              <mc:Choice xmlns:v="urn:schemas-microsoft-com:vml" Requires="v">
                <p:oleObj name="Equation" r:id="rId4" imgW="2184400" imgH="469900" progId="Equation.DSMT4">
                  <p:embed/>
                </p:oleObj>
              </mc:Choice>
              <mc:Fallback>
                <p:oleObj name="Equation" r:id="rId4" imgW="2184400" imgH="4699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6557" y="2307711"/>
                        <a:ext cx="6839572" cy="1431538"/>
                      </a:xfrm>
                      <a:prstGeom prst="rect">
                        <a:avLst/>
                      </a:prstGeom>
                      <a:noFill/>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085873946"/>
              </p:ext>
            </p:extLst>
          </p:nvPr>
        </p:nvGraphicFramePr>
        <p:xfrm>
          <a:off x="2646557" y="4247896"/>
          <a:ext cx="4994058" cy="1616928"/>
        </p:xfrm>
        <a:graphic>
          <a:graphicData uri="http://schemas.openxmlformats.org/presentationml/2006/ole">
            <mc:AlternateContent xmlns:mc="http://schemas.openxmlformats.org/markup-compatibility/2006">
              <mc:Choice xmlns:v="urn:schemas-microsoft-com:vml" Requires="v">
                <p:oleObj name="Equation" r:id="rId6" imgW="1562100" imgH="495300" progId="Equation.DSMT4">
                  <p:embed/>
                </p:oleObj>
              </mc:Choice>
              <mc:Fallback>
                <p:oleObj name="Equation" r:id="rId6" imgW="1562100" imgH="4953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6557" y="4247896"/>
                        <a:ext cx="4994058" cy="1616928"/>
                      </a:xfrm>
                      <a:prstGeom prst="rect">
                        <a:avLst/>
                      </a:prstGeom>
                      <a:noFill/>
                    </p:spPr>
                  </p:pic>
                </p:oleObj>
              </mc:Fallback>
            </mc:AlternateContent>
          </a:graphicData>
        </a:graphic>
      </p:graphicFrame>
    </p:spTree>
    <p:extLst>
      <p:ext uri="{BB962C8B-B14F-4D97-AF65-F5344CB8AC3E}">
        <p14:creationId xmlns:p14="http://schemas.microsoft.com/office/powerpoint/2010/main" val="3392870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6" name="Picture 8" descr="http://previews.123rf.com/images/johan2011/johan20111109/johan2011110900039/10653039-Road-block-with-Cones-and-Barricade-Stock-Photo-road-safety-work.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9620" y="1618186"/>
            <a:ext cx="5437770" cy="362657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Common Sense</a:t>
            </a:r>
            <a:endParaRPr lang="en-US" sz="4000" b="0" kern="0" dirty="0"/>
          </a:p>
        </p:txBody>
      </p:sp>
      <p:pic>
        <p:nvPicPr>
          <p:cNvPr id="32772" name="Picture 4" descr="https://img.clipartfest.com/70d70e696ccec9e45d8c6afd28fc05b0_cute-cartoon-dog-vector-set-cute-dog-cartoon-clipart_500-552.jpe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1824310" y="554500"/>
            <a:ext cx="2019765" cy="2229822"/>
          </a:xfrm>
          <a:prstGeom prst="rect">
            <a:avLst/>
          </a:prstGeom>
          <a:noFill/>
          <a:extLst>
            <a:ext uri="{909E8E84-426E-40DD-AFC4-6F175D3DCCD1}">
              <a14:hiddenFill xmlns:a14="http://schemas.microsoft.com/office/drawing/2010/main">
                <a:solidFill>
                  <a:srgbClr val="FFFFFF"/>
                </a:solidFill>
              </a14:hiddenFill>
            </a:ext>
          </a:extLst>
        </p:spPr>
      </p:pic>
      <p:pic>
        <p:nvPicPr>
          <p:cNvPr id="32774" name="Picture 6" descr="http://www.how-to-draw-funny-cartoons.com/image-files/cartoon-steak-005.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4938" y="5263555"/>
            <a:ext cx="2506989" cy="159444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urved Connector 5"/>
          <p:cNvCxnSpPr>
            <a:stCxn id="32772" idx="2"/>
            <a:endCxn id="32774" idx="1"/>
          </p:cNvCxnSpPr>
          <p:nvPr/>
        </p:nvCxnSpPr>
        <p:spPr bwMode="auto">
          <a:xfrm rot="16200000" flipH="1">
            <a:off x="3451338" y="2167176"/>
            <a:ext cx="3276455" cy="4510746"/>
          </a:xfrm>
          <a:prstGeom prst="curvedConnector2">
            <a:avLst/>
          </a:prstGeom>
          <a:solidFill>
            <a:schemeClr val="accent1"/>
          </a:solidFill>
          <a:ln w="63500" cap="flat" cmpd="sng" algn="ctr">
            <a:solidFill>
              <a:srgbClr val="FFC000"/>
            </a:solidFill>
            <a:prstDash val="solid"/>
            <a:round/>
            <a:headEnd type="none" w="med" len="med"/>
            <a:tailEnd type="triangle"/>
          </a:ln>
          <a:effectLst/>
        </p:spPr>
      </p:cxnSp>
      <p:pic>
        <p:nvPicPr>
          <p:cNvPr id="7" name="Picture 6"/>
          <p:cNvPicPr>
            <a:picLocks noChangeAspect="1"/>
          </p:cNvPicPr>
          <p:nvPr/>
        </p:nvPicPr>
        <p:blipFill>
          <a:blip r:embed="rId6"/>
          <a:stretch>
            <a:fillRect/>
          </a:stretch>
        </p:blipFill>
        <p:spPr>
          <a:xfrm>
            <a:off x="8588238" y="3274486"/>
            <a:ext cx="2079763" cy="2107759"/>
          </a:xfrm>
          <a:prstGeom prst="rect">
            <a:avLst/>
          </a:prstGeom>
        </p:spPr>
      </p:pic>
      <p:sp>
        <p:nvSpPr>
          <p:cNvPr id="8" name="Title 1"/>
          <p:cNvSpPr txBox="1">
            <a:spLocks/>
          </p:cNvSpPr>
          <p:nvPr/>
        </p:nvSpPr>
        <p:spPr>
          <a:xfrm>
            <a:off x="3781259" y="1239346"/>
            <a:ext cx="5969405"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marL="342900" indent="-342900" algn="l" eaLnBrk="1" hangingPunct="1">
              <a:buFont typeface="Arial" panose="020B0604020202020204" pitchFamily="34" charset="0"/>
              <a:buChar char="•"/>
            </a:pPr>
            <a:r>
              <a:rPr lang="en-US" sz="2400" kern="0" dirty="0"/>
              <a:t>Simple versus Complex Methods</a:t>
            </a:r>
          </a:p>
          <a:p>
            <a:pPr marL="342900" indent="-342900" algn="l" eaLnBrk="1" hangingPunct="1">
              <a:buFont typeface="Arial" panose="020B0604020202020204" pitchFamily="34" charset="0"/>
              <a:buChar char="•"/>
            </a:pPr>
            <a:r>
              <a:rPr lang="en-US" sz="2400" kern="0" dirty="0"/>
              <a:t>Divide and Conquer Strategies</a:t>
            </a:r>
          </a:p>
        </p:txBody>
      </p:sp>
    </p:spTree>
    <p:extLst>
      <p:ext uri="{BB962C8B-B14F-4D97-AF65-F5344CB8AC3E}">
        <p14:creationId xmlns:p14="http://schemas.microsoft.com/office/powerpoint/2010/main" val="1701405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665363" y="2459160"/>
            <a:ext cx="8861277" cy="1939681"/>
          </a:xfrm>
          <a:prstGeom prst="rect">
            <a:avLst/>
          </a:prstGeom>
        </p:spPr>
      </p:pic>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a:t>Outline</a:t>
            </a:r>
            <a:endParaRPr lang="en-US" kern="0" dirty="0"/>
          </a:p>
        </p:txBody>
      </p:sp>
    </p:spTree>
    <p:extLst>
      <p:ext uri="{BB962C8B-B14F-4D97-AF65-F5344CB8AC3E}">
        <p14:creationId xmlns:p14="http://schemas.microsoft.com/office/powerpoint/2010/main" val="3978739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When Period Isn’t Unit</a:t>
            </a:r>
            <a:endParaRPr lang="en-US" sz="4000" b="0" kern="0" dirty="0"/>
          </a:p>
        </p:txBody>
      </p:sp>
      <p:pic>
        <p:nvPicPr>
          <p:cNvPr id="5" name="Picture 12" descr="http://www.magic-emoji.com/emoji/images/83_emoji_iphone_black_diamond_su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8316075" y="151915"/>
            <a:ext cx="2155797" cy="21557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Object 2"/>
          <p:cNvGraphicFramePr>
            <a:graphicFrameLocks noChangeAspect="1"/>
          </p:cNvGraphicFramePr>
          <p:nvPr>
            <p:extLst>
              <p:ext uri="{D42A27DB-BD31-4B8C-83A1-F6EECF244321}">
                <p14:modId xmlns:p14="http://schemas.microsoft.com/office/powerpoint/2010/main" val="1944043724"/>
              </p:ext>
            </p:extLst>
          </p:nvPr>
        </p:nvGraphicFramePr>
        <p:xfrm>
          <a:off x="2378928" y="1995476"/>
          <a:ext cx="6839572" cy="1431538"/>
        </p:xfrm>
        <a:graphic>
          <a:graphicData uri="http://schemas.openxmlformats.org/presentationml/2006/ole">
            <mc:AlternateContent xmlns:mc="http://schemas.openxmlformats.org/markup-compatibility/2006">
              <mc:Choice xmlns:v="urn:schemas-microsoft-com:vml" Requires="v">
                <p:oleObj name="Equation" r:id="rId4" imgW="2184400" imgH="469900" progId="Equation.DSMT4">
                  <p:embed/>
                </p:oleObj>
              </mc:Choice>
              <mc:Fallback>
                <p:oleObj name="Equation" r:id="rId4" imgW="2184400" imgH="46990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8928" y="1995476"/>
                        <a:ext cx="6839572" cy="1431538"/>
                      </a:xfrm>
                      <a:prstGeom prst="rect">
                        <a:avLst/>
                      </a:prstGeom>
                      <a:noFill/>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197853778"/>
              </p:ext>
            </p:extLst>
          </p:nvPr>
        </p:nvGraphicFramePr>
        <p:xfrm>
          <a:off x="4399914" y="3779544"/>
          <a:ext cx="4994058" cy="1616928"/>
        </p:xfrm>
        <a:graphic>
          <a:graphicData uri="http://schemas.openxmlformats.org/presentationml/2006/ole">
            <mc:AlternateContent xmlns:mc="http://schemas.openxmlformats.org/markup-compatibility/2006">
              <mc:Choice xmlns:v="urn:schemas-microsoft-com:vml" Requires="v">
                <p:oleObj name="Equation" r:id="rId6" imgW="1562100" imgH="495300" progId="Equation.DSMT4">
                  <p:embed/>
                </p:oleObj>
              </mc:Choice>
              <mc:Fallback>
                <p:oleObj name="Equation" r:id="rId6" imgW="1562100" imgH="495300" progId="Equation.DSMT4">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9914" y="3779544"/>
                        <a:ext cx="4994058" cy="1616928"/>
                      </a:xfrm>
                      <a:prstGeom prst="rect">
                        <a:avLst/>
                      </a:prstGeom>
                      <a:noFill/>
                    </p:spPr>
                  </p:pic>
                </p:oleObj>
              </mc:Fallback>
            </mc:AlternateContent>
          </a:graphicData>
        </a:graphic>
      </p:graphicFrame>
    </p:spTree>
    <p:extLst>
      <p:ext uri="{BB962C8B-B14F-4D97-AF65-F5344CB8AC3E}">
        <p14:creationId xmlns:p14="http://schemas.microsoft.com/office/powerpoint/2010/main" val="443732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Inserting Coefficients</a:t>
            </a:r>
            <a:endParaRPr lang="en-US" sz="4000" b="0" kern="0" dirty="0"/>
          </a:p>
        </p:txBody>
      </p:sp>
      <p:graphicFrame>
        <p:nvGraphicFramePr>
          <p:cNvPr id="3" name="Object 2"/>
          <p:cNvGraphicFramePr>
            <a:graphicFrameLocks noChangeAspect="1"/>
          </p:cNvGraphicFramePr>
          <p:nvPr>
            <p:extLst>
              <p:ext uri="{D42A27DB-BD31-4B8C-83A1-F6EECF244321}">
                <p14:modId xmlns:p14="http://schemas.microsoft.com/office/powerpoint/2010/main" val="1284510453"/>
              </p:ext>
            </p:extLst>
          </p:nvPr>
        </p:nvGraphicFramePr>
        <p:xfrm>
          <a:off x="2710418" y="1204525"/>
          <a:ext cx="7304054" cy="3133299"/>
        </p:xfrm>
        <a:graphic>
          <a:graphicData uri="http://schemas.openxmlformats.org/presentationml/2006/ole">
            <mc:AlternateContent xmlns:mc="http://schemas.openxmlformats.org/markup-compatibility/2006">
              <mc:Choice xmlns:v="urn:schemas-microsoft-com:vml" Requires="v">
                <p:oleObj name="Equation" r:id="rId3" imgW="2476440" imgH="1091880" progId="Equation.DSMT4">
                  <p:embed/>
                </p:oleObj>
              </mc:Choice>
              <mc:Fallback>
                <p:oleObj name="Equation" r:id="rId3" imgW="2476440" imgH="1091880" progId="Equation.DSMT4">
                  <p:embed/>
                  <p:pic>
                    <p:nvPicPr>
                      <p:cNvPr id="3" name="Object 2"/>
                      <p:cNvPicPr>
                        <a:picLocks noChangeAspect="1" noChangeArrowheads="1"/>
                      </p:cNvPicPr>
                      <p:nvPr/>
                    </p:nvPicPr>
                    <p:blipFill>
                      <a:blip r:embed="rId4"/>
                      <a:srcRect/>
                      <a:stretch>
                        <a:fillRect/>
                      </a:stretch>
                    </p:blipFill>
                    <p:spPr bwMode="auto">
                      <a:xfrm>
                        <a:off x="2710418" y="1204525"/>
                        <a:ext cx="7304054" cy="3133299"/>
                      </a:xfrm>
                      <a:prstGeom prst="rect">
                        <a:avLst/>
                      </a:prstGeom>
                      <a:noFill/>
                    </p:spPr>
                  </p:pic>
                </p:oleObj>
              </mc:Fallback>
            </mc:AlternateContent>
          </a:graphicData>
        </a:graphic>
      </p:graphicFrame>
      <p:sp>
        <p:nvSpPr>
          <p:cNvPr id="2" name="Rectangle 1"/>
          <p:cNvSpPr/>
          <p:nvPr/>
        </p:nvSpPr>
        <p:spPr>
          <a:xfrm>
            <a:off x="2157762" y="4457122"/>
            <a:ext cx="8224701" cy="2215991"/>
          </a:xfrm>
          <a:prstGeom prst="rect">
            <a:avLst/>
          </a:prstGeom>
        </p:spPr>
        <p:txBody>
          <a:bodyPr wrap="square">
            <a:spAutoFit/>
          </a:bodyPr>
          <a:lstStyle/>
          <a:p>
            <a:pPr algn="just">
              <a:lnSpc>
                <a:spcPct val="115000"/>
              </a:lnSpc>
              <a:spcBef>
                <a:spcPts val="0"/>
              </a:spcBef>
              <a:spcAft>
                <a:spcPts val="0"/>
              </a:spcAft>
            </a:pPr>
            <a:r>
              <a:rPr lang="en-US" b="1" dirty="0">
                <a:latin typeface="+mn-lt"/>
                <a:ea typeface="Malgun Gothic" panose="020B0503020000020004" pitchFamily="34" charset="-127"/>
                <a:cs typeface="Times New Roman" panose="02020603050405020304" pitchFamily="18" charset="0"/>
              </a:rPr>
              <a:t>Right Hand Side: </a:t>
            </a:r>
            <a:r>
              <a:rPr lang="en-US" dirty="0">
                <a:latin typeface="+mn-lt"/>
                <a:ea typeface="Malgun Gothic" panose="020B0503020000020004" pitchFamily="34" charset="-127"/>
                <a:cs typeface="Times New Roman" panose="02020603050405020304" pitchFamily="18" charset="0"/>
              </a:rPr>
              <a:t>Inner products at infinitely many discrete frequency points </a:t>
            </a:r>
            <a:r>
              <a:rPr lang="en-US" i="1" dirty="0">
                <a:latin typeface="+mn-lt"/>
                <a:ea typeface="Malgun Gothic" panose="020B0503020000020004" pitchFamily="34" charset="-127"/>
                <a:cs typeface="Times New Roman" panose="02020603050405020304" pitchFamily="18" charset="0"/>
              </a:rPr>
              <a:t>u</a:t>
            </a:r>
            <a:r>
              <a:rPr lang="en-US" dirty="0">
                <a:latin typeface="+mn-lt"/>
                <a:ea typeface="Malgun Gothic" panose="020B0503020000020004" pitchFamily="34" charset="-127"/>
                <a:cs typeface="Times New Roman" panose="02020603050405020304" pitchFamily="18" charset="0"/>
              </a:rPr>
              <a:t>=</a:t>
            </a:r>
            <a:r>
              <a:rPr lang="en-US" i="1" dirty="0">
                <a:latin typeface="+mn-lt"/>
                <a:ea typeface="Malgun Gothic" panose="020B0503020000020004" pitchFamily="34" charset="-127"/>
                <a:cs typeface="Times New Roman" panose="02020603050405020304" pitchFamily="18" charset="0"/>
              </a:rPr>
              <a:t>n/T</a:t>
            </a:r>
            <a:r>
              <a:rPr lang="en-US" dirty="0">
                <a:latin typeface="+mn-lt"/>
                <a:ea typeface="Malgun Gothic" panose="020B0503020000020004" pitchFamily="34" charset="-127"/>
                <a:cs typeface="Times New Roman" panose="02020603050405020304" pitchFamily="18" charset="0"/>
              </a:rPr>
              <a:t>, and for a sufficiently large </a:t>
            </a:r>
            <a:r>
              <a:rPr lang="en-US" i="1" dirty="0">
                <a:latin typeface="+mn-lt"/>
                <a:ea typeface="Malgun Gothic" panose="020B0503020000020004" pitchFamily="34" charset="-127"/>
                <a:cs typeface="Times New Roman" panose="02020603050405020304" pitchFamily="18" charset="0"/>
              </a:rPr>
              <a:t>T</a:t>
            </a:r>
            <a:r>
              <a:rPr lang="en-US" dirty="0">
                <a:latin typeface="+mn-lt"/>
                <a:ea typeface="Malgun Gothic" panose="020B0503020000020004" pitchFamily="34" charset="-127"/>
                <a:cs typeface="Times New Roman" panose="02020603050405020304" pitchFamily="18" charset="0"/>
              </a:rPr>
              <a:t> and all integer </a:t>
            </a:r>
            <a:r>
              <a:rPr lang="en-US" i="1" dirty="0">
                <a:latin typeface="+mn-lt"/>
                <a:ea typeface="Malgun Gothic" panose="020B0503020000020004" pitchFamily="34" charset="-127"/>
                <a:cs typeface="Times New Roman" panose="02020603050405020304" pitchFamily="18" charset="0"/>
              </a:rPr>
              <a:t>n</a:t>
            </a:r>
            <a:r>
              <a:rPr lang="en-US" dirty="0">
                <a:latin typeface="+mn-lt"/>
                <a:ea typeface="Malgun Gothic" panose="020B0503020000020004" pitchFamily="34" charset="-127"/>
                <a:cs typeface="Times New Roman" panose="02020603050405020304" pitchFamily="18" charset="0"/>
              </a:rPr>
              <a:t> the interval for </a:t>
            </a:r>
            <a:r>
              <a:rPr lang="en-US" i="1" dirty="0">
                <a:latin typeface="+mn-lt"/>
                <a:ea typeface="Malgun Gothic" panose="020B0503020000020004" pitchFamily="34" charset="-127"/>
                <a:cs typeface="Times New Roman" panose="02020603050405020304" pitchFamily="18" charset="0"/>
              </a:rPr>
              <a:t>u</a:t>
            </a:r>
            <a:r>
              <a:rPr lang="en-US" dirty="0">
                <a:latin typeface="+mn-lt"/>
                <a:ea typeface="Malgun Gothic" panose="020B0503020000020004" pitchFamily="34" charset="-127"/>
                <a:cs typeface="Times New Roman" panose="02020603050405020304" pitchFamily="18" charset="0"/>
              </a:rPr>
              <a:t> is dense on the whole number axis, and the distance between adjacent frequencies is infinitesimal </a:t>
            </a:r>
            <a:r>
              <a:rPr lang="en-US" i="1" dirty="0" err="1">
                <a:latin typeface="+mn-lt"/>
                <a:ea typeface="Malgun Gothic" panose="020B0503020000020004" pitchFamily="34" charset="-127"/>
                <a:cs typeface="Times New Roman" panose="02020603050405020304" pitchFamily="18" charset="0"/>
              </a:rPr>
              <a:t>Δu</a:t>
            </a:r>
            <a:r>
              <a:rPr lang="en-US" dirty="0">
                <a:latin typeface="+mn-lt"/>
                <a:ea typeface="Malgun Gothic" panose="020B0503020000020004" pitchFamily="34" charset="-127"/>
                <a:cs typeface="Times New Roman" panose="02020603050405020304" pitchFamily="18" charset="0"/>
              </a:rPr>
              <a:t>=</a:t>
            </a:r>
            <a:r>
              <a:rPr lang="en-US" i="1" dirty="0">
                <a:latin typeface="+mn-lt"/>
                <a:ea typeface="Malgun Gothic" panose="020B0503020000020004" pitchFamily="34" charset="-127"/>
                <a:cs typeface="Times New Roman" panose="02020603050405020304" pitchFamily="18" charset="0"/>
              </a:rPr>
              <a:t>1/T</a:t>
            </a:r>
            <a:r>
              <a:rPr lang="en-US" dirty="0">
                <a:latin typeface="+mn-lt"/>
                <a:ea typeface="Malgun Gothic" panose="020B0503020000020004" pitchFamily="34" charset="-127"/>
                <a:cs typeface="Times New Roman" panose="02020603050405020304" pitchFamily="18" charset="0"/>
              </a:rPr>
              <a:t>. </a:t>
            </a:r>
          </a:p>
        </p:txBody>
      </p:sp>
    </p:spTree>
    <p:extLst>
      <p:ext uri="{BB962C8B-B14F-4D97-AF65-F5344CB8AC3E}">
        <p14:creationId xmlns:p14="http://schemas.microsoft.com/office/powerpoint/2010/main" val="2533134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p:nvPr/>
        </p:nvSpPr>
        <p:spPr bwMode="auto">
          <a:xfrm>
            <a:off x="2948539" y="1249684"/>
            <a:ext cx="6120066" cy="2810507"/>
          </a:xfrm>
          <a:custGeom>
            <a:avLst/>
            <a:gdLst>
              <a:gd name="connsiteX0" fmla="*/ 0 w 6660682"/>
              <a:gd name="connsiteY0" fmla="*/ 1886601 h 1934727"/>
              <a:gd name="connsiteX1" fmla="*/ 2849078 w 6660682"/>
              <a:gd name="connsiteY1" fmla="*/ 50 h 1934727"/>
              <a:gd name="connsiteX2" fmla="*/ 6660682 w 6660682"/>
              <a:gd name="connsiteY2" fmla="*/ 1934727 h 1934727"/>
              <a:gd name="connsiteX0" fmla="*/ 0 w 6708808"/>
              <a:gd name="connsiteY0" fmla="*/ 1926308 h 1934679"/>
              <a:gd name="connsiteX1" fmla="*/ 2897204 w 6708808"/>
              <a:gd name="connsiteY1" fmla="*/ 2 h 1934679"/>
              <a:gd name="connsiteX2" fmla="*/ 6708808 w 6708808"/>
              <a:gd name="connsiteY2" fmla="*/ 1934679 h 1934679"/>
            </a:gdLst>
            <a:ahLst/>
            <a:cxnLst>
              <a:cxn ang="0">
                <a:pos x="connsiteX0" y="connsiteY0"/>
              </a:cxn>
              <a:cxn ang="0">
                <a:pos x="connsiteX1" y="connsiteY1"/>
              </a:cxn>
              <a:cxn ang="0">
                <a:pos x="connsiteX2" y="connsiteY2"/>
              </a:cxn>
            </a:cxnLst>
            <a:rect l="l" t="t" r="r" b="b"/>
            <a:pathLst>
              <a:path w="6708808" h="1934679">
                <a:moveTo>
                  <a:pt x="0" y="1926308"/>
                </a:moveTo>
                <a:cubicBezTo>
                  <a:pt x="869482" y="979022"/>
                  <a:pt x="1779069" y="-1393"/>
                  <a:pt x="2897204" y="2"/>
                </a:cubicBezTo>
                <a:cubicBezTo>
                  <a:pt x="4015339" y="1397"/>
                  <a:pt x="5358063" y="971351"/>
                  <a:pt x="6708808" y="1934679"/>
                </a:cubicBezTo>
              </a:path>
            </a:pathLst>
          </a:cu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cxnSp>
        <p:nvCxnSpPr>
          <p:cNvPr id="14" name="Straight Connector 13"/>
          <p:cNvCxnSpPr/>
          <p:nvPr/>
        </p:nvCxnSpPr>
        <p:spPr bwMode="auto">
          <a:xfrm>
            <a:off x="60847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2371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63895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65419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66943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68467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69991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71339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74387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75911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77435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a:off x="78959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a:off x="80483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a:off x="82007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83531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Straight Connector 31"/>
          <p:cNvCxnSpPr/>
          <p:nvPr/>
        </p:nvCxnSpPr>
        <p:spPr bwMode="auto">
          <a:xfrm>
            <a:off x="85055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Straight Connector 32"/>
          <p:cNvCxnSpPr/>
          <p:nvPr/>
        </p:nvCxnSpPr>
        <p:spPr bwMode="auto">
          <a:xfrm>
            <a:off x="86579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Straight Connector 33"/>
          <p:cNvCxnSpPr/>
          <p:nvPr/>
        </p:nvCxnSpPr>
        <p:spPr bwMode="auto">
          <a:xfrm>
            <a:off x="88103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a:off x="89627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6" name="Straight Connector 35"/>
          <p:cNvCxnSpPr/>
          <p:nvPr/>
        </p:nvCxnSpPr>
        <p:spPr bwMode="auto">
          <a:xfrm>
            <a:off x="9115128"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57" name="Group 56"/>
          <p:cNvGrpSpPr/>
          <p:nvPr/>
        </p:nvGrpSpPr>
        <p:grpSpPr>
          <a:xfrm>
            <a:off x="2847475" y="470037"/>
            <a:ext cx="2780096" cy="3561347"/>
            <a:chOff x="1323475" y="296781"/>
            <a:chExt cx="2780096" cy="3561347"/>
          </a:xfrm>
        </p:grpSpPr>
        <p:cxnSp>
          <p:nvCxnSpPr>
            <p:cNvPr id="7" name="Straight Connector 6"/>
            <p:cNvCxnSpPr/>
            <p:nvPr/>
          </p:nvCxnSpPr>
          <p:spPr bwMode="auto">
            <a:xfrm>
              <a:off x="3493971"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646371"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3798771"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3951171"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4103571"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8" name="Straight Connector 37"/>
            <p:cNvCxnSpPr/>
            <p:nvPr/>
          </p:nvCxnSpPr>
          <p:spPr bwMode="auto">
            <a:xfrm>
              <a:off x="13234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a:off x="14758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a:off x="16282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a:off x="17806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a:off x="19330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a:off x="20854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a:off x="22378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5" name="Straight Connector 44"/>
            <p:cNvCxnSpPr/>
            <p:nvPr/>
          </p:nvCxnSpPr>
          <p:spPr bwMode="auto">
            <a:xfrm>
              <a:off x="23902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6" name="Straight Connector 45"/>
            <p:cNvCxnSpPr/>
            <p:nvPr/>
          </p:nvCxnSpPr>
          <p:spPr bwMode="auto">
            <a:xfrm>
              <a:off x="25426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7" name="Straight Connector 46"/>
            <p:cNvCxnSpPr/>
            <p:nvPr/>
          </p:nvCxnSpPr>
          <p:spPr bwMode="auto">
            <a:xfrm>
              <a:off x="26950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28474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a:off x="29998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Straight Connector 49"/>
            <p:cNvCxnSpPr/>
            <p:nvPr/>
          </p:nvCxnSpPr>
          <p:spPr bwMode="auto">
            <a:xfrm>
              <a:off x="31522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1" name="Straight Connector 50"/>
            <p:cNvCxnSpPr/>
            <p:nvPr/>
          </p:nvCxnSpPr>
          <p:spPr bwMode="auto">
            <a:xfrm>
              <a:off x="3304675" y="296781"/>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52" name="Rectangle 51"/>
          <p:cNvSpPr/>
          <p:nvPr/>
        </p:nvSpPr>
        <p:spPr>
          <a:xfrm>
            <a:off x="2002900" y="4666582"/>
            <a:ext cx="8224701" cy="1791260"/>
          </a:xfrm>
          <a:prstGeom prst="rect">
            <a:avLst/>
          </a:prstGeom>
        </p:spPr>
        <p:txBody>
          <a:bodyPr wrap="square">
            <a:spAutoFit/>
          </a:bodyPr>
          <a:lstStyle/>
          <a:p>
            <a:pPr algn="just">
              <a:lnSpc>
                <a:spcPct val="115000"/>
              </a:lnSpc>
              <a:spcBef>
                <a:spcPts val="0"/>
              </a:spcBef>
              <a:spcAft>
                <a:spcPts val="0"/>
              </a:spcAft>
            </a:pPr>
            <a:r>
              <a:rPr lang="en-US" dirty="0">
                <a:latin typeface="+mn-lt"/>
                <a:ea typeface="Malgun Gothic" panose="020B0503020000020004" pitchFamily="34" charset="-127"/>
                <a:cs typeface="Times New Roman" panose="02020603050405020304" pitchFamily="18" charset="0"/>
              </a:rPr>
              <a:t>Inner products at many discrete points </a:t>
            </a:r>
            <a:r>
              <a:rPr lang="en-US" i="1" dirty="0">
                <a:solidFill>
                  <a:srgbClr val="009900"/>
                </a:solidFill>
                <a:latin typeface="+mn-lt"/>
                <a:ea typeface="Malgun Gothic" panose="020B0503020000020004" pitchFamily="34" charset="-127"/>
                <a:cs typeface="Times New Roman" panose="02020603050405020304" pitchFamily="18" charset="0"/>
              </a:rPr>
              <a:t>u</a:t>
            </a:r>
            <a:r>
              <a:rPr lang="en-US" dirty="0">
                <a:solidFill>
                  <a:srgbClr val="009900"/>
                </a:solidFill>
                <a:latin typeface="+mn-lt"/>
                <a:ea typeface="Malgun Gothic" panose="020B0503020000020004" pitchFamily="34" charset="-127"/>
                <a:cs typeface="Times New Roman" panose="02020603050405020304" pitchFamily="18" charset="0"/>
              </a:rPr>
              <a:t>=</a:t>
            </a:r>
            <a:r>
              <a:rPr lang="en-US" i="1" dirty="0">
                <a:solidFill>
                  <a:srgbClr val="009900"/>
                </a:solidFill>
                <a:latin typeface="+mn-lt"/>
                <a:ea typeface="Malgun Gothic" panose="020B0503020000020004" pitchFamily="34" charset="-127"/>
                <a:cs typeface="Times New Roman" panose="02020603050405020304" pitchFamily="18" charset="0"/>
              </a:rPr>
              <a:t>n/T</a:t>
            </a:r>
            <a:r>
              <a:rPr lang="en-US" dirty="0">
                <a:latin typeface="+mn-lt"/>
                <a:ea typeface="Malgun Gothic" panose="020B0503020000020004" pitchFamily="34" charset="-127"/>
                <a:cs typeface="Times New Roman" panose="02020603050405020304" pitchFamily="18" charset="0"/>
              </a:rPr>
              <a:t>, and for a sufficiently large </a:t>
            </a:r>
            <a:r>
              <a:rPr lang="en-US" i="1" dirty="0">
                <a:latin typeface="+mn-lt"/>
                <a:ea typeface="Malgun Gothic" panose="020B0503020000020004" pitchFamily="34" charset="-127"/>
                <a:cs typeface="Times New Roman" panose="02020603050405020304" pitchFamily="18" charset="0"/>
              </a:rPr>
              <a:t>T</a:t>
            </a:r>
            <a:r>
              <a:rPr lang="en-US" dirty="0">
                <a:latin typeface="+mn-lt"/>
                <a:ea typeface="Malgun Gothic" panose="020B0503020000020004" pitchFamily="34" charset="-127"/>
                <a:cs typeface="Times New Roman" panose="02020603050405020304" pitchFamily="18" charset="0"/>
              </a:rPr>
              <a:t> and all integer </a:t>
            </a:r>
            <a:r>
              <a:rPr lang="en-US" i="1" dirty="0">
                <a:latin typeface="+mn-lt"/>
                <a:ea typeface="Malgun Gothic" panose="020B0503020000020004" pitchFamily="34" charset="-127"/>
                <a:cs typeface="Times New Roman" panose="02020603050405020304" pitchFamily="18" charset="0"/>
              </a:rPr>
              <a:t>n</a:t>
            </a:r>
            <a:r>
              <a:rPr lang="en-US" dirty="0">
                <a:latin typeface="+mn-lt"/>
                <a:ea typeface="Malgun Gothic" panose="020B0503020000020004" pitchFamily="34" charset="-127"/>
                <a:cs typeface="Times New Roman" panose="02020603050405020304" pitchFamily="18" charset="0"/>
              </a:rPr>
              <a:t> the interval for </a:t>
            </a:r>
            <a:r>
              <a:rPr lang="en-US" i="1" dirty="0">
                <a:latin typeface="+mn-lt"/>
                <a:ea typeface="Malgun Gothic" panose="020B0503020000020004" pitchFamily="34" charset="-127"/>
                <a:cs typeface="Times New Roman" panose="02020603050405020304" pitchFamily="18" charset="0"/>
              </a:rPr>
              <a:t>u</a:t>
            </a:r>
            <a:r>
              <a:rPr lang="en-US" dirty="0">
                <a:latin typeface="+mn-lt"/>
                <a:ea typeface="Malgun Gothic" panose="020B0503020000020004" pitchFamily="34" charset="-127"/>
                <a:cs typeface="Times New Roman" panose="02020603050405020304" pitchFamily="18" charset="0"/>
              </a:rPr>
              <a:t> is dense on the </a:t>
            </a:r>
            <a:r>
              <a:rPr lang="en-US" dirty="0">
                <a:solidFill>
                  <a:srgbClr val="FF0000"/>
                </a:solidFill>
                <a:latin typeface="+mn-lt"/>
                <a:ea typeface="Malgun Gothic" panose="020B0503020000020004" pitchFamily="34" charset="-127"/>
                <a:cs typeface="Times New Roman" panose="02020603050405020304" pitchFamily="18" charset="0"/>
              </a:rPr>
              <a:t>whole axis</a:t>
            </a:r>
            <a:r>
              <a:rPr lang="en-US" dirty="0">
                <a:latin typeface="+mn-lt"/>
                <a:ea typeface="Malgun Gothic" panose="020B0503020000020004" pitchFamily="34" charset="-127"/>
                <a:cs typeface="Times New Roman" panose="02020603050405020304" pitchFamily="18" charset="0"/>
              </a:rPr>
              <a:t>, and the distance between adjacent frequencies is infinitesimal </a:t>
            </a:r>
            <a:r>
              <a:rPr lang="en-US" i="1" dirty="0" err="1">
                <a:solidFill>
                  <a:srgbClr val="7030A0"/>
                </a:solidFill>
                <a:ea typeface="Malgun Gothic" panose="020B0503020000020004" pitchFamily="34" charset="-127"/>
                <a:cs typeface="Times New Roman" panose="02020603050405020304" pitchFamily="18" charset="0"/>
              </a:rPr>
              <a:t>Δu</a:t>
            </a:r>
            <a:r>
              <a:rPr lang="en-US" dirty="0">
                <a:solidFill>
                  <a:srgbClr val="7030A0"/>
                </a:solidFill>
                <a:ea typeface="Malgun Gothic" panose="020B0503020000020004" pitchFamily="34" charset="-127"/>
                <a:cs typeface="Times New Roman" panose="02020603050405020304" pitchFamily="18" charset="0"/>
              </a:rPr>
              <a:t>=</a:t>
            </a:r>
            <a:r>
              <a:rPr lang="en-US" i="1" dirty="0">
                <a:solidFill>
                  <a:srgbClr val="7030A0"/>
                </a:solidFill>
                <a:ea typeface="Malgun Gothic" panose="020B0503020000020004" pitchFamily="34" charset="-127"/>
                <a:cs typeface="Times New Roman" panose="02020603050405020304" pitchFamily="18" charset="0"/>
              </a:rPr>
              <a:t>1/T</a:t>
            </a:r>
            <a:r>
              <a:rPr lang="en-US" dirty="0">
                <a:latin typeface="+mn-lt"/>
                <a:ea typeface="Malgun Gothic" panose="020B0503020000020004" pitchFamily="34" charset="-127"/>
                <a:cs typeface="Times New Roman" panose="02020603050405020304" pitchFamily="18" charset="0"/>
              </a:rPr>
              <a:t>. </a:t>
            </a:r>
          </a:p>
        </p:txBody>
      </p:sp>
      <p:sp>
        <p:nvSpPr>
          <p:cNvPr id="53" name="Rectangle 52"/>
          <p:cNvSpPr/>
          <p:nvPr/>
        </p:nvSpPr>
        <p:spPr>
          <a:xfrm>
            <a:off x="2523577" y="4135870"/>
            <a:ext cx="731290" cy="461665"/>
          </a:xfrm>
          <a:prstGeom prst="rect">
            <a:avLst/>
          </a:prstGeom>
        </p:spPr>
        <p:txBody>
          <a:bodyPr wrap="none">
            <a:spAutoFit/>
          </a:bodyPr>
          <a:lstStyle/>
          <a:p>
            <a:r>
              <a:rPr lang="en-US" i="1" dirty="0">
                <a:solidFill>
                  <a:srgbClr val="FF0000"/>
                </a:solidFill>
                <a:ea typeface="Malgun Gothic" panose="020B0503020000020004" pitchFamily="34" charset="-127"/>
                <a:cs typeface="Times New Roman" panose="02020603050405020304" pitchFamily="18" charset="0"/>
              </a:rPr>
              <a:t>-T/2</a:t>
            </a:r>
            <a:endParaRPr lang="en-US" dirty="0">
              <a:solidFill>
                <a:srgbClr val="FF0000"/>
              </a:solidFill>
            </a:endParaRPr>
          </a:p>
        </p:txBody>
      </p:sp>
      <p:sp>
        <p:nvSpPr>
          <p:cNvPr id="54" name="Rectangle 53"/>
          <p:cNvSpPr/>
          <p:nvPr/>
        </p:nvSpPr>
        <p:spPr>
          <a:xfrm>
            <a:off x="8749483" y="4135870"/>
            <a:ext cx="628698" cy="461665"/>
          </a:xfrm>
          <a:prstGeom prst="rect">
            <a:avLst/>
          </a:prstGeom>
        </p:spPr>
        <p:txBody>
          <a:bodyPr wrap="none">
            <a:spAutoFit/>
          </a:bodyPr>
          <a:lstStyle/>
          <a:p>
            <a:r>
              <a:rPr lang="en-US" i="1" dirty="0">
                <a:solidFill>
                  <a:srgbClr val="FF0000"/>
                </a:solidFill>
                <a:ea typeface="Malgun Gothic" panose="020B0503020000020004" pitchFamily="34" charset="-127"/>
                <a:cs typeface="Times New Roman" panose="02020603050405020304" pitchFamily="18" charset="0"/>
              </a:rPr>
              <a:t>T/2</a:t>
            </a:r>
            <a:endParaRPr lang="en-US" dirty="0">
              <a:solidFill>
                <a:srgbClr val="FF0000"/>
              </a:solidFill>
            </a:endParaRPr>
          </a:p>
        </p:txBody>
      </p:sp>
      <p:sp>
        <p:nvSpPr>
          <p:cNvPr id="55" name="Rectangle 54"/>
          <p:cNvSpPr/>
          <p:nvPr/>
        </p:nvSpPr>
        <p:spPr>
          <a:xfrm>
            <a:off x="7108265" y="4026189"/>
            <a:ext cx="979755" cy="461665"/>
          </a:xfrm>
          <a:prstGeom prst="rect">
            <a:avLst/>
          </a:prstGeom>
        </p:spPr>
        <p:txBody>
          <a:bodyPr wrap="none">
            <a:spAutoFit/>
          </a:bodyPr>
          <a:lstStyle/>
          <a:p>
            <a:r>
              <a:rPr lang="en-US" i="1" dirty="0">
                <a:solidFill>
                  <a:srgbClr val="009900"/>
                </a:solidFill>
                <a:ea typeface="Malgun Gothic" panose="020B0503020000020004" pitchFamily="34" charset="-127"/>
                <a:cs typeface="Times New Roman" panose="02020603050405020304" pitchFamily="18" charset="0"/>
              </a:rPr>
              <a:t>u</a:t>
            </a:r>
            <a:r>
              <a:rPr lang="en-US" dirty="0">
                <a:solidFill>
                  <a:srgbClr val="009900"/>
                </a:solidFill>
                <a:ea typeface="Malgun Gothic" panose="020B0503020000020004" pitchFamily="34" charset="-127"/>
                <a:cs typeface="Times New Roman" panose="02020603050405020304" pitchFamily="18" charset="0"/>
              </a:rPr>
              <a:t>=</a:t>
            </a:r>
            <a:r>
              <a:rPr lang="en-US" i="1" dirty="0">
                <a:solidFill>
                  <a:srgbClr val="009900"/>
                </a:solidFill>
                <a:ea typeface="Malgun Gothic" panose="020B0503020000020004" pitchFamily="34" charset="-127"/>
                <a:cs typeface="Times New Roman" panose="02020603050405020304" pitchFamily="18" charset="0"/>
              </a:rPr>
              <a:t>n/T</a:t>
            </a:r>
            <a:endParaRPr lang="en-US" dirty="0">
              <a:solidFill>
                <a:srgbClr val="009900"/>
              </a:solidFill>
            </a:endParaRPr>
          </a:p>
        </p:txBody>
      </p:sp>
      <p:sp>
        <p:nvSpPr>
          <p:cNvPr id="56" name="Rectangle 55"/>
          <p:cNvSpPr/>
          <p:nvPr/>
        </p:nvSpPr>
        <p:spPr>
          <a:xfrm>
            <a:off x="9896325" y="3507923"/>
            <a:ext cx="356188" cy="461665"/>
          </a:xfrm>
          <a:prstGeom prst="rect">
            <a:avLst/>
          </a:prstGeom>
        </p:spPr>
        <p:txBody>
          <a:bodyPr wrap="none">
            <a:spAutoFit/>
          </a:bodyPr>
          <a:lstStyle/>
          <a:p>
            <a:r>
              <a:rPr lang="en-US" i="1" dirty="0">
                <a:solidFill>
                  <a:srgbClr val="FF0000"/>
                </a:solidFill>
                <a:ea typeface="Malgun Gothic" panose="020B0503020000020004" pitchFamily="34" charset="-127"/>
                <a:cs typeface="Times New Roman" panose="02020603050405020304" pitchFamily="18" charset="0"/>
              </a:rPr>
              <a:t>u</a:t>
            </a:r>
            <a:endParaRPr lang="en-US" dirty="0">
              <a:solidFill>
                <a:srgbClr val="FF0000"/>
              </a:solidFill>
            </a:endParaRPr>
          </a:p>
        </p:txBody>
      </p:sp>
      <p:cxnSp>
        <p:nvCxnSpPr>
          <p:cNvPr id="4" name="Straight Arrow Connector 3"/>
          <p:cNvCxnSpPr/>
          <p:nvPr/>
        </p:nvCxnSpPr>
        <p:spPr bwMode="auto">
          <a:xfrm>
            <a:off x="1764631" y="4032989"/>
            <a:ext cx="8701238" cy="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cxnSp>
        <p:nvCxnSpPr>
          <p:cNvPr id="24" name="Straight Connector 23"/>
          <p:cNvCxnSpPr/>
          <p:nvPr/>
        </p:nvCxnSpPr>
        <p:spPr bwMode="auto">
          <a:xfrm>
            <a:off x="7286328" y="470037"/>
            <a:ext cx="0" cy="3561347"/>
          </a:xfrm>
          <a:prstGeom prst="line">
            <a:avLst/>
          </a:prstGeom>
          <a:solidFill>
            <a:schemeClr val="accent1"/>
          </a:solidFill>
          <a:ln w="9525" cap="flat" cmpd="sng" algn="ctr">
            <a:solidFill>
              <a:srgbClr val="009900"/>
            </a:solidFill>
            <a:prstDash val="solid"/>
            <a:round/>
            <a:headEnd type="none" w="med" len="med"/>
            <a:tailEnd type="oval" w="med" len="med"/>
          </a:ln>
          <a:effectLst/>
        </p:spPr>
      </p:cxnSp>
      <p:cxnSp>
        <p:nvCxnSpPr>
          <p:cNvPr id="12" name="Straight Connector 11"/>
          <p:cNvCxnSpPr/>
          <p:nvPr/>
        </p:nvCxnSpPr>
        <p:spPr bwMode="auto">
          <a:xfrm>
            <a:off x="5779971" y="470037"/>
            <a:ext cx="0" cy="356134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5932371" y="470037"/>
            <a:ext cx="0" cy="3561347"/>
          </a:xfrm>
          <a:prstGeom prst="line">
            <a:avLst/>
          </a:prstGeom>
          <a:solidFill>
            <a:schemeClr val="accent1"/>
          </a:solidFill>
          <a:ln w="9525" cap="flat" cmpd="sng" algn="ctr">
            <a:solidFill>
              <a:schemeClr val="tx1"/>
            </a:solidFill>
            <a:prstDash val="solid"/>
            <a:round/>
            <a:headEnd type="none" w="med" len="med"/>
            <a:tailEnd type="oval" w="med" len="med"/>
          </a:ln>
          <a:effectLst/>
        </p:spPr>
      </p:cxnSp>
      <p:sp>
        <p:nvSpPr>
          <p:cNvPr id="78" name="Rectangle 77"/>
          <p:cNvSpPr/>
          <p:nvPr/>
        </p:nvSpPr>
        <p:spPr>
          <a:xfrm>
            <a:off x="7690051" y="967412"/>
            <a:ext cx="1186543" cy="461665"/>
          </a:xfrm>
          <a:prstGeom prst="rect">
            <a:avLst/>
          </a:prstGeom>
          <a:solidFill>
            <a:schemeClr val="bg1"/>
          </a:solidFill>
        </p:spPr>
        <p:txBody>
          <a:bodyPr wrap="none">
            <a:spAutoFit/>
          </a:bodyPr>
          <a:lstStyle/>
          <a:p>
            <a:r>
              <a:rPr lang="en-US" i="1" dirty="0" err="1">
                <a:solidFill>
                  <a:srgbClr val="7030A0"/>
                </a:solidFill>
                <a:ea typeface="Malgun Gothic" panose="020B0503020000020004" pitchFamily="34" charset="-127"/>
                <a:cs typeface="Times New Roman" panose="02020603050405020304" pitchFamily="18" charset="0"/>
              </a:rPr>
              <a:t>Δu</a:t>
            </a:r>
            <a:r>
              <a:rPr lang="en-US" dirty="0">
                <a:solidFill>
                  <a:srgbClr val="7030A0"/>
                </a:solidFill>
                <a:ea typeface="Malgun Gothic" panose="020B0503020000020004" pitchFamily="34" charset="-127"/>
                <a:cs typeface="Times New Roman" panose="02020603050405020304" pitchFamily="18" charset="0"/>
              </a:rPr>
              <a:t>=</a:t>
            </a:r>
            <a:r>
              <a:rPr lang="en-US" i="1" dirty="0">
                <a:solidFill>
                  <a:srgbClr val="7030A0"/>
                </a:solidFill>
                <a:ea typeface="Malgun Gothic" panose="020B0503020000020004" pitchFamily="34" charset="-127"/>
                <a:cs typeface="Times New Roman" panose="02020603050405020304" pitchFamily="18" charset="0"/>
              </a:rPr>
              <a:t>1/T</a:t>
            </a:r>
            <a:endParaRPr lang="en-US" dirty="0"/>
          </a:p>
        </p:txBody>
      </p:sp>
      <p:cxnSp>
        <p:nvCxnSpPr>
          <p:cNvPr id="80" name="Straight Arrow Connector 79"/>
          <p:cNvCxnSpPr/>
          <p:nvPr/>
        </p:nvCxnSpPr>
        <p:spPr bwMode="auto">
          <a:xfrm>
            <a:off x="7286328" y="1472666"/>
            <a:ext cx="609600" cy="0"/>
          </a:xfrm>
          <a:prstGeom prst="straightConnector1">
            <a:avLst/>
          </a:prstGeom>
          <a:solidFill>
            <a:schemeClr val="accent1"/>
          </a:solidFill>
          <a:ln w="38100" cap="flat" cmpd="sng" algn="ctr">
            <a:solidFill>
              <a:srgbClr val="7030A0"/>
            </a:solidFill>
            <a:prstDash val="solid"/>
            <a:round/>
            <a:headEnd type="none" w="med" len="med"/>
            <a:tailEnd type="triangle"/>
          </a:ln>
          <a:effectLst/>
        </p:spPr>
      </p:cxnSp>
      <p:cxnSp>
        <p:nvCxnSpPr>
          <p:cNvPr id="81" name="Straight Arrow Connector 80"/>
          <p:cNvCxnSpPr/>
          <p:nvPr/>
        </p:nvCxnSpPr>
        <p:spPr bwMode="auto">
          <a:xfrm flipH="1">
            <a:off x="8048328" y="1472666"/>
            <a:ext cx="609600" cy="0"/>
          </a:xfrm>
          <a:prstGeom prst="straightConnector1">
            <a:avLst/>
          </a:prstGeom>
          <a:solidFill>
            <a:schemeClr val="accent1"/>
          </a:solidFill>
          <a:ln w="38100" cap="flat" cmpd="sng" algn="ctr">
            <a:solidFill>
              <a:srgbClr val="7030A0"/>
            </a:solidFill>
            <a:prstDash val="solid"/>
            <a:round/>
            <a:headEnd type="none" w="med" len="med"/>
            <a:tailEnd type="triangle"/>
          </a:ln>
          <a:effectLst/>
        </p:spPr>
      </p:cxnSp>
    </p:spTree>
    <p:extLst>
      <p:ext uri="{BB962C8B-B14F-4D97-AF65-F5344CB8AC3E}">
        <p14:creationId xmlns:p14="http://schemas.microsoft.com/office/powerpoint/2010/main" val="2232395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Forward &amp; Inverse Transforms</a:t>
            </a:r>
            <a:endParaRPr lang="en-US" sz="4000" b="0" kern="0" dirty="0"/>
          </a:p>
        </p:txBody>
      </p:sp>
      <p:graphicFrame>
        <p:nvGraphicFramePr>
          <p:cNvPr id="3" name="Object 2"/>
          <p:cNvGraphicFramePr>
            <a:graphicFrameLocks noChangeAspect="1"/>
          </p:cNvGraphicFramePr>
          <p:nvPr>
            <p:extLst>
              <p:ext uri="{D42A27DB-BD31-4B8C-83A1-F6EECF244321}">
                <p14:modId xmlns:p14="http://schemas.microsoft.com/office/powerpoint/2010/main" val="2953364742"/>
              </p:ext>
            </p:extLst>
          </p:nvPr>
        </p:nvGraphicFramePr>
        <p:xfrm>
          <a:off x="1936987" y="990600"/>
          <a:ext cx="7511829" cy="4967438"/>
        </p:xfrm>
        <a:graphic>
          <a:graphicData uri="http://schemas.openxmlformats.org/presentationml/2006/ole">
            <mc:AlternateContent xmlns:mc="http://schemas.openxmlformats.org/markup-compatibility/2006">
              <mc:Choice xmlns:v="urn:schemas-microsoft-com:vml" Requires="v">
                <p:oleObj name="Equation" r:id="rId3" imgW="3098520" imgH="2108160" progId="Equation.DSMT4">
                  <p:embed/>
                </p:oleObj>
              </mc:Choice>
              <mc:Fallback>
                <p:oleObj name="Equation" r:id="rId3" imgW="3098520" imgH="2108160" progId="Equation.DSMT4">
                  <p:embed/>
                  <p:pic>
                    <p:nvPicPr>
                      <p:cNvPr id="3" name="Object 2"/>
                      <p:cNvPicPr>
                        <a:picLocks noChangeAspect="1" noChangeArrowheads="1"/>
                      </p:cNvPicPr>
                      <p:nvPr/>
                    </p:nvPicPr>
                    <p:blipFill>
                      <a:blip r:embed="rId4"/>
                      <a:srcRect/>
                      <a:stretch>
                        <a:fillRect/>
                      </a:stretch>
                    </p:blipFill>
                    <p:spPr bwMode="auto">
                      <a:xfrm>
                        <a:off x="1936987" y="990600"/>
                        <a:ext cx="7511829" cy="4967438"/>
                      </a:xfrm>
                      <a:prstGeom prst="rect">
                        <a:avLst/>
                      </a:prstGeom>
                      <a:noFill/>
                    </p:spPr>
                  </p:pic>
                </p:oleObj>
              </mc:Fallback>
            </mc:AlternateContent>
          </a:graphicData>
        </a:graphic>
      </p:graphicFrame>
      <p:sp>
        <p:nvSpPr>
          <p:cNvPr id="5" name="Rectangle 4"/>
          <p:cNvSpPr/>
          <p:nvPr/>
        </p:nvSpPr>
        <p:spPr>
          <a:xfrm>
            <a:off x="7025702" y="3804808"/>
            <a:ext cx="1989647" cy="461665"/>
          </a:xfrm>
          <a:prstGeom prst="rect">
            <a:avLst/>
          </a:prstGeom>
        </p:spPr>
        <p:txBody>
          <a:bodyPr wrap="none">
            <a:spAutoFit/>
          </a:bodyPr>
          <a:lstStyle/>
          <a:p>
            <a:r>
              <a:rPr lang="en-US" i="1" dirty="0">
                <a:solidFill>
                  <a:srgbClr val="009900"/>
                </a:solidFill>
                <a:ea typeface="Malgun Gothic" panose="020B0503020000020004" pitchFamily="34" charset="-127"/>
                <a:cs typeface="Times New Roman" panose="02020603050405020304" pitchFamily="18" charset="0"/>
              </a:rPr>
              <a:t>(since u</a:t>
            </a:r>
            <a:r>
              <a:rPr lang="en-US" dirty="0">
                <a:solidFill>
                  <a:srgbClr val="009900"/>
                </a:solidFill>
                <a:ea typeface="Malgun Gothic" panose="020B0503020000020004" pitchFamily="34" charset="-127"/>
                <a:cs typeface="Times New Roman" panose="02020603050405020304" pitchFamily="18" charset="0"/>
              </a:rPr>
              <a:t>=</a:t>
            </a:r>
            <a:r>
              <a:rPr lang="en-US" i="1" dirty="0">
                <a:solidFill>
                  <a:srgbClr val="009900"/>
                </a:solidFill>
                <a:ea typeface="Malgun Gothic" panose="020B0503020000020004" pitchFamily="34" charset="-127"/>
                <a:cs typeface="Times New Roman" panose="02020603050405020304" pitchFamily="18" charset="0"/>
              </a:rPr>
              <a:t>n/T)</a:t>
            </a:r>
            <a:endParaRPr lang="en-US" dirty="0">
              <a:solidFill>
                <a:srgbClr val="009900"/>
              </a:solidFill>
            </a:endParaRPr>
          </a:p>
        </p:txBody>
      </p:sp>
      <p:sp>
        <p:nvSpPr>
          <p:cNvPr id="6" name="Rectangle 5"/>
          <p:cNvSpPr/>
          <p:nvPr/>
        </p:nvSpPr>
        <p:spPr>
          <a:xfrm>
            <a:off x="7025702" y="6111324"/>
            <a:ext cx="2161169" cy="461665"/>
          </a:xfrm>
          <a:prstGeom prst="rect">
            <a:avLst/>
          </a:prstGeom>
        </p:spPr>
        <p:txBody>
          <a:bodyPr wrap="none">
            <a:spAutoFit/>
          </a:bodyPr>
          <a:lstStyle/>
          <a:p>
            <a:r>
              <a:rPr lang="en-US" i="1" dirty="0">
                <a:solidFill>
                  <a:srgbClr val="009900"/>
                </a:solidFill>
                <a:ea typeface="Malgun Gothic" panose="020B0503020000020004" pitchFamily="34" charset="-127"/>
                <a:cs typeface="Times New Roman" panose="02020603050405020304" pitchFamily="18" charset="0"/>
              </a:rPr>
              <a:t>(since du</a:t>
            </a:r>
            <a:r>
              <a:rPr lang="en-US" dirty="0">
                <a:solidFill>
                  <a:srgbClr val="009900"/>
                </a:solidFill>
                <a:ea typeface="Malgun Gothic" panose="020B0503020000020004" pitchFamily="34" charset="-127"/>
                <a:cs typeface="Times New Roman" panose="02020603050405020304" pitchFamily="18" charset="0"/>
              </a:rPr>
              <a:t>=</a:t>
            </a:r>
            <a:r>
              <a:rPr lang="en-US" i="1" dirty="0">
                <a:solidFill>
                  <a:srgbClr val="009900"/>
                </a:solidFill>
                <a:ea typeface="Malgun Gothic" panose="020B0503020000020004" pitchFamily="34" charset="-127"/>
                <a:cs typeface="Times New Roman" panose="02020603050405020304" pitchFamily="18" charset="0"/>
              </a:rPr>
              <a:t>1/T)</a:t>
            </a:r>
            <a:endParaRPr lang="en-US" dirty="0">
              <a:solidFill>
                <a:srgbClr val="009900"/>
              </a:solidFill>
            </a:endParaRPr>
          </a:p>
        </p:txBody>
      </p:sp>
    </p:spTree>
    <p:extLst>
      <p:ext uri="{BB962C8B-B14F-4D97-AF65-F5344CB8AC3E}">
        <p14:creationId xmlns:p14="http://schemas.microsoft.com/office/powerpoint/2010/main" val="1062369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Rectangular/Gate Function</a:t>
            </a:r>
          </a:p>
        </p:txBody>
      </p:sp>
      <p:pic>
        <p:nvPicPr>
          <p:cNvPr id="4" name="Picture 3"/>
          <p:cNvPicPr>
            <a:picLocks noChangeAspect="1"/>
          </p:cNvPicPr>
          <p:nvPr/>
        </p:nvPicPr>
        <p:blipFill>
          <a:blip r:embed="rId3"/>
          <a:stretch>
            <a:fillRect/>
          </a:stretch>
        </p:blipFill>
        <p:spPr>
          <a:xfrm>
            <a:off x="1494516" y="1375151"/>
            <a:ext cx="9202968" cy="4107701"/>
          </a:xfrm>
          <a:prstGeom prst="rect">
            <a:avLst/>
          </a:prstGeom>
        </p:spPr>
      </p:pic>
    </p:spTree>
    <p:extLst>
      <p:ext uri="{BB962C8B-B14F-4D97-AF65-F5344CB8AC3E}">
        <p14:creationId xmlns:p14="http://schemas.microsoft.com/office/powerpoint/2010/main" val="860142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Periodization</a:t>
            </a:r>
          </a:p>
        </p:txBody>
      </p:sp>
      <p:pic>
        <p:nvPicPr>
          <p:cNvPr id="4" name="Picture 3"/>
          <p:cNvPicPr>
            <a:picLocks noChangeAspect="1"/>
          </p:cNvPicPr>
          <p:nvPr/>
        </p:nvPicPr>
        <p:blipFill>
          <a:blip r:embed="rId3"/>
          <a:stretch>
            <a:fillRect/>
          </a:stretch>
        </p:blipFill>
        <p:spPr>
          <a:xfrm>
            <a:off x="1519562" y="1568369"/>
            <a:ext cx="9152874" cy="3721262"/>
          </a:xfrm>
          <a:prstGeom prst="rect">
            <a:avLst/>
          </a:prstGeom>
        </p:spPr>
      </p:pic>
    </p:spTree>
    <p:extLst>
      <p:ext uri="{BB962C8B-B14F-4D97-AF65-F5344CB8AC3E}">
        <p14:creationId xmlns:p14="http://schemas.microsoft.com/office/powerpoint/2010/main" val="1469569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 Period Gets Larger</a:t>
            </a:r>
          </a:p>
        </p:txBody>
      </p:sp>
      <p:pic>
        <p:nvPicPr>
          <p:cNvPr id="4" name="Picture 3"/>
          <p:cNvPicPr>
            <a:picLocks noChangeAspect="1"/>
          </p:cNvPicPr>
          <p:nvPr/>
        </p:nvPicPr>
        <p:blipFill>
          <a:blip r:embed="rId3"/>
          <a:stretch>
            <a:fillRect/>
          </a:stretch>
        </p:blipFill>
        <p:spPr>
          <a:xfrm>
            <a:off x="1676401" y="990600"/>
            <a:ext cx="4295915" cy="2645294"/>
          </a:xfrm>
          <a:prstGeom prst="rect">
            <a:avLst/>
          </a:prstGeom>
        </p:spPr>
      </p:pic>
      <p:pic>
        <p:nvPicPr>
          <p:cNvPr id="5" name="Picture 4"/>
          <p:cNvPicPr>
            <a:picLocks noChangeAspect="1"/>
          </p:cNvPicPr>
          <p:nvPr/>
        </p:nvPicPr>
        <p:blipFill>
          <a:blip r:embed="rId4"/>
          <a:stretch>
            <a:fillRect/>
          </a:stretch>
        </p:blipFill>
        <p:spPr>
          <a:xfrm>
            <a:off x="6192779" y="990600"/>
            <a:ext cx="4102356" cy="2553892"/>
          </a:xfrm>
          <a:prstGeom prst="rect">
            <a:avLst/>
          </a:prstGeom>
        </p:spPr>
      </p:pic>
      <p:pic>
        <p:nvPicPr>
          <p:cNvPr id="6" name="Picture 5"/>
          <p:cNvPicPr>
            <a:picLocks noChangeAspect="1"/>
          </p:cNvPicPr>
          <p:nvPr/>
        </p:nvPicPr>
        <p:blipFill>
          <a:blip r:embed="rId5"/>
          <a:stretch>
            <a:fillRect/>
          </a:stretch>
        </p:blipFill>
        <p:spPr>
          <a:xfrm>
            <a:off x="3904762" y="3859668"/>
            <a:ext cx="4382477" cy="2744224"/>
          </a:xfrm>
          <a:prstGeom prst="rect">
            <a:avLst/>
          </a:prstGeom>
        </p:spPr>
      </p:pic>
      <p:sp>
        <p:nvSpPr>
          <p:cNvPr id="7" name="Right Arrow 6"/>
          <p:cNvSpPr/>
          <p:nvPr/>
        </p:nvSpPr>
        <p:spPr bwMode="auto">
          <a:xfrm>
            <a:off x="5683407" y="1683834"/>
            <a:ext cx="1070517" cy="591015"/>
          </a:xfrm>
          <a:prstGeom prst="rightArrow">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8" name="Right Arrow 7"/>
          <p:cNvSpPr/>
          <p:nvPr/>
        </p:nvSpPr>
        <p:spPr bwMode="auto">
          <a:xfrm rot="8100000">
            <a:off x="6836303" y="3927828"/>
            <a:ext cx="1070517" cy="591015"/>
          </a:xfrm>
          <a:prstGeom prst="rightArrow">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4028116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Transform Pair</a:t>
            </a:r>
            <a:endParaRPr lang="en-US" sz="4000" b="0" kern="0" dirty="0"/>
          </a:p>
        </p:txBody>
      </p:sp>
      <p:graphicFrame>
        <p:nvGraphicFramePr>
          <p:cNvPr id="5" name="Object 4"/>
          <p:cNvGraphicFramePr>
            <a:graphicFrameLocks noChangeAspect="1"/>
          </p:cNvGraphicFramePr>
          <p:nvPr>
            <p:extLst>
              <p:ext uri="{D42A27DB-BD31-4B8C-83A1-F6EECF244321}">
                <p14:modId xmlns:p14="http://schemas.microsoft.com/office/powerpoint/2010/main" val="2666391083"/>
              </p:ext>
            </p:extLst>
          </p:nvPr>
        </p:nvGraphicFramePr>
        <p:xfrm>
          <a:off x="2438614" y="1135567"/>
          <a:ext cx="7314769" cy="3258015"/>
        </p:xfrm>
        <a:graphic>
          <a:graphicData uri="http://schemas.openxmlformats.org/presentationml/2006/ole">
            <mc:AlternateContent xmlns:mc="http://schemas.openxmlformats.org/markup-compatibility/2006">
              <mc:Choice xmlns:v="urn:schemas-microsoft-com:vml" Requires="v">
                <p:oleObj name="Equation" r:id="rId3" imgW="2222500" imgH="990600" progId="Equation.DSMT4">
                  <p:embed/>
                </p:oleObj>
              </mc:Choice>
              <mc:Fallback>
                <p:oleObj name="Equation" r:id="rId3" imgW="2222500" imgH="990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614" y="1135567"/>
                        <a:ext cx="7314769" cy="3258015"/>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871892176"/>
              </p:ext>
            </p:extLst>
          </p:nvPr>
        </p:nvGraphicFramePr>
        <p:xfrm>
          <a:off x="3670609" y="4722497"/>
          <a:ext cx="4850781" cy="1444126"/>
        </p:xfrm>
        <a:graphic>
          <a:graphicData uri="http://schemas.openxmlformats.org/presentationml/2006/ole">
            <mc:AlternateContent xmlns:mc="http://schemas.openxmlformats.org/markup-compatibility/2006">
              <mc:Choice xmlns:v="urn:schemas-microsoft-com:vml" Requires="v">
                <p:oleObj name="Equation" r:id="rId5" imgW="838200" imgH="241300" progId="Equation.DSMT4">
                  <p:embed/>
                </p:oleObj>
              </mc:Choice>
              <mc:Fallback>
                <p:oleObj name="Equation" r:id="rId5" imgW="838200" imgH="2413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0609" y="4722497"/>
                        <a:ext cx="4850781" cy="1444126"/>
                      </a:xfrm>
                      <a:prstGeom prst="rect">
                        <a:avLst/>
                      </a:prstGeom>
                      <a:noFill/>
                    </p:spPr>
                  </p:pic>
                </p:oleObj>
              </mc:Fallback>
            </mc:AlternateContent>
          </a:graphicData>
        </a:graphic>
      </p:graphicFrame>
    </p:spTree>
    <p:extLst>
      <p:ext uri="{BB962C8B-B14F-4D97-AF65-F5344CB8AC3E}">
        <p14:creationId xmlns:p14="http://schemas.microsoft.com/office/powerpoint/2010/main" val="740094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Example 1: Gate Function</a:t>
            </a:r>
            <a:endParaRPr lang="en-US" sz="4000" b="0" kern="0" dirty="0"/>
          </a:p>
        </p:txBody>
      </p:sp>
      <p:pic>
        <p:nvPicPr>
          <p:cNvPr id="2" name="Picture 1"/>
          <p:cNvPicPr>
            <a:picLocks noChangeAspect="1"/>
          </p:cNvPicPr>
          <p:nvPr/>
        </p:nvPicPr>
        <p:blipFill>
          <a:blip r:embed="rId3"/>
          <a:stretch>
            <a:fillRect/>
          </a:stretch>
        </p:blipFill>
        <p:spPr>
          <a:xfrm>
            <a:off x="2510248" y="925680"/>
            <a:ext cx="7171502" cy="5720327"/>
          </a:xfrm>
          <a:prstGeom prst="rect">
            <a:avLst/>
          </a:prstGeom>
        </p:spPr>
      </p:pic>
      <p:sp>
        <p:nvSpPr>
          <p:cNvPr id="3" name="Rectangle 2"/>
          <p:cNvSpPr/>
          <p:nvPr/>
        </p:nvSpPr>
        <p:spPr bwMode="auto">
          <a:xfrm>
            <a:off x="8103221" y="5787483"/>
            <a:ext cx="2040673" cy="85864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942286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Sinc Function</a:t>
            </a:r>
          </a:p>
        </p:txBody>
      </p:sp>
      <p:pic>
        <p:nvPicPr>
          <p:cNvPr id="4" name="Picture 3"/>
          <p:cNvPicPr>
            <a:picLocks noChangeAspect="1"/>
          </p:cNvPicPr>
          <p:nvPr/>
        </p:nvPicPr>
        <p:blipFill>
          <a:blip r:embed="rId3"/>
          <a:stretch>
            <a:fillRect/>
          </a:stretch>
        </p:blipFill>
        <p:spPr>
          <a:xfrm>
            <a:off x="1873404" y="990601"/>
            <a:ext cx="8534400" cy="5248275"/>
          </a:xfrm>
          <a:prstGeom prst="rect">
            <a:avLst/>
          </a:prstGeom>
        </p:spPr>
      </p:pic>
    </p:spTree>
    <p:extLst>
      <p:ext uri="{BB962C8B-B14F-4D97-AF65-F5344CB8AC3E}">
        <p14:creationId xmlns:p14="http://schemas.microsoft.com/office/powerpoint/2010/main" val="1461682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Triangle Function</a:t>
            </a:r>
          </a:p>
        </p:txBody>
      </p:sp>
      <p:pic>
        <p:nvPicPr>
          <p:cNvPr id="3" name="Picture 2"/>
          <p:cNvPicPr>
            <a:picLocks noChangeAspect="1"/>
          </p:cNvPicPr>
          <p:nvPr/>
        </p:nvPicPr>
        <p:blipFill>
          <a:blip r:embed="rId3"/>
          <a:stretch>
            <a:fillRect/>
          </a:stretch>
        </p:blipFill>
        <p:spPr>
          <a:xfrm>
            <a:off x="1866233" y="1291065"/>
            <a:ext cx="8459534" cy="4275868"/>
          </a:xfrm>
          <a:prstGeom prst="rect">
            <a:avLst/>
          </a:prstGeom>
        </p:spPr>
      </p:pic>
    </p:spTree>
    <p:extLst>
      <p:ext uri="{BB962C8B-B14F-4D97-AF65-F5344CB8AC3E}">
        <p14:creationId xmlns:p14="http://schemas.microsoft.com/office/powerpoint/2010/main" val="881176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Sinc</a:t>
            </a:r>
            <a:r>
              <a:rPr lang="en-US" baseline="30000" dirty="0"/>
              <a:t>2</a:t>
            </a:r>
          </a:p>
        </p:txBody>
      </p:sp>
      <p:pic>
        <p:nvPicPr>
          <p:cNvPr id="4" name="Picture 3"/>
          <p:cNvPicPr>
            <a:picLocks noChangeAspect="1"/>
          </p:cNvPicPr>
          <p:nvPr/>
        </p:nvPicPr>
        <p:blipFill>
          <a:blip r:embed="rId3"/>
          <a:stretch>
            <a:fillRect/>
          </a:stretch>
        </p:blipFill>
        <p:spPr>
          <a:xfrm>
            <a:off x="2269464" y="990600"/>
            <a:ext cx="7853795" cy="5810250"/>
          </a:xfrm>
          <a:prstGeom prst="rect">
            <a:avLst/>
          </a:prstGeom>
        </p:spPr>
      </p:pic>
    </p:spTree>
    <p:extLst>
      <p:ext uri="{BB962C8B-B14F-4D97-AF65-F5344CB8AC3E}">
        <p14:creationId xmlns:p14="http://schemas.microsoft.com/office/powerpoint/2010/main" val="389071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More Examples</a:t>
            </a:r>
            <a:endParaRPr lang="en-US" sz="4000" b="0" kern="0" dirty="0"/>
          </a:p>
        </p:txBody>
      </p:sp>
      <p:sp>
        <p:nvSpPr>
          <p:cNvPr id="3" name="Rectangle 2"/>
          <p:cNvSpPr/>
          <p:nvPr/>
        </p:nvSpPr>
        <p:spPr bwMode="auto">
          <a:xfrm>
            <a:off x="8103221" y="5787483"/>
            <a:ext cx="2040673" cy="85864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5" name="Picture 4"/>
          <p:cNvPicPr>
            <a:picLocks noChangeAspect="1"/>
          </p:cNvPicPr>
          <p:nvPr/>
        </p:nvPicPr>
        <p:blipFill>
          <a:blip r:embed="rId3"/>
          <a:stretch>
            <a:fillRect/>
          </a:stretch>
        </p:blipFill>
        <p:spPr>
          <a:xfrm>
            <a:off x="3076068" y="1700197"/>
            <a:ext cx="6039867" cy="3457607"/>
          </a:xfrm>
          <a:prstGeom prst="rect">
            <a:avLst/>
          </a:prstGeom>
        </p:spPr>
      </p:pic>
    </p:spTree>
    <p:extLst>
      <p:ext uri="{BB962C8B-B14F-4D97-AF65-F5344CB8AC3E}">
        <p14:creationId xmlns:p14="http://schemas.microsoft.com/office/powerpoint/2010/main" val="2341224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Properties</a:t>
            </a:r>
          </a:p>
        </p:txBody>
      </p:sp>
      <p:pic>
        <p:nvPicPr>
          <p:cNvPr id="4" name="Picture 3"/>
          <p:cNvPicPr>
            <a:picLocks noChangeAspect="1"/>
          </p:cNvPicPr>
          <p:nvPr/>
        </p:nvPicPr>
        <p:blipFill>
          <a:blip r:embed="rId3"/>
          <a:stretch>
            <a:fillRect/>
          </a:stretch>
        </p:blipFill>
        <p:spPr>
          <a:xfrm>
            <a:off x="2287999" y="879930"/>
            <a:ext cx="7616003" cy="5978070"/>
          </a:xfrm>
          <a:prstGeom prst="rect">
            <a:avLst/>
          </a:prstGeom>
        </p:spPr>
      </p:pic>
      <p:pic>
        <p:nvPicPr>
          <p:cNvPr id="5" name="Picture 4"/>
          <p:cNvPicPr>
            <a:picLocks noChangeAspect="1"/>
          </p:cNvPicPr>
          <p:nvPr/>
        </p:nvPicPr>
        <p:blipFill>
          <a:blip r:embed="rId4"/>
          <a:stretch>
            <a:fillRect/>
          </a:stretch>
        </p:blipFill>
        <p:spPr>
          <a:xfrm>
            <a:off x="8610600" y="4705350"/>
            <a:ext cx="2057400" cy="2152650"/>
          </a:xfrm>
          <a:prstGeom prst="rect">
            <a:avLst/>
          </a:prstGeom>
        </p:spPr>
      </p:pic>
      <p:pic>
        <p:nvPicPr>
          <p:cNvPr id="6"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5043" y="1260451"/>
            <a:ext cx="2608515" cy="260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249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Linearity</a:t>
            </a:r>
          </a:p>
        </p:txBody>
      </p:sp>
      <p:pic>
        <p:nvPicPr>
          <p:cNvPr id="4" name="Picture 3"/>
          <p:cNvPicPr>
            <a:picLocks noChangeAspect="1"/>
          </p:cNvPicPr>
          <p:nvPr/>
        </p:nvPicPr>
        <p:blipFill>
          <a:blip r:embed="rId3"/>
          <a:stretch>
            <a:fillRect/>
          </a:stretch>
        </p:blipFill>
        <p:spPr>
          <a:xfrm>
            <a:off x="1524000" y="1733551"/>
            <a:ext cx="9144000" cy="1238035"/>
          </a:xfrm>
          <a:prstGeom prst="rect">
            <a:avLst/>
          </a:prstGeom>
        </p:spPr>
      </p:pic>
      <p:pic>
        <p:nvPicPr>
          <p:cNvPr id="5" name="Picture 4"/>
          <p:cNvPicPr>
            <a:picLocks noChangeAspect="1"/>
          </p:cNvPicPr>
          <p:nvPr/>
        </p:nvPicPr>
        <p:blipFill>
          <a:blip r:embed="rId4"/>
          <a:stretch>
            <a:fillRect/>
          </a:stretch>
        </p:blipFill>
        <p:spPr>
          <a:xfrm>
            <a:off x="1541031" y="3356136"/>
            <a:ext cx="9109936" cy="1631631"/>
          </a:xfrm>
          <a:prstGeom prst="rect">
            <a:avLst/>
          </a:prstGeom>
        </p:spPr>
      </p:pic>
    </p:spTree>
    <p:extLst>
      <p:ext uri="{BB962C8B-B14F-4D97-AF65-F5344CB8AC3E}">
        <p14:creationId xmlns:p14="http://schemas.microsoft.com/office/powerpoint/2010/main" val="431587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a:t>
            </a:r>
          </a:p>
        </p:txBody>
      </p:sp>
      <p:pic>
        <p:nvPicPr>
          <p:cNvPr id="4" name="Picture 3"/>
          <p:cNvPicPr>
            <a:picLocks noChangeAspect="1"/>
          </p:cNvPicPr>
          <p:nvPr/>
        </p:nvPicPr>
        <p:blipFill>
          <a:blip r:embed="rId3"/>
          <a:stretch>
            <a:fillRect/>
          </a:stretch>
        </p:blipFill>
        <p:spPr>
          <a:xfrm>
            <a:off x="1510618" y="1126468"/>
            <a:ext cx="9170765" cy="4605062"/>
          </a:xfrm>
          <a:prstGeom prst="rect">
            <a:avLst/>
          </a:prstGeom>
        </p:spPr>
      </p:pic>
    </p:spTree>
    <p:extLst>
      <p:ext uri="{BB962C8B-B14F-4D97-AF65-F5344CB8AC3E}">
        <p14:creationId xmlns:p14="http://schemas.microsoft.com/office/powerpoint/2010/main" val="1874062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Scaling</a:t>
            </a:r>
            <a:endParaRPr lang="en-US" dirty="0"/>
          </a:p>
        </p:txBody>
      </p:sp>
      <p:pic>
        <p:nvPicPr>
          <p:cNvPr id="4" name="Picture 3"/>
          <p:cNvPicPr>
            <a:picLocks noChangeAspect="1"/>
          </p:cNvPicPr>
          <p:nvPr/>
        </p:nvPicPr>
        <p:blipFill>
          <a:blip r:embed="rId3"/>
          <a:stretch>
            <a:fillRect/>
          </a:stretch>
        </p:blipFill>
        <p:spPr>
          <a:xfrm>
            <a:off x="1676400" y="990601"/>
            <a:ext cx="8840639" cy="5248275"/>
          </a:xfrm>
          <a:prstGeom prst="rect">
            <a:avLst/>
          </a:prstGeom>
        </p:spPr>
      </p:pic>
    </p:spTree>
    <p:extLst>
      <p:ext uri="{BB962C8B-B14F-4D97-AF65-F5344CB8AC3E}">
        <p14:creationId xmlns:p14="http://schemas.microsoft.com/office/powerpoint/2010/main" val="1219577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Picture 3"/>
          <p:cNvPicPr>
            <a:picLocks noChangeAspect="1"/>
          </p:cNvPicPr>
          <p:nvPr/>
        </p:nvPicPr>
        <p:blipFill>
          <a:blip r:embed="rId3"/>
          <a:stretch>
            <a:fillRect/>
          </a:stretch>
        </p:blipFill>
        <p:spPr>
          <a:xfrm>
            <a:off x="3606712" y="1215401"/>
            <a:ext cx="5169077" cy="2140968"/>
          </a:xfrm>
          <a:prstGeom prst="rect">
            <a:avLst/>
          </a:prstGeom>
        </p:spPr>
      </p:pic>
      <p:pic>
        <p:nvPicPr>
          <p:cNvPr id="5" name="Picture 4"/>
          <p:cNvPicPr>
            <a:picLocks noChangeAspect="1"/>
          </p:cNvPicPr>
          <p:nvPr/>
        </p:nvPicPr>
        <p:blipFill>
          <a:blip r:embed="rId4"/>
          <a:stretch>
            <a:fillRect/>
          </a:stretch>
        </p:blipFill>
        <p:spPr>
          <a:xfrm>
            <a:off x="3338499" y="3286368"/>
            <a:ext cx="5705502" cy="3571632"/>
          </a:xfrm>
          <a:prstGeom prst="rect">
            <a:avLst/>
          </a:prstGeom>
        </p:spPr>
      </p:pic>
      <p:cxnSp>
        <p:nvCxnSpPr>
          <p:cNvPr id="7" name="Curved Connector 6"/>
          <p:cNvCxnSpPr>
            <a:stCxn id="4" idx="3"/>
            <a:endCxn id="5" idx="3"/>
          </p:cNvCxnSpPr>
          <p:nvPr/>
        </p:nvCxnSpPr>
        <p:spPr bwMode="auto">
          <a:xfrm>
            <a:off x="8775789" y="2285886"/>
            <a:ext cx="268213" cy="2786299"/>
          </a:xfrm>
          <a:prstGeom prst="curvedConnector3">
            <a:avLst>
              <a:gd name="adj1" fmla="val 185231"/>
            </a:avLst>
          </a:prstGeom>
          <a:solidFill>
            <a:schemeClr val="accent1"/>
          </a:solidFill>
          <a:ln w="63500" cap="flat" cmpd="sng" algn="ctr">
            <a:solidFill>
              <a:schemeClr val="tx1"/>
            </a:solidFill>
            <a:prstDash val="solid"/>
            <a:round/>
            <a:headEnd type="triangle"/>
            <a:tailEnd type="triangle"/>
          </a:ln>
          <a:effectLst/>
        </p:spPr>
      </p:cxnSp>
    </p:spTree>
    <p:extLst>
      <p:ext uri="{BB962C8B-B14F-4D97-AF65-F5344CB8AC3E}">
        <p14:creationId xmlns:p14="http://schemas.microsoft.com/office/powerpoint/2010/main" val="3813290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Derivation</a:t>
            </a:r>
          </a:p>
        </p:txBody>
      </p:sp>
      <p:pic>
        <p:nvPicPr>
          <p:cNvPr id="4" name="Picture 3"/>
          <p:cNvPicPr>
            <a:picLocks noChangeAspect="1"/>
          </p:cNvPicPr>
          <p:nvPr/>
        </p:nvPicPr>
        <p:blipFill>
          <a:blip r:embed="rId3"/>
          <a:stretch>
            <a:fillRect/>
          </a:stretch>
        </p:blipFill>
        <p:spPr>
          <a:xfrm>
            <a:off x="1527280" y="1162051"/>
            <a:ext cx="9137443" cy="4533899"/>
          </a:xfrm>
          <a:prstGeom prst="rect">
            <a:avLst/>
          </a:prstGeom>
        </p:spPr>
      </p:pic>
    </p:spTree>
    <p:extLst>
      <p:ext uri="{BB962C8B-B14F-4D97-AF65-F5344CB8AC3E}">
        <p14:creationId xmlns:p14="http://schemas.microsoft.com/office/powerpoint/2010/main" val="618801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Paired Combs</a:t>
            </a:r>
          </a:p>
        </p:txBody>
      </p:sp>
      <p:pic>
        <p:nvPicPr>
          <p:cNvPr id="4" name="Content Placeholder 3"/>
          <p:cNvPicPr>
            <a:picLocks noGrp="1" noChangeAspect="1"/>
          </p:cNvPicPr>
          <p:nvPr>
            <p:ph idx="1"/>
          </p:nvPr>
        </p:nvPicPr>
        <p:blipFill>
          <a:blip r:embed="rId3"/>
          <a:stretch>
            <a:fillRect/>
          </a:stretch>
        </p:blipFill>
        <p:spPr>
          <a:xfrm>
            <a:off x="1676400" y="2272441"/>
            <a:ext cx="8839200" cy="2052925"/>
          </a:xfrm>
          <a:prstGeom prst="rect">
            <a:avLst/>
          </a:prstGeom>
        </p:spPr>
      </p:pic>
    </p:spTree>
    <p:extLst>
      <p:ext uri="{BB962C8B-B14F-4D97-AF65-F5344CB8AC3E}">
        <p14:creationId xmlns:p14="http://schemas.microsoft.com/office/powerpoint/2010/main" val="1403231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Convolution Theorem</a:t>
            </a:r>
          </a:p>
        </p:txBody>
      </p:sp>
      <p:pic>
        <p:nvPicPr>
          <p:cNvPr id="4" name="Picture 3"/>
          <p:cNvPicPr>
            <a:picLocks noChangeAspect="1"/>
          </p:cNvPicPr>
          <p:nvPr/>
        </p:nvPicPr>
        <p:blipFill>
          <a:blip r:embed="rId3"/>
          <a:stretch>
            <a:fillRect/>
          </a:stretch>
        </p:blipFill>
        <p:spPr>
          <a:xfrm>
            <a:off x="1598884" y="1390027"/>
            <a:ext cx="8916716" cy="2783790"/>
          </a:xfrm>
          <a:prstGeom prst="rect">
            <a:avLst/>
          </a:prstGeom>
        </p:spPr>
      </p:pic>
      <p:pic>
        <p:nvPicPr>
          <p:cNvPr id="5" name="Picture 4"/>
          <p:cNvPicPr>
            <a:picLocks noChangeAspect="1"/>
          </p:cNvPicPr>
          <p:nvPr/>
        </p:nvPicPr>
        <p:blipFill>
          <a:blip r:embed="rId4"/>
          <a:stretch>
            <a:fillRect/>
          </a:stretch>
        </p:blipFill>
        <p:spPr>
          <a:xfrm>
            <a:off x="1842905" y="4697070"/>
            <a:ext cx="8372840" cy="1610161"/>
          </a:xfrm>
          <a:prstGeom prst="rect">
            <a:avLst/>
          </a:prstGeom>
        </p:spPr>
      </p:pic>
      <p:pic>
        <p:nvPicPr>
          <p:cNvPr id="6"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4855" y="50504"/>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1395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pic>
        <p:nvPicPr>
          <p:cNvPr id="4" name="Picture 3"/>
          <p:cNvPicPr>
            <a:picLocks noChangeAspect="1"/>
          </p:cNvPicPr>
          <p:nvPr/>
        </p:nvPicPr>
        <p:blipFill>
          <a:blip r:embed="rId3"/>
          <a:stretch>
            <a:fillRect/>
          </a:stretch>
        </p:blipFill>
        <p:spPr>
          <a:xfrm>
            <a:off x="1524001" y="990600"/>
            <a:ext cx="8991600" cy="5867400"/>
          </a:xfrm>
          <a:prstGeom prst="rect">
            <a:avLst/>
          </a:prstGeom>
        </p:spPr>
      </p:pic>
    </p:spTree>
    <p:extLst>
      <p:ext uri="{BB962C8B-B14F-4D97-AF65-F5344CB8AC3E}">
        <p14:creationId xmlns:p14="http://schemas.microsoft.com/office/powerpoint/2010/main" val="2289306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sp>
        <p:nvSpPr>
          <p:cNvPr id="3" name="Content Placeholder 2"/>
          <p:cNvSpPr>
            <a:spLocks noGrp="1"/>
          </p:cNvSpPr>
          <p:nvPr>
            <p:ph idx="1"/>
          </p:nvPr>
        </p:nvSpPr>
        <p:spPr>
          <a:xfrm>
            <a:off x="1676400" y="1066800"/>
            <a:ext cx="8839200" cy="5584257"/>
          </a:xfrm>
        </p:spPr>
        <p:txBody>
          <a:bodyPr/>
          <a:lstStyle/>
          <a:p>
            <a:r>
              <a:rPr lang="en-US" sz="2400" dirty="0"/>
              <a:t>For a shift-invariant linear system, a sinusoidal input will only generate a sinusoidal output at the same frequency. Therefore, a convolution in the t-domain must be a multiplication in the Fourier domain.</a:t>
            </a:r>
          </a:p>
          <a:p>
            <a:endParaRPr lang="en-US" sz="2400" dirty="0"/>
          </a:p>
          <a:p>
            <a:r>
              <a:rPr lang="en-US" sz="2400" dirty="0"/>
              <a:t>The above invariability only holds for sinusoidal functions. Therefore, the convolution theorem exists only with the Fourier transform.</a:t>
            </a:r>
          </a:p>
          <a:p>
            <a:endParaRPr lang="en-US" sz="2400" dirty="0"/>
          </a:p>
          <a:p>
            <a:r>
              <a:rPr lang="en-US" sz="2400" dirty="0"/>
              <a:t>If you are interested, you could write a paper out of these comments.</a:t>
            </a:r>
          </a:p>
        </p:txBody>
      </p:sp>
      <p:pic>
        <p:nvPicPr>
          <p:cNvPr id="4" name="Picture 4" descr="http://www.wpclipart.com/blanks/buttons/round/button_round_gree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47130" y="5236301"/>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71421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Parseval's Identity</a:t>
            </a:r>
          </a:p>
        </p:txBody>
      </p:sp>
      <p:pic>
        <p:nvPicPr>
          <p:cNvPr id="4" name="Picture 3"/>
          <p:cNvPicPr>
            <a:picLocks noChangeAspect="1"/>
          </p:cNvPicPr>
          <p:nvPr/>
        </p:nvPicPr>
        <p:blipFill>
          <a:blip r:embed="rId3"/>
          <a:stretch>
            <a:fillRect/>
          </a:stretch>
        </p:blipFill>
        <p:spPr>
          <a:xfrm>
            <a:off x="2571750" y="990601"/>
            <a:ext cx="6790198" cy="1568947"/>
          </a:xfrm>
          <a:prstGeom prst="rect">
            <a:avLst/>
          </a:prstGeom>
        </p:spPr>
      </p:pic>
      <p:pic>
        <p:nvPicPr>
          <p:cNvPr id="3" name="Picture 2"/>
          <p:cNvPicPr>
            <a:picLocks noChangeAspect="1"/>
          </p:cNvPicPr>
          <p:nvPr/>
        </p:nvPicPr>
        <p:blipFill>
          <a:blip r:embed="rId4"/>
          <a:stretch>
            <a:fillRect/>
          </a:stretch>
        </p:blipFill>
        <p:spPr>
          <a:xfrm>
            <a:off x="1612953" y="2638662"/>
            <a:ext cx="8966095" cy="4219339"/>
          </a:xfrm>
          <a:prstGeom prst="rect">
            <a:avLst/>
          </a:prstGeom>
        </p:spPr>
      </p:pic>
      <p:pic>
        <p:nvPicPr>
          <p:cNvPr id="5"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2204" y="2960973"/>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379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pic>
        <p:nvPicPr>
          <p:cNvPr id="7" name="Picture 6"/>
          <p:cNvPicPr>
            <a:picLocks noChangeAspect="1"/>
          </p:cNvPicPr>
          <p:nvPr/>
        </p:nvPicPr>
        <p:blipFill>
          <a:blip r:embed="rId3"/>
          <a:stretch>
            <a:fillRect/>
          </a:stretch>
        </p:blipFill>
        <p:spPr>
          <a:xfrm>
            <a:off x="2436796" y="1282718"/>
            <a:ext cx="7311104" cy="3914926"/>
          </a:xfrm>
          <a:prstGeom prst="rect">
            <a:avLst/>
          </a:prstGeom>
        </p:spPr>
      </p:pic>
      <p:pic>
        <p:nvPicPr>
          <p:cNvPr id="8" name="Picture 4" descr="https://d2t1xqejof9utc.cloudfront.net/screenshots/pics/11b6ee5217b340934f7cdb4bdee6cd9d/larg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3529" y="3842291"/>
            <a:ext cx="2886007" cy="216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835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Fourier Transform</a:t>
            </a:r>
          </a:p>
        </p:txBody>
      </p:sp>
      <p:pic>
        <p:nvPicPr>
          <p:cNvPr id="29698" name="Picture 2" descr="http://cnyack.homestead.com/files/artran/ft2dint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4742" y="886425"/>
            <a:ext cx="5665369" cy="164752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3594428" y="2518859"/>
            <a:ext cx="5344805" cy="2014491"/>
            <a:chOff x="1185862" y="2660033"/>
            <a:chExt cx="7113935" cy="2681287"/>
          </a:xfrm>
        </p:grpSpPr>
        <p:pic>
          <p:nvPicPr>
            <p:cNvPr id="5" name="Picture 4"/>
            <p:cNvPicPr>
              <a:picLocks noChangeAspect="1"/>
            </p:cNvPicPr>
            <p:nvPr/>
          </p:nvPicPr>
          <p:blipFill>
            <a:blip r:embed="rId4"/>
            <a:stretch>
              <a:fillRect/>
            </a:stretch>
          </p:blipFill>
          <p:spPr>
            <a:xfrm>
              <a:off x="1185862" y="2660033"/>
              <a:ext cx="7113935" cy="2681287"/>
            </a:xfrm>
            <a:prstGeom prst="rect">
              <a:avLst/>
            </a:prstGeom>
          </p:spPr>
        </p:pic>
        <p:sp>
          <p:nvSpPr>
            <p:cNvPr id="6" name="Left-Right Arrow 5"/>
            <p:cNvSpPr/>
            <p:nvPr/>
          </p:nvSpPr>
          <p:spPr bwMode="auto">
            <a:xfrm>
              <a:off x="3895725" y="3888758"/>
              <a:ext cx="1076325" cy="504825"/>
            </a:xfrm>
            <a:prstGeom prst="lef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grpSp>
      <p:pic>
        <p:nvPicPr>
          <p:cNvPr id="3" name="Picture 2"/>
          <p:cNvPicPr>
            <a:picLocks noChangeAspect="1"/>
          </p:cNvPicPr>
          <p:nvPr/>
        </p:nvPicPr>
        <p:blipFill>
          <a:blip r:embed="rId5"/>
          <a:stretch>
            <a:fillRect/>
          </a:stretch>
        </p:blipFill>
        <p:spPr>
          <a:xfrm>
            <a:off x="1934646" y="4665577"/>
            <a:ext cx="8444403" cy="2198928"/>
          </a:xfrm>
          <a:prstGeom prst="rect">
            <a:avLst/>
          </a:prstGeom>
        </p:spPr>
      </p:pic>
      <p:pic>
        <p:nvPicPr>
          <p:cNvPr id="8" name="Picture 12" descr="http://www.magic-emoji.com/emoji/images/83_emoji_iphone_black_diamond_sui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94855" y="50504"/>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187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Noise Suppression</a:t>
            </a:r>
          </a:p>
        </p:txBody>
      </p:sp>
      <p:pic>
        <p:nvPicPr>
          <p:cNvPr id="4" name="Picture 3"/>
          <p:cNvPicPr>
            <a:picLocks noChangeAspect="1"/>
          </p:cNvPicPr>
          <p:nvPr/>
        </p:nvPicPr>
        <p:blipFill>
          <a:blip r:embed="rId3"/>
          <a:stretch>
            <a:fillRect/>
          </a:stretch>
        </p:blipFill>
        <p:spPr>
          <a:xfrm>
            <a:off x="3660674" y="3628327"/>
            <a:ext cx="4882204" cy="2428876"/>
          </a:xfrm>
          <a:prstGeom prst="rect">
            <a:avLst/>
          </a:prstGeom>
        </p:spPr>
      </p:pic>
      <p:pic>
        <p:nvPicPr>
          <p:cNvPr id="6" name="Picture 5"/>
          <p:cNvPicPr>
            <a:picLocks noChangeAspect="1"/>
          </p:cNvPicPr>
          <p:nvPr/>
        </p:nvPicPr>
        <p:blipFill>
          <a:blip r:embed="rId4"/>
          <a:stretch>
            <a:fillRect/>
          </a:stretch>
        </p:blipFill>
        <p:spPr>
          <a:xfrm>
            <a:off x="3660853" y="1247078"/>
            <a:ext cx="2428875" cy="2475584"/>
          </a:xfrm>
          <a:prstGeom prst="rect">
            <a:avLst/>
          </a:prstGeom>
        </p:spPr>
      </p:pic>
      <p:pic>
        <p:nvPicPr>
          <p:cNvPr id="7" name="Picture 6"/>
          <p:cNvPicPr>
            <a:picLocks noChangeAspect="1"/>
          </p:cNvPicPr>
          <p:nvPr/>
        </p:nvPicPr>
        <p:blipFill>
          <a:blip r:embed="rId5"/>
          <a:stretch>
            <a:fillRect/>
          </a:stretch>
        </p:blipFill>
        <p:spPr>
          <a:xfrm>
            <a:off x="6019688" y="1247078"/>
            <a:ext cx="2523191" cy="2475584"/>
          </a:xfrm>
          <a:prstGeom prst="rect">
            <a:avLst/>
          </a:prstGeom>
        </p:spPr>
      </p:pic>
      <p:cxnSp>
        <p:nvCxnSpPr>
          <p:cNvPr id="10" name="Curved Connector 9"/>
          <p:cNvCxnSpPr>
            <a:stCxn id="6" idx="1"/>
            <a:endCxn id="4" idx="1"/>
          </p:cNvCxnSpPr>
          <p:nvPr/>
        </p:nvCxnSpPr>
        <p:spPr bwMode="auto">
          <a:xfrm rot="10800000" flipV="1">
            <a:off x="3660674" y="2484870"/>
            <a:ext cx="178" cy="2357895"/>
          </a:xfrm>
          <a:prstGeom prst="curvedConnector3">
            <a:avLst>
              <a:gd name="adj1" fmla="val 128526966"/>
            </a:avLst>
          </a:prstGeom>
          <a:solidFill>
            <a:schemeClr val="accent1"/>
          </a:solidFill>
          <a:ln w="63500" cap="flat" cmpd="sng" algn="ctr">
            <a:solidFill>
              <a:srgbClr val="FF0000"/>
            </a:solidFill>
            <a:prstDash val="solid"/>
            <a:round/>
            <a:headEnd type="none" w="med" len="med"/>
            <a:tailEnd type="triangle"/>
          </a:ln>
          <a:effectLst/>
        </p:spPr>
      </p:cxnSp>
      <p:sp>
        <p:nvSpPr>
          <p:cNvPr id="14" name="Title 1"/>
          <p:cNvSpPr txBox="1">
            <a:spLocks/>
          </p:cNvSpPr>
          <p:nvPr/>
        </p:nvSpPr>
        <p:spPr bwMode="auto">
          <a:xfrm>
            <a:off x="2418335" y="3209227"/>
            <a:ext cx="9906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dirty="0">
                <a:solidFill>
                  <a:srgbClr val="FF0000"/>
                </a:solidFill>
              </a:rPr>
              <a:t>FT</a:t>
            </a:r>
          </a:p>
        </p:txBody>
      </p:sp>
      <p:cxnSp>
        <p:nvCxnSpPr>
          <p:cNvPr id="11" name="Curved Connector 10"/>
          <p:cNvCxnSpPr>
            <a:stCxn id="4" idx="3"/>
            <a:endCxn id="7" idx="3"/>
          </p:cNvCxnSpPr>
          <p:nvPr/>
        </p:nvCxnSpPr>
        <p:spPr bwMode="auto">
          <a:xfrm flipV="1">
            <a:off x="8542878" y="2484871"/>
            <a:ext cx="12700" cy="2357895"/>
          </a:xfrm>
          <a:prstGeom prst="curvedConnector3">
            <a:avLst>
              <a:gd name="adj1" fmla="val 1800000"/>
            </a:avLst>
          </a:prstGeom>
          <a:solidFill>
            <a:schemeClr val="accent1"/>
          </a:solidFill>
          <a:ln w="63500" cap="flat" cmpd="sng" algn="ctr">
            <a:solidFill>
              <a:srgbClr val="0000FF"/>
            </a:solidFill>
            <a:prstDash val="solid"/>
            <a:round/>
            <a:headEnd type="none" w="med" len="med"/>
            <a:tailEnd type="triangle"/>
          </a:ln>
          <a:effectLst/>
        </p:spPr>
      </p:cxnSp>
      <p:sp>
        <p:nvSpPr>
          <p:cNvPr id="13" name="Title 1"/>
          <p:cNvSpPr txBox="1">
            <a:spLocks/>
          </p:cNvSpPr>
          <p:nvPr/>
        </p:nvSpPr>
        <p:spPr bwMode="auto">
          <a:xfrm>
            <a:off x="8868061" y="3209227"/>
            <a:ext cx="9906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dirty="0">
                <a:solidFill>
                  <a:srgbClr val="0000FF"/>
                </a:solidFill>
              </a:rPr>
              <a:t>IFT</a:t>
            </a:r>
          </a:p>
        </p:txBody>
      </p:sp>
    </p:spTree>
    <p:extLst>
      <p:ext uri="{BB962C8B-B14F-4D97-AF65-F5344CB8AC3E}">
        <p14:creationId xmlns:p14="http://schemas.microsoft.com/office/powerpoint/2010/main" val="3149964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Low-/High-pass Filtering</a:t>
            </a:r>
          </a:p>
        </p:txBody>
      </p:sp>
      <p:pic>
        <p:nvPicPr>
          <p:cNvPr id="5" name="Picture 4"/>
          <p:cNvPicPr>
            <a:picLocks noChangeAspect="1"/>
          </p:cNvPicPr>
          <p:nvPr/>
        </p:nvPicPr>
        <p:blipFill>
          <a:blip r:embed="rId3"/>
          <a:stretch>
            <a:fillRect/>
          </a:stretch>
        </p:blipFill>
        <p:spPr>
          <a:xfrm>
            <a:off x="1922318" y="1149145"/>
            <a:ext cx="8347364" cy="5273386"/>
          </a:xfrm>
          <a:prstGeom prst="rect">
            <a:avLst/>
          </a:prstGeom>
        </p:spPr>
      </p:pic>
    </p:spTree>
    <p:extLst>
      <p:ext uri="{BB962C8B-B14F-4D97-AF65-F5344CB8AC3E}">
        <p14:creationId xmlns:p14="http://schemas.microsoft.com/office/powerpoint/2010/main" val="2683258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2D Rectangle Function</a:t>
            </a:r>
          </a:p>
        </p:txBody>
      </p:sp>
      <p:pic>
        <p:nvPicPr>
          <p:cNvPr id="4" name="Picture 3"/>
          <p:cNvPicPr>
            <a:picLocks noChangeAspect="1"/>
          </p:cNvPicPr>
          <p:nvPr/>
        </p:nvPicPr>
        <p:blipFill>
          <a:blip r:embed="rId3"/>
          <a:stretch>
            <a:fillRect/>
          </a:stretch>
        </p:blipFill>
        <p:spPr>
          <a:xfrm>
            <a:off x="1758583" y="1079809"/>
            <a:ext cx="8674835" cy="5518203"/>
          </a:xfrm>
          <a:prstGeom prst="rect">
            <a:avLst/>
          </a:prstGeom>
        </p:spPr>
      </p:pic>
      <p:sp>
        <p:nvSpPr>
          <p:cNvPr id="5" name="Title 1"/>
          <p:cNvSpPr txBox="1">
            <a:spLocks/>
          </p:cNvSpPr>
          <p:nvPr/>
        </p:nvSpPr>
        <p:spPr bwMode="auto">
          <a:xfrm>
            <a:off x="1940312" y="1247079"/>
            <a:ext cx="4378713" cy="838200"/>
          </a:xfrm>
          <a:prstGeom prst="rect">
            <a:avLst/>
          </a:prstGeom>
          <a:solidFill>
            <a:schemeClr val="bg1"/>
          </a:solid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2400" b="0" kern="0" dirty="0"/>
              <a:t>Rectangle of Sides X and Y, Centered at Origin</a:t>
            </a:r>
          </a:p>
        </p:txBody>
      </p:sp>
      <p:sp>
        <p:nvSpPr>
          <p:cNvPr id="6" name="Rectangle 5"/>
          <p:cNvSpPr/>
          <p:nvPr/>
        </p:nvSpPr>
        <p:spPr bwMode="auto">
          <a:xfrm>
            <a:off x="5895278" y="3601844"/>
            <a:ext cx="1594624" cy="334536"/>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1953981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Rotation Property</a:t>
            </a:r>
          </a:p>
        </p:txBody>
      </p:sp>
      <p:pic>
        <p:nvPicPr>
          <p:cNvPr id="27" name="Picture 26"/>
          <p:cNvPicPr>
            <a:picLocks noChangeAspect="1"/>
          </p:cNvPicPr>
          <p:nvPr/>
        </p:nvPicPr>
        <p:blipFill>
          <a:blip r:embed="rId3"/>
          <a:stretch>
            <a:fillRect/>
          </a:stretch>
        </p:blipFill>
        <p:spPr>
          <a:xfrm>
            <a:off x="2510248" y="849153"/>
            <a:ext cx="7171502" cy="6007187"/>
          </a:xfrm>
          <a:prstGeom prst="rect">
            <a:avLst/>
          </a:prstGeom>
        </p:spPr>
      </p:pic>
    </p:spTree>
    <p:extLst>
      <p:ext uri="{BB962C8B-B14F-4D97-AF65-F5344CB8AC3E}">
        <p14:creationId xmlns:p14="http://schemas.microsoft.com/office/powerpoint/2010/main" val="2554988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pic>
        <p:nvPicPr>
          <p:cNvPr id="5" name="Picture 4"/>
          <p:cNvPicPr/>
          <p:nvPr/>
        </p:nvPicPr>
        <p:blipFill>
          <a:blip r:embed="rId3"/>
          <a:stretch>
            <a:fillRect/>
          </a:stretch>
        </p:blipFill>
        <p:spPr>
          <a:xfrm>
            <a:off x="1607131" y="1371601"/>
            <a:ext cx="8977738" cy="5042031"/>
          </a:xfrm>
          <a:prstGeom prst="rect">
            <a:avLst/>
          </a:prstGeom>
        </p:spPr>
      </p:pic>
    </p:spTree>
    <p:extLst>
      <p:ext uri="{BB962C8B-B14F-4D97-AF65-F5344CB8AC3E}">
        <p14:creationId xmlns:p14="http://schemas.microsoft.com/office/powerpoint/2010/main" val="734550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p:cNvGraphicFramePr>
            <a:graphicFrameLocks noChangeAspect="1"/>
          </p:cNvGraphicFramePr>
          <p:nvPr>
            <p:extLst>
              <p:ext uri="{D42A27DB-BD31-4B8C-83A1-F6EECF244321}">
                <p14:modId xmlns:p14="http://schemas.microsoft.com/office/powerpoint/2010/main" val="3717038014"/>
              </p:ext>
            </p:extLst>
          </p:nvPr>
        </p:nvGraphicFramePr>
        <p:xfrm>
          <a:off x="3522935" y="1365987"/>
          <a:ext cx="5684257" cy="3856154"/>
        </p:xfrm>
        <a:graphic>
          <a:graphicData uri="http://schemas.openxmlformats.org/presentationml/2006/ole">
            <mc:AlternateContent xmlns:mc="http://schemas.openxmlformats.org/markup-compatibility/2006">
              <mc:Choice xmlns:v="urn:schemas-microsoft-com:vml" Requires="v">
                <p:oleObj name="Equation" r:id="rId3" imgW="431640" imgH="291960" progId="Equation.DSMT4">
                  <p:embed/>
                </p:oleObj>
              </mc:Choice>
              <mc:Fallback>
                <p:oleObj name="Equation" r:id="rId3" imgW="431640" imgH="291960" progId="Equation.DSMT4">
                  <p:embed/>
                  <p:pic>
                    <p:nvPicPr>
                      <p:cNvPr id="0" name=""/>
                      <p:cNvPicPr>
                        <a:picLocks noChangeAspect="1" noChangeArrowheads="1"/>
                      </p:cNvPicPr>
                      <p:nvPr/>
                    </p:nvPicPr>
                    <p:blipFill>
                      <a:blip r:embed="rId4"/>
                      <a:srcRect/>
                      <a:stretch>
                        <a:fillRect/>
                      </a:stretch>
                    </p:blipFill>
                    <p:spPr bwMode="auto">
                      <a:xfrm>
                        <a:off x="3522935" y="1365987"/>
                        <a:ext cx="5684257" cy="385615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89346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Homework</a:t>
            </a:r>
            <a:endParaRPr lang="en-US" sz="4000" b="0" kern="0" dirty="0"/>
          </a:p>
        </p:txBody>
      </p:sp>
      <p:sp>
        <p:nvSpPr>
          <p:cNvPr id="5" name="Content Placeholder 2"/>
          <p:cNvSpPr txBox="1">
            <a:spLocks/>
          </p:cNvSpPr>
          <p:nvPr/>
        </p:nvSpPr>
        <p:spPr>
          <a:xfrm>
            <a:off x="1676400" y="1066800"/>
            <a:ext cx="8839200" cy="5450541"/>
          </a:xfrm>
          <a:prstGeom prst="rect">
            <a:avLst/>
          </a:prstGeom>
        </p:spPr>
        <p:txBody>
          <a:bodyPr/>
          <a:lst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r>
              <a:rPr lang="en-US" b="0" kern="0" dirty="0"/>
              <a:t>Read about the uncertainty property of the Fourier transform and write no more than three sentences to explain what it is.</a:t>
            </a:r>
          </a:p>
          <a:p>
            <a:pPr eaLnBrk="1" hangingPunct="1"/>
            <a:endParaRPr lang="en-US" b="0" kern="0" dirty="0"/>
          </a:p>
          <a:p>
            <a:pPr eaLnBrk="1" hangingPunct="1"/>
            <a:r>
              <a:rPr lang="en-US" b="0" kern="0" dirty="0"/>
              <a:t>Analytically compute the Fourier transform of exp(</a:t>
            </a:r>
            <a:r>
              <a:rPr lang="en-US" b="0" kern="0" dirty="0" err="1"/>
              <a:t>bt</a:t>
            </a:r>
            <a:r>
              <a:rPr lang="en-US" b="0" kern="0" dirty="0"/>
              <a:t>)u(-t), where b is positive, u(t) is the step function (u(t)=1 for positive t and 0 otherwise).</a:t>
            </a:r>
          </a:p>
          <a:p>
            <a:pPr eaLnBrk="1" hangingPunct="1"/>
            <a:endParaRPr lang="en-US" b="0" kern="0" dirty="0"/>
          </a:p>
          <a:p>
            <a:pPr eaLnBrk="1" hangingPunct="1"/>
            <a:r>
              <a:rPr lang="en-US" b="0" kern="0" dirty="0">
                <a:solidFill>
                  <a:srgbClr val="FF0000"/>
                </a:solidFill>
              </a:rPr>
              <a:t>Due date: One week from now (by midnight next Friday).  Please upload your report to MLS.</a:t>
            </a:r>
          </a:p>
          <a:p>
            <a:pPr eaLnBrk="1" hangingPunct="1"/>
            <a:endParaRPr lang="en-US" b="0" kern="0" dirty="0">
              <a:solidFill>
                <a:srgbClr val="FF0000"/>
              </a:solidFill>
            </a:endParaRPr>
          </a:p>
          <a:p>
            <a:pPr eaLnBrk="1" hangingPunct="1"/>
            <a:r>
              <a:rPr lang="en-US" b="0" kern="0" dirty="0">
                <a:solidFill>
                  <a:schemeClr val="bg1"/>
                </a:solidFill>
              </a:rPr>
              <a:t>https://www.youtube.com/watch?v=1hX_MUh8wfk</a:t>
            </a:r>
          </a:p>
        </p:txBody>
      </p:sp>
    </p:spTree>
    <p:extLst>
      <p:ext uri="{BB962C8B-B14F-4D97-AF65-F5344CB8AC3E}">
        <p14:creationId xmlns:p14="http://schemas.microsoft.com/office/powerpoint/2010/main" val="434599936"/>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7657</TotalTime>
  <Words>14870</Words>
  <Application>Microsoft Office PowerPoint</Application>
  <PresentationFormat>Widescreen</PresentationFormat>
  <Paragraphs>757</Paragraphs>
  <Slides>42</Slides>
  <Notes>42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7" baseType="lpstr">
      <vt:lpstr>Malgun Gothic</vt:lpstr>
      <vt:lpstr>Arial</vt:lpstr>
      <vt:lpstr>Times</vt:lpstr>
      <vt:lpstr>Blank Presentation</vt:lpstr>
      <vt:lpstr>Equation</vt:lpstr>
      <vt:lpstr>PowerPoint Presentation</vt:lpstr>
      <vt:lpstr>PowerPoint Presentation</vt:lpstr>
      <vt:lpstr>As a Sum of Impulses</vt:lpstr>
      <vt:lpstr>As Sum of Waves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Rectangular/Gate Function</vt:lpstr>
      <vt:lpstr>Periodization</vt:lpstr>
      <vt:lpstr>As Period Gets Larger</vt:lpstr>
      <vt:lpstr>PowerPoint Presentation</vt:lpstr>
      <vt:lpstr>PowerPoint Presentation</vt:lpstr>
      <vt:lpstr>Sinc Function</vt:lpstr>
      <vt:lpstr>Example 2: Triangle Function</vt:lpstr>
      <vt:lpstr>Sinc2</vt:lpstr>
      <vt:lpstr>PowerPoint Presentation</vt:lpstr>
      <vt:lpstr>Basic Properties</vt:lpstr>
      <vt:lpstr>Linearity</vt:lpstr>
      <vt:lpstr>Shift</vt:lpstr>
      <vt:lpstr>Scaling</vt:lpstr>
      <vt:lpstr>Example</vt:lpstr>
      <vt:lpstr>Derivation</vt:lpstr>
      <vt:lpstr>Paired Combs</vt:lpstr>
      <vt:lpstr>Convolution Theorem</vt:lpstr>
      <vt:lpstr>Why?</vt:lpstr>
      <vt:lpstr>Why?</vt:lpstr>
      <vt:lpstr>Parseval's Identity</vt:lpstr>
      <vt:lpstr>Why?</vt:lpstr>
      <vt:lpstr>2D Fourier Transform</vt:lpstr>
      <vt:lpstr>Noise Suppression</vt:lpstr>
      <vt:lpstr>Low-/High-pass Filtering</vt:lpstr>
      <vt:lpstr>Example: 2D Rectangle Function</vt:lpstr>
      <vt:lpstr>Rotation Property</vt:lpstr>
      <vt:lpstr>Why?</vt:lpstr>
      <vt:lpstr>PowerPoint Presentation</vt:lpstr>
      <vt:lpstr>PowerPoint Presentation</vt:lpstr>
    </vt:vector>
  </TitlesOfParts>
  <Company>Virginia Tech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 PowerPoint Template2</dc:title>
  <dc:creator>David Stanley</dc:creator>
  <cp:lastModifiedBy>Wang, Ge</cp:lastModifiedBy>
  <cp:revision>2312</cp:revision>
  <cp:lastPrinted>2012-03-08T21:40:16Z</cp:lastPrinted>
  <dcterms:created xsi:type="dcterms:W3CDTF">2006-10-23T16:36:06Z</dcterms:created>
  <dcterms:modified xsi:type="dcterms:W3CDTF">2025-08-17T17:53:31Z</dcterms:modified>
</cp:coreProperties>
</file>